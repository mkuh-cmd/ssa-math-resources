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4" r:id="rId9"/>
    <p:sldId id="315" r:id="rId10"/>
    <p:sldId id="332" r:id="rId11"/>
    <p:sldId id="342" r:id="rId12"/>
    <p:sldId id="343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06" r:id="rId24"/>
    <p:sldId id="30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83"/>
    <p:restoredTop sz="94695"/>
  </p:normalViewPr>
  <p:slideViewPr>
    <p:cSldViewPr snapToGrid="0">
      <p:cViewPr varScale="1">
        <p:scale>
          <a:sx n="78" d="100"/>
          <a:sy n="78" d="100"/>
        </p:scale>
        <p:origin x="30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6584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463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8768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0782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7890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7443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7227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2535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95106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143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4923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26013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Trigonometric Ratios on the Coordinate Plane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387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3621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324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MA.912.T.1.1 </a:t>
            </a:r>
          </a:p>
          <a:p>
            <a:pPr marL="458788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Define trigonometric ratios for acute angles in right triangles.</a:t>
            </a:r>
          </a:p>
          <a:p>
            <a:pPr marL="952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MA.912.T.1.2 </a:t>
            </a:r>
          </a:p>
          <a:p>
            <a:pPr marL="458788" indent="0">
              <a:buNone/>
            </a:pPr>
            <a:r>
              <a:rPr lang="en-US" sz="2800" dirty="0">
                <a:latin typeface="Verdana" charset="0"/>
                <a:ea typeface="Verdana" charset="0"/>
                <a:cs typeface="Verdana" charset="0"/>
              </a:rPr>
              <a:t>Solve mathematical and real-world problems involving right triangles using trigonometric ratios and the Pythagorean Theorem.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791"/>
            <a:ext cx="933140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387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81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387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71268" y="1600324"/>
            <a:ext cx="1105265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determine trigonometric ratios using the coordinate plane.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44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7.4.1 Warm-Up: Patterns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618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0516" y="1386149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Four hexagons are shown. 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0A7B63-44BC-4CEB-1E8B-68FFCBA59C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5535" y="1827389"/>
            <a:ext cx="6433289" cy="375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97833" y="520517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Describe the pattern of each triangle.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5F1D98C-071D-7E4F-AC26-9D72783C569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151691"/>
              </p:ext>
            </p:extLst>
          </p:nvPr>
        </p:nvGraphicFramePr>
        <p:xfrm>
          <a:off x="669520" y="1249280"/>
          <a:ext cx="7873525" cy="4351338"/>
        </p:xfrm>
        <a:graphic>
          <a:graphicData uri="http://schemas.openxmlformats.org/drawingml/2006/table">
            <a:tbl>
              <a:tblPr firstRow="1" firstCol="1" bandRow="1"/>
              <a:tblGrid>
                <a:gridCol w="1638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4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Triangle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5598" marR="655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Pattern Description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5598" marR="655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82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Yellow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5598" marR="655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5598" marR="655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Red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5598" marR="655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5598" marR="655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8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Blue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5598" marR="655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5598" marR="655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208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8550"/>
            <a:ext cx="1069877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7.4.2 Collaboration: Defining Trigonometric Ratios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4915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388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50516" y="1394250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Three right triangles are shown on the coordinate grid.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8952" y="1962680"/>
            <a:ext cx="6670264" cy="450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835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0609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97471" y="520517"/>
                <a:ext cx="1061713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how to justify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𝐾𝐵𝑅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𝐾𝑊𝑀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𝐾𝐹𝑃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similar. Summarize your discussion.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71" y="520517"/>
                <a:ext cx="10617138" cy="1323439"/>
              </a:xfrm>
              <a:prstGeom prst="rect">
                <a:avLst/>
              </a:prstGeom>
              <a:blipFill>
                <a:blip r:embed="rId4"/>
                <a:stretch>
                  <a:fillRect l="-631" t="-2765" b="-7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3018574"/>
                  </p:ext>
                </p:extLst>
              </p:nvPr>
            </p:nvGraphicFramePr>
            <p:xfrm>
              <a:off x="1449663" y="2015365"/>
              <a:ext cx="7980395" cy="26117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750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84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84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684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419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087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𝐾𝐵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𝑊𝑀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08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𝐵𝑅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𝐾𝐹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6802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𝐾𝑊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𝐹𝑃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3018574"/>
                  </p:ext>
                </p:extLst>
              </p:nvPr>
            </p:nvGraphicFramePr>
            <p:xfrm>
              <a:off x="1449663" y="2015365"/>
              <a:ext cx="7980395" cy="261175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750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84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846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684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4198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108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13" t="-107000" r="-442562" b="-2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258" t="-107000" r="-100843" b="-22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90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13" t="-181579" r="-442562" b="-98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258" t="-181579" r="-100843" b="-98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680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13" t="-291818" r="-442562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8258" t="-291818" r="-100843" b="-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7486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69260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95103" y="520517"/>
                <a:ext cx="990071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the lengths from the table to determine each. Show your work.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find the three ratios for each triangle.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03" y="520517"/>
                <a:ext cx="9900716" cy="3477875"/>
              </a:xfrm>
              <a:prstGeom prst="rect">
                <a:avLst/>
              </a:prstGeom>
              <a:blipFill>
                <a:blip r:embed="rId4"/>
                <a:stretch>
                  <a:fillRect l="-677" t="-1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304037"/>
                  </p:ext>
                </p:extLst>
              </p:nvPr>
            </p:nvGraphicFramePr>
            <p:xfrm>
              <a:off x="1204819" y="1083817"/>
              <a:ext cx="7193582" cy="177642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925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10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5723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054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𝐾𝑅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054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𝐾𝑀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054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𝐾𝑃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304037"/>
                  </p:ext>
                </p:extLst>
              </p:nvPr>
            </p:nvGraphicFramePr>
            <p:xfrm>
              <a:off x="1204819" y="1083817"/>
              <a:ext cx="7193582" cy="177642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925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010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05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0" t="-76543" r="-325540" b="-2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905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0" t="-176543" r="-325540" b="-10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05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60" t="-276543" r="-325540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5271162"/>
                  </p:ext>
                </p:extLst>
              </p:nvPr>
            </p:nvGraphicFramePr>
            <p:xfrm>
              <a:off x="1204819" y="3997760"/>
              <a:ext cx="7193582" cy="185916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504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817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607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050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220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12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𝑅𝐾𝐵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2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𝑀𝐾𝑊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2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𝑃𝐾𝐹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5271162"/>
                  </p:ext>
                </p:extLst>
              </p:nvPr>
            </p:nvGraphicFramePr>
            <p:xfrm>
              <a:off x="1204819" y="3997760"/>
              <a:ext cx="7193582" cy="185916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65049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8178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6079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90050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1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9" t="-72941" r="-336531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9" t="-170930" r="-336531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2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69" t="-274118" r="-336531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78394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389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8619"/>
                <a:ext cx="11130317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𝐻𝑊𝐵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graphed on the coordinate grid,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𝑊𝐵𝐻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coordinates of the vertices are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(−4, 5)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(5,−3)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(−4, −3)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how to use the coordinates to determine the trigonometric ratios. Summarize your discussion.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table. Show your work.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𝑊𝐻𝐵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find the three ratios.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8619"/>
                <a:ext cx="11130317" cy="4708981"/>
              </a:xfrm>
              <a:prstGeom prst="rect">
                <a:avLst/>
              </a:prstGeom>
              <a:blipFill>
                <a:blip r:embed="rId4"/>
                <a:stretch>
                  <a:fillRect l="-548" t="-777" r="-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4542865"/>
                  </p:ext>
                </p:extLst>
              </p:nvPr>
            </p:nvGraphicFramePr>
            <p:xfrm>
              <a:off x="1434531" y="2883109"/>
              <a:ext cx="6984682" cy="14726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54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296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1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1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𝑊𝐵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1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𝐵𝐻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1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𝐻𝑊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34542865"/>
                  </p:ext>
                </p:extLst>
              </p:nvPr>
            </p:nvGraphicFramePr>
            <p:xfrm>
              <a:off x="1434531" y="2883109"/>
              <a:ext cx="6984682" cy="14726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549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296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81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Segment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Length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8" t="-111475" r="-276721" b="-2016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8" t="-215000" r="-276721" b="-1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8" t="-309836" r="-27672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772877"/>
              </p:ext>
            </p:extLst>
          </p:nvPr>
        </p:nvGraphicFramePr>
        <p:xfrm>
          <a:off x="1434531" y="5113612"/>
          <a:ext cx="6886575" cy="609600"/>
        </p:xfrm>
        <a:graphic>
          <a:graphicData uri="http://schemas.openxmlformats.org/drawingml/2006/table">
            <a:tbl>
              <a:tblPr firstRow="1" firstCol="1" bandRow="1"/>
              <a:tblGrid>
                <a:gridCol w="2259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3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Cosine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Sine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Tangent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9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14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504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390</a:t>
            </a:r>
          </a:p>
        </p:txBody>
      </p:sp>
    </p:spTree>
    <p:extLst>
      <p:ext uri="{BB962C8B-B14F-4D97-AF65-F5344CB8AC3E}">
        <p14:creationId xmlns:p14="http://schemas.microsoft.com/office/powerpoint/2010/main" val="1485520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977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7" y="-85855"/>
            <a:ext cx="984489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7.4.3 Guided Instruction: Using Trigonometric Ratios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1214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595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550515" y="1386149"/>
                <a:ext cx="105402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𝐹𝐿𝐺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𝐹𝐻𝑅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shown on the coordinate grid are isosceles right triangles.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5" y="1386149"/>
                <a:ext cx="10540271" cy="400110"/>
              </a:xfrm>
              <a:prstGeom prst="rect">
                <a:avLst/>
              </a:prstGeom>
              <a:blipFill>
                <a:blip r:embed="rId5"/>
                <a:stretch>
                  <a:fillRect l="-578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5382" y="2226323"/>
            <a:ext cx="5526437" cy="4431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24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81973" y="520517"/>
            <a:ext cx="79429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Determine the measure of each angle.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2240818"/>
                  </p:ext>
                </p:extLst>
              </p:nvPr>
            </p:nvGraphicFramePr>
            <p:xfrm>
              <a:off x="1460852" y="1432505"/>
              <a:ext cx="5844540" cy="315404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222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222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413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375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𝐿𝐹𝐺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375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𝐹𝐺𝐿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375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𝐹𝑅𝐻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2240818"/>
                  </p:ext>
                </p:extLst>
              </p:nvPr>
            </p:nvGraphicFramePr>
            <p:xfrm>
              <a:off x="1460852" y="1432505"/>
              <a:ext cx="5844540" cy="315404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9222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92227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6413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Measure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375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8" t="-78102" r="-100417" b="-2029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375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8" t="-176812" r="-100417" b="-1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375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8" t="-276812" r="-100417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3167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762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39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1972" y="520517"/>
                <a:ext cx="10641423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find the three ratios for each triangle.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your calculator to find each. Round to the nearest thousandth, if necessary.</a:t>
                </a: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How are the ratios you found 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 related to the values you found for the ratios of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45°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angle?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72" y="520517"/>
                <a:ext cx="10641423" cy="5324535"/>
              </a:xfrm>
              <a:prstGeom prst="rect">
                <a:avLst/>
              </a:prstGeom>
              <a:blipFill>
                <a:blip r:embed="rId4"/>
                <a:stretch>
                  <a:fillRect l="-630" t="-686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7846264"/>
                  </p:ext>
                </p:extLst>
              </p:nvPr>
            </p:nvGraphicFramePr>
            <p:xfrm>
              <a:off x="1422081" y="1059596"/>
              <a:ext cx="6832600" cy="198643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544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72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592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4594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75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0945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𝐹𝐿𝐺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0945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𝐹𝐻𝑅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27846264"/>
                  </p:ext>
                </p:extLst>
              </p:nvPr>
            </p:nvGraphicFramePr>
            <p:xfrm>
              <a:off x="1422081" y="1059596"/>
              <a:ext cx="6832600" cy="198643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544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72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592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4594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6752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094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2" t="-51128" r="-340784" b="-101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0945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2" t="-151128" r="-340784" b="-15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954301"/>
                  </p:ext>
                </p:extLst>
              </p:nvPr>
            </p:nvGraphicFramePr>
            <p:xfrm>
              <a:off x="1422081" y="4081917"/>
              <a:ext cx="6863080" cy="9448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0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995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78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4531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45°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954301"/>
                  </p:ext>
                </p:extLst>
              </p:nvPr>
            </p:nvGraphicFramePr>
            <p:xfrm>
              <a:off x="1422081" y="4081917"/>
              <a:ext cx="6863080" cy="9448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30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995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783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4531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8" t="-58491" r="-349801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453504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459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3636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81972" y="528618"/>
                <a:ext cx="1069261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5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𝐹𝐿𝐺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𝐹𝐻𝑅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were moved on the coordinate grid so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at the origin.</a:t>
                </a: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5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determine whether or not the values of the trigonometric ratios will change because the triangle moved. Summarize your findings.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72" y="528618"/>
                <a:ext cx="10692617" cy="5632311"/>
              </a:xfrm>
              <a:prstGeom prst="rect">
                <a:avLst/>
              </a:prstGeom>
              <a:blipFill>
                <a:blip r:embed="rId4"/>
                <a:stretch>
                  <a:fillRect l="-570" t="-649" r="-456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E4DF805B-0DE3-AADE-3002-AD48B88E4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851" y="960288"/>
            <a:ext cx="4740016" cy="401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34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4" y="1477220"/>
                <a:ext cx="5820118" cy="20730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the ratio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50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  <m:t>°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≈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5.567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8.66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true.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Find each value using a calculator. Round to the nearest thousandth.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4" y="1477220"/>
                <a:ext cx="5820118" cy="20730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5564185"/>
                  </p:ext>
                </p:extLst>
              </p:nvPr>
            </p:nvGraphicFramePr>
            <p:xfrm>
              <a:off x="737418" y="3416211"/>
              <a:ext cx="4689988" cy="131802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49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44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3180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unc>
                                <m:func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Verdana" charset="0"/>
                                          <a:cs typeface="Verdan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charset="0"/>
                                          <a:ea typeface="Verdana" charset="0"/>
                                          <a:cs typeface="Verdana" charset="0"/>
                                        </a:rPr>
                                        <m:t>50</m:t>
                                      </m:r>
                                      <m: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Verdana" charset="0"/>
                                          <a:cs typeface="Verdana" charset="0"/>
                                        </a:rPr>
                                        <m:t>°</m:t>
                                      </m:r>
                                    </m:e>
                                  </m:d>
                                </m:e>
                              </m:func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=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5.567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8.66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5564185"/>
                  </p:ext>
                </p:extLst>
              </p:nvPr>
            </p:nvGraphicFramePr>
            <p:xfrm>
              <a:off x="737418" y="3416211"/>
              <a:ext cx="4689988" cy="131802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499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4499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3180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r="-99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5"/>
                          <a:stretch>
                            <a:fillRect l="-1002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2585" y="626528"/>
            <a:ext cx="5035565" cy="37743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35151" y="426856"/>
                <a:ext cx="5820118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𝐻𝐵𝑅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on the coordinate grid,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𝐻𝑅𝐵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𝑅𝐻𝐵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=5.567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=8.66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51" y="426856"/>
                <a:ext cx="5820118" cy="1938992"/>
              </a:xfrm>
              <a:prstGeom prst="rect">
                <a:avLst/>
              </a:prstGeom>
              <a:blipFill>
                <a:blip r:embed="rId7"/>
                <a:stretch>
                  <a:fillRect l="-1047" t="-15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9483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8629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30403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97471" y="520517"/>
                <a:ext cx="10671158" cy="3304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why the approximation symbol was used in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charset="0"/>
                            <a:ea typeface="Verdana" charset="0"/>
                            <a:cs typeface="Verdana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charset="0"/>
                                <a:cs typeface="Verdana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Verdana" charset="0"/>
                                <a:cs typeface="Verdana" charset="0"/>
                              </a:rPr>
                              <m:t>50°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≈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5.567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8.66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Summarize your thoughts below.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sin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Round to the nearest thousandth.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Use your calculator to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sin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(50°)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Explain why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sin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50°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sin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𝐻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your partner to write the coordinates of each vertex.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471" y="520517"/>
                <a:ext cx="10671158" cy="3304110"/>
              </a:xfrm>
              <a:prstGeom prst="rect">
                <a:avLst/>
              </a:prstGeom>
              <a:blipFill>
                <a:blip r:embed="rId4"/>
                <a:stretch>
                  <a:fillRect l="-628" t="-1107" b="-25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2962924"/>
                  </p:ext>
                </p:extLst>
              </p:nvPr>
            </p:nvGraphicFramePr>
            <p:xfrm>
              <a:off x="1469390" y="4159235"/>
              <a:ext cx="4626610" cy="17068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133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33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79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94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𝑅</m:t>
                                </m:r>
                              </m:oMath>
                            </m:oMathPara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94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2962924"/>
                  </p:ext>
                </p:extLst>
              </p:nvPr>
            </p:nvGraphicFramePr>
            <p:xfrm>
              <a:off x="1469390" y="4159235"/>
              <a:ext cx="4626610" cy="17068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133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133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479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Vertex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Coordinates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79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3" t="-58929" r="-100526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794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3" t="-158929" r="-100526" b="-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83702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392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33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8" y="-37087"/>
            <a:ext cx="1019885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7.4.4 Guided Practice: Trigonometric Ratios and Similar Triangles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392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1289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50516" y="1386150"/>
                <a:ext cx="10658258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𝐶𝑀𝑊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𝑅𝑀𝐷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𝐾𝑀𝑆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𝐶𝑀𝑊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𝑅𝑀𝐷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𝐾𝑀𝑆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 on the coordinate grid.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6" y="1386150"/>
                <a:ext cx="10658258" cy="5016758"/>
              </a:xfrm>
              <a:prstGeom prst="rect">
                <a:avLst/>
              </a:prstGeom>
              <a:blipFill>
                <a:blip r:embed="rId5"/>
                <a:stretch>
                  <a:fillRect l="-572" t="-608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C83FE6C-2A92-0840-AA21-B0B38F631C9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7861" y="1914621"/>
            <a:ext cx="5628898" cy="400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71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97832" y="520518"/>
                <a:ext cx="11026091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as the reference angle, find the three ratios for each triangle. Write the values as a decimal rounded to the nearest thousandth.</a:t>
                </a: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Yasmeen said she only found the ratios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𝐶𝑀𝑊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then applied them to the other triangles. Explain using mathematics why she can do that.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32" y="520518"/>
                <a:ext cx="11026091" cy="5016758"/>
              </a:xfrm>
              <a:prstGeom prst="rect">
                <a:avLst/>
              </a:prstGeom>
              <a:blipFill>
                <a:blip r:embed="rId4"/>
                <a:stretch>
                  <a:fillRect l="-608" t="-608" r="-996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CFC9A26-671E-2C45-82EC-8B136C03E0A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7797242"/>
                  </p:ext>
                </p:extLst>
              </p:nvPr>
            </p:nvGraphicFramePr>
            <p:xfrm>
              <a:off x="1217475" y="1472746"/>
              <a:ext cx="6864985" cy="26816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62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811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663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5532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70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𝐶𝑀𝑊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𝑅𝑀𝐷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∆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𝐾𝑀𝑆</m:t>
                                </m:r>
                              </m:oMath>
                            </m:oMathPara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7797242"/>
                  </p:ext>
                </p:extLst>
              </p:nvPr>
            </p:nvGraphicFramePr>
            <p:xfrm>
              <a:off x="1217475" y="1472746"/>
              <a:ext cx="6864985" cy="268160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621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811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6638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5532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8704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Triangle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Cosine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Sine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Tangent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1" t="-67500" r="-341016" b="-20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1" t="-166116" r="-341016" b="-1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91" t="-268333" r="-341016" b="-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79007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393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393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92067" y="-185684"/>
            <a:ext cx="99102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7.4.5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618" y="6044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50515" y="1386150"/>
                <a:ext cx="11366181" cy="4844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Two triangles are shown.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how the ratios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𝑎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𝑏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related.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mathematical relationship(s) did you use to complete your description?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15" y="1386150"/>
                <a:ext cx="11366181" cy="4844531"/>
              </a:xfrm>
              <a:prstGeom prst="rect">
                <a:avLst/>
              </a:prstGeom>
              <a:blipFill>
                <a:blip r:embed="rId5"/>
                <a:stretch>
                  <a:fillRect l="-590" t="-755" b="-1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934" y="2212099"/>
            <a:ext cx="7988300" cy="2425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71494" y="1971800"/>
            <a:ext cx="614363" cy="7286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1015</Words>
  <Application>Microsoft Office PowerPoint</Application>
  <PresentationFormat>Widescreen</PresentationFormat>
  <Paragraphs>308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7, Lesson 4  Trigonometric Ratios on the Coordinate Plane  Volume 1, pg. 387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26</cp:revision>
  <dcterms:created xsi:type="dcterms:W3CDTF">2015-03-17T18:51:18Z</dcterms:created>
  <dcterms:modified xsi:type="dcterms:W3CDTF">2023-02-28T21:29:17Z</dcterms:modified>
</cp:coreProperties>
</file>