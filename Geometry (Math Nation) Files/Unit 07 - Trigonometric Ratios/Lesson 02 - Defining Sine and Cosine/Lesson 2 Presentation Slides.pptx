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58" r:id="rId12"/>
    <p:sldId id="346" r:id="rId13"/>
    <p:sldId id="347" r:id="rId14"/>
    <p:sldId id="348" r:id="rId15"/>
    <p:sldId id="314" r:id="rId16"/>
    <p:sldId id="315" r:id="rId17"/>
    <p:sldId id="332" r:id="rId18"/>
    <p:sldId id="349" r:id="rId19"/>
    <p:sldId id="350" r:id="rId20"/>
    <p:sldId id="351" r:id="rId21"/>
    <p:sldId id="352" r:id="rId22"/>
    <p:sldId id="354" r:id="rId23"/>
    <p:sldId id="355" r:id="rId24"/>
    <p:sldId id="356" r:id="rId25"/>
    <p:sldId id="357" r:id="rId26"/>
    <p:sldId id="306" r:id="rId27"/>
    <p:sldId id="307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3D"/>
    <a:srgbClr val="276C46"/>
    <a:srgbClr val="0076BF"/>
    <a:srgbClr val="BAE6F5"/>
    <a:srgbClr val="41BFAC"/>
    <a:srgbClr val="B399C8"/>
    <a:srgbClr val="C9DF6F"/>
    <a:srgbClr val="417DBF"/>
    <a:srgbClr val="3F2A67"/>
    <a:srgbClr val="E24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32"/>
    <p:restoredTop sz="94695"/>
  </p:normalViewPr>
  <p:slideViewPr>
    <p:cSldViewPr snapToGrid="0">
      <p:cViewPr varScale="1">
        <p:scale>
          <a:sx n="78" d="100"/>
          <a:sy n="78" d="100"/>
        </p:scale>
        <p:origin x="44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9370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4357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3747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643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4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5519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5941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210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7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59470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057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04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3323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8354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7065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9256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Defining Sine and Cosine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374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24050" y="1608425"/>
            <a:ext cx="959271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MA.912.T.1.1 </a:t>
            </a:r>
          </a:p>
          <a:p>
            <a:pPr marL="6413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Define trigonometric ratios for acute angles in right triangles.</a:t>
            </a:r>
          </a:p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MA.912.T.1.2 </a:t>
            </a:r>
          </a:p>
          <a:p>
            <a:pPr marL="688975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Solve mathematical and real-world problems involving right triangles using trigonometric ratios and the Pythagorean Theorem.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101158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85088" y="1604615"/>
            <a:ext cx="96072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4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739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228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695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374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57391" y="1374569"/>
            <a:ext cx="960665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charset="2"/>
              <a:buChar char="q"/>
            </a:pPr>
            <a:r>
              <a:rPr lang="en-US" sz="3200" dirty="0">
                <a:latin typeface="Verdana" charset="0"/>
                <a:ea typeface="Verdana" charset="0"/>
                <a:cs typeface="Verdana" charset="0"/>
              </a:rPr>
              <a:t>I can define sine and cosine using similar triangles.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197C0D25-DD84-CD1C-BBB5-B59EEC4A8CA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53786" y="0"/>
            <a:ext cx="10687793" cy="1276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7.2.1 Warm-Up: Which Region Is Larger?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97" y="2644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527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3148" y="1394250"/>
            <a:ext cx="10307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Two grids are shown with regions shaded.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3794" y="1972876"/>
            <a:ext cx="5156878" cy="3096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3147" y="5259597"/>
            <a:ext cx="103077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Which shaded region is larger?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Explain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375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80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038" y="68550"/>
            <a:ext cx="1051334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7.2.2 Exploration: Similar Right Triangles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527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375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7992" y="33086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855023" y="1394250"/>
                <a:ext cx="1026028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Using the space below, create a right triangle that has one angle with a measure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60°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Be accurate with measurements.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Measure the horizontal and vertical distance of your triangle. Determine the slope of your triangle in centimeters. Round to the nearest tenth.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1394250"/>
                <a:ext cx="10260282" cy="2308324"/>
              </a:xfrm>
              <a:prstGeom prst="rect">
                <a:avLst/>
              </a:prstGeom>
              <a:blipFill>
                <a:blip r:embed="rId5"/>
                <a:stretch>
                  <a:fillRect l="-891" t="-2116" r="-1307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6052184"/>
                  </p:ext>
                </p:extLst>
              </p:nvPr>
            </p:nvGraphicFramePr>
            <p:xfrm>
              <a:off x="5476568" y="3698606"/>
              <a:ext cx="5732207" cy="210858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100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9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925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224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Vertical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Horizontal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Slope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300" b="1" i="0"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300" b="1" i="0">
                                          <a:effectLst/>
                                          <a:latin typeface="Cambria Math" panose="02040503050406030204" pitchFamily="18" charset="0"/>
                                          <a:ea typeface="Times New Roman" charset="0"/>
                                          <a:cs typeface="Times New Roman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300" b="1" i="0" smtClean="0">
                                          <a:effectLst/>
                                          <a:latin typeface="Cambria Math" panose="02040503050406030204" pitchFamily="18" charset="0"/>
                                          <a:ea typeface="Times New Roman" charset="0"/>
                                          <a:cs typeface="Times New Roman" charset="0"/>
                                        </a:rPr>
                                        <m:t>𝐯𝐞𝐫𝐭𝐢𝐜𝐚𝐥</m:t>
                                      </m:r>
                                    </m:num>
                                    <m:den>
                                      <m:r>
                                        <a:rPr lang="en-US" sz="2300" b="1" i="0" smtClean="0">
                                          <a:effectLst/>
                                          <a:latin typeface="Cambria Math" panose="02040503050406030204" pitchFamily="18" charset="0"/>
                                          <a:ea typeface="Times New Roman" charset="0"/>
                                          <a:cs typeface="Times New Roman" charset="0"/>
                                        </a:rPr>
                                        <m:t>𝐡𝐨𝐫𝐢𝐳𝐨𝐧𝐭𝐚𝐥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60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6052184"/>
                  </p:ext>
                </p:extLst>
              </p:nvPr>
            </p:nvGraphicFramePr>
            <p:xfrm>
              <a:off x="5476568" y="3698606"/>
              <a:ext cx="5732207" cy="210858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100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9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925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224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Vertical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Horizontal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1667" t="-1190" r="-556" b="-107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60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2412412-80B9-6FCF-9D93-34F8C5D1F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200" y="3777264"/>
            <a:ext cx="3089789" cy="217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44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8" y="520393"/>
                <a:ext cx="10272156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Record the slopes from two of your classmates. </a:t>
                </a:r>
                <a:r>
                  <a:rPr lang="en-US" sz="2400" i="1" dirty="0">
                    <a:latin typeface="Verdana" charset="0"/>
                    <a:ea typeface="Verdana" charset="0"/>
                    <a:cs typeface="Verdana" charset="0"/>
                  </a:rPr>
                  <a:t>You are the only person who should write in the first two columns of the table.</a:t>
                </a: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Have the person initial stating that your slope is correct.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do you notice about the slopes? </a:t>
                </a:r>
              </a:p>
              <a:p>
                <a:pPr marL="914400" indent="-450850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What do you wonder? </a:t>
                </a:r>
              </a:p>
              <a:p>
                <a:pPr lvl="0"/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Draw a right triangle that has an angle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45°.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Be accurate with measurements.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520393"/>
                <a:ext cx="10272156" cy="6001643"/>
              </a:xfrm>
              <a:prstGeom prst="rect">
                <a:avLst/>
              </a:prstGeom>
              <a:blipFill>
                <a:blip r:embed="rId3"/>
                <a:stretch>
                  <a:fillRect l="-890" t="-812" b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-3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028560"/>
              </p:ext>
            </p:extLst>
          </p:nvPr>
        </p:nvGraphicFramePr>
        <p:xfrm>
          <a:off x="1455899" y="2198609"/>
          <a:ext cx="6648450" cy="1802830"/>
        </p:xfrm>
        <a:graphic>
          <a:graphicData uri="http://schemas.openxmlformats.org/drawingml/2006/table">
            <a:tbl>
              <a:tblPr firstRow="1" firstCol="1" bandRow="1"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6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Classmate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Slope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Initials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5D1294D-026C-9A39-DCEF-5A8D03CF86F3}"/>
              </a:ext>
            </a:extLst>
          </p:cNvPr>
          <p:cNvSpPr txBox="1"/>
          <p:nvPr/>
        </p:nvSpPr>
        <p:spPr>
          <a:xfrm>
            <a:off x="8889527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pg. 376</a:t>
            </a: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E8DFE85-86D1-D34D-C14E-6274505A6AF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519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8" y="528619"/>
            <a:ext cx="102840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Measure the horizontal and vertical distance of your triangle. Determine the slope of your triangle in centimeters. Round to the nearest tenth.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0D2D79-BDA5-C5A0-A837-4EA2DD60F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991" y="2051766"/>
            <a:ext cx="3089789" cy="21798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F0F2AF-5C1D-C110-AAF3-F22BE35C0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955191"/>
                  </p:ext>
                </p:extLst>
              </p:nvPr>
            </p:nvGraphicFramePr>
            <p:xfrm>
              <a:off x="5272548" y="2051766"/>
              <a:ext cx="5732207" cy="210858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10044">
                      <a:extLst>
                        <a:ext uri="{9D8B030D-6E8A-4147-A177-3AD203B41FA5}">
                          <a16:colId xmlns:a16="http://schemas.microsoft.com/office/drawing/2014/main" val="3235443777"/>
                        </a:ext>
                      </a:extLst>
                    </a:gridCol>
                    <a:gridCol w="1929569">
                      <a:extLst>
                        <a:ext uri="{9D8B030D-6E8A-4147-A177-3AD203B41FA5}">
                          <a16:colId xmlns:a16="http://schemas.microsoft.com/office/drawing/2014/main" val="180488067"/>
                        </a:ext>
                      </a:extLst>
                    </a:gridCol>
                    <a:gridCol w="2192594">
                      <a:extLst>
                        <a:ext uri="{9D8B030D-6E8A-4147-A177-3AD203B41FA5}">
                          <a16:colId xmlns:a16="http://schemas.microsoft.com/office/drawing/2014/main" val="2430282308"/>
                        </a:ext>
                      </a:extLst>
                    </a:gridCol>
                  </a:tblGrid>
                  <a:tr h="10224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Vertical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Horizontal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Slope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300" b="1" i="1"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300" b="1" i="1">
                                          <a:effectLst/>
                                          <a:latin typeface="Cambria Math" panose="02040503050406030204" pitchFamily="18" charset="0"/>
                                          <a:ea typeface="Times New Roman" charset="0"/>
                                          <a:cs typeface="Times New Roman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300" b="1" i="0" smtClean="0">
                                          <a:effectLst/>
                                          <a:latin typeface="Cambria Math" panose="02040503050406030204" pitchFamily="18" charset="0"/>
                                          <a:ea typeface="Times New Roman" charset="0"/>
                                          <a:cs typeface="Times New Roman" charset="0"/>
                                        </a:rPr>
                                        <m:t>𝐯𝐞𝐫𝐭𝐢𝐜𝐚𝐥</m:t>
                                      </m:r>
                                    </m:num>
                                    <m:den>
                                      <m:r>
                                        <a:rPr lang="en-US" sz="2300" b="1" i="0" smtClean="0">
                                          <a:effectLst/>
                                          <a:latin typeface="Cambria Math" panose="02040503050406030204" pitchFamily="18" charset="0"/>
                                          <a:ea typeface="Times New Roman" charset="0"/>
                                          <a:cs typeface="Times New Roman" charset="0"/>
                                        </a:rPr>
                                        <m:t>𝐡𝐨𝐫𝐢𝐳𝐨𝐧𝐭𝐚𝐥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300" i="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5627173"/>
                      </a:ext>
                    </a:extLst>
                  </a:tr>
                  <a:tr h="10860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9488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F0F2AF-5C1D-C110-AAF3-F22BE35C0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955191"/>
                  </p:ext>
                </p:extLst>
              </p:nvPr>
            </p:nvGraphicFramePr>
            <p:xfrm>
              <a:off x="5272548" y="2051766"/>
              <a:ext cx="5732207" cy="210858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10044">
                      <a:extLst>
                        <a:ext uri="{9D8B030D-6E8A-4147-A177-3AD203B41FA5}">
                          <a16:colId xmlns:a16="http://schemas.microsoft.com/office/drawing/2014/main" val="3235443777"/>
                        </a:ext>
                      </a:extLst>
                    </a:gridCol>
                    <a:gridCol w="1929569">
                      <a:extLst>
                        <a:ext uri="{9D8B030D-6E8A-4147-A177-3AD203B41FA5}">
                          <a16:colId xmlns:a16="http://schemas.microsoft.com/office/drawing/2014/main" val="180488067"/>
                        </a:ext>
                      </a:extLst>
                    </a:gridCol>
                    <a:gridCol w="2192594">
                      <a:extLst>
                        <a:ext uri="{9D8B030D-6E8A-4147-A177-3AD203B41FA5}">
                          <a16:colId xmlns:a16="http://schemas.microsoft.com/office/drawing/2014/main" val="2430282308"/>
                        </a:ext>
                      </a:extLst>
                    </a:gridCol>
                  </a:tblGrid>
                  <a:tr h="102249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Vertical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Horizontal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903" marR="7990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1944" t="-1190" r="-556" b="-107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5627173"/>
                      </a:ext>
                    </a:extLst>
                  </a:tr>
                  <a:tr h="10860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79903" marR="7990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94888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2179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2701" y="528618"/>
            <a:ext cx="102026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Record the slopes from two of your classmates. </a:t>
            </a:r>
            <a:r>
              <a:rPr lang="en-US" sz="2400" i="1" dirty="0">
                <a:latin typeface="Verdana" charset="0"/>
                <a:ea typeface="Verdana" charset="0"/>
                <a:cs typeface="Verdana" charset="0"/>
              </a:rPr>
              <a:t>You are the only person who should write in the second column of the table.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 Have the person initial stating that your slope is correct.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409403"/>
              </p:ext>
            </p:extLst>
          </p:nvPr>
        </p:nvGraphicFramePr>
        <p:xfrm>
          <a:off x="1476576" y="2130320"/>
          <a:ext cx="6683375" cy="1861963"/>
        </p:xfrm>
        <a:graphic>
          <a:graphicData uri="http://schemas.openxmlformats.org/drawingml/2006/table">
            <a:tbl>
              <a:tblPr firstRow="1" firstCol="1" bandRow="1"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4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7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Classmate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Slope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912700" y="4217914"/>
            <a:ext cx="102026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085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What do you notice about the slopes? </a:t>
            </a: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085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What do you wonder? </a:t>
            </a:r>
          </a:p>
        </p:txBody>
      </p:sp>
    </p:spTree>
    <p:extLst>
      <p:ext uri="{BB962C8B-B14F-4D97-AF65-F5344CB8AC3E}">
        <p14:creationId xmlns:p14="http://schemas.microsoft.com/office/powerpoint/2010/main" val="1112915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31273" y="528618"/>
            <a:ext cx="102959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Ask two classmates for the “Notice and Wonder” what they wrote for both triangles. Record their responses below. </a:t>
            </a:r>
            <a:r>
              <a:rPr lang="en-US" sz="2400" i="1" dirty="0">
                <a:latin typeface="Verdana" charset="0"/>
                <a:ea typeface="Verdana" charset="0"/>
                <a:cs typeface="Verdana" charset="0"/>
              </a:rPr>
              <a:t>You are the only person who should write in the first three columns of the table.</a:t>
            </a: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 Have the person initial that it is written correctly.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37037"/>
              </p:ext>
            </p:extLst>
          </p:nvPr>
        </p:nvGraphicFramePr>
        <p:xfrm>
          <a:off x="2030535" y="2805546"/>
          <a:ext cx="7790280" cy="2743200"/>
        </p:xfrm>
        <a:graphic>
          <a:graphicData uri="http://schemas.openxmlformats.org/drawingml/2006/table">
            <a:tbl>
              <a:tblPr firstRow="1" firstCol="1" bandRow="1"/>
              <a:tblGrid>
                <a:gridCol w="1663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Classmate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Notice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Wonder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194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4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95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8" y="520393"/>
            <a:ext cx="10319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Write a conjecture for each of the right triangles that were drawn.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0814937"/>
                  </p:ext>
                </p:extLst>
              </p:nvPr>
            </p:nvGraphicFramePr>
            <p:xfrm>
              <a:off x="1657386" y="1772603"/>
              <a:ext cx="7660882" cy="35410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308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300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809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Measures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Conjecture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3003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30°−60°−90°</m:t>
                                </m:r>
                              </m:oMath>
                            </m:oMathPara>
                          </a14:m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3003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45°−45°−90°</m:t>
                                </m:r>
                              </m:oMath>
                            </m:oMathPara>
                          </a14:m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0814937"/>
                  </p:ext>
                </p:extLst>
              </p:nvPr>
            </p:nvGraphicFramePr>
            <p:xfrm>
              <a:off x="1657386" y="1772603"/>
              <a:ext cx="7660882" cy="35410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308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300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809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Measures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Conjecture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30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609" marR="766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3" t="-52766" r="-244262" b="-100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30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609" marR="766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3" t="-152766" r="-244262" b="-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6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609" marR="7660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4416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0393"/>
            <a:ext cx="10295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triangles drawn by you and your classmates during the Exploration vary. Using either the triangles explored in Questions 1-3 or 4-6, explain why these triangles are similar.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Text Box 24"/>
          <p:cNvSpPr txBox="1"/>
          <p:nvPr/>
        </p:nvSpPr>
        <p:spPr>
          <a:xfrm>
            <a:off x="1893810" y="3619021"/>
            <a:ext cx="6871024" cy="1421365"/>
          </a:xfrm>
          <a:prstGeom prst="roundRect">
            <a:avLst/>
          </a:prstGeom>
          <a:solidFill>
            <a:srgbClr val="BA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88975"/>
            <a:r>
              <a:rPr lang="en-US" sz="2000" dirty="0">
                <a:solidFill>
                  <a:srgbClr val="0076BF"/>
                </a:solidFill>
                <a:latin typeface="Verdana" charset="0"/>
                <a:ea typeface="Verdana" charset="0"/>
                <a:cs typeface="Verdana" charset="0"/>
              </a:rPr>
              <a:t>Right triangles with one other congruent angle are similar because of AA similarity.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4439" y="3841807"/>
            <a:ext cx="518433" cy="50678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35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37234" y="60325"/>
            <a:ext cx="100274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7.2.3 Collaboration: Introduction to Trigonometric Ratios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527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10" y="31202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27314" y="1386025"/>
                <a:ext cx="10311741" cy="5018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following. 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𝐶𝑅𝐾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marked as a reference angle.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an arrow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𝐶𝐾𝑅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Label that side with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𝑜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opposite.  </a:t>
                </a:r>
              </a:p>
              <a:p>
                <a:pPr marL="917575" indent="-45402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side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adjacent. </a:t>
                </a:r>
              </a:p>
              <a:p>
                <a:pPr marL="917575" indent="-45402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hypotenuse,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with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hypotenuse.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14" y="1386025"/>
                <a:ext cx="10311741" cy="5018169"/>
              </a:xfrm>
              <a:prstGeom prst="rect">
                <a:avLst/>
              </a:prstGeom>
              <a:blipFill>
                <a:blip r:embed="rId5"/>
                <a:stretch>
                  <a:fillRect l="-651" t="-607" b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1597" y="2425700"/>
            <a:ext cx="23876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8" y="528619"/>
                <a:ext cx="102959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The diagram shows three right triangles that share the reference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Explain why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𝑊𝑀𝐵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𝑊𝐹𝑋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𝑊𝑇𝐾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are similar.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528619"/>
                <a:ext cx="10295908" cy="1200329"/>
              </a:xfrm>
              <a:prstGeom prst="rect">
                <a:avLst/>
              </a:prstGeom>
              <a:blipFill>
                <a:blip r:embed="rId3"/>
                <a:stretch>
                  <a:fillRect l="-88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2226" y="1852057"/>
            <a:ext cx="4127500" cy="3454400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8FDAC36-4568-2896-B8E0-29646B15070A}"/>
              </a:ext>
            </a:extLst>
          </p:cNvPr>
          <p:cNvSpPr txBox="1"/>
          <p:nvPr/>
        </p:nvSpPr>
        <p:spPr>
          <a:xfrm>
            <a:off x="8889527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378</a:t>
            </a: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41F0B828-ABA1-6479-A303-589561EF269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31273" y="528618"/>
            <a:ext cx="7993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5446919"/>
                  </p:ext>
                </p:extLst>
              </p:nvPr>
            </p:nvGraphicFramePr>
            <p:xfrm>
              <a:off x="1415643" y="1362490"/>
              <a:ext cx="7887421" cy="2529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66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596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376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134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Leg Opposite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𝑾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Leg Adjacent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𝑾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Hypotenuse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𝑊𝑀𝐵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𝑊𝐹𝑋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𝑊𝑇𝐾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5446919"/>
                  </p:ext>
                </p:extLst>
              </p:nvPr>
            </p:nvGraphicFramePr>
            <p:xfrm>
              <a:off x="1415643" y="1362490"/>
              <a:ext cx="7887421" cy="2529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66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596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3769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134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656" t="-12000" r="-176744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6848" t="-12000" r="-85870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Hypotenuse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2" t="-106667" r="-473894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2" t="-204717" r="-473894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2" t="-307619" r="-473894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33140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4257" y="337503"/>
            <a:ext cx="3638293" cy="29163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8619"/>
            <a:ext cx="10295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The diagram shows measurements for the three triangles.</a:t>
            </a:r>
          </a:p>
          <a:p>
            <a:pPr lvl="0"/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560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460848"/>
                  </p:ext>
                </p:extLst>
              </p:nvPr>
            </p:nvGraphicFramePr>
            <p:xfrm>
              <a:off x="1089541" y="3933054"/>
              <a:ext cx="8803024" cy="27426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64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409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039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21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808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3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3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𝐨𝐩𝐩𝐨𝐬𝐢𝐭𝐞</m:t>
                                    </m:r>
                                  </m:num>
                                  <m:den>
                                    <m:r>
                                      <a:rPr lang="en-US" sz="23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𝐡𝐲𝐩𝐨𝐭𝐞𝐧𝐮𝐬𝐞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3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3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𝐚𝐝𝐣𝐚𝐜𝐞𝐧𝐭</m:t>
                                    </m:r>
                                  </m:num>
                                  <m:den>
                                    <m:r>
                                      <a:rPr lang="en-US" sz="23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𝐡𝐲𝐩𝐨𝐭𝐞𝐧𝐮𝐬𝐞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3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3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𝐨𝐩𝐩𝐨𝐬𝐢𝐭𝐞</m:t>
                                    </m:r>
                                  </m:num>
                                  <m:den>
                                    <m:r>
                                      <a:rPr lang="en-US" sz="23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𝐚𝐝𝐣𝐚𝐜𝐞𝐧𝐭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15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𝑊𝑀𝐵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15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𝑊𝐹𝑋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715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𝑊𝑇𝐾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460848"/>
                  </p:ext>
                </p:extLst>
              </p:nvPr>
            </p:nvGraphicFramePr>
            <p:xfrm>
              <a:off x="1089541" y="3933054"/>
              <a:ext cx="8803024" cy="27426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64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409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039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21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808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95" t="-833" r="-175346" b="-27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7153" t="-833" r="-85158" b="-27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5517" t="-833" r="-575" b="-27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15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7" t="-110000" r="-474206" b="-2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15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7" t="-208108" r="-474206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715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7" t="-310909" r="-474206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79116" marR="7911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43146" y="3270188"/>
                <a:ext cx="1029590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6725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Complete the table using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4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as the reference angle.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6" y="3270188"/>
                <a:ext cx="10295908" cy="461665"/>
              </a:xfrm>
              <a:prstGeom prst="rect">
                <a:avLst/>
              </a:prstGeom>
              <a:blipFill>
                <a:blip r:embed="rId5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9918FFF3-94C5-5D29-DBD3-47D2218250DC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F2EBB55-CA09-BA19-A5C3-D0A2CF97F0BC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pg. 379</a:t>
            </a:r>
          </a:p>
        </p:txBody>
      </p:sp>
    </p:spTree>
    <p:extLst>
      <p:ext uri="{BB962C8B-B14F-4D97-AF65-F5344CB8AC3E}">
        <p14:creationId xmlns:p14="http://schemas.microsoft.com/office/powerpoint/2010/main" val="117767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379</a:t>
            </a: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380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4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84416" y="-12827"/>
            <a:ext cx="102840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7.2.4 Bring It Together: Trigonometric Ratios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95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379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843148" y="1280015"/>
                <a:ext cx="10284031" cy="199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𝑊𝑀𝐵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𝑊𝑇𝐾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similar,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opposite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hypotenuse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ratios are equivalent to each other. This is also true for the ratios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adjacent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hypotenuse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opposite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adjacent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For this reason, it is possible to define these ratios in any right triangle.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ratios use the reference angle theta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280015"/>
                <a:ext cx="10284031" cy="1991764"/>
              </a:xfrm>
              <a:prstGeom prst="rect">
                <a:avLst/>
              </a:prstGeom>
              <a:blipFill>
                <a:blip r:embed="rId4"/>
                <a:stretch>
                  <a:fillRect l="-593" b="-4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ABEAAF31-51E2-ED47-BB74-BFBC5BD717B3}"/>
              </a:ext>
            </a:extLst>
          </p:cNvPr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6C9D3C33-BCD5-8F4D-9720-D6314D5D7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2582" y="21941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4"/>
              <p:cNvSpPr txBox="1"/>
              <p:nvPr/>
            </p:nvSpPr>
            <p:spPr>
              <a:xfrm>
                <a:off x="1361450" y="3571411"/>
                <a:ext cx="6629400" cy="2886264"/>
              </a:xfrm>
              <a:prstGeom prst="roundRect">
                <a:avLst/>
              </a:prstGeom>
              <a:solidFill>
                <a:srgbClr val="E2EED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19163"/>
                <a:r>
                  <a:rPr lang="en-US" sz="2000" b="1" i="1" dirty="0">
                    <a:solidFill>
                      <a:srgbClr val="6D9A3D"/>
                    </a:solidFill>
                    <a:latin typeface="Verdana" charset="0"/>
                    <a:ea typeface="Verdana" charset="0"/>
                    <a:cs typeface="Verdana" charset="0"/>
                  </a:rPr>
                  <a:t>Trigonometric Ratios</a:t>
                </a:r>
              </a:p>
              <a:p>
                <a:pPr marL="919163"/>
                <a:endParaRPr lang="en-US" sz="2000" b="1" i="1" dirty="0">
                  <a:solidFill>
                    <a:srgbClr val="6D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9163"/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D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𝑠𝑖𝑛</m:t>
                    </m:r>
                    <m:d>
                      <m:dPr>
                        <m:ctrlP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solidFill>
                          <a:srgbClr val="6D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𝑜𝑝𝑝𝑜𝑠𝑖𝑡𝑒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h𝑦𝑝𝑜𝑡𝑒𝑛𝑢𝑠𝑒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6D9A3D"/>
                    </a:solidFill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19163"/>
                <a:endParaRPr lang="en-US" sz="2000" dirty="0">
                  <a:solidFill>
                    <a:srgbClr val="6D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9163"/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D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𝑐𝑜𝑠</m:t>
                    </m:r>
                    <m:d>
                      <m:dPr>
                        <m:ctrlP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solidFill>
                          <a:srgbClr val="6D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𝑎𝑑𝑗𝑎𝑐𝑒𝑛𝑡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h𝑦𝑝𝑜𝑡𝑒𝑛𝑢𝑠𝑒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6D9A3D"/>
                    </a:solidFill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19163"/>
                <a:endParaRPr lang="en-US" sz="2000" dirty="0">
                  <a:solidFill>
                    <a:srgbClr val="6D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9163"/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D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𝑡𝑎𝑛</m:t>
                    </m:r>
                    <m:d>
                      <m:dPr>
                        <m:ctrlP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solidFill>
                          <a:srgbClr val="6D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𝑜𝑝𝑝𝑜𝑠𝑖𝑡𝑒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6D9A3D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𝑎𝑑𝑗𝑎𝑐𝑒𝑛𝑡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6D9A3D"/>
                    </a:solidFill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50" y="3571411"/>
                <a:ext cx="6629400" cy="288626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803" y="3990098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3602" y="3777081"/>
            <a:ext cx="2011107" cy="247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2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3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380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68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53" y="62124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6914" y="-37211"/>
            <a:ext cx="104949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7.2.5 Guided Practice: Trigonometric Ratios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527" y="64695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380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9141" y="1371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55022" y="1386025"/>
                <a:ext cx="102721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𝐹𝐿𝐴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𝐴𝐿𝐹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𝐴𝐿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=12,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=16,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=20.</m:t>
                    </m:r>
                  </m:oMath>
                </a14:m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386025"/>
                <a:ext cx="10272157" cy="461665"/>
              </a:xfrm>
              <a:prstGeom prst="rect">
                <a:avLst/>
              </a:prstGeom>
              <a:blipFill>
                <a:blip r:embed="rId5"/>
                <a:stretch>
                  <a:fillRect l="-89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1568" y="2285217"/>
            <a:ext cx="34163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8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4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95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31273" y="520393"/>
            <a:ext cx="1033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Complete the table using each angle as the reference angle.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923510"/>
                  </p:ext>
                </p:extLst>
              </p:nvPr>
            </p:nvGraphicFramePr>
            <p:xfrm>
              <a:off x="1277171" y="1318897"/>
              <a:ext cx="7385976" cy="306952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891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157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0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8015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𝐨𝐩𝐩𝐨𝐬𝐢𝐭𝐞</m:t>
                                    </m:r>
                                  </m:num>
                                  <m:den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𝐡𝐲𝐩𝐨𝐭𝐞𝐧𝐮𝐬𝐞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𝐚𝐝𝐣𝐚𝐜𝐞𝐧𝐭</m:t>
                                    </m:r>
                                  </m:num>
                                  <m:den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𝐡𝐲𝐩𝐨𝐭𝐞𝐧𝐮𝐬𝐞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𝐨𝐩𝐩𝐨𝐬𝐢𝐭𝐞</m:t>
                                    </m:r>
                                  </m:num>
                                  <m:den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𝐚𝐝𝐣𝐚𝐜𝐞𝐧𝐭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923510"/>
                  </p:ext>
                </p:extLst>
              </p:nvPr>
            </p:nvGraphicFramePr>
            <p:xfrm>
              <a:off x="1277171" y="1318897"/>
              <a:ext cx="7385976" cy="306952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891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157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00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8015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3112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16" t="-962" r="-175549" b="-38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7246" t="-962" r="-85217" b="-38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5753" t="-962" r="-685" b="-3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2" t="-52500" r="-473113" b="-1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2" t="-152500" r="-473113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043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517"/>
                <a:ext cx="8538360" cy="3454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𝑇𝐿𝑆</m:t>
                    </m:r>
                  </m:oMath>
                </a14:m>
                <a:r>
                  <a:rPr lang="en-US" sz="24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is shown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42</m:t>
                        </m:r>
                      </m:e>
                    </m:rad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19163" indent="-452438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𝑇𝐿</m:t>
                        </m:r>
                      </m:e>
                    </m:acc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9163" indent="-452438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9163" indent="-452438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9163" indent="-452438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9163" indent="-452438">
                  <a:buFont typeface="+mj-lt"/>
                  <a:buAutoNum type="alphaLcPeriod"/>
                </a:pPr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Complete the table for the reference angle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919163" indent="-452438">
                  <a:buFont typeface="+mj-lt"/>
                  <a:buAutoNum type="alphaLcPeriod"/>
                </a:pPr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4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517"/>
                <a:ext cx="8538360" cy="3454857"/>
              </a:xfrm>
              <a:prstGeom prst="rect">
                <a:avLst/>
              </a:prstGeom>
              <a:blipFill>
                <a:blip r:embed="rId4"/>
                <a:stretch>
                  <a:fillRect l="-1071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3774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8475" y="520517"/>
            <a:ext cx="2641600" cy="290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1223516"/>
                  </p:ext>
                </p:extLst>
              </p:nvPr>
            </p:nvGraphicFramePr>
            <p:xfrm>
              <a:off x="994118" y="3975765"/>
              <a:ext cx="9220405" cy="222495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093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661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2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222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8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𝐨𝐩𝐩𝐨𝐬𝐢𝐭𝐞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𝐡𝐲𝐩𝐨𝐭𝐞𝐧𝐮𝐬𝐞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𝐚𝐝𝐣𝐚𝐜𝐞𝐧𝐭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𝐡𝐲𝐩𝐨𝐭𝐞𝐧𝐮𝐬𝐞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𝐨𝐩𝐩𝐨𝐬𝐢𝐭𝐞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𝐚𝐝𝐣𝐚𝐜𝐞𝐧𝐭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604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1223516"/>
                  </p:ext>
                </p:extLst>
              </p:nvPr>
            </p:nvGraphicFramePr>
            <p:xfrm>
              <a:off x="994118" y="3975765"/>
              <a:ext cx="9220405" cy="222495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093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661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26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222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89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2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8370" t="-800" r="-175551" b="-194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7209" t="-800" r="-85349" b="-194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14795" t="-800" r="-548" b="-194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60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9" t="-52282" r="-473864" b="-8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82465" marR="824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9959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69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2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36913" y="60449"/>
            <a:ext cx="9761517" cy="118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516" y="27820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31273" y="1386150"/>
            <a:ext cx="10367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Your friend is absent today and will need the notes from class. Write a quick note to explain what was missed in today’s lesson.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3774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1154</Words>
  <Application>Microsoft Office PowerPoint</Application>
  <PresentationFormat>Widescreen</PresentationFormat>
  <Paragraphs>277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7, Lesson 2  Defining Sine and Cosine  Volume 1, pg. 374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33</cp:revision>
  <dcterms:created xsi:type="dcterms:W3CDTF">2015-03-17T18:51:18Z</dcterms:created>
  <dcterms:modified xsi:type="dcterms:W3CDTF">2023-02-28T17:46:01Z</dcterms:modified>
</cp:coreProperties>
</file>