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314" r:id="rId8"/>
    <p:sldId id="315" r:id="rId9"/>
    <p:sldId id="332" r:id="rId10"/>
    <p:sldId id="342" r:id="rId11"/>
    <p:sldId id="343" r:id="rId12"/>
    <p:sldId id="344" r:id="rId13"/>
    <p:sldId id="345" r:id="rId14"/>
    <p:sldId id="346" r:id="rId15"/>
    <p:sldId id="347" r:id="rId16"/>
    <p:sldId id="354" r:id="rId17"/>
    <p:sldId id="355" r:id="rId18"/>
    <p:sldId id="348" r:id="rId19"/>
    <p:sldId id="349" r:id="rId20"/>
    <p:sldId id="350" r:id="rId21"/>
    <p:sldId id="356" r:id="rId22"/>
    <p:sldId id="357" r:id="rId23"/>
    <p:sldId id="351" r:id="rId24"/>
    <p:sldId id="352" r:id="rId25"/>
    <p:sldId id="353" r:id="rId26"/>
    <p:sldId id="306" r:id="rId27"/>
    <p:sldId id="307"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FAC"/>
    <a:srgbClr val="B399C8"/>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646"/>
    <p:restoredTop sz="94694"/>
  </p:normalViewPr>
  <p:slideViewPr>
    <p:cSldViewPr snapToGrid="0">
      <p:cViewPr varScale="1">
        <p:scale>
          <a:sx n="115" d="100"/>
          <a:sy n="115" d="100"/>
        </p:scale>
        <p:origin x="216" y="2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4183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7326685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766263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9828155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845561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1903315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422993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923427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0018986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267004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1292353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610300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6393673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632430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708882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4290479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10.png"/><Relationship Id="rId7" Type="http://schemas.openxmlformats.org/officeDocument/2006/relationships/image" Target="../media/image16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8.png"/><Relationship Id="rId4" Type="http://schemas.openxmlformats.org/officeDocument/2006/relationships/image" Target="../media/image37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5</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Using Trigonometric Ratios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393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31721"/>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393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8425"/>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MA.912.T.1.2 </a:t>
            </a:r>
          </a:p>
          <a:p>
            <a:pPr marL="469900" indent="0">
              <a:buNone/>
            </a:pPr>
            <a:r>
              <a:rPr lang="en-US" sz="2400" dirty="0">
                <a:latin typeface="Verdana" charset="0"/>
                <a:ea typeface="Verdana" charset="0"/>
                <a:cs typeface="Verdana" charset="0"/>
              </a:rPr>
              <a:t>Solve mathematical and real-world problems involving right triangles using trigonometric ratios and the Pythagorean Theorem.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200" y="129791"/>
            <a:ext cx="909543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393</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596514"/>
            <a:ext cx="1052639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70643"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88481"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393</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71268" y="1608425"/>
            <a:ext cx="1105265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use trigonometric ratios to find the side of a right triangle.</a:t>
            </a:r>
          </a:p>
          <a:p>
            <a:endParaRPr lang="en-US" sz="2400" dirty="0">
              <a:latin typeface="Verdana" charset="0"/>
              <a:ea typeface="Verdana" charset="0"/>
              <a:cs typeface="Verdana" charset="0"/>
            </a:endParaRPr>
          </a:p>
          <a:p>
            <a:pPr marL="342900" indent="-342900">
              <a:buFont typeface="Wingdings" charset="2"/>
              <a:buChar char="q"/>
            </a:pPr>
            <a:r>
              <a:rPr lang="en-US" sz="2400" dirty="0">
                <a:latin typeface="Verdana" charset="0"/>
                <a:ea typeface="Verdana" charset="0"/>
                <a:cs typeface="Verdana" charset="0"/>
              </a:rPr>
              <a:t>I can use trigonometric ratios to find an angle of a right triangle.</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5001"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09917" y="-19938"/>
            <a:ext cx="975640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7.5.1 Warm-Up: Growth Mindset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262618" y="20571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76775"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394</a:t>
            </a:r>
          </a:p>
        </p:txBody>
      </p:sp>
      <p:sp>
        <p:nvSpPr>
          <p:cNvPr id="2" name="TextBox 1">
            <a:extLst>
              <a:ext uri="{FF2B5EF4-FFF2-40B4-BE49-F238E27FC236}">
                <a16:creationId xmlns:a16="http://schemas.microsoft.com/office/drawing/2014/main" id="{E1D7562E-134F-D14B-AF1A-DF40E11EF758}"/>
              </a:ext>
            </a:extLst>
          </p:cNvPr>
          <p:cNvSpPr txBox="1"/>
          <p:nvPr/>
        </p:nvSpPr>
        <p:spPr>
          <a:xfrm>
            <a:off x="550516" y="1394250"/>
            <a:ext cx="11321936" cy="4708981"/>
          </a:xfrm>
          <a:prstGeom prst="rect">
            <a:avLst/>
          </a:prstGeom>
          <a:noFill/>
        </p:spPr>
        <p:txBody>
          <a:bodyPr wrap="square" rtlCol="0">
            <a:spAutoFit/>
          </a:bodyPr>
          <a:lstStyle/>
          <a:p>
            <a:pPr rtl="0">
              <a:spcBef>
                <a:spcPts val="0"/>
              </a:spcBef>
              <a:spcAft>
                <a:spcPts val="0"/>
              </a:spcAft>
            </a:pPr>
            <a:r>
              <a:rPr lang="en-US" sz="2000" b="0" i="0" u="none" strike="noStrike" dirty="0">
                <a:solidFill>
                  <a:srgbClr val="000000"/>
                </a:solidFill>
                <a:effectLst/>
                <a:latin typeface="Verdana" panose="020B0604030504040204" pitchFamily="34" charset="0"/>
              </a:rPr>
              <a:t>In carpentry, right triangles are commonly used in constructing roofs. A roof’s pitch is the steepness of the roof. It can be determined by the ratio between the two legs of the right triangle.</a:t>
            </a:r>
            <a:endParaRPr lang="en-US" sz="2000" i="0" u="none" strike="noStrike" dirty="0">
              <a:solidFill>
                <a:srgbClr val="000000"/>
              </a:solidFill>
              <a:latin typeface="Verdana" panose="020B0604030504040204" pitchFamily="34" charset="0"/>
            </a:endParaRPr>
          </a:p>
          <a:p>
            <a:pPr rtl="0">
              <a:spcBef>
                <a:spcPts val="0"/>
              </a:spcBef>
              <a:spcAft>
                <a:spcPts val="0"/>
              </a:spcAft>
            </a:pPr>
            <a:endParaRPr lang="en-US" sz="2000" b="0" dirty="0">
              <a:effectLst/>
              <a:latin typeface="Verdana" panose="020B0604030504040204" pitchFamily="34" charset="0"/>
            </a:endParaRPr>
          </a:p>
          <a:p>
            <a:pPr marL="342900" indent="-342900" rtl="0">
              <a:spcBef>
                <a:spcPts val="0"/>
              </a:spcBef>
              <a:spcAft>
                <a:spcPts val="0"/>
              </a:spcAft>
              <a:buFont typeface="+mj-lt"/>
              <a:buAutoNum type="arabicPeriod"/>
            </a:pPr>
            <a:endParaRPr lang="en-US" sz="2000" b="0" i="0" u="none" strike="noStrike" dirty="0">
              <a:solidFill>
                <a:srgbClr val="000000"/>
              </a:solidFill>
              <a:effectLst/>
              <a:latin typeface="Verdana" panose="020B0604030504040204" pitchFamily="34" charset="0"/>
            </a:endParaRPr>
          </a:p>
          <a:p>
            <a:pPr marL="342900" indent="-342900" rtl="0">
              <a:spcBef>
                <a:spcPts val="0"/>
              </a:spcBef>
              <a:spcAft>
                <a:spcPts val="0"/>
              </a:spcAft>
              <a:buFont typeface="+mj-lt"/>
              <a:buAutoNum type="arabicPeriod"/>
            </a:pPr>
            <a:endParaRPr lang="en-US" sz="2000" dirty="0">
              <a:latin typeface="Verdana" panose="020B0604030504040204" pitchFamily="34" charset="0"/>
            </a:endParaRPr>
          </a:p>
          <a:p>
            <a:pPr marL="342900" indent="-342900" rtl="0">
              <a:spcBef>
                <a:spcPts val="0"/>
              </a:spcBef>
              <a:spcAft>
                <a:spcPts val="0"/>
              </a:spcAft>
              <a:buFont typeface="+mj-lt"/>
              <a:buAutoNum type="arabicPeriod"/>
            </a:pPr>
            <a:endParaRPr lang="en-US" sz="2000" b="0" i="0" u="none" strike="noStrike" dirty="0">
              <a:solidFill>
                <a:srgbClr val="000000"/>
              </a:solidFill>
              <a:effectLst/>
              <a:latin typeface="Verdana" panose="020B0604030504040204" pitchFamily="34" charset="0"/>
            </a:endParaRPr>
          </a:p>
          <a:p>
            <a:pPr marL="342900" indent="-342900" rtl="0">
              <a:spcBef>
                <a:spcPts val="0"/>
              </a:spcBef>
              <a:spcAft>
                <a:spcPts val="0"/>
              </a:spcAft>
              <a:buFont typeface="+mj-lt"/>
              <a:buAutoNum type="arabicPeriod"/>
            </a:pPr>
            <a:endParaRPr lang="en-US" sz="2000" dirty="0">
              <a:latin typeface="Verdana" panose="020B0604030504040204" pitchFamily="34" charset="0"/>
            </a:endParaRPr>
          </a:p>
          <a:p>
            <a:pPr marL="342900" indent="-342900" rtl="0">
              <a:spcBef>
                <a:spcPts val="0"/>
              </a:spcBef>
              <a:spcAft>
                <a:spcPts val="0"/>
              </a:spcAft>
              <a:buFont typeface="+mj-lt"/>
              <a:buAutoNum type="arabicPeriod"/>
            </a:pPr>
            <a:endParaRPr lang="en-US" sz="2000" b="0" i="0" u="none" strike="noStrike" dirty="0">
              <a:solidFill>
                <a:srgbClr val="000000"/>
              </a:solidFill>
              <a:effectLst/>
              <a:latin typeface="Verdana" panose="020B0604030504040204" pitchFamily="34" charset="0"/>
            </a:endParaRPr>
          </a:p>
          <a:p>
            <a:pPr marL="342900" indent="-342900" rtl="0">
              <a:spcBef>
                <a:spcPts val="0"/>
              </a:spcBef>
              <a:spcAft>
                <a:spcPts val="0"/>
              </a:spcAft>
              <a:buFont typeface="+mj-lt"/>
              <a:buAutoNum type="arabicPeriod"/>
            </a:pPr>
            <a:endParaRPr lang="en-US" sz="2000" dirty="0">
              <a:latin typeface="Verdana" panose="020B0604030504040204" pitchFamily="34" charset="0"/>
            </a:endParaRPr>
          </a:p>
          <a:p>
            <a:pPr marL="342900" indent="-342900" rtl="0">
              <a:spcBef>
                <a:spcPts val="0"/>
              </a:spcBef>
              <a:spcAft>
                <a:spcPts val="0"/>
              </a:spcAft>
              <a:buFont typeface="+mj-lt"/>
              <a:buAutoNum type="arabicPeriod"/>
            </a:pPr>
            <a:endParaRPr lang="en-US" sz="2000" b="0" i="0" u="none" strike="noStrike" dirty="0">
              <a:solidFill>
                <a:srgbClr val="000000"/>
              </a:solidFill>
              <a:effectLst/>
              <a:latin typeface="Verdana" panose="020B0604030504040204" pitchFamily="34" charset="0"/>
            </a:endParaRPr>
          </a:p>
          <a:p>
            <a:pPr marL="342900" indent="-342900" rtl="0">
              <a:spcBef>
                <a:spcPts val="0"/>
              </a:spcBef>
              <a:spcAft>
                <a:spcPts val="0"/>
              </a:spcAft>
              <a:buFont typeface="+mj-lt"/>
              <a:buAutoNum type="arabicPeriod"/>
            </a:pPr>
            <a:endParaRPr lang="en-US" sz="2000" dirty="0">
              <a:latin typeface="Verdana" panose="020B0604030504040204" pitchFamily="34" charset="0"/>
            </a:endParaRPr>
          </a:p>
          <a:p>
            <a:pPr marL="342900" indent="-342900" rtl="0">
              <a:spcBef>
                <a:spcPts val="0"/>
              </a:spcBef>
              <a:spcAft>
                <a:spcPts val="0"/>
              </a:spcAft>
              <a:buFont typeface="+mj-lt"/>
              <a:buAutoNum type="arabicPeriod"/>
            </a:pPr>
            <a:endParaRPr lang="en-US" sz="2000" b="0" i="0" u="none" strike="noStrike" dirty="0">
              <a:solidFill>
                <a:srgbClr val="000000"/>
              </a:solidFill>
              <a:effectLst/>
              <a:latin typeface="Verdana" panose="020B0604030504040204" pitchFamily="34" charset="0"/>
            </a:endParaRPr>
          </a:p>
          <a:p>
            <a:pPr marL="342900" indent="-342900" rtl="0">
              <a:spcBef>
                <a:spcPts val="0"/>
              </a:spcBef>
              <a:spcAft>
                <a:spcPts val="0"/>
              </a:spcAft>
              <a:buFont typeface="+mj-lt"/>
              <a:buAutoNum type="arabicPeriod"/>
            </a:pPr>
            <a:endParaRPr lang="en-US" sz="2000" dirty="0">
              <a:latin typeface="Verdana" panose="020B0604030504040204" pitchFamily="34" charset="0"/>
            </a:endParaRPr>
          </a:p>
          <a:p>
            <a:pPr marL="342900" indent="-342900" rtl="0">
              <a:spcBef>
                <a:spcPts val="0"/>
              </a:spcBef>
              <a:spcAft>
                <a:spcPts val="0"/>
              </a:spcAft>
              <a:buFont typeface="+mj-lt"/>
              <a:buAutoNum type="arabicPeriod"/>
            </a:pPr>
            <a:r>
              <a:rPr lang="en-US" sz="2000" b="0" i="0" u="none" strike="noStrike" dirty="0">
                <a:solidFill>
                  <a:srgbClr val="000000"/>
                </a:solidFill>
                <a:effectLst/>
                <a:latin typeface="Verdana" panose="020B0604030504040204" pitchFamily="34" charset="0"/>
              </a:rPr>
              <a:t>What do you notice or wonder about the use of right triangles in construction?</a:t>
            </a:r>
          </a:p>
        </p:txBody>
      </p:sp>
      <p:sp>
        <p:nvSpPr>
          <p:cNvPr id="9" name="Google Shape;278;g104476d1465_1_17">
            <a:extLst>
              <a:ext uri="{FF2B5EF4-FFF2-40B4-BE49-F238E27FC236}">
                <a16:creationId xmlns:a16="http://schemas.microsoft.com/office/drawing/2014/main" id="{F1992A8F-F621-054D-B71E-96605FF7377D}"/>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1026" name="Picture 2">
            <a:extLst>
              <a:ext uri="{FF2B5EF4-FFF2-40B4-BE49-F238E27FC236}">
                <a16:creationId xmlns:a16="http://schemas.microsoft.com/office/drawing/2014/main" id="{AE2E7EA3-F3E4-0377-B7B8-368EE68E48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0593" y="2222596"/>
            <a:ext cx="5059630" cy="3208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394</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09918" y="60449"/>
            <a:ext cx="1118208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7.5.2 Collaboration: Using Trigonometric Ratios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394</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60110" y="34839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654742" y="1474641"/>
                <a:ext cx="7162890"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𝐵𝑊𝐻</m:t>
                    </m:r>
                  </m:oMath>
                </a14:m>
                <a:r>
                  <a:rPr lang="en-US" sz="2000" dirty="0">
                    <a:latin typeface="Verdana" panose="020B0604030504040204" pitchFamily="34" charset="0"/>
                    <a:ea typeface="Verdana" panose="020B0604030504040204" pitchFamily="34" charset="0"/>
                    <a:cs typeface="Verdana" panose="020B0604030504040204" pitchFamily="34" charset="0"/>
                  </a:rPr>
                  <a:t> is shown, where </a:t>
                </a:r>
                <a14:m>
                  <m:oMath xmlns:m="http://schemas.openxmlformats.org/officeDocument/2006/math">
                    <m:r>
                      <a:rPr lang="en-US" sz="2000" i="1">
                        <a:latin typeface="Cambria Math" panose="02040503050406030204" pitchFamily="18" charset="0"/>
                        <a:ea typeface="Verdana" charset="0"/>
                        <a:cs typeface="Verdana" charset="0"/>
                      </a:rPr>
                      <m:t>h</m:t>
                    </m:r>
                    <m:r>
                      <a:rPr lang="en-US" sz="2000" i="1">
                        <a:latin typeface="Cambria Math" panose="02040503050406030204" pitchFamily="18" charset="0"/>
                        <a:ea typeface="Verdana" charset="0"/>
                        <a:cs typeface="Verdana" charset="0"/>
                      </a:rPr>
                      <m:t>=12.8</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charset="0"/>
                        <a:cs typeface="Verdana" charset="0"/>
                      </a:rPr>
                      <m:t>𝑤</m:t>
                    </m:r>
                    <m:r>
                      <a:rPr lang="en-US" sz="2000" i="1">
                        <a:latin typeface="Cambria Math" panose="02040503050406030204" pitchFamily="18" charset="0"/>
                        <a:ea typeface="Verdana" charset="0"/>
                        <a:cs typeface="Verdana"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charset="0"/>
                        <a:cs typeface="Verdana" charset="0"/>
                      </a:rPr>
                      <m:t>𝑥</m:t>
                    </m:r>
                    <m:r>
                      <a:rPr lang="en-US" sz="2000" i="1">
                        <a:latin typeface="Cambria Math" panose="02040503050406030204" pitchFamily="18" charset="0"/>
                        <a:ea typeface="Verdana" charset="0"/>
                        <a:cs typeface="Verdana" charset="0"/>
                      </a:rPr>
                      <m:t>=51.3°</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Verdana" charset="0"/>
                        <a:cs typeface="Verdana" charset="0"/>
                      </a:rPr>
                      <m:t>𝑦</m:t>
                    </m:r>
                    <m:r>
                      <a:rPr lang="en-US" sz="2000" i="1">
                        <a:latin typeface="Cambria Math" panose="02040503050406030204" pitchFamily="18" charset="0"/>
                        <a:ea typeface="Verdana" charset="0"/>
                        <a:cs typeface="Verdana" charset="0"/>
                      </a:rPr>
                      <m:t>=38.7°</m:t>
                    </m:r>
                  </m:oMath>
                </a14:m>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654742" y="1474641"/>
                <a:ext cx="7162890" cy="707886"/>
              </a:xfrm>
              <a:prstGeom prst="rect">
                <a:avLst/>
              </a:prstGeom>
              <a:blipFill>
                <a:blip r:embed="rId5"/>
                <a:stretch>
                  <a:fillRect l="-936" t="-6034" b="-14655"/>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50C37AA2-8B34-A044-9CF0-D6F9EE428461}"/>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8084850" y="982054"/>
            <a:ext cx="3543300" cy="2755900"/>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1114144" y="2215362"/>
                <a:ext cx="6703488" cy="707886"/>
              </a:xfrm>
              <a:prstGeom prst="rect">
                <a:avLst/>
              </a:prstGeom>
            </p:spPr>
            <p:txBody>
              <a:bodyPr wrap="square">
                <a:spAutoFit/>
              </a:bodyPr>
              <a:lstStyle/>
              <a:p>
                <a:pPr marL="342900" indent="-342900">
                  <a:buFont typeface="+mj-lt"/>
                  <a:buAutoNum type="alphaLcPeriod"/>
                </a:pPr>
                <a:r>
                  <a:rPr lang="en-US" sz="2000" dirty="0">
                    <a:latin typeface="Verdana" charset="0"/>
                    <a:ea typeface="Verdana" charset="0"/>
                    <a:cs typeface="Verdana" charset="0"/>
                  </a:rPr>
                  <a:t>Select all of the equations that can be used to find the value of </a:t>
                </a:r>
                <a14:m>
                  <m:oMath xmlns:m="http://schemas.openxmlformats.org/officeDocument/2006/math">
                    <m:r>
                      <a:rPr lang="en-US" sz="2000" i="1">
                        <a:latin typeface="Cambria Math" charset="0"/>
                        <a:ea typeface="Verdana" charset="0"/>
                        <a:cs typeface="Verdana" charset="0"/>
                      </a:rPr>
                      <m:t>𝑏</m:t>
                    </m:r>
                  </m:oMath>
                </a14:m>
                <a:r>
                  <a:rPr lang="en-US" sz="2000" dirty="0">
                    <a:latin typeface="Verdana" charset="0"/>
                    <a:ea typeface="Verdana" charset="0"/>
                    <a:cs typeface="Verdana" charset="0"/>
                  </a:rPr>
                  <a:t>.</a:t>
                </a:r>
              </a:p>
            </p:txBody>
          </p:sp>
        </mc:Choice>
        <mc:Fallback xmlns="">
          <p:sp>
            <p:nvSpPr>
              <p:cNvPr id="3" name="Rectangle 2"/>
              <p:cNvSpPr>
                <a:spLocks noRot="1" noChangeAspect="1" noMove="1" noResize="1" noEditPoints="1" noAdjustHandles="1" noChangeArrowheads="1" noChangeShapeType="1" noTextEdit="1"/>
              </p:cNvSpPr>
              <p:nvPr/>
            </p:nvSpPr>
            <p:spPr>
              <a:xfrm>
                <a:off x="1114144" y="2215362"/>
                <a:ext cx="6703488" cy="707886"/>
              </a:xfrm>
              <a:prstGeom prst="rect">
                <a:avLst/>
              </a:prstGeom>
              <a:blipFill>
                <a:blip r:embed="rId7"/>
                <a:stretch>
                  <a:fillRect l="-1001" t="-5128" b="-136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1114144" y="4852455"/>
                <a:ext cx="9151721" cy="400110"/>
              </a:xfrm>
              <a:prstGeom prst="rect">
                <a:avLst/>
              </a:prstGeom>
            </p:spPr>
            <p:txBody>
              <a:bodyPr wrap="square">
                <a:spAutoFit/>
              </a:bodyPr>
              <a:lstStyle/>
              <a:p>
                <a:pPr marL="457200" indent="-457200">
                  <a:buFont typeface="+mj-lt"/>
                  <a:buAutoNum type="alphaLcPeriod" startAt="2"/>
                </a:pPr>
                <a:r>
                  <a:rPr lang="en-US" sz="2000" dirty="0">
                    <a:latin typeface="Verdana" charset="0"/>
                    <a:ea typeface="Verdana" charset="0"/>
                    <a:cs typeface="Verdana" charset="0"/>
                  </a:rPr>
                  <a:t>Determine the value of </a:t>
                </a:r>
                <a14:m>
                  <m:oMath xmlns:m="http://schemas.openxmlformats.org/officeDocument/2006/math">
                    <m:r>
                      <a:rPr lang="en-US" sz="2000" i="1">
                        <a:latin typeface="Cambria Math" charset="0"/>
                        <a:ea typeface="Verdana" charset="0"/>
                        <a:cs typeface="Verdana" charset="0"/>
                      </a:rPr>
                      <m:t>𝑏</m:t>
                    </m:r>
                  </m:oMath>
                </a14:m>
                <a:r>
                  <a:rPr lang="en-US" sz="2000" dirty="0">
                    <a:latin typeface="Verdana" charset="0"/>
                    <a:ea typeface="Verdana" charset="0"/>
                    <a:cs typeface="Verdana" charset="0"/>
                  </a:rPr>
                  <a:t>. Round to the nearest thousandth.</a:t>
                </a:r>
              </a:p>
            </p:txBody>
          </p:sp>
        </mc:Choice>
        <mc:Fallback xmlns="">
          <p:sp>
            <p:nvSpPr>
              <p:cNvPr id="4" name="Rectangle 3"/>
              <p:cNvSpPr>
                <a:spLocks noRot="1" noChangeAspect="1" noMove="1" noResize="1" noEditPoints="1" noAdjustHandles="1" noChangeArrowheads="1" noChangeShapeType="1" noTextEdit="1"/>
              </p:cNvSpPr>
              <p:nvPr/>
            </p:nvSpPr>
            <p:spPr>
              <a:xfrm>
                <a:off x="1114144" y="4852455"/>
                <a:ext cx="9151721" cy="400110"/>
              </a:xfrm>
              <a:prstGeom prst="rect">
                <a:avLst/>
              </a:prstGeom>
              <a:blipFill>
                <a:blip r:embed="rId8"/>
                <a:stretch>
                  <a:fillRect l="-733" t="-10606" b="-2727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5" name="Table 4"/>
              <p:cNvGraphicFramePr>
                <a:graphicFrameLocks noGrp="1"/>
              </p:cNvGraphicFramePr>
              <p:nvPr>
                <p:extLst>
                  <p:ext uri="{D42A27DB-BD31-4B8C-83A1-F6EECF244321}">
                    <p14:modId xmlns:p14="http://schemas.microsoft.com/office/powerpoint/2010/main" val="3155686593"/>
                  </p:ext>
                </p:extLst>
              </p:nvPr>
            </p:nvGraphicFramePr>
            <p:xfrm>
              <a:off x="510818" y="3208621"/>
              <a:ext cx="7609569" cy="1549554"/>
            </p:xfrm>
            <a:graphic>
              <a:graphicData uri="http://schemas.openxmlformats.org/drawingml/2006/table">
                <a:tbl>
                  <a:tblPr firstRow="1" firstCol="1" bandRow="1"/>
                  <a:tblGrid>
                    <a:gridCol w="2539117">
                      <a:extLst>
                        <a:ext uri="{9D8B030D-6E8A-4147-A177-3AD203B41FA5}">
                          <a16:colId xmlns:a16="http://schemas.microsoft.com/office/drawing/2014/main" val="20000"/>
                        </a:ext>
                      </a:extLst>
                    </a:gridCol>
                    <a:gridCol w="2531335">
                      <a:extLst>
                        <a:ext uri="{9D8B030D-6E8A-4147-A177-3AD203B41FA5}">
                          <a16:colId xmlns:a16="http://schemas.microsoft.com/office/drawing/2014/main" val="20001"/>
                        </a:ext>
                      </a:extLst>
                    </a:gridCol>
                    <a:gridCol w="2539117">
                      <a:extLst>
                        <a:ext uri="{9D8B030D-6E8A-4147-A177-3AD203B41FA5}">
                          <a16:colId xmlns:a16="http://schemas.microsoft.com/office/drawing/2014/main" val="20002"/>
                        </a:ext>
                      </a:extLst>
                    </a:gridCol>
                  </a:tblGrid>
                  <a:tr h="774777">
                    <a:tc>
                      <a:txBody>
                        <a:bodyPr/>
                        <a:lstStyle/>
                        <a:p>
                          <a:pPr marL="342900" marR="0" lvl="0" indent="-342900">
                            <a:spcBef>
                              <a:spcPts val="0"/>
                            </a:spcBef>
                            <a:spcAft>
                              <a:spcPts val="0"/>
                            </a:spcAft>
                            <a:buFont typeface="Wingdings" charset="2"/>
                            <a:buChar char=""/>
                          </a:pPr>
                          <a14:m>
                            <m:oMath xmlns:m="http://schemas.openxmlformats.org/officeDocument/2006/math">
                              <m:func>
                                <m:funcPr>
                                  <m:ctrlPr>
                                    <a:rPr lang="en-US" sz="2000" i="1">
                                      <a:effectLst/>
                                      <a:latin typeface="Cambria Math" panose="02040503050406030204" pitchFamily="18" charset="0"/>
                                      <a:ea typeface="Verdana" charset="0"/>
                                      <a:cs typeface="Verdana" charset="0"/>
                                    </a:rPr>
                                  </m:ctrlPr>
                                </m:funcPr>
                                <m:fName>
                                  <m:r>
                                    <a:rPr lang="en-US" sz="2000" i="1">
                                      <a:effectLst/>
                                      <a:latin typeface="Cambria Math" charset="0"/>
                                      <a:ea typeface="Verdana" charset="0"/>
                                      <a:cs typeface="Verdana" charset="0"/>
                                    </a:rPr>
                                    <m:t>𝑐𝑜𝑠</m:t>
                                  </m:r>
                                </m:fName>
                                <m:e>
                                  <m:d>
                                    <m:dPr>
                                      <m:ctrlPr>
                                        <a:rPr lang="en-US" sz="2000" i="1">
                                          <a:effectLst/>
                                          <a:latin typeface="Cambria Math" panose="02040503050406030204" pitchFamily="18" charset="0"/>
                                          <a:ea typeface="Verdana" charset="0"/>
                                          <a:cs typeface="Verdana" charset="0"/>
                                        </a:rPr>
                                      </m:ctrlPr>
                                    </m:dPr>
                                    <m:e>
                                      <m:r>
                                        <a:rPr lang="en-US" sz="2000" i="1">
                                          <a:effectLst/>
                                          <a:latin typeface="Cambria Math" charset="0"/>
                                          <a:ea typeface="Verdana" charset="0"/>
                                          <a:cs typeface="Verdana" charset="0"/>
                                        </a:rPr>
                                        <m:t>51.3°</m:t>
                                      </m:r>
                                    </m:e>
                                  </m:d>
                                </m:e>
                              </m:func>
                              <m:r>
                                <a:rPr lang="en-US" sz="2000" i="1">
                                  <a:effectLst/>
                                  <a:latin typeface="Cambria Math"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8</m:t>
                                  </m:r>
                                </m:num>
                                <m:den>
                                  <m:r>
                                    <a:rPr lang="en-US" sz="2000" i="1">
                                      <a:effectLst/>
                                      <a:latin typeface="Cambria Math" charset="0"/>
                                      <a:ea typeface="Verdana" charset="0"/>
                                      <a:cs typeface="Verdana" charset="0"/>
                                    </a:rPr>
                                    <m:t>𝑏</m:t>
                                  </m:r>
                                </m:den>
                              </m:f>
                            </m:oMath>
                          </a14:m>
                          <a:endParaRPr lang="en-US" sz="2000" i="1" dirty="0">
                            <a:effectLst/>
                            <a:latin typeface="Verdana" charset="0"/>
                            <a:ea typeface="Verdana" charset="0"/>
                            <a:cs typeface="Verdana" charset="0"/>
                          </a:endParaRPr>
                        </a:p>
                        <a:p>
                          <a:pPr marL="0" marR="0">
                            <a:spcBef>
                              <a:spcPts val="0"/>
                            </a:spcBef>
                            <a:spcAft>
                              <a:spcPts val="0"/>
                            </a:spcAft>
                          </a:pPr>
                          <a:r>
                            <a:rPr lang="en-US" sz="2000" i="1" dirty="0">
                              <a:effectLst/>
                              <a:latin typeface="Verdana" charset="0"/>
                              <a:ea typeface="Verdana" charset="0"/>
                              <a:cs typeface="Verdana" charset="0"/>
                            </a:rPr>
                            <a:t> </a:t>
                          </a:r>
                        </a:p>
                      </a:txBody>
                      <a:tcPr marL="68580" marR="68580" marT="0" marB="0" anchor="ctr">
                        <a:lnL>
                          <a:noFill/>
                        </a:lnL>
                        <a:lnR>
                          <a:noFill/>
                        </a:lnR>
                        <a:lnT>
                          <a:noFill/>
                        </a:lnT>
                        <a:lnB>
                          <a:noFill/>
                        </a:lnB>
                      </a:tcPr>
                    </a:tc>
                    <a:tc>
                      <a:txBody>
                        <a:bodyPr/>
                        <a:lstStyle/>
                        <a:p>
                          <a:pPr marL="342900" marR="0" lvl="0" indent="-342900">
                            <a:spcBef>
                              <a:spcPts val="0"/>
                            </a:spcBef>
                            <a:spcAft>
                              <a:spcPts val="0"/>
                            </a:spcAft>
                            <a:buFont typeface="Wingdings" charset="2"/>
                            <a:buChar char=""/>
                          </a:pPr>
                          <a14:m>
                            <m:oMath xmlns:m="http://schemas.openxmlformats.org/officeDocument/2006/math">
                              <m:func>
                                <m:funcPr>
                                  <m:ctrlPr>
                                    <a:rPr lang="en-US" sz="2000" i="1">
                                      <a:effectLst/>
                                      <a:latin typeface="Cambria Math" panose="02040503050406030204" pitchFamily="18" charset="0"/>
                                      <a:ea typeface="Verdana" charset="0"/>
                                      <a:cs typeface="Verdana" charset="0"/>
                                    </a:rPr>
                                  </m:ctrlPr>
                                </m:funcPr>
                                <m:fName>
                                  <m:r>
                                    <a:rPr lang="en-US" sz="2000" i="1">
                                      <a:effectLst/>
                                      <a:latin typeface="Cambria Math" charset="0"/>
                                      <a:ea typeface="Verdana" charset="0"/>
                                      <a:cs typeface="Verdana" charset="0"/>
                                    </a:rPr>
                                    <m:t>𝑠𝑖𝑛</m:t>
                                  </m:r>
                                </m:fName>
                                <m:e>
                                  <m:d>
                                    <m:dPr>
                                      <m:ctrlPr>
                                        <a:rPr lang="en-US" sz="2000" i="1">
                                          <a:effectLst/>
                                          <a:latin typeface="Cambria Math" panose="02040503050406030204" pitchFamily="18" charset="0"/>
                                          <a:ea typeface="Verdana" charset="0"/>
                                          <a:cs typeface="Verdana" charset="0"/>
                                        </a:rPr>
                                      </m:ctrlPr>
                                    </m:dPr>
                                    <m:e>
                                      <m:r>
                                        <a:rPr lang="en-US" sz="2000" i="1">
                                          <a:effectLst/>
                                          <a:latin typeface="Cambria Math" charset="0"/>
                                          <a:ea typeface="Verdana" charset="0"/>
                                          <a:cs typeface="Verdana" charset="0"/>
                                        </a:rPr>
                                        <m:t>51.3°</m:t>
                                      </m:r>
                                    </m:e>
                                  </m:d>
                                </m:e>
                              </m:func>
                              <m:r>
                                <a:rPr lang="en-US" sz="2000" i="1">
                                  <a:effectLst/>
                                  <a:latin typeface="Cambria Math"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𝑏</m:t>
                                  </m:r>
                                </m:num>
                                <m:den>
                                  <m:r>
                                    <a:rPr lang="en-US" sz="2000" i="1">
                                      <a:effectLst/>
                                      <a:latin typeface="Cambria Math" charset="0"/>
                                      <a:ea typeface="Verdana" charset="0"/>
                                      <a:cs typeface="Verdana" charset="0"/>
                                    </a:rPr>
                                    <m:t>12.8</m:t>
                                  </m:r>
                                </m:den>
                              </m:f>
                            </m:oMath>
                          </a14:m>
                          <a:r>
                            <a:rPr lang="en-US" sz="2000" i="1" dirty="0">
                              <a:effectLst/>
                              <a:latin typeface="Verdana" charset="0"/>
                              <a:ea typeface="Verdana" charset="0"/>
                              <a:cs typeface="Verdana" charset="0"/>
                            </a:rPr>
                            <a:t>  </a:t>
                          </a:r>
                        </a:p>
                        <a:p>
                          <a:pPr marL="0" marR="0">
                            <a:spcBef>
                              <a:spcPts val="0"/>
                            </a:spcBef>
                            <a:spcAft>
                              <a:spcPts val="0"/>
                            </a:spcAft>
                          </a:pPr>
                          <a:r>
                            <a:rPr lang="en-US" sz="2000" i="1" dirty="0">
                              <a:effectLst/>
                              <a:latin typeface="Verdana" charset="0"/>
                              <a:ea typeface="Verdana" charset="0"/>
                              <a:cs typeface="Verdana" charset="0"/>
                            </a:rPr>
                            <a:t> </a:t>
                          </a:r>
                        </a:p>
                      </a:txBody>
                      <a:tcPr marL="68580" marR="68580" marT="0" marB="0" anchor="ctr">
                        <a:lnL>
                          <a:noFill/>
                        </a:lnL>
                        <a:lnR>
                          <a:noFill/>
                        </a:lnR>
                        <a:lnT>
                          <a:noFill/>
                        </a:lnT>
                        <a:lnB>
                          <a:noFill/>
                        </a:lnB>
                      </a:tcPr>
                    </a:tc>
                    <a:tc>
                      <a:txBody>
                        <a:bodyPr/>
                        <a:lstStyle/>
                        <a:p>
                          <a:pPr marL="342900" marR="0" lvl="0" indent="-342900">
                            <a:spcBef>
                              <a:spcPts val="0"/>
                            </a:spcBef>
                            <a:spcAft>
                              <a:spcPts val="0"/>
                            </a:spcAft>
                            <a:buFont typeface="Wingdings" charset="2"/>
                            <a:buChar char=""/>
                          </a:pPr>
                          <a14:m>
                            <m:oMath xmlns:m="http://schemas.openxmlformats.org/officeDocument/2006/math">
                              <m:func>
                                <m:funcPr>
                                  <m:ctrlPr>
                                    <a:rPr lang="en-US" sz="2000" i="1">
                                      <a:effectLst/>
                                      <a:latin typeface="Cambria Math" panose="02040503050406030204" pitchFamily="18" charset="0"/>
                                      <a:ea typeface="Verdana" charset="0"/>
                                      <a:cs typeface="Verdana" charset="0"/>
                                    </a:rPr>
                                  </m:ctrlPr>
                                </m:funcPr>
                                <m:fName>
                                  <m:r>
                                    <a:rPr lang="en-US" sz="2000" i="1">
                                      <a:effectLst/>
                                      <a:latin typeface="Cambria Math" charset="0"/>
                                      <a:ea typeface="Verdana" charset="0"/>
                                      <a:cs typeface="Verdana" charset="0"/>
                                    </a:rPr>
                                    <m:t>𝑡𝑎𝑛</m:t>
                                  </m:r>
                                </m:fName>
                                <m:e>
                                  <m:d>
                                    <m:dPr>
                                      <m:ctrlPr>
                                        <a:rPr lang="en-US" sz="2000" i="1">
                                          <a:effectLst/>
                                          <a:latin typeface="Cambria Math" panose="02040503050406030204" pitchFamily="18" charset="0"/>
                                          <a:ea typeface="Verdana" charset="0"/>
                                          <a:cs typeface="Verdana" charset="0"/>
                                        </a:rPr>
                                      </m:ctrlPr>
                                    </m:dPr>
                                    <m:e>
                                      <m:r>
                                        <a:rPr lang="en-US" sz="2000" i="1">
                                          <a:effectLst/>
                                          <a:latin typeface="Cambria Math" charset="0"/>
                                          <a:ea typeface="Verdana" charset="0"/>
                                          <a:cs typeface="Verdana" charset="0"/>
                                        </a:rPr>
                                        <m:t>51.3°</m:t>
                                      </m:r>
                                    </m:e>
                                  </m:d>
                                </m:e>
                              </m:func>
                              <m:r>
                                <a:rPr lang="en-US" sz="2000" i="1">
                                  <a:effectLst/>
                                  <a:latin typeface="Cambria Math"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𝑏</m:t>
                                  </m:r>
                                </m:num>
                                <m:den>
                                  <m:r>
                                    <a:rPr lang="en-US" sz="2000" i="1">
                                      <a:effectLst/>
                                      <a:latin typeface="Cambria Math" charset="0"/>
                                      <a:ea typeface="Verdana" charset="0"/>
                                      <a:cs typeface="Verdana" charset="0"/>
                                    </a:rPr>
                                    <m:t>12.8</m:t>
                                  </m:r>
                                </m:den>
                              </m:f>
                            </m:oMath>
                          </a14:m>
                          <a:endParaRPr lang="en-US" sz="2000" i="1" dirty="0">
                            <a:effectLst/>
                            <a:latin typeface="Verdana" charset="0"/>
                            <a:ea typeface="Verdana" charset="0"/>
                            <a:cs typeface="Verdana" charset="0"/>
                          </a:endParaRPr>
                        </a:p>
                        <a:p>
                          <a:pPr marL="0" marR="0">
                            <a:spcBef>
                              <a:spcPts val="0"/>
                            </a:spcBef>
                            <a:spcAft>
                              <a:spcPts val="0"/>
                            </a:spcAft>
                          </a:pPr>
                          <a:r>
                            <a:rPr lang="en-US" sz="2000" i="1" dirty="0">
                              <a:effectLst/>
                              <a:latin typeface="Verdana" charset="0"/>
                              <a:ea typeface="Verdana" charset="0"/>
                              <a:cs typeface="Verdana" charset="0"/>
                            </a:rPr>
                            <a:t> </a:t>
                          </a:r>
                        </a:p>
                      </a:txBody>
                      <a:tcPr marL="68580" marR="68580" marT="0" marB="0" anchor="ctr">
                        <a:lnL>
                          <a:noFill/>
                        </a:lnL>
                        <a:lnR>
                          <a:noFill/>
                        </a:lnR>
                        <a:lnT>
                          <a:noFill/>
                        </a:lnT>
                        <a:lnB>
                          <a:noFill/>
                        </a:lnB>
                      </a:tcPr>
                    </a:tc>
                    <a:extLst>
                      <a:ext uri="{0D108BD9-81ED-4DB2-BD59-A6C34878D82A}">
                        <a16:rowId xmlns:a16="http://schemas.microsoft.com/office/drawing/2014/main" val="10000"/>
                      </a:ext>
                    </a:extLst>
                  </a:tr>
                  <a:tr h="774777">
                    <a:tc>
                      <a:txBody>
                        <a:bodyPr/>
                        <a:lstStyle/>
                        <a:p>
                          <a:pPr marL="342900" marR="0" lvl="0" indent="-342900">
                            <a:spcBef>
                              <a:spcPts val="0"/>
                            </a:spcBef>
                            <a:spcAft>
                              <a:spcPts val="0"/>
                            </a:spcAft>
                            <a:buFont typeface="Wingdings" charset="2"/>
                            <a:buChar char=""/>
                          </a:pPr>
                          <a14:m>
                            <m:oMath xmlns:m="http://schemas.openxmlformats.org/officeDocument/2006/math">
                              <m:func>
                                <m:funcPr>
                                  <m:ctrlPr>
                                    <a:rPr lang="en-US" sz="2000" i="1">
                                      <a:effectLst/>
                                      <a:latin typeface="Cambria Math" panose="02040503050406030204" pitchFamily="18" charset="0"/>
                                      <a:ea typeface="Verdana" charset="0"/>
                                      <a:cs typeface="Verdana" charset="0"/>
                                    </a:rPr>
                                  </m:ctrlPr>
                                </m:funcPr>
                                <m:fName>
                                  <m:r>
                                    <a:rPr lang="en-US" sz="2000" i="1">
                                      <a:effectLst/>
                                      <a:latin typeface="Cambria Math" charset="0"/>
                                      <a:ea typeface="Verdana" charset="0"/>
                                      <a:cs typeface="Verdana" charset="0"/>
                                    </a:rPr>
                                    <m:t>𝑐𝑜𝑠</m:t>
                                  </m:r>
                                </m:fName>
                                <m:e>
                                  <m:d>
                                    <m:dPr>
                                      <m:ctrlPr>
                                        <a:rPr lang="en-US" sz="2000" i="1">
                                          <a:effectLst/>
                                          <a:latin typeface="Cambria Math" panose="02040503050406030204" pitchFamily="18" charset="0"/>
                                          <a:ea typeface="Verdana" charset="0"/>
                                          <a:cs typeface="Verdana" charset="0"/>
                                        </a:rPr>
                                      </m:ctrlPr>
                                    </m:dPr>
                                    <m:e>
                                      <m:r>
                                        <a:rPr lang="en-US" sz="2000" i="1">
                                          <a:effectLst/>
                                          <a:latin typeface="Cambria Math" charset="0"/>
                                          <a:ea typeface="Verdana" charset="0"/>
                                          <a:cs typeface="Verdana" charset="0"/>
                                        </a:rPr>
                                        <m:t>38.7°</m:t>
                                      </m:r>
                                    </m:e>
                                  </m:d>
                                </m:e>
                              </m:func>
                              <m:r>
                                <a:rPr lang="en-US" sz="2000" i="1">
                                  <a:effectLst/>
                                  <a:latin typeface="Cambria Math"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𝑏</m:t>
                                  </m:r>
                                </m:num>
                                <m:den>
                                  <m:r>
                                    <a:rPr lang="en-US" sz="2000" i="1">
                                      <a:effectLst/>
                                      <a:latin typeface="Cambria Math" charset="0"/>
                                      <a:ea typeface="Verdana" charset="0"/>
                                      <a:cs typeface="Verdana" charset="0"/>
                                    </a:rPr>
                                    <m:t>12.8</m:t>
                                  </m:r>
                                </m:den>
                              </m:f>
                            </m:oMath>
                          </a14:m>
                          <a:endParaRPr lang="en-US" sz="2000" i="1">
                            <a:effectLst/>
                            <a:latin typeface="Verdana" charset="0"/>
                            <a:ea typeface="Verdana" charset="0"/>
                            <a:cs typeface="Verdana" charset="0"/>
                          </a:endParaRPr>
                        </a:p>
                        <a:p>
                          <a:pPr marL="0" marR="0">
                            <a:spcBef>
                              <a:spcPts val="0"/>
                            </a:spcBef>
                            <a:spcAft>
                              <a:spcPts val="0"/>
                            </a:spcAft>
                          </a:pPr>
                          <a:r>
                            <a:rPr lang="en-US" sz="2000" i="1">
                              <a:effectLst/>
                              <a:latin typeface="Verdana" charset="0"/>
                              <a:ea typeface="Verdana" charset="0"/>
                              <a:cs typeface="Verdana" charset="0"/>
                            </a:rPr>
                            <a:t> </a:t>
                          </a:r>
                        </a:p>
                      </a:txBody>
                      <a:tcPr marL="68580" marR="68580" marT="0" marB="0" anchor="ctr">
                        <a:lnL>
                          <a:noFill/>
                        </a:lnL>
                        <a:lnR>
                          <a:noFill/>
                        </a:lnR>
                        <a:lnT>
                          <a:noFill/>
                        </a:lnT>
                        <a:lnB>
                          <a:noFill/>
                        </a:lnB>
                      </a:tcPr>
                    </a:tc>
                    <a:tc>
                      <a:txBody>
                        <a:bodyPr/>
                        <a:lstStyle/>
                        <a:p>
                          <a:pPr marL="342900" marR="0" lvl="0" indent="-342900">
                            <a:spcBef>
                              <a:spcPts val="0"/>
                            </a:spcBef>
                            <a:spcAft>
                              <a:spcPts val="0"/>
                            </a:spcAft>
                            <a:buFont typeface="Wingdings" charset="2"/>
                            <a:buChar char=""/>
                          </a:pPr>
                          <a14:m>
                            <m:oMath xmlns:m="http://schemas.openxmlformats.org/officeDocument/2006/math">
                              <m:func>
                                <m:funcPr>
                                  <m:ctrlPr>
                                    <a:rPr lang="en-US" sz="2000" i="1">
                                      <a:effectLst/>
                                      <a:latin typeface="Cambria Math" panose="02040503050406030204" pitchFamily="18" charset="0"/>
                                      <a:ea typeface="Verdana" charset="0"/>
                                      <a:cs typeface="Verdana" charset="0"/>
                                    </a:rPr>
                                  </m:ctrlPr>
                                </m:funcPr>
                                <m:fName>
                                  <m:r>
                                    <a:rPr lang="en-US" sz="2000" i="1">
                                      <a:effectLst/>
                                      <a:latin typeface="Cambria Math" charset="0"/>
                                      <a:ea typeface="Verdana" charset="0"/>
                                      <a:cs typeface="Verdana" charset="0"/>
                                    </a:rPr>
                                    <m:t>𝑠𝑖𝑛</m:t>
                                  </m:r>
                                </m:fName>
                                <m:e>
                                  <m:d>
                                    <m:dPr>
                                      <m:ctrlPr>
                                        <a:rPr lang="en-US" sz="2000" i="1">
                                          <a:effectLst/>
                                          <a:latin typeface="Cambria Math" panose="02040503050406030204" pitchFamily="18" charset="0"/>
                                          <a:ea typeface="Verdana" charset="0"/>
                                          <a:cs typeface="Verdana" charset="0"/>
                                        </a:rPr>
                                      </m:ctrlPr>
                                    </m:dPr>
                                    <m:e>
                                      <m:r>
                                        <a:rPr lang="en-US" sz="2000" i="1">
                                          <a:effectLst/>
                                          <a:latin typeface="Cambria Math" charset="0"/>
                                          <a:ea typeface="Verdana" charset="0"/>
                                          <a:cs typeface="Verdana" charset="0"/>
                                        </a:rPr>
                                        <m:t>38.7°</m:t>
                                      </m:r>
                                    </m:e>
                                  </m:d>
                                  <m:r>
                                    <a:rPr lang="en-US" sz="2000" i="1">
                                      <a:effectLst/>
                                      <a:latin typeface="Cambria Math"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𝑏</m:t>
                                      </m:r>
                                    </m:num>
                                    <m:den>
                                      <m:r>
                                        <a:rPr lang="en-US" sz="2000" i="1">
                                          <a:effectLst/>
                                          <a:latin typeface="Cambria Math" charset="0"/>
                                          <a:ea typeface="Verdana" charset="0"/>
                                          <a:cs typeface="Verdana" charset="0"/>
                                        </a:rPr>
                                        <m:t>12.8</m:t>
                                      </m:r>
                                    </m:den>
                                  </m:f>
                                </m:e>
                              </m:func>
                            </m:oMath>
                          </a14:m>
                          <a:endParaRPr lang="en-US" sz="2000" i="1" dirty="0">
                            <a:effectLst/>
                            <a:latin typeface="Verdana" charset="0"/>
                            <a:ea typeface="Verdana" charset="0"/>
                            <a:cs typeface="Verdana" charset="0"/>
                          </a:endParaRPr>
                        </a:p>
                        <a:p>
                          <a:pPr marL="0" marR="0">
                            <a:spcBef>
                              <a:spcPts val="0"/>
                            </a:spcBef>
                            <a:spcAft>
                              <a:spcPts val="0"/>
                            </a:spcAft>
                          </a:pPr>
                          <a:r>
                            <a:rPr lang="en-US" sz="2000" i="1" dirty="0">
                              <a:effectLst/>
                              <a:latin typeface="Verdana" charset="0"/>
                              <a:ea typeface="Verdana" charset="0"/>
                              <a:cs typeface="Verdana" charset="0"/>
                            </a:rPr>
                            <a:t> </a:t>
                          </a:r>
                        </a:p>
                      </a:txBody>
                      <a:tcPr marL="68580" marR="68580" marT="0" marB="0" anchor="ctr">
                        <a:lnL>
                          <a:noFill/>
                        </a:lnL>
                        <a:lnR>
                          <a:noFill/>
                        </a:lnR>
                        <a:lnT>
                          <a:noFill/>
                        </a:lnT>
                        <a:lnB>
                          <a:noFill/>
                        </a:lnB>
                      </a:tcPr>
                    </a:tc>
                    <a:tc>
                      <a:txBody>
                        <a:bodyPr/>
                        <a:lstStyle/>
                        <a:p>
                          <a:pPr marL="342900" marR="0" lvl="0" indent="-342900">
                            <a:spcBef>
                              <a:spcPts val="0"/>
                            </a:spcBef>
                            <a:spcAft>
                              <a:spcPts val="0"/>
                            </a:spcAft>
                            <a:buFont typeface="Wingdings" charset="2"/>
                            <a:buChar char=""/>
                          </a:pPr>
                          <a14:m>
                            <m:oMath xmlns:m="http://schemas.openxmlformats.org/officeDocument/2006/math">
                              <m:func>
                                <m:funcPr>
                                  <m:ctrlPr>
                                    <a:rPr lang="en-US" sz="2000" i="1">
                                      <a:effectLst/>
                                      <a:latin typeface="Cambria Math" panose="02040503050406030204" pitchFamily="18" charset="0"/>
                                      <a:ea typeface="Verdana" charset="0"/>
                                      <a:cs typeface="Verdana" charset="0"/>
                                    </a:rPr>
                                  </m:ctrlPr>
                                </m:funcPr>
                                <m:fName>
                                  <m:r>
                                    <a:rPr lang="en-US" sz="2000" i="1">
                                      <a:effectLst/>
                                      <a:latin typeface="Cambria Math" charset="0"/>
                                      <a:ea typeface="Verdana" charset="0"/>
                                      <a:cs typeface="Verdana" charset="0"/>
                                    </a:rPr>
                                    <m:t>𝑡𝑎𝑛</m:t>
                                  </m:r>
                                </m:fName>
                                <m:e>
                                  <m:d>
                                    <m:dPr>
                                      <m:ctrlPr>
                                        <a:rPr lang="en-US" sz="2000" i="1">
                                          <a:effectLst/>
                                          <a:latin typeface="Cambria Math" panose="02040503050406030204" pitchFamily="18" charset="0"/>
                                          <a:ea typeface="Verdana" charset="0"/>
                                          <a:cs typeface="Verdana" charset="0"/>
                                        </a:rPr>
                                      </m:ctrlPr>
                                    </m:dPr>
                                    <m:e>
                                      <m:r>
                                        <a:rPr lang="en-US" sz="2000" i="1">
                                          <a:effectLst/>
                                          <a:latin typeface="Cambria Math" charset="0"/>
                                          <a:ea typeface="Verdana" charset="0"/>
                                          <a:cs typeface="Verdana" charset="0"/>
                                        </a:rPr>
                                        <m:t>38.7°</m:t>
                                      </m:r>
                                    </m:e>
                                  </m:d>
                                </m:e>
                              </m:func>
                              <m:r>
                                <a:rPr lang="en-US" sz="2000" i="1">
                                  <a:effectLst/>
                                  <a:latin typeface="Cambria Math"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8</m:t>
                                  </m:r>
                                </m:num>
                                <m:den>
                                  <m:r>
                                    <a:rPr lang="en-US" sz="2000" i="1">
                                      <a:effectLst/>
                                      <a:latin typeface="Cambria Math" charset="0"/>
                                      <a:ea typeface="Verdana" charset="0"/>
                                      <a:cs typeface="Verdana" charset="0"/>
                                    </a:rPr>
                                    <m:t>𝑏</m:t>
                                  </m:r>
                                </m:den>
                              </m:f>
                            </m:oMath>
                          </a14:m>
                          <a:endParaRPr lang="en-US" sz="2000" i="1" dirty="0">
                            <a:effectLst/>
                            <a:latin typeface="Verdana" charset="0"/>
                            <a:ea typeface="Verdana" charset="0"/>
                            <a:cs typeface="Verdana" charset="0"/>
                          </a:endParaRPr>
                        </a:p>
                        <a:p>
                          <a:pPr marL="0" marR="0">
                            <a:spcBef>
                              <a:spcPts val="0"/>
                            </a:spcBef>
                            <a:spcAft>
                              <a:spcPts val="0"/>
                            </a:spcAft>
                          </a:pPr>
                          <a:r>
                            <a:rPr lang="en-US" sz="2000" i="1" dirty="0">
                              <a:effectLst/>
                              <a:latin typeface="Verdana" charset="0"/>
                              <a:ea typeface="Verdana" charset="0"/>
                              <a:cs typeface="Verdana" charset="0"/>
                            </a:rPr>
                            <a:t> </a:t>
                          </a:r>
                        </a:p>
                      </a:txBody>
                      <a:tcPr marL="68580" marR="68580" marT="0" marB="0" anchor="ctr">
                        <a:lnL>
                          <a:noFill/>
                        </a:lnL>
                        <a:lnR>
                          <a:noFill/>
                        </a:lnR>
                        <a:lnT>
                          <a:noFill/>
                        </a:lnT>
                        <a:lnB>
                          <a:noFill/>
                        </a:lnB>
                      </a:tcPr>
                    </a:tc>
                    <a:extLst>
                      <a:ext uri="{0D108BD9-81ED-4DB2-BD59-A6C34878D82A}">
                        <a16:rowId xmlns:a16="http://schemas.microsoft.com/office/drawing/2014/main" val="10001"/>
                      </a:ext>
                    </a:extLst>
                  </a:tr>
                </a:tbl>
              </a:graphicData>
            </a:graphic>
          </p:graphicFrame>
        </mc:Choice>
        <mc:Fallback>
          <p:graphicFrame>
            <p:nvGraphicFramePr>
              <p:cNvPr id="5" name="Table 4"/>
              <p:cNvGraphicFramePr>
                <a:graphicFrameLocks noGrp="1"/>
              </p:cNvGraphicFramePr>
              <p:nvPr>
                <p:extLst>
                  <p:ext uri="{D42A27DB-BD31-4B8C-83A1-F6EECF244321}">
                    <p14:modId xmlns:p14="http://schemas.microsoft.com/office/powerpoint/2010/main" val="3155686593"/>
                  </p:ext>
                </p:extLst>
              </p:nvPr>
            </p:nvGraphicFramePr>
            <p:xfrm>
              <a:off x="510818" y="3208621"/>
              <a:ext cx="7609569" cy="1549554"/>
            </p:xfrm>
            <a:graphic>
              <a:graphicData uri="http://schemas.openxmlformats.org/drawingml/2006/table">
                <a:tbl>
                  <a:tblPr firstRow="1" firstCol="1" bandRow="1"/>
                  <a:tblGrid>
                    <a:gridCol w="2539117">
                      <a:extLst>
                        <a:ext uri="{9D8B030D-6E8A-4147-A177-3AD203B41FA5}">
                          <a16:colId xmlns:a16="http://schemas.microsoft.com/office/drawing/2014/main" val="20000"/>
                        </a:ext>
                      </a:extLst>
                    </a:gridCol>
                    <a:gridCol w="2531335">
                      <a:extLst>
                        <a:ext uri="{9D8B030D-6E8A-4147-A177-3AD203B41FA5}">
                          <a16:colId xmlns:a16="http://schemas.microsoft.com/office/drawing/2014/main" val="20001"/>
                        </a:ext>
                      </a:extLst>
                    </a:gridCol>
                    <a:gridCol w="2539117">
                      <a:extLst>
                        <a:ext uri="{9D8B030D-6E8A-4147-A177-3AD203B41FA5}">
                          <a16:colId xmlns:a16="http://schemas.microsoft.com/office/drawing/2014/main" val="20002"/>
                        </a:ext>
                      </a:extLst>
                    </a:gridCol>
                  </a:tblGrid>
                  <a:tr h="774777">
                    <a:tc>
                      <a:txBody>
                        <a:bodyPr/>
                        <a:lstStyle/>
                        <a:p>
                          <a:endParaRPr lang="en-US"/>
                        </a:p>
                      </a:txBody>
                      <a:tcPr marL="68580" marR="68580" marT="0" marB="0" anchor="ctr">
                        <a:lnL>
                          <a:noFill/>
                        </a:lnL>
                        <a:lnR>
                          <a:noFill/>
                        </a:lnR>
                        <a:lnT>
                          <a:noFill/>
                        </a:lnT>
                        <a:lnB>
                          <a:noFill/>
                        </a:lnB>
                        <a:blipFill>
                          <a:blip r:embed="rId9"/>
                          <a:stretch>
                            <a:fillRect l="-500" r="-200000" b="-98387"/>
                          </a:stretch>
                        </a:blipFill>
                      </a:tcPr>
                    </a:tc>
                    <a:tc>
                      <a:txBody>
                        <a:bodyPr/>
                        <a:lstStyle/>
                        <a:p>
                          <a:endParaRPr lang="en-US"/>
                        </a:p>
                      </a:txBody>
                      <a:tcPr marL="68580" marR="68580" marT="0" marB="0" anchor="ctr">
                        <a:lnL>
                          <a:noFill/>
                        </a:lnL>
                        <a:lnR>
                          <a:noFill/>
                        </a:lnR>
                        <a:lnT>
                          <a:noFill/>
                        </a:lnT>
                        <a:lnB>
                          <a:noFill/>
                        </a:lnB>
                        <a:blipFill>
                          <a:blip r:embed="rId9"/>
                          <a:stretch>
                            <a:fillRect l="-100500" r="-100000" b="-98387"/>
                          </a:stretch>
                        </a:blipFill>
                      </a:tcPr>
                    </a:tc>
                    <a:tc>
                      <a:txBody>
                        <a:bodyPr/>
                        <a:lstStyle/>
                        <a:p>
                          <a:endParaRPr lang="en-US"/>
                        </a:p>
                      </a:txBody>
                      <a:tcPr marL="68580" marR="68580" marT="0" marB="0" anchor="ctr">
                        <a:lnL>
                          <a:noFill/>
                        </a:lnL>
                        <a:lnR>
                          <a:noFill/>
                        </a:lnR>
                        <a:lnT>
                          <a:noFill/>
                        </a:lnT>
                        <a:lnB>
                          <a:noFill/>
                        </a:lnB>
                        <a:blipFill>
                          <a:blip r:embed="rId9"/>
                          <a:stretch>
                            <a:fillRect l="-200500" b="-98387"/>
                          </a:stretch>
                        </a:blipFill>
                      </a:tcPr>
                    </a:tc>
                    <a:extLst>
                      <a:ext uri="{0D108BD9-81ED-4DB2-BD59-A6C34878D82A}">
                        <a16:rowId xmlns:a16="http://schemas.microsoft.com/office/drawing/2014/main" val="10000"/>
                      </a:ext>
                    </a:extLst>
                  </a:tr>
                  <a:tr h="774777">
                    <a:tc>
                      <a:txBody>
                        <a:bodyPr/>
                        <a:lstStyle/>
                        <a:p>
                          <a:endParaRPr lang="en-US"/>
                        </a:p>
                      </a:txBody>
                      <a:tcPr marL="68580" marR="68580" marT="0" marB="0" anchor="ctr">
                        <a:lnL>
                          <a:noFill/>
                        </a:lnL>
                        <a:lnR>
                          <a:noFill/>
                        </a:lnR>
                        <a:lnT>
                          <a:noFill/>
                        </a:lnT>
                        <a:lnB>
                          <a:noFill/>
                        </a:lnB>
                        <a:blipFill>
                          <a:blip r:embed="rId9"/>
                          <a:stretch>
                            <a:fillRect l="-500" t="-101639" r="-200000"/>
                          </a:stretch>
                        </a:blipFill>
                      </a:tcPr>
                    </a:tc>
                    <a:tc>
                      <a:txBody>
                        <a:bodyPr/>
                        <a:lstStyle/>
                        <a:p>
                          <a:endParaRPr lang="en-US"/>
                        </a:p>
                      </a:txBody>
                      <a:tcPr marL="68580" marR="68580" marT="0" marB="0" anchor="ctr">
                        <a:lnL>
                          <a:noFill/>
                        </a:lnL>
                        <a:lnR>
                          <a:noFill/>
                        </a:lnR>
                        <a:lnT>
                          <a:noFill/>
                        </a:lnT>
                        <a:lnB>
                          <a:noFill/>
                        </a:lnB>
                        <a:blipFill>
                          <a:blip r:embed="rId9"/>
                          <a:stretch>
                            <a:fillRect l="-100500" t="-101639" r="-100000"/>
                          </a:stretch>
                        </a:blipFill>
                      </a:tcPr>
                    </a:tc>
                    <a:tc>
                      <a:txBody>
                        <a:bodyPr/>
                        <a:lstStyle/>
                        <a:p>
                          <a:endParaRPr lang="en-US"/>
                        </a:p>
                      </a:txBody>
                      <a:tcPr marL="68580" marR="68580" marT="0" marB="0" anchor="ctr">
                        <a:lnL>
                          <a:noFill/>
                        </a:lnL>
                        <a:lnR>
                          <a:noFill/>
                        </a:lnR>
                        <a:lnT>
                          <a:noFill/>
                        </a:lnT>
                        <a:lnB>
                          <a:noFill/>
                        </a:lnB>
                        <a:blipFill>
                          <a:blip r:embed="rId9"/>
                          <a:stretch>
                            <a:fillRect l="-200500" t="-101639"/>
                          </a:stretch>
                        </a:blipFill>
                      </a:tcPr>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8629"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30403"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3" y="520518"/>
                <a:ext cx="8185270" cy="3785652"/>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𝑆𝐺𝐾</m:t>
                    </m:r>
                  </m:oMath>
                </a14:m>
                <a:r>
                  <a:rPr lang="en-US" sz="2000" dirty="0">
                    <a:latin typeface="Verdana" panose="020B0604030504040204" pitchFamily="34" charset="0"/>
                    <a:ea typeface="Verdana" panose="020B0604030504040204" pitchFamily="34" charset="0"/>
                    <a:cs typeface="Verdana" panose="020B0604030504040204" pitchFamily="34" charset="0"/>
                  </a:rPr>
                  <a:t> is shown. </a:t>
                </a:r>
              </a:p>
              <a:p>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Use a trigonometric ratio for </a:t>
                </a:r>
                <a14:m>
                  <m:oMath xmlns:m="http://schemas.openxmlformats.org/officeDocument/2006/math">
                    <m:r>
                      <a:rPr lang="en-US" sz="2000" i="1">
                        <a:latin typeface="Cambria Math" panose="02040503050406030204" pitchFamily="18" charset="0"/>
                        <a:ea typeface="Verdana" charset="0"/>
                        <a:cs typeface="Verdana" charset="0"/>
                      </a:rPr>
                      <m:t>𝜃</m:t>
                    </m:r>
                  </m:oMath>
                </a14:m>
                <a:r>
                  <a:rPr lang="en-US" sz="2000" dirty="0">
                    <a:latin typeface="Verdana" charset="0"/>
                    <a:ea typeface="Verdana" charset="0"/>
                    <a:cs typeface="Verdana" charset="0"/>
                  </a:rPr>
                  <a:t> to write an equation that can be used to find the value of </a:t>
                </a:r>
                <a14:m>
                  <m:oMath xmlns:m="http://schemas.openxmlformats.org/officeDocument/2006/math">
                    <m:r>
                      <a:rPr lang="en-US" sz="2000" i="1">
                        <a:latin typeface="Cambria Math" panose="02040503050406030204" pitchFamily="18" charset="0"/>
                        <a:ea typeface="Verdana" charset="0"/>
                        <a:cs typeface="Verdana" charset="0"/>
                      </a:rPr>
                      <m:t>𝑘</m:t>
                    </m:r>
                  </m:oMath>
                </a14:m>
                <a:r>
                  <a:rPr lang="en-US" sz="2000" dirty="0">
                    <a:latin typeface="Verdana" charset="0"/>
                    <a:ea typeface="Verdana" charset="0"/>
                    <a:cs typeface="Verdana" charset="0"/>
                  </a:rPr>
                  <a:t>.</a:t>
                </a: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Which trigonometric ratio for </a:t>
                </a:r>
                <a14:m>
                  <m:oMath xmlns:m="http://schemas.openxmlformats.org/officeDocument/2006/math">
                    <m:r>
                      <a:rPr lang="en-US" sz="2000" i="1">
                        <a:latin typeface="Cambria Math" panose="02040503050406030204" pitchFamily="18" charset="0"/>
                        <a:ea typeface="Verdana" charset="0"/>
                        <a:cs typeface="Verdana" charset="0"/>
                      </a:rPr>
                      <m:t>𝜃</m:t>
                    </m:r>
                  </m:oMath>
                </a14:m>
                <a:r>
                  <a:rPr lang="en-US" sz="2000" dirty="0">
                    <a:latin typeface="Verdana" charset="0"/>
                    <a:ea typeface="Verdana" charset="0"/>
                    <a:cs typeface="Verdana" charset="0"/>
                  </a:rPr>
                  <a:t> cannot be used to write an equation that can be used to find the value of </a:t>
                </a:r>
                <a14:m>
                  <m:oMath xmlns:m="http://schemas.openxmlformats.org/officeDocument/2006/math">
                    <m:r>
                      <a:rPr lang="en-US" sz="2000" i="1">
                        <a:latin typeface="Cambria Math" panose="02040503050406030204" pitchFamily="18" charset="0"/>
                        <a:ea typeface="Verdana" charset="0"/>
                        <a:cs typeface="Verdana" charset="0"/>
                      </a:rPr>
                      <m:t>𝑘</m:t>
                    </m:r>
                  </m:oMath>
                </a14:m>
                <a:r>
                  <a:rPr lang="en-US" sz="2000" dirty="0">
                    <a:latin typeface="Verdana" charset="0"/>
                    <a:ea typeface="Verdana" charset="0"/>
                    <a:cs typeface="Verdana" charset="0"/>
                  </a:rPr>
                  <a: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3" y="520518"/>
                <a:ext cx="8185270" cy="3785652"/>
              </a:xfrm>
              <a:prstGeom prst="rect">
                <a:avLst/>
              </a:prstGeom>
              <a:blipFill>
                <a:blip r:embed="rId4"/>
                <a:stretch>
                  <a:fillRect l="-820" t="-966" r="-1341" b="-193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5B857E21-14F1-9C47-B2E8-32DB537DBF85}"/>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8683103" y="520518"/>
            <a:ext cx="2781300" cy="4203700"/>
          </a:xfrm>
          <a:prstGeom prst="rect">
            <a:avLst/>
          </a:prstGeom>
        </p:spPr>
      </p:pic>
    </p:spTree>
    <p:extLst>
      <p:ext uri="{BB962C8B-B14F-4D97-AF65-F5344CB8AC3E}">
        <p14:creationId xmlns:p14="http://schemas.microsoft.com/office/powerpoint/2010/main" val="3134841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2" y="528618"/>
                <a:ext cx="11130317" cy="1323439"/>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𝑃𝑀𝐻</m:t>
                    </m:r>
                  </m:oMath>
                </a14:m>
                <a:r>
                  <a:rPr lang="en-US" sz="2000" dirty="0">
                    <a:latin typeface="Verdana" panose="020B0604030504040204" pitchFamily="34" charset="0"/>
                    <a:ea typeface="Verdana" panose="020B0604030504040204" pitchFamily="34" charset="0"/>
                    <a:cs typeface="Verdana" panose="020B0604030504040204" pitchFamily="34" charset="0"/>
                  </a:rPr>
                  <a:t> is shown. Work with your partner to determine which trigonometric ratio can be used to determine the unknown side or angle. Then, use the ratio to write an equation that can be used to determine the unknown. When writing the equation, use the variables </a:t>
                </a:r>
                <a14:m>
                  <m:oMath xmlns:m="http://schemas.openxmlformats.org/officeDocument/2006/math">
                    <m:r>
                      <a:rPr lang="en-US" sz="2000" i="1">
                        <a:latin typeface="Cambria Math" panose="02040503050406030204" pitchFamily="18" charset="0"/>
                        <a:ea typeface="Verdana" charset="0"/>
                        <a:cs typeface="Verdana" charset="0"/>
                      </a:rPr>
                      <m:t>h</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charset="0"/>
                        <a:cs typeface="Verdana" charset="0"/>
                      </a:rPr>
                      <m:t>𝑝</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charset="0"/>
                        <a:cs typeface="Verdana" charset="0"/>
                      </a:rPr>
                      <m:t>𝑚</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charset="0"/>
                        <a:cs typeface="Verdana"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Verdana" charset="0"/>
                        <a:cs typeface="Verdana"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2" y="528618"/>
                <a:ext cx="11130317" cy="1323439"/>
              </a:xfrm>
              <a:prstGeom prst="rect">
                <a:avLst/>
              </a:prstGeom>
              <a:blipFill>
                <a:blip r:embed="rId4"/>
                <a:stretch>
                  <a:fillRect l="-602" t="-3226" r="-657" b="-737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5B857E21-14F1-9C47-B2E8-32DB537DBF85}"/>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068326" y="2099967"/>
            <a:ext cx="3086100" cy="2298700"/>
          </a:xfrm>
          <a:prstGeom prst="rect">
            <a:avLst/>
          </a:prstGeom>
        </p:spPr>
      </p:pic>
    </p:spTree>
    <p:extLst>
      <p:ext uri="{BB962C8B-B14F-4D97-AF65-F5344CB8AC3E}">
        <p14:creationId xmlns:p14="http://schemas.microsoft.com/office/powerpoint/2010/main" val="366582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395</a:t>
            </a:r>
          </a:p>
        </p:txBody>
      </p:sp>
      <p:sp>
        <p:nvSpPr>
          <p:cNvPr id="6" name="Google Shape;278;g104476d1465_1_17">
            <a:extLst>
              <a:ext uri="{FF2B5EF4-FFF2-40B4-BE49-F238E27FC236}">
                <a16:creationId xmlns:a16="http://schemas.microsoft.com/office/drawing/2014/main" id="{5B857E21-14F1-9C47-B2E8-32DB537DBF85}"/>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4001639587"/>
                  </p:ext>
                </p:extLst>
              </p:nvPr>
            </p:nvGraphicFramePr>
            <p:xfrm>
              <a:off x="633536" y="422618"/>
              <a:ext cx="9646089" cy="5778107"/>
            </p:xfrm>
            <a:graphic>
              <a:graphicData uri="http://schemas.openxmlformats.org/drawingml/2006/table">
                <a:tbl>
                  <a:tblPr firstRow="1" firstCol="1" bandRow="1"/>
                  <a:tblGrid>
                    <a:gridCol w="2515573">
                      <a:extLst>
                        <a:ext uri="{9D8B030D-6E8A-4147-A177-3AD203B41FA5}">
                          <a16:colId xmlns:a16="http://schemas.microsoft.com/office/drawing/2014/main" val="20000"/>
                        </a:ext>
                      </a:extLst>
                    </a:gridCol>
                    <a:gridCol w="2088358">
                      <a:extLst>
                        <a:ext uri="{9D8B030D-6E8A-4147-A177-3AD203B41FA5}">
                          <a16:colId xmlns:a16="http://schemas.microsoft.com/office/drawing/2014/main" val="20001"/>
                        </a:ext>
                      </a:extLst>
                    </a:gridCol>
                    <a:gridCol w="2916174">
                      <a:extLst>
                        <a:ext uri="{9D8B030D-6E8A-4147-A177-3AD203B41FA5}">
                          <a16:colId xmlns:a16="http://schemas.microsoft.com/office/drawing/2014/main" val="20002"/>
                        </a:ext>
                      </a:extLst>
                    </a:gridCol>
                    <a:gridCol w="2125984">
                      <a:extLst>
                        <a:ext uri="{9D8B030D-6E8A-4147-A177-3AD203B41FA5}">
                          <a16:colId xmlns:a16="http://schemas.microsoft.com/office/drawing/2014/main" val="20003"/>
                        </a:ext>
                      </a:extLst>
                    </a:gridCol>
                  </a:tblGrid>
                  <a:tr h="679777">
                    <a:tc>
                      <a:txBody>
                        <a:bodyPr/>
                        <a:lstStyle/>
                        <a:p>
                          <a:pPr marL="0" marR="0" algn="ctr">
                            <a:spcBef>
                              <a:spcPts val="0"/>
                            </a:spcBef>
                            <a:spcAft>
                              <a:spcPts val="0"/>
                            </a:spcAft>
                          </a:pPr>
                          <a:r>
                            <a:rPr lang="en-US" sz="2000" b="1">
                              <a:effectLst/>
                              <a:latin typeface="Verdana" charset="0"/>
                              <a:ea typeface="Verdana" charset="0"/>
                              <a:cs typeface="Verdana" charset="0"/>
                            </a:rPr>
                            <a:t>Given</a:t>
                          </a:r>
                          <a:endParaRPr lang="en-US" sz="200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Unknown</a:t>
                          </a:r>
                          <a:endParaRPr lang="en-US" sz="200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Trigonometric Ratio</a:t>
                          </a:r>
                          <a:endParaRPr lang="en-US" sz="2000" dirty="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Equation</a:t>
                          </a:r>
                          <a:endParaRPr lang="en-US" sz="200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019666">
                    <a:tc>
                      <a:txBody>
                        <a:bodyPr/>
                        <a:lstStyle/>
                        <a:p>
                          <a:pPr marL="0" marR="0" algn="ctr">
                            <a:spcBef>
                              <a:spcPts val="0"/>
                            </a:spcBef>
                            <a:spcAft>
                              <a:spcPts val="0"/>
                            </a:spcAft>
                          </a:pPr>
                          <a14:m>
                            <m:oMath xmlns:m="http://schemas.openxmlformats.org/officeDocument/2006/math">
                              <m:r>
                                <a:rPr lang="en-US" sz="2000" i="1">
                                  <a:effectLst/>
                                  <a:latin typeface="Cambria Math" charset="0"/>
                                  <a:ea typeface="Verdana" charset="0"/>
                                  <a:cs typeface="Verdana" charset="0"/>
                                </a:rPr>
                                <m:t>𝑚</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𝑃𝐻𝑀</m:t>
                              </m:r>
                            </m:oMath>
                          </a14:m>
                          <a:r>
                            <a:rPr lang="en-US" sz="2000" dirty="0">
                              <a:effectLst/>
                              <a:latin typeface="Verdana" charset="0"/>
                              <a:ea typeface="Verdana" charset="0"/>
                              <a:cs typeface="Verdana" charset="0"/>
                            </a:rPr>
                            <a:t> and length of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𝑃𝑀</m:t>
                                  </m:r>
                                </m:e>
                              </m:acc>
                            </m:oMath>
                          </a14:m>
                          <a:endParaRPr lang="en-US" sz="2000" dirty="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𝑃𝐻</m:t>
                                    </m:r>
                                  </m:e>
                                </m:acc>
                              </m:oMath>
                            </m:oMathPara>
                          </a14:m>
                          <a:endParaRPr lang="en-US" sz="200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cosine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tangent</a:t>
                          </a: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0" marR="0">
                            <a:spcBef>
                              <a:spcPts val="0"/>
                            </a:spcBef>
                            <a:spcAft>
                              <a:spcPts val="0"/>
                            </a:spcAft>
                          </a:pPr>
                          <a:r>
                            <a:rPr lang="en-US" sz="2000" dirty="0">
                              <a:effectLst/>
                              <a:latin typeface="Verdana" charset="0"/>
                              <a:ea typeface="Verdana" charset="0"/>
                              <a:cs typeface="Verdana" charset="0"/>
                            </a:rPr>
                            <a:t> </a:t>
                          </a: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19666">
                    <a:tc>
                      <a:txBody>
                        <a:bodyPr/>
                        <a:lstStyle/>
                        <a:p>
                          <a:pPr marL="0" marR="0" algn="ctr">
                            <a:spcBef>
                              <a:spcPts val="0"/>
                            </a:spcBef>
                            <a:spcAft>
                              <a:spcPts val="0"/>
                            </a:spcAft>
                          </a:pPr>
                          <a14:m>
                            <m:oMath xmlns:m="http://schemas.openxmlformats.org/officeDocument/2006/math">
                              <m:r>
                                <a:rPr lang="en-US" sz="2000" i="1">
                                  <a:effectLst/>
                                  <a:latin typeface="Cambria Math" charset="0"/>
                                  <a:ea typeface="Verdana" charset="0"/>
                                  <a:cs typeface="Verdana" charset="0"/>
                                </a:rPr>
                                <m:t>𝑚</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𝑃𝐻𝑀</m:t>
                              </m:r>
                            </m:oMath>
                          </a14:m>
                          <a:r>
                            <a:rPr lang="en-US" sz="2000">
                              <a:effectLst/>
                              <a:latin typeface="Verdana" charset="0"/>
                              <a:ea typeface="Verdana" charset="0"/>
                              <a:cs typeface="Verdana" charset="0"/>
                            </a:rPr>
                            <a:t> and length of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𝑃𝑀</m:t>
                                  </m:r>
                                </m:e>
                              </m:acc>
                            </m:oMath>
                          </a14:m>
                          <a:endParaRPr lang="en-US" sz="200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𝑀𝐻</m:t>
                                    </m:r>
                                  </m:e>
                                </m:acc>
                              </m:oMath>
                            </m:oMathPara>
                          </a14:m>
                          <a:endParaRPr lang="en-US" sz="200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cosine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tangent</a:t>
                          </a: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0" marR="0">
                            <a:spcBef>
                              <a:spcPts val="0"/>
                            </a:spcBef>
                            <a:spcAft>
                              <a:spcPts val="0"/>
                            </a:spcAft>
                          </a:pPr>
                          <a:r>
                            <a:rPr lang="en-US" sz="2000" dirty="0">
                              <a:effectLst/>
                              <a:latin typeface="Verdana" charset="0"/>
                              <a:ea typeface="Verdana" charset="0"/>
                              <a:cs typeface="Verdana" charset="0"/>
                            </a:rPr>
                            <a:t> </a:t>
                          </a:r>
                        </a:p>
                      </a:txBody>
                      <a:tcPr marL="47618" marR="476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19666">
                    <a:tc>
                      <a:txBody>
                        <a:bodyPr/>
                        <a:lstStyle/>
                        <a:p>
                          <a:pPr marL="0" marR="0" algn="ctr">
                            <a:spcBef>
                              <a:spcPts val="0"/>
                            </a:spcBef>
                            <a:spcAft>
                              <a:spcPts val="0"/>
                            </a:spcAft>
                          </a:pPr>
                          <a14:m>
                            <m:oMath xmlns:m="http://schemas.openxmlformats.org/officeDocument/2006/math">
                              <m:r>
                                <a:rPr lang="en-US" sz="2000" i="1">
                                  <a:effectLst/>
                                  <a:latin typeface="Cambria Math" charset="0"/>
                                  <a:ea typeface="Verdana" charset="0"/>
                                  <a:cs typeface="Verdana" charset="0"/>
                                </a:rPr>
                                <m:t>𝑚</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𝐻𝑃𝑀</m:t>
                              </m:r>
                            </m:oMath>
                          </a14:m>
                          <a:r>
                            <a:rPr lang="en-US" sz="2000">
                              <a:effectLst/>
                              <a:latin typeface="Verdana" charset="0"/>
                              <a:ea typeface="Verdana" charset="0"/>
                              <a:cs typeface="Verdana" charset="0"/>
                            </a:rPr>
                            <a:t> and length of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𝑃𝑀</m:t>
                                  </m:r>
                                </m:e>
                              </m:acc>
                            </m:oMath>
                          </a14:m>
                          <a:endParaRPr lang="en-US" sz="200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𝑃𝐻</m:t>
                                    </m:r>
                                  </m:e>
                                </m:acc>
                              </m:oMath>
                            </m:oMathPara>
                          </a14:m>
                          <a:endParaRPr lang="en-US" sz="2000" dirty="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cosine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tangent</a:t>
                          </a: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0" marR="0">
                            <a:spcBef>
                              <a:spcPts val="0"/>
                            </a:spcBef>
                            <a:spcAft>
                              <a:spcPts val="0"/>
                            </a:spcAft>
                          </a:pPr>
                          <a:r>
                            <a:rPr lang="en-US" sz="2000" dirty="0">
                              <a:effectLst/>
                              <a:latin typeface="Verdana" charset="0"/>
                              <a:ea typeface="Verdana" charset="0"/>
                              <a:cs typeface="Verdana" charset="0"/>
                            </a:rPr>
                            <a:t> </a:t>
                          </a:r>
                        </a:p>
                      </a:txBody>
                      <a:tcPr marL="47618" marR="476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19666">
                    <a:tc>
                      <a:txBody>
                        <a:bodyPr/>
                        <a:lstStyle/>
                        <a:p>
                          <a:pPr marL="0" marR="0" algn="ctr">
                            <a:spcBef>
                              <a:spcPts val="0"/>
                            </a:spcBef>
                            <a:spcAft>
                              <a:spcPts val="0"/>
                            </a:spcAft>
                          </a:pPr>
                          <a:r>
                            <a:rPr lang="en-US" sz="2000" dirty="0">
                              <a:effectLst/>
                              <a:latin typeface="Verdana" charset="0"/>
                              <a:ea typeface="Verdana" charset="0"/>
                              <a:cs typeface="Verdana" charset="0"/>
                            </a:rPr>
                            <a:t>Lengths of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𝑀𝐻</m:t>
                                  </m:r>
                                </m:e>
                              </m:acc>
                            </m:oMath>
                          </a14:m>
                          <a:r>
                            <a:rPr lang="en-US" sz="2000" dirty="0">
                              <a:effectLst/>
                              <a:latin typeface="Verdana" charset="0"/>
                              <a:ea typeface="Verdana" charset="0"/>
                              <a:cs typeface="Verdana" charset="0"/>
                            </a:rPr>
                            <a:t> and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𝑃𝐻</m:t>
                                  </m:r>
                                </m:e>
                              </m:acc>
                            </m:oMath>
                          </a14:m>
                          <a:endParaRPr lang="en-US" sz="2000" dirty="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𝑚</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𝐻𝑃𝑀</m:t>
                                </m:r>
                              </m:oMath>
                            </m:oMathPara>
                          </a14:m>
                          <a:endParaRPr lang="en-US" sz="2000" dirty="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cosine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tangent</a:t>
                          </a: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0" marR="0">
                            <a:spcBef>
                              <a:spcPts val="0"/>
                            </a:spcBef>
                            <a:spcAft>
                              <a:spcPts val="0"/>
                            </a:spcAft>
                          </a:pPr>
                          <a:r>
                            <a:rPr lang="en-US" sz="2000" dirty="0">
                              <a:effectLst/>
                              <a:latin typeface="Verdana" charset="0"/>
                              <a:ea typeface="Verdana" charset="0"/>
                              <a:cs typeface="Verdana" charset="0"/>
                            </a:rPr>
                            <a:t> </a:t>
                          </a:r>
                        </a:p>
                      </a:txBody>
                      <a:tcPr marL="47618" marR="476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019666">
                    <a:tc>
                      <a:txBody>
                        <a:bodyPr/>
                        <a:lstStyle/>
                        <a:p>
                          <a:pPr marL="0" marR="0" algn="ctr">
                            <a:spcBef>
                              <a:spcPts val="0"/>
                            </a:spcBef>
                            <a:spcAft>
                              <a:spcPts val="0"/>
                            </a:spcAft>
                          </a:pPr>
                          <a:r>
                            <a:rPr lang="en-US" sz="2000" dirty="0">
                              <a:effectLst/>
                              <a:latin typeface="Verdana" charset="0"/>
                              <a:ea typeface="Verdana" charset="0"/>
                              <a:cs typeface="Verdana" charset="0"/>
                            </a:rPr>
                            <a:t>Lengths of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𝑀𝐻</m:t>
                                  </m:r>
                                </m:e>
                              </m:acc>
                            </m:oMath>
                          </a14:m>
                          <a:r>
                            <a:rPr lang="en-US" sz="2000" dirty="0">
                              <a:effectLst/>
                              <a:latin typeface="Verdana" charset="0"/>
                              <a:ea typeface="Verdana" charset="0"/>
                              <a:cs typeface="Verdana" charset="0"/>
                            </a:rPr>
                            <a:t> and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𝑃𝑀</m:t>
                                  </m:r>
                                </m:e>
                              </m:acc>
                            </m:oMath>
                          </a14:m>
                          <a:endParaRPr lang="en-US" sz="2000" dirty="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𝑚</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𝑃𝐻𝑀</m:t>
                                </m:r>
                              </m:oMath>
                            </m:oMathPara>
                          </a14:m>
                          <a:endParaRPr lang="en-US" sz="2000" dirty="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cosine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tangent</a:t>
                          </a: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0" marR="0">
                            <a:spcBef>
                              <a:spcPts val="0"/>
                            </a:spcBef>
                            <a:spcAft>
                              <a:spcPts val="0"/>
                            </a:spcAft>
                          </a:pPr>
                          <a:r>
                            <a:rPr lang="en-US" sz="2000" dirty="0">
                              <a:effectLst/>
                              <a:latin typeface="Verdana" charset="0"/>
                              <a:ea typeface="Verdana" charset="0"/>
                              <a:cs typeface="Verdana" charset="0"/>
                            </a:rPr>
                            <a:t> </a:t>
                          </a:r>
                        </a:p>
                      </a:txBody>
                      <a:tcPr marL="47618" marR="476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4001639587"/>
                  </p:ext>
                </p:extLst>
              </p:nvPr>
            </p:nvGraphicFramePr>
            <p:xfrm>
              <a:off x="633536" y="422618"/>
              <a:ext cx="9646089" cy="5778107"/>
            </p:xfrm>
            <a:graphic>
              <a:graphicData uri="http://schemas.openxmlformats.org/drawingml/2006/table">
                <a:tbl>
                  <a:tblPr firstRow="1" firstCol="1" bandRow="1"/>
                  <a:tblGrid>
                    <a:gridCol w="2515573">
                      <a:extLst>
                        <a:ext uri="{9D8B030D-6E8A-4147-A177-3AD203B41FA5}">
                          <a16:colId xmlns:a16="http://schemas.microsoft.com/office/drawing/2014/main" val="20000"/>
                        </a:ext>
                      </a:extLst>
                    </a:gridCol>
                    <a:gridCol w="2088358">
                      <a:extLst>
                        <a:ext uri="{9D8B030D-6E8A-4147-A177-3AD203B41FA5}">
                          <a16:colId xmlns:a16="http://schemas.microsoft.com/office/drawing/2014/main" val="20001"/>
                        </a:ext>
                      </a:extLst>
                    </a:gridCol>
                    <a:gridCol w="2916174">
                      <a:extLst>
                        <a:ext uri="{9D8B030D-6E8A-4147-A177-3AD203B41FA5}">
                          <a16:colId xmlns:a16="http://schemas.microsoft.com/office/drawing/2014/main" val="20002"/>
                        </a:ext>
                      </a:extLst>
                    </a:gridCol>
                    <a:gridCol w="2125984">
                      <a:extLst>
                        <a:ext uri="{9D8B030D-6E8A-4147-A177-3AD203B41FA5}">
                          <a16:colId xmlns:a16="http://schemas.microsoft.com/office/drawing/2014/main" val="20003"/>
                        </a:ext>
                      </a:extLst>
                    </a:gridCol>
                  </a:tblGrid>
                  <a:tr h="679777">
                    <a:tc>
                      <a:txBody>
                        <a:bodyPr/>
                        <a:lstStyle/>
                        <a:p>
                          <a:pPr marL="0" marR="0" algn="ctr">
                            <a:spcBef>
                              <a:spcPts val="0"/>
                            </a:spcBef>
                            <a:spcAft>
                              <a:spcPts val="0"/>
                            </a:spcAft>
                          </a:pPr>
                          <a:r>
                            <a:rPr lang="en-US" sz="2000" b="1">
                              <a:effectLst/>
                              <a:latin typeface="Verdana" charset="0"/>
                              <a:ea typeface="Verdana" charset="0"/>
                              <a:cs typeface="Verdana" charset="0"/>
                            </a:rPr>
                            <a:t>Given</a:t>
                          </a:r>
                          <a:endParaRPr lang="en-US" sz="200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Unknown</a:t>
                          </a:r>
                          <a:endParaRPr lang="en-US" sz="200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Trigonometric Ratio</a:t>
                          </a:r>
                          <a:endParaRPr lang="en-US" sz="2000" dirty="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Equation</a:t>
                          </a:r>
                          <a:endParaRPr lang="en-US" sz="2000">
                            <a:effectLst/>
                            <a:latin typeface="Verdana" charset="0"/>
                            <a:ea typeface="Verdana" charset="0"/>
                            <a:cs typeface="Verdana" charset="0"/>
                          </a:endParaRP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019666">
                    <a:tc>
                      <a:txBody>
                        <a:bodyPr/>
                        <a:lstStyle/>
                        <a:p>
                          <a:endParaRPr lang="en-US"/>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05" t="-72500" r="-284848" b="-413750"/>
                          </a:stretch>
                        </a:blipFill>
                      </a:tcPr>
                    </a:tc>
                    <a:tc>
                      <a:txBody>
                        <a:bodyPr/>
                        <a:lstStyle/>
                        <a:p>
                          <a:endParaRPr lang="en-US"/>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20606" t="-72500" r="-241818" b="-413750"/>
                          </a:stretch>
                        </a:blipFill>
                      </a:tcPr>
                    </a:tc>
                    <a:tc>
                      <a:txBody>
                        <a:bodyPr/>
                        <a:lstStyle/>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cosine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tangent</a:t>
                          </a: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0" marR="0">
                            <a:spcBef>
                              <a:spcPts val="0"/>
                            </a:spcBef>
                            <a:spcAft>
                              <a:spcPts val="0"/>
                            </a:spcAft>
                          </a:pPr>
                          <a:r>
                            <a:rPr lang="en-US" sz="2000" dirty="0">
                              <a:effectLst/>
                              <a:latin typeface="Verdana" charset="0"/>
                              <a:ea typeface="Verdana" charset="0"/>
                              <a:cs typeface="Verdana" charset="0"/>
                            </a:rPr>
                            <a:t> </a:t>
                          </a: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19666">
                    <a:tc>
                      <a:txBody>
                        <a:bodyPr/>
                        <a:lstStyle/>
                        <a:p>
                          <a:endParaRPr lang="en-US"/>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05" t="-170370" r="-284848" b="-308642"/>
                          </a:stretch>
                        </a:blipFill>
                      </a:tcPr>
                    </a:tc>
                    <a:tc>
                      <a:txBody>
                        <a:bodyPr/>
                        <a:lstStyle/>
                        <a:p>
                          <a:endParaRPr lang="en-US"/>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20606" t="-170370" r="-241818" b="-308642"/>
                          </a:stretch>
                        </a:blipFill>
                      </a:tcPr>
                    </a:tc>
                    <a:tc>
                      <a:txBody>
                        <a:bodyPr/>
                        <a:lstStyle/>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cosine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tangent</a:t>
                          </a: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0" marR="0">
                            <a:spcBef>
                              <a:spcPts val="0"/>
                            </a:spcBef>
                            <a:spcAft>
                              <a:spcPts val="0"/>
                            </a:spcAft>
                          </a:pPr>
                          <a:r>
                            <a:rPr lang="en-US" sz="2000" dirty="0">
                              <a:effectLst/>
                              <a:latin typeface="Verdana" charset="0"/>
                              <a:ea typeface="Verdana" charset="0"/>
                              <a:cs typeface="Verdana" charset="0"/>
                            </a:rPr>
                            <a:t> </a:t>
                          </a:r>
                        </a:p>
                      </a:txBody>
                      <a:tcPr marL="47618" marR="476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19666">
                    <a:tc>
                      <a:txBody>
                        <a:bodyPr/>
                        <a:lstStyle/>
                        <a:p>
                          <a:endParaRPr lang="en-US"/>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05" t="-273750" r="-284848" b="-212500"/>
                          </a:stretch>
                        </a:blipFill>
                      </a:tcPr>
                    </a:tc>
                    <a:tc>
                      <a:txBody>
                        <a:bodyPr/>
                        <a:lstStyle/>
                        <a:p>
                          <a:endParaRPr lang="en-US"/>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20606" t="-273750" r="-241818" b="-212500"/>
                          </a:stretch>
                        </a:blipFill>
                      </a:tcPr>
                    </a:tc>
                    <a:tc>
                      <a:txBody>
                        <a:bodyPr/>
                        <a:lstStyle/>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cosine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tangent</a:t>
                          </a: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0" marR="0">
                            <a:spcBef>
                              <a:spcPts val="0"/>
                            </a:spcBef>
                            <a:spcAft>
                              <a:spcPts val="0"/>
                            </a:spcAft>
                          </a:pPr>
                          <a:r>
                            <a:rPr lang="en-US" sz="2000" dirty="0">
                              <a:effectLst/>
                              <a:latin typeface="Verdana" charset="0"/>
                              <a:ea typeface="Verdana" charset="0"/>
                              <a:cs typeface="Verdana" charset="0"/>
                            </a:rPr>
                            <a:t> </a:t>
                          </a:r>
                        </a:p>
                      </a:txBody>
                      <a:tcPr marL="47618" marR="476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19666">
                    <a:tc>
                      <a:txBody>
                        <a:bodyPr/>
                        <a:lstStyle/>
                        <a:p>
                          <a:endParaRPr lang="en-US"/>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05" t="-369136" r="-284848" b="-109877"/>
                          </a:stretch>
                        </a:blipFill>
                      </a:tcPr>
                    </a:tc>
                    <a:tc>
                      <a:txBody>
                        <a:bodyPr/>
                        <a:lstStyle/>
                        <a:p>
                          <a:endParaRPr lang="en-US"/>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20606" t="-369136" r="-241818" b="-109877"/>
                          </a:stretch>
                        </a:blipFill>
                      </a:tcPr>
                    </a:tc>
                    <a:tc>
                      <a:txBody>
                        <a:bodyPr/>
                        <a:lstStyle/>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cosine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tangent</a:t>
                          </a: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0" marR="0">
                            <a:spcBef>
                              <a:spcPts val="0"/>
                            </a:spcBef>
                            <a:spcAft>
                              <a:spcPts val="0"/>
                            </a:spcAft>
                          </a:pPr>
                          <a:r>
                            <a:rPr lang="en-US" sz="2000" dirty="0">
                              <a:effectLst/>
                              <a:latin typeface="Verdana" charset="0"/>
                              <a:ea typeface="Verdana" charset="0"/>
                              <a:cs typeface="Verdana" charset="0"/>
                            </a:rPr>
                            <a:t> </a:t>
                          </a:r>
                        </a:p>
                      </a:txBody>
                      <a:tcPr marL="47618" marR="476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019666">
                    <a:tc>
                      <a:txBody>
                        <a:bodyPr/>
                        <a:lstStyle/>
                        <a:p>
                          <a:endParaRPr lang="en-US"/>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05" t="-475000" r="-284848" b="-11250"/>
                          </a:stretch>
                        </a:blipFill>
                      </a:tcPr>
                    </a:tc>
                    <a:tc>
                      <a:txBody>
                        <a:bodyPr/>
                        <a:lstStyle/>
                        <a:p>
                          <a:endParaRPr lang="en-US"/>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20606" t="-475000" r="-241818" b="-11250"/>
                          </a:stretch>
                        </a:blipFill>
                      </a:tcPr>
                    </a:tc>
                    <a:tc>
                      <a:txBody>
                        <a:bodyPr/>
                        <a:lstStyle/>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cosine</a:t>
                          </a:r>
                        </a:p>
                        <a:p>
                          <a:pPr marL="342900" marR="0" lvl="0" indent="-342900">
                            <a:spcBef>
                              <a:spcPts val="0"/>
                            </a:spcBef>
                            <a:spcAft>
                              <a:spcPts val="0"/>
                            </a:spcAft>
                            <a:buFont typeface="Courier New" charset="0"/>
                            <a:buChar char="o"/>
                          </a:pPr>
                          <a:r>
                            <a:rPr lang="en-US" sz="2000" dirty="0">
                              <a:effectLst/>
                              <a:latin typeface="Verdana" charset="0"/>
                              <a:ea typeface="Verdana" charset="0"/>
                              <a:cs typeface="Verdana" charset="0"/>
                            </a:rPr>
                            <a:t>tangent</a:t>
                          </a:r>
                        </a:p>
                      </a:txBody>
                      <a:tcPr marL="47618" marR="4761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0" marR="0">
                            <a:spcBef>
                              <a:spcPts val="0"/>
                            </a:spcBef>
                            <a:spcAft>
                              <a:spcPts val="0"/>
                            </a:spcAft>
                          </a:pPr>
                          <a:r>
                            <a:rPr lang="en-US" sz="2000" dirty="0">
                              <a:effectLst/>
                              <a:latin typeface="Verdana" charset="0"/>
                              <a:ea typeface="Verdana" charset="0"/>
                              <a:cs typeface="Verdana" charset="0"/>
                            </a:rPr>
                            <a:t> </a:t>
                          </a:r>
                        </a:p>
                      </a:txBody>
                      <a:tcPr marL="47618" marR="476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Fallback>
      </mc:AlternateContent>
    </p:spTree>
    <p:extLst>
      <p:ext uri="{BB962C8B-B14F-4D97-AF65-F5344CB8AC3E}">
        <p14:creationId xmlns:p14="http://schemas.microsoft.com/office/powerpoint/2010/main" val="1536447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396</a:t>
            </a:r>
          </a:p>
        </p:txBody>
      </p:sp>
    </p:spTree>
    <p:extLst>
      <p:ext uri="{BB962C8B-B14F-4D97-AF65-F5344CB8AC3E}">
        <p14:creationId xmlns:p14="http://schemas.microsoft.com/office/powerpoint/2010/main" val="475676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09918" y="-110263"/>
            <a:ext cx="1051400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7.5.3 Guided Instruction: Using Inverse Trigonometric Functions to Find Angle Measure</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262618" y="121409"/>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396</a:t>
            </a:r>
          </a:p>
        </p:txBody>
      </p:sp>
      <p:sp>
        <p:nvSpPr>
          <p:cNvPr id="8" name="Google Shape;278;g104476d1465_1_17">
            <a:extLst>
              <a:ext uri="{FF2B5EF4-FFF2-40B4-BE49-F238E27FC236}">
                <a16:creationId xmlns:a16="http://schemas.microsoft.com/office/drawing/2014/main" id="{2B75021C-9817-6449-B54A-E1D9EB71417A}"/>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sp>
            <p:nvSpPr>
              <p:cNvPr id="10" name="Text Box 24"/>
              <p:cNvSpPr txBox="1"/>
              <p:nvPr/>
            </p:nvSpPr>
            <p:spPr>
              <a:xfrm>
                <a:off x="1346701" y="1488213"/>
                <a:ext cx="6629400" cy="3188842"/>
              </a:xfrm>
              <a:prstGeom prst="roundRect">
                <a:avLst/>
              </a:prstGeom>
              <a:solidFill>
                <a:srgbClr val="BA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b="1" dirty="0">
                    <a:solidFill>
                      <a:srgbClr val="0070C0"/>
                    </a:solidFill>
                    <a:latin typeface="Verdana" charset="0"/>
                    <a:ea typeface="Verdana" charset="0"/>
                    <a:cs typeface="Verdana" charset="0"/>
                  </a:rPr>
                  <a:t>	Inverse Trigonometric Functions</a:t>
                </a:r>
                <a:endParaRPr lang="en-US" sz="2000" dirty="0">
                  <a:solidFill>
                    <a:srgbClr val="0070C0"/>
                  </a:solidFill>
                  <a:latin typeface="Verdana" charset="0"/>
                  <a:ea typeface="Verdana" charset="0"/>
                  <a:cs typeface="Verdana" charset="0"/>
                </a:endParaRPr>
              </a:p>
              <a:p>
                <a:r>
                  <a:rPr lang="en-US" sz="2000" dirty="0">
                    <a:solidFill>
                      <a:srgbClr val="0070C0"/>
                    </a:solidFill>
                    <a:latin typeface="Verdana" charset="0"/>
                    <a:ea typeface="Verdana" charset="0"/>
                    <a:cs typeface="Verdana" charset="0"/>
                  </a:rPr>
                  <a:t>	</a:t>
                </a:r>
                <a14:m>
                  <m:oMath xmlns:m="http://schemas.openxmlformats.org/officeDocument/2006/math">
                    <m:sSup>
                      <m:sSupPr>
                        <m:ctrlPr>
                          <a:rPr lang="en-US" sz="2000" i="1">
                            <a:solidFill>
                              <a:srgbClr val="0070C0"/>
                            </a:solidFill>
                            <a:latin typeface="Cambria Math" panose="02040503050406030204" pitchFamily="18" charset="0"/>
                            <a:ea typeface="Verdana" charset="0"/>
                            <a:cs typeface="Verdana" charset="0"/>
                          </a:rPr>
                        </m:ctrlPr>
                      </m:sSupPr>
                      <m:e>
                        <m:r>
                          <m:rPr>
                            <m:sty m:val="p"/>
                          </m:rPr>
                          <a:rPr lang="en-US" sz="2000">
                            <a:solidFill>
                              <a:srgbClr val="0070C0"/>
                            </a:solidFill>
                            <a:latin typeface="Cambria Math" panose="02040503050406030204" pitchFamily="18" charset="0"/>
                            <a:ea typeface="Verdana" charset="0"/>
                            <a:cs typeface="Verdana" charset="0"/>
                          </a:rPr>
                          <m:t>cos</m:t>
                        </m:r>
                      </m:e>
                      <m:sup>
                        <m:r>
                          <a:rPr lang="en-US" sz="2000" i="1">
                            <a:solidFill>
                              <a:srgbClr val="0070C0"/>
                            </a:solidFill>
                            <a:latin typeface="Cambria Math" panose="02040503050406030204" pitchFamily="18" charset="0"/>
                            <a:ea typeface="Verdana" charset="0"/>
                            <a:cs typeface="Verdana" charset="0"/>
                          </a:rPr>
                          <m:t>−1</m:t>
                        </m:r>
                      </m:sup>
                    </m:sSup>
                    <m:d>
                      <m:dPr>
                        <m:ctrlPr>
                          <a:rPr lang="en-US" sz="2000" i="1">
                            <a:solidFill>
                              <a:srgbClr val="0070C0"/>
                            </a:solidFill>
                            <a:latin typeface="Cambria Math" panose="02040503050406030204" pitchFamily="18" charset="0"/>
                            <a:ea typeface="Verdana" charset="0"/>
                            <a:cs typeface="Verdana" charset="0"/>
                          </a:rPr>
                        </m:ctrlPr>
                      </m:dPr>
                      <m:e>
                        <m:f>
                          <m:fPr>
                            <m:ctrlPr>
                              <a:rPr lang="en-US" sz="2000" i="1">
                                <a:solidFill>
                                  <a:srgbClr val="0070C0"/>
                                </a:solidFill>
                                <a:latin typeface="Cambria Math" panose="02040503050406030204" pitchFamily="18" charset="0"/>
                                <a:ea typeface="Verdana" charset="0"/>
                                <a:cs typeface="Verdana" charset="0"/>
                              </a:rPr>
                            </m:ctrlPr>
                          </m:fPr>
                          <m:num>
                            <m:r>
                              <a:rPr lang="en-US" sz="2000" i="1">
                                <a:solidFill>
                                  <a:srgbClr val="0070C0"/>
                                </a:solidFill>
                                <a:latin typeface="Cambria Math" panose="02040503050406030204" pitchFamily="18" charset="0"/>
                                <a:ea typeface="Verdana" charset="0"/>
                                <a:cs typeface="Verdana" charset="0"/>
                              </a:rPr>
                              <m:t>𝑎</m:t>
                            </m:r>
                          </m:num>
                          <m:den>
                            <m:r>
                              <a:rPr lang="en-US" sz="2000" i="1">
                                <a:solidFill>
                                  <a:srgbClr val="0070C0"/>
                                </a:solidFill>
                                <a:latin typeface="Cambria Math" panose="02040503050406030204" pitchFamily="18" charset="0"/>
                                <a:ea typeface="Verdana" charset="0"/>
                                <a:cs typeface="Verdana" charset="0"/>
                              </a:rPr>
                              <m:t>𝑐</m:t>
                            </m:r>
                          </m:den>
                        </m:f>
                      </m:e>
                    </m:d>
                  </m:oMath>
                </a14:m>
                <a:r>
                  <a:rPr lang="en-US" sz="2000" dirty="0">
                    <a:solidFill>
                      <a:srgbClr val="0070C0"/>
                    </a:solidFill>
                    <a:latin typeface="Verdana" charset="0"/>
                    <a:ea typeface="Verdana" charset="0"/>
                    <a:cs typeface="Verdana" charset="0"/>
                  </a:rPr>
                  <a:t> is arccosine. </a:t>
                </a:r>
                <a14:m>
                  <m:oMath xmlns:m="http://schemas.openxmlformats.org/officeDocument/2006/math">
                    <m:sSup>
                      <m:sSupPr>
                        <m:ctrlPr>
                          <a:rPr lang="en-US" sz="2000" i="1">
                            <a:solidFill>
                              <a:srgbClr val="0070C0"/>
                            </a:solidFill>
                            <a:latin typeface="Cambria Math" panose="02040503050406030204" pitchFamily="18" charset="0"/>
                            <a:ea typeface="Verdana" charset="0"/>
                            <a:cs typeface="Verdana" charset="0"/>
                          </a:rPr>
                        </m:ctrlPr>
                      </m:sSupPr>
                      <m:e>
                        <m:r>
                          <m:rPr>
                            <m:sty m:val="p"/>
                          </m:rPr>
                          <a:rPr lang="en-US" sz="2000">
                            <a:solidFill>
                              <a:srgbClr val="0070C0"/>
                            </a:solidFill>
                            <a:latin typeface="Cambria Math" panose="02040503050406030204" pitchFamily="18" charset="0"/>
                            <a:ea typeface="Verdana" charset="0"/>
                            <a:cs typeface="Verdana" charset="0"/>
                          </a:rPr>
                          <m:t>sin</m:t>
                        </m:r>
                      </m:e>
                      <m:sup>
                        <m:r>
                          <a:rPr lang="en-US" sz="2000" i="1">
                            <a:solidFill>
                              <a:srgbClr val="0070C0"/>
                            </a:solidFill>
                            <a:latin typeface="Cambria Math" panose="02040503050406030204" pitchFamily="18" charset="0"/>
                            <a:ea typeface="Verdana" charset="0"/>
                            <a:cs typeface="Verdana" charset="0"/>
                          </a:rPr>
                          <m:t>−1</m:t>
                        </m:r>
                      </m:sup>
                    </m:sSup>
                    <m:d>
                      <m:dPr>
                        <m:ctrlPr>
                          <a:rPr lang="en-US" sz="2000" i="1">
                            <a:solidFill>
                              <a:srgbClr val="0070C0"/>
                            </a:solidFill>
                            <a:latin typeface="Cambria Math" panose="02040503050406030204" pitchFamily="18" charset="0"/>
                            <a:ea typeface="Verdana" charset="0"/>
                            <a:cs typeface="Verdana" charset="0"/>
                          </a:rPr>
                        </m:ctrlPr>
                      </m:dPr>
                      <m:e>
                        <m:f>
                          <m:fPr>
                            <m:ctrlPr>
                              <a:rPr lang="en-US" sz="2000" i="1">
                                <a:solidFill>
                                  <a:srgbClr val="0070C0"/>
                                </a:solidFill>
                                <a:latin typeface="Cambria Math" panose="02040503050406030204" pitchFamily="18" charset="0"/>
                                <a:ea typeface="Verdana" charset="0"/>
                                <a:cs typeface="Verdana" charset="0"/>
                              </a:rPr>
                            </m:ctrlPr>
                          </m:fPr>
                          <m:num>
                            <m:r>
                              <a:rPr lang="en-US" sz="2000" i="1">
                                <a:solidFill>
                                  <a:srgbClr val="0070C0"/>
                                </a:solidFill>
                                <a:latin typeface="Cambria Math" panose="02040503050406030204" pitchFamily="18" charset="0"/>
                                <a:ea typeface="Verdana" charset="0"/>
                                <a:cs typeface="Verdana" charset="0"/>
                              </a:rPr>
                              <m:t>𝑏</m:t>
                            </m:r>
                          </m:num>
                          <m:den>
                            <m:r>
                              <a:rPr lang="en-US" sz="2000" i="1">
                                <a:solidFill>
                                  <a:srgbClr val="0070C0"/>
                                </a:solidFill>
                                <a:latin typeface="Cambria Math" panose="02040503050406030204" pitchFamily="18" charset="0"/>
                                <a:ea typeface="Verdana" charset="0"/>
                                <a:cs typeface="Verdana" charset="0"/>
                              </a:rPr>
                              <m:t>𝑐</m:t>
                            </m:r>
                          </m:den>
                        </m:f>
                      </m:e>
                    </m:d>
                  </m:oMath>
                </a14:m>
                <a:r>
                  <a:rPr lang="en-US" sz="2000" dirty="0">
                    <a:solidFill>
                      <a:srgbClr val="0070C0"/>
                    </a:solidFill>
                    <a:latin typeface="Verdana" charset="0"/>
                    <a:ea typeface="Verdana" charset="0"/>
                    <a:cs typeface="Verdana" charset="0"/>
                  </a:rPr>
                  <a:t> is arcsine. 	</a:t>
                </a:r>
                <a14:m>
                  <m:oMath xmlns:m="http://schemas.openxmlformats.org/officeDocument/2006/math">
                    <m:sSup>
                      <m:sSupPr>
                        <m:ctrlPr>
                          <a:rPr lang="en-US" sz="2000" i="1">
                            <a:solidFill>
                              <a:srgbClr val="0070C0"/>
                            </a:solidFill>
                            <a:latin typeface="Cambria Math" panose="02040503050406030204" pitchFamily="18" charset="0"/>
                            <a:ea typeface="Verdana" charset="0"/>
                            <a:cs typeface="Verdana" charset="0"/>
                          </a:rPr>
                        </m:ctrlPr>
                      </m:sSupPr>
                      <m:e>
                        <m:r>
                          <m:rPr>
                            <m:sty m:val="p"/>
                          </m:rPr>
                          <a:rPr lang="en-US" sz="2000">
                            <a:solidFill>
                              <a:srgbClr val="0070C0"/>
                            </a:solidFill>
                            <a:latin typeface="Cambria Math" panose="02040503050406030204" pitchFamily="18" charset="0"/>
                            <a:ea typeface="Verdana" charset="0"/>
                            <a:cs typeface="Verdana" charset="0"/>
                          </a:rPr>
                          <m:t>tan</m:t>
                        </m:r>
                      </m:e>
                      <m:sup>
                        <m:r>
                          <a:rPr lang="en-US" sz="2000" i="1">
                            <a:solidFill>
                              <a:srgbClr val="0070C0"/>
                            </a:solidFill>
                            <a:latin typeface="Cambria Math" panose="02040503050406030204" pitchFamily="18" charset="0"/>
                            <a:ea typeface="Verdana" charset="0"/>
                            <a:cs typeface="Verdana" charset="0"/>
                          </a:rPr>
                          <m:t>−1</m:t>
                        </m:r>
                      </m:sup>
                    </m:sSup>
                    <m:d>
                      <m:dPr>
                        <m:ctrlPr>
                          <a:rPr lang="en-US" sz="2000" i="1">
                            <a:solidFill>
                              <a:srgbClr val="0070C0"/>
                            </a:solidFill>
                            <a:latin typeface="Cambria Math" panose="02040503050406030204" pitchFamily="18" charset="0"/>
                            <a:ea typeface="Verdana" charset="0"/>
                            <a:cs typeface="Verdana" charset="0"/>
                          </a:rPr>
                        </m:ctrlPr>
                      </m:dPr>
                      <m:e>
                        <m:f>
                          <m:fPr>
                            <m:ctrlPr>
                              <a:rPr lang="en-US" sz="2000" i="1">
                                <a:solidFill>
                                  <a:srgbClr val="0070C0"/>
                                </a:solidFill>
                                <a:latin typeface="Cambria Math" panose="02040503050406030204" pitchFamily="18" charset="0"/>
                                <a:ea typeface="Verdana" charset="0"/>
                                <a:cs typeface="Verdana" charset="0"/>
                              </a:rPr>
                            </m:ctrlPr>
                          </m:fPr>
                          <m:num>
                            <m:r>
                              <a:rPr lang="en-US" sz="2000" i="1">
                                <a:solidFill>
                                  <a:srgbClr val="0070C0"/>
                                </a:solidFill>
                                <a:latin typeface="Cambria Math" panose="02040503050406030204" pitchFamily="18" charset="0"/>
                                <a:ea typeface="Verdana" charset="0"/>
                                <a:cs typeface="Verdana" charset="0"/>
                              </a:rPr>
                              <m:t>𝑏</m:t>
                            </m:r>
                          </m:num>
                          <m:den>
                            <m:r>
                              <a:rPr lang="en-US" sz="2000" i="1">
                                <a:solidFill>
                                  <a:srgbClr val="0070C0"/>
                                </a:solidFill>
                                <a:latin typeface="Cambria Math" panose="02040503050406030204" pitchFamily="18" charset="0"/>
                                <a:ea typeface="Verdana" charset="0"/>
                                <a:cs typeface="Verdana" charset="0"/>
                              </a:rPr>
                              <m:t>𝑎</m:t>
                            </m:r>
                          </m:den>
                        </m:f>
                      </m:e>
                    </m:d>
                  </m:oMath>
                </a14:m>
                <a:r>
                  <a:rPr lang="en-US" sz="2000" dirty="0">
                    <a:solidFill>
                      <a:srgbClr val="0070C0"/>
                    </a:solidFill>
                    <a:latin typeface="Verdana" charset="0"/>
                    <a:ea typeface="Verdana" charset="0"/>
                    <a:cs typeface="Verdana" charset="0"/>
                  </a:rPr>
                  <a:t> is arctangent. These functions 	can be used to determine the measure 	of an angle where </a:t>
                </a:r>
                <a14:m>
                  <m:oMath xmlns:m="http://schemas.openxmlformats.org/officeDocument/2006/math">
                    <m:r>
                      <a:rPr lang="en-US" sz="2000" i="1">
                        <a:solidFill>
                          <a:srgbClr val="0070C0"/>
                        </a:solidFill>
                        <a:latin typeface="Cambria Math" panose="02040503050406030204" pitchFamily="18" charset="0"/>
                        <a:ea typeface="Verdana" charset="0"/>
                        <a:cs typeface="Verdana" charset="0"/>
                      </a:rPr>
                      <m:t>𝑎</m:t>
                    </m:r>
                  </m:oMath>
                </a14:m>
                <a:r>
                  <a:rPr lang="en-US" sz="2000" dirty="0">
                    <a:solidFill>
                      <a:srgbClr val="0070C0"/>
                    </a:solidFill>
                    <a:latin typeface="Verdana" charset="0"/>
                    <a:ea typeface="Verdana" charset="0"/>
                    <a:cs typeface="Verdana" charset="0"/>
                  </a:rPr>
                  <a:t> is the side adjacent 	the angle, </a:t>
                </a:r>
                <a14:m>
                  <m:oMath xmlns:m="http://schemas.openxmlformats.org/officeDocument/2006/math">
                    <m:r>
                      <a:rPr lang="en-US" sz="2000" i="1">
                        <a:solidFill>
                          <a:srgbClr val="0070C0"/>
                        </a:solidFill>
                        <a:latin typeface="Cambria Math" panose="02040503050406030204" pitchFamily="18" charset="0"/>
                        <a:ea typeface="Verdana" charset="0"/>
                        <a:cs typeface="Verdana" charset="0"/>
                      </a:rPr>
                      <m:t>𝑏</m:t>
                    </m:r>
                  </m:oMath>
                </a14:m>
                <a:r>
                  <a:rPr lang="en-US" sz="2000" dirty="0">
                    <a:solidFill>
                      <a:srgbClr val="0070C0"/>
                    </a:solidFill>
                    <a:latin typeface="Verdana" charset="0"/>
                    <a:ea typeface="Verdana" charset="0"/>
                    <a:cs typeface="Verdana" charset="0"/>
                  </a:rPr>
                  <a:t> is the side opposite the 	angle, and </a:t>
                </a:r>
                <a14:m>
                  <m:oMath xmlns:m="http://schemas.openxmlformats.org/officeDocument/2006/math">
                    <m:r>
                      <a:rPr lang="en-US" sz="2000" i="1">
                        <a:solidFill>
                          <a:srgbClr val="0070C0"/>
                        </a:solidFill>
                        <a:latin typeface="Cambria Math" panose="02040503050406030204" pitchFamily="18" charset="0"/>
                        <a:ea typeface="Verdana" charset="0"/>
                        <a:cs typeface="Verdana" charset="0"/>
                      </a:rPr>
                      <m:t>𝑐</m:t>
                    </m:r>
                  </m:oMath>
                </a14:m>
                <a:r>
                  <a:rPr lang="en-US" sz="2000" dirty="0">
                    <a:solidFill>
                      <a:srgbClr val="0070C0"/>
                    </a:solidFill>
                    <a:latin typeface="Verdana" charset="0"/>
                    <a:ea typeface="Verdana" charset="0"/>
                    <a:cs typeface="Verdana" charset="0"/>
                  </a:rPr>
                  <a:t> is the hypotenuse. The 	calculator should be in degree mode.</a:t>
                </a:r>
              </a:p>
            </p:txBody>
          </p:sp>
        </mc:Choice>
        <mc:Fallback xmlns="">
          <p:sp>
            <p:nvSpPr>
              <p:cNvPr id="10" name="Text Box 24"/>
              <p:cNvSpPr txBox="1">
                <a:spLocks noRot="1" noChangeAspect="1" noMove="1" noResize="1" noEditPoints="1" noAdjustHandles="1" noChangeArrowheads="1" noChangeShapeType="1" noTextEdit="1"/>
              </p:cNvSpPr>
              <p:nvPr/>
            </p:nvSpPr>
            <p:spPr>
              <a:xfrm>
                <a:off x="1346701" y="1488213"/>
                <a:ext cx="6629400" cy="3188842"/>
              </a:xfrm>
              <a:prstGeom prst="roundRect">
                <a:avLst/>
              </a:prstGeom>
              <a:blipFill>
                <a:blip r:embed="rId5"/>
                <a:stretch>
                  <a:fillRect/>
                </a:stretch>
              </a:blipFill>
              <a:ln>
                <a:noFill/>
              </a:ln>
              <a:effectLst>
                <a:outerShdw blurRad="50800" dist="76200" dir="2700000" algn="tl" rotWithShape="0">
                  <a:prstClr val="black">
                    <a:alpha val="40000"/>
                  </a:prstClr>
                </a:outerShdw>
              </a:effectLst>
            </p:spPr>
            <p:txBody>
              <a:bodyPr/>
              <a:lstStyle/>
              <a:p>
                <a:r>
                  <a:rPr lang="en-US">
                    <a:noFill/>
                  </a:rPr>
                  <a:t> </a:t>
                </a:r>
              </a:p>
            </p:txBody>
          </p:sp>
        </mc:Fallback>
      </mc:AlternateContent>
      <p:pic>
        <p:nvPicPr>
          <p:cNvPr id="11" name="Picture 10"/>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680054" y="1739523"/>
            <a:ext cx="518433" cy="50678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1926809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39578"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01352"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4" y="520518"/>
                <a:ext cx="7395244" cy="4836004"/>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In </a:t>
                </a:r>
                <a14:m>
                  <m:oMath xmlns:m="http://schemas.openxmlformats.org/officeDocument/2006/math">
                    <m:r>
                      <m:rPr>
                        <m:sty m:val="p"/>
                      </m:rPr>
                      <a:rPr lang="en-US" sz="2000">
                        <a:latin typeface="Cambria Math" charset="0"/>
                        <a:ea typeface="Verdana" charset="0"/>
                        <a:cs typeface="Verdana" charset="0"/>
                      </a:rPr>
                      <m:t>Δ</m:t>
                    </m:r>
                    <m:r>
                      <a:rPr lang="en-US" sz="2000" i="1">
                        <a:latin typeface="Cambria Math" charset="0"/>
                        <a:ea typeface="Verdana" charset="0"/>
                        <a:cs typeface="Verdana" charset="0"/>
                      </a:rPr>
                      <m:t>𝐻𝑅𝐶</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𝐻𝑅𝐶</m:t>
                    </m:r>
                    <m:r>
                      <a:rPr lang="en-US" sz="2000" i="1">
                        <a:latin typeface="Cambria Math" charset="0"/>
                        <a:ea typeface="Verdana" charset="0"/>
                        <a:cs typeface="Verdana" charset="0"/>
                      </a:rPr>
                      <m:t>=90°</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𝑅𝐶</m:t>
                    </m:r>
                    <m:r>
                      <a:rPr lang="en-US" sz="2000" i="1">
                        <a:latin typeface="Cambria Math" charset="0"/>
                        <a:ea typeface="Verdana" charset="0"/>
                        <a:cs typeface="Verdana" charset="0"/>
                      </a:rPr>
                      <m:t>=8</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𝐻𝐶</m:t>
                    </m:r>
                    <m:r>
                      <a:rPr lang="en-US" sz="2000" i="1">
                        <a:latin typeface="Cambria Math" charset="0"/>
                        <a:ea typeface="Verdana" charset="0"/>
                        <a:cs typeface="Verdana" charset="0"/>
                      </a:rPr>
                      <m:t>=13</m:t>
                    </m:r>
                  </m:oMath>
                </a14:m>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pPr marL="469900"/>
                <a:r>
                  <a:rPr lang="en-US" sz="2000" dirty="0">
                    <a:latin typeface="Verdana" charset="0"/>
                    <a:ea typeface="Verdana" charset="0"/>
                    <a:cs typeface="Verdana" charset="0"/>
                  </a:rPr>
                  <a:t>The equation </a:t>
                </a:r>
                <a14:m>
                  <m:oMath xmlns:m="http://schemas.openxmlformats.org/officeDocument/2006/math">
                    <m:r>
                      <m:rPr>
                        <m:sty m:val="p"/>
                      </m:rPr>
                      <a:rPr lang="en-US" sz="2000">
                        <a:latin typeface="Cambria Math" charset="0"/>
                        <a:ea typeface="Verdana" charset="0"/>
                        <a:cs typeface="Verdana" charset="0"/>
                      </a:rPr>
                      <m:t>cos</m:t>
                    </m:r>
                    <m:d>
                      <m:dPr>
                        <m:ctrlPr>
                          <a:rPr lang="en-US" sz="2000" i="1">
                            <a:latin typeface="Cambria Math" panose="02040503050406030204" pitchFamily="18" charset="0"/>
                            <a:ea typeface="Verdana" charset="0"/>
                            <a:cs typeface="Verdana" charset="0"/>
                          </a:rPr>
                        </m:ctrlPr>
                      </m:dPr>
                      <m:e>
                        <m:r>
                          <a:rPr lang="en-US" sz="2000" i="1">
                            <a:latin typeface="Cambria Math" charset="0"/>
                            <a:ea typeface="Verdana" charset="0"/>
                            <a:cs typeface="Verdana" charset="0"/>
                          </a:rPr>
                          <m:t>𝜃</m:t>
                        </m:r>
                      </m:e>
                    </m:d>
                    <m:r>
                      <a:rPr lang="en-US" sz="2000" i="1">
                        <a:latin typeface="Cambria Math" charset="0"/>
                        <a:ea typeface="Verdana" charset="0"/>
                        <a:cs typeface="Verdana" charset="0"/>
                      </a:rPr>
                      <m:t>=</m:t>
                    </m:r>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8</m:t>
                        </m:r>
                      </m:num>
                      <m:den>
                        <m:r>
                          <a:rPr lang="en-US" sz="2000" i="1">
                            <a:latin typeface="Cambria Math" charset="0"/>
                            <a:ea typeface="Verdana" charset="0"/>
                            <a:cs typeface="Verdana" charset="0"/>
                          </a:rPr>
                          <m:t>13</m:t>
                        </m:r>
                      </m:den>
                    </m:f>
                  </m:oMath>
                </a14:m>
                <a:r>
                  <a:rPr lang="en-US" sz="2000" dirty="0">
                    <a:latin typeface="Verdana" charset="0"/>
                    <a:ea typeface="Verdana" charset="0"/>
                    <a:cs typeface="Verdana" charset="0"/>
                  </a:rPr>
                  <a:t> can be used to determine </a:t>
                </a:r>
                <a14:m>
                  <m:oMath xmlns:m="http://schemas.openxmlformats.org/officeDocument/2006/math">
                    <m:r>
                      <a:rPr lang="en-US" sz="2000" i="1">
                        <a:latin typeface="Cambria Math" charset="0"/>
                        <a:ea typeface="Verdana" charset="0"/>
                        <a:cs typeface="Verdana" charset="0"/>
                      </a:rPr>
                      <m:t>𝜃</m:t>
                    </m:r>
                  </m:oMath>
                </a14:m>
                <a:r>
                  <a:rPr lang="en-US" sz="2000" dirty="0">
                    <a:latin typeface="Verdana" charset="0"/>
                    <a:ea typeface="Verdana" charset="0"/>
                    <a:cs typeface="Verdana" charset="0"/>
                  </a:rPr>
                  <a:t>. To find </a:t>
                </a:r>
                <a14:m>
                  <m:oMath xmlns:m="http://schemas.openxmlformats.org/officeDocument/2006/math">
                    <m:r>
                      <a:rPr lang="en-US" sz="2000" i="1">
                        <a:latin typeface="Cambria Math" charset="0"/>
                        <a:ea typeface="Verdana" charset="0"/>
                        <a:cs typeface="Verdana" charset="0"/>
                      </a:rPr>
                      <m:t>𝜃</m:t>
                    </m:r>
                  </m:oMath>
                </a14:m>
                <a:r>
                  <a:rPr lang="en-US" sz="2000" dirty="0">
                    <a:latin typeface="Verdana" charset="0"/>
                    <a:ea typeface="Verdana" charset="0"/>
                    <a:cs typeface="Verdana" charset="0"/>
                  </a:rPr>
                  <a:t> using a calculator use the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m:rPr>
                            <m:sty m:val="p"/>
                          </m:rPr>
                          <a:rPr lang="en-US" sz="2000">
                            <a:latin typeface="Cambria Math" charset="0"/>
                            <a:ea typeface="Verdana" charset="0"/>
                            <a:cs typeface="Verdana" charset="0"/>
                          </a:rPr>
                          <m:t>cos</m:t>
                        </m:r>
                      </m:e>
                      <m:sup>
                        <m:r>
                          <a:rPr lang="en-US" sz="2000" i="1">
                            <a:latin typeface="Cambria Math" charset="0"/>
                            <a:ea typeface="Verdana" charset="0"/>
                            <a:cs typeface="Verdana" charset="0"/>
                          </a:rPr>
                          <m:t>−1</m:t>
                        </m:r>
                      </m:sup>
                    </m:sSup>
                    <m:d>
                      <m:dPr>
                        <m:ctrlPr>
                          <a:rPr lang="en-US" sz="2000" i="1">
                            <a:latin typeface="Cambria Math" panose="02040503050406030204" pitchFamily="18" charset="0"/>
                            <a:ea typeface="Verdana" charset="0"/>
                            <a:cs typeface="Verdana" charset="0"/>
                          </a:rPr>
                        </m:ctrlPr>
                      </m:dPr>
                      <m:e>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8</m:t>
                            </m:r>
                          </m:num>
                          <m:den>
                            <m:r>
                              <a:rPr lang="en-US" sz="2000" i="1">
                                <a:latin typeface="Cambria Math" charset="0"/>
                                <a:ea typeface="Verdana" charset="0"/>
                                <a:cs typeface="Verdana" charset="0"/>
                              </a:rPr>
                              <m:t>13</m:t>
                            </m:r>
                          </m:den>
                        </m:f>
                      </m:e>
                    </m:d>
                  </m:oMath>
                </a14:m>
                <a:r>
                  <a:rPr lang="en-US" sz="2000" dirty="0">
                    <a:latin typeface="Verdana" charset="0"/>
                    <a:ea typeface="Verdana" charset="0"/>
                    <a:cs typeface="Verdana" charset="0"/>
                  </a:rPr>
                  <a:t>. Round any angle measurements below to the nearest whole degree. </a:t>
                </a:r>
              </a:p>
              <a:p>
                <a:r>
                  <a:rPr lang="en-US" sz="2000" dirty="0">
                    <a:latin typeface="Verdana" charset="0"/>
                    <a:ea typeface="Verdana" charset="0"/>
                    <a:cs typeface="Verdana" charset="0"/>
                  </a:rPr>
                  <a:t> </a:t>
                </a:r>
              </a:p>
              <a:p>
                <a:pPr marL="923925" indent="-454025">
                  <a:buFont typeface="+mj-lt"/>
                  <a:buAutoNum type="alphaLcPeriod"/>
                </a:pPr>
                <a:r>
                  <a:rPr lang="en-US" sz="2000" dirty="0">
                    <a:latin typeface="Verdana" charset="0"/>
                    <a:ea typeface="Verdana" charset="0"/>
                    <a:cs typeface="Verdana" charset="0"/>
                  </a:rPr>
                  <a:t>What is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m:rPr>
                            <m:sty m:val="p"/>
                          </m:rPr>
                          <a:rPr lang="en-US" sz="2000">
                            <a:latin typeface="Cambria Math" charset="0"/>
                            <a:ea typeface="Verdana" charset="0"/>
                            <a:cs typeface="Verdana" charset="0"/>
                          </a:rPr>
                          <m:t>cos</m:t>
                        </m:r>
                      </m:e>
                      <m:sup>
                        <m:r>
                          <a:rPr lang="en-US" sz="2000" i="1">
                            <a:latin typeface="Cambria Math" charset="0"/>
                            <a:ea typeface="Verdana" charset="0"/>
                            <a:cs typeface="Verdana" charset="0"/>
                          </a:rPr>
                          <m:t>−1</m:t>
                        </m:r>
                      </m:sup>
                    </m:sSup>
                    <m:d>
                      <m:dPr>
                        <m:ctrlPr>
                          <a:rPr lang="en-US" sz="2000" i="1">
                            <a:latin typeface="Cambria Math" panose="02040503050406030204" pitchFamily="18" charset="0"/>
                            <a:ea typeface="Verdana" charset="0"/>
                            <a:cs typeface="Verdana" charset="0"/>
                          </a:rPr>
                        </m:ctrlPr>
                      </m:dPr>
                      <m:e>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8</m:t>
                            </m:r>
                          </m:num>
                          <m:den>
                            <m:r>
                              <a:rPr lang="en-US" sz="2000" i="1">
                                <a:latin typeface="Cambria Math" charset="0"/>
                                <a:ea typeface="Verdana" charset="0"/>
                                <a:cs typeface="Verdana" charset="0"/>
                              </a:rPr>
                              <m:t>13</m:t>
                            </m:r>
                          </m:den>
                        </m:f>
                      </m:e>
                    </m:d>
                  </m:oMath>
                </a14:m>
                <a:r>
                  <a:rPr lang="en-US" sz="2000" dirty="0">
                    <a:latin typeface="Verdana" charset="0"/>
                    <a:ea typeface="Verdana" charset="0"/>
                    <a:cs typeface="Verdana" charset="0"/>
                  </a:rPr>
                  <a:t>?</a:t>
                </a: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Write an equation that can be used to find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𝐶𝐻𝑅</m:t>
                    </m:r>
                  </m:oMath>
                </a14:m>
                <a:r>
                  <a:rPr lang="en-US" sz="2000" dirty="0">
                    <a:latin typeface="Verdana" charset="0"/>
                    <a:ea typeface="Verdana" charset="0"/>
                    <a:cs typeface="Verdana" charset="0"/>
                  </a:rPr>
                  <a:t>.</a:t>
                </a:r>
              </a:p>
              <a:p>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4" y="520518"/>
                <a:ext cx="7395244" cy="4836004"/>
              </a:xfrm>
              <a:prstGeom prst="rect">
                <a:avLst/>
              </a:prstGeom>
              <a:blipFill>
                <a:blip r:embed="rId4"/>
                <a:stretch>
                  <a:fillRect l="-907" t="-756" r="-148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2AEBEA3-B321-FF43-939E-DBF04267F34A}"/>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7893078" y="520518"/>
            <a:ext cx="3746500" cy="3136900"/>
          </a:xfrm>
          <a:prstGeom prst="rect">
            <a:avLst/>
          </a:prstGeom>
        </p:spPr>
      </p:pic>
    </p:spTree>
    <p:extLst>
      <p:ext uri="{BB962C8B-B14F-4D97-AF65-F5344CB8AC3E}">
        <p14:creationId xmlns:p14="http://schemas.microsoft.com/office/powerpoint/2010/main" val="685525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2874"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74648"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2702" y="520517"/>
                <a:ext cx="10595946" cy="707886"/>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Find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𝐶𝐻𝑅</m:t>
                    </m:r>
                  </m:oMath>
                </a14:m>
                <a:r>
                  <a:rPr lang="en-US" sz="2000" dirty="0">
                    <a:latin typeface="Verdana" charset="0"/>
                    <a:ea typeface="Verdana" charset="0"/>
                    <a:cs typeface="Verdana" charset="0"/>
                  </a:rPr>
                  <a:t> using an inverse trigonometric function on a calculator. Be sure the calculator is in degree mode.</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2702" y="520517"/>
                <a:ext cx="10595946" cy="707886"/>
              </a:xfrm>
              <a:prstGeom prst="rect">
                <a:avLst/>
              </a:prstGeom>
              <a:blipFill>
                <a:blip r:embed="rId4"/>
                <a:stretch>
                  <a:fillRect l="-633" t="-5128" b="-13675"/>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2AEBEA3-B321-FF43-939E-DBF04267F34A}"/>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1208932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377"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45151"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3" y="520517"/>
                <a:ext cx="11085544" cy="347787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m:rPr>
                        <m:sty m:val="p"/>
                      </m:rPr>
                      <a:rPr lang="en-US" sz="2000">
                        <a:latin typeface="Cambria Math" panose="02040503050406030204" pitchFamily="18" charset="0"/>
                        <a:ea typeface="Verdana" charset="0"/>
                        <a:cs typeface="Verdana" charset="0"/>
                      </a:rPr>
                      <m:t>Δ</m:t>
                    </m:r>
                    <m:r>
                      <a:rPr lang="en-US" sz="2000" i="1">
                        <a:latin typeface="Cambria Math" panose="02040503050406030204" pitchFamily="18" charset="0"/>
                        <a:ea typeface="Verdana" charset="0"/>
                        <a:cs typeface="Verdana" charset="0"/>
                      </a:rPr>
                      <m:t>𝑊𝐿𝑇</m:t>
                    </m:r>
                  </m:oMath>
                </a14:m>
                <a:r>
                  <a:rPr lang="en-US" sz="2000" dirty="0">
                    <a:latin typeface="Verdana" panose="020B0604030504040204" pitchFamily="34" charset="0"/>
                    <a:ea typeface="Verdana" panose="020B0604030504040204" pitchFamily="34" charset="0"/>
                    <a:cs typeface="Verdana" panose="020B0604030504040204" pitchFamily="34" charset="0"/>
                  </a:rPr>
                  <a:t> is a right triangle with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𝑊𝑇𝐿</m:t>
                    </m:r>
                    <m:r>
                      <a:rPr lang="en-US" sz="2000" i="1">
                        <a:latin typeface="Cambria Math" panose="02040503050406030204" pitchFamily="18" charset="0"/>
                        <a:ea typeface="Verdana" charset="0"/>
                        <a:cs typeface="Verdana" charset="0"/>
                      </a:rPr>
                      <m:t>=90°</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charset="0"/>
                        <a:cs typeface="Verdana" charset="0"/>
                      </a:rPr>
                      <m:t>𝑇𝐿</m:t>
                    </m:r>
                    <m:r>
                      <a:rPr lang="en-US" sz="2000" i="1">
                        <a:latin typeface="Cambria Math" panose="02040503050406030204" pitchFamily="18" charset="0"/>
                        <a:ea typeface="Verdana" charset="0"/>
                        <a:cs typeface="Verdana" charset="0"/>
                      </a:rPr>
                      <m:t>=11</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Verdana" charset="0"/>
                        <a:cs typeface="Verdana" charset="0"/>
                      </a:rPr>
                      <m:t>𝑊𝐿</m:t>
                    </m:r>
                    <m:r>
                      <a:rPr lang="en-US" sz="2000" i="1">
                        <a:latin typeface="Cambria Math" panose="02040503050406030204" pitchFamily="18" charset="0"/>
                        <a:ea typeface="Verdana" charset="0"/>
                        <a:cs typeface="Verdana" charset="0"/>
                      </a:rPr>
                      <m:t>=23</m:t>
                    </m:r>
                  </m:oMath>
                </a14:m>
                <a:r>
                  <a:rPr lang="en-US" sz="2000" dirty="0">
                    <a:latin typeface="Verdana" panose="020B0604030504040204" pitchFamily="34" charset="0"/>
                    <a:ea typeface="Verdana" panose="020B0604030504040204" pitchFamily="34" charset="0"/>
                    <a:cs typeface="Verdana" panose="020B0604030504040204" pitchFamily="34" charset="0"/>
                  </a:rPr>
                  <a:t>. What is the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𝑇𝑊𝐿</m:t>
                    </m:r>
                  </m:oMath>
                </a14:m>
                <a:r>
                  <a:rPr lang="en-US" sz="2000" dirty="0">
                    <a:latin typeface="Verdana" panose="020B0604030504040204" pitchFamily="34" charset="0"/>
                    <a:ea typeface="Verdana" panose="020B0604030504040204" pitchFamily="34" charset="0"/>
                    <a:cs typeface="Verdana" panose="020B0604030504040204" pitchFamily="34" charset="0"/>
                  </a:rPr>
                  <a:t>? Round to the nearest whole degree. </a:t>
                </a:r>
              </a:p>
              <a:p>
                <a:pPr marL="457200" indent="-457200">
                  <a:buFont typeface="+mj-lt"/>
                  <a:buAutoNum type="arabicPeriod" startAt="2"/>
                </a:pPr>
                <a:endParaRPr lang="en-US" sz="2000" i="1" dirty="0">
                  <a:latin typeface="Verdana" charset="0"/>
                  <a:ea typeface="Verdana" charset="0"/>
                  <a:cs typeface="Verdana" charset="0"/>
                </a:endParaRPr>
              </a:p>
              <a:p>
                <a:pPr marL="457200" indent="-457200">
                  <a:buFont typeface="+mj-lt"/>
                  <a:buAutoNum type="arabicPeriod" startAt="2"/>
                </a:pPr>
                <a:endParaRPr lang="en-US" sz="2000" i="1" dirty="0">
                  <a:latin typeface="Verdana" charset="0"/>
                  <a:ea typeface="Verdana" charset="0"/>
                  <a:cs typeface="Verdana" charset="0"/>
                </a:endParaRPr>
              </a:p>
              <a:p>
                <a:pPr marL="457200" indent="-457200">
                  <a:buFont typeface="+mj-lt"/>
                  <a:buAutoNum type="arabicPeriod" startAt="2"/>
                </a:pPr>
                <a:endParaRPr lang="en-US" sz="2000" i="1" dirty="0">
                  <a:latin typeface="Verdana" charset="0"/>
                  <a:ea typeface="Verdana" charset="0"/>
                  <a:cs typeface="Verdana" charset="0"/>
                </a:endParaRPr>
              </a:p>
              <a:p>
                <a:pPr marL="457200" indent="-457200">
                  <a:buFont typeface="+mj-lt"/>
                  <a:buAutoNum type="arabicPeriod" startAt="2"/>
                </a:pPr>
                <a:endParaRPr lang="en-US" sz="2000" i="1" dirty="0">
                  <a:latin typeface="Verdana" charset="0"/>
                  <a:ea typeface="Verdana" charset="0"/>
                  <a:cs typeface="Verdana" charset="0"/>
                </a:endParaRPr>
              </a:p>
              <a:p>
                <a:pPr marL="457200" indent="-457200">
                  <a:buFont typeface="+mj-lt"/>
                  <a:buAutoNum type="arabicPeriod" startAt="2"/>
                </a:pPr>
                <a:endParaRPr lang="en-US" sz="2000" i="1" dirty="0">
                  <a:latin typeface="Verdana" charset="0"/>
                  <a:ea typeface="Verdana" charset="0"/>
                  <a:cs typeface="Verdana" charset="0"/>
                </a:endParaRPr>
              </a:p>
              <a:p>
                <a:pPr marL="457200" indent="-457200">
                  <a:buFont typeface="+mj-lt"/>
                  <a:buAutoNum type="arabicPeriod" startAt="2"/>
                </a:pPr>
                <a:endParaRPr lang="en-US" sz="2000" i="1" dirty="0">
                  <a:latin typeface="Verdana" charset="0"/>
                  <a:ea typeface="Verdana" charset="0"/>
                  <a:cs typeface="Verdana"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𝑊𝐵𝑁</m:t>
                    </m:r>
                  </m:oMath>
                </a14:m>
                <a:r>
                  <a:rPr lang="en-US" sz="2000" dirty="0">
                    <a:latin typeface="Verdana" panose="020B0604030504040204" pitchFamily="34" charset="0"/>
                    <a:ea typeface="Verdana" panose="020B0604030504040204" pitchFamily="34" charset="0"/>
                    <a:cs typeface="Verdana" panose="020B0604030504040204" pitchFamily="34" charset="0"/>
                  </a:rPr>
                  <a:t> is shown, where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𝐵</m:t>
                    </m:r>
                  </m:oMath>
                </a14:m>
                <a:r>
                  <a:rPr lang="en-US" sz="2000" dirty="0">
                    <a:latin typeface="Verdana" panose="020B0604030504040204" pitchFamily="34" charset="0"/>
                    <a:ea typeface="Verdana" panose="020B0604030504040204" pitchFamily="34" charset="0"/>
                    <a:cs typeface="Verdana" panose="020B0604030504040204" pitchFamily="34" charset="0"/>
                  </a:rPr>
                  <a:t> is a right angle. </a:t>
                </a:r>
              </a:p>
              <a:p>
                <a:r>
                  <a:rPr lang="en-US" sz="2000" dirty="0">
                    <a:latin typeface="Verdana" charset="0"/>
                    <a:ea typeface="Verdana" charset="0"/>
                    <a:cs typeface="Verdana" charset="0"/>
                  </a:rPr>
                  <a:t> </a:t>
                </a:r>
              </a:p>
              <a:p>
                <a:pPr marL="923925" indent="-454025">
                  <a:buFont typeface="+mj-lt"/>
                  <a:buAutoNum type="alphaLcPeriod"/>
                </a:pPr>
                <a:r>
                  <a:rPr lang="en-US" sz="2000" dirty="0">
                    <a:latin typeface="Verdana" charset="0"/>
                    <a:ea typeface="Verdana" charset="0"/>
                    <a:cs typeface="Verdana" charset="0"/>
                  </a:rPr>
                  <a:t>Determine the measure of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𝐵𝑁𝑊</m:t>
                    </m:r>
                  </m:oMath>
                </a14:m>
                <a:r>
                  <a:rPr lang="en-US" sz="2000" dirty="0">
                    <a:latin typeface="Verdana" charset="0"/>
                    <a:ea typeface="Verdana" charset="0"/>
                    <a:cs typeface="Verdana" charset="0"/>
                  </a:rPr>
                  <a:t> if </a:t>
                </a:r>
                <a14:m>
                  <m:oMath xmlns:m="http://schemas.openxmlformats.org/officeDocument/2006/math">
                    <m:r>
                      <a:rPr lang="en-US" sz="2000" i="1">
                        <a:latin typeface="Cambria Math" panose="02040503050406030204" pitchFamily="18" charset="0"/>
                        <a:ea typeface="Verdana" charset="0"/>
                        <a:cs typeface="Verdana" charset="0"/>
                      </a:rPr>
                      <m:t>𝑛</m:t>
                    </m:r>
                    <m:r>
                      <a:rPr lang="en-US" sz="2000" i="1">
                        <a:latin typeface="Cambria Math" panose="02040503050406030204" pitchFamily="18" charset="0"/>
                        <a:ea typeface="Verdana" charset="0"/>
                        <a:cs typeface="Verdana" charset="0"/>
                      </a:rPr>
                      <m:t>=36</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𝑤</m:t>
                    </m:r>
                    <m:r>
                      <a:rPr lang="en-US" sz="2000" i="1">
                        <a:latin typeface="Cambria Math" panose="02040503050406030204" pitchFamily="18" charset="0"/>
                        <a:ea typeface="Verdana" charset="0"/>
                        <a:cs typeface="Verdana" charset="0"/>
                      </a:rPr>
                      <m:t>=77</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3" y="520517"/>
                <a:ext cx="11085544" cy="3477875"/>
              </a:xfrm>
              <a:prstGeom prst="rect">
                <a:avLst/>
              </a:prstGeom>
              <a:blipFill>
                <a:blip r:embed="rId4"/>
                <a:stretch>
                  <a:fillRect l="-605" t="-1051" b="-2277"/>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2AEBEA3-B321-FF43-939E-DBF04267F34A}"/>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8968351" y="2433909"/>
            <a:ext cx="2387600" cy="3505200"/>
          </a:xfrm>
          <a:prstGeom prst="rect">
            <a:avLst/>
          </a:prstGeom>
        </p:spPr>
      </p:pic>
    </p:spTree>
    <p:extLst>
      <p:ext uri="{BB962C8B-B14F-4D97-AF65-F5344CB8AC3E}">
        <p14:creationId xmlns:p14="http://schemas.microsoft.com/office/powerpoint/2010/main" val="1296023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397</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44234" y="528619"/>
                <a:ext cx="10683916" cy="1784078"/>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Gabriella used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m:rPr>
                            <m:sty m:val="p"/>
                          </m:rPr>
                          <a:rPr lang="en-US" sz="2000">
                            <a:latin typeface="Cambria Math" charset="0"/>
                            <a:ea typeface="Verdana" charset="0"/>
                            <a:cs typeface="Verdana" charset="0"/>
                          </a:rPr>
                          <m:t>sin</m:t>
                        </m:r>
                      </m:e>
                      <m:sup>
                        <m:r>
                          <a:rPr lang="en-US" sz="2000" i="1">
                            <a:latin typeface="Cambria Math" charset="0"/>
                            <a:ea typeface="Verdana" charset="0"/>
                            <a:cs typeface="Verdana" charset="0"/>
                          </a:rPr>
                          <m:t>−1</m:t>
                        </m:r>
                      </m:sup>
                    </m:sSup>
                    <m:d>
                      <m:dPr>
                        <m:ctrlPr>
                          <a:rPr lang="en-US" sz="2000" i="1">
                            <a:latin typeface="Cambria Math" panose="02040503050406030204" pitchFamily="18" charset="0"/>
                            <a:ea typeface="Verdana" charset="0"/>
                            <a:cs typeface="Verdana" charset="0"/>
                          </a:rPr>
                        </m:ctrlPr>
                      </m:dPr>
                      <m:e>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77</m:t>
                            </m:r>
                          </m:num>
                          <m:den>
                            <m:r>
                              <a:rPr lang="en-US" sz="2000" i="1">
                                <a:latin typeface="Cambria Math" charset="0"/>
                                <a:ea typeface="Verdana" charset="0"/>
                                <a:cs typeface="Verdana" charset="0"/>
                              </a:rPr>
                              <m:t>85</m:t>
                            </m:r>
                          </m:den>
                        </m:f>
                      </m:e>
                    </m:d>
                  </m:oMath>
                </a14:m>
                <a:r>
                  <a:rPr lang="en-US" sz="2000" dirty="0">
                    <a:latin typeface="Verdana" charset="0"/>
                    <a:ea typeface="Verdana" charset="0"/>
                    <a:cs typeface="Verdana" charset="0"/>
                  </a:rPr>
                  <a:t> to find the measure of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𝐵𝑁𝑊</m:t>
                    </m:r>
                  </m:oMath>
                </a14:m>
                <a:r>
                  <a:rPr lang="en-US" sz="2000" dirty="0">
                    <a:latin typeface="Verdana" charset="0"/>
                    <a:ea typeface="Verdana" charset="0"/>
                    <a:cs typeface="Verdana" charset="0"/>
                  </a:rPr>
                  <a:t>. Determine if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m:rPr>
                            <m:sty m:val="p"/>
                          </m:rPr>
                          <a:rPr lang="en-US" sz="2000">
                            <a:latin typeface="Cambria Math" charset="0"/>
                            <a:ea typeface="Verdana" charset="0"/>
                            <a:cs typeface="Verdana" charset="0"/>
                          </a:rPr>
                          <m:t>sin</m:t>
                        </m:r>
                      </m:e>
                      <m:sup>
                        <m:r>
                          <a:rPr lang="en-US" sz="2000" i="1">
                            <a:latin typeface="Cambria Math" charset="0"/>
                            <a:ea typeface="Verdana" charset="0"/>
                            <a:cs typeface="Verdana" charset="0"/>
                          </a:rPr>
                          <m:t>−1</m:t>
                        </m:r>
                      </m:sup>
                    </m:sSup>
                    <m:d>
                      <m:dPr>
                        <m:ctrlPr>
                          <a:rPr lang="en-US" sz="2000" i="1">
                            <a:latin typeface="Cambria Math" panose="02040503050406030204" pitchFamily="18" charset="0"/>
                            <a:ea typeface="Verdana" charset="0"/>
                            <a:cs typeface="Verdana" charset="0"/>
                          </a:rPr>
                        </m:ctrlPr>
                      </m:dPr>
                      <m:e>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77</m:t>
                            </m:r>
                          </m:num>
                          <m:den>
                            <m:r>
                              <a:rPr lang="en-US" sz="2000" i="1">
                                <a:latin typeface="Cambria Math" charset="0"/>
                                <a:ea typeface="Verdana" charset="0"/>
                                <a:cs typeface="Verdana" charset="0"/>
                              </a:rPr>
                              <m:t>85</m:t>
                            </m:r>
                          </m:den>
                        </m:f>
                      </m:e>
                    </m:d>
                  </m:oMath>
                </a14:m>
                <a:r>
                  <a:rPr lang="en-US" sz="2000" dirty="0">
                    <a:latin typeface="Verdana" charset="0"/>
                    <a:ea typeface="Verdana" charset="0"/>
                    <a:cs typeface="Verdana" charset="0"/>
                  </a:rPr>
                  <a:t> results in the same degree measure as your answer.</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Discuss with your partner whether or not Gabriella’s method is valid. Write a justification of your decision.</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44234" y="528619"/>
                <a:ext cx="10683916" cy="1784078"/>
              </a:xfrm>
              <a:prstGeom prst="rect">
                <a:avLst/>
              </a:prstGeom>
              <a:blipFill>
                <a:blip r:embed="rId4"/>
                <a:stretch>
                  <a:fillRect l="-627" b="-5479"/>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2AEBEA3-B321-FF43-939E-DBF04267F34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597983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397</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1932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09918" y="-37087"/>
            <a:ext cx="1036108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7.5.4 Guided Practice: Using Trigonometric Ratios to Find Side Measures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397</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60110" y="12893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550516" y="1386149"/>
                <a:ext cx="11077634" cy="255454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In </a:t>
                </a:r>
                <a14:m>
                  <m:oMath xmlns:m="http://schemas.openxmlformats.org/officeDocument/2006/math">
                    <m:r>
                      <m:rPr>
                        <m:sty m:val="p"/>
                      </m:rPr>
                      <a:rPr lang="en-US" sz="2000">
                        <a:latin typeface="Cambria Math" panose="02040503050406030204" pitchFamily="18" charset="0"/>
                        <a:ea typeface="Verdana" charset="0"/>
                        <a:cs typeface="Verdana" charset="0"/>
                      </a:rPr>
                      <m:t>Δ</m:t>
                    </m:r>
                    <m:r>
                      <a:rPr lang="en-US" sz="2000" i="1">
                        <a:latin typeface="Cambria Math" panose="02040503050406030204" pitchFamily="18" charset="0"/>
                        <a:ea typeface="Verdana" charset="0"/>
                        <a:cs typeface="Verdana" charset="0"/>
                      </a:rPr>
                      <m:t>𝐾𝐷𝑅</m:t>
                    </m:r>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𝐷𝐾𝑅</m:t>
                    </m:r>
                    <m:r>
                      <a:rPr lang="en-US" sz="2000" i="1">
                        <a:latin typeface="Cambria Math" panose="02040503050406030204" pitchFamily="18" charset="0"/>
                        <a:ea typeface="Verdana" charset="0"/>
                        <a:cs typeface="Verdana" charset="0"/>
                      </a:rPr>
                      <m:t>=31.2°</m:t>
                    </m:r>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𝐾𝐷𝑅</m:t>
                    </m:r>
                    <m:r>
                      <a:rPr lang="en-US" sz="2000" i="1">
                        <a:latin typeface="Cambria Math" panose="02040503050406030204" pitchFamily="18" charset="0"/>
                        <a:ea typeface="Verdana" charset="0"/>
                        <a:cs typeface="Verdana" charset="0"/>
                      </a:rPr>
                      <m:t>=90°</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𝐾𝐷</m:t>
                    </m:r>
                    <m:r>
                      <a:rPr lang="en-US" sz="2000" i="1">
                        <a:latin typeface="Cambria Math" panose="02040503050406030204" pitchFamily="18" charset="0"/>
                        <a:ea typeface="Verdana" charset="0"/>
                        <a:cs typeface="Verdana" charset="0"/>
                      </a:rPr>
                      <m:t>=17</m:t>
                    </m:r>
                  </m:oMath>
                </a14:m>
                <a:r>
                  <a:rPr lang="en-US" sz="2000" dirty="0">
                    <a:latin typeface="Verdana" charset="0"/>
                    <a:ea typeface="Verdana" charset="0"/>
                    <a:cs typeface="Verdana" charset="0"/>
                  </a:rPr>
                  <a:t>. What is the length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𝐾𝑅</m:t>
                        </m:r>
                      </m:e>
                    </m:acc>
                  </m:oMath>
                </a14:m>
                <a:r>
                  <a:rPr lang="en-US" sz="2000" dirty="0">
                    <a:latin typeface="Verdana" charset="0"/>
                    <a:ea typeface="Verdana" charset="0"/>
                    <a:cs typeface="Verdana" charset="0"/>
                  </a:rPr>
                  <a:t>?</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m:rPr>
                        <m:sty m:val="p"/>
                      </m:rPr>
                      <a:rPr lang="en-US" sz="2000">
                        <a:latin typeface="Cambria Math" panose="02040503050406030204" pitchFamily="18" charset="0"/>
                        <a:ea typeface="Verdana" charset="0"/>
                        <a:cs typeface="Verdana" charset="0"/>
                      </a:rPr>
                      <m:t>Δ</m:t>
                    </m:r>
                    <m:r>
                      <a:rPr lang="en-US" sz="2000" i="1">
                        <a:latin typeface="Cambria Math" panose="02040503050406030204" pitchFamily="18" charset="0"/>
                        <a:ea typeface="Verdana" charset="0"/>
                        <a:cs typeface="Verdana" charset="0"/>
                      </a:rPr>
                      <m:t>𝑀𝐴𝑈</m:t>
                    </m:r>
                  </m:oMath>
                </a14:m>
                <a:r>
                  <a:rPr lang="en-US" sz="2000" dirty="0">
                    <a:latin typeface="Verdana" panose="020B0604030504040204" pitchFamily="34" charset="0"/>
                    <a:ea typeface="Verdana" panose="020B0604030504040204" pitchFamily="34" charset="0"/>
                    <a:cs typeface="Verdana" panose="020B0604030504040204" pitchFamily="34" charset="0"/>
                  </a:rPr>
                  <a:t> is a right triangle with </a:t>
                </a:r>
                <a14:m>
                  <m:oMath xmlns:m="http://schemas.openxmlformats.org/officeDocument/2006/math">
                    <m:r>
                      <a:rPr lang="en-US" sz="2000" i="1">
                        <a:latin typeface="Cambria Math" panose="02040503050406030204" pitchFamily="18" charset="0"/>
                        <a:ea typeface="Verdana" charset="0"/>
                        <a:cs typeface="Verdana" charset="0"/>
                      </a:rPr>
                      <m:t>𝑀𝐴</m:t>
                    </m:r>
                    <m:r>
                      <a:rPr lang="en-US" sz="2000" i="1">
                        <a:latin typeface="Cambria Math" panose="02040503050406030204" pitchFamily="18" charset="0"/>
                        <a:ea typeface="Verdana" charset="0"/>
                        <a:cs typeface="Verdana" charset="0"/>
                      </a:rPr>
                      <m:t>=20.7</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Verdana" charset="0"/>
                        <a:cs typeface="Verdana" charset="0"/>
                      </a:rPr>
                      <m:t>𝑀𝑈</m:t>
                    </m:r>
                    <m:r>
                      <a:rPr lang="en-US" sz="2000" i="1">
                        <a:latin typeface="Cambria Math" panose="02040503050406030204" pitchFamily="18" charset="0"/>
                        <a:ea typeface="Verdana" charset="0"/>
                        <a:cs typeface="Verdana" charset="0"/>
                      </a:rPr>
                      <m:t>=9.1</m:t>
                    </m:r>
                  </m:oMath>
                </a14:m>
                <a:r>
                  <a:rPr lang="en-US" sz="2000" dirty="0">
                    <a:latin typeface="Verdana" panose="020B0604030504040204" pitchFamily="34" charset="0"/>
                    <a:ea typeface="Verdana" panose="020B0604030504040204" pitchFamily="34" charset="0"/>
                    <a:cs typeface="Verdana" panose="020B0604030504040204" pitchFamily="34" charset="0"/>
                  </a:rPr>
                  <a:t>. If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𝑀𝑈𝐴</m:t>
                    </m:r>
                    <m:r>
                      <a:rPr lang="en-US" sz="2000" i="1">
                        <a:latin typeface="Cambria Math" panose="02040503050406030204" pitchFamily="18" charset="0"/>
                        <a:ea typeface="Verdana" charset="0"/>
                        <a:cs typeface="Verdana" charset="0"/>
                      </a:rPr>
                      <m:t>=90°</m:t>
                    </m:r>
                  </m:oMath>
                </a14:m>
                <a:r>
                  <a:rPr lang="en-US" sz="2000" dirty="0">
                    <a:latin typeface="Verdana" panose="020B0604030504040204" pitchFamily="34" charset="0"/>
                    <a:ea typeface="Verdana" panose="020B0604030504040204" pitchFamily="34" charset="0"/>
                    <a:cs typeface="Verdana" panose="020B0604030504040204" pitchFamily="34" charset="0"/>
                  </a:rPr>
                  <a:t>, what is the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𝐴𝑀𝑈</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550516" y="1386149"/>
                <a:ext cx="11077634" cy="2554545"/>
              </a:xfrm>
              <a:prstGeom prst="rect">
                <a:avLst/>
              </a:prstGeom>
              <a:blipFill>
                <a:blip r:embed="rId5"/>
                <a:stretch>
                  <a:fillRect l="-605" t="-1432" r="-880" b="-3341"/>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DC83FE6C-2A92-0840-AA21-B0B38F631C93}"/>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407731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33584"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5358"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397</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2" y="520517"/>
                <a:ext cx="11135751" cy="1323439"/>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𝑁𝐾𝐷</m:t>
                    </m:r>
                  </m:oMath>
                </a14:m>
                <a:r>
                  <a:rPr lang="en-US" sz="2000" dirty="0">
                    <a:latin typeface="Verdana" panose="020B0604030504040204" pitchFamily="34" charset="0"/>
                    <a:ea typeface="Verdana" panose="020B0604030504040204" pitchFamily="34" charset="0"/>
                    <a:cs typeface="Verdana" panose="020B0604030504040204" pitchFamily="34" charset="0"/>
                  </a:rPr>
                  <a:t> is shown, where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𝐾</m:t>
                    </m:r>
                  </m:oMath>
                </a14:m>
                <a:r>
                  <a:rPr lang="en-US" sz="2000" dirty="0">
                    <a:latin typeface="Verdana" panose="020B0604030504040204" pitchFamily="34" charset="0"/>
                    <a:ea typeface="Verdana" panose="020B0604030504040204" pitchFamily="34" charset="0"/>
                    <a:cs typeface="Verdana" panose="020B0604030504040204" pitchFamily="34" charset="0"/>
                  </a:rPr>
                  <a:t> is a right angle, </a:t>
                </a:r>
                <a14:m>
                  <m:oMath xmlns:m="http://schemas.openxmlformats.org/officeDocument/2006/math">
                    <m:r>
                      <a:rPr lang="en-US" sz="2000" i="1">
                        <a:latin typeface="Cambria Math" panose="02040503050406030204" pitchFamily="18" charset="0"/>
                        <a:ea typeface="Verdana" charset="0"/>
                        <a:cs typeface="Verdana" charset="0"/>
                      </a:rPr>
                      <m:t>𝐾𝐷</m:t>
                    </m:r>
                    <m:r>
                      <a:rPr lang="en-US" sz="2000" i="1">
                        <a:latin typeface="Cambria Math" panose="02040503050406030204" pitchFamily="18" charset="0"/>
                        <a:ea typeface="Verdana" charset="0"/>
                        <a:cs typeface="Verdana" charset="0"/>
                      </a:rPr>
                      <m:t>=36</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𝐷</m:t>
                    </m:r>
                    <m:r>
                      <a:rPr lang="en-US" sz="2000" i="1">
                        <a:latin typeface="Cambria Math" panose="02040503050406030204" pitchFamily="18" charset="0"/>
                        <a:ea typeface="Verdana" charset="0"/>
                        <a:cs typeface="Verdana" charset="0"/>
                      </a:rPr>
                      <m:t>=65°</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pPr marL="923925" indent="-454025">
                  <a:buFont typeface="+mj-lt"/>
                  <a:buAutoNum type="alphaLcPeriod"/>
                </a:pPr>
                <a:r>
                  <a:rPr lang="en-US" sz="2000" dirty="0">
                    <a:latin typeface="Verdana" charset="0"/>
                    <a:ea typeface="Verdana" charset="0"/>
                    <a:cs typeface="Verdana" charset="0"/>
                  </a:rPr>
                  <a:t>Find the length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𝑁𝐷</m:t>
                        </m:r>
                      </m:e>
                    </m:acc>
                  </m:oMath>
                </a14:m>
                <a:r>
                  <a:rPr lang="en-US" sz="2000" dirty="0">
                    <a:latin typeface="Verdana" charset="0"/>
                    <a:ea typeface="Verdana" charset="0"/>
                    <a:cs typeface="Verdana" charset="0"/>
                  </a:rPr>
                  <a:t>. Show your work.</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2" y="520517"/>
                <a:ext cx="11135751" cy="1323439"/>
              </a:xfrm>
              <a:prstGeom prst="rect">
                <a:avLst/>
              </a:prstGeom>
              <a:blipFill>
                <a:blip r:embed="rId4"/>
                <a:stretch>
                  <a:fillRect l="-602" t="-2765" b="-783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CFC9A26-671E-2C45-82EC-8B136C03E0A5}"/>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9031258" y="1182236"/>
            <a:ext cx="2362200" cy="3975100"/>
          </a:xfrm>
          <a:prstGeom prst="rect">
            <a:avLst/>
          </a:prstGeom>
        </p:spPr>
      </p:pic>
    </p:spTree>
    <p:extLst>
      <p:ext uri="{BB962C8B-B14F-4D97-AF65-F5344CB8AC3E}">
        <p14:creationId xmlns:p14="http://schemas.microsoft.com/office/powerpoint/2010/main" val="1506640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8726"/>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5801"/>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398</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2702" y="520518"/>
                <a:ext cx="10611222" cy="707886"/>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Amelia and Henry found the length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𝑁𝐾</m:t>
                        </m:r>
                      </m:e>
                    </m:acc>
                  </m:oMath>
                </a14:m>
                <a:r>
                  <a:rPr lang="en-US" sz="2000" dirty="0">
                    <a:latin typeface="Verdana" charset="0"/>
                    <a:ea typeface="Verdana" charset="0"/>
                    <a:cs typeface="Verdana" charset="0"/>
                  </a:rPr>
                  <a:t> using two different methods. The first step of their work is shown. Complete their work.</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2702" y="520518"/>
                <a:ext cx="10611222" cy="707886"/>
              </a:xfrm>
              <a:prstGeom prst="rect">
                <a:avLst/>
              </a:prstGeom>
              <a:blipFill>
                <a:blip r:embed="rId4"/>
                <a:stretch>
                  <a:fillRect l="-632" t="-5128" b="-13675"/>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CFC9A26-671E-2C45-82EC-8B136C03E0A5}"/>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02044595"/>
                  </p:ext>
                </p:extLst>
              </p:nvPr>
            </p:nvGraphicFramePr>
            <p:xfrm>
              <a:off x="1574826" y="1437861"/>
              <a:ext cx="7315097" cy="4853301"/>
            </p:xfrm>
            <a:graphic>
              <a:graphicData uri="http://schemas.openxmlformats.org/drawingml/2006/table">
                <a:tbl>
                  <a:tblPr firstRow="1" firstCol="1" bandRow="1"/>
                  <a:tblGrid>
                    <a:gridCol w="3703615">
                      <a:extLst>
                        <a:ext uri="{9D8B030D-6E8A-4147-A177-3AD203B41FA5}">
                          <a16:colId xmlns:a16="http://schemas.microsoft.com/office/drawing/2014/main" val="20000"/>
                        </a:ext>
                      </a:extLst>
                    </a:gridCol>
                    <a:gridCol w="3611482">
                      <a:extLst>
                        <a:ext uri="{9D8B030D-6E8A-4147-A177-3AD203B41FA5}">
                          <a16:colId xmlns:a16="http://schemas.microsoft.com/office/drawing/2014/main" val="20001"/>
                        </a:ext>
                      </a:extLst>
                    </a:gridCol>
                  </a:tblGrid>
                  <a:tr h="345816">
                    <a:tc>
                      <a:txBody>
                        <a:bodyPr/>
                        <a:lstStyle/>
                        <a:p>
                          <a:pPr marL="0" marR="0" algn="ctr">
                            <a:spcBef>
                              <a:spcPts val="0"/>
                            </a:spcBef>
                            <a:spcAft>
                              <a:spcPts val="0"/>
                            </a:spcAft>
                          </a:pPr>
                          <a:r>
                            <a:rPr lang="en-US" sz="2200" b="1">
                              <a:effectLst/>
                              <a:latin typeface="Verdana" charset="0"/>
                              <a:ea typeface="Verdana" charset="0"/>
                              <a:cs typeface="Verdana" charset="0"/>
                            </a:rPr>
                            <a:t>Amelia</a:t>
                          </a:r>
                          <a:endParaRPr lang="en-US" sz="1600">
                            <a:effectLst/>
                            <a:latin typeface="Verdana" charset="0"/>
                            <a:ea typeface="Verdana" charset="0"/>
                            <a:cs typeface="Verdana" charset="0"/>
                          </a:endParaRPr>
                        </a:p>
                      </a:txBody>
                      <a:tcPr marL="67537" marR="675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200" b="1">
                              <a:effectLst/>
                              <a:latin typeface="Verdana" charset="0"/>
                              <a:ea typeface="Verdana" charset="0"/>
                              <a:cs typeface="Verdana" charset="0"/>
                            </a:rPr>
                            <a:t>Henry</a:t>
                          </a:r>
                          <a:endParaRPr lang="en-US" sz="1600">
                            <a:effectLst/>
                            <a:latin typeface="Verdana" charset="0"/>
                            <a:ea typeface="Verdana" charset="0"/>
                            <a:cs typeface="Verdana" charset="0"/>
                          </a:endParaRPr>
                        </a:p>
                      </a:txBody>
                      <a:tcPr marL="67537" marR="675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0748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200" i="1">
                                        <a:effectLst/>
                                        <a:latin typeface="Cambria Math" panose="02040503050406030204" pitchFamily="18" charset="0"/>
                                        <a:ea typeface="Verdana" charset="0"/>
                                        <a:cs typeface="Verdana" charset="0"/>
                                      </a:rPr>
                                    </m:ctrlPr>
                                  </m:sSupPr>
                                  <m:e>
                                    <m:r>
                                      <a:rPr lang="en-US" sz="2200" i="1">
                                        <a:effectLst/>
                                        <a:latin typeface="Cambria Math" charset="0"/>
                                        <a:ea typeface="Verdana" charset="0"/>
                                        <a:cs typeface="Verdana" charset="0"/>
                                      </a:rPr>
                                      <m:t>36</m:t>
                                    </m:r>
                                  </m:e>
                                  <m:sup>
                                    <m:r>
                                      <a:rPr lang="en-US" sz="2200" i="1">
                                        <a:effectLst/>
                                        <a:latin typeface="Cambria Math" charset="0"/>
                                        <a:ea typeface="Verdana" charset="0"/>
                                        <a:cs typeface="Verdana" charset="0"/>
                                      </a:rPr>
                                      <m:t>2</m:t>
                                    </m:r>
                                  </m:sup>
                                </m:sSup>
                                <m:r>
                                  <a:rPr lang="en-US" sz="2200" i="1">
                                    <a:effectLst/>
                                    <a:latin typeface="Cambria Math" charset="0"/>
                                    <a:ea typeface="Verdana" charset="0"/>
                                    <a:cs typeface="Verdana" charset="0"/>
                                  </a:rPr>
                                  <m:t>+</m:t>
                                </m:r>
                                <m:sSup>
                                  <m:sSupPr>
                                    <m:ctrlPr>
                                      <a:rPr lang="en-US" sz="2200" i="1">
                                        <a:effectLst/>
                                        <a:latin typeface="Cambria Math" panose="02040503050406030204" pitchFamily="18" charset="0"/>
                                        <a:ea typeface="Verdana" charset="0"/>
                                        <a:cs typeface="Verdana" charset="0"/>
                                      </a:rPr>
                                    </m:ctrlPr>
                                  </m:sSupPr>
                                  <m:e>
                                    <m:r>
                                      <a:rPr lang="en-US" sz="2200" i="1">
                                        <a:effectLst/>
                                        <a:latin typeface="Cambria Math" charset="0"/>
                                        <a:ea typeface="Verdana" charset="0"/>
                                        <a:cs typeface="Verdana" charset="0"/>
                                      </a:rPr>
                                      <m:t>𝑁𝐾</m:t>
                                    </m:r>
                                  </m:e>
                                  <m:sup>
                                    <m:r>
                                      <a:rPr lang="en-US" sz="2200" i="1">
                                        <a:effectLst/>
                                        <a:latin typeface="Cambria Math" charset="0"/>
                                        <a:ea typeface="Verdana" charset="0"/>
                                        <a:cs typeface="Verdana" charset="0"/>
                                      </a:rPr>
                                      <m:t>2</m:t>
                                    </m:r>
                                  </m:sup>
                                </m:sSup>
                                <m:r>
                                  <a:rPr lang="en-US" sz="2200" i="1">
                                    <a:effectLst/>
                                    <a:latin typeface="Cambria Math" charset="0"/>
                                    <a:ea typeface="Verdana" charset="0"/>
                                    <a:cs typeface="Verdana" charset="0"/>
                                  </a:rPr>
                                  <m:t>=</m:t>
                                </m:r>
                                <m:sSup>
                                  <m:sSupPr>
                                    <m:ctrlPr>
                                      <a:rPr lang="en-US" sz="2200" i="1">
                                        <a:effectLst/>
                                        <a:latin typeface="Cambria Math" panose="02040503050406030204" pitchFamily="18" charset="0"/>
                                        <a:ea typeface="Verdana" charset="0"/>
                                        <a:cs typeface="Verdana" charset="0"/>
                                      </a:rPr>
                                    </m:ctrlPr>
                                  </m:sSupPr>
                                  <m:e>
                                    <m:d>
                                      <m:dPr>
                                        <m:ctrlPr>
                                          <a:rPr lang="en-US" sz="2200" i="1">
                                            <a:effectLst/>
                                            <a:latin typeface="Cambria Math" panose="02040503050406030204" pitchFamily="18" charset="0"/>
                                            <a:ea typeface="Verdana" charset="0"/>
                                            <a:cs typeface="Verdana" charset="0"/>
                                          </a:rPr>
                                        </m:ctrlPr>
                                      </m:dPr>
                                      <m:e>
                                        <m:r>
                                          <a:rPr lang="en-US" sz="2200" i="1">
                                            <a:effectLst/>
                                            <a:latin typeface="Cambria Math" charset="0"/>
                                            <a:ea typeface="Verdana" charset="0"/>
                                            <a:cs typeface="Verdana" charset="0"/>
                                          </a:rPr>
                                          <m:t>85.183</m:t>
                                        </m:r>
                                      </m:e>
                                    </m:d>
                                  </m:e>
                                  <m:sup>
                                    <m:r>
                                      <a:rPr lang="en-US" sz="2200" i="1">
                                        <a:effectLst/>
                                        <a:latin typeface="Cambria Math" charset="0"/>
                                        <a:ea typeface="Verdana" charset="0"/>
                                        <a:cs typeface="Verdana" charset="0"/>
                                      </a:rPr>
                                      <m:t>2</m:t>
                                    </m:r>
                                  </m:sup>
                                </m:sSup>
                              </m:oMath>
                            </m:oMathPara>
                          </a14:m>
                          <a:endParaRPr lang="en-US" sz="1600">
                            <a:effectLst/>
                            <a:latin typeface="Verdana" charset="0"/>
                            <a:ea typeface="Verdana" charset="0"/>
                            <a:cs typeface="Verdana" charset="0"/>
                          </a:endParaRPr>
                        </a:p>
                      </a:txBody>
                      <a:tcPr marL="67537" marR="675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m:rPr>
                                    <m:sty m:val="p"/>
                                  </m:rPr>
                                  <a:rPr lang="en-US" sz="2200">
                                    <a:effectLst/>
                                    <a:latin typeface="Cambria Math" charset="0"/>
                                    <a:ea typeface="Verdana" charset="0"/>
                                    <a:cs typeface="Verdana" charset="0"/>
                                  </a:rPr>
                                  <m:t>tan</m:t>
                                </m:r>
                                <m:d>
                                  <m:dPr>
                                    <m:ctrlPr>
                                      <a:rPr lang="en-US" sz="2200" i="1">
                                        <a:effectLst/>
                                        <a:latin typeface="Cambria Math" panose="02040503050406030204" pitchFamily="18" charset="0"/>
                                        <a:ea typeface="Verdana" charset="0"/>
                                        <a:cs typeface="Verdana" charset="0"/>
                                      </a:rPr>
                                    </m:ctrlPr>
                                  </m:dPr>
                                  <m:e>
                                    <m:r>
                                      <a:rPr lang="en-US" sz="2200" i="1">
                                        <a:effectLst/>
                                        <a:latin typeface="Cambria Math" charset="0"/>
                                        <a:ea typeface="Verdana" charset="0"/>
                                        <a:cs typeface="Verdana" charset="0"/>
                                      </a:rPr>
                                      <m:t>65°</m:t>
                                    </m:r>
                                  </m:e>
                                </m:d>
                                <m:r>
                                  <a:rPr lang="en-US" sz="2200" i="1">
                                    <a:effectLst/>
                                    <a:latin typeface="Cambria Math" charset="0"/>
                                    <a:ea typeface="Verdana" charset="0"/>
                                    <a:cs typeface="Verdana" charset="0"/>
                                  </a:rPr>
                                  <m:t>=</m:t>
                                </m:r>
                                <m:f>
                                  <m:fPr>
                                    <m:ctrlPr>
                                      <a:rPr lang="en-US" sz="2200" i="1">
                                        <a:effectLst/>
                                        <a:latin typeface="Cambria Math" panose="02040503050406030204" pitchFamily="18" charset="0"/>
                                        <a:ea typeface="Verdana" charset="0"/>
                                        <a:cs typeface="Verdana" charset="0"/>
                                      </a:rPr>
                                    </m:ctrlPr>
                                  </m:fPr>
                                  <m:num>
                                    <m:r>
                                      <a:rPr lang="en-US" sz="2200" i="1">
                                        <a:effectLst/>
                                        <a:latin typeface="Cambria Math" charset="0"/>
                                        <a:ea typeface="Verdana" charset="0"/>
                                        <a:cs typeface="Verdana" charset="0"/>
                                      </a:rPr>
                                      <m:t>𝑁𝐾</m:t>
                                    </m:r>
                                  </m:num>
                                  <m:den>
                                    <m:r>
                                      <a:rPr lang="en-US" sz="2200" i="1">
                                        <a:effectLst/>
                                        <a:latin typeface="Cambria Math" charset="0"/>
                                        <a:ea typeface="Verdana" charset="0"/>
                                        <a:cs typeface="Verdana" charset="0"/>
                                      </a:rPr>
                                      <m:t>36</m:t>
                                    </m:r>
                                  </m:den>
                                </m:f>
                              </m:oMath>
                            </m:oMathPara>
                          </a14:m>
                          <a:endParaRPr lang="en-US" sz="1600" dirty="0">
                            <a:effectLst/>
                            <a:latin typeface="Verdana" charset="0"/>
                            <a:ea typeface="Verdana" charset="0"/>
                            <a:cs typeface="Verdana" charset="0"/>
                          </a:endParaRPr>
                        </a:p>
                      </a:txBody>
                      <a:tcPr marL="67537" marR="675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02044595"/>
                  </p:ext>
                </p:extLst>
              </p:nvPr>
            </p:nvGraphicFramePr>
            <p:xfrm>
              <a:off x="1574826" y="1437861"/>
              <a:ext cx="7315097" cy="4853301"/>
            </p:xfrm>
            <a:graphic>
              <a:graphicData uri="http://schemas.openxmlformats.org/drawingml/2006/table">
                <a:tbl>
                  <a:tblPr firstRow="1" firstCol="1" bandRow="1"/>
                  <a:tblGrid>
                    <a:gridCol w="3703615">
                      <a:extLst>
                        <a:ext uri="{9D8B030D-6E8A-4147-A177-3AD203B41FA5}">
                          <a16:colId xmlns:a16="http://schemas.microsoft.com/office/drawing/2014/main" val="20000"/>
                        </a:ext>
                      </a:extLst>
                    </a:gridCol>
                    <a:gridCol w="3611482">
                      <a:extLst>
                        <a:ext uri="{9D8B030D-6E8A-4147-A177-3AD203B41FA5}">
                          <a16:colId xmlns:a16="http://schemas.microsoft.com/office/drawing/2014/main" val="20001"/>
                        </a:ext>
                      </a:extLst>
                    </a:gridCol>
                  </a:tblGrid>
                  <a:tr h="345816">
                    <a:tc>
                      <a:txBody>
                        <a:bodyPr/>
                        <a:lstStyle/>
                        <a:p>
                          <a:pPr marL="0" marR="0" algn="ctr">
                            <a:spcBef>
                              <a:spcPts val="0"/>
                            </a:spcBef>
                            <a:spcAft>
                              <a:spcPts val="0"/>
                            </a:spcAft>
                          </a:pPr>
                          <a:r>
                            <a:rPr lang="en-US" sz="2200" b="1">
                              <a:effectLst/>
                              <a:latin typeface="Verdana" charset="0"/>
                              <a:ea typeface="Verdana" charset="0"/>
                              <a:cs typeface="Verdana" charset="0"/>
                            </a:rPr>
                            <a:t>Amelia</a:t>
                          </a:r>
                          <a:endParaRPr lang="en-US" sz="1600">
                            <a:effectLst/>
                            <a:latin typeface="Verdana" charset="0"/>
                            <a:ea typeface="Verdana" charset="0"/>
                            <a:cs typeface="Verdana" charset="0"/>
                          </a:endParaRPr>
                        </a:p>
                      </a:txBody>
                      <a:tcPr marL="67537" marR="675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200" b="1">
                              <a:effectLst/>
                              <a:latin typeface="Verdana" charset="0"/>
                              <a:ea typeface="Verdana" charset="0"/>
                              <a:cs typeface="Verdana" charset="0"/>
                            </a:rPr>
                            <a:t>Henry</a:t>
                          </a:r>
                          <a:endParaRPr lang="en-US" sz="1600">
                            <a:effectLst/>
                            <a:latin typeface="Verdana" charset="0"/>
                            <a:ea typeface="Verdana" charset="0"/>
                            <a:cs typeface="Verdana" charset="0"/>
                          </a:endParaRPr>
                        </a:p>
                      </a:txBody>
                      <a:tcPr marL="67537" marR="675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07485">
                    <a:tc>
                      <a:txBody>
                        <a:bodyPr/>
                        <a:lstStyle/>
                        <a:p>
                          <a:endParaRPr lang="en-US"/>
                        </a:p>
                      </a:txBody>
                      <a:tcPr marL="67537" marR="675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4" t="-9312" r="-97862" b="-270"/>
                          </a:stretch>
                        </a:blipFill>
                      </a:tcPr>
                    </a:tc>
                    <a:tc>
                      <a:txBody>
                        <a:bodyPr/>
                        <a:lstStyle/>
                        <a:p>
                          <a:endParaRPr lang="en-US"/>
                        </a:p>
                      </a:txBody>
                      <a:tcPr marL="67537" marR="6753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2698" t="-9312" r="-337" b="-270"/>
                          </a:stretch>
                        </a:blipFill>
                      </a:tcPr>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9024507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398</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2702" y="528619"/>
            <a:ext cx="10611222" cy="3477875"/>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Describe some possible reasons that Amelia’s and Henry’s answers are not exactly the same value.</a:t>
            </a: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r>
              <a:rPr lang="en-US" sz="2000" dirty="0">
                <a:latin typeface="Verdana" charset="0"/>
                <a:ea typeface="Verdana" charset="0"/>
                <a:cs typeface="Verdana" charset="0"/>
              </a:rPr>
              <a:t>Whose method gives a precise answer? </a:t>
            </a:r>
          </a:p>
        </p:txBody>
      </p:sp>
      <p:sp>
        <p:nvSpPr>
          <p:cNvPr id="6" name="Google Shape;278;g104476d1465_1_17">
            <a:extLst>
              <a:ext uri="{FF2B5EF4-FFF2-40B4-BE49-F238E27FC236}">
                <a16:creationId xmlns:a16="http://schemas.microsoft.com/office/drawing/2014/main" id="{DCFC9A26-671E-2C45-82EC-8B136C03E0A5}"/>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21424702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398</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1260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09918" y="-37087"/>
            <a:ext cx="1061823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7.5.5 Guided Practice: Using Trigonometric Ratios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398</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60110" y="12893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497832" y="1333365"/>
                <a:ext cx="11130317" cy="5016758"/>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𝑍𝑀𝐸</m:t>
                    </m:r>
                  </m:oMath>
                </a14:m>
                <a:r>
                  <a:rPr lang="en-US" sz="2000" dirty="0">
                    <a:latin typeface="Verdana" panose="020B0604030504040204" pitchFamily="34" charset="0"/>
                    <a:ea typeface="Verdana" panose="020B0604030504040204" pitchFamily="34" charset="0"/>
                    <a:cs typeface="Verdana" panose="020B0604030504040204" pitchFamily="34" charset="0"/>
                  </a:rPr>
                  <a:t> has </a:t>
                </a:r>
                <a14:m>
                  <m:oMath xmlns:m="http://schemas.openxmlformats.org/officeDocument/2006/math">
                    <m:r>
                      <a:rPr lang="en-US" sz="2000" i="1">
                        <a:latin typeface="Cambria Math" panose="02040503050406030204" pitchFamily="18" charset="0"/>
                        <a:ea typeface="Verdana" charset="0"/>
                        <a:cs typeface="Verdana" charset="0"/>
                      </a:rPr>
                      <m:t>𝑀𝐸</m:t>
                    </m:r>
                    <m:r>
                      <a:rPr lang="en-US" sz="2000" i="1">
                        <a:latin typeface="Cambria Math" panose="02040503050406030204" pitchFamily="18" charset="0"/>
                        <a:ea typeface="Verdana" charset="0"/>
                        <a:cs typeface="Verdana" charset="0"/>
                      </a:rPr>
                      <m:t>=14.9</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𝑍𝐸𝑀</m:t>
                    </m:r>
                    <m:r>
                      <a:rPr lang="en-US" sz="2000" i="1">
                        <a:latin typeface="Cambria Math" panose="02040503050406030204" pitchFamily="18" charset="0"/>
                        <a:ea typeface="Verdana" charset="0"/>
                        <a:cs typeface="Verdana" charset="0"/>
                      </a:rPr>
                      <m:t>=41.5°</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charset="0"/>
                    <a:ea typeface="Verdana" charset="0"/>
                    <a:cs typeface="Verdana" charset="0"/>
                  </a:rPr>
                  <a:t> </a:t>
                </a:r>
              </a:p>
              <a:p>
                <a:pPr marL="923925" indent="-454025">
                  <a:buFont typeface="+mj-lt"/>
                  <a:buAutoNum type="alphaLcPeriod"/>
                </a:pPr>
                <a:r>
                  <a:rPr lang="en-US" sz="2000" dirty="0">
                    <a:latin typeface="Verdana" charset="0"/>
                    <a:ea typeface="Verdana" charset="0"/>
                    <a:cs typeface="Verdana" charset="0"/>
                  </a:rPr>
                  <a:t>If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𝑍𝑀𝐸</m:t>
                    </m:r>
                  </m:oMath>
                </a14:m>
                <a:r>
                  <a:rPr lang="en-US" sz="2000" dirty="0">
                    <a:latin typeface="Verdana" charset="0"/>
                    <a:ea typeface="Verdana" charset="0"/>
                    <a:cs typeface="Verdana" charset="0"/>
                  </a:rPr>
                  <a:t> is a right angle, what is the length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𝑍𝑀</m:t>
                        </m:r>
                      </m:e>
                    </m:acc>
                  </m:oMath>
                </a14:m>
                <a:r>
                  <a:rPr lang="en-US" sz="2000" dirty="0">
                    <a:latin typeface="Verdana" charset="0"/>
                    <a:ea typeface="Verdana" charset="0"/>
                    <a:cs typeface="Verdana" charset="0"/>
                  </a:rPr>
                  <a:t>?</a:t>
                </a: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Sharif used the information to determine the length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panose="02040503050406030204" pitchFamily="18" charset="0"/>
                            <a:ea typeface="Verdana" charset="0"/>
                            <a:cs typeface="Verdana" charset="0"/>
                          </a:rPr>
                          <m:t>𝑍𝑀</m:t>
                        </m:r>
                      </m:e>
                    </m:acc>
                  </m:oMath>
                </a14:m>
                <a:r>
                  <a:rPr lang="en-US" sz="2000" dirty="0">
                    <a:latin typeface="Verdana" charset="0"/>
                    <a:ea typeface="Verdana" charset="0"/>
                    <a:cs typeface="Verdana" charset="0"/>
                  </a:rPr>
                  <a:t>.</a:t>
                </a:r>
              </a:p>
              <a:p>
                <a:pPr marL="923925"/>
                <a:r>
                  <a:rPr lang="en-US" sz="2000" dirty="0">
                    <a:latin typeface="Verdana" charset="0"/>
                    <a:ea typeface="Verdana" charset="0"/>
                    <a:cs typeface="Verdana" charset="0"/>
                  </a:rPr>
                  <a:t>Her work is shown below. </a:t>
                </a:r>
              </a:p>
              <a:p>
                <a:pPr marL="923925"/>
                <a:endParaRPr lang="en-US" sz="2000" dirty="0">
                  <a:latin typeface="Verdana" charset="0"/>
                  <a:ea typeface="Verdana" charset="0"/>
                  <a:cs typeface="Verdana" charset="0"/>
                </a:endParaRPr>
              </a:p>
              <a:p>
                <a:pPr marL="923925"/>
                <a:endParaRPr lang="en-US" sz="2000" dirty="0">
                  <a:latin typeface="Verdana" charset="0"/>
                  <a:ea typeface="Verdana" charset="0"/>
                  <a:cs typeface="Verdana" charset="0"/>
                </a:endParaRPr>
              </a:p>
              <a:p>
                <a:pPr marL="923925"/>
                <a:endParaRPr lang="en-US" sz="2000" dirty="0">
                  <a:latin typeface="Verdana" charset="0"/>
                  <a:ea typeface="Verdana" charset="0"/>
                  <a:cs typeface="Verdana" charset="0"/>
                </a:endParaRPr>
              </a:p>
              <a:p>
                <a:pPr marL="923925"/>
                <a:endParaRPr lang="en-US" sz="2000" dirty="0">
                  <a:latin typeface="Verdana" charset="0"/>
                  <a:ea typeface="Verdana" charset="0"/>
                  <a:cs typeface="Verdana" charset="0"/>
                </a:endParaRPr>
              </a:p>
              <a:p>
                <a:pPr marL="923925"/>
                <a:endParaRPr lang="en-US" sz="2000" dirty="0">
                  <a:latin typeface="Verdana" charset="0"/>
                  <a:ea typeface="Verdana" charset="0"/>
                  <a:cs typeface="Verdana" charset="0"/>
                </a:endParaRPr>
              </a:p>
              <a:p>
                <a:pPr marL="923925"/>
                <a:endParaRPr lang="en-US" sz="2000" dirty="0">
                  <a:latin typeface="Verdana" charset="0"/>
                  <a:ea typeface="Verdana" charset="0"/>
                  <a:cs typeface="Verdana" charset="0"/>
                </a:endParaRPr>
              </a:p>
              <a:p>
                <a:pPr marL="923925"/>
                <a:endParaRPr lang="en-US" sz="2000" dirty="0">
                  <a:latin typeface="Verdana" charset="0"/>
                  <a:ea typeface="Verdana" charset="0"/>
                  <a:cs typeface="Verdana" charset="0"/>
                </a:endParaRPr>
              </a:p>
              <a:p>
                <a:pPr marL="923925"/>
                <a:endParaRPr lang="en-US" sz="2000" dirty="0">
                  <a:latin typeface="Verdana" charset="0"/>
                  <a:ea typeface="Verdana" charset="0"/>
                  <a:cs typeface="Verdana" charset="0"/>
                </a:endParaRPr>
              </a:p>
              <a:p>
                <a:pPr marL="923925"/>
                <a:endParaRPr lang="en-US" sz="2000" dirty="0">
                  <a:latin typeface="Verdana" charset="0"/>
                  <a:ea typeface="Verdana" charset="0"/>
                  <a:cs typeface="Verdana" charset="0"/>
                </a:endParaRPr>
              </a:p>
              <a:p>
                <a:pPr marL="923925"/>
                <a:r>
                  <a:rPr lang="en-US" sz="2000" dirty="0">
                    <a:latin typeface="Verdana" charset="0"/>
                    <a:ea typeface="Verdana" charset="0"/>
                    <a:cs typeface="Verdana" charset="0"/>
                  </a:rPr>
                  <a:t>Find Sharif’s error and correct it. </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497832" y="1333365"/>
                <a:ext cx="11130317" cy="5016758"/>
              </a:xfrm>
              <a:prstGeom prst="rect">
                <a:avLst/>
              </a:prstGeom>
              <a:blipFill>
                <a:blip r:embed="rId5"/>
                <a:stretch>
                  <a:fillRect l="-602" t="-851" b="-1215"/>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DC83FE6C-2A92-0840-AA21-B0B38F631C93}"/>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sp>
            <p:nvSpPr>
              <p:cNvPr id="2" name="Rectangle 1"/>
              <p:cNvSpPr/>
              <p:nvPr/>
            </p:nvSpPr>
            <p:spPr>
              <a:xfrm>
                <a:off x="1524000" y="3424949"/>
                <a:ext cx="4572000" cy="2375266"/>
              </a:xfrm>
              <a:prstGeom prst="rect">
                <a:avLst/>
              </a:prstGeom>
            </p:spPr>
            <p:txBody>
              <a:bodyPr>
                <a:spAutoFit/>
              </a:bodyPr>
              <a:lstStyle/>
              <a:p>
                <a:pPr>
                  <a:spcAft>
                    <a:spcPts val="1000"/>
                  </a:spcAft>
                </a:pPr>
                <a14:m>
                  <m:oMathPara xmlns:m="http://schemas.openxmlformats.org/officeDocument/2006/math">
                    <m:oMathParaPr>
                      <m:jc m:val="centerGroup"/>
                    </m:oMathParaPr>
                    <m:oMath xmlns:m="http://schemas.openxmlformats.org/officeDocument/2006/math">
                      <m:func>
                        <m:funcPr>
                          <m:ctrlPr>
                            <a:rPr lang="en-US" sz="2000" i="1">
                              <a:latin typeface="Cambria Math" panose="02040503050406030204" pitchFamily="18" charset="0"/>
                              <a:ea typeface="Verdana" charset="0"/>
                              <a:cs typeface="Verdana" charset="0"/>
                            </a:rPr>
                          </m:ctrlPr>
                        </m:funcPr>
                        <m:fName>
                          <m:r>
                            <m:rPr>
                              <m:sty m:val="p"/>
                            </m:rPr>
                            <a:rPr lang="en-US" sz="2000">
                              <a:latin typeface="Cambria Math" charset="0"/>
                              <a:ea typeface="Verdana" charset="0"/>
                              <a:cs typeface="Verdana" charset="0"/>
                            </a:rPr>
                            <m:t>tan</m:t>
                          </m:r>
                        </m:fName>
                        <m:e>
                          <m:r>
                            <a:rPr lang="en-US" sz="2000" i="1">
                              <a:latin typeface="Cambria Math" charset="0"/>
                              <a:ea typeface="Verdana" charset="0"/>
                              <a:cs typeface="Verdana" charset="0"/>
                            </a:rPr>
                            <m:t>41.5°</m:t>
                          </m:r>
                        </m:e>
                      </m:func>
                      <m:r>
                        <a:rPr lang="en-US" sz="2000" i="1">
                          <a:latin typeface="Cambria Math" charset="0"/>
                          <a:ea typeface="Verdana" charset="0"/>
                          <a:cs typeface="Verdana" charset="0"/>
                        </a:rPr>
                        <m:t>=</m:t>
                      </m:r>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14.9</m:t>
                          </m:r>
                        </m:num>
                        <m:den>
                          <m:r>
                            <a:rPr lang="en-US" sz="2000" i="1">
                              <a:latin typeface="Cambria Math" charset="0"/>
                              <a:ea typeface="Verdana" charset="0"/>
                              <a:cs typeface="Verdana" charset="0"/>
                            </a:rPr>
                            <m:t>𝑍𝑀</m:t>
                          </m:r>
                        </m:den>
                      </m:f>
                    </m:oMath>
                  </m:oMathPara>
                </a14:m>
                <a:endParaRPr lang="en-US" sz="2000" dirty="0">
                  <a:latin typeface="Verdana" charset="0"/>
                  <a:ea typeface="Verdana" charset="0"/>
                  <a:cs typeface="Verdana" charset="0"/>
                </a:endParaRPr>
              </a:p>
              <a:p>
                <a:pPr>
                  <a:spcAft>
                    <a:spcPts val="1000"/>
                  </a:spcAft>
                </a:pPr>
                <a14:m>
                  <m:oMathPara xmlns:m="http://schemas.openxmlformats.org/officeDocument/2006/math">
                    <m:oMathParaPr>
                      <m:jc m:val="centerGroup"/>
                    </m:oMathParaPr>
                    <m:oMath xmlns:m="http://schemas.openxmlformats.org/officeDocument/2006/math">
                      <m:r>
                        <a:rPr lang="en-US" sz="2000" i="1">
                          <a:latin typeface="Cambria Math" charset="0"/>
                          <a:ea typeface="Verdana" charset="0"/>
                          <a:cs typeface="Verdana" charset="0"/>
                        </a:rPr>
                        <m:t>𝑍𝑀</m:t>
                      </m:r>
                      <m:r>
                        <a:rPr lang="en-US" sz="2000" i="1">
                          <a:latin typeface="Cambria Math" charset="0"/>
                          <a:ea typeface="Verdana" charset="0"/>
                          <a:cs typeface="Verdana" charset="0"/>
                        </a:rPr>
                        <m:t>∙</m:t>
                      </m:r>
                      <m:func>
                        <m:funcPr>
                          <m:ctrlPr>
                            <a:rPr lang="en-US" sz="2000" i="1">
                              <a:latin typeface="Cambria Math" panose="02040503050406030204" pitchFamily="18" charset="0"/>
                              <a:ea typeface="Verdana" charset="0"/>
                              <a:cs typeface="Verdana" charset="0"/>
                            </a:rPr>
                          </m:ctrlPr>
                        </m:funcPr>
                        <m:fName>
                          <m:r>
                            <m:rPr>
                              <m:sty m:val="p"/>
                            </m:rPr>
                            <a:rPr lang="en-US" sz="2000">
                              <a:latin typeface="Cambria Math" charset="0"/>
                              <a:ea typeface="Verdana" charset="0"/>
                              <a:cs typeface="Verdana" charset="0"/>
                            </a:rPr>
                            <m:t>tan</m:t>
                          </m:r>
                        </m:fName>
                        <m:e>
                          <m:r>
                            <a:rPr lang="en-US" sz="2000" i="1">
                              <a:latin typeface="Cambria Math" charset="0"/>
                              <a:ea typeface="Verdana" charset="0"/>
                              <a:cs typeface="Verdana" charset="0"/>
                            </a:rPr>
                            <m:t>41.5°</m:t>
                          </m:r>
                        </m:e>
                      </m:func>
                      <m:r>
                        <a:rPr lang="en-US" sz="2000" i="1">
                          <a:latin typeface="Cambria Math" charset="0"/>
                          <a:ea typeface="Verdana" charset="0"/>
                          <a:cs typeface="Verdana" charset="0"/>
                        </a:rPr>
                        <m:t>=14.9</m:t>
                      </m:r>
                    </m:oMath>
                  </m:oMathPara>
                </a14:m>
                <a:endParaRPr lang="en-US" sz="2000" dirty="0">
                  <a:latin typeface="Verdana" charset="0"/>
                  <a:ea typeface="Verdana" charset="0"/>
                  <a:cs typeface="Verdana" charset="0"/>
                </a:endParaRPr>
              </a:p>
              <a:p>
                <a:pPr>
                  <a:spcAft>
                    <a:spcPts val="1000"/>
                  </a:spcAft>
                </a:pPr>
                <a14:m>
                  <m:oMathPara xmlns:m="http://schemas.openxmlformats.org/officeDocument/2006/math">
                    <m:oMathParaPr>
                      <m:jc m:val="centerGroup"/>
                    </m:oMathParaPr>
                    <m:oMath xmlns:m="http://schemas.openxmlformats.org/officeDocument/2006/math">
                      <m:r>
                        <a:rPr lang="en-US" sz="2000" i="1">
                          <a:latin typeface="Cambria Math" charset="0"/>
                          <a:ea typeface="Verdana" charset="0"/>
                          <a:cs typeface="Verdana" charset="0"/>
                        </a:rPr>
                        <m:t>𝑍𝑀</m:t>
                      </m:r>
                      <m:r>
                        <a:rPr lang="en-US" sz="2000" i="1">
                          <a:latin typeface="Cambria Math" charset="0"/>
                          <a:ea typeface="Verdana" charset="0"/>
                          <a:cs typeface="Verdana" charset="0"/>
                        </a:rPr>
                        <m:t>=</m:t>
                      </m:r>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14.9</m:t>
                          </m:r>
                        </m:num>
                        <m:den>
                          <m:func>
                            <m:funcPr>
                              <m:ctrlPr>
                                <a:rPr lang="en-US" sz="2000" i="1">
                                  <a:latin typeface="Cambria Math" panose="02040503050406030204" pitchFamily="18" charset="0"/>
                                  <a:ea typeface="Verdana" charset="0"/>
                                  <a:cs typeface="Verdana" charset="0"/>
                                </a:rPr>
                              </m:ctrlPr>
                            </m:funcPr>
                            <m:fName>
                              <m:r>
                                <m:rPr>
                                  <m:sty m:val="p"/>
                                </m:rPr>
                                <a:rPr lang="en-US" sz="2000">
                                  <a:latin typeface="Cambria Math" charset="0"/>
                                  <a:ea typeface="Verdana" charset="0"/>
                                  <a:cs typeface="Verdana" charset="0"/>
                                </a:rPr>
                                <m:t>tan</m:t>
                              </m:r>
                            </m:fName>
                            <m:e>
                              <m:r>
                                <a:rPr lang="en-US" sz="2000" i="1">
                                  <a:latin typeface="Cambria Math" charset="0"/>
                                  <a:ea typeface="Verdana" charset="0"/>
                                  <a:cs typeface="Verdana" charset="0"/>
                                </a:rPr>
                                <m:t>41.5°</m:t>
                              </m:r>
                            </m:e>
                          </m:func>
                        </m:den>
                      </m:f>
                    </m:oMath>
                  </m:oMathPara>
                </a14:m>
                <a:endParaRPr lang="en-US" sz="2000" dirty="0">
                  <a:latin typeface="Verdana" charset="0"/>
                  <a:ea typeface="Verdana" charset="0"/>
                  <a:cs typeface="Verdana" charset="0"/>
                </a:endParaRPr>
              </a:p>
              <a:p>
                <a:pPr>
                  <a:spcAft>
                    <a:spcPts val="1000"/>
                  </a:spcAft>
                </a:pPr>
                <a14:m>
                  <m:oMathPara xmlns:m="http://schemas.openxmlformats.org/officeDocument/2006/math">
                    <m:oMathParaPr>
                      <m:jc m:val="centerGroup"/>
                    </m:oMathParaPr>
                    <m:oMath xmlns:m="http://schemas.openxmlformats.org/officeDocument/2006/math">
                      <m:r>
                        <a:rPr lang="en-US" sz="2000" i="1">
                          <a:latin typeface="Cambria Math" charset="0"/>
                          <a:ea typeface="Verdana" charset="0"/>
                          <a:cs typeface="Verdana" charset="0"/>
                        </a:rPr>
                        <m:t>𝑍𝑀</m:t>
                      </m:r>
                      <m:r>
                        <a:rPr lang="en-US" sz="2000" i="1">
                          <a:latin typeface="Cambria Math" charset="0"/>
                          <a:ea typeface="Verdana" charset="0"/>
                          <a:cs typeface="Verdana" charset="0"/>
                        </a:rPr>
                        <m:t>≈16.841</m:t>
                      </m:r>
                    </m:oMath>
                  </m:oMathPara>
                </a14:m>
                <a:endParaRPr lang="en-US" sz="2000" dirty="0">
                  <a:latin typeface="Verdana" charset="0"/>
                  <a:ea typeface="Verdana" charset="0"/>
                  <a:cs typeface="Verdana"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1524000" y="3424949"/>
                <a:ext cx="4572000" cy="2375266"/>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53267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399</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2" y="520517"/>
                <a:ext cx="10548709"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m:rPr>
                        <m:sty m:val="p"/>
                      </m:rPr>
                      <a:rPr lang="en-US" sz="2000">
                        <a:latin typeface="Cambria Math" panose="02040503050406030204" pitchFamily="18" charset="0"/>
                        <a:ea typeface="Verdana" charset="0"/>
                        <a:cs typeface="Verdana" charset="0"/>
                      </a:rPr>
                      <m:t>Δ</m:t>
                    </m:r>
                    <m:r>
                      <a:rPr lang="en-US" sz="2000" i="1">
                        <a:latin typeface="Cambria Math" panose="02040503050406030204" pitchFamily="18" charset="0"/>
                        <a:ea typeface="Verdana" charset="0"/>
                        <a:cs typeface="Verdana" charset="0"/>
                      </a:rPr>
                      <m:t>𝐾𝑁𝑃</m:t>
                    </m:r>
                  </m:oMath>
                </a14:m>
                <a:r>
                  <a:rPr lang="en-US" sz="2000" dirty="0">
                    <a:latin typeface="Verdana" charset="0"/>
                    <a:ea typeface="Verdana" charset="0"/>
                    <a:cs typeface="Verdana" charset="0"/>
                  </a:rPr>
                  <a:t> is a right triangle with </a:t>
                </a:r>
                <a14:m>
                  <m:oMath xmlns:m="http://schemas.openxmlformats.org/officeDocument/2006/math">
                    <m:r>
                      <a:rPr lang="en-US" sz="2000" i="1">
                        <a:latin typeface="Cambria Math" panose="02040503050406030204" pitchFamily="18" charset="0"/>
                        <a:ea typeface="Verdana" charset="0"/>
                        <a:cs typeface="Verdana" charset="0"/>
                      </a:rPr>
                      <m:t>𝐾𝑃</m:t>
                    </m:r>
                    <m:r>
                      <a:rPr lang="en-US" sz="2000" i="1">
                        <a:latin typeface="Cambria Math" panose="02040503050406030204" pitchFamily="18" charset="0"/>
                        <a:ea typeface="Verdana" charset="0"/>
                        <a:cs typeface="Verdana" charset="0"/>
                      </a:rPr>
                      <m:t>=46</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𝐾𝑁</m:t>
                    </m:r>
                    <m:r>
                      <a:rPr lang="en-US" sz="2000" i="1">
                        <a:latin typeface="Cambria Math" panose="02040503050406030204" pitchFamily="18" charset="0"/>
                        <a:ea typeface="Verdana" charset="0"/>
                        <a:cs typeface="Verdana" charset="0"/>
                      </a:rPr>
                      <m:t>=27.3</m:t>
                    </m:r>
                  </m:oMath>
                </a14:m>
                <a:r>
                  <a:rPr lang="en-US" sz="2000" dirty="0">
                    <a:latin typeface="Verdana" charset="0"/>
                    <a:ea typeface="Verdana" charset="0"/>
                    <a:cs typeface="Verdana" charset="0"/>
                  </a:rPr>
                  <a:t>. If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𝑃𝑁𝐾</m:t>
                    </m:r>
                  </m:oMath>
                </a14:m>
                <a:r>
                  <a:rPr lang="en-US" sz="2000" dirty="0">
                    <a:latin typeface="Verdana" charset="0"/>
                    <a:ea typeface="Verdana" charset="0"/>
                    <a:cs typeface="Verdana" charset="0"/>
                  </a:rPr>
                  <a:t> is a right angle, what is the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𝐾𝑃𝑁</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2" y="520517"/>
                <a:ext cx="10548709" cy="707886"/>
              </a:xfrm>
              <a:prstGeom prst="rect">
                <a:avLst/>
              </a:prstGeom>
              <a:blipFill>
                <a:blip r:embed="rId4"/>
                <a:stretch>
                  <a:fillRect l="-636" t="-5128" r="-347" b="-13675"/>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CFC9A26-671E-2C45-82EC-8B136C03E0A5}"/>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239404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399</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399</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092067" y="-200432"/>
            <a:ext cx="974799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7.5.6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262618" y="6044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550516" y="1386149"/>
                <a:ext cx="6810434" cy="378565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𝑅𝐷𝐻</m:t>
                    </m:r>
                  </m:oMath>
                </a14:m>
                <a:r>
                  <a:rPr lang="en-US" sz="2000" dirty="0">
                    <a:latin typeface="Verdana" charset="0"/>
                    <a:ea typeface="Verdana" charset="0"/>
                    <a:cs typeface="Verdana" charset="0"/>
                  </a:rPr>
                  <a:t> is shown, where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𝑅𝐻𝐷</m:t>
                    </m:r>
                  </m:oMath>
                </a14:m>
                <a:r>
                  <a:rPr lang="en-US" sz="2000" dirty="0">
                    <a:latin typeface="Verdana" charset="0"/>
                    <a:ea typeface="Verdana" charset="0"/>
                    <a:cs typeface="Verdana" charset="0"/>
                  </a:rPr>
                  <a:t> is a right angle. </a:t>
                </a:r>
              </a:p>
              <a:p>
                <a:pPr marL="457200" indent="-457200">
                  <a:buFont typeface="+mj-lt"/>
                  <a:buAutoNum type="arabi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If </a:t>
                </a:r>
                <a14:m>
                  <m:oMath xmlns:m="http://schemas.openxmlformats.org/officeDocument/2006/math">
                    <m:r>
                      <a:rPr lang="en-US" sz="2000" i="1">
                        <a:latin typeface="Cambria Math" panose="02040503050406030204" pitchFamily="18" charset="0"/>
                        <a:ea typeface="Verdana" charset="0"/>
                        <a:cs typeface="Verdana" charset="0"/>
                      </a:rPr>
                      <m:t>𝑑</m:t>
                    </m:r>
                    <m:r>
                      <a:rPr lang="en-US" sz="2000" i="1">
                        <a:latin typeface="Cambria Math" panose="02040503050406030204" pitchFamily="18" charset="0"/>
                        <a:ea typeface="Verdana" charset="0"/>
                        <a:cs typeface="Verdana" charset="0"/>
                      </a:rPr>
                      <m:t>=2.8</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h</m:t>
                    </m:r>
                    <m:r>
                      <a:rPr lang="en-US" sz="2000" i="1">
                        <a:latin typeface="Cambria Math" panose="02040503050406030204" pitchFamily="18" charset="0"/>
                        <a:ea typeface="Verdana" charset="0"/>
                        <a:cs typeface="Verdana" charset="0"/>
                      </a:rPr>
                      <m:t>=4.6</m:t>
                    </m:r>
                  </m:oMath>
                </a14:m>
                <a:r>
                  <a:rPr lang="en-US" sz="2000" dirty="0">
                    <a:latin typeface="Verdana" charset="0"/>
                    <a:ea typeface="Verdana" charset="0"/>
                    <a:cs typeface="Verdana" charset="0"/>
                  </a:rPr>
                  <a:t>, what is the measure of </a:t>
                </a:r>
                <a14:m>
                  <m:oMath xmlns:m="http://schemas.openxmlformats.org/officeDocument/2006/math">
                    <m:r>
                      <a:rPr lang="en-US" sz="2000" i="1">
                        <a:latin typeface="Cambria Math" panose="02040503050406030204" pitchFamily="18" charset="0"/>
                        <a:ea typeface="Verdana" charset="0"/>
                        <a:cs typeface="Verdana" charset="0"/>
                      </a:rPr>
                      <m:t>𝑦</m:t>
                    </m:r>
                  </m:oMath>
                </a14:m>
                <a:r>
                  <a:rPr lang="en-US" sz="2000" dirty="0">
                    <a:latin typeface="Verdana" charset="0"/>
                    <a:ea typeface="Verdana" charset="0"/>
                    <a:cs typeface="Verdana" charset="0"/>
                  </a:rPr>
                  <a:t>, in degrees?</a:t>
                </a: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If </a:t>
                </a:r>
                <a14:m>
                  <m:oMath xmlns:m="http://schemas.openxmlformats.org/officeDocument/2006/math">
                    <m:r>
                      <a:rPr lang="en-US" sz="2000" i="1">
                        <a:latin typeface="Cambria Math" panose="02040503050406030204" pitchFamily="18" charset="0"/>
                        <a:ea typeface="Verdana" charset="0"/>
                        <a:cs typeface="Verdana" charset="0"/>
                      </a:rPr>
                      <m:t>𝑥</m:t>
                    </m:r>
                    <m:r>
                      <a:rPr lang="en-US" sz="2000" i="1">
                        <a:latin typeface="Cambria Math" panose="02040503050406030204" pitchFamily="18" charset="0"/>
                        <a:ea typeface="Verdana" charset="0"/>
                        <a:cs typeface="Verdana" charset="0"/>
                      </a:rPr>
                      <m:t>=29°</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h</m:t>
                    </m:r>
                    <m:r>
                      <a:rPr lang="en-US" sz="2000" i="1">
                        <a:latin typeface="Cambria Math" panose="02040503050406030204" pitchFamily="18" charset="0"/>
                        <a:ea typeface="Verdana" charset="0"/>
                        <a:cs typeface="Verdana" charset="0"/>
                      </a:rPr>
                      <m:t>=14.5</m:t>
                    </m:r>
                  </m:oMath>
                </a14:m>
                <a:r>
                  <a:rPr lang="en-US" sz="2000" dirty="0">
                    <a:latin typeface="Verdana" charset="0"/>
                    <a:ea typeface="Verdana" charset="0"/>
                    <a:cs typeface="Verdana" charset="0"/>
                  </a:rPr>
                  <a:t> what is the value of </a:t>
                </a:r>
                <a14:m>
                  <m:oMath xmlns:m="http://schemas.openxmlformats.org/officeDocument/2006/math">
                    <m:r>
                      <a:rPr lang="en-US" sz="2000" i="1">
                        <a:latin typeface="Cambria Math" panose="02040503050406030204" pitchFamily="18" charset="0"/>
                        <a:ea typeface="Verdana" charset="0"/>
                        <a:cs typeface="Verdana" charset="0"/>
                      </a:rPr>
                      <m:t>𝑑</m:t>
                    </m:r>
                  </m:oMath>
                </a14:m>
                <a:r>
                  <a:rPr lang="en-US" sz="2000" dirty="0">
                    <a:latin typeface="Verdana" charset="0"/>
                    <a:ea typeface="Verdana" charset="0"/>
                    <a:cs typeface="Verdana" charset="0"/>
                  </a:rPr>
                  <a:t>?</a:t>
                </a:r>
              </a:p>
              <a:p>
                <a:pPr marL="923925" indent="-454025"/>
                <a:endParaRPr lang="en-US" sz="2000" dirty="0">
                  <a:latin typeface="Verdana" charset="0"/>
                  <a:ea typeface="Verdana" charset="0"/>
                  <a:cs typeface="Verdana" charset="0"/>
                </a:endParaRP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550516" y="1386149"/>
                <a:ext cx="6810434" cy="3785652"/>
              </a:xfrm>
              <a:prstGeom prst="rect">
                <a:avLst/>
              </a:prstGeom>
              <a:blipFill>
                <a:blip r:embed="rId5"/>
                <a:stretch>
                  <a:fillRect l="-984" t="-966" r="-1968"/>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C9825640-5649-F74D-866E-EC8F188D5640}"/>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7360950" y="1125268"/>
            <a:ext cx="4267200" cy="3289300"/>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1308</TotalTime>
  <Words>1296</Words>
  <Application>Microsoft Macintosh PowerPoint</Application>
  <PresentationFormat>Widescreen</PresentationFormat>
  <Paragraphs>242</Paragraphs>
  <Slides>27</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Arial Black</vt:lpstr>
      <vt:lpstr>Calibri</vt:lpstr>
      <vt:lpstr>Cambria Math</vt:lpstr>
      <vt:lpstr>Century Gothic</vt:lpstr>
      <vt:lpstr>Courier New</vt:lpstr>
      <vt:lpstr>Verdana</vt:lpstr>
      <vt:lpstr>Wingdings</vt:lpstr>
      <vt:lpstr>1_Office Theme</vt:lpstr>
      <vt:lpstr>Geometry  Unit 7, Lesson 5  Using Trigonometric Ratios  Volume 1, pg. 393  </vt:lpstr>
      <vt:lpstr>Benchmark</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Guided Practice</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28</cp:revision>
  <dcterms:created xsi:type="dcterms:W3CDTF">2015-03-17T18:51:18Z</dcterms:created>
  <dcterms:modified xsi:type="dcterms:W3CDTF">2023-03-01T17:22:48Z</dcterms:modified>
</cp:coreProperties>
</file>