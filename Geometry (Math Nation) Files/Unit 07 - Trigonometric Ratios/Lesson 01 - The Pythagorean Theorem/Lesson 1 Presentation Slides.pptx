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14" r:id="rId8"/>
    <p:sldId id="315" r:id="rId9"/>
    <p:sldId id="332" r:id="rId10"/>
    <p:sldId id="342" r:id="rId11"/>
    <p:sldId id="343" r:id="rId12"/>
    <p:sldId id="344" r:id="rId13"/>
    <p:sldId id="346" r:id="rId14"/>
    <p:sldId id="345" r:id="rId15"/>
    <p:sldId id="349" r:id="rId16"/>
    <p:sldId id="347" r:id="rId17"/>
    <p:sldId id="350" r:id="rId18"/>
    <p:sldId id="351" r:id="rId19"/>
    <p:sldId id="352" r:id="rId20"/>
    <p:sldId id="353" r:id="rId21"/>
    <p:sldId id="302" r:id="rId22"/>
    <p:sldId id="303"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70"/>
    <p:restoredTop sz="94695"/>
  </p:normalViewPr>
  <p:slideViewPr>
    <p:cSldViewPr snapToGrid="0">
      <p:cViewPr varScale="1">
        <p:scale>
          <a:sx n="81" d="100"/>
          <a:sy n="81" d="100"/>
        </p:scale>
        <p:origin x="39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13597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208442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65186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96177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20301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51647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131906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56488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0079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657414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5087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The Pythagorean Theorem</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369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3172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83128"/>
            <a:ext cx="7509900" cy="1235034"/>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6865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486505"/>
            <a:ext cx="9620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charset="0"/>
                <a:ea typeface="Verdana" charset="0"/>
                <a:cs typeface="Verdana" charset="0"/>
              </a:rPr>
              <a:t>MA.912.T.1.1 </a:t>
            </a:r>
          </a:p>
          <a:p>
            <a:pPr marL="463550" indent="0">
              <a:buNone/>
            </a:pPr>
            <a:r>
              <a:rPr lang="en-US" sz="2800" dirty="0">
                <a:latin typeface="Verdana" charset="0"/>
                <a:ea typeface="Verdana" charset="0"/>
                <a:cs typeface="Verdana" charset="0"/>
              </a:rPr>
              <a:t>Define trigonometric ratios for acute angles in right triangles.</a:t>
            </a:r>
          </a:p>
          <a:p>
            <a:pPr marL="95250" indent="0">
              <a:buNone/>
            </a:pPr>
            <a:r>
              <a:rPr lang="en-US" sz="2800" dirty="0">
                <a:latin typeface="Verdana" charset="0"/>
                <a:ea typeface="Verdana" charset="0"/>
                <a:cs typeface="Verdana" charset="0"/>
              </a:rPr>
              <a:t> </a:t>
            </a:r>
          </a:p>
          <a:p>
            <a:pPr marL="95250" indent="0">
              <a:buNone/>
            </a:pPr>
            <a:r>
              <a:rPr lang="en-US" sz="2800" dirty="0">
                <a:latin typeface="Verdana" charset="0"/>
                <a:ea typeface="Verdana" charset="0"/>
                <a:cs typeface="Verdana" charset="0"/>
              </a:rPr>
              <a:t>MA.912.T.1.2 </a:t>
            </a:r>
          </a:p>
          <a:p>
            <a:pPr marL="463550" indent="0">
              <a:buNone/>
            </a:pPr>
            <a:r>
              <a:rPr lang="en-US" sz="2800" dirty="0">
                <a:latin typeface="Verdana" charset="0"/>
                <a:ea typeface="Verdana" charset="0"/>
                <a:cs typeface="Verdana" charset="0"/>
              </a:rPr>
              <a:t>Solve mathematical and real-world problems involving right triangles using trigonometric ratios and the Pythagorean Theorem.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7" y="365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2047"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6696" y="129667"/>
            <a:ext cx="96022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8427"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369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9347" y="1437894"/>
            <a:ext cx="967961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9" name="Google Shape;283;g104476d1465_1_17">
            <a:extLst>
              <a:ext uri="{FF2B5EF4-FFF2-40B4-BE49-F238E27FC236}">
                <a16:creationId xmlns:a16="http://schemas.microsoft.com/office/drawing/2014/main" id="{26DE3F80-AED5-F3FA-A07E-F683E9B6D458}"/>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70643"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288481"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402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369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0643" y="1326150"/>
            <a:ext cx="95815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charset="2"/>
              <a:buChar char="q"/>
            </a:pPr>
            <a:r>
              <a:rPr lang="en-US" sz="3200" dirty="0">
                <a:latin typeface="Verdana" charset="0"/>
                <a:ea typeface="Verdana" charset="0"/>
                <a:cs typeface="Verdana" charset="0"/>
              </a:rPr>
              <a:t>I can find the missing side of a right triangle using the Pythagorean Theorem.</a:t>
            </a:r>
          </a:p>
        </p:txBody>
      </p:sp>
      <p:pic>
        <p:nvPicPr>
          <p:cNvPr id="8" name="Google Shape;283;g104476d1465_1_17">
            <a:extLst>
              <a:ext uri="{FF2B5EF4-FFF2-40B4-BE49-F238E27FC236}">
                <a16:creationId xmlns:a16="http://schemas.microsoft.com/office/drawing/2014/main" id="{40FFCCA1-85D0-D9F4-A9E1-C82D6EAE36B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369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7234" y="68550"/>
            <a:ext cx="99205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7.1.1 Warm-Up: Sales Strategist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16558" y="35775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369</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843148" y="1394250"/>
                <a:ext cx="10284031" cy="4524315"/>
              </a:xfrm>
              <a:prstGeom prst="rect">
                <a:avLst/>
              </a:prstGeom>
              <a:noFill/>
            </p:spPr>
            <p:txBody>
              <a:bodyPr wrap="square" rtlCol="0">
                <a:spAutoFit/>
              </a:bodyPr>
              <a:lstStyle/>
              <a:p>
                <a:r>
                  <a:rPr lang="en-US" sz="2400" dirty="0" err="1">
                    <a:latin typeface="Verdana" charset="0"/>
                    <a:ea typeface="Verdana" charset="0"/>
                    <a:cs typeface="Verdana" charset="0"/>
                  </a:rPr>
                  <a:t>Kishan</a:t>
                </a:r>
                <a:r>
                  <a:rPr lang="en-US" sz="2400" dirty="0">
                    <a:latin typeface="Verdana" charset="0"/>
                    <a:ea typeface="Verdana" charset="0"/>
                    <a:cs typeface="Verdana" charset="0"/>
                  </a:rPr>
                  <a:t> Patel says that he was never really a good student in high school. He graduated with a </a:t>
                </a:r>
                <a14:m>
                  <m:oMath xmlns:m="http://schemas.openxmlformats.org/officeDocument/2006/math">
                    <m:r>
                      <a:rPr lang="en-US" sz="2400" i="1">
                        <a:latin typeface="Cambria Math" charset="0"/>
                        <a:ea typeface="Verdana" charset="0"/>
                        <a:cs typeface="Verdana" charset="0"/>
                      </a:rPr>
                      <m:t>2.9</m:t>
                    </m:r>
                  </m:oMath>
                </a14:m>
                <a:r>
                  <a:rPr lang="en-US" sz="2400" dirty="0">
                    <a:latin typeface="Verdana" charset="0"/>
                    <a:ea typeface="Verdana" charset="0"/>
                    <a:cs typeface="Verdana" charset="0"/>
                  </a:rPr>
                  <a:t> GPA. All of those challenges prepared him for business. Business is about failing and doing better. Every time you fail, you have to improve in some way to get to the next level.  </a:t>
                </a:r>
              </a:p>
              <a:p>
                <a:r>
                  <a:rPr lang="en-US" sz="2400" dirty="0">
                    <a:latin typeface="Verdana" charset="0"/>
                    <a:ea typeface="Verdana" charset="0"/>
                    <a:cs typeface="Verdana" charset="0"/>
                  </a:rPr>
                  <a:t> </a:t>
                </a:r>
              </a:p>
              <a:p>
                <a:pPr marL="457200" indent="-457200">
                  <a:buFont typeface="+mj-lt"/>
                  <a:buAutoNum type="arabicPeriod"/>
                </a:pPr>
                <a:r>
                  <a:rPr lang="en-US" sz="2400" dirty="0">
                    <a:latin typeface="Verdana" charset="0"/>
                    <a:ea typeface="Verdana" charset="0"/>
                    <a:cs typeface="Verdana" charset="0"/>
                  </a:rPr>
                  <a:t>Based on the statement above, how do you think </a:t>
                </a:r>
                <a:r>
                  <a:rPr lang="en-US" sz="2400" dirty="0" err="1">
                    <a:latin typeface="Verdana" charset="0"/>
                    <a:ea typeface="Verdana" charset="0"/>
                    <a:cs typeface="Verdana" charset="0"/>
                  </a:rPr>
                  <a:t>Kishan</a:t>
                </a:r>
                <a:r>
                  <a:rPr lang="en-US" sz="2400" dirty="0">
                    <a:latin typeface="Verdana" charset="0"/>
                    <a:ea typeface="Verdana" charset="0"/>
                    <a:cs typeface="Verdana" charset="0"/>
                  </a:rPr>
                  <a:t> views failure? </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When you fail at something, describe how you typically react.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43148" y="1394250"/>
                <a:ext cx="10284031" cy="4524315"/>
              </a:xfrm>
              <a:prstGeom prst="rect">
                <a:avLst/>
              </a:prstGeom>
              <a:blipFill>
                <a:blip r:embed="rId5"/>
                <a:stretch>
                  <a:fillRect l="-889" t="-1078" r="-1778" b="-2156"/>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F1992A8F-F621-054D-B71E-96605FF7377D}"/>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753"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7234" y="68550"/>
            <a:ext cx="108424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7.1.2 Collaboration: Pythagorean Theorem</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527"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05313" y="274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884924" y="1394250"/>
            <a:ext cx="10266006" cy="461665"/>
          </a:xfrm>
          <a:prstGeom prst="rect">
            <a:avLst/>
          </a:prstGeom>
          <a:noFill/>
        </p:spPr>
        <p:txBody>
          <a:bodyPr wrap="square" rtlCol="0">
            <a:spAutoFit/>
          </a:bodyPr>
          <a:lstStyle/>
          <a:p>
            <a:r>
              <a:rPr lang="en-US" sz="2400" dirty="0">
                <a:latin typeface="Verdana" charset="0"/>
                <a:ea typeface="Verdana" charset="0"/>
                <a:cs typeface="Verdana" charset="0"/>
              </a:rPr>
              <a:t>A right triangle is shown with three squares.</a:t>
            </a:r>
          </a:p>
        </p:txBody>
      </p:sp>
      <p:sp>
        <p:nvSpPr>
          <p:cNvPr id="11" name="Google Shape;278;g104476d1465_1_17">
            <a:extLst>
              <a:ext uri="{FF2B5EF4-FFF2-40B4-BE49-F238E27FC236}">
                <a16:creationId xmlns:a16="http://schemas.microsoft.com/office/drawing/2014/main" id="{50C37AA2-8B34-A044-9CF0-D6F9EE428461}"/>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51180" y="2009724"/>
            <a:ext cx="7239000" cy="4191000"/>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8" y="520393"/>
            <a:ext cx="10331533" cy="830997"/>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The three squares from the diagram are shown. Complete the table with the area of each square.</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365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861051" y="1645877"/>
            <a:ext cx="5600700" cy="2197100"/>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652313190"/>
                  </p:ext>
                </p:extLst>
              </p:nvPr>
            </p:nvGraphicFramePr>
            <p:xfrm>
              <a:off x="1804498" y="4260575"/>
              <a:ext cx="5713807" cy="2032000"/>
            </p:xfrm>
            <a:graphic>
              <a:graphicData uri="http://schemas.openxmlformats.org/drawingml/2006/table">
                <a:tbl>
                  <a:tblPr/>
                  <a:tblGrid>
                    <a:gridCol w="2529299">
                      <a:extLst>
                        <a:ext uri="{9D8B030D-6E8A-4147-A177-3AD203B41FA5}">
                          <a16:colId xmlns:a16="http://schemas.microsoft.com/office/drawing/2014/main" val="20000"/>
                        </a:ext>
                      </a:extLst>
                    </a:gridCol>
                    <a:gridCol w="3184508">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Side Length</a:t>
                          </a:r>
                          <a:endParaRPr lang="en-US" sz="2000" dirty="0">
                            <a:effectLst/>
                            <a:latin typeface="Verdana" charset="0"/>
                            <a:ea typeface="Verdana" charset="0"/>
                            <a:cs typeface="Verdana" charset="0"/>
                          </a:endParaRPr>
                        </a:p>
                        <a:p>
                          <a:pPr marL="0" marR="0" algn="ctr">
                            <a:spcBef>
                              <a:spcPts val="0"/>
                            </a:spcBef>
                            <a:spcAft>
                              <a:spcPts val="0"/>
                            </a:spcAft>
                          </a:pPr>
                          <a:r>
                            <a:rPr lang="en-US" sz="2000" b="1" dirty="0">
                              <a:effectLst/>
                              <a:latin typeface="Verdana" charset="0"/>
                              <a:ea typeface="Verdana" charset="0"/>
                              <a:cs typeface="Verdana" charset="0"/>
                            </a:rPr>
                            <a:t>(units)</a:t>
                          </a:r>
                          <a:endParaRPr lang="en-US" sz="2000" dirty="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Area of Square</a:t>
                          </a:r>
                          <a:endParaRPr lang="en-US" sz="2000" dirty="0">
                            <a:effectLst/>
                            <a:latin typeface="Verdana" charset="0"/>
                            <a:ea typeface="Verdana" charset="0"/>
                            <a:cs typeface="Verdana" charset="0"/>
                          </a:endParaRPr>
                        </a:p>
                        <a:p>
                          <a:pPr marL="0" marR="0" algn="ctr">
                            <a:spcBef>
                              <a:spcPts val="0"/>
                            </a:spcBef>
                            <a:spcAft>
                              <a:spcPts val="0"/>
                            </a:spcAft>
                          </a:pPr>
                          <a:r>
                            <a:rPr lang="en-US" sz="2000" b="1" dirty="0">
                              <a:effectLst/>
                              <a:latin typeface="Verdana" charset="0"/>
                              <a:ea typeface="Verdana" charset="0"/>
                              <a:cs typeface="Verdana" charset="0"/>
                            </a:rPr>
                            <a:t>(square units)</a:t>
                          </a:r>
                          <a:endParaRPr lang="en-US" sz="2000" dirty="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3</m:t>
                                </m:r>
                              </m:oMath>
                            </m:oMathPara>
                          </a14:m>
                          <a:endParaRPr lang="en-US" sz="200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m:t>
                                </m:r>
                              </m:oMath>
                            </m:oMathPara>
                          </a14:m>
                          <a:endParaRPr lang="en-US" sz="2000" dirty="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5</m:t>
                                </m:r>
                              </m:oMath>
                            </m:oMathPara>
                          </a14:m>
                          <a:endParaRPr lang="en-US" sz="200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652313190"/>
                  </p:ext>
                </p:extLst>
              </p:nvPr>
            </p:nvGraphicFramePr>
            <p:xfrm>
              <a:off x="1804498" y="4260575"/>
              <a:ext cx="5713807" cy="2032000"/>
            </p:xfrm>
            <a:graphic>
              <a:graphicData uri="http://schemas.openxmlformats.org/drawingml/2006/table">
                <a:tbl>
                  <a:tblPr/>
                  <a:tblGrid>
                    <a:gridCol w="2529299">
                      <a:extLst>
                        <a:ext uri="{9D8B030D-6E8A-4147-A177-3AD203B41FA5}">
                          <a16:colId xmlns:a16="http://schemas.microsoft.com/office/drawing/2014/main" val="20000"/>
                        </a:ext>
                      </a:extLst>
                    </a:gridCol>
                    <a:gridCol w="3184508">
                      <a:extLst>
                        <a:ext uri="{9D8B030D-6E8A-4147-A177-3AD203B41FA5}">
                          <a16:colId xmlns:a16="http://schemas.microsoft.com/office/drawing/2014/main" val="20001"/>
                        </a:ext>
                      </a:extLst>
                    </a:gridCol>
                  </a:tblGrid>
                  <a:tr h="736600">
                    <a:tc>
                      <a:txBody>
                        <a:bodyPr/>
                        <a:lstStyle/>
                        <a:p>
                          <a:pPr marL="0" marR="0" algn="ctr">
                            <a:spcBef>
                              <a:spcPts val="0"/>
                            </a:spcBef>
                            <a:spcAft>
                              <a:spcPts val="0"/>
                            </a:spcAft>
                          </a:pPr>
                          <a:r>
                            <a:rPr lang="en-US" sz="2000" b="1">
                              <a:effectLst/>
                              <a:latin typeface="Verdana" charset="0"/>
                              <a:ea typeface="Verdana" charset="0"/>
                              <a:cs typeface="Verdana" charset="0"/>
                            </a:rPr>
                            <a:t>Side Length</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(units)</a:t>
                          </a:r>
                          <a:endParaRPr lang="en-US" sz="200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Area of Square</a:t>
                          </a:r>
                          <a:endParaRPr lang="en-US" sz="2000" dirty="0">
                            <a:effectLst/>
                            <a:latin typeface="Verdana" charset="0"/>
                            <a:ea typeface="Verdana" charset="0"/>
                            <a:cs typeface="Verdana" charset="0"/>
                          </a:endParaRPr>
                        </a:p>
                        <a:p>
                          <a:pPr marL="0" marR="0" algn="ctr">
                            <a:spcBef>
                              <a:spcPts val="0"/>
                            </a:spcBef>
                            <a:spcAft>
                              <a:spcPts val="0"/>
                            </a:spcAft>
                          </a:pPr>
                          <a:r>
                            <a:rPr lang="en-US" sz="2000" b="1" dirty="0">
                              <a:effectLst/>
                              <a:latin typeface="Verdana" charset="0"/>
                              <a:ea typeface="Verdana" charset="0"/>
                              <a:cs typeface="Verdana" charset="0"/>
                            </a:rPr>
                            <a:t>(square units)</a:t>
                          </a:r>
                          <a:endParaRPr lang="en-US" sz="2000" dirty="0">
                            <a:effectLst/>
                            <a:latin typeface="Verdana" charset="0"/>
                            <a:ea typeface="Verdana" charset="0"/>
                            <a:cs typeface="Verdana" charset="0"/>
                          </a:endParaRP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31800">
                    <a:tc>
                      <a:txBody>
                        <a:bodyPr/>
                        <a:lstStyle/>
                        <a:p>
                          <a:endParaRPr lang="en-US"/>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82" t="-170833" r="-126506" b="-20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1800">
                    <a:tc>
                      <a:txBody>
                        <a:bodyPr/>
                        <a:lstStyle/>
                        <a:p>
                          <a:endParaRPr lang="en-US"/>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82" t="-274648" r="-126506" b="-102817"/>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1800">
                    <a:tc>
                      <a:txBody>
                        <a:bodyPr/>
                        <a:lstStyle/>
                        <a:p>
                          <a:endParaRPr lang="en-US"/>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82" t="-374648" r="-126506" b="-2817"/>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3500" marR="63500" marT="63500" marB="635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pic>
        <p:nvPicPr>
          <p:cNvPr id="8" name="Google Shape;283;g104476d1465_1_17">
            <a:extLst>
              <a:ext uri="{FF2B5EF4-FFF2-40B4-BE49-F238E27FC236}">
                <a16:creationId xmlns:a16="http://schemas.microsoft.com/office/drawing/2014/main" id="{6EFD4162-6938-FF69-1D9D-498CCA34794D}"/>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7753"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3956211-09E6-4A59-9578-6D114DEF8219}"/>
              </a:ext>
            </a:extLst>
          </p:cNvPr>
          <p:cNvSpPr txBox="1"/>
          <p:nvPr/>
        </p:nvSpPr>
        <p:spPr>
          <a:xfrm>
            <a:off x="8889527"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370</a:t>
            </a:r>
          </a:p>
        </p:txBody>
      </p:sp>
    </p:spTree>
    <p:extLst>
      <p:ext uri="{BB962C8B-B14F-4D97-AF65-F5344CB8AC3E}">
        <p14:creationId xmlns:p14="http://schemas.microsoft.com/office/powerpoint/2010/main" val="3134841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02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370</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4" name="Rectangle 3"/>
          <p:cNvSpPr/>
          <p:nvPr/>
        </p:nvSpPr>
        <p:spPr>
          <a:xfrm>
            <a:off x="866899" y="494559"/>
            <a:ext cx="10248405" cy="4683333"/>
          </a:xfrm>
          <a:prstGeom prst="rect">
            <a:avLst/>
          </a:prstGeom>
        </p:spPr>
        <p:txBody>
          <a:bodyPr wrap="square">
            <a:spAutoFit/>
          </a:bodyPr>
          <a:lstStyle/>
          <a:p>
            <a:pPr marL="342900" indent="-342900">
              <a:spcAft>
                <a:spcPts val="1000"/>
              </a:spcAft>
              <a:buFont typeface="+mj-lt"/>
              <a:buAutoNum type="arabicPeriod" startAt="2"/>
            </a:pPr>
            <a:r>
              <a:rPr lang="en-US" sz="2400" dirty="0">
                <a:latin typeface="Verdana" charset="0"/>
                <a:ea typeface="Verdana" charset="0"/>
                <a:cs typeface="Verdana" charset="0"/>
              </a:rPr>
              <a:t>Explain how the diagram shows that the area of the green square plus the area of the red square is equal to the area of the orange square.</a:t>
            </a:r>
          </a:p>
          <a:p>
            <a:pPr marL="342900" indent="-342900">
              <a:spcAft>
                <a:spcPts val="1000"/>
              </a:spcAft>
              <a:buFont typeface="+mj-lt"/>
              <a:buAutoNum type="arabicPeriod" startAt="2"/>
            </a:pPr>
            <a:endParaRPr lang="en-US" sz="2400" dirty="0">
              <a:latin typeface="Verdana" charset="0"/>
              <a:ea typeface="Verdana" charset="0"/>
              <a:cs typeface="Verdana" charset="0"/>
            </a:endParaRPr>
          </a:p>
          <a:p>
            <a:pPr marL="342900" indent="-342900">
              <a:spcAft>
                <a:spcPts val="1000"/>
              </a:spcAft>
              <a:buFont typeface="+mj-lt"/>
              <a:buAutoNum type="arabicPeriod" startAt="2"/>
            </a:pPr>
            <a:endParaRPr lang="en-US" sz="2400" dirty="0">
              <a:latin typeface="Verdana" charset="0"/>
              <a:ea typeface="Verdana" charset="0"/>
              <a:cs typeface="Verdana" charset="0"/>
            </a:endParaRPr>
          </a:p>
          <a:p>
            <a:pPr marL="342900" indent="-342900">
              <a:spcAft>
                <a:spcPts val="1000"/>
              </a:spcAft>
              <a:buFont typeface="+mj-lt"/>
              <a:buAutoNum type="arabicPeriod" startAt="2"/>
            </a:pPr>
            <a:endParaRPr lang="en-US" sz="2400" dirty="0">
              <a:latin typeface="Verdana" charset="0"/>
              <a:ea typeface="Verdana" charset="0"/>
              <a:cs typeface="Verdana" charset="0"/>
            </a:endParaRPr>
          </a:p>
          <a:p>
            <a:pPr marL="342900" indent="-342900">
              <a:spcAft>
                <a:spcPts val="1000"/>
              </a:spcAft>
              <a:buFont typeface="+mj-lt"/>
              <a:buAutoNum type="arabicPeriod" startAt="2"/>
            </a:pPr>
            <a:endParaRPr lang="en-US" sz="2400" dirty="0">
              <a:latin typeface="Verdana" charset="0"/>
              <a:ea typeface="Verdana" charset="0"/>
              <a:cs typeface="Verdana" charset="0"/>
            </a:endParaRPr>
          </a:p>
          <a:p>
            <a:pPr marL="342900" indent="-342900">
              <a:spcAft>
                <a:spcPts val="1000"/>
              </a:spcAft>
              <a:buFont typeface="+mj-lt"/>
              <a:buAutoNum type="arabicPeriod" startAt="2"/>
            </a:pPr>
            <a:endParaRPr lang="en-US" sz="2400" dirty="0">
              <a:latin typeface="Verdana" charset="0"/>
              <a:ea typeface="Verdana" charset="0"/>
              <a:cs typeface="Verdana" charset="0"/>
            </a:endParaRPr>
          </a:p>
          <a:p>
            <a:pPr marL="342900" indent="-342900">
              <a:spcAft>
                <a:spcPts val="1000"/>
              </a:spcAft>
              <a:buFont typeface="+mj-lt"/>
              <a:buAutoNum type="arabicPeriod" startAt="2"/>
            </a:pPr>
            <a:r>
              <a:rPr lang="en-US" sz="2400" dirty="0">
                <a:latin typeface="Verdana" charset="0"/>
                <a:ea typeface="Verdana" charset="0"/>
                <a:cs typeface="Verdana" charset="0"/>
              </a:rPr>
              <a:t>Complete the relationship of the areas by filling in the box. </a:t>
            </a:r>
          </a:p>
          <a:p>
            <a:pPr marL="342900" indent="-342900">
              <a:spcAft>
                <a:spcPts val="1000"/>
              </a:spcAft>
              <a:buFont typeface="+mj-lt"/>
              <a:buAutoNum type="arabicPeriod" startAt="2"/>
            </a:pPr>
            <a:endParaRPr lang="en-US" sz="2400" dirty="0">
              <a:latin typeface="Verdana" charset="0"/>
              <a:ea typeface="Verdana" charset="0"/>
              <a:cs typeface="Verdana"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638575" y="1820225"/>
            <a:ext cx="1993900" cy="20320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238525" y="4870115"/>
            <a:ext cx="2794000" cy="774700"/>
          </a:xfrm>
          <a:prstGeom prst="rect">
            <a:avLst/>
          </a:prstGeom>
        </p:spPr>
      </p:pic>
      <p:pic>
        <p:nvPicPr>
          <p:cNvPr id="8" name="Google Shape;283;g104476d1465_1_17">
            <a:extLst>
              <a:ext uri="{FF2B5EF4-FFF2-40B4-BE49-F238E27FC236}">
                <a16:creationId xmlns:a16="http://schemas.microsoft.com/office/drawing/2014/main" id="{A9B66016-690F-7991-829B-55D501FA2895}"/>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775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856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370</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263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2" name="Rectangle 1"/>
              <p:cNvSpPr/>
              <p:nvPr/>
            </p:nvSpPr>
            <p:spPr>
              <a:xfrm>
                <a:off x="866899" y="490645"/>
                <a:ext cx="10272156" cy="830997"/>
              </a:xfrm>
              <a:prstGeom prst="rect">
                <a:avLst/>
              </a:prstGeom>
            </p:spPr>
            <p:txBody>
              <a:bodyPr wrap="square">
                <a:spAutoFit/>
              </a:bodyPr>
              <a:lstStyle/>
              <a:p>
                <a:pPr marL="457200" indent="-457200">
                  <a:spcAft>
                    <a:spcPts val="1000"/>
                  </a:spcAft>
                  <a:buFont typeface="+mj-lt"/>
                  <a:buAutoNum type="arabicPeriod" startAt="4"/>
                </a:pPr>
                <a:r>
                  <a:rPr lang="en-US" sz="2400" dirty="0">
                    <a:latin typeface="Verdana" charset="0"/>
                    <a:ea typeface="Verdana" charset="0"/>
                    <a:cs typeface="Verdana" charset="0"/>
                  </a:rPr>
                  <a:t>Use the diagram to write an explanation of the Pythagorean Theorem, </a:t>
                </a:r>
                <a14:m>
                  <m:oMath xmlns:m="http://schemas.openxmlformats.org/officeDocument/2006/math">
                    <m:sSup>
                      <m:sSupPr>
                        <m:ctrlPr>
                          <a:rPr lang="en-US" sz="2400" i="1">
                            <a:latin typeface="Cambria Math" panose="02040503050406030204" pitchFamily="18" charset="0"/>
                            <a:ea typeface="Verdana" charset="0"/>
                            <a:cs typeface="Verdana" charset="0"/>
                          </a:rPr>
                        </m:ctrlPr>
                      </m:sSupPr>
                      <m:e>
                        <m:r>
                          <a:rPr lang="en-US" sz="2400" i="1">
                            <a:latin typeface="Cambria Math" charset="0"/>
                            <a:ea typeface="Verdana" charset="0"/>
                            <a:cs typeface="Verdana" charset="0"/>
                          </a:rPr>
                          <m:t>𝑎</m:t>
                        </m:r>
                      </m:e>
                      <m:sup>
                        <m:r>
                          <a:rPr lang="en-US" sz="2400" i="1">
                            <a:latin typeface="Cambria Math" charset="0"/>
                            <a:ea typeface="Verdana" charset="0"/>
                            <a:cs typeface="Verdana" charset="0"/>
                          </a:rPr>
                          <m:t>2</m:t>
                        </m:r>
                      </m:sup>
                    </m:sSup>
                    <m:r>
                      <a:rPr lang="en-US" sz="2400" i="1">
                        <a:latin typeface="Cambria Math" charset="0"/>
                        <a:ea typeface="Verdana" charset="0"/>
                        <a:cs typeface="Verdana" charset="0"/>
                      </a:rPr>
                      <m:t>+</m:t>
                    </m:r>
                    <m:sSup>
                      <m:sSupPr>
                        <m:ctrlPr>
                          <a:rPr lang="en-US" sz="2400" i="1">
                            <a:latin typeface="Cambria Math" panose="02040503050406030204" pitchFamily="18" charset="0"/>
                            <a:ea typeface="Verdana" charset="0"/>
                            <a:cs typeface="Verdana" charset="0"/>
                          </a:rPr>
                        </m:ctrlPr>
                      </m:sSupPr>
                      <m:e>
                        <m:r>
                          <a:rPr lang="en-US" sz="2400" i="1">
                            <a:latin typeface="Cambria Math" charset="0"/>
                            <a:ea typeface="Verdana" charset="0"/>
                            <a:cs typeface="Verdana" charset="0"/>
                          </a:rPr>
                          <m:t>𝑏</m:t>
                        </m:r>
                      </m:e>
                      <m:sup>
                        <m:r>
                          <a:rPr lang="en-US" sz="2400" i="1">
                            <a:latin typeface="Cambria Math" charset="0"/>
                            <a:ea typeface="Verdana" charset="0"/>
                            <a:cs typeface="Verdana" charset="0"/>
                          </a:rPr>
                          <m:t>2</m:t>
                        </m:r>
                      </m:sup>
                    </m:sSup>
                    <m:r>
                      <a:rPr lang="en-US" sz="2400" i="1">
                        <a:latin typeface="Cambria Math" charset="0"/>
                        <a:ea typeface="Verdana" charset="0"/>
                        <a:cs typeface="Verdana" charset="0"/>
                      </a:rPr>
                      <m:t>=</m:t>
                    </m:r>
                    <m:sSup>
                      <m:sSupPr>
                        <m:ctrlPr>
                          <a:rPr lang="en-US" sz="2400" i="1">
                            <a:latin typeface="Cambria Math" panose="02040503050406030204" pitchFamily="18" charset="0"/>
                            <a:ea typeface="Verdana" charset="0"/>
                            <a:cs typeface="Verdana" charset="0"/>
                          </a:rPr>
                        </m:ctrlPr>
                      </m:sSupPr>
                      <m:e>
                        <m:r>
                          <a:rPr lang="en-US" sz="2400" i="1">
                            <a:latin typeface="Cambria Math" charset="0"/>
                            <a:ea typeface="Verdana" charset="0"/>
                            <a:cs typeface="Verdana" charset="0"/>
                          </a:rPr>
                          <m:t>𝑐</m:t>
                        </m:r>
                      </m:e>
                      <m:sup>
                        <m:r>
                          <a:rPr lang="en-US" sz="2400" i="1">
                            <a:latin typeface="Cambria Math" charset="0"/>
                            <a:ea typeface="Verdana" charset="0"/>
                            <a:cs typeface="Verdana" charset="0"/>
                          </a:rPr>
                          <m:t>2</m:t>
                        </m:r>
                      </m:sup>
                    </m:sSup>
                  </m:oMath>
                </a14:m>
                <a:r>
                  <a:rPr lang="en-US" sz="2400" dirty="0">
                    <a:latin typeface="Verdana" charset="0"/>
                    <a:ea typeface="Verdana" charset="0"/>
                    <a:cs typeface="Verdana" charset="0"/>
                  </a:rPr>
                  <a:t>.</a:t>
                </a:r>
              </a:p>
            </p:txBody>
          </p:sp>
        </mc:Choice>
        <mc:Fallback xmlns="">
          <p:sp>
            <p:nvSpPr>
              <p:cNvPr id="2" name="Rectangle 1"/>
              <p:cNvSpPr>
                <a:spLocks noRot="1" noChangeAspect="1" noMove="1" noResize="1" noEditPoints="1" noAdjustHandles="1" noChangeArrowheads="1" noChangeShapeType="1" noTextEdit="1"/>
              </p:cNvSpPr>
              <p:nvPr/>
            </p:nvSpPr>
            <p:spPr>
              <a:xfrm>
                <a:off x="866899" y="490645"/>
                <a:ext cx="10272156" cy="830997"/>
              </a:xfrm>
              <a:prstGeom prst="rect">
                <a:avLst/>
              </a:prstGeom>
              <a:blipFill>
                <a:blip r:embed="rId4"/>
                <a:stretch>
                  <a:fillRect l="-890" t="-5839" b="-14599"/>
                </a:stretch>
              </a:blipFill>
            </p:spPr>
            <p:txBody>
              <a:bodyPr/>
              <a:lstStyle/>
              <a:p>
                <a:r>
                  <a:rPr lang="en-US">
                    <a:noFill/>
                  </a:rPr>
                  <a:t> </a:t>
                </a:r>
              </a:p>
            </p:txBody>
          </p:sp>
        </mc:Fallback>
      </mc:AlternateContent>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979722" y="1336104"/>
            <a:ext cx="3288343" cy="3841670"/>
          </a:xfrm>
          <a:prstGeom prst="rect">
            <a:avLst/>
          </a:prstGeom>
        </p:spPr>
      </p:pic>
    </p:spTree>
    <p:extLst>
      <p:ext uri="{BB962C8B-B14F-4D97-AF65-F5344CB8AC3E}">
        <p14:creationId xmlns:p14="http://schemas.microsoft.com/office/powerpoint/2010/main" val="289989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371</a:t>
            </a:r>
          </a:p>
        </p:txBody>
      </p:sp>
      <p:sp>
        <p:nvSpPr>
          <p:cNvPr id="2" name="Rectangle 1"/>
          <p:cNvSpPr/>
          <p:nvPr/>
        </p:nvSpPr>
        <p:spPr>
          <a:xfrm>
            <a:off x="855023" y="440518"/>
            <a:ext cx="10284032" cy="830997"/>
          </a:xfrm>
          <a:prstGeom prst="rect">
            <a:avLst/>
          </a:prstGeom>
        </p:spPr>
        <p:txBody>
          <a:bodyPr wrap="square">
            <a:spAutoFit/>
          </a:bodyPr>
          <a:lstStyle/>
          <a:p>
            <a:pPr marL="457200" indent="-457200">
              <a:spcAft>
                <a:spcPts val="1000"/>
              </a:spcAft>
              <a:buFont typeface="+mj-lt"/>
              <a:buAutoNum type="arabicPeriod" startAt="5"/>
            </a:pPr>
            <a:r>
              <a:rPr lang="en-US" sz="2400" dirty="0">
                <a:latin typeface="Verdana" charset="0"/>
                <a:ea typeface="Verdana" charset="0"/>
                <a:cs typeface="Verdana" charset="0"/>
              </a:rPr>
              <a:t>Iverson and Jake are at the beach and plan to meet a friend for lunch.</a:t>
            </a:r>
          </a:p>
        </p:txBody>
      </p:sp>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28537" y="1590105"/>
            <a:ext cx="6256050" cy="3400501"/>
          </a:xfrm>
          <a:prstGeom prst="rect">
            <a:avLst/>
          </a:prstGeom>
        </p:spPr>
      </p:pic>
      <p:sp>
        <p:nvSpPr>
          <p:cNvPr id="7" name="Google Shape;278;g104476d1465_1_17">
            <a:extLst>
              <a:ext uri="{FF2B5EF4-FFF2-40B4-BE49-F238E27FC236}">
                <a16:creationId xmlns:a16="http://schemas.microsoft.com/office/drawing/2014/main" id="{9F5DF0C1-AB4F-192E-59D9-584C200039A4}"/>
              </a:ext>
            </a:extLst>
          </p:cNvPr>
          <p:cNvSpPr/>
          <p:nvPr/>
        </p:nvSpPr>
        <p:spPr>
          <a:xfrm>
            <a:off x="0" y="-263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641449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2" name="Rectangle 1"/>
              <p:cNvSpPr/>
              <p:nvPr/>
            </p:nvSpPr>
            <p:spPr>
              <a:xfrm>
                <a:off x="843148" y="543744"/>
                <a:ext cx="10295907" cy="1569660"/>
              </a:xfrm>
              <a:prstGeom prst="rect">
                <a:avLst/>
              </a:prstGeom>
            </p:spPr>
            <p:txBody>
              <a:bodyPr wrap="square">
                <a:spAutoFit/>
              </a:bodyPr>
              <a:lstStyle/>
              <a:p>
                <a:pPr marL="465138">
                  <a:spcAft>
                    <a:spcPts val="1000"/>
                  </a:spcAft>
                </a:pPr>
                <a:r>
                  <a:rPr lang="en-US" sz="2400" dirty="0">
                    <a:latin typeface="Verdana" charset="0"/>
                    <a:ea typeface="Verdana" charset="0"/>
                    <a:cs typeface="Verdana" charset="0"/>
                  </a:rPr>
                  <a:t>Iverson decided to walk directly to the restaurant, while Jake decides to take a route that will allow him to cross the street using the crosswalk. The diagram shows the two routes. Jake walks horizontally </a:t>
                </a:r>
                <a14:m>
                  <m:oMath xmlns:m="http://schemas.openxmlformats.org/officeDocument/2006/math">
                    <m:r>
                      <a:rPr lang="en-US" sz="2400" i="1">
                        <a:latin typeface="Cambria Math" charset="0"/>
                        <a:ea typeface="Verdana" charset="0"/>
                        <a:cs typeface="Verdana" charset="0"/>
                      </a:rPr>
                      <m:t>252</m:t>
                    </m:r>
                  </m:oMath>
                </a14:m>
                <a:r>
                  <a:rPr lang="en-US" sz="2400" dirty="0">
                    <a:latin typeface="Verdana" charset="0"/>
                    <a:ea typeface="Verdana" charset="0"/>
                    <a:cs typeface="Verdana" charset="0"/>
                  </a:rPr>
                  <a:t> meters (m) and then vertically </a:t>
                </a:r>
                <a14:m>
                  <m:oMath xmlns:m="http://schemas.openxmlformats.org/officeDocument/2006/math">
                    <m:r>
                      <a:rPr lang="en-US" sz="2400" i="1">
                        <a:latin typeface="Cambria Math" charset="0"/>
                        <a:ea typeface="Verdana" charset="0"/>
                        <a:cs typeface="Verdana" charset="0"/>
                      </a:rPr>
                      <m:t>115</m:t>
                    </m:r>
                  </m:oMath>
                </a14:m>
                <a:r>
                  <a:rPr lang="en-US" sz="2400" dirty="0">
                    <a:latin typeface="Verdana" charset="0"/>
                    <a:ea typeface="Verdana" charset="0"/>
                    <a:cs typeface="Verdana" charset="0"/>
                  </a:rPr>
                  <a:t> m.</a:t>
                </a:r>
              </a:p>
            </p:txBody>
          </p:sp>
        </mc:Choice>
        <mc:Fallback xmlns="">
          <p:sp>
            <p:nvSpPr>
              <p:cNvPr id="2" name="Rectangle 1"/>
              <p:cNvSpPr>
                <a:spLocks noRot="1" noChangeAspect="1" noMove="1" noResize="1" noEditPoints="1" noAdjustHandles="1" noChangeArrowheads="1" noChangeShapeType="1" noTextEdit="1"/>
              </p:cNvSpPr>
              <p:nvPr/>
            </p:nvSpPr>
            <p:spPr>
              <a:xfrm>
                <a:off x="843148" y="543744"/>
                <a:ext cx="10295907" cy="1569660"/>
              </a:xfrm>
              <a:prstGeom prst="rect">
                <a:avLst/>
              </a:prstGeom>
              <a:blipFill>
                <a:blip r:embed="rId3"/>
                <a:stretch>
                  <a:fillRect t="-3101" r="-237" b="-7364"/>
                </a:stretch>
              </a:blipFill>
            </p:spPr>
            <p:txBody>
              <a:bodyPr/>
              <a:lstStyle/>
              <a:p>
                <a:r>
                  <a:rPr lang="en-US">
                    <a:noFill/>
                  </a:rPr>
                  <a:t> </a:t>
                </a:r>
              </a:p>
            </p:txBody>
          </p:sp>
        </mc:Fallback>
      </mc:AlternateContent>
      <p:pic>
        <p:nvPicPr>
          <p:cNvPr id="4" name="Picture 3"/>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14417" y="2394586"/>
            <a:ext cx="6526804" cy="3195178"/>
          </a:xfrm>
          <a:prstGeom prst="rect">
            <a:avLst/>
          </a:prstGeom>
        </p:spPr>
      </p:pic>
      <p:sp>
        <p:nvSpPr>
          <p:cNvPr id="7" name="Google Shape;282;g104476d1465_1_17">
            <a:extLst>
              <a:ext uri="{FF2B5EF4-FFF2-40B4-BE49-F238E27FC236}">
                <a16:creationId xmlns:a16="http://schemas.microsoft.com/office/drawing/2014/main" id="{90812892-4A4F-8283-F5BF-D24059227671}"/>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371</a:t>
            </a:r>
          </a:p>
        </p:txBody>
      </p:sp>
      <p:pic>
        <p:nvPicPr>
          <p:cNvPr id="8" name="Google Shape;283;g104476d1465_1_17">
            <a:extLst>
              <a:ext uri="{FF2B5EF4-FFF2-40B4-BE49-F238E27FC236}">
                <a16:creationId xmlns:a16="http://schemas.microsoft.com/office/drawing/2014/main" id="{ECEFE8AF-5AC6-9CC1-B4BD-842781F270A7}"/>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2015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7905"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371</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85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2" name="Rectangle 1"/>
          <p:cNvSpPr/>
          <p:nvPr/>
        </p:nvSpPr>
        <p:spPr>
          <a:xfrm>
            <a:off x="831273" y="604603"/>
            <a:ext cx="10666882" cy="4124206"/>
          </a:xfrm>
          <a:prstGeom prst="rect">
            <a:avLst/>
          </a:prstGeom>
        </p:spPr>
        <p:txBody>
          <a:bodyPr wrap="square">
            <a:spAutoFit/>
          </a:bodyPr>
          <a:lstStyle/>
          <a:p>
            <a:pPr marL="914400" indent="-463550">
              <a:spcAft>
                <a:spcPts val="1000"/>
              </a:spcAft>
              <a:buFont typeface="+mj-lt"/>
              <a:buAutoNum type="alphaLcPeriod"/>
            </a:pPr>
            <a:r>
              <a:rPr lang="en-US" sz="2400" dirty="0">
                <a:latin typeface="Verdana" charset="0"/>
                <a:ea typeface="Verdana" charset="0"/>
                <a:cs typeface="Verdana" charset="0"/>
              </a:rPr>
              <a:t>Complete the table.</a:t>
            </a:r>
          </a:p>
          <a:p>
            <a:pPr marL="914400" indent="-463550">
              <a:spcAft>
                <a:spcPts val="1000"/>
              </a:spcAft>
              <a:buFont typeface="+mj-lt"/>
              <a:buAutoNum type="alphaLcPeriod"/>
            </a:pPr>
            <a:endParaRPr lang="en-US" sz="2400" dirty="0">
              <a:latin typeface="Verdana" charset="0"/>
              <a:ea typeface="Verdana" charset="0"/>
              <a:cs typeface="Verdana" charset="0"/>
            </a:endParaRPr>
          </a:p>
          <a:p>
            <a:pPr marL="914400" indent="-463550">
              <a:spcAft>
                <a:spcPts val="1000"/>
              </a:spcAft>
              <a:buFont typeface="+mj-lt"/>
              <a:buAutoNum type="alphaLcPeriod"/>
            </a:pPr>
            <a:endParaRPr lang="en-US" sz="2400" dirty="0">
              <a:latin typeface="Verdana" charset="0"/>
              <a:ea typeface="Verdana" charset="0"/>
              <a:cs typeface="Verdana" charset="0"/>
            </a:endParaRPr>
          </a:p>
          <a:p>
            <a:pPr marL="914400" indent="-463550">
              <a:spcAft>
                <a:spcPts val="1000"/>
              </a:spcAft>
              <a:buFont typeface="+mj-lt"/>
              <a:buAutoNum type="alphaLcPeriod"/>
            </a:pPr>
            <a:endParaRPr lang="en-US" sz="2400" dirty="0">
              <a:latin typeface="Verdana" charset="0"/>
              <a:ea typeface="Verdana" charset="0"/>
              <a:cs typeface="Verdana" charset="0"/>
            </a:endParaRPr>
          </a:p>
          <a:p>
            <a:pPr marL="914400" indent="-463550">
              <a:spcAft>
                <a:spcPts val="1000"/>
              </a:spcAft>
              <a:buFont typeface="+mj-lt"/>
              <a:buAutoNum type="alphaLcPeriod"/>
            </a:pPr>
            <a:endParaRPr lang="en-US" sz="2400" dirty="0">
              <a:latin typeface="Verdana" charset="0"/>
              <a:ea typeface="Verdana" charset="0"/>
              <a:cs typeface="Verdana" charset="0"/>
            </a:endParaRPr>
          </a:p>
          <a:p>
            <a:pPr marL="914400" indent="-463550">
              <a:spcAft>
                <a:spcPts val="1000"/>
              </a:spcAft>
              <a:buFont typeface="+mj-lt"/>
              <a:buAutoNum type="alphaLcPeriod"/>
            </a:pPr>
            <a:r>
              <a:rPr lang="en-US" sz="2400" dirty="0">
                <a:latin typeface="Verdana" charset="0"/>
                <a:ea typeface="Verdana" charset="0"/>
                <a:cs typeface="Verdana" charset="0"/>
              </a:rPr>
              <a:t>Discuss with your partner the advantages and disadvantages of each person’s walk to the restaurant. Summarize your discussion in the table.</a:t>
            </a:r>
          </a:p>
          <a:p>
            <a:pPr marL="342900" indent="-342900">
              <a:spcAft>
                <a:spcPts val="1000"/>
              </a:spcAft>
              <a:buFont typeface="+mj-lt"/>
              <a:buAutoNum type="alphaLcPeriod"/>
            </a:pPr>
            <a:endParaRPr lang="en-US" sz="2000" dirty="0">
              <a:latin typeface="Verdana" charset="0"/>
              <a:ea typeface="Verdana" charset="0"/>
              <a:cs typeface="Verdana"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774738332"/>
              </p:ext>
            </p:extLst>
          </p:nvPr>
        </p:nvGraphicFramePr>
        <p:xfrm>
          <a:off x="1849343" y="1218906"/>
          <a:ext cx="6858000" cy="1447800"/>
        </p:xfrm>
        <a:graphic>
          <a:graphicData uri="http://schemas.openxmlformats.org/drawingml/2006/table">
            <a:tbl>
              <a:tblPr firstRow="1" firstCol="1" bandRow="1"/>
              <a:tblGrid>
                <a:gridCol w="2313305">
                  <a:extLst>
                    <a:ext uri="{9D8B030D-6E8A-4147-A177-3AD203B41FA5}">
                      <a16:colId xmlns:a16="http://schemas.microsoft.com/office/drawing/2014/main" val="20000"/>
                    </a:ext>
                  </a:extLst>
                </a:gridCol>
                <a:gridCol w="2313305">
                  <a:extLst>
                    <a:ext uri="{9D8B030D-6E8A-4147-A177-3AD203B41FA5}">
                      <a16:colId xmlns:a16="http://schemas.microsoft.com/office/drawing/2014/main" val="20001"/>
                    </a:ext>
                  </a:extLst>
                </a:gridCol>
                <a:gridCol w="2231390">
                  <a:extLst>
                    <a:ext uri="{9D8B030D-6E8A-4147-A177-3AD203B41FA5}">
                      <a16:colId xmlns:a16="http://schemas.microsoft.com/office/drawing/2014/main" val="20002"/>
                    </a:ext>
                  </a:extLst>
                </a:gridCol>
              </a:tblGrid>
              <a:tr h="0">
                <a:tc>
                  <a:txBody>
                    <a:bodyPr/>
                    <a:lstStyle/>
                    <a:p>
                      <a:pPr marL="0" marR="0">
                        <a:spcBef>
                          <a:spcPts val="0"/>
                        </a:spcBef>
                        <a:spcAft>
                          <a:spcPts val="0"/>
                        </a:spcAft>
                      </a:pPr>
                      <a:r>
                        <a:rPr lang="en-US" sz="2000">
                          <a:effectLst/>
                          <a:latin typeface="Verdana" charset="0"/>
                          <a:ea typeface="Times New Roman" charset="0"/>
                        </a:rPr>
                        <a:t> </a:t>
                      </a:r>
                      <a:endParaRPr lang="en-US" sz="2000">
                        <a:effectLst/>
                        <a:latin typeface="Times New Roman"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rPr>
                        <a:t>Iverson</a:t>
                      </a:r>
                      <a:endParaRPr lang="en-US" sz="2000">
                        <a:effectLst/>
                        <a:latin typeface="Times New Roman"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rPr>
                        <a:t>Jake</a:t>
                      </a:r>
                      <a:endParaRPr lang="en-US" sz="2000">
                        <a:effectLst/>
                        <a:latin typeface="Times New Roman"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43000">
                <a:tc>
                  <a:txBody>
                    <a:bodyPr/>
                    <a:lstStyle/>
                    <a:p>
                      <a:pPr marL="0" marR="0" algn="ctr">
                        <a:spcBef>
                          <a:spcPts val="0"/>
                        </a:spcBef>
                        <a:spcAft>
                          <a:spcPts val="0"/>
                        </a:spcAft>
                      </a:pPr>
                      <a:r>
                        <a:rPr lang="en-US" sz="2000" b="1" dirty="0">
                          <a:effectLst/>
                          <a:latin typeface="Verdana" charset="0"/>
                          <a:ea typeface="Times New Roman" charset="0"/>
                        </a:rPr>
                        <a:t>Distance Walked</a:t>
                      </a:r>
                      <a:endParaRPr lang="en-US" sz="2000" dirty="0">
                        <a:effectLst/>
                        <a:latin typeface="Times New Roman" charset="0"/>
                        <a:ea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charset="0"/>
                          <a:ea typeface="Times New Roman" charset="0"/>
                        </a:rPr>
                        <a:t> </a:t>
                      </a:r>
                      <a:endParaRPr lang="en-US" sz="2000" dirty="0">
                        <a:effectLst/>
                        <a:latin typeface="Times New Roman"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Times New Roman" charset="0"/>
                        </a:rPr>
                        <a:t> </a:t>
                      </a:r>
                      <a:endParaRPr lang="en-US" sz="2000" dirty="0">
                        <a:effectLst/>
                        <a:latin typeface="Times New Roman" charset="0"/>
                        <a:ea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236270511"/>
              </p:ext>
            </p:extLst>
          </p:nvPr>
        </p:nvGraphicFramePr>
        <p:xfrm>
          <a:off x="1849343" y="4311330"/>
          <a:ext cx="7375354" cy="2298776"/>
        </p:xfrm>
        <a:graphic>
          <a:graphicData uri="http://schemas.openxmlformats.org/drawingml/2006/table">
            <a:tbl>
              <a:tblPr firstRow="1" firstCol="1" bandRow="1"/>
              <a:tblGrid>
                <a:gridCol w="2487816">
                  <a:extLst>
                    <a:ext uri="{9D8B030D-6E8A-4147-A177-3AD203B41FA5}">
                      <a16:colId xmlns:a16="http://schemas.microsoft.com/office/drawing/2014/main" val="20000"/>
                    </a:ext>
                  </a:extLst>
                </a:gridCol>
                <a:gridCol w="2487816">
                  <a:extLst>
                    <a:ext uri="{9D8B030D-6E8A-4147-A177-3AD203B41FA5}">
                      <a16:colId xmlns:a16="http://schemas.microsoft.com/office/drawing/2014/main" val="20001"/>
                    </a:ext>
                  </a:extLst>
                </a:gridCol>
                <a:gridCol w="2399722">
                  <a:extLst>
                    <a:ext uri="{9D8B030D-6E8A-4147-A177-3AD203B41FA5}">
                      <a16:colId xmlns:a16="http://schemas.microsoft.com/office/drawing/2014/main" val="20002"/>
                    </a:ext>
                  </a:extLst>
                </a:gridCol>
              </a:tblGrid>
              <a:tr h="282677">
                <a:tc>
                  <a:txBody>
                    <a:bodyPr/>
                    <a:lstStyle/>
                    <a:p>
                      <a:pPr marL="0" marR="0" algn="ctr">
                        <a:spcBef>
                          <a:spcPts val="0"/>
                        </a:spcBef>
                        <a:spcAft>
                          <a:spcPts val="0"/>
                        </a:spcAft>
                      </a:pPr>
                      <a:r>
                        <a:rPr lang="en-US" sz="2100" b="1">
                          <a:effectLst/>
                          <a:latin typeface="Verdana" charset="0"/>
                          <a:ea typeface="Verdana" charset="0"/>
                          <a:cs typeface="Verdana" charset="0"/>
                        </a:rPr>
                        <a:t>Person</a:t>
                      </a:r>
                      <a:endParaRPr lang="en-US" sz="2100">
                        <a:effectLst/>
                        <a:latin typeface="Verdana" charset="0"/>
                        <a:ea typeface="Verdana" charset="0"/>
                        <a:cs typeface="Verdana" charset="0"/>
                      </a:endParaRPr>
                    </a:p>
                  </a:txBody>
                  <a:tcPr marL="52334" marR="5233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a:effectLst/>
                          <a:latin typeface="Verdana" charset="0"/>
                          <a:ea typeface="Verdana" charset="0"/>
                          <a:cs typeface="Verdana" charset="0"/>
                        </a:rPr>
                        <a:t>Advantages</a:t>
                      </a:r>
                      <a:endParaRPr lang="en-US" sz="2100">
                        <a:effectLst/>
                        <a:latin typeface="Verdana" charset="0"/>
                        <a:ea typeface="Verdana" charset="0"/>
                        <a:cs typeface="Verdana" charset="0"/>
                      </a:endParaRPr>
                    </a:p>
                  </a:txBody>
                  <a:tcPr marL="52334" marR="5233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a:effectLst/>
                          <a:latin typeface="Verdana" charset="0"/>
                          <a:ea typeface="Verdana" charset="0"/>
                          <a:cs typeface="Verdana" charset="0"/>
                        </a:rPr>
                        <a:t>Disadvantages</a:t>
                      </a:r>
                      <a:endParaRPr lang="en-US" sz="2100">
                        <a:effectLst/>
                        <a:latin typeface="Verdana" charset="0"/>
                        <a:ea typeface="Verdana" charset="0"/>
                        <a:cs typeface="Verdana" charset="0"/>
                      </a:endParaRPr>
                    </a:p>
                  </a:txBody>
                  <a:tcPr marL="52334" marR="5233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48030">
                <a:tc>
                  <a:txBody>
                    <a:bodyPr/>
                    <a:lstStyle/>
                    <a:p>
                      <a:pPr marL="0" marR="0" algn="ctr">
                        <a:spcBef>
                          <a:spcPts val="0"/>
                        </a:spcBef>
                        <a:spcAft>
                          <a:spcPts val="0"/>
                        </a:spcAft>
                      </a:pPr>
                      <a:r>
                        <a:rPr lang="en-US" sz="2100" dirty="0">
                          <a:effectLst/>
                          <a:latin typeface="Verdana" charset="0"/>
                          <a:ea typeface="Verdana" charset="0"/>
                          <a:cs typeface="Verdana" charset="0"/>
                        </a:rPr>
                        <a:t>Iverson</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100" dirty="0">
                          <a:effectLst/>
                          <a:latin typeface="Verdana" charset="0"/>
                          <a:ea typeface="Verdana" charset="0"/>
                          <a:cs typeface="Verdana" charset="0"/>
                        </a:rPr>
                        <a:t> </a:t>
                      </a:r>
                    </a:p>
                    <a:p>
                      <a:pPr marL="0" marR="0">
                        <a:spcBef>
                          <a:spcPts val="0"/>
                        </a:spcBef>
                        <a:spcAft>
                          <a:spcPts val="0"/>
                        </a:spcAft>
                      </a:pPr>
                      <a:r>
                        <a:rPr lang="en-US" sz="2100" dirty="0">
                          <a:effectLst/>
                          <a:latin typeface="Verdana" charset="0"/>
                          <a:ea typeface="Verdana" charset="0"/>
                          <a:cs typeface="Verdana" charset="0"/>
                        </a:rPr>
                        <a:t> </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100">
                          <a:effectLst/>
                          <a:latin typeface="Verdana" charset="0"/>
                          <a:ea typeface="Verdana" charset="0"/>
                          <a:cs typeface="Verdana" charset="0"/>
                        </a:rPr>
                        <a:t> </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0706">
                <a:tc>
                  <a:txBody>
                    <a:bodyPr/>
                    <a:lstStyle/>
                    <a:p>
                      <a:pPr marL="0" marR="0" algn="ctr">
                        <a:spcBef>
                          <a:spcPts val="0"/>
                        </a:spcBef>
                        <a:spcAft>
                          <a:spcPts val="0"/>
                        </a:spcAft>
                      </a:pPr>
                      <a:r>
                        <a:rPr lang="en-US" sz="2100" dirty="0">
                          <a:effectLst/>
                          <a:latin typeface="Verdana" charset="0"/>
                          <a:ea typeface="Verdana" charset="0"/>
                          <a:cs typeface="Verdana" charset="0"/>
                        </a:rPr>
                        <a:t>Jake</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100" dirty="0">
                          <a:effectLst/>
                          <a:latin typeface="Verdana" charset="0"/>
                          <a:ea typeface="Verdana" charset="0"/>
                          <a:cs typeface="Verdana" charset="0"/>
                        </a:rPr>
                        <a:t> </a:t>
                      </a:r>
                    </a:p>
                    <a:p>
                      <a:pPr marL="0" marR="0">
                        <a:spcBef>
                          <a:spcPts val="0"/>
                        </a:spcBef>
                        <a:spcAft>
                          <a:spcPts val="0"/>
                        </a:spcAft>
                      </a:pPr>
                      <a:r>
                        <a:rPr lang="en-US" sz="2100" dirty="0">
                          <a:effectLst/>
                          <a:latin typeface="Verdana" charset="0"/>
                          <a:ea typeface="Verdana" charset="0"/>
                          <a:cs typeface="Verdana" charset="0"/>
                        </a:rPr>
                        <a:t> </a:t>
                      </a:r>
                    </a:p>
                    <a:p>
                      <a:pPr marL="0" marR="0">
                        <a:spcBef>
                          <a:spcPts val="0"/>
                        </a:spcBef>
                        <a:spcAft>
                          <a:spcPts val="0"/>
                        </a:spcAft>
                      </a:pPr>
                      <a:r>
                        <a:rPr lang="en-US" sz="2100" dirty="0">
                          <a:effectLst/>
                          <a:latin typeface="Verdana" charset="0"/>
                          <a:ea typeface="Verdana" charset="0"/>
                          <a:cs typeface="Verdana" charset="0"/>
                        </a:rPr>
                        <a:t> </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100" dirty="0">
                          <a:effectLst/>
                          <a:latin typeface="Verdana" charset="0"/>
                          <a:ea typeface="Verdana" charset="0"/>
                          <a:cs typeface="Verdana" charset="0"/>
                        </a:rPr>
                        <a:t> </a:t>
                      </a:r>
                    </a:p>
                  </a:txBody>
                  <a:tcPr marL="52334" marR="523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8" name="Google Shape;283;g104476d1465_1_17">
            <a:extLst>
              <a:ext uri="{FF2B5EF4-FFF2-40B4-BE49-F238E27FC236}">
                <a16:creationId xmlns:a16="http://schemas.microsoft.com/office/drawing/2014/main" id="{54214BFC-4E0A-2BF0-54D3-EBE158F2A065}"/>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25516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372</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2" name="Rectangle 1"/>
              <p:cNvSpPr/>
              <p:nvPr/>
            </p:nvSpPr>
            <p:spPr>
              <a:xfrm>
                <a:off x="855023" y="520256"/>
                <a:ext cx="10295907" cy="3660746"/>
              </a:xfrm>
              <a:prstGeom prst="rect">
                <a:avLst/>
              </a:prstGeom>
            </p:spPr>
            <p:txBody>
              <a:bodyPr wrap="square">
                <a:spAutoFit/>
              </a:bodyPr>
              <a:lstStyle/>
              <a:p>
                <a:pPr marL="463550" indent="-463550">
                  <a:spcAft>
                    <a:spcPts val="1000"/>
                  </a:spcAft>
                  <a:buFont typeface="+mj-lt"/>
                  <a:buAutoNum type="arabicPeriod" startAt="6"/>
                  <a:tabLst>
                    <a:tab pos="457200" algn="l"/>
                  </a:tabLst>
                </a:pPr>
                <a:r>
                  <a:rPr lang="en-US" sz="2000" dirty="0">
                    <a:latin typeface="Verdana" charset="0"/>
                    <a:ea typeface="Verdana" charset="0"/>
                    <a:cs typeface="Verdana" charset="0"/>
                  </a:rPr>
                  <a:t>A right triangle is shown with side lengths </a:t>
                </a:r>
                <a14:m>
                  <m:oMath xmlns:m="http://schemas.openxmlformats.org/officeDocument/2006/math">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charset="0"/>
                            <a:ea typeface="Verdana" charset="0"/>
                            <a:cs typeface="Verdana" charset="0"/>
                          </a:rPr>
                          <m:t>10</m:t>
                        </m:r>
                      </m:e>
                    </m:rad>
                  </m:oMath>
                </a14:m>
                <a:r>
                  <a:rPr lang="en-US" sz="2000" dirty="0">
                    <a:latin typeface="Verdana" charset="0"/>
                    <a:ea typeface="Verdana" charset="0"/>
                    <a:cs typeface="Verdana" charset="0"/>
                  </a:rPr>
                  <a:t> and </a:t>
                </a:r>
                <a14:m>
                  <m:oMath xmlns:m="http://schemas.openxmlformats.org/officeDocument/2006/math">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charset="0"/>
                            <a:ea typeface="Verdana" charset="0"/>
                            <a:cs typeface="Verdana" charset="0"/>
                          </a:rPr>
                          <m:t>40</m:t>
                        </m:r>
                      </m:e>
                    </m:rad>
                  </m:oMath>
                </a14:m>
                <a:r>
                  <a:rPr lang="en-US" sz="2000" dirty="0">
                    <a:latin typeface="Verdana" charset="0"/>
                    <a:ea typeface="Verdana" charset="0"/>
                    <a:cs typeface="Verdana" charset="0"/>
                  </a:rPr>
                  <a:t> units.</a:t>
                </a:r>
              </a:p>
              <a:p>
                <a:pPr marL="342900" indent="-342900">
                  <a:spcAft>
                    <a:spcPts val="1000"/>
                  </a:spcAft>
                  <a:buFont typeface="+mj-lt"/>
                  <a:buAutoNum type="arabicPeriod" startAt="6"/>
                  <a:tabLst>
                    <a:tab pos="457200" algn="l"/>
                  </a:tabLst>
                </a:pPr>
                <a:endParaRPr lang="en-US" sz="2000" dirty="0">
                  <a:latin typeface="Verdana" charset="0"/>
                  <a:ea typeface="Verdana" charset="0"/>
                  <a:cs typeface="Verdana" charset="0"/>
                </a:endParaRPr>
              </a:p>
              <a:p>
                <a:pPr marL="342900" indent="-342900">
                  <a:spcAft>
                    <a:spcPts val="1000"/>
                  </a:spcAft>
                  <a:buFont typeface="+mj-lt"/>
                  <a:buAutoNum type="arabicPeriod" startAt="6"/>
                  <a:tabLst>
                    <a:tab pos="457200" algn="l"/>
                  </a:tabLst>
                </a:pPr>
                <a:endParaRPr lang="en-US" sz="2000" dirty="0">
                  <a:latin typeface="Verdana" charset="0"/>
                  <a:ea typeface="Verdana" charset="0"/>
                  <a:cs typeface="Verdana" charset="0"/>
                </a:endParaRPr>
              </a:p>
              <a:p>
                <a:pPr marL="342900" indent="-342900">
                  <a:spcAft>
                    <a:spcPts val="1000"/>
                  </a:spcAft>
                  <a:buFont typeface="+mj-lt"/>
                  <a:buAutoNum type="arabicPeriod" startAt="6"/>
                  <a:tabLst>
                    <a:tab pos="457200" algn="l"/>
                  </a:tabLst>
                </a:pPr>
                <a:endParaRPr lang="en-US" sz="2000" dirty="0">
                  <a:latin typeface="Verdana" charset="0"/>
                  <a:ea typeface="Verdana" charset="0"/>
                  <a:cs typeface="Verdana" charset="0"/>
                </a:endParaRPr>
              </a:p>
              <a:p>
                <a:pPr marL="342900" indent="-342900">
                  <a:spcAft>
                    <a:spcPts val="1000"/>
                  </a:spcAft>
                  <a:buFont typeface="+mj-lt"/>
                  <a:buAutoNum type="arabicPeriod" startAt="6"/>
                  <a:tabLst>
                    <a:tab pos="457200" algn="l"/>
                  </a:tabLst>
                </a:pPr>
                <a:endParaRPr lang="en-US" sz="2000" dirty="0">
                  <a:latin typeface="Verdana" charset="0"/>
                  <a:ea typeface="Verdana" charset="0"/>
                  <a:cs typeface="Verdana" charset="0"/>
                </a:endParaRPr>
              </a:p>
              <a:p>
                <a:pPr marL="463550">
                  <a:spcAft>
                    <a:spcPts val="1000"/>
                  </a:spcAft>
                  <a:tabLst>
                    <a:tab pos="457200" algn="l"/>
                  </a:tabLst>
                </a:pPr>
                <a:r>
                  <a:rPr lang="en-US" sz="2000" dirty="0">
                    <a:latin typeface="Verdana" charset="0"/>
                    <a:ea typeface="Verdana" charset="0"/>
                    <a:cs typeface="Verdana" charset="0"/>
                  </a:rPr>
                  <a:t>Find the length of the hypotenuse using the Pythagorean Theorem. If the measure of the side length is an irrational value, write an exact solution and an approximate solution.</a:t>
                </a:r>
              </a:p>
              <a:p>
                <a:pPr marL="352425">
                  <a:spcAft>
                    <a:spcPts val="1000"/>
                  </a:spcAft>
                  <a:buFont typeface="+mj-lt"/>
                  <a:buAutoNum type="arabicPeriod" startAt="6"/>
                  <a:tabLst>
                    <a:tab pos="457200" algn="l"/>
                  </a:tabLst>
                </a:pPr>
                <a:endParaRPr lang="en-US" sz="2000" dirty="0">
                  <a:latin typeface="Verdana" charset="0"/>
                  <a:ea typeface="Verdana" charset="0"/>
                  <a:cs typeface="Verdana"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855023" y="520256"/>
                <a:ext cx="10295907" cy="3660746"/>
              </a:xfrm>
              <a:prstGeom prst="rect">
                <a:avLst/>
              </a:prstGeom>
              <a:blipFill>
                <a:blip r:embed="rId4"/>
                <a:stretch>
                  <a:fillRect l="-651" t="-333"/>
                </a:stretch>
              </a:blipFill>
            </p:spPr>
            <p:txBody>
              <a:bodyPr/>
              <a:lstStyle/>
              <a:p>
                <a:r>
                  <a:rPr lang="en-US">
                    <a:noFill/>
                  </a:rPr>
                  <a:t> </a:t>
                </a:r>
              </a:p>
            </p:txBody>
          </p:sp>
        </mc:Fallback>
      </mc:AlternateContent>
      <p:sp>
        <p:nvSpPr>
          <p:cNvPr id="3" name="Rectangle 2"/>
          <p:cNvSpPr/>
          <p:nvPr/>
        </p:nvSpPr>
        <p:spPr>
          <a:xfrm>
            <a:off x="855023" y="4360537"/>
            <a:ext cx="4707033" cy="1631216"/>
          </a:xfrm>
          <a:prstGeom prst="rect">
            <a:avLst/>
          </a:prstGeom>
        </p:spPr>
        <p:txBody>
          <a:bodyPr wrap="square">
            <a:spAutoFit/>
          </a:bodyPr>
          <a:lstStyle/>
          <a:p>
            <a:pPr marL="914400" indent="-450850">
              <a:buFont typeface="+mj-lt"/>
              <a:buAutoNum type="alphaLcPeriod"/>
              <a:tabLst>
                <a:tab pos="914400" algn="l"/>
              </a:tabLst>
            </a:pPr>
            <a:r>
              <a:rPr lang="en-US" sz="2000" dirty="0">
                <a:latin typeface="Verdana" charset="0"/>
                <a:ea typeface="Verdana" charset="0"/>
                <a:cs typeface="Verdana" charset="0"/>
              </a:rPr>
              <a:t>State Pythagorean Theorem</a:t>
            </a:r>
          </a:p>
          <a:p>
            <a:pPr marL="914400" indent="-450850">
              <a:buFont typeface="+mj-lt"/>
              <a:buAutoNum type="alphaLcPeriod"/>
              <a:tabLst>
                <a:tab pos="914400" algn="l"/>
              </a:tabLst>
            </a:pPr>
            <a:endParaRPr lang="en-US" sz="2000" dirty="0">
              <a:latin typeface="Verdana" charset="0"/>
              <a:ea typeface="Verdana" charset="0"/>
              <a:cs typeface="Verdana" charset="0"/>
            </a:endParaRPr>
          </a:p>
          <a:p>
            <a:pPr marL="914400" indent="-450850">
              <a:buFont typeface="+mj-lt"/>
              <a:buAutoNum type="alphaLcPeriod"/>
              <a:tabLst>
                <a:tab pos="914400" algn="l"/>
              </a:tabLst>
            </a:pPr>
            <a:endParaRPr lang="en-US" sz="2000" dirty="0">
              <a:latin typeface="Verdana" charset="0"/>
              <a:ea typeface="Verdana" charset="0"/>
              <a:cs typeface="Verdana" charset="0"/>
            </a:endParaRPr>
          </a:p>
          <a:p>
            <a:pPr marL="914400" indent="-450850">
              <a:buFont typeface="+mj-lt"/>
              <a:buAutoNum type="alphaLcPeriod"/>
              <a:tabLst>
                <a:tab pos="914400" algn="l"/>
              </a:tabLst>
            </a:pPr>
            <a:endParaRPr lang="en-US" sz="2000" dirty="0">
              <a:latin typeface="Verdana" charset="0"/>
              <a:ea typeface="Verdana" charset="0"/>
              <a:cs typeface="Verdana" charset="0"/>
            </a:endParaRPr>
          </a:p>
          <a:p>
            <a:pPr marL="914400" indent="-450850">
              <a:buFont typeface="+mj-lt"/>
              <a:buAutoNum type="alphaLcPeriod"/>
              <a:tabLst>
                <a:tab pos="914400" algn="l"/>
              </a:tabLst>
            </a:pPr>
            <a:r>
              <a:rPr lang="en-US" sz="2000" dirty="0">
                <a:latin typeface="Verdana" charset="0"/>
                <a:ea typeface="Verdana" charset="0"/>
                <a:cs typeface="Verdana" charset="0"/>
              </a:rPr>
              <a:t>Substitute</a:t>
            </a:r>
          </a:p>
        </p:txBody>
      </p:sp>
      <mc:AlternateContent xmlns:mc="http://schemas.openxmlformats.org/markup-compatibility/2006" xmlns:a14="http://schemas.microsoft.com/office/drawing/2010/main">
        <mc:Choice Requires="a14">
          <p:sp>
            <p:nvSpPr>
              <p:cNvPr id="4" name="Rectangle 3"/>
              <p:cNvSpPr/>
              <p:nvPr/>
            </p:nvSpPr>
            <p:spPr>
              <a:xfrm>
                <a:off x="2270562" y="4959129"/>
                <a:ext cx="4572000" cy="1631216"/>
              </a:xfrm>
              <a:prstGeom prst="rect">
                <a:avLst/>
              </a:prstGeom>
            </p:spPr>
            <p:txBody>
              <a:bodyPr>
                <a:spAutoFit/>
              </a:bodyPr>
              <a:lstStyle/>
              <a:p>
                <a:pPr algn="ctr">
                  <a:tabLst>
                    <a:tab pos="457200" algn="l"/>
                  </a:tabLst>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𝑎</m:t>
                          </m:r>
                        </m:e>
                        <m:sup>
                          <m:r>
                            <a:rPr lang="en-US" sz="2000" i="1">
                              <a:latin typeface="Cambria Math" charset="0"/>
                              <a:ea typeface="Arial" charset="0"/>
                              <a:cs typeface="Arial" charset="0"/>
                            </a:rPr>
                            <m:t>2</m:t>
                          </m:r>
                        </m:sup>
                      </m:sSup>
                      <m:r>
                        <a:rPr lang="en-US" sz="2000" i="1">
                          <a:latin typeface="Cambria Math" charset="0"/>
                          <a:ea typeface="Arial" charset="0"/>
                          <a:cs typeface="Arial" charset="0"/>
                        </a:rPr>
                        <m:t>+</m:t>
                      </m:r>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𝑏</m:t>
                          </m:r>
                        </m:e>
                        <m:sup>
                          <m:r>
                            <a:rPr lang="en-US" sz="2000" i="1">
                              <a:latin typeface="Cambria Math" charset="0"/>
                              <a:ea typeface="Arial" charset="0"/>
                              <a:cs typeface="Arial" charset="0"/>
                            </a:rPr>
                            <m:t>2</m:t>
                          </m:r>
                        </m:sup>
                      </m:sSup>
                      <m:r>
                        <a:rPr lang="en-US" sz="2000" i="1">
                          <a:latin typeface="Cambria Math" charset="0"/>
                          <a:ea typeface="Arial" charset="0"/>
                          <a:cs typeface="Arial" charset="0"/>
                        </a:rPr>
                        <m:t>=</m:t>
                      </m:r>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𝑐</m:t>
                          </m:r>
                        </m:e>
                        <m:sup>
                          <m:r>
                            <a:rPr lang="en-US" sz="2000" i="1">
                              <a:latin typeface="Cambria Math" charset="0"/>
                              <a:ea typeface="Arial" charset="0"/>
                              <a:cs typeface="Arial" charset="0"/>
                            </a:rPr>
                            <m:t>2</m:t>
                          </m:r>
                        </m:sup>
                      </m:sSup>
                    </m:oMath>
                  </m:oMathPara>
                </a14:m>
                <a:endParaRPr lang="en-US" sz="2000" dirty="0">
                  <a:latin typeface="Times New Roman" charset="0"/>
                  <a:ea typeface="Times New Roman" charset="0"/>
                </a:endParaRPr>
              </a:p>
              <a:p>
                <a:pPr algn="ctr">
                  <a:tabLst>
                    <a:tab pos="457200" algn="l"/>
                  </a:tabLst>
                </a:pPr>
                <a:r>
                  <a:rPr lang="en-US" sz="2000" dirty="0">
                    <a:latin typeface="Verdana" charset="0"/>
                    <a:ea typeface="Arial" charset="0"/>
                    <a:cs typeface="Arial" charset="0"/>
                  </a:rPr>
                  <a:t> </a:t>
                </a:r>
              </a:p>
              <a:p>
                <a:pPr algn="ctr">
                  <a:tabLst>
                    <a:tab pos="457200" algn="l"/>
                  </a:tabLst>
                </a:pPr>
                <a:endParaRPr lang="en-US" sz="2000" dirty="0">
                  <a:latin typeface="Verdana" charset="0"/>
                  <a:ea typeface="Arial" charset="0"/>
                  <a:cs typeface="Arial" charset="0"/>
                </a:endParaRPr>
              </a:p>
              <a:p>
                <a:pPr algn="ctr">
                  <a:tabLst>
                    <a:tab pos="457200" algn="l"/>
                  </a:tabLst>
                </a:pPr>
                <a:endParaRPr lang="en-US" sz="2000" dirty="0">
                  <a:latin typeface="Times New Roman" charset="0"/>
                  <a:ea typeface="Times New Roman" charset="0"/>
                </a:endParaRPr>
              </a:p>
              <a:p>
                <a:pPr algn="ctr">
                  <a:tabLst>
                    <a:tab pos="457200" algn="l"/>
                  </a:tabLst>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______</m:t>
                          </m:r>
                        </m:e>
                        <m:sup>
                          <m:r>
                            <a:rPr lang="en-US" sz="2000" i="1">
                              <a:latin typeface="Cambria Math" charset="0"/>
                              <a:ea typeface="Arial" charset="0"/>
                              <a:cs typeface="Arial" charset="0"/>
                            </a:rPr>
                            <m:t>2</m:t>
                          </m:r>
                        </m:sup>
                      </m:sSup>
                      <m:r>
                        <a:rPr lang="en-US" sz="2000" i="1">
                          <a:latin typeface="Cambria Math" charset="0"/>
                          <a:ea typeface="Arial" charset="0"/>
                          <a:cs typeface="Arial" charset="0"/>
                        </a:rPr>
                        <m:t>+</m:t>
                      </m:r>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______</m:t>
                          </m:r>
                        </m:e>
                        <m:sup>
                          <m:r>
                            <a:rPr lang="en-US" sz="2000" i="1">
                              <a:latin typeface="Cambria Math" charset="0"/>
                              <a:ea typeface="Arial" charset="0"/>
                              <a:cs typeface="Arial" charset="0"/>
                            </a:rPr>
                            <m:t>2</m:t>
                          </m:r>
                        </m:sup>
                      </m:sSup>
                      <m:r>
                        <a:rPr lang="en-US" sz="2000" i="1">
                          <a:latin typeface="Cambria Math" charset="0"/>
                          <a:ea typeface="Arial" charset="0"/>
                          <a:cs typeface="Arial" charset="0"/>
                        </a:rPr>
                        <m:t>=</m:t>
                      </m:r>
                      <m:sSup>
                        <m:sSupPr>
                          <m:ctrlPr>
                            <a:rPr lang="en-US" sz="2000" i="1">
                              <a:latin typeface="Cambria Math" panose="02040503050406030204" pitchFamily="18" charset="0"/>
                              <a:ea typeface="Arial" charset="0"/>
                              <a:cs typeface="Arial" charset="0"/>
                            </a:rPr>
                          </m:ctrlPr>
                        </m:sSupPr>
                        <m:e>
                          <m:r>
                            <a:rPr lang="en-US" sz="2000" i="1">
                              <a:latin typeface="Cambria Math" charset="0"/>
                              <a:ea typeface="Arial" charset="0"/>
                              <a:cs typeface="Arial" charset="0"/>
                            </a:rPr>
                            <m:t>𝑐</m:t>
                          </m:r>
                        </m:e>
                        <m:sup>
                          <m:r>
                            <a:rPr lang="en-US" sz="2000" i="1">
                              <a:latin typeface="Cambria Math" charset="0"/>
                              <a:ea typeface="Arial" charset="0"/>
                              <a:cs typeface="Arial" charset="0"/>
                            </a:rPr>
                            <m:t>2</m:t>
                          </m:r>
                        </m:sup>
                      </m:sSup>
                    </m:oMath>
                  </m:oMathPara>
                </a14:m>
                <a:endParaRPr lang="en-US" sz="2000" dirty="0">
                  <a:latin typeface="Times New Roman" charset="0"/>
                  <a:ea typeface="Times New Roman"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270562" y="4959129"/>
                <a:ext cx="4572000" cy="1631216"/>
              </a:xfrm>
              <a:prstGeom prst="rect">
                <a:avLst/>
              </a:prstGeom>
              <a:blipFill>
                <a:blip r:embed="rId5"/>
                <a:stretch>
                  <a:fillRect/>
                </a:stretch>
              </a:blipFill>
            </p:spPr>
            <p:txBody>
              <a:bodyPr/>
              <a:lstStyle/>
              <a:p>
                <a:r>
                  <a:rPr lang="en-US">
                    <a:noFill/>
                  </a:rPr>
                  <a:t> </a:t>
                </a:r>
              </a:p>
            </p:txBody>
          </p:sp>
        </mc:Fallback>
      </mc:AlternateContent>
      <p:pic>
        <p:nvPicPr>
          <p:cNvPr id="7" name="Picture 6"/>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29987" y="956795"/>
            <a:ext cx="4374052" cy="1705302"/>
          </a:xfrm>
          <a:prstGeom prst="rect">
            <a:avLst/>
          </a:prstGeom>
        </p:spPr>
      </p:pic>
    </p:spTree>
    <p:extLst>
      <p:ext uri="{BB962C8B-B14F-4D97-AF65-F5344CB8AC3E}">
        <p14:creationId xmlns:p14="http://schemas.microsoft.com/office/powerpoint/2010/main" val="87571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372</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7374"/>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3" name="Rectangle 2"/>
          <p:cNvSpPr/>
          <p:nvPr/>
        </p:nvSpPr>
        <p:spPr>
          <a:xfrm>
            <a:off x="846824" y="595828"/>
            <a:ext cx="10268479" cy="2677656"/>
          </a:xfrm>
          <a:prstGeom prst="rect">
            <a:avLst/>
          </a:prstGeom>
        </p:spPr>
        <p:txBody>
          <a:bodyPr wrap="square">
            <a:spAutoFit/>
          </a:bodyPr>
          <a:lstStyle/>
          <a:p>
            <a:pPr marL="914400" indent="-457200">
              <a:buFont typeface="+mj-lt"/>
              <a:buAutoNum type="alphaLcPeriod" startAt="3"/>
              <a:tabLst>
                <a:tab pos="747713" algn="l"/>
              </a:tabLst>
            </a:pPr>
            <a:r>
              <a:rPr lang="en-US" sz="2400" dirty="0">
                <a:latin typeface="Verdana" charset="0"/>
                <a:ea typeface="Verdana" charset="0"/>
                <a:cs typeface="Verdana" charset="0"/>
              </a:rPr>
              <a:t>Solve for the missing variable.</a:t>
            </a:r>
          </a:p>
          <a:p>
            <a:pPr marL="914400" indent="-457200">
              <a:buFont typeface="+mj-lt"/>
              <a:buAutoNum type="alphaLcPeriod" startAt="3"/>
              <a:tabLst>
                <a:tab pos="747713" algn="l"/>
              </a:tabLst>
            </a:pPr>
            <a:endParaRPr lang="en-US" sz="2400" dirty="0">
              <a:latin typeface="Verdana" charset="0"/>
              <a:ea typeface="Verdana" charset="0"/>
              <a:cs typeface="Verdana" charset="0"/>
            </a:endParaRPr>
          </a:p>
          <a:p>
            <a:pPr marL="914400" indent="-457200">
              <a:buFont typeface="+mj-lt"/>
              <a:buAutoNum type="alphaLcPeriod" startAt="3"/>
              <a:tabLst>
                <a:tab pos="747713" algn="l"/>
              </a:tabLst>
            </a:pPr>
            <a:endParaRPr lang="en-US" sz="2400" dirty="0">
              <a:latin typeface="Verdana" charset="0"/>
              <a:ea typeface="Verdana" charset="0"/>
              <a:cs typeface="Verdana" charset="0"/>
            </a:endParaRPr>
          </a:p>
          <a:p>
            <a:pPr marL="914400" indent="-457200">
              <a:buFont typeface="+mj-lt"/>
              <a:buAutoNum type="alphaLcPeriod" startAt="3"/>
              <a:tabLst>
                <a:tab pos="747713" algn="l"/>
              </a:tabLst>
            </a:pPr>
            <a:endParaRPr lang="en-US" sz="2400" dirty="0">
              <a:latin typeface="Verdana" charset="0"/>
              <a:ea typeface="Verdana" charset="0"/>
              <a:cs typeface="Verdana" charset="0"/>
            </a:endParaRPr>
          </a:p>
          <a:p>
            <a:pPr marL="914400" indent="-457200">
              <a:buFont typeface="+mj-lt"/>
              <a:buAutoNum type="alphaLcPeriod" startAt="3"/>
              <a:tabLst>
                <a:tab pos="747713" algn="l"/>
              </a:tabLst>
            </a:pPr>
            <a:endParaRPr lang="en-US" sz="2400" dirty="0">
              <a:latin typeface="Verdana" charset="0"/>
              <a:ea typeface="Verdana" charset="0"/>
              <a:cs typeface="Verdana" charset="0"/>
            </a:endParaRPr>
          </a:p>
          <a:p>
            <a:pPr marL="914400" indent="-457200">
              <a:buFont typeface="+mj-lt"/>
              <a:buAutoNum type="alphaLcPeriod" startAt="3"/>
              <a:tabLst>
                <a:tab pos="747713" algn="l"/>
              </a:tabLst>
            </a:pPr>
            <a:endParaRPr lang="en-US" sz="2400" dirty="0">
              <a:latin typeface="Verdana" charset="0"/>
              <a:ea typeface="Verdana" charset="0"/>
              <a:cs typeface="Verdana" charset="0"/>
            </a:endParaRPr>
          </a:p>
          <a:p>
            <a:pPr marL="914400" indent="-457200">
              <a:buFont typeface="+mj-lt"/>
              <a:buAutoNum type="alphaLcPeriod" startAt="3"/>
              <a:tabLst>
                <a:tab pos="747713" algn="l"/>
              </a:tabLst>
            </a:pPr>
            <a:r>
              <a:rPr lang="en-US" sz="2400" dirty="0">
                <a:latin typeface="Verdana" charset="0"/>
                <a:ea typeface="Verdana" charset="0"/>
                <a:cs typeface="Verdana" charset="0"/>
              </a:rPr>
              <a:t>Solutions</a:t>
            </a:r>
          </a:p>
        </p:txBody>
      </p:sp>
      <mc:AlternateContent xmlns:mc="http://schemas.openxmlformats.org/markup-compatibility/2006" xmlns:a14="http://schemas.microsoft.com/office/drawing/2010/main">
        <mc:Choice Requires="a14">
          <p:sp>
            <p:nvSpPr>
              <p:cNvPr id="4" name="Rectangle 3"/>
              <p:cNvSpPr/>
              <p:nvPr/>
            </p:nvSpPr>
            <p:spPr>
              <a:xfrm>
                <a:off x="2270562" y="203183"/>
                <a:ext cx="4572000" cy="2308324"/>
              </a:xfrm>
              <a:prstGeom prst="rect">
                <a:avLst/>
              </a:prstGeom>
            </p:spPr>
            <p:txBody>
              <a:bodyPr>
                <a:spAutoFit/>
              </a:bodyPr>
              <a:lstStyle/>
              <a:p>
                <a:pPr algn="ctr">
                  <a:tabLst>
                    <a:tab pos="457200" algn="l"/>
                  </a:tabLst>
                </a:pPr>
                <a:endParaRPr lang="en-US" sz="2400" dirty="0">
                  <a:latin typeface="Times New Roman" charset="0"/>
                  <a:ea typeface="Times New Roman" charset="0"/>
                </a:endParaRPr>
              </a:p>
              <a:p>
                <a:pPr algn="ctr">
                  <a:tabLst>
                    <a:tab pos="457200" algn="l"/>
                  </a:tabLst>
                </a:pPr>
                <a:r>
                  <a:rPr lang="en-US" sz="2400" dirty="0">
                    <a:latin typeface="Verdana" charset="0"/>
                    <a:ea typeface="Arial" charset="0"/>
                    <a:cs typeface="Arial" charset="0"/>
                  </a:rPr>
                  <a:t> </a:t>
                </a:r>
                <a:endParaRPr lang="en-US" sz="2400" dirty="0">
                  <a:latin typeface="Times New Roman" charset="0"/>
                  <a:ea typeface="Times New Roman" charset="0"/>
                </a:endParaRPr>
              </a:p>
              <a:p>
                <a:pPr algn="ctr">
                  <a:tabLst>
                    <a:tab pos="457200" algn="l"/>
                  </a:tabLst>
                </a:pPr>
                <a:r>
                  <a:rPr lang="en-US" sz="2400" dirty="0">
                    <a:latin typeface="Verdana" charset="0"/>
                    <a:ea typeface="Arial" charset="0"/>
                    <a:cs typeface="Arial" charset="0"/>
                  </a:rPr>
                  <a:t> </a:t>
                </a:r>
                <a:endParaRPr lang="en-US" sz="2400" dirty="0">
                  <a:latin typeface="Times New Roman" charset="0"/>
                  <a:ea typeface="Times New Roman" charset="0"/>
                </a:endParaRPr>
              </a:p>
              <a:p>
                <a:pPr algn="ctr">
                  <a:tabLst>
                    <a:tab pos="457200" algn="l"/>
                  </a:tabLst>
                </a:pPr>
                <a14:m>
                  <m:oMath xmlns:m="http://schemas.openxmlformats.org/officeDocument/2006/math">
                    <m:r>
                      <a:rPr lang="en-US" sz="2400" i="1">
                        <a:latin typeface="Cambria Math" charset="0"/>
                        <a:ea typeface="Arial" charset="0"/>
                        <a:cs typeface="Arial" charset="0"/>
                      </a:rPr>
                      <m:t>______+______=</m:t>
                    </m:r>
                    <m:sSup>
                      <m:sSupPr>
                        <m:ctrlPr>
                          <a:rPr lang="en-US" sz="2400" i="1">
                            <a:latin typeface="Cambria Math" panose="02040503050406030204" pitchFamily="18" charset="0"/>
                            <a:ea typeface="Arial" charset="0"/>
                            <a:cs typeface="Arial" charset="0"/>
                          </a:rPr>
                        </m:ctrlPr>
                      </m:sSupPr>
                      <m:e>
                        <m:r>
                          <a:rPr lang="en-US" sz="2400" i="1">
                            <a:latin typeface="Cambria Math" charset="0"/>
                            <a:ea typeface="Arial" charset="0"/>
                            <a:cs typeface="Arial" charset="0"/>
                          </a:rPr>
                          <m:t>𝑐</m:t>
                        </m:r>
                      </m:e>
                      <m:sup>
                        <m:r>
                          <a:rPr lang="en-US" sz="2400" i="1">
                            <a:latin typeface="Cambria Math" charset="0"/>
                            <a:ea typeface="Arial" charset="0"/>
                            <a:cs typeface="Arial" charset="0"/>
                          </a:rPr>
                          <m:t>2</m:t>
                        </m:r>
                      </m:sup>
                    </m:sSup>
                  </m:oMath>
                </a14:m>
                <a:r>
                  <a:rPr lang="en-US" sz="2400" dirty="0">
                    <a:latin typeface="Verdana" charset="0"/>
                    <a:ea typeface="Arial" charset="0"/>
                    <a:cs typeface="Arial" charset="0"/>
                  </a:rPr>
                  <a:t> </a:t>
                </a:r>
                <a:endParaRPr lang="en-US" sz="2400" dirty="0">
                  <a:latin typeface="Times New Roman" charset="0"/>
                  <a:ea typeface="Times New Roman" charset="0"/>
                </a:endParaRPr>
              </a:p>
              <a:p>
                <a:pPr algn="ctr">
                  <a:tabLst>
                    <a:tab pos="457200" algn="l"/>
                  </a:tabLst>
                </a:pPr>
                <a:r>
                  <a:rPr lang="en-US" sz="2400" dirty="0">
                    <a:latin typeface="Verdana" charset="0"/>
                    <a:ea typeface="Arial" charset="0"/>
                    <a:cs typeface="Arial" charset="0"/>
                  </a:rPr>
                  <a:t> </a:t>
                </a:r>
                <a:endParaRPr lang="en-US" sz="2400" dirty="0">
                  <a:latin typeface="Times New Roman" charset="0"/>
                  <a:ea typeface="Times New Roman" charset="0"/>
                </a:endParaRPr>
              </a:p>
              <a:p>
                <a:pPr algn="ctr">
                  <a:tabLst>
                    <a:tab pos="457200" algn="l"/>
                  </a:tabLst>
                </a:pPr>
                <a14:m>
                  <m:oMathPara xmlns:m="http://schemas.openxmlformats.org/officeDocument/2006/math">
                    <m:oMathParaPr>
                      <m:jc m:val="centerGroup"/>
                    </m:oMathParaPr>
                    <m:oMath xmlns:m="http://schemas.openxmlformats.org/officeDocument/2006/math">
                      <m:r>
                        <a:rPr lang="en-US" sz="2400" i="1">
                          <a:latin typeface="Cambria Math" charset="0"/>
                          <a:ea typeface="Arial" charset="0"/>
                          <a:cs typeface="Arial" charset="0"/>
                        </a:rPr>
                        <m:t>______=</m:t>
                      </m:r>
                      <m:sSup>
                        <m:sSupPr>
                          <m:ctrlPr>
                            <a:rPr lang="en-US" sz="2400" i="1">
                              <a:latin typeface="Cambria Math" panose="02040503050406030204" pitchFamily="18" charset="0"/>
                              <a:ea typeface="Arial" charset="0"/>
                              <a:cs typeface="Arial" charset="0"/>
                            </a:rPr>
                          </m:ctrlPr>
                        </m:sSupPr>
                        <m:e>
                          <m:r>
                            <a:rPr lang="en-US" sz="2400" i="1">
                              <a:latin typeface="Cambria Math" charset="0"/>
                              <a:ea typeface="Arial" charset="0"/>
                              <a:cs typeface="Arial" charset="0"/>
                            </a:rPr>
                            <m:t>𝑐</m:t>
                          </m:r>
                        </m:e>
                        <m:sup>
                          <m:r>
                            <a:rPr lang="en-US" sz="2400" i="1">
                              <a:latin typeface="Cambria Math" charset="0"/>
                              <a:ea typeface="Arial" charset="0"/>
                              <a:cs typeface="Arial" charset="0"/>
                            </a:rPr>
                            <m:t>2</m:t>
                          </m:r>
                        </m:sup>
                      </m:sSup>
                    </m:oMath>
                  </m:oMathPara>
                </a14:m>
                <a:endParaRPr lang="en-US" sz="2400" dirty="0">
                  <a:latin typeface="Times New Roman" charset="0"/>
                  <a:ea typeface="Times New Roman"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270562" y="203183"/>
                <a:ext cx="4572000" cy="23083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073449" y="3471772"/>
                <a:ext cx="4572000" cy="2728952"/>
              </a:xfrm>
              <a:prstGeom prst="rect">
                <a:avLst/>
              </a:prstGeom>
            </p:spPr>
            <p:txBody>
              <a:bodyPr>
                <a:spAutoFit/>
              </a:bodyPr>
              <a:lstStyle/>
              <a:p>
                <a:pPr>
                  <a:tabLst>
                    <a:tab pos="457200" algn="l"/>
                  </a:tabLst>
                </a:pPr>
                <a:r>
                  <a:rPr lang="en-US" sz="2400" dirty="0">
                    <a:latin typeface="Verdana" charset="0"/>
                    <a:ea typeface="Verdana" charset="0"/>
                    <a:cs typeface="Verdana" charset="0"/>
                  </a:rPr>
                  <a:t>Exact solution: </a:t>
                </a:r>
              </a:p>
              <a:p>
                <a:pPr>
                  <a:tabLst>
                    <a:tab pos="457200" algn="l"/>
                  </a:tabLst>
                </a:pPr>
                <a14:m>
                  <m:oMathPara xmlns:m="http://schemas.openxmlformats.org/officeDocument/2006/math">
                    <m:oMathParaPr>
                      <m:jc m:val="centerGroup"/>
                    </m:oMathParaPr>
                    <m:oMath xmlns:m="http://schemas.openxmlformats.org/officeDocument/2006/math">
                      <m:r>
                        <a:rPr lang="en-US" sz="2400" i="1">
                          <a:latin typeface="Cambria Math" charset="0"/>
                          <a:ea typeface="Verdana" charset="0"/>
                          <a:cs typeface="Verdana" charset="0"/>
                        </a:rPr>
                        <m:t>𝑐</m:t>
                      </m:r>
                      <m:r>
                        <a:rPr lang="en-US" sz="2400" i="1">
                          <a:latin typeface="Cambria Math" charset="0"/>
                          <a:ea typeface="Verdana" charset="0"/>
                          <a:cs typeface="Verdana" charset="0"/>
                        </a:rPr>
                        <m:t>=     </m:t>
                      </m:r>
                      <m:rad>
                        <m:radPr>
                          <m:degHide m:val="on"/>
                          <m:ctrlPr>
                            <a:rPr lang="en-US" sz="2400" i="1">
                              <a:latin typeface="Cambria Math" panose="02040503050406030204" pitchFamily="18" charset="0"/>
                              <a:ea typeface="Verdana" charset="0"/>
                              <a:cs typeface="Verdana" charset="0"/>
                            </a:rPr>
                          </m:ctrlPr>
                        </m:radPr>
                        <m:deg/>
                        <m:e>
                          <m:r>
                            <a:rPr lang="en-US" sz="2400" i="1">
                              <a:latin typeface="Cambria Math" charset="0"/>
                              <a:ea typeface="Verdana" charset="0"/>
                              <a:cs typeface="Verdana" charset="0"/>
                            </a:rPr>
                            <m:t>             </m:t>
                          </m:r>
                        </m:e>
                      </m:rad>
                    </m:oMath>
                  </m:oMathPara>
                </a14:m>
                <a:endParaRPr lang="en-US" sz="2400" dirty="0">
                  <a:latin typeface="Verdana" charset="0"/>
                  <a:ea typeface="Verdana" charset="0"/>
                  <a:cs typeface="Verdana" charset="0"/>
                </a:endParaRPr>
              </a:p>
              <a:p>
                <a:pPr algn="ctr">
                  <a:tabLst>
                    <a:tab pos="457200" algn="l"/>
                  </a:tabLst>
                </a:pPr>
                <a:r>
                  <a:rPr lang="en-US" sz="2400" dirty="0">
                    <a:latin typeface="Verdana" charset="0"/>
                    <a:ea typeface="Verdana" charset="0"/>
                    <a:cs typeface="Verdana" charset="0"/>
                  </a:rPr>
                  <a:t> </a:t>
                </a:r>
              </a:p>
              <a:p>
                <a:pPr algn="ctr">
                  <a:tabLst>
                    <a:tab pos="457200" algn="l"/>
                  </a:tabLst>
                </a:pPr>
                <a:r>
                  <a:rPr lang="en-US" sz="2400" dirty="0">
                    <a:latin typeface="Verdana" charset="0"/>
                    <a:ea typeface="Verdana" charset="0"/>
                    <a:cs typeface="Verdana" charset="0"/>
                  </a:rPr>
                  <a:t> </a:t>
                </a:r>
              </a:p>
              <a:p>
                <a:pPr>
                  <a:tabLst>
                    <a:tab pos="457200" algn="l"/>
                  </a:tabLst>
                </a:pPr>
                <a:r>
                  <a:rPr lang="en-US" sz="2400" dirty="0">
                    <a:latin typeface="Verdana" charset="0"/>
                    <a:ea typeface="Verdana" charset="0"/>
                    <a:cs typeface="Verdana" charset="0"/>
                  </a:rPr>
                  <a:t>Approximate answer:</a:t>
                </a:r>
              </a:p>
              <a:p>
                <a:pPr>
                  <a:tabLst>
                    <a:tab pos="457200" algn="l"/>
                  </a:tabLst>
                </a:pPr>
                <a:r>
                  <a:rPr lang="en-US" sz="2400" dirty="0">
                    <a:latin typeface="Verdana" charset="0"/>
                    <a:ea typeface="Verdana" charset="0"/>
                    <a:cs typeface="Verdana" charset="0"/>
                  </a:rPr>
                  <a:t> </a:t>
                </a:r>
              </a:p>
              <a:p>
                <a:pPr algn="ctr">
                  <a:tabLst>
                    <a:tab pos="457200" algn="l"/>
                  </a:tabLst>
                </a:pPr>
                <a14:m>
                  <m:oMathPara xmlns:m="http://schemas.openxmlformats.org/officeDocument/2006/math">
                    <m:oMathParaPr>
                      <m:jc m:val="centerGroup"/>
                    </m:oMathParaPr>
                    <m:oMath xmlns:m="http://schemas.openxmlformats.org/officeDocument/2006/math">
                      <m:r>
                        <a:rPr lang="en-US" sz="2400" i="1">
                          <a:latin typeface="Cambria Math" charset="0"/>
                          <a:ea typeface="Verdana" charset="0"/>
                          <a:cs typeface="Verdana" charset="0"/>
                        </a:rPr>
                        <m:t>𝑐</m:t>
                      </m:r>
                      <m:r>
                        <a:rPr lang="en-US" sz="2400" i="1">
                          <a:latin typeface="Cambria Math" charset="0"/>
                          <a:ea typeface="Verdana" charset="0"/>
                          <a:cs typeface="Verdana" charset="0"/>
                        </a:rPr>
                        <m:t>≈__________</m:t>
                      </m:r>
                    </m:oMath>
                  </m:oMathPara>
                </a14:m>
                <a:endParaRPr lang="en-US" sz="2400" dirty="0">
                  <a:latin typeface="Verdana" charset="0"/>
                  <a:ea typeface="Verdana" charset="0"/>
                  <a:cs typeface="Verdana"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073449" y="3471772"/>
                <a:ext cx="4572000" cy="2728952"/>
              </a:xfrm>
              <a:prstGeom prst="rect">
                <a:avLst/>
              </a:prstGeom>
              <a:blipFill>
                <a:blip r:embed="rId5"/>
                <a:stretch>
                  <a:fillRect l="-2000" t="-1790"/>
                </a:stretch>
              </a:blipFill>
            </p:spPr>
            <p:txBody>
              <a:bodyPr/>
              <a:lstStyle/>
              <a:p>
                <a:r>
                  <a:rPr lang="en-US">
                    <a:noFill/>
                  </a:rPr>
                  <a:t> </a:t>
                </a:r>
              </a:p>
            </p:txBody>
          </p:sp>
        </mc:Fallback>
      </mc:AlternateContent>
    </p:spTree>
    <p:extLst>
      <p:ext uri="{BB962C8B-B14F-4D97-AF65-F5344CB8AC3E}">
        <p14:creationId xmlns:p14="http://schemas.microsoft.com/office/powerpoint/2010/main" val="152049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3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372</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301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753"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6914" y="-37086"/>
            <a:ext cx="101789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7.1.3 Guided Practice: Pythagorean Theorem</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527"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372</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5153" y="17411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843147" y="1386151"/>
                <a:ext cx="10295907" cy="461665"/>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Find the exact measure of </a:t>
                </a:r>
                <a14:m>
                  <m:oMath xmlns:m="http://schemas.openxmlformats.org/officeDocument/2006/math">
                    <m:r>
                      <a:rPr lang="en-US" sz="2400" i="1">
                        <a:latin typeface="Cambria Math" panose="02040503050406030204" pitchFamily="18" charset="0"/>
                        <a:ea typeface="Verdana" charset="0"/>
                        <a:cs typeface="Verdana" charset="0"/>
                      </a:rPr>
                      <m:t>𝑏</m:t>
                    </m:r>
                  </m:oMath>
                </a14:m>
                <a:r>
                  <a:rPr lang="en-US" sz="2400" dirty="0">
                    <a:latin typeface="Verdana" charset="0"/>
                    <a:ea typeface="Verdana" charset="0"/>
                    <a:cs typeface="Verdana" charset="0"/>
                  </a:rPr>
                  <a:t> in the diagram.</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843147" y="1386151"/>
                <a:ext cx="10295907" cy="461665"/>
              </a:xfrm>
              <a:prstGeom prst="rect">
                <a:avLst/>
              </a:prstGeom>
              <a:blipFill>
                <a:blip r:embed="rId5"/>
                <a:stretch>
                  <a:fillRect l="-888" t="-11842" b="-27632"/>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795339" y="2212100"/>
            <a:ext cx="3124200" cy="2425700"/>
          </a:xfrm>
          <a:prstGeom prst="rect">
            <a:avLst/>
          </a:prstGeom>
        </p:spPr>
      </p:pic>
    </p:spTree>
    <p:extLst>
      <p:ext uri="{BB962C8B-B14F-4D97-AF65-F5344CB8AC3E}">
        <p14:creationId xmlns:p14="http://schemas.microsoft.com/office/powerpoint/2010/main" val="584651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107912" y="860624"/>
            <a:ext cx="3383643" cy="3367832"/>
          </a:xfrm>
          <a:prstGeom prst="rect">
            <a:avLst/>
          </a:prstGeom>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66899" y="437269"/>
                <a:ext cx="10371372" cy="526374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400">
                        <a:latin typeface="Cambria Math" panose="02040503050406030204" pitchFamily="18" charset="0"/>
                        <a:ea typeface="Verdana" charset="0"/>
                        <a:cs typeface="Verdana" charset="0"/>
                      </a:rPr>
                      <m:t>Δ</m:t>
                    </m:r>
                    <m:r>
                      <a:rPr lang="en-US" sz="2400" i="1">
                        <a:latin typeface="Cambria Math" panose="02040503050406030204" pitchFamily="18" charset="0"/>
                        <a:ea typeface="Verdana" charset="0"/>
                        <a:cs typeface="Verdana" charset="0"/>
                      </a:rPr>
                      <m:t>𝑅𝑆𝑇</m:t>
                    </m:r>
                  </m:oMath>
                </a14:m>
                <a:r>
                  <a:rPr lang="en-US" sz="2400" dirty="0">
                    <a:latin typeface="Verdana" charset="0"/>
                    <a:ea typeface="Verdana" charset="0"/>
                    <a:cs typeface="Verdana" charset="0"/>
                  </a:rPr>
                  <a:t> is shown, where </a:t>
                </a:r>
                <a14:m>
                  <m:oMath xmlns:m="http://schemas.openxmlformats.org/officeDocument/2006/math">
                    <m:r>
                      <a:rPr lang="en-US" sz="2400" i="1">
                        <a:latin typeface="Cambria Math" panose="02040503050406030204" pitchFamily="18" charset="0"/>
                        <a:ea typeface="Verdana" charset="0"/>
                        <a:cs typeface="Verdana" charset="0"/>
                      </a:rPr>
                      <m:t>𝑆𝑇</m:t>
                    </m:r>
                    <m:r>
                      <a:rPr lang="en-US" sz="2400" i="1">
                        <a:latin typeface="Cambria Math" panose="02040503050406030204" pitchFamily="18" charset="0"/>
                        <a:ea typeface="Verdana" charset="0"/>
                        <a:cs typeface="Verdana" charset="0"/>
                      </a:rPr>
                      <m:t>=28</m:t>
                    </m:r>
                  </m:oMath>
                </a14:m>
                <a:r>
                  <a:rPr lang="en-US" sz="2400" dirty="0">
                    <a:latin typeface="Verdana" charset="0"/>
                    <a:ea typeface="Verdana" charset="0"/>
                    <a:cs typeface="Verdana" charset="0"/>
                  </a:rPr>
                  <a:t> and </a:t>
                </a:r>
                <a14:m>
                  <m:oMath xmlns:m="http://schemas.openxmlformats.org/officeDocument/2006/math">
                    <m:r>
                      <a:rPr lang="en-US" sz="2400" i="1">
                        <a:latin typeface="Cambria Math" panose="02040503050406030204" pitchFamily="18" charset="0"/>
                        <a:ea typeface="Verdana" charset="0"/>
                        <a:cs typeface="Verdana" charset="0"/>
                      </a:rPr>
                      <m:t>𝑅𝑇</m:t>
                    </m:r>
                    <m:r>
                      <a:rPr lang="en-US" sz="2400" i="1">
                        <a:latin typeface="Cambria Math" panose="02040503050406030204" pitchFamily="18" charset="0"/>
                        <a:ea typeface="Verdana" charset="0"/>
                        <a:cs typeface="Verdana" charset="0"/>
                      </a:rPr>
                      <m:t>=48</m:t>
                    </m:r>
                  </m:oMath>
                </a14:m>
                <a:r>
                  <a:rPr lang="en-US" sz="2400" dirty="0">
                    <a:latin typeface="Verdana" charset="0"/>
                    <a:ea typeface="Verdana" charset="0"/>
                    <a:cs typeface="Verdana" charset="0"/>
                  </a:rPr>
                  <a:t>.   </a:t>
                </a: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569913"/>
                <a:r>
                  <a:rPr lang="en-US" sz="2400" dirty="0">
                    <a:latin typeface="Verdana" charset="0"/>
                    <a:ea typeface="Verdana" charset="0"/>
                    <a:cs typeface="Verdana" charset="0"/>
                  </a:rPr>
                  <a:t>Find the length of </a:t>
                </a:r>
                <a14:m>
                  <m:oMath xmlns:m="http://schemas.openxmlformats.org/officeDocument/2006/math">
                    <m:acc>
                      <m:accPr>
                        <m:chr m:val="̅"/>
                        <m:ctrlPr>
                          <a:rPr lang="en-US" sz="2400" i="1">
                            <a:latin typeface="Cambria Math" panose="02040503050406030204" pitchFamily="18" charset="0"/>
                            <a:ea typeface="Verdana" charset="0"/>
                            <a:cs typeface="Verdana" charset="0"/>
                          </a:rPr>
                        </m:ctrlPr>
                      </m:accPr>
                      <m:e>
                        <m:r>
                          <a:rPr lang="en-US" sz="2400" i="1">
                            <a:latin typeface="Cambria Math" panose="02040503050406030204" pitchFamily="18" charset="0"/>
                            <a:ea typeface="Verdana" charset="0"/>
                            <a:cs typeface="Verdana" charset="0"/>
                          </a:rPr>
                          <m:t>𝑆𝑅</m:t>
                        </m:r>
                      </m:e>
                    </m:acc>
                  </m:oMath>
                </a14:m>
                <a:r>
                  <a:rPr lang="en-US" sz="2400" dirty="0">
                    <a:latin typeface="Verdana" charset="0"/>
                    <a:ea typeface="Verdana" charset="0"/>
                    <a:cs typeface="Verdana" charset="0"/>
                  </a:rPr>
                  <a:t> to the nearest thousandth. </a:t>
                </a:r>
              </a:p>
              <a:p>
                <a:pPr lvl="0"/>
                <a:endParaRPr lang="en-US" sz="24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66899" y="437269"/>
                <a:ext cx="10371372" cy="5263749"/>
              </a:xfrm>
              <a:prstGeom prst="rect">
                <a:avLst/>
              </a:prstGeom>
              <a:blipFill>
                <a:blip r:embed="rId4"/>
                <a:stretch>
                  <a:fillRect l="-881" t="-104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5320B5E-D1C9-BEBF-73B8-F314A67C6C0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8" name="Google Shape;283;g104476d1465_1_17">
            <a:extLst>
              <a:ext uri="{FF2B5EF4-FFF2-40B4-BE49-F238E27FC236}">
                <a16:creationId xmlns:a16="http://schemas.microsoft.com/office/drawing/2014/main" id="{3D8BDAE9-9E57-2F78-4E5C-50188A84E3BF}"/>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9897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55023" y="457369"/>
                <a:ext cx="10284032" cy="526297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400">
                        <a:latin typeface="Cambria Math" panose="02040503050406030204" pitchFamily="18" charset="0"/>
                        <a:ea typeface="Verdana" charset="0"/>
                        <a:cs typeface="Verdana" charset="0"/>
                      </a:rPr>
                      <m:t>Δ</m:t>
                    </m:r>
                    <m:r>
                      <a:rPr lang="en-US" sz="2400" i="1">
                        <a:latin typeface="Cambria Math" panose="02040503050406030204" pitchFamily="18" charset="0"/>
                        <a:ea typeface="Verdana" charset="0"/>
                        <a:cs typeface="Verdana" charset="0"/>
                      </a:rPr>
                      <m:t>𝑊𝑅𝑇</m:t>
                    </m:r>
                  </m:oMath>
                </a14:m>
                <a:r>
                  <a:rPr lang="en-US" sz="2400" dirty="0">
                    <a:latin typeface="Verdana" charset="0"/>
                    <a:ea typeface="Verdana" charset="0"/>
                    <a:cs typeface="Verdana" charset="0"/>
                  </a:rPr>
                  <a:t> is shown, where </a:t>
                </a:r>
                <a14:m>
                  <m:oMath xmlns:m="http://schemas.openxmlformats.org/officeDocument/2006/math">
                    <m:r>
                      <a:rPr lang="en-US" sz="2400" i="1">
                        <a:latin typeface="Cambria Math" panose="02040503050406030204" pitchFamily="18" charset="0"/>
                        <a:ea typeface="Verdana" charset="0"/>
                        <a:cs typeface="Verdana" charset="0"/>
                      </a:rPr>
                      <m:t>𝑊𝑇</m:t>
                    </m:r>
                    <m:r>
                      <a:rPr lang="en-US" sz="2400" i="1">
                        <a:latin typeface="Cambria Math" panose="02040503050406030204" pitchFamily="18" charset="0"/>
                        <a:ea typeface="Verdana" charset="0"/>
                        <a:cs typeface="Verdana" charset="0"/>
                      </a:rPr>
                      <m:t>=18.4</m:t>
                    </m:r>
                  </m:oMath>
                </a14:m>
                <a:r>
                  <a:rPr lang="en-US" sz="2400" dirty="0">
                    <a:latin typeface="Verdana" charset="0"/>
                    <a:ea typeface="Verdana" charset="0"/>
                    <a:cs typeface="Verdana" charset="0"/>
                  </a:rPr>
                  <a:t> and </a:t>
                </a:r>
                <a14:m>
                  <m:oMath xmlns:m="http://schemas.openxmlformats.org/officeDocument/2006/math">
                    <m:r>
                      <a:rPr lang="en-US" sz="2400" i="1">
                        <a:latin typeface="Cambria Math" panose="02040503050406030204" pitchFamily="18" charset="0"/>
                        <a:ea typeface="Verdana" charset="0"/>
                        <a:cs typeface="Verdana" charset="0"/>
                      </a:rPr>
                      <m:t>𝑅𝑇</m:t>
                    </m:r>
                    <m:r>
                      <a:rPr lang="en-US" sz="2400" i="1">
                        <a:latin typeface="Cambria Math" panose="02040503050406030204" pitchFamily="18" charset="0"/>
                        <a:ea typeface="Verdana" charset="0"/>
                        <a:cs typeface="Verdana" charset="0"/>
                      </a:rPr>
                      <m:t>=12.1</m:t>
                    </m:r>
                  </m:oMath>
                </a14:m>
                <a:r>
                  <a:rPr lang="en-US" sz="2400" dirty="0">
                    <a:latin typeface="Verdana" charset="0"/>
                    <a:ea typeface="Verdana" charset="0"/>
                    <a:cs typeface="Verdana" charset="0"/>
                  </a:rPr>
                  <a:t>. </a:t>
                </a: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lvl="0"/>
                <a:r>
                  <a:rPr lang="en-US" sz="2400" dirty="0">
                    <a:latin typeface="Verdana" charset="0"/>
                    <a:ea typeface="Verdana" charset="0"/>
                    <a:cs typeface="Verdana" charset="0"/>
                  </a:rPr>
                  <a:t> </a:t>
                </a: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lvl="0"/>
                <a:endParaRPr lang="en-US" sz="2400" dirty="0">
                  <a:latin typeface="Verdana" charset="0"/>
                  <a:ea typeface="Verdana" charset="0"/>
                  <a:cs typeface="Verdana" charset="0"/>
                </a:endParaRPr>
              </a:p>
              <a:p>
                <a:pPr lvl="0"/>
                <a:endParaRPr lang="en-US" sz="2400" dirty="0">
                  <a:latin typeface="Verdana" charset="0"/>
                  <a:ea typeface="Verdana" charset="0"/>
                  <a:cs typeface="Verdana" charset="0"/>
                </a:endParaRPr>
              </a:p>
              <a:p>
                <a:pPr lvl="0"/>
                <a:endParaRPr lang="en-US" sz="2400" dirty="0">
                  <a:latin typeface="Verdana" charset="0"/>
                  <a:ea typeface="Verdana" charset="0"/>
                  <a:cs typeface="Verdana" charset="0"/>
                </a:endParaRPr>
              </a:p>
              <a:p>
                <a:pPr marL="569913"/>
                <a:r>
                  <a:rPr lang="en-US" sz="2400" dirty="0">
                    <a:latin typeface="Verdana" charset="0"/>
                    <a:ea typeface="Verdana" charset="0"/>
                    <a:cs typeface="Verdana" charset="0"/>
                  </a:rPr>
                  <a:t>Find the length, to the nearest thousandth, of </a:t>
                </a:r>
                <a14:m>
                  <m:oMath xmlns:m="http://schemas.openxmlformats.org/officeDocument/2006/math">
                    <m:acc>
                      <m:accPr>
                        <m:chr m:val="̅"/>
                        <m:ctrlPr>
                          <a:rPr lang="en-US" sz="2400" i="1">
                            <a:latin typeface="Cambria Math" panose="02040503050406030204" pitchFamily="18" charset="0"/>
                            <a:ea typeface="Verdana" charset="0"/>
                            <a:cs typeface="Verdana" charset="0"/>
                          </a:rPr>
                        </m:ctrlPr>
                      </m:accPr>
                      <m:e>
                        <m:r>
                          <a:rPr lang="en-US" sz="2400" i="1">
                            <a:latin typeface="Cambria Math" panose="02040503050406030204" pitchFamily="18" charset="0"/>
                            <a:ea typeface="Verdana" charset="0"/>
                            <a:cs typeface="Verdana" charset="0"/>
                          </a:rPr>
                          <m:t>𝑊𝑅</m:t>
                        </m:r>
                      </m:e>
                    </m:acc>
                  </m:oMath>
                </a14:m>
                <a:r>
                  <a:rPr lang="en-US" sz="2400" dirty="0">
                    <a:latin typeface="Verdana" charset="0"/>
                    <a:ea typeface="Verdana" charset="0"/>
                    <a:cs typeface="Verdana" charset="0"/>
                  </a:rPr>
                  <a:t>.</a:t>
                </a:r>
              </a:p>
              <a:p>
                <a:pPr lvl="0"/>
                <a:endParaRPr lang="en-US" sz="24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3" y="457369"/>
                <a:ext cx="10284032" cy="5262979"/>
              </a:xfrm>
              <a:prstGeom prst="rect">
                <a:avLst/>
              </a:prstGeom>
              <a:blipFill>
                <a:blip r:embed="rId4"/>
                <a:stretch>
                  <a:fillRect l="-889" t="-104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CFC9A26-671E-2C45-82EC-8B136C03E0A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442618" y="1318140"/>
            <a:ext cx="2362200" cy="2311400"/>
          </a:xfrm>
          <a:prstGeom prst="rect">
            <a:avLst/>
          </a:prstGeom>
        </p:spPr>
      </p:pic>
      <p:sp>
        <p:nvSpPr>
          <p:cNvPr id="7" name="Google Shape;282;g104476d1465_1_17">
            <a:extLst>
              <a:ext uri="{FF2B5EF4-FFF2-40B4-BE49-F238E27FC236}">
                <a16:creationId xmlns:a16="http://schemas.microsoft.com/office/drawing/2014/main" id="{C5224DE3-B590-3A2B-D15F-80B0309DA40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pg. 373</a:t>
            </a:r>
          </a:p>
        </p:txBody>
      </p:sp>
    </p:spTree>
    <p:extLst>
      <p:ext uri="{BB962C8B-B14F-4D97-AF65-F5344CB8AC3E}">
        <p14:creationId xmlns:p14="http://schemas.microsoft.com/office/powerpoint/2010/main" val="72206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3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373</a:t>
            </a: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6914" y="68550"/>
            <a:ext cx="7592304"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7.1.4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456407" y="68550"/>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843148" y="1121119"/>
                <a:ext cx="10295907" cy="2381678"/>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In </a:t>
                </a:r>
                <a14:m>
                  <m:oMath xmlns:m="http://schemas.openxmlformats.org/officeDocument/2006/math">
                    <m:r>
                      <m:rPr>
                        <m:sty m:val="p"/>
                      </m:rPr>
                      <a:rPr lang="en-US" sz="2400">
                        <a:latin typeface="Cambria Math" panose="02040503050406030204" pitchFamily="18" charset="0"/>
                        <a:ea typeface="Verdana" charset="0"/>
                        <a:cs typeface="Verdana" charset="0"/>
                      </a:rPr>
                      <m:t>Δ</m:t>
                    </m:r>
                    <m:r>
                      <a:rPr lang="en-US" sz="2400" i="1">
                        <a:latin typeface="Cambria Math" panose="02040503050406030204" pitchFamily="18" charset="0"/>
                        <a:ea typeface="Verdana" charset="0"/>
                        <a:cs typeface="Verdana" charset="0"/>
                      </a:rPr>
                      <m:t>𝐻𝑀𝑋</m:t>
                    </m:r>
                  </m:oMath>
                </a14:m>
                <a:r>
                  <a:rPr lang="en-US" sz="2400" dirty="0">
                    <a:latin typeface="Verdana" charset="0"/>
                    <a:ea typeface="Verdana" charset="0"/>
                    <a:cs typeface="Verdana" charset="0"/>
                  </a:rPr>
                  <a:t>, </a:t>
                </a:r>
                <a14:m>
                  <m:oMath xmlns:m="http://schemas.openxmlformats.org/officeDocument/2006/math">
                    <m:r>
                      <a:rPr lang="en-US" sz="2400" i="1">
                        <a:latin typeface="Cambria Math" panose="02040503050406030204" pitchFamily="18" charset="0"/>
                        <a:ea typeface="Verdana" charset="0"/>
                        <a:cs typeface="Verdana" charset="0"/>
                      </a:rPr>
                      <m:t>𝑚</m:t>
                    </m:r>
                    <m:r>
                      <a:rPr lang="en-US" sz="2400" i="1">
                        <a:latin typeface="Cambria Math" panose="02040503050406030204" pitchFamily="18" charset="0"/>
                        <a:ea typeface="Verdana" charset="0"/>
                        <a:cs typeface="Verdana" charset="0"/>
                      </a:rPr>
                      <m:t>∠</m:t>
                    </m:r>
                    <m:r>
                      <a:rPr lang="en-US" sz="2400" i="1">
                        <a:latin typeface="Cambria Math" panose="02040503050406030204" pitchFamily="18" charset="0"/>
                        <a:ea typeface="Verdana" charset="0"/>
                        <a:cs typeface="Verdana" charset="0"/>
                      </a:rPr>
                      <m:t>𝑀𝑋𝐻</m:t>
                    </m:r>
                    <m:r>
                      <a:rPr lang="en-US" sz="2400" i="1">
                        <a:latin typeface="Cambria Math" panose="02040503050406030204" pitchFamily="18" charset="0"/>
                        <a:ea typeface="Verdana" charset="0"/>
                        <a:cs typeface="Verdana" charset="0"/>
                      </a:rPr>
                      <m:t>=90°</m:t>
                    </m:r>
                  </m:oMath>
                </a14:m>
                <a:r>
                  <a:rPr lang="en-US" sz="2400" dirty="0">
                    <a:latin typeface="Verdana" charset="0"/>
                    <a:ea typeface="Verdana" charset="0"/>
                    <a:cs typeface="Verdana" charset="0"/>
                  </a:rPr>
                  <a:t>, </a:t>
                </a:r>
                <a14:m>
                  <m:oMath xmlns:m="http://schemas.openxmlformats.org/officeDocument/2006/math">
                    <m:r>
                      <a:rPr lang="en-US" sz="2400" i="1">
                        <a:latin typeface="Cambria Math" panose="02040503050406030204" pitchFamily="18" charset="0"/>
                        <a:ea typeface="Verdana" charset="0"/>
                        <a:cs typeface="Verdana" charset="0"/>
                      </a:rPr>
                      <m:t>𝑀𝐻</m:t>
                    </m:r>
                    <m:r>
                      <a:rPr lang="en-US" sz="2400" i="1">
                        <a:latin typeface="Cambria Math" panose="02040503050406030204" pitchFamily="18" charset="0"/>
                        <a:ea typeface="Verdana" charset="0"/>
                        <a:cs typeface="Verdana" charset="0"/>
                      </a:rPr>
                      <m:t>=12</m:t>
                    </m:r>
                  </m:oMath>
                </a14:m>
                <a:r>
                  <a:rPr lang="en-US" sz="2400" dirty="0">
                    <a:latin typeface="Verdana" charset="0"/>
                    <a:ea typeface="Verdana" charset="0"/>
                    <a:cs typeface="Verdana" charset="0"/>
                  </a:rPr>
                  <a:t>, and </a:t>
                </a:r>
                <a14:m>
                  <m:oMath xmlns:m="http://schemas.openxmlformats.org/officeDocument/2006/math">
                    <m:r>
                      <a:rPr lang="en-US" sz="2400" i="1">
                        <a:latin typeface="Cambria Math" panose="02040503050406030204" pitchFamily="18" charset="0"/>
                        <a:ea typeface="Verdana" charset="0"/>
                        <a:cs typeface="Verdana" charset="0"/>
                      </a:rPr>
                      <m:t>𝑀𝑋</m:t>
                    </m:r>
                    <m:r>
                      <a:rPr lang="en-US" sz="2400" i="1">
                        <a:latin typeface="Cambria Math" panose="02040503050406030204" pitchFamily="18" charset="0"/>
                        <a:ea typeface="Verdana" charset="0"/>
                        <a:cs typeface="Verdana" charset="0"/>
                      </a:rPr>
                      <m:t>=7</m:t>
                    </m:r>
                  </m:oMath>
                </a14:m>
                <a:r>
                  <a:rPr lang="en-US" sz="2400" dirty="0">
                    <a:latin typeface="Verdana" charset="0"/>
                    <a:ea typeface="Verdana" charset="0"/>
                    <a:cs typeface="Verdana" charset="0"/>
                  </a:rPr>
                  <a:t>. Determine the length of </a:t>
                </a:r>
                <a14:m>
                  <m:oMath xmlns:m="http://schemas.openxmlformats.org/officeDocument/2006/math">
                    <m:acc>
                      <m:accPr>
                        <m:chr m:val="̅"/>
                        <m:ctrlPr>
                          <a:rPr lang="en-US" sz="2400" i="1">
                            <a:latin typeface="Cambria Math" panose="02040503050406030204" pitchFamily="18" charset="0"/>
                            <a:ea typeface="Verdana" charset="0"/>
                            <a:cs typeface="Verdana" charset="0"/>
                          </a:rPr>
                        </m:ctrlPr>
                      </m:accPr>
                      <m:e>
                        <m:r>
                          <a:rPr lang="en-US" sz="2400" i="1">
                            <a:latin typeface="Cambria Math" panose="02040503050406030204" pitchFamily="18" charset="0"/>
                            <a:ea typeface="Verdana" charset="0"/>
                            <a:cs typeface="Verdana" charset="0"/>
                          </a:rPr>
                          <m:t>𝑋𝐻</m:t>
                        </m:r>
                      </m:e>
                    </m:acc>
                  </m:oMath>
                </a14:m>
                <a:r>
                  <a:rPr lang="en-US" sz="2400" dirty="0">
                    <a:latin typeface="Verdana" charset="0"/>
                    <a:ea typeface="Verdana" charset="0"/>
                    <a:cs typeface="Verdana" charset="0"/>
                  </a:rPr>
                  <a:t>. Round to the nearest thousandth.</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400">
                        <a:latin typeface="Cambria Math" panose="02040503050406030204" pitchFamily="18" charset="0"/>
                        <a:ea typeface="Verdana" charset="0"/>
                        <a:cs typeface="Verdana" charset="0"/>
                      </a:rPr>
                      <m:t>Δ</m:t>
                    </m:r>
                    <m:r>
                      <a:rPr lang="en-US" sz="2400" i="1">
                        <a:latin typeface="Cambria Math" panose="02040503050406030204" pitchFamily="18" charset="0"/>
                        <a:ea typeface="Verdana" charset="0"/>
                        <a:cs typeface="Verdana" charset="0"/>
                      </a:rPr>
                      <m:t>𝑇𝑊𝐾</m:t>
                    </m:r>
                  </m:oMath>
                </a14:m>
                <a:r>
                  <a:rPr lang="en-US" sz="2400" dirty="0">
                    <a:latin typeface="Verdana" charset="0"/>
                    <a:ea typeface="Verdana" charset="0"/>
                    <a:cs typeface="Verdana" charset="0"/>
                  </a:rPr>
                  <a:t> and </a:t>
                </a:r>
                <a14:m>
                  <m:oMath xmlns:m="http://schemas.openxmlformats.org/officeDocument/2006/math">
                    <m:r>
                      <m:rPr>
                        <m:sty m:val="p"/>
                      </m:rPr>
                      <a:rPr lang="en-US" sz="2400">
                        <a:latin typeface="Cambria Math" panose="02040503050406030204" pitchFamily="18" charset="0"/>
                        <a:ea typeface="Verdana" charset="0"/>
                        <a:cs typeface="Verdana" charset="0"/>
                      </a:rPr>
                      <m:t>Δ</m:t>
                    </m:r>
                    <m:r>
                      <a:rPr lang="en-US" sz="2400" i="1">
                        <a:latin typeface="Cambria Math" panose="02040503050406030204" pitchFamily="18" charset="0"/>
                        <a:ea typeface="Verdana" charset="0"/>
                        <a:cs typeface="Verdana" charset="0"/>
                      </a:rPr>
                      <m:t>𝑇𝐻𝐾</m:t>
                    </m:r>
                  </m:oMath>
                </a14:m>
                <a:r>
                  <a:rPr lang="en-US" sz="2400" dirty="0">
                    <a:latin typeface="Verdana" charset="0"/>
                    <a:ea typeface="Verdana" charset="0"/>
                    <a:cs typeface="Verdana" charset="0"/>
                  </a:rPr>
                  <a:t> are shown, where </a:t>
                </a:r>
                <a14:m>
                  <m:oMath xmlns:m="http://schemas.openxmlformats.org/officeDocument/2006/math">
                    <m:r>
                      <a:rPr lang="en-US" sz="2400" i="1">
                        <a:latin typeface="Cambria Math" panose="02040503050406030204" pitchFamily="18" charset="0"/>
                        <a:ea typeface="Verdana" charset="0"/>
                        <a:cs typeface="Verdana" charset="0"/>
                      </a:rPr>
                      <m:t>𝑇𝑊</m:t>
                    </m:r>
                    <m:r>
                      <a:rPr lang="en-US" sz="2400" i="1">
                        <a:latin typeface="Cambria Math" panose="02040503050406030204" pitchFamily="18" charset="0"/>
                        <a:ea typeface="Verdana" charset="0"/>
                        <a:cs typeface="Verdana" charset="0"/>
                      </a:rPr>
                      <m:t>=</m:t>
                    </m:r>
                    <m:rad>
                      <m:radPr>
                        <m:degHide m:val="on"/>
                        <m:ctrlPr>
                          <a:rPr lang="en-US" sz="2400" i="1">
                            <a:latin typeface="Cambria Math" panose="02040503050406030204" pitchFamily="18" charset="0"/>
                            <a:ea typeface="Verdana" charset="0"/>
                            <a:cs typeface="Verdana" charset="0"/>
                          </a:rPr>
                        </m:ctrlPr>
                      </m:radPr>
                      <m:deg/>
                      <m:e>
                        <m:r>
                          <a:rPr lang="en-US" sz="2400" i="1">
                            <a:latin typeface="Cambria Math" panose="02040503050406030204" pitchFamily="18" charset="0"/>
                            <a:ea typeface="Verdana" charset="0"/>
                            <a:cs typeface="Verdana" charset="0"/>
                          </a:rPr>
                          <m:t>45</m:t>
                        </m:r>
                      </m:e>
                    </m:rad>
                  </m:oMath>
                </a14:m>
                <a:r>
                  <a:rPr lang="en-US" sz="2400" dirty="0">
                    <a:latin typeface="Verdana" charset="0"/>
                    <a:ea typeface="Verdana" charset="0"/>
                    <a:cs typeface="Verdana" charset="0"/>
                  </a:rPr>
                  <a:t>, </a:t>
                </a:r>
                <a14:m>
                  <m:oMath xmlns:m="http://schemas.openxmlformats.org/officeDocument/2006/math">
                    <m:r>
                      <a:rPr lang="en-US" sz="2400" i="1">
                        <a:latin typeface="Cambria Math" panose="02040503050406030204" pitchFamily="18" charset="0"/>
                        <a:ea typeface="Verdana" charset="0"/>
                        <a:cs typeface="Verdana" charset="0"/>
                      </a:rPr>
                      <m:t>𝑇𝐻</m:t>
                    </m:r>
                    <m:r>
                      <a:rPr lang="en-US" sz="2400" i="1">
                        <a:latin typeface="Cambria Math" panose="02040503050406030204" pitchFamily="18" charset="0"/>
                        <a:ea typeface="Verdana" charset="0"/>
                        <a:cs typeface="Verdana" charset="0"/>
                      </a:rPr>
                      <m:t>=</m:t>
                    </m:r>
                    <m:rad>
                      <m:radPr>
                        <m:degHide m:val="on"/>
                        <m:ctrlPr>
                          <a:rPr lang="en-US" sz="2400" i="1">
                            <a:latin typeface="Cambria Math" panose="02040503050406030204" pitchFamily="18" charset="0"/>
                            <a:ea typeface="Verdana" charset="0"/>
                            <a:cs typeface="Verdana" charset="0"/>
                          </a:rPr>
                        </m:ctrlPr>
                      </m:radPr>
                      <m:deg/>
                      <m:e>
                        <m:r>
                          <a:rPr lang="en-US" sz="2400" i="1">
                            <a:latin typeface="Cambria Math" panose="02040503050406030204" pitchFamily="18" charset="0"/>
                            <a:ea typeface="Verdana" charset="0"/>
                            <a:cs typeface="Verdana" charset="0"/>
                          </a:rPr>
                          <m:t>68</m:t>
                        </m:r>
                      </m:e>
                    </m:rad>
                  </m:oMath>
                </a14:m>
                <a:r>
                  <a:rPr lang="en-US" sz="2400" dirty="0">
                    <a:latin typeface="Verdana" charset="0"/>
                    <a:ea typeface="Verdana" charset="0"/>
                    <a:cs typeface="Verdana" charset="0"/>
                  </a:rPr>
                  <a:t>, and </a:t>
                </a:r>
                <a14:m>
                  <m:oMath xmlns:m="http://schemas.openxmlformats.org/officeDocument/2006/math">
                    <m:r>
                      <a:rPr lang="en-US" sz="2400" i="1">
                        <a:latin typeface="Cambria Math" panose="02040503050406030204" pitchFamily="18" charset="0"/>
                        <a:ea typeface="Verdana" charset="0"/>
                        <a:cs typeface="Verdana" charset="0"/>
                      </a:rPr>
                      <m:t>𝑇𝐾</m:t>
                    </m:r>
                    <m:r>
                      <a:rPr lang="en-US" sz="2400" i="1">
                        <a:latin typeface="Cambria Math" panose="02040503050406030204" pitchFamily="18" charset="0"/>
                        <a:ea typeface="Verdana" charset="0"/>
                        <a:cs typeface="Verdana" charset="0"/>
                      </a:rPr>
                      <m:t>=</m:t>
                    </m:r>
                    <m:rad>
                      <m:radPr>
                        <m:degHide m:val="on"/>
                        <m:ctrlPr>
                          <a:rPr lang="en-US" sz="2400" i="1">
                            <a:latin typeface="Cambria Math" panose="02040503050406030204" pitchFamily="18" charset="0"/>
                            <a:ea typeface="Verdana" charset="0"/>
                            <a:cs typeface="Verdana" charset="0"/>
                          </a:rPr>
                        </m:ctrlPr>
                      </m:radPr>
                      <m:deg/>
                      <m:e>
                        <m:r>
                          <a:rPr lang="en-US" sz="2400" i="1">
                            <a:latin typeface="Cambria Math" panose="02040503050406030204" pitchFamily="18" charset="0"/>
                            <a:ea typeface="Verdana" charset="0"/>
                            <a:cs typeface="Verdana" charset="0"/>
                          </a:rPr>
                          <m:t>113</m:t>
                        </m:r>
                      </m:e>
                    </m:rad>
                  </m:oMath>
                </a14:m>
                <a:r>
                  <a:rPr lang="en-US" sz="2400" dirty="0">
                    <a:latin typeface="Verdana" charset="0"/>
                    <a:ea typeface="Verdana" charset="0"/>
                    <a:cs typeface="Verdana" charset="0"/>
                  </a:rPr>
                  <a:t>. Find the length of </a:t>
                </a:r>
                <a14:m>
                  <m:oMath xmlns:m="http://schemas.openxmlformats.org/officeDocument/2006/math">
                    <m:acc>
                      <m:accPr>
                        <m:chr m:val="̅"/>
                        <m:ctrlPr>
                          <a:rPr lang="en-US" sz="2400" i="1">
                            <a:latin typeface="Cambria Math" panose="02040503050406030204" pitchFamily="18" charset="0"/>
                            <a:ea typeface="Verdana" charset="0"/>
                            <a:cs typeface="Verdana" charset="0"/>
                          </a:rPr>
                        </m:ctrlPr>
                      </m:accPr>
                      <m:e>
                        <m:r>
                          <a:rPr lang="en-US" sz="2400" i="1">
                            <a:latin typeface="Cambria Math" panose="02040503050406030204" pitchFamily="18" charset="0"/>
                            <a:ea typeface="Verdana" charset="0"/>
                            <a:cs typeface="Verdana" charset="0"/>
                          </a:rPr>
                          <m:t>𝑊𝐾</m:t>
                        </m:r>
                      </m:e>
                    </m:acc>
                  </m:oMath>
                </a14:m>
                <a:r>
                  <a:rPr lang="en-US" sz="2400" dirty="0">
                    <a:latin typeface="Verdana" charset="0"/>
                    <a:ea typeface="Verdana" charset="0"/>
                    <a:cs typeface="Verdana" charset="0"/>
                  </a:rPr>
                  <a:t> and </a:t>
                </a:r>
                <a14:m>
                  <m:oMath xmlns:m="http://schemas.openxmlformats.org/officeDocument/2006/math">
                    <m:acc>
                      <m:accPr>
                        <m:chr m:val="̅"/>
                        <m:ctrlPr>
                          <a:rPr lang="en-US" sz="2400" i="1">
                            <a:latin typeface="Cambria Math" panose="02040503050406030204" pitchFamily="18" charset="0"/>
                            <a:ea typeface="Verdana" charset="0"/>
                            <a:cs typeface="Verdana" charset="0"/>
                          </a:rPr>
                        </m:ctrlPr>
                      </m:accPr>
                      <m:e>
                        <m:r>
                          <a:rPr lang="en-US" sz="2400" i="1">
                            <a:latin typeface="Cambria Math" panose="02040503050406030204" pitchFamily="18" charset="0"/>
                            <a:ea typeface="Verdana" charset="0"/>
                            <a:cs typeface="Verdana" charset="0"/>
                          </a:rPr>
                          <m:t>𝐻𝐾</m:t>
                        </m:r>
                      </m:e>
                    </m:acc>
                  </m:oMath>
                </a14:m>
                <a:r>
                  <a:rPr lang="en-US" sz="2400" dirty="0">
                    <a:latin typeface="Verdana" charset="0"/>
                    <a:ea typeface="Verdana" charset="0"/>
                    <a:cs typeface="Verdana" charset="0"/>
                  </a:rPr>
                  <a:t>. Round to the nearest thousandth. </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843148" y="1121119"/>
                <a:ext cx="10295907" cy="2381678"/>
              </a:xfrm>
              <a:prstGeom prst="rect">
                <a:avLst/>
              </a:prstGeom>
              <a:blipFill>
                <a:blip r:embed="rId4"/>
                <a:stretch>
                  <a:fillRect l="-888" t="-2302" b="-4859"/>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EDD7E546-9334-CD4B-9098-7FA33B42DB04}"/>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50334" y="3394413"/>
            <a:ext cx="4127500" cy="3390900"/>
          </a:xfrm>
          <a:prstGeom prst="rect">
            <a:avLst/>
          </a:prstGeom>
        </p:spPr>
      </p:pic>
      <p:sp>
        <p:nvSpPr>
          <p:cNvPr id="10" name="Google Shape;282;g104476d1465_1_17">
            <a:extLst>
              <a:ext uri="{FF2B5EF4-FFF2-40B4-BE49-F238E27FC236}">
                <a16:creationId xmlns:a16="http://schemas.microsoft.com/office/drawing/2014/main" id="{F64A2660-3B31-8DA5-9286-E13D294E7BF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373</a:t>
            </a:r>
          </a:p>
        </p:txBody>
      </p:sp>
      <p:pic>
        <p:nvPicPr>
          <p:cNvPr id="13" name="Google Shape;311;g104476d1465_1_39">
            <a:extLst>
              <a:ext uri="{FF2B5EF4-FFF2-40B4-BE49-F238E27FC236}">
                <a16:creationId xmlns:a16="http://schemas.microsoft.com/office/drawing/2014/main" id="{1431C089-7ED4-09D7-45F7-3F7B6DB235B7}"/>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527"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374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753"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6914" y="-1"/>
            <a:ext cx="9678390" cy="124312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7.1.5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50516" y="24791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31273" y="1231647"/>
            <a:ext cx="10284032" cy="1200329"/>
          </a:xfrm>
          <a:prstGeom prst="rect">
            <a:avLst/>
          </a:prstGeom>
          <a:noFill/>
        </p:spPr>
        <p:txBody>
          <a:bodyPr wrap="square" rtlCol="0">
            <a:spAutoFit/>
          </a:bodyPr>
          <a:lstStyle/>
          <a:p>
            <a:pPr marL="463550" indent="-463550" rtl="0" fontAlgn="base">
              <a:spcBef>
                <a:spcPts val="0"/>
              </a:spcBef>
              <a:spcAft>
                <a:spcPts val="0"/>
              </a:spcAft>
              <a:buFont typeface="+mj-lt"/>
              <a:buAutoNum type="arabicPeriod"/>
            </a:pPr>
            <a:r>
              <a:rPr lang="en-US" sz="2400" b="0" i="0" u="none" strike="noStrike" dirty="0">
                <a:solidFill>
                  <a:srgbClr val="000000"/>
                </a:solidFill>
                <a:effectLst/>
                <a:latin typeface="Verdana" panose="020B0604030504040204" pitchFamily="34" charset="0"/>
              </a:rPr>
              <a:t>Write an explanation to a classmate who might have missed today’s lesson, in your own words, about the Pythagorean Theorem.</a:t>
            </a:r>
            <a:endParaRPr lang="en-US" sz="2400" b="0" i="0" u="none" strike="noStrike" dirty="0">
              <a:solidFill>
                <a:srgbClr val="000000"/>
              </a:solidFill>
              <a:effectLst/>
              <a:latin typeface="Arial" panose="020B0604020202020204" pitchFamily="34" charset="0"/>
            </a:endParaRP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365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1360</TotalTime>
  <Words>934</Words>
  <Application>Microsoft Office PowerPoint</Application>
  <PresentationFormat>Widescreen</PresentationFormat>
  <Paragraphs>200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 Math</vt:lpstr>
      <vt:lpstr>Century Gothic</vt:lpstr>
      <vt:lpstr>Times New Roman</vt:lpstr>
      <vt:lpstr>Verdana</vt:lpstr>
      <vt:lpstr>Wingdings</vt:lpstr>
      <vt:lpstr>1_Office Theme</vt:lpstr>
      <vt:lpstr>Geometry  Unit 7, Lesson 1  The Pythagorean Theorem  Volume 1, pg. 369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28</cp:revision>
  <dcterms:created xsi:type="dcterms:W3CDTF">2015-03-17T18:51:18Z</dcterms:created>
  <dcterms:modified xsi:type="dcterms:W3CDTF">2022-08-23T13:17:24Z</dcterms:modified>
</cp:coreProperties>
</file>