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66" r:id="rId25"/>
    <p:sldId id="359" r:id="rId26"/>
    <p:sldId id="360" r:id="rId27"/>
    <p:sldId id="361" r:id="rId28"/>
    <p:sldId id="362" r:id="rId29"/>
    <p:sldId id="367" r:id="rId30"/>
    <p:sldId id="363" r:id="rId31"/>
    <p:sldId id="364" r:id="rId32"/>
    <p:sldId id="365" r:id="rId33"/>
    <p:sldId id="306" r:id="rId34"/>
    <p:sldId id="307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7"/>
    <p:restoredTop sz="93487" autoAdjust="0"/>
  </p:normalViewPr>
  <p:slideViewPr>
    <p:cSldViewPr snapToGrid="0">
      <p:cViewPr varScale="1">
        <p:scale>
          <a:sx n="80" d="100"/>
          <a:sy n="80" d="100"/>
        </p:scale>
        <p:origin x="3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801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1232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87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2625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49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439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460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09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0860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1115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119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5753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3735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85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63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83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883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6798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558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8477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5697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58024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07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9097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9681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4202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image" Target="../media/image580.png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The Unit Circle and Its Coordinates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407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MA.912.T.1.1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Define trigonometric ratios for acute angles in right triangles.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85349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268" y="1608425"/>
                <a:ext cx="11156882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indent="-342900">
                  <a:buFont typeface="Wingdings" charset="2"/>
                  <a:buChar char="q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 can explore relationships between the coordinates of vertices when the triangles are in different quadrants.</a:t>
                </a:r>
              </a:p>
              <a:p>
                <a:pPr marL="342900" indent="-342900">
                  <a:buFont typeface="Wingdings" charset="2"/>
                  <a:buChar char="q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 can use side ratios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45−45−90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triangles to solve problems.</a:t>
                </a:r>
              </a:p>
              <a:p>
                <a:pPr marL="342900" indent="-342900">
                  <a:buFont typeface="Wingdings" charset="2"/>
                  <a:buChar char="q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 can use side ratios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30−60−90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triangles to solve problems. </a:t>
                </a: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68" y="1608425"/>
                <a:ext cx="11156882" cy="4205700"/>
              </a:xfrm>
              <a:prstGeom prst="rect">
                <a:avLst/>
              </a:prstGeom>
              <a:blipFill>
                <a:blip r:embed="rId5"/>
                <a:stretch>
                  <a:fillRect l="-710" t="-1159" r="-13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-64185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7.7.1 Warm-Up: Between Two Numbers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636268" y="3692769"/>
                <a:ext cx="109918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Florida Box Turtle’s average speed is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0.17 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miles per hour.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North American X-15's top speed is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163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 per hour. 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time would it take for each to travel across Florida, a distance of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68" y="3692769"/>
                <a:ext cx="10991882" cy="1938992"/>
              </a:xfrm>
              <a:prstGeom prst="rect">
                <a:avLst/>
              </a:prstGeom>
              <a:blipFill>
                <a:blip r:embed="rId5"/>
                <a:stretch>
                  <a:fillRect l="-610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5948" y="1492891"/>
            <a:ext cx="3416300" cy="1968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364303"/>
            <a:ext cx="2272632" cy="222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408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94466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7.7.2 Exploration: The Unit Circle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408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620" y="30857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06315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polar graph paper, where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0631566" cy="400110"/>
              </a:xfrm>
              <a:prstGeom prst="rect">
                <a:avLst/>
              </a:prstGeom>
              <a:blipFill>
                <a:blip r:embed="rId5"/>
                <a:stretch>
                  <a:fillRect l="-631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005875" y="2386528"/>
                <a:ext cx="4231397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 circle that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 circle that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75" y="2386528"/>
                <a:ext cx="4231397" cy="1631216"/>
              </a:xfrm>
              <a:prstGeom prst="rect">
                <a:avLst/>
              </a:prstGeom>
              <a:blipFill>
                <a:blip r:embed="rId6"/>
                <a:stretch>
                  <a:fillRect l="-1585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9485" y="1965697"/>
            <a:ext cx="4948750" cy="483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0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7"/>
                <a:ext cx="11130317" cy="1197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triangle formed by drawing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angle at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both a coordinate grid and on a polar graph,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𝑀𝑅𝐷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=30°,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=60°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𝐷𝑀𝑅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7"/>
                <a:ext cx="11130317" cy="1197572"/>
              </a:xfrm>
              <a:prstGeom prst="rect">
                <a:avLst/>
              </a:prstGeom>
              <a:blipFill>
                <a:blip r:embed="rId4"/>
                <a:stretch>
                  <a:fillRect l="-548" t="-2538" b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1810" y="1887549"/>
            <a:ext cx="3847577" cy="38475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3244" y="1887549"/>
            <a:ext cx="3580031" cy="384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0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6384" y="520518"/>
                <a:ext cx="1073176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any similarities and differences between the graphs. Summarize your discussion.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4" y="520518"/>
                <a:ext cx="10731766" cy="2862322"/>
              </a:xfrm>
              <a:prstGeom prst="rect">
                <a:avLst/>
              </a:prstGeom>
              <a:blipFill>
                <a:blip r:embed="rId4"/>
                <a:stretch>
                  <a:fillRect l="-625" t="-1277" r="-965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862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0342" y="520518"/>
                <a:ext cx="1064358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table. Leave answers in exact form.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 be found using the values from the table. Make a conjecture about the relationship between the values of cosine and sine, and the coordinate pair formed by the angle.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42" y="520518"/>
                <a:ext cx="10643582" cy="3477875"/>
              </a:xfrm>
              <a:prstGeom prst="rect">
                <a:avLst/>
              </a:prstGeom>
              <a:blipFill>
                <a:blip r:embed="rId4"/>
                <a:stretch>
                  <a:fillRect l="-630" t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521661"/>
                  </p:ext>
                </p:extLst>
              </p:nvPr>
            </p:nvGraphicFramePr>
            <p:xfrm>
              <a:off x="1516940" y="1157566"/>
              <a:ext cx="7113878" cy="12833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42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91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77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820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86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7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30°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</m:t>
                              </m:r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)</m:t>
                              </m:r>
                            </m:oMath>
                          </a14:m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521661"/>
                  </p:ext>
                </p:extLst>
              </p:nvPr>
            </p:nvGraphicFramePr>
            <p:xfrm>
              <a:off x="1516940" y="1157566"/>
              <a:ext cx="7113878" cy="12833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42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911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77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820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86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7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45" t="-39130" r="-654839" b="-1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835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3584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5358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1256632" cy="1198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triangle formed by drawing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angle at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both a coordinate grid and on a polar graph,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𝐶𝑅𝐿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=45°,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=45°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𝑅𝐶𝐿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=1, 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1256632" cy="1198405"/>
              </a:xfrm>
              <a:prstGeom prst="rect">
                <a:avLst/>
              </a:prstGeom>
              <a:blipFill>
                <a:blip r:embed="rId4"/>
                <a:stretch>
                  <a:fillRect l="-542" t="-2538" r="-433" b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0850" y="1826873"/>
            <a:ext cx="3815521" cy="38435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004" y="1718923"/>
            <a:ext cx="3899687" cy="408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36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71036" y="520517"/>
                <a:ext cx="1054421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table. Leave answers in exact form.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36" y="520517"/>
                <a:ext cx="10544216" cy="2554545"/>
              </a:xfrm>
              <a:prstGeom prst="rect">
                <a:avLst/>
              </a:prstGeom>
              <a:blipFill>
                <a:blip r:embed="rId4"/>
                <a:stretch>
                  <a:fillRect l="-636" t="-1432" b="-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5882689"/>
                  </p:ext>
                </p:extLst>
              </p:nvPr>
            </p:nvGraphicFramePr>
            <p:xfrm>
              <a:off x="1094236" y="3429000"/>
              <a:ext cx="8404376" cy="18451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161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26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6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595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70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81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45°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)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5882689"/>
                  </p:ext>
                </p:extLst>
              </p:nvPr>
            </p:nvGraphicFramePr>
            <p:xfrm>
              <a:off x="1094236" y="3429000"/>
              <a:ext cx="8404376" cy="18451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161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26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60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595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70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81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031" marR="760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6" t="-32636" r="-655191" b="-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6031" marR="76031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051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6384" y="520518"/>
                <a:ext cx="1073176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whether or not the conjecture that was made about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could be applied to determine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necessary, revise your conjecture.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84" y="520518"/>
                <a:ext cx="10731766" cy="1015663"/>
              </a:xfrm>
              <a:prstGeom prst="rect">
                <a:avLst/>
              </a:prstGeom>
              <a:blipFill>
                <a:blip r:embed="rId4"/>
                <a:stretch>
                  <a:fillRect l="-625" t="-3593" r="-28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479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8"/>
                <a:ext cx="11026091" cy="1197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right triangle formed by drawing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angle at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both a coordinate grid and on a polar graph,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𝑇𝑅𝐾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=60°,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=30°</m:t>
                    </m:r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𝑅𝑇𝐾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8"/>
                <a:ext cx="11026091" cy="1197572"/>
              </a:xfrm>
              <a:prstGeom prst="rect">
                <a:avLst/>
              </a:prstGeom>
              <a:blipFill>
                <a:blip r:embed="rId4"/>
                <a:stretch>
                  <a:fillRect l="-553" t="-3061" b="-2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491" y="2186565"/>
            <a:ext cx="7872983" cy="38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2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7704" y="520518"/>
                <a:ext cx="1074044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coordinates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table. Leave answers in exact form.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the coordinates will change if the triangle is in a different quadrant. Make a prediction.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04" y="520518"/>
                <a:ext cx="10740445" cy="5016758"/>
              </a:xfrm>
              <a:prstGeom prst="rect">
                <a:avLst/>
              </a:prstGeom>
              <a:blipFill>
                <a:blip r:embed="rId4"/>
                <a:stretch>
                  <a:fillRect l="-624" t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328797"/>
                  </p:ext>
                </p:extLst>
              </p:nvPr>
            </p:nvGraphicFramePr>
            <p:xfrm>
              <a:off x="1123679" y="2677871"/>
              <a:ext cx="7547392" cy="14941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00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54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333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085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901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93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60°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)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328797"/>
                  </p:ext>
                </p:extLst>
              </p:nvPr>
            </p:nvGraphicFramePr>
            <p:xfrm>
              <a:off x="1123679" y="2677871"/>
              <a:ext cx="7547392" cy="14941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00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054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333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085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93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" t="-32143" r="-656707" b="-1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73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056345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Four triangles were formed by drawing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𝑃𝑅𝐻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𝐻𝑅𝐸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0563457" cy="1015663"/>
              </a:xfrm>
              <a:prstGeom prst="rect">
                <a:avLst/>
              </a:prstGeom>
              <a:blipFill>
                <a:blip r:embed="rId4"/>
                <a:stretch>
                  <a:fillRect l="-635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360" y="1700550"/>
            <a:ext cx="4045524" cy="460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37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2426" y="528618"/>
            <a:ext cx="7912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50144"/>
                  </p:ext>
                </p:extLst>
              </p:nvPr>
            </p:nvGraphicFramePr>
            <p:xfrm>
              <a:off x="1393456" y="1425284"/>
              <a:ext cx="6875605" cy="383988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724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031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5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1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1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21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1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50144"/>
                  </p:ext>
                </p:extLst>
              </p:nvPr>
            </p:nvGraphicFramePr>
            <p:xfrm>
              <a:off x="1393456" y="1425284"/>
              <a:ext cx="6875605" cy="383988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724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031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5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" t="-46528" r="-104152" b="-3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6522" t="-46528" r="-348" b="-30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" t="-146528" r="-104152" b="-2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" t="-244828" r="-104152" b="-10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78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78" marR="7347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" t="-347222" r="-104152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78" marR="7347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1847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0342" y="520518"/>
                <a:ext cx="1037267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lie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is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special triangles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𝑅𝐸𝐻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𝑅𝑍𝑇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42" y="520518"/>
                <a:ext cx="10372677" cy="2862322"/>
              </a:xfrm>
              <a:prstGeom prst="rect">
                <a:avLst/>
              </a:prstGeom>
              <a:blipFill>
                <a:blip r:embed="rId4"/>
                <a:stretch>
                  <a:fillRect l="-646" t="-1277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631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7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580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8"/>
                <a:ext cx="1062245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Four triangles were formed by drawing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𝑃𝑅𝐻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𝐻𝑅𝐸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8"/>
                <a:ext cx="10622451" cy="1015663"/>
              </a:xfrm>
              <a:prstGeom prst="rect">
                <a:avLst/>
              </a:prstGeom>
              <a:blipFill>
                <a:blip r:embed="rId4"/>
                <a:stretch>
                  <a:fillRect l="-631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9254" y="1687373"/>
            <a:ext cx="4684295" cy="461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8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2426" y="528618"/>
                <a:ext cx="1061149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lie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is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special triangles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𝑅𝐸𝐻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26" y="528618"/>
                <a:ext cx="10611498" cy="5324535"/>
              </a:xfrm>
              <a:prstGeom prst="rect">
                <a:avLst/>
              </a:prstGeom>
              <a:blipFill>
                <a:blip r:embed="rId4"/>
                <a:stretch>
                  <a:fillRect l="-632" t="-802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549630"/>
                  </p:ext>
                </p:extLst>
              </p:nvPr>
            </p:nvGraphicFramePr>
            <p:xfrm>
              <a:off x="1460049" y="1248372"/>
              <a:ext cx="6402705" cy="31143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064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962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11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2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2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2549630"/>
                  </p:ext>
                </p:extLst>
              </p:nvPr>
            </p:nvGraphicFramePr>
            <p:xfrm>
              <a:off x="1460049" y="1248372"/>
              <a:ext cx="6402705" cy="31143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064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962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1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6" t="-52101" r="-106471" b="-2899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4455" t="-52101" r="-370" b="-2899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6" t="-158772" r="-106471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6" t="-256522" r="-106471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95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6" t="-359649" r="-106471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4137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059295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Four triangles were formed by drawing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origin.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𝑃𝑅𝐻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𝐻𝑅𝐿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𝑅𝑍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0592954" cy="1015663"/>
              </a:xfrm>
              <a:prstGeom prst="rect">
                <a:avLst/>
              </a:prstGeom>
              <a:blipFill>
                <a:blip r:embed="rId4"/>
                <a:stretch>
                  <a:fillRect l="-633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885" y="1744690"/>
            <a:ext cx="4763033" cy="478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38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96384" y="520517"/>
            <a:ext cx="7928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1864554"/>
                  </p:ext>
                </p:extLst>
              </p:nvPr>
            </p:nvGraphicFramePr>
            <p:xfrm>
              <a:off x="1520956" y="1311090"/>
              <a:ext cx="6708643" cy="38743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90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18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7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1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1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21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e>
                                        </m:rad>
                                      </m:num>
                                      <m:den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1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, </m:t>
                                    </m:r>
                                    <m:f>
                                      <m:fPr>
                                        <m:ctrlPr>
                                          <a:rPr lang="en-US" sz="21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1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1864554"/>
                  </p:ext>
                </p:extLst>
              </p:nvPr>
            </p:nvGraphicFramePr>
            <p:xfrm>
              <a:off x="1520956" y="1311090"/>
              <a:ext cx="6708643" cy="38743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90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18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67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" t="-46897" r="-104444" b="-30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6435" t="-46897" r="-535" b="-3027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" t="-145890" r="-104444" b="-20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" t="-247586" r="-104444" b="-10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86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12" marR="7351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5" t="-345205" r="-104444" b="-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512" marR="73512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4883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8"/>
                <a:ext cx="1102609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0" indent="-4445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lie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is the radius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special triangles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𝑅𝑃𝐻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𝑅𝐿𝐻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𝑅𝑍𝑇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each type of special triangle, what similarities do the coordinates for each vertex located on the circle share with one another? </a:t>
                </a: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each type of special triangle, what differences do the coordinates for each vertex located on the circle share with one another?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8"/>
                <a:ext cx="11026091" cy="3785652"/>
              </a:xfrm>
              <a:prstGeom prst="rect">
                <a:avLst/>
              </a:prstGeom>
              <a:blipFill>
                <a:blip r:embed="rId4"/>
                <a:stretch>
                  <a:fillRect l="-608"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11309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414</a:t>
            </a: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49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347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7" y="-145438"/>
            <a:ext cx="115262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7.7.3 Bring It Together: The Unit Circle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7055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107763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Exploration, all of the triangles were one of the two special triangles,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30−60−90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45−45−90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relationships of each of the side lengths for these triangles are shown.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1077634" cy="1015663"/>
              </a:xfrm>
              <a:prstGeom prst="rect">
                <a:avLst/>
              </a:prstGeom>
              <a:blipFill>
                <a:blip r:embed="rId4"/>
                <a:stretch>
                  <a:fillRect l="-550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ABEAAF31-51E2-ED47-BB74-BFBC5BD717B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6C9D3C33-BCD5-8F4D-9720-D6314D5D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196" y="10020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8934" y="2492278"/>
            <a:ext cx="6858306" cy="42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07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113031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circle, the hypotenuse of the triangle was the radius of the circle, which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When a circle has a radius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is centered at the origin, it is called the unit circle. In the diagrams of the two special triangles the hypotenuse is not 1.</a:t>
                </a:r>
              </a:p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Fill in the blanks to show the relationships of the special triangles when the hypotenuse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1130317" cy="2246769"/>
              </a:xfrm>
              <a:prstGeom prst="rect">
                <a:avLst/>
              </a:prstGeom>
              <a:blipFill>
                <a:blip r:embed="rId4"/>
                <a:stretch>
                  <a:fillRect l="-602" t="-1630" r="-1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120F8B4-9DAA-6044-9655-B910D5ED001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912" y="2568523"/>
            <a:ext cx="7329788" cy="38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3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10260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unit circle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𝐾𝐻𝑅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𝑁𝐻𝑇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𝑊𝐻𝐺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=60°,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𝐻𝐾𝑅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1026091" cy="707886"/>
              </a:xfrm>
              <a:prstGeom prst="rect">
                <a:avLst/>
              </a:prstGeom>
              <a:blipFill>
                <a:blip r:embed="rId4"/>
                <a:stretch>
                  <a:fillRect l="-608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120F8B4-9DAA-6044-9655-B910D5ED001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7241" y="1710459"/>
            <a:ext cx="4948321" cy="43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03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3" y="52861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120F8B4-9DAA-6044-9655-B910D5ED001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2995171"/>
                  </p:ext>
                </p:extLst>
              </p:nvPr>
            </p:nvGraphicFramePr>
            <p:xfrm>
              <a:off x="2474460" y="1441395"/>
              <a:ext cx="4855487" cy="35647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673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1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5759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2995171"/>
                  </p:ext>
                </p:extLst>
              </p:nvPr>
            </p:nvGraphicFramePr>
            <p:xfrm>
              <a:off x="2474460" y="1441395"/>
              <a:ext cx="4855487" cy="35647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673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81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5759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6" t="-56707" r="-160586" b="-2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6" t="-155758" r="-160586" b="-10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023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6" t="-255758" r="-160586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131" marR="7613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434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415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312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7" y="60449"/>
            <a:ext cx="100661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7.7.4 Try It: Finding Coordinates in the Unit Circle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415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09734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unit circle is shown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𝐾𝐷𝑊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right triangles,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𝐾𝐷𝑊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𝑅𝐷𝑀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0973408" cy="707886"/>
              </a:xfrm>
              <a:prstGeom prst="rect">
                <a:avLst/>
              </a:prstGeom>
              <a:blipFill>
                <a:blip r:embed="rId5"/>
                <a:stretch>
                  <a:fillRect l="-611"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40AE1AA-6F88-2440-A824-BEA9B94BEF8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2700" y="2178576"/>
            <a:ext cx="4102768" cy="41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3" y="52861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202F70B-4E43-2A4C-9678-6A71785BE75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195142"/>
                  </p:ext>
                </p:extLst>
              </p:nvPr>
            </p:nvGraphicFramePr>
            <p:xfrm>
              <a:off x="2235534" y="1386134"/>
              <a:ext cx="4851734" cy="2891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657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59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3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3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3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195142"/>
                  </p:ext>
                </p:extLst>
              </p:nvPr>
            </p:nvGraphicFramePr>
            <p:xfrm>
              <a:off x="2235534" y="1386134"/>
              <a:ext cx="4851734" cy="2891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657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859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33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Point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7" t="-37313" r="-161111" b="-1004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7" t="-138000" r="-161111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4432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415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74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7.7.5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516" y="139425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09425"/>
              </p:ext>
            </p:extLst>
          </p:nvPr>
        </p:nvGraphicFramePr>
        <p:xfrm>
          <a:off x="1092068" y="1937256"/>
          <a:ext cx="8897592" cy="4419299"/>
        </p:xfrm>
        <a:graphic>
          <a:graphicData uri="http://schemas.openxmlformats.org/drawingml/2006/table">
            <a:tbl>
              <a:tblPr bandRow="1"/>
              <a:tblGrid>
                <a:gridCol w="300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840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terms and information used in the Exploration that I knew were …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Something I wondered during the Exploration was …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Something I learned during the Exploration was …</a:t>
                      </a:r>
                      <a:endParaRPr lang="en-US" sz="21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08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i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1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8352" marR="383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1610</Words>
  <Application>Microsoft Office PowerPoint</Application>
  <PresentationFormat>Widescreen</PresentationFormat>
  <Paragraphs>276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7, Lesson 7  The Unit Circle and Its Coordinates  Volume 1, pg. 407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26</cp:revision>
  <dcterms:created xsi:type="dcterms:W3CDTF">2015-03-17T18:51:18Z</dcterms:created>
  <dcterms:modified xsi:type="dcterms:W3CDTF">2022-08-23T17:28:04Z</dcterms:modified>
</cp:coreProperties>
</file>