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57" r:id="rId15"/>
    <p:sldId id="358" r:id="rId16"/>
    <p:sldId id="349" r:id="rId17"/>
    <p:sldId id="350" r:id="rId18"/>
    <p:sldId id="351" r:id="rId19"/>
    <p:sldId id="352" r:id="rId20"/>
    <p:sldId id="353" r:id="rId21"/>
    <p:sldId id="359" r:id="rId22"/>
    <p:sldId id="354" r:id="rId23"/>
    <p:sldId id="355" r:id="rId24"/>
    <p:sldId id="356" r:id="rId25"/>
    <p:sldId id="306" r:id="rId26"/>
    <p:sldId id="307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2" autoAdjust="0"/>
    <p:restoredTop sz="90313" autoAdjust="0"/>
  </p:normalViewPr>
  <p:slideViewPr>
    <p:cSldViewPr snapToGrid="0">
      <p:cViewPr varScale="1">
        <p:scale>
          <a:sx n="74" d="100"/>
          <a:sy n="74" d="100"/>
        </p:scale>
        <p:origin x="103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56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1442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031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0917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9047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530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7824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383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51411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2537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64866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8071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620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92214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1778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05019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7714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7108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0141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Defining Tangent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381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317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MA.912.T.1.1 </a:t>
            </a:r>
          </a:p>
          <a:p>
            <a:pPr marL="814388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Define trigonometric ratios for acute angles in right triangles.</a:t>
            </a:r>
          </a:p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MA.912.T.1.2 </a:t>
            </a:r>
          </a:p>
          <a:p>
            <a:pPr marL="814388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Solve mathematical and real-world problems involving right triangles using trigonometric ratios and the Pythagorean Theorem.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931665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71268" y="1600324"/>
            <a:ext cx="1105265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charset="2"/>
              <a:buChar char="q"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I can use the ratios of sine and cosine to define the tangent ratio.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449"/>
            <a:ext cx="10514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18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754255" y="1684674"/>
            <a:ext cx="8327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wonder?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do you notice?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6089" y="1386149"/>
            <a:ext cx="5077835" cy="355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382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52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449"/>
            <a:ext cx="1061823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7.3.2 Exploration: Relating Sine, Cosine, and Tangent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382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3620" y="30857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50516" y="1386149"/>
                <a:ext cx="11077634" cy="1155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table gives the sine and cosine values as decimals for different reference angle measures. Using a calculator and the values in the table, find the ratio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sine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cosine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Round to the nearest thousandth.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49"/>
                <a:ext cx="11077634" cy="1155637"/>
              </a:xfrm>
              <a:prstGeom prst="rect">
                <a:avLst/>
              </a:prstGeom>
              <a:blipFill>
                <a:blip r:embed="rId5"/>
                <a:stretch>
                  <a:fillRect l="-605" t="-3158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901749"/>
                  </p:ext>
                </p:extLst>
              </p:nvPr>
            </p:nvGraphicFramePr>
            <p:xfrm>
              <a:off x="1153358" y="2711849"/>
              <a:ext cx="8068580" cy="309901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086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63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394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41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52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1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1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𝐒𝐢𝐧𝐞</m:t>
                                    </m:r>
                                  </m:num>
                                  <m:den>
                                    <m:r>
                                      <a:rPr lang="en-US" sz="21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𝐂𝐨𝐬𝐢𝐧𝐞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54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10°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0.174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0.985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54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20°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0.342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0.940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547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30°</m:t>
                                </m:r>
                              </m:oMath>
                            </m:oMathPara>
                          </a14:m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0.500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0.866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63901749"/>
                  </p:ext>
                </p:extLst>
              </p:nvPr>
            </p:nvGraphicFramePr>
            <p:xfrm>
              <a:off x="1153358" y="2711849"/>
              <a:ext cx="8068580" cy="309901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0863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963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83942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241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525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6255" t="-12150" r="-749" b="-3785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54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19" t="-88889" r="-32364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0.174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27527" t="-88889" r="-5784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54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19" t="-190299" r="-323642" b="-10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0.342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0.940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547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19" t="-290299" r="-323642" b="-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0.500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0.866</a:t>
                          </a:r>
                          <a:endParaRPr lang="en-US" sz="15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5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73415" marR="7341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49032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382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4512658"/>
                  </p:ext>
                </p:extLst>
              </p:nvPr>
            </p:nvGraphicFramePr>
            <p:xfrm>
              <a:off x="922334" y="556844"/>
              <a:ext cx="8752066" cy="40594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7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816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799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617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092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𝐒𝐢𝐧𝐞</m:t>
                                    </m:r>
                                  </m:num>
                                  <m:den>
                                    <m:r>
                                      <a:rPr lang="en-US" sz="2000" b="1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𝐂𝐨𝐬𝐢𝐧𝐞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" charset="0"/>
                                    <a:cs typeface="Cambria" charset="0"/>
                                  </a:rPr>
                                  <m:t>40°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Cambria" charset="0"/>
                            <a:cs typeface="Cambri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0.643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0.766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" charset="0"/>
                                    <a:cs typeface="Cambria" charset="0"/>
                                  </a:rPr>
                                  <m:t>50°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Cambria" charset="0"/>
                            <a:cs typeface="Cambri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0.766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0.643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" charset="0"/>
                                    <a:cs typeface="Cambria" charset="0"/>
                                  </a:rPr>
                                  <m:t>60°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Cambria" charset="0"/>
                            <a:cs typeface="Cambri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0.866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0.500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" charset="0"/>
                                    <a:cs typeface="Cambria" charset="0"/>
                                  </a:rPr>
                                  <m:t>70°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Cambria" charset="0"/>
                            <a:cs typeface="Cambri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0.940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0.342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" charset="0"/>
                                    <a:cs typeface="Cambria" charset="0"/>
                                  </a:rPr>
                                  <m:t>80°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" charset="0"/>
                            <a:ea typeface="Cambria" charset="0"/>
                            <a:cs typeface="Cambri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>
                                    <a:effectLst/>
                                    <a:latin typeface="Cambria" charset="0"/>
                                    <a:ea typeface="Cambria" charset="0"/>
                                    <a:cs typeface="Cambria" charset="0"/>
                                  </a:rPr>
                                  <m:t>0.9</m:t>
                                </m:r>
                                <m:r>
                                  <m:rPr>
                                    <m:nor/>
                                  </m:rPr>
                                  <a:rPr lang="en-US" sz="2000" b="0" i="0" dirty="0" smtClean="0">
                                    <a:effectLst/>
                                    <a:latin typeface="Cambria" charset="0"/>
                                    <a:ea typeface="Cambria" charset="0"/>
                                    <a:cs typeface="Cambria" charset="0"/>
                                  </a:rPr>
                                  <m:t>85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Cambria" charset="0"/>
                            <a:cs typeface="Cambri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0.174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4512658"/>
                  </p:ext>
                </p:extLst>
              </p:nvPr>
            </p:nvGraphicFramePr>
            <p:xfrm>
              <a:off x="922334" y="556844"/>
              <a:ext cx="8752066" cy="405940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287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816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7994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617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092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97578" t="-752" r="-692" b="-4030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125234" r="-379667" b="-400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0.643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0.766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225234" r="-379667" b="-300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0.766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0.643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328302" r="-379667" b="-2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0.866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0.500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424299" r="-379667" b="-10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0.940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0.342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003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" t="-524299" r="-379667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012" t="-524299" r="-233041" b="-18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Cambria" charset="0"/>
                              <a:cs typeface="Cambria" charset="0"/>
                            </a:rPr>
                            <a:t>0.174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36150" marR="3615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3433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8618"/>
                <a:ext cx="92803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a calculator to find the tangent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𝑡𝑎𝑛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) of each reference angle.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8618"/>
                <a:ext cx="9280348" cy="400110"/>
              </a:xfrm>
              <a:prstGeom prst="rect">
                <a:avLst/>
              </a:prstGeom>
              <a:blipFill>
                <a:blip r:embed="rId4"/>
                <a:stretch>
                  <a:fillRect l="-723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857373"/>
                  </p:ext>
                </p:extLst>
              </p:nvPr>
            </p:nvGraphicFramePr>
            <p:xfrm>
              <a:off x="1499397" y="1307933"/>
              <a:ext cx="6759698" cy="41967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798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98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20°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30°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50°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60°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70°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1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80°</m:t>
                                </m:r>
                              </m:oMath>
                            </m:oMathPara>
                          </a14:m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857373"/>
                  </p:ext>
                </p:extLst>
              </p:nvPr>
            </p:nvGraphicFramePr>
            <p:xfrm>
              <a:off x="1499397" y="1307933"/>
              <a:ext cx="6759698" cy="41967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798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798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63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 Measure</a:t>
                          </a:r>
                          <a:endParaRPr lang="en-US" sz="21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21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103947" r="-100360" b="-7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201299" r="-100360" b="-6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305263" r="-100360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400000" r="-100360" b="-4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506579" r="-100360" b="-3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598701" r="-100360" b="-2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707895" r="-100360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663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80" t="-797403" r="-100360" b="-38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1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2561" marR="6256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04466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0518"/>
                <a:ext cx="10725690" cy="847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down one notice statement and one wonder statement about the values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sine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cosine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first table and the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𝑡𝑎𝑛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from the second table.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0518"/>
                <a:ext cx="10725690" cy="847924"/>
              </a:xfrm>
              <a:prstGeom prst="rect">
                <a:avLst/>
              </a:prstGeom>
              <a:blipFill>
                <a:blip r:embed="rId4"/>
                <a:stretch>
                  <a:fillRect l="-625" t="-4317" r="-512" b="-3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066416"/>
              </p:ext>
            </p:extLst>
          </p:nvPr>
        </p:nvGraphicFramePr>
        <p:xfrm>
          <a:off x="1291393" y="1698384"/>
          <a:ext cx="7823109" cy="3941906"/>
        </p:xfrm>
        <a:graphic>
          <a:graphicData uri="http://schemas.openxmlformats.org/drawingml/2006/table">
            <a:tbl>
              <a:tblPr firstRow="1" firstCol="1" bandRow="1"/>
              <a:tblGrid>
                <a:gridCol w="395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4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69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Notice</a:t>
                      </a:r>
                      <a:endParaRPr lang="en-US" sz="23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8231" marR="782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b="1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Wonder</a:t>
                      </a:r>
                      <a:endParaRPr lang="en-US" sz="2300" dirty="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78231" marR="782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38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8231" marR="782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3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78231" marR="7823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965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470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2648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9345" y="528618"/>
                <a:ext cx="1006049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𝐴𝑃𝐺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𝐴𝑃𝐺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=8,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𝑃𝐴𝐺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45" y="528618"/>
                <a:ext cx="10060499" cy="3785652"/>
              </a:xfrm>
              <a:prstGeom prst="rect">
                <a:avLst/>
              </a:prstGeom>
              <a:blipFill>
                <a:blip r:embed="rId4"/>
                <a:stretch>
                  <a:fillRect l="-606" t="-966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1513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654139"/>
                  </p:ext>
                </p:extLst>
              </p:nvPr>
            </p:nvGraphicFramePr>
            <p:xfrm>
              <a:off x="1255480" y="4531229"/>
              <a:ext cx="7753438" cy="16694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825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46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862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912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0">
                                          <a:effectLst/>
                                          <a:latin typeface="Cambria Math" panose="02040503050406030204" pitchFamily="18" charset="0"/>
                                          <a:ea typeface="Verdana" charset="0"/>
                                          <a:cs typeface="Verdana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0">
                                          <a:effectLst/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𝐨𝐩𝐩𝐨𝐬𝐢𝐭𝐞</m:t>
                                      </m:r>
                                    </m:num>
                                    <m:den>
                                      <m:r>
                                        <a:rPr lang="en-US" sz="2000" b="1" i="0">
                                          <a:effectLst/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𝐡𝐲𝐩𝐨𝐭𝐞𝐧𝐮𝐬𝐞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0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0">
                                          <a:effectLst/>
                                          <a:latin typeface="Cambria Math" panose="02040503050406030204" pitchFamily="18" charset="0"/>
                                          <a:ea typeface="Verdana" charset="0"/>
                                          <a:cs typeface="Verdana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0">
                                          <a:effectLst/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𝐚𝐝𝐣𝐚𝐜𝐞𝐧𝐭</m:t>
                                      </m:r>
                                    </m:num>
                                    <m:den>
                                      <m:r>
                                        <a:rPr lang="en-US" sz="2000" b="1" i="0">
                                          <a:effectLst/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𝐡𝐲𝐩𝐨𝐭𝐞𝐧𝐮𝐬𝐞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b="1" i="0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b="1" i="0">
                                          <a:effectLst/>
                                          <a:latin typeface="Cambria Math" panose="02040503050406030204" pitchFamily="18" charset="0"/>
                                          <a:ea typeface="Verdana" charset="0"/>
                                          <a:cs typeface="Verdana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b="1" i="0">
                                          <a:effectLst/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𝐨𝐩𝐩𝐨𝐬𝐢𝐭𝐞</m:t>
                                      </m:r>
                                    </m:num>
                                    <m:den>
                                      <m:r>
                                        <a:rPr lang="en-US" sz="2000" b="1" i="0">
                                          <a:effectLst/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𝐚𝐝𝐣𝐚𝐜𝐞𝐧𝐭</m:t>
                                      </m:r>
                                    </m:den>
                                  </m:f>
                                </m:e>
                              </m:d>
                            </m:oMath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7823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654139"/>
                  </p:ext>
                </p:extLst>
              </p:nvPr>
            </p:nvGraphicFramePr>
            <p:xfrm>
              <a:off x="1255480" y="4531229"/>
              <a:ext cx="7753438" cy="16694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825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846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8624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912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9" t="-1031" r="-256145" b="-185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8384" t="-1031" r="-100218" b="-185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8775" t="-1031" r="-438" b="-1855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7823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6896" y="839438"/>
            <a:ext cx="3628189" cy="285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36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12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59899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12702" y="528618"/>
            <a:ext cx="7912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Multiply the sine and the cosine ratios from the table.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5618" y="1447704"/>
            <a:ext cx="51562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0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28468" y="528618"/>
                <a:ext cx="10595456" cy="3211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𝑠𝑖𝑛𝑒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𝑐𝑜𝑠𝑖𝑛𝑒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ratios of sine and cosine,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𝑠𝑖𝑛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opposite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hypotenuse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𝑐𝑜𝑠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adjacent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hypotenuse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If possible, simplify.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Divide the sine ratio by the cosine ratio from the table.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468" y="528618"/>
                <a:ext cx="10595456" cy="3211007"/>
              </a:xfrm>
              <a:prstGeom prst="rect">
                <a:avLst/>
              </a:prstGeom>
              <a:blipFill>
                <a:blip r:embed="rId4"/>
                <a:stretch>
                  <a:fillRect l="-633" r="-173" b="-3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4851" y="3840991"/>
            <a:ext cx="57531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3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6936" y="528618"/>
                <a:ext cx="10731213" cy="3826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sine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cosine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ratios of sine and cosine,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𝑠𝑖𝑛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opposite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hypotenuse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br>
                  <a:rPr lang="en-US" sz="2000" i="1" dirty="0">
                    <a:latin typeface="Cambria Math" charset="0"/>
                    <a:ea typeface="Verdana" charset="0"/>
                    <a:cs typeface="Verdana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𝑐𝑜𝑠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𝜃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adjacent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hypotenuse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resulting ratio is a complex fraction that can be rewritten or simplified. Work with your partner to write the simplified form.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how the ratios of sine and cosine can be used to find the tangent ratio.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36" y="528618"/>
                <a:ext cx="10731213" cy="3826560"/>
              </a:xfrm>
              <a:prstGeom prst="rect">
                <a:avLst/>
              </a:prstGeom>
              <a:blipFill>
                <a:blip r:embed="rId4"/>
                <a:stretch>
                  <a:fillRect l="-625" b="-2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71393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384</a:t>
            </a:r>
          </a:p>
        </p:txBody>
      </p:sp>
    </p:spTree>
    <p:extLst>
      <p:ext uri="{BB962C8B-B14F-4D97-AF65-F5344CB8AC3E}">
        <p14:creationId xmlns:p14="http://schemas.microsoft.com/office/powerpoint/2010/main" val="993982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7" y="-85855"/>
            <a:ext cx="1013986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7.3.3 Guided Instruction: Determining Trigonometric Ratios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60062" y="2899250"/>
                <a:ext cx="105897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𝑃𝐹𝑁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𝑃𝐹𝑁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𝑃𝑁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62" y="2899250"/>
                <a:ext cx="10589717" cy="400110"/>
              </a:xfrm>
              <a:prstGeom prst="rect">
                <a:avLst/>
              </a:prstGeom>
              <a:blipFill>
                <a:blip r:embed="rId5"/>
                <a:stretch>
                  <a:fillRect l="-576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24"/>
              <p:cNvSpPr txBox="1"/>
              <p:nvPr/>
            </p:nvSpPr>
            <p:spPr>
              <a:xfrm>
                <a:off x="1346701" y="1488214"/>
                <a:ext cx="6629400" cy="1011302"/>
              </a:xfrm>
              <a:prstGeom prst="roundRect">
                <a:avLst/>
              </a:prstGeom>
              <a:solidFill>
                <a:srgbClr val="BAE6F5"/>
              </a:solid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000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	The tangent ratio of a reference angle can 	be found using the ratio</a:t>
                </a:r>
                <a:r>
                  <a:rPr lang="en-US" sz="2000" i="1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solidFill>
                              <a:srgbClr val="0070C0"/>
                            </a:solidFill>
                            <a:latin typeface="Cambria Math" charset="0"/>
                            <a:ea typeface="Verdana" charset="0"/>
                            <a:cs typeface="Verdana" charset="0"/>
                          </a:rPr>
                          <m:t>sine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solidFill>
                              <a:srgbClr val="0070C0"/>
                            </a:solidFill>
                            <a:latin typeface="Cambria Math" charset="0"/>
                            <a:ea typeface="Verdana" charset="0"/>
                            <a:cs typeface="Verdana" charset="0"/>
                          </a:rPr>
                          <m:t>cosine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>
          <p:sp>
            <p:nvSpPr>
              <p:cNvPr id="10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01" y="1488214"/>
                <a:ext cx="6629400" cy="101130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762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0054" y="1739523"/>
            <a:ext cx="518433" cy="50678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6407" y="3607137"/>
            <a:ext cx="3984945" cy="285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852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28468" y="520517"/>
                <a:ext cx="78965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𝐹𝑁𝑃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468" y="520517"/>
                <a:ext cx="7896501" cy="400110"/>
              </a:xfrm>
              <a:prstGeom prst="rect">
                <a:avLst/>
              </a:prstGeom>
              <a:blipFill>
                <a:blip r:embed="rId4"/>
                <a:stretch>
                  <a:fillRect l="-849" t="-9091" r="-463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54226"/>
              </p:ext>
            </p:extLst>
          </p:nvPr>
        </p:nvGraphicFramePr>
        <p:xfrm>
          <a:off x="1157068" y="1604875"/>
          <a:ext cx="6858000" cy="3911600"/>
        </p:xfrm>
        <a:graphic>
          <a:graphicData uri="http://schemas.openxmlformats.org/drawingml/2006/table">
            <a:tbl>
              <a:tblPr firstRow="1" firstCol="1" bandRow="1"/>
              <a:tblGrid>
                <a:gridCol w="2313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Cosine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Sine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Tangent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611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2702" y="520517"/>
                <a:ext cx="10611222" cy="3037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method,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sine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cosine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opposite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i="0">
                            <a:latin typeface="Cambria Math" charset="0"/>
                            <a:ea typeface="Verdana" charset="0"/>
                            <a:cs typeface="Verdana" charset="0"/>
                          </a:rPr>
                          <m:t>adjacent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did you use to find the tangent ratio?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method for finding tangent that you did not use to check the ratio.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02" y="520517"/>
                <a:ext cx="10611222" cy="3037178"/>
              </a:xfrm>
              <a:prstGeom prst="rect">
                <a:avLst/>
              </a:prstGeom>
              <a:blipFill>
                <a:blip r:embed="rId4"/>
                <a:stretch>
                  <a:fillRect l="-632" b="-2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2204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3" y="528618"/>
                <a:ext cx="8327136" cy="429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𝐶𝑌𝑊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98</m:t>
                        </m:r>
                      </m:e>
                    </m:ra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28</m:t>
                        </m:r>
                      </m:e>
                    </m:ra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3" y="528618"/>
                <a:ext cx="8327136" cy="429092"/>
              </a:xfrm>
              <a:prstGeom prst="rect">
                <a:avLst/>
              </a:prstGeom>
              <a:blipFill>
                <a:blip r:embed="rId4"/>
                <a:stretch>
                  <a:fillRect l="-732" t="-2857" b="-2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7401" y="1467849"/>
            <a:ext cx="5588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93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912702" y="528619"/>
                <a:ext cx="10611222" cy="53252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𝑊𝐶𝑌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𝑌𝑊𝐶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notice about the ratios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𝑊𝐶𝑌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the ratios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𝑌𝑊𝐶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702" y="528619"/>
                <a:ext cx="10611222" cy="5325240"/>
              </a:xfrm>
              <a:prstGeom prst="rect">
                <a:avLst/>
              </a:prstGeom>
              <a:blipFill>
                <a:blip r:embed="rId4"/>
                <a:stretch>
                  <a:fillRect l="-632" t="-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019096"/>
              </p:ext>
            </p:extLst>
          </p:nvPr>
        </p:nvGraphicFramePr>
        <p:xfrm>
          <a:off x="1236224" y="1696719"/>
          <a:ext cx="6762750" cy="1143726"/>
        </p:xfrm>
        <a:graphic>
          <a:graphicData uri="http://schemas.openxmlformats.org/drawingml/2006/table">
            <a:tbl>
              <a:tblPr firstRow="1" firstCol="1" bandRow="1"/>
              <a:tblGrid>
                <a:gridCol w="2313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07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Cosine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Sine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Tangent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9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872306"/>
              </p:ext>
            </p:extLst>
          </p:nvPr>
        </p:nvGraphicFramePr>
        <p:xfrm>
          <a:off x="1236224" y="3661743"/>
          <a:ext cx="6762750" cy="1143726"/>
        </p:xfrm>
        <a:graphic>
          <a:graphicData uri="http://schemas.openxmlformats.org/drawingml/2006/table">
            <a:tbl>
              <a:tblPr firstRow="1" firstCol="1" bandRow="1"/>
              <a:tblGrid>
                <a:gridCol w="2313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63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Cosine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Sine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Tangent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92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35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386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22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37087"/>
            <a:ext cx="1051400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7.3.4 Guided Practice: Trigonometric Ratios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386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50515" y="1386150"/>
                <a:ext cx="10304297" cy="1661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𝑌𝑁𝐵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𝑁𝐵𝑌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e>
                    </m:ra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𝑌𝑁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3925" indent="-923925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392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𝑌𝐵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3925" indent="-45402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𝐵𝑁𝑌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5" y="1386150"/>
                <a:ext cx="10304297" cy="1661224"/>
              </a:xfrm>
              <a:prstGeom prst="rect">
                <a:avLst/>
              </a:prstGeom>
              <a:blipFill>
                <a:blip r:embed="rId5"/>
                <a:stretch>
                  <a:fillRect l="-591" b="-5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469064"/>
              </p:ext>
            </p:extLst>
          </p:nvPr>
        </p:nvGraphicFramePr>
        <p:xfrm>
          <a:off x="1332709" y="3194699"/>
          <a:ext cx="6762750" cy="1597652"/>
        </p:xfrm>
        <a:graphic>
          <a:graphicData uri="http://schemas.openxmlformats.org/drawingml/2006/table">
            <a:tbl>
              <a:tblPr firstRow="1" firstCol="1" bandRow="1"/>
              <a:tblGrid>
                <a:gridCol w="2313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7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Cosine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Sine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Tangent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8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89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9"/>
                <a:ext cx="10091509" cy="16601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𝐺𝑀𝐾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𝐺𝐾𝑀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=90°, 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10</m:t>
                        </m:r>
                      </m:e>
                    </m:rad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392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3925" indent="-454025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3925" indent="-454025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𝐾𝐺𝑀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9"/>
                <a:ext cx="10091509" cy="1660198"/>
              </a:xfrm>
              <a:prstGeom prst="rect">
                <a:avLst/>
              </a:prstGeom>
              <a:blipFill>
                <a:blip r:embed="rId4"/>
                <a:stretch>
                  <a:fillRect l="-604" t="-735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734906"/>
              </p:ext>
            </p:extLst>
          </p:nvPr>
        </p:nvGraphicFramePr>
        <p:xfrm>
          <a:off x="1324271" y="2382149"/>
          <a:ext cx="6762750" cy="1597652"/>
        </p:xfrm>
        <a:graphic>
          <a:graphicData uri="http://schemas.openxmlformats.org/drawingml/2006/table">
            <a:tbl>
              <a:tblPr firstRow="1" firstCol="1" bandRow="1"/>
              <a:tblGrid>
                <a:gridCol w="2313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57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Cosine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Sine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Tangent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88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4647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387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387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8" y="-8244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7.3.5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636268" y="1338845"/>
            <a:ext cx="10887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Write a short note to a friend who missed today’s class summarizing what you learned.</a:t>
            </a:r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996</Words>
  <Application>Microsoft Office PowerPoint</Application>
  <PresentationFormat>Widescreen</PresentationFormat>
  <Paragraphs>259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7, Lesson 3  Defining Tangent  Volume 1, pg. 381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26</cp:revision>
  <dcterms:created xsi:type="dcterms:W3CDTF">2015-03-17T18:51:18Z</dcterms:created>
  <dcterms:modified xsi:type="dcterms:W3CDTF">2023-02-28T20:09:40Z</dcterms:modified>
</cp:coreProperties>
</file>