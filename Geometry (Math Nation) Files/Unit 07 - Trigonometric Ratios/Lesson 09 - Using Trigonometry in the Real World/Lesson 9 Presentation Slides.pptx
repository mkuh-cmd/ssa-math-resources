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32" r:id="rId10"/>
    <p:sldId id="342" r:id="rId11"/>
    <p:sldId id="344" r:id="rId12"/>
    <p:sldId id="345" r:id="rId13"/>
    <p:sldId id="346" r:id="rId14"/>
    <p:sldId id="347" r:id="rId15"/>
    <p:sldId id="348" r:id="rId16"/>
    <p:sldId id="353" r:id="rId17"/>
    <p:sldId id="349" r:id="rId18"/>
    <p:sldId id="350" r:id="rId19"/>
    <p:sldId id="351" r:id="rId20"/>
    <p:sldId id="352" r:id="rId21"/>
    <p:sldId id="302" r:id="rId22"/>
    <p:sldId id="303" r:id="rId23"/>
    <p:sldId id="340" r:id="rId24"/>
    <p:sldId id="306" r:id="rId25"/>
    <p:sldId id="307" r:id="rId26"/>
    <p:sldId id="341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79"/>
    <p:restoredTop sz="94695"/>
  </p:normalViewPr>
  <p:slideViewPr>
    <p:cSldViewPr snapToGrid="0">
      <p:cViewPr varScale="1">
        <p:scale>
          <a:sx n="65" d="100"/>
          <a:sy n="65" d="100"/>
        </p:scale>
        <p:origin x="42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50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7804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2999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889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17056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2840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17291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4793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7445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7878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00817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49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9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Using Trigonometry in the Real World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421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53" y="1531721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64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324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MA.912.T.1.2 </a:t>
            </a:r>
          </a:p>
          <a:p>
            <a:pPr marL="4587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Solve mathematical and real-world problems involving right triangles using trigonometric ratios and the Pythagorean Theorem.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791"/>
            <a:ext cx="888895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421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457032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70643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481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421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71268" y="1600324"/>
            <a:ext cx="1115688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solve real-world problems using trigonometric ratios and the Pythagorean Theorem.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-57537"/>
            <a:ext cx="988914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7.9.1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618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0516" y="1386149"/>
            <a:ext cx="103485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picture shows the stairs in the Ponce de Leon Inlet Lighthouse. 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612" y="2094035"/>
            <a:ext cx="3985312" cy="31714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1009919" y="2241653"/>
                <a:ext cx="6201377" cy="27597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do you notice?</a:t>
                </a: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do you wonder?</a:t>
                </a: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lighthouse has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203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steps. Do you think this picture includes all of the steps? Explain your answer. </a:t>
                </a: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919" y="2241653"/>
                <a:ext cx="6201377" cy="2759730"/>
              </a:xfrm>
              <a:prstGeom prst="rect">
                <a:avLst/>
              </a:prstGeom>
              <a:blipFill>
                <a:blip r:embed="rId6"/>
                <a:stretch>
                  <a:fillRect l="-1082" t="-1549" r="-1475" b="-3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422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60449"/>
            <a:ext cx="105140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7.9.2 Collaboration: Angle of Depression and Angle of Elevation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422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10" y="34839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50516" y="1386149"/>
            <a:ext cx="109734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Real-world trigonometric ratio problems involve angles that are made from a horizontal line of sight. 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Using a ruler, draw the horizontal line of sight for the man. 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0C37AA2-8B34-A044-9CF0-D6F9EE4284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444" y="3017365"/>
            <a:ext cx="1244600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141" y="2868669"/>
            <a:ext cx="4221982" cy="3468814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0517"/>
                <a:ext cx="11026091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horizontal line of sight is always     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to the ground.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8788" indent="-398463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angles created from the horizontal line of sight are called angles of elevation and angles of depression. In the image, Hector is looking at birds in the sky and a dog on the ground. </a:t>
                </a:r>
              </a:p>
              <a:p>
                <a:pPr marL="60325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Label the angle of elevation 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𝐸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label the angle of 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depression with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0517"/>
                <a:ext cx="11026091" cy="3785652"/>
              </a:xfrm>
              <a:prstGeom prst="rect">
                <a:avLst/>
              </a:prstGeom>
              <a:blipFill>
                <a:blip r:embed="rId5"/>
                <a:stretch>
                  <a:fillRect l="-608" t="-966" r="-1162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818" y="335706"/>
            <a:ext cx="2556628" cy="88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408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586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97833" y="520518"/>
            <a:ext cx="1100202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Based on the name of the angle, work with a partner to write a definition for an angle of elevation. 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Work with a partner to write a definition for an angle of depression. 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Compare your definitions with that of another pair. Discuss any differences. Make changes as necessary.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99535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423</a:t>
            </a:r>
          </a:p>
        </p:txBody>
      </p:sp>
    </p:spTree>
    <p:extLst>
      <p:ext uri="{BB962C8B-B14F-4D97-AF65-F5344CB8AC3E}">
        <p14:creationId xmlns:p14="http://schemas.microsoft.com/office/powerpoint/2010/main" val="1477179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09918" y="-85855"/>
            <a:ext cx="1061823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7.9.3 Guided Instruction: Angles of Elevation and Depression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618" y="1214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423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2B75021C-9817-6449-B54A-E1D9EB71417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Text Box 24"/>
          <p:cNvSpPr txBox="1"/>
          <p:nvPr/>
        </p:nvSpPr>
        <p:spPr>
          <a:xfrm>
            <a:off x="1346701" y="1488214"/>
            <a:ext cx="6447516" cy="1124415"/>
          </a:xfrm>
          <a:prstGeom prst="roundRect">
            <a:avLst/>
          </a:prstGeom>
          <a:solidFill>
            <a:srgbClr val="BA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Verdana" charset="0"/>
                <a:ea typeface="Verdana" charset="0"/>
                <a:cs typeface="Verdana" charset="0"/>
              </a:rPr>
              <a:t>	The </a:t>
            </a:r>
            <a:r>
              <a:rPr lang="en-US" sz="2000" b="1" dirty="0">
                <a:solidFill>
                  <a:srgbClr val="0070C0"/>
                </a:solidFill>
                <a:latin typeface="Verdana" charset="0"/>
                <a:ea typeface="Verdana" charset="0"/>
                <a:cs typeface="Verdana" charset="0"/>
              </a:rPr>
              <a:t>angle of elevation</a:t>
            </a:r>
            <a:r>
              <a:rPr lang="en-US" sz="2000" dirty="0">
                <a:solidFill>
                  <a:srgbClr val="0070C0"/>
                </a:solidFill>
                <a:latin typeface="Verdana" charset="0"/>
                <a:ea typeface="Verdana" charset="0"/>
                <a:cs typeface="Verdana" charset="0"/>
              </a:rPr>
              <a:t> is the angle 	created above the horizontal when 	looking up at an object.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054" y="1739523"/>
            <a:ext cx="518433" cy="50678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 Box 24"/>
          <p:cNvSpPr txBox="1"/>
          <p:nvPr/>
        </p:nvSpPr>
        <p:spPr>
          <a:xfrm>
            <a:off x="1346701" y="2880084"/>
            <a:ext cx="6629400" cy="1124415"/>
          </a:xfrm>
          <a:prstGeom prst="roundRect">
            <a:avLst/>
          </a:prstGeom>
          <a:solidFill>
            <a:srgbClr val="BA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Verdana" charset="0"/>
                <a:ea typeface="Verdana" charset="0"/>
                <a:cs typeface="Verdana" charset="0"/>
              </a:rPr>
              <a:t>	The </a:t>
            </a:r>
            <a:r>
              <a:rPr lang="en-US" sz="2000" b="1" dirty="0">
                <a:solidFill>
                  <a:srgbClr val="0070C0"/>
                </a:solidFill>
                <a:latin typeface="Verdana" charset="0"/>
                <a:ea typeface="Verdana" charset="0"/>
                <a:cs typeface="Verdana" charset="0"/>
              </a:rPr>
              <a:t>angle of depression</a:t>
            </a:r>
            <a:r>
              <a:rPr lang="en-US" sz="2000" dirty="0">
                <a:solidFill>
                  <a:srgbClr val="0070C0"/>
                </a:solidFill>
                <a:latin typeface="Verdana" charset="0"/>
                <a:ea typeface="Verdana" charset="0"/>
                <a:cs typeface="Verdana" charset="0"/>
              </a:rPr>
              <a:t> is the angle 	created below the horizontal when looking 	down at an object.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054" y="3131393"/>
            <a:ext cx="518433" cy="50678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8815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8618"/>
                <a:ext cx="11404115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angle of depression,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𝐷𝑊𝑀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from the airplane to the runway,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37°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why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𝐷𝑊𝑀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𝑅𝑀𝑊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8618"/>
                <a:ext cx="11404115" cy="5016758"/>
              </a:xfrm>
              <a:prstGeom prst="rect">
                <a:avLst/>
              </a:prstGeom>
              <a:blipFill>
                <a:blip r:embed="rId4"/>
                <a:stretch>
                  <a:fillRect l="-588" t="-851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933" y="1092072"/>
            <a:ext cx="7528859" cy="364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320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81972" y="528619"/>
                <a:ext cx="10641951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the airplane is flying at an altitude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2500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feet,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how far is it from the runway,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 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far is the runway from a point on the ground directly below the airplane,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72" y="528619"/>
                <a:ext cx="10641951" cy="3477875"/>
              </a:xfrm>
              <a:prstGeom prst="rect">
                <a:avLst/>
              </a:prstGeom>
              <a:blipFill>
                <a:blip r:embed="rId4"/>
                <a:stretch>
                  <a:fillRect l="-630" t="-1228" r="-745" b="-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49576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762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39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0517"/>
                <a:ext cx="11129789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Kamala is visiting the Ponce de Leon Inlet Lighthouse. Kamala is standing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is looking at the top of the lighthouse,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from Kamala’s eye level, which is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1.75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meters (m).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When Kamala looks at the top of the lighthouse, is the angle created an angle of elevation or depression?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0517"/>
                <a:ext cx="11129789" cy="5632311"/>
              </a:xfrm>
              <a:prstGeom prst="rect">
                <a:avLst/>
              </a:prstGeom>
              <a:blipFill>
                <a:blip r:embed="rId4"/>
                <a:stretch>
                  <a:fillRect l="-603" t="-649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562" y="1661981"/>
            <a:ext cx="3883471" cy="334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40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81972" y="520517"/>
                <a:ext cx="10746177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height of the Ponce de Leon Inlet Lighthouse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m. Kamala is standing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15.25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 from the lighthouse. Label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𝐾𝑇𝐿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appropriately with this information. 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measure of the angle created when Kamala looks at the top of the lighthouse?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72" y="520517"/>
                <a:ext cx="10746177" cy="5632311"/>
              </a:xfrm>
              <a:prstGeom prst="rect">
                <a:avLst/>
              </a:prstGeom>
              <a:blipFill>
                <a:blip r:embed="rId4"/>
                <a:stretch>
                  <a:fillRect l="-624" t="-649" r="-681" b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329" y="1341832"/>
            <a:ext cx="2701346" cy="398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123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425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0354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09918" y="-37087"/>
            <a:ext cx="105140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7.9.4 Guided Practice: Trigonometry in the Real World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425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10" y="12893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50516" y="1386149"/>
                <a:ext cx="1107763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cell phone tower was built in two sections, with a control shed built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feet from the base of the tower on level ground. From the base of the control shed, the angle of elevation,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𝐿𝑆𝑊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to the top of the first section of tower,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𝐿𝑊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22°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angle of elevation to the top of the second section,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𝐿𝑆𝑅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46°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6" y="1386149"/>
                <a:ext cx="11077634" cy="1323439"/>
              </a:xfrm>
              <a:prstGeom prst="rect">
                <a:avLst/>
              </a:prstGeom>
              <a:blipFill>
                <a:blip r:embed="rId5"/>
                <a:stretch>
                  <a:fillRect l="-605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83FE6C-2A92-0840-AA21-B0B38F631C93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483" y="2954560"/>
            <a:ext cx="6491177" cy="300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81972" y="520517"/>
                <a:ext cx="10641951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Label the diagram with the information from the problem. 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𝑅𝑊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 second section of tower. Round your answer to the nearest thousandth of a foot.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72" y="520517"/>
                <a:ext cx="10641951" cy="3170099"/>
              </a:xfrm>
              <a:prstGeom prst="rect">
                <a:avLst/>
              </a:prstGeom>
              <a:blipFill>
                <a:blip r:embed="rId4"/>
                <a:stretch>
                  <a:fillRect l="-630" t="-1154" r="-573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78363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0518"/>
                <a:ext cx="1113031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hot air balloon is flying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38.5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ft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above level ground. The Orlando City Soccer field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ft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from the point on the ground directly below the balloon.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and label a diagram using the information from the problem. 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angle of elevation from the soccer field to the hot air balloon?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hot air balloon ascends further into the air. If the new angle of elevation from the soccer field to the balloon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17.3°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How many feet did the hot air balloon rise?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0518"/>
                <a:ext cx="11130317" cy="4401205"/>
              </a:xfrm>
              <a:prstGeom prst="rect">
                <a:avLst/>
              </a:prstGeom>
              <a:blipFill>
                <a:blip r:embed="rId4"/>
                <a:stretch>
                  <a:fillRect l="-602" t="-831" r="-931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87999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426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09918" y="6045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7.9.5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618" y="60450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36194" y="64633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50516" y="1386150"/>
                <a:ext cx="10919678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swimming pool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feet long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feet deep in the shallow end. There is a steady decline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14°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toward the deep end of the pool. Rectangle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𝑅𝐿𝑆𝑌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𝑆𝑌𝐸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to model the transition from the shallow end to the deep end. Label the diagram appropriately.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6" y="1386150"/>
                <a:ext cx="10919678" cy="1323439"/>
              </a:xfrm>
              <a:prstGeom prst="rect">
                <a:avLst/>
              </a:prstGeom>
              <a:blipFill>
                <a:blip r:embed="rId5"/>
                <a:stretch>
                  <a:fillRect l="-614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EDD7E546-9334-CD4B-9098-7FA33B42DB04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332" y="2782648"/>
            <a:ext cx="59690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97470" y="520518"/>
                <a:ext cx="10730679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deep is the pool at the deep end?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𝐸𝑆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represents the slant in the pool from the shallow end to the deep end. What is its length?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70" y="520518"/>
                <a:ext cx="10730679" cy="3170099"/>
              </a:xfrm>
              <a:prstGeom prst="rect">
                <a:avLst/>
              </a:prstGeom>
              <a:blipFill>
                <a:blip r:embed="rId4"/>
                <a:stretch>
                  <a:fillRect l="-625" t="-1154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626DD4B-AF0E-B846-831C-21AC8FD45F48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427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7765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427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1587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92068" y="-8244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7.9.6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618" y="604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50516" y="1386150"/>
            <a:ext cx="10961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Circle the color on the stoplight that best represents your understanding of solving real-world problems using an angle of depression or an angle of elevation. 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92068" y="3305625"/>
            <a:ext cx="489519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Red: I do not understand.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45720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Yellow: I need some more help.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45720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Green: I got this; I understand!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580" y="2401813"/>
            <a:ext cx="1690922" cy="343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97833" y="520517"/>
            <a:ext cx="1043072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following statements if you selected red or yellow. 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17575" indent="-4445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am still unsure about …</a:t>
            </a: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To fill in this gap I intend to …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513ABD8-4288-F244-A3F2-80C31058217B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417410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</TotalTime>
  <Words>1193</Words>
  <Application>Microsoft Office PowerPoint</Application>
  <PresentationFormat>Widescreen</PresentationFormat>
  <Paragraphs>216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Geometry  Unit 7, Lesson 9  Using Trigonometry in the Real World  Volume 1, pg. 421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Androski,Luke</cp:lastModifiedBy>
  <cp:revision>23</cp:revision>
  <dcterms:created xsi:type="dcterms:W3CDTF">2015-03-17T18:51:18Z</dcterms:created>
  <dcterms:modified xsi:type="dcterms:W3CDTF">2022-04-20T17:23:28Z</dcterms:modified>
</cp:coreProperties>
</file>