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85" r:id="rId4"/>
    <p:sldId id="286" r:id="rId5"/>
    <p:sldId id="261" r:id="rId6"/>
    <p:sldId id="287" r:id="rId7"/>
    <p:sldId id="288" r:id="rId8"/>
    <p:sldId id="342" r:id="rId9"/>
    <p:sldId id="343" r:id="rId10"/>
    <p:sldId id="344" r:id="rId11"/>
    <p:sldId id="345" r:id="rId12"/>
    <p:sldId id="346" r:id="rId13"/>
    <p:sldId id="350" r:id="rId14"/>
    <p:sldId id="347" r:id="rId15"/>
    <p:sldId id="348" r:id="rId16"/>
    <p:sldId id="302" r:id="rId17"/>
    <p:sldId id="303" r:id="rId18"/>
    <p:sldId id="306" r:id="rId19"/>
    <p:sldId id="307" r:id="rId2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BFAC"/>
    <a:srgbClr val="B399C8"/>
    <a:srgbClr val="276C46"/>
    <a:srgbClr val="C9DF6F"/>
    <a:srgbClr val="417DBF"/>
    <a:srgbClr val="3F2A67"/>
    <a:srgbClr val="E24E5F"/>
    <a:srgbClr val="26B7D4"/>
    <a:srgbClr val="54B5D1"/>
    <a:srgbClr val="33BE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146"/>
    <p:restoredTop sz="94767"/>
  </p:normalViewPr>
  <p:slideViewPr>
    <p:cSldViewPr snapToGrid="0">
      <p:cViewPr varScale="1">
        <p:scale>
          <a:sx n="64" d="100"/>
          <a:sy n="64" d="100"/>
        </p:scale>
        <p:origin x="102" y="5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92517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948962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77481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718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631218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660606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7139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33165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0.png"/><Relationship Id="rId5" Type="http://schemas.openxmlformats.org/officeDocument/2006/relationships/image" Target="../media/image15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6.png"/><Relationship Id="rId5" Type="http://schemas.openxmlformats.org/officeDocument/2006/relationships/image" Target="../media/image250.png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Geometry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7, Lesson H3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Area of a Triangle Using the Sine Ratio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439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8753" y="1531721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24050" y="144750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805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439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14000" y="1608425"/>
            <a:ext cx="1100992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52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MA.912.T.1.4 </a:t>
            </a:r>
          </a:p>
          <a:p>
            <a:pPr marL="460375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Solve mathematical problems involving finding the area of a triangle given two sides and the included angle.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42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25200" y="129791"/>
            <a:ext cx="955263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E701C7D4-7BD4-5F4C-ACEB-5781D00837A2}"/>
              </a:ext>
            </a:extLst>
          </p:cNvPr>
          <p:cNvSpPr txBox="1"/>
          <p:nvPr/>
        </p:nvSpPr>
        <p:spPr>
          <a:xfrm>
            <a:off x="8889924" y="645779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439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01760" y="1596514"/>
            <a:ext cx="1052639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070643" y="30784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8481" y="31998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3ECD2D46-55D5-C547-91DD-0801CE9D6AD7}"/>
              </a:ext>
            </a:extLst>
          </p:cNvPr>
          <p:cNvSpPr txBox="1"/>
          <p:nvPr/>
        </p:nvSpPr>
        <p:spPr>
          <a:xfrm>
            <a:off x="8889924" y="645779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439</a:t>
            </a:r>
          </a:p>
        </p:txBody>
      </p:sp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471268" y="1600324"/>
            <a:ext cx="103393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buFont typeface="Wingdings" charset="2"/>
              <a:buChar char="q"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I can find the area of a triangle using the sine ratio. </a:t>
            </a: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440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09918" y="-72283"/>
            <a:ext cx="1118208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7.H3.1 Warm-Up: History of Mathematics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2618" y="19760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89924" y="645779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440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550516" y="1386150"/>
            <a:ext cx="1107763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Hannah Fry is an English mathematician who works alongside physicists, mathematicians, computer scientists, architects, and geographers to study the patterns in human behavior. Fry’s research applies to a wide range of social problems and questions, from shopping and transport to urban crime, riots, and terrorism. </a:t>
            </a: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Fry has also written two popular math books: </a:t>
            </a:r>
            <a:r>
              <a:rPr lang="en-US" sz="2000" i="1" dirty="0">
                <a:latin typeface="Verdana" charset="0"/>
                <a:ea typeface="Verdana" charset="0"/>
                <a:cs typeface="Verdana" charset="0"/>
              </a:rPr>
              <a:t>The Mathematics of Love: Patterns, Proofs, and the Search for the Ultimate Equation</a:t>
            </a: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 and </a:t>
            </a:r>
            <a:r>
              <a:rPr lang="en-US" sz="2000" i="1" dirty="0">
                <a:latin typeface="Verdana" charset="0"/>
                <a:ea typeface="Verdana" charset="0"/>
                <a:cs typeface="Verdana" charset="0"/>
              </a:rPr>
              <a:t>The Indisputable Existence of Santa Claus. </a:t>
            </a:r>
            <a:endParaRPr lang="en-US" sz="2000" dirty="0">
              <a:latin typeface="Verdana" charset="0"/>
              <a:ea typeface="Verdana" charset="0"/>
              <a:cs typeface="Verdana" charset="0"/>
            </a:endParaRP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F1992A8F-F621-054D-B71E-96605FF7377D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33584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5358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440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497832" y="528618"/>
            <a:ext cx="10769935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Fry is quoted as saying, “There is a mathematical angle to almost anything.” </a:t>
            </a: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Interpret this quote in your own words. 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What is a specific real-world example where mathematics is present?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15F1D98C-071D-7E4F-AC26-9D72783C5693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440</a:t>
            </a:r>
          </a:p>
        </p:txBody>
      </p:sp>
      <p:pic>
        <p:nvPicPr>
          <p:cNvPr id="1026" name="Picture 2" descr="Icon&#10;&#10;Description automatically generated">
            <a:extLst>
              <a:ext uri="{FF2B5EF4-FFF2-40B4-BE49-F238E27FC236}">
                <a16:creationId xmlns:a16="http://schemas.microsoft.com/office/drawing/2014/main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30950" y="2814305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27615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22566" y="1386150"/>
            <a:ext cx="4764505" cy="2655789"/>
          </a:xfrm>
          <a:prstGeom prst="rect">
            <a:avLst/>
          </a:prstGeom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09918" y="60449"/>
            <a:ext cx="1051400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7.H3.2 Exploration: Area of a Triangle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440</a:t>
            </a:r>
          </a:p>
        </p:txBody>
      </p:sp>
      <p:pic>
        <p:nvPicPr>
          <p:cNvPr id="7" name="Picture 2" descr="Icon&#10;&#10;Description automatically generated">
            <a:extLst>
              <a:ext uri="{FF2B5EF4-FFF2-40B4-BE49-F238E27FC236}">
                <a16:creationId xmlns:a16="http://schemas.microsoft.com/office/drawing/2014/main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53620" y="308574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2D1D4D-DCB8-A246-B186-D40316579D77}"/>
                  </a:ext>
                </a:extLst>
              </p:cNvPr>
              <p:cNvSpPr txBox="1"/>
              <p:nvPr/>
            </p:nvSpPr>
            <p:spPr>
              <a:xfrm>
                <a:off x="497833" y="1492612"/>
                <a:ext cx="10828928" cy="47103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𝐴𝐵𝐶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shown.</a:t>
                </a: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0750" indent="-4445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Use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𝐴𝐵𝐶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to do the following.</a:t>
                </a:r>
              </a:p>
              <a:p>
                <a:r>
                  <a:rPr lang="en-US" sz="2000" b="1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1270000" indent="-333375">
                  <a:buFont typeface="Arial" charset="0"/>
                  <a:buChar char="•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Draw an altitude from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𝐴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to side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𝐶𝐵</m:t>
                        </m:r>
                      </m:e>
                    </m:acc>
                  </m:oMath>
                </a14:m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1270000" indent="-333375">
                  <a:buFont typeface="Arial" charset="0"/>
                  <a:buChar char="•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Label the altitude as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h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</a:t>
                </a:r>
              </a:p>
              <a:p>
                <a:pPr marL="1270000" indent="-333375">
                  <a:buFont typeface="Arial" charset="0"/>
                  <a:buChar char="•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Label the point where the altitude intersects side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𝐵𝐶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𝐷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  <a:p>
                <a:pPr marL="1270000" indent="-333375">
                  <a:buFont typeface="Arial" charset="0"/>
                  <a:buChar char="•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Label the sides as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𝐴𝐵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𝑐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, 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𝐵𝐶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𝑎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,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𝐴𝐶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𝑏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2D1D4D-DCB8-A246-B186-D40316579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833" y="1492612"/>
                <a:ext cx="10828928" cy="4710392"/>
              </a:xfrm>
              <a:prstGeom prst="rect">
                <a:avLst/>
              </a:prstGeom>
              <a:blipFill>
                <a:blip r:embed="rId6"/>
                <a:stretch>
                  <a:fillRect l="-563" t="-776" b="-12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D672544D-2ABA-1343-B9BB-B0296BB0511F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2689804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440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497833" y="520518"/>
                <a:ext cx="10268490" cy="2554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The altitude creates two right triangles inside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latin typeface="Cambria Math" charset="0"/>
                        <a:ea typeface="Verdana" charset="0"/>
                        <a:cs typeface="Verdana" charset="0"/>
                      </a:rPr>
                      <m:t>Δ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𝐴𝐵𝐶</m:t>
                    </m:r>
                    <m:r>
                      <a:rPr lang="en-US" sz="2000">
                        <a:latin typeface="Cambria Math" charset="0"/>
                        <a:ea typeface="Verdana" charset="0"/>
                        <a:cs typeface="Verdana" charset="0"/>
                      </a:rPr>
                      <m:t>.</m:t>
                    </m:r>
                  </m:oMath>
                </a14:m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920750" indent="-444500">
                  <a:buFont typeface="+mj-lt"/>
                  <a:buAutoNum type="alphaL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Write the equation that can be used to find the area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latin typeface="Cambria Math" charset="0"/>
                        <a:ea typeface="Verdana" charset="0"/>
                        <a:cs typeface="Verdana" charset="0"/>
                      </a:rPr>
                      <m:t>Δ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𝐴𝐵𝐶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  <a:p>
                <a:pPr marL="920750" indent="-4445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0750" indent="-4445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0750" indent="-4445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0750" indent="-4445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0750" indent="-444500">
                  <a:buFont typeface="+mj-lt"/>
                  <a:buAutoNum type="alphaL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Complete each equation using right triangle trigonometry.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833" y="520518"/>
                <a:ext cx="10268490" cy="2554545"/>
              </a:xfrm>
              <a:prstGeom prst="rect">
                <a:avLst/>
              </a:prstGeom>
              <a:blipFill>
                <a:blip r:embed="rId4"/>
                <a:stretch>
                  <a:fillRect l="-653" t="-1193" b="-35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6760BDC3-AF44-C94E-BD05-E61FF805DD32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22818208"/>
                  </p:ext>
                </p:extLst>
              </p:nvPr>
            </p:nvGraphicFramePr>
            <p:xfrm>
              <a:off x="1428101" y="3227191"/>
              <a:ext cx="6691630" cy="153924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34581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34581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26352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∆</m:t>
                                </m:r>
                                <m:r>
                                  <a:rPr lang="en-US" sz="2000" b="1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𝑨𝑫𝑩</m:t>
                                </m:r>
                              </m:oMath>
                            </m:oMathPara>
                          </a14:m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∆</m:t>
                                </m:r>
                                <m:r>
                                  <a:rPr lang="en-US" sz="2000" b="1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𝑨𝑫𝑪</m:t>
                                </m:r>
                              </m:oMath>
                            </m:oMathPara>
                          </a14:m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23444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000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sin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𝐵</m:t>
                                    </m:r>
                                  </m:e>
                                </m:d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000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sin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𝐶</m:t>
                                    </m:r>
                                  </m:e>
                                </m:d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22818208"/>
                  </p:ext>
                </p:extLst>
              </p:nvPr>
            </p:nvGraphicFramePr>
            <p:xfrm>
              <a:off x="1428101" y="3227191"/>
              <a:ext cx="6691630" cy="153924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34581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34581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2" t="-2000" r="-100546" b="-41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182" t="-2000" r="-546" b="-41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2344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2" t="-25123" r="-100546" b="-9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182" t="-25123" r="-546" b="-9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5210671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441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880342" y="528619"/>
                <a:ext cx="7944627" cy="57676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lphaLcPeriod" startAt="4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Rewrite each equation in terms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h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</a:t>
                </a:r>
              </a:p>
              <a:p>
                <a:pPr marL="457200" indent="-457200">
                  <a:buFont typeface="+mj-lt"/>
                  <a:buAutoNum type="alphaLcPeriod" startAt="4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4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4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4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4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4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4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4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Substitute each expression into the formula,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𝐴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2</m:t>
                        </m:r>
                      </m:den>
                    </m:f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𝑎h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  <a:p>
                <a:pPr marL="457200" indent="-457200">
                  <a:buFont typeface="+mj-lt"/>
                  <a:buAutoNum type="alphaLcPeriod" startAt="4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4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4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4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4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4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4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4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What do you notice about the two equations?</a:t>
                </a:r>
              </a:p>
              <a:p>
                <a:pPr marL="457200" indent="-457200">
                  <a:buFont typeface="+mj-lt"/>
                  <a:buAutoNum type="alphaLcPeriod" startAt="4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342" y="528619"/>
                <a:ext cx="7944627" cy="5767669"/>
              </a:xfrm>
              <a:prstGeom prst="rect">
                <a:avLst/>
              </a:prstGeom>
              <a:blipFill>
                <a:blip r:embed="rId4"/>
                <a:stretch>
                  <a:fillRect l="-844" t="-7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6760BDC3-AF44-C94E-BD05-E61FF805DD32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73797027"/>
                  </p:ext>
                </p:extLst>
              </p:nvPr>
            </p:nvGraphicFramePr>
            <p:xfrm>
              <a:off x="1304156" y="1336537"/>
              <a:ext cx="6714490" cy="130175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35724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35724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26162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∆</m:t>
                                </m:r>
                                <m:r>
                                  <a:rPr lang="en-US" sz="2000" b="1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𝑨𝑫𝑩</m:t>
                                </m:r>
                              </m:oMath>
                            </m:oMathPara>
                          </a14:m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∆</m:t>
                                </m:r>
                                <m:r>
                                  <a:rPr lang="en-US" sz="2000" b="1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𝑨𝑫𝑪</m:t>
                                </m:r>
                              </m:oMath>
                            </m:oMathPara>
                          </a14:m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9695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h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h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73797027"/>
                  </p:ext>
                </p:extLst>
              </p:nvPr>
            </p:nvGraphicFramePr>
            <p:xfrm>
              <a:off x="1304156" y="1336537"/>
              <a:ext cx="6714490" cy="130175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35724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35724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1" t="-2000" r="-100181" b="-3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363" t="-2000" r="-363" b="-33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969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1" t="-31098" r="-100181" b="-12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363" t="-31098" r="-363" b="-122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84011927"/>
                  </p:ext>
                </p:extLst>
              </p:nvPr>
            </p:nvGraphicFramePr>
            <p:xfrm>
              <a:off x="1281296" y="3921187"/>
              <a:ext cx="6737350" cy="10922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36867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36867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26479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∆</m:t>
                                </m:r>
                                <m:r>
                                  <a:rPr lang="en-US" sz="2000" b="1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𝑨𝑫𝑩</m:t>
                                </m:r>
                              </m:oMath>
                            </m:oMathPara>
                          </a14:m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∆</m:t>
                                </m:r>
                                <m:r>
                                  <a:rPr lang="en-US" sz="2000" b="1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𝑨𝑫𝑪</m:t>
                                </m:r>
                              </m:oMath>
                            </m:oMathPara>
                          </a14:m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874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𝐴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𝑎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___________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𝐴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𝑎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___________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84011927"/>
                  </p:ext>
                </p:extLst>
              </p:nvPr>
            </p:nvGraphicFramePr>
            <p:xfrm>
              <a:off x="1281296" y="3921187"/>
              <a:ext cx="6737350" cy="10922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36867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36867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81" t="-2000" r="-100362" b="-26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00181" t="-2000" r="-362" b="-264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874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81" t="-39231" r="-100362" b="-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00181" t="-39231" r="-362" b="-15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9168531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441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497833" y="520518"/>
                <a:ext cx="10607702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𝐴𝐵𝐶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shown.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920750" indent="-4445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Find the area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𝐴𝐵𝐶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given that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𝐶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=41°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𝐴𝐶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=55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𝐵𝐶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=73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833" y="520518"/>
                <a:ext cx="10607702" cy="1015663"/>
              </a:xfrm>
              <a:prstGeom prst="rect">
                <a:avLst/>
              </a:prstGeom>
              <a:blipFill>
                <a:blip r:embed="rId4"/>
                <a:stretch>
                  <a:fillRect l="-575" t="-2994" b="-101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6760BDC3-AF44-C94E-BD05-E61FF805DD32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61051" y="2239334"/>
            <a:ext cx="5600700" cy="313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638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441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6760BDC3-AF44-C94E-BD05-E61FF805DD32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1BF8CB-7B2C-8958-0922-0E660FF5929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72705"/>
          <a:stretch>
            <a:fillRect/>
          </a:stretch>
        </p:blipFill>
        <p:spPr>
          <a:xfrm>
            <a:off x="969555" y="466312"/>
            <a:ext cx="7344800" cy="16173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F5EF158-807F-CEA2-8E52-08A555FE62F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4989"/>
          <a:stretch>
            <a:fillRect/>
          </a:stretch>
        </p:blipFill>
        <p:spPr>
          <a:xfrm>
            <a:off x="874183" y="3102964"/>
            <a:ext cx="7344800" cy="2074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8002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5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442</a:t>
            </a: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8663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09917" y="-96079"/>
            <a:ext cx="11290237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7.H3.3 Guided Practice: Area of a Triangle</a:t>
            </a:r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442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60110" y="128939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/>
              <p:nvPr/>
            </p:nvSpPr>
            <p:spPr>
              <a:xfrm>
                <a:off x="550516" y="1386149"/>
                <a:ext cx="11077634" cy="4401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𝑅𝐿𝐵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shown.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𝑅𝐿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=14, 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𝑅𝐵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=16.5,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𝐿𝑅𝐵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=50°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Find the area of the triangle. 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In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𝐹𝑃𝐵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,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𝐹𝑃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=9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𝑃𝐵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=18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𝐹𝑃𝐵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=117°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Find the area of the triangle. 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516" y="1386149"/>
                <a:ext cx="11077634" cy="4401205"/>
              </a:xfrm>
              <a:prstGeom prst="rect">
                <a:avLst/>
              </a:prstGeom>
              <a:blipFill>
                <a:blip r:embed="rId5"/>
                <a:stretch>
                  <a:fillRect l="-605" t="-693" r="-5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DC83FE6C-2A92-0840-AA21-B0B38F631C93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93176" y="1951224"/>
            <a:ext cx="4461950" cy="294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6896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EE3C8BB3-D8AE-154C-9B2D-B1D7451436FE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442</a:t>
            </a:r>
          </a:p>
        </p:txBody>
      </p:sp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973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009918" y="54875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7.H3.4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2618" y="54875"/>
            <a:ext cx="747300" cy="74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F9486181-07A1-C74B-A129-E8949F43C159}"/>
              </a:ext>
            </a:extLst>
          </p:cNvPr>
          <p:cNvSpPr txBox="1"/>
          <p:nvPr/>
        </p:nvSpPr>
        <p:spPr>
          <a:xfrm>
            <a:off x="8817781" y="64633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442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/>
              <p:nvPr/>
            </p:nvSpPr>
            <p:spPr>
              <a:xfrm>
                <a:off x="550515" y="1380575"/>
                <a:ext cx="11203950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In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𝑁𝐵𝑅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𝑁𝐵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=20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𝑁𝑅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=18.6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𝑅𝑁𝐵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=43°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Find the area of the triangle. 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𝐾𝑅𝐻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shown.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𝐾𝑅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=18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𝑅𝐻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=16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and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𝐾𝑅𝐻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=135°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Find the area of the triangle.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515" y="1380575"/>
                <a:ext cx="11203950" cy="1323439"/>
              </a:xfrm>
              <a:prstGeom prst="rect">
                <a:avLst/>
              </a:prstGeom>
              <a:blipFill>
                <a:blip r:embed="rId5"/>
                <a:stretch>
                  <a:fillRect l="-598" t="-2752" r="-762" b="-68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EDD7E546-9334-CD4B-9098-7FA33B42DB04}"/>
              </a:ext>
            </a:extLst>
          </p:cNvPr>
          <p:cNvSpPr/>
          <p:nvPr/>
        </p:nvSpPr>
        <p:spPr>
          <a:xfrm>
            <a:off x="0" y="-1367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16428" y="2940166"/>
            <a:ext cx="5077326" cy="2694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443</a:t>
            </a: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104476d1465_1_17"/>
          <p:cNvSpPr txBox="1"/>
          <p:nvPr/>
        </p:nvSpPr>
        <p:spPr>
          <a:xfrm>
            <a:off x="8903258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443</a:t>
            </a: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4148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092068" y="-82447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7.H3.5 Wrap-Up: Reflection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2618" y="6044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550516" y="1441041"/>
            <a:ext cx="108794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What are the similarities and differences between finding the area of a triangle and finding the area of a triangle using the sine ratio?</a:t>
            </a: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C9825640-5649-F74D-866E-EC8F188D5640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1254</TotalTime>
  <Words>753</Words>
  <Application>Microsoft Office PowerPoint</Application>
  <PresentationFormat>Widescreen</PresentationFormat>
  <Paragraphs>147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Arial</vt:lpstr>
      <vt:lpstr>Arial Black</vt:lpstr>
      <vt:lpstr>Calibri</vt:lpstr>
      <vt:lpstr>Cambria Math</vt:lpstr>
      <vt:lpstr>Century Gothic</vt:lpstr>
      <vt:lpstr>Verdana</vt:lpstr>
      <vt:lpstr>Wingdings</vt:lpstr>
      <vt:lpstr>1_Office Theme</vt:lpstr>
      <vt:lpstr>Geometry  Unit 7, Lesson H3  Area of a Triangle Using the Sine Ratio  Volume 1, pg. 439  </vt:lpstr>
      <vt:lpstr>Benchmark</vt:lpstr>
      <vt:lpstr>PowerPoint Presentation</vt:lpstr>
      <vt:lpstr>PowerPoint Presentation</vt:lpstr>
      <vt:lpstr>Warm-Up</vt:lpstr>
      <vt:lpstr>PowerPoint Presentation</vt:lpstr>
      <vt:lpstr>PowerPoint Presentation</vt:lpstr>
      <vt:lpstr>Exploration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Your Turn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Karen  Yohe</cp:lastModifiedBy>
  <cp:revision>25</cp:revision>
  <dcterms:created xsi:type="dcterms:W3CDTF">2015-03-17T18:51:18Z</dcterms:created>
  <dcterms:modified xsi:type="dcterms:W3CDTF">2025-09-18T15:45:06Z</dcterms:modified>
</cp:coreProperties>
</file>