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342" r:id="rId8"/>
    <p:sldId id="343" r:id="rId9"/>
    <p:sldId id="344" r:id="rId10"/>
    <p:sldId id="345" r:id="rId11"/>
    <p:sldId id="346" r:id="rId12"/>
    <p:sldId id="347" r:id="rId13"/>
    <p:sldId id="348" r:id="rId14"/>
    <p:sldId id="349" r:id="rId15"/>
    <p:sldId id="350" r:id="rId16"/>
    <p:sldId id="351" r:id="rId17"/>
    <p:sldId id="352" r:id="rId18"/>
    <p:sldId id="361" r:id="rId19"/>
    <p:sldId id="353" r:id="rId20"/>
    <p:sldId id="354" r:id="rId21"/>
    <p:sldId id="355" r:id="rId22"/>
    <p:sldId id="356" r:id="rId23"/>
    <p:sldId id="357" r:id="rId24"/>
    <p:sldId id="362" r:id="rId25"/>
    <p:sldId id="358" r:id="rId26"/>
    <p:sldId id="359" r:id="rId27"/>
    <p:sldId id="306" r:id="rId28"/>
    <p:sldId id="307"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FAC"/>
    <a:srgbClr val="B399C8"/>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55"/>
    <p:restoredTop sz="94680"/>
  </p:normalViewPr>
  <p:slideViewPr>
    <p:cSldViewPr snapToGrid="0">
      <p:cViewPr varScale="1">
        <p:scale>
          <a:sx n="79" d="100"/>
          <a:sy n="79" d="100"/>
        </p:scale>
        <p:origin x="1142"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1214553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584618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906737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92329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091166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06674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1084189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0290908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1458252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1360859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8788683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253618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9948200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5129953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7443034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890133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520396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0637442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17985935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3971515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0.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25.tiff"/><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10.png"/><Relationship Id="rId10" Type="http://schemas.openxmlformats.org/officeDocument/2006/relationships/image" Target="../media/image29.png"/><Relationship Id="rId4" Type="http://schemas.openxmlformats.org/officeDocument/2006/relationships/image" Target="../media/image24.png"/><Relationship Id="rId9"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41.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44.png"/><Relationship Id="rId5" Type="http://schemas.openxmlformats.org/officeDocument/2006/relationships/image" Target="../media/image42.png"/><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47.png"/><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45.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10.png"/><Relationship Id="rId7"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56.png"/><Relationship Id="rId5" Type="http://schemas.openxmlformats.org/officeDocument/2006/relationships/image" Target="../media/image50.png"/><Relationship Id="rId4" Type="http://schemas.openxmlformats.org/officeDocument/2006/relationships/image" Target="../media/image55.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57.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60.png"/><Relationship Id="rId4" Type="http://schemas.openxmlformats.org/officeDocument/2006/relationships/image" Target="../media/image59.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61.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62.png"/><Relationship Id="rId4"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6</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Special Right Triangles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400</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3621"/>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64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424"/>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400</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0324"/>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MA.912.T.1.2 </a:t>
            </a:r>
          </a:p>
          <a:p>
            <a:pPr marL="463550" indent="0">
              <a:buNone/>
            </a:pPr>
            <a:r>
              <a:rPr lang="en-US" sz="2400" dirty="0">
                <a:latin typeface="Verdana" charset="0"/>
                <a:ea typeface="Verdana" charset="0"/>
                <a:cs typeface="Verdana" charset="0"/>
              </a:rPr>
              <a:t>Solve mathematical and real-world problems involving right triangles using trigonometric ratios and the Pythagorean Theorem.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72424"/>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199" y="129791"/>
            <a:ext cx="936090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400</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596514"/>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70643" y="30784"/>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88481" y="319984"/>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400</a:t>
            </a:r>
          </a:p>
        </p:txBody>
      </p:sp>
      <mc:AlternateContent xmlns:mc="http://schemas.openxmlformats.org/markup-compatibility/2006" xmlns:a14="http://schemas.microsoft.com/office/drawing/2010/main">
        <mc:Choice Requires="a14">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71267" y="1600324"/>
                <a:ext cx="1075225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use side ratios of </a:t>
                </a:r>
                <a14:m>
                  <m:oMath xmlns:m="http://schemas.openxmlformats.org/officeDocument/2006/math">
                    <m:r>
                      <a:rPr lang="en-US" sz="2400" i="1">
                        <a:latin typeface="Cambria Math" charset="0"/>
                        <a:ea typeface="Verdana" charset="0"/>
                        <a:cs typeface="Verdana" charset="0"/>
                      </a:rPr>
                      <m:t>45−45−90</m:t>
                    </m:r>
                  </m:oMath>
                </a14:m>
                <a:r>
                  <a:rPr lang="en-US" sz="2400" dirty="0">
                    <a:latin typeface="Verdana" charset="0"/>
                    <a:ea typeface="Verdana" charset="0"/>
                    <a:cs typeface="Verdana" charset="0"/>
                  </a:rPr>
                  <a:t> triangles to solve problems.</a:t>
                </a:r>
              </a:p>
              <a:p>
                <a:endParaRPr lang="en-US" sz="2400" dirty="0">
                  <a:latin typeface="Verdana" charset="0"/>
                  <a:ea typeface="Verdana" charset="0"/>
                  <a:cs typeface="Verdana" charset="0"/>
                </a:endParaRPr>
              </a:p>
              <a:p>
                <a:pPr marL="342900" indent="-342900">
                  <a:buFont typeface="Wingdings" charset="2"/>
                  <a:buChar char="q"/>
                </a:pPr>
                <a:r>
                  <a:rPr lang="en-US" sz="2400" dirty="0">
                    <a:latin typeface="Verdana" charset="0"/>
                    <a:ea typeface="Verdana" charset="0"/>
                    <a:cs typeface="Verdana" charset="0"/>
                  </a:rPr>
                  <a:t>I can use side ratios of </a:t>
                </a:r>
                <a14:m>
                  <m:oMath xmlns:m="http://schemas.openxmlformats.org/officeDocument/2006/math">
                    <m:r>
                      <a:rPr lang="en-US" sz="2400" i="1">
                        <a:latin typeface="Cambria Math" charset="0"/>
                        <a:ea typeface="Verdana" charset="0"/>
                        <a:cs typeface="Verdana" charset="0"/>
                      </a:rPr>
                      <m:t>30−60−90</m:t>
                    </m:r>
                  </m:oMath>
                </a14:m>
                <a:r>
                  <a:rPr lang="en-US" sz="2400" dirty="0">
                    <a:latin typeface="Verdana" charset="0"/>
                    <a:ea typeface="Verdana" charset="0"/>
                    <a:cs typeface="Verdana" charset="0"/>
                  </a:rPr>
                  <a:t> triangles to solve problems. </a:t>
                </a:r>
              </a:p>
            </p:txBody>
          </p:sp>
        </mc:Choice>
        <mc:Fallback xmlns="">
          <p:sp>
            <p:nvSpPr>
              <p:cNvPr id="14" name="Google Shape;302;g103996e1364_0_16">
                <a:extLst>
                  <a:ext uri="{FF2B5EF4-FFF2-40B4-BE49-F238E27FC236}">
                    <a16:creationId xmlns:a16="http://schemas.microsoft.com/office/drawing/2014/main" id="{9B7C98EC-F13C-9146-B728-D7044DB4247D}"/>
                  </a:ext>
                </a:extLst>
              </p:cNvPr>
              <p:cNvSpPr txBox="1">
                <a:spLocks noRot="1" noChangeAspect="1" noMove="1" noResize="1" noEditPoints="1" noAdjustHandles="1" noChangeArrowheads="1" noChangeShapeType="1" noTextEdit="1"/>
              </p:cNvSpPr>
              <p:nvPr/>
            </p:nvSpPr>
            <p:spPr>
              <a:xfrm>
                <a:off x="471267" y="1600324"/>
                <a:ext cx="10752255" cy="4205700"/>
              </a:xfrm>
              <a:prstGeom prst="rect">
                <a:avLst/>
              </a:prstGeom>
              <a:blipFill>
                <a:blip r:embed="rId5"/>
                <a:stretch>
                  <a:fillRect l="-737" t="-1306"/>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09917" y="-57536"/>
            <a:ext cx="937294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7.6.1 Warm-Up: Critical Thinking</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262618" y="197609"/>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400</a:t>
            </a:r>
          </a:p>
        </p:txBody>
      </p:sp>
      <p:sp>
        <p:nvSpPr>
          <p:cNvPr id="2" name="TextBox 1">
            <a:extLst>
              <a:ext uri="{FF2B5EF4-FFF2-40B4-BE49-F238E27FC236}">
                <a16:creationId xmlns:a16="http://schemas.microsoft.com/office/drawing/2014/main" id="{E1D7562E-134F-D14B-AF1A-DF40E11EF758}"/>
              </a:ext>
            </a:extLst>
          </p:cNvPr>
          <p:cNvSpPr txBox="1"/>
          <p:nvPr/>
        </p:nvSpPr>
        <p:spPr>
          <a:xfrm>
            <a:off x="550516" y="1386149"/>
            <a:ext cx="8327136" cy="5016758"/>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What fraction of the shape is shaded?</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Describe your problem-solving method. </a:t>
            </a:r>
          </a:p>
        </p:txBody>
      </p:sp>
      <p:sp>
        <p:nvSpPr>
          <p:cNvPr id="9" name="Google Shape;278;g104476d1465_1_17">
            <a:extLst>
              <a:ext uri="{FF2B5EF4-FFF2-40B4-BE49-F238E27FC236}">
                <a16:creationId xmlns:a16="http://schemas.microsoft.com/office/drawing/2014/main" id="{F1992A8F-F621-054D-B71E-96605FF7377D}"/>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357451" y="1892420"/>
            <a:ext cx="4713267" cy="3802035"/>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401</a:t>
            </a: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98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09917" y="60449"/>
            <a:ext cx="1015461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7.6.2 Exploration: Exploring Special Right Triangles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401</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53620" y="308574"/>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550515" y="1386150"/>
                <a:ext cx="8201953" cy="2554545"/>
              </a:xfrm>
              <a:prstGeom prst="rect">
                <a:avLst/>
              </a:prstGeom>
              <a:noFill/>
            </p:spPr>
            <p:txBody>
              <a:bodyPr wrap="square" rtlCol="0">
                <a:spAutoFit/>
              </a:bodyPr>
              <a:lstStyle/>
              <a:p>
                <a:pPr marL="457200" indent="-457200">
                  <a:buFont typeface="+mj-lt"/>
                  <a:buAutoNum type="arabicPeriod"/>
                </a:pP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𝑀𝐺𝑇</m:t>
                    </m:r>
                  </m:oMath>
                </a14:m>
                <a:r>
                  <a:rPr lang="en-US" sz="2000" dirty="0">
                    <a:latin typeface="Verdana" charset="0"/>
                    <a:ea typeface="Verdana" charset="0"/>
                    <a:cs typeface="Verdana" charset="0"/>
                  </a:rPr>
                  <a:t> is a right triangle, where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𝑀𝐺𝑇</m:t>
                    </m:r>
                    <m:r>
                      <a:rPr lang="en-US" sz="2000" i="1">
                        <a:latin typeface="Cambria Math" panose="02040503050406030204" pitchFamily="18" charset="0"/>
                        <a:ea typeface="Verdana" charset="0"/>
                        <a:cs typeface="Verdana" charset="0"/>
                      </a:rPr>
                      <m:t>=90°</m:t>
                    </m:r>
                  </m:oMath>
                </a14:m>
                <a:r>
                  <a:rPr lang="en-US" sz="2000" dirty="0">
                    <a:latin typeface="Verdana" charset="0"/>
                    <a:ea typeface="Verdana" charset="0"/>
                    <a:cs typeface="Verdana" charset="0"/>
                  </a:rPr>
                  <a:t>,</a:t>
                </a:r>
                <a14:m>
                  <m:oMath xmlns:m="http://schemas.openxmlformats.org/officeDocument/2006/math">
                    <m:r>
                      <a:rPr lang="en-US" sz="2000" i="1">
                        <a:latin typeface="Cambria Math" panose="02040503050406030204" pitchFamily="18" charset="0"/>
                        <a:ea typeface="Verdana" charset="0"/>
                        <a:cs typeface="Verdana" charset="0"/>
                      </a:rPr>
                      <m:t> </m:t>
                    </m:r>
                    <m:r>
                      <a:rPr lang="en-US" sz="2000" i="1">
                        <a:latin typeface="Cambria Math" panose="02040503050406030204" pitchFamily="18" charset="0"/>
                        <a:ea typeface="Verdana" charset="0"/>
                        <a:cs typeface="Verdana" charset="0"/>
                      </a:rPr>
                      <m:t>𝑀𝐺</m:t>
                    </m:r>
                    <m:r>
                      <a:rPr lang="en-US" sz="2000" i="1">
                        <a:latin typeface="Cambria Math" panose="02040503050406030204" pitchFamily="18" charset="0"/>
                        <a:ea typeface="Verdana" charset="0"/>
                        <a:cs typeface="Verdana" charset="0"/>
                      </a:rPr>
                      <m:t>=6</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𝐺𝑇</m:t>
                    </m:r>
                    <m:r>
                      <a:rPr lang="en-US" sz="2000" i="1">
                        <a:latin typeface="Cambria Math" panose="02040503050406030204" pitchFamily="18" charset="0"/>
                        <a:ea typeface="Verdana" charset="0"/>
                        <a:cs typeface="Verdana" charset="0"/>
                      </a:rPr>
                      <m:t>=6</m:t>
                    </m:r>
                  </m:oMath>
                </a14:m>
                <a:r>
                  <a:rPr lang="en-US" sz="2000" dirty="0">
                    <a:latin typeface="Verdana" charset="0"/>
                    <a:ea typeface="Verdana" charset="0"/>
                    <a:cs typeface="Verdana" charset="0"/>
                  </a:rPr>
                  <a:t>. </a:t>
                </a:r>
              </a:p>
              <a:p>
                <a:pPr marL="457200" indent="-457200">
                  <a:buFont typeface="+mj-lt"/>
                  <a:buAutoNum type="arabicPeriod"/>
                </a:pPr>
                <a:endParaRPr lang="en-US" sz="2000" dirty="0">
                  <a:latin typeface="Verdana" charset="0"/>
                  <a:ea typeface="Verdana" charset="0"/>
                  <a:cs typeface="Verdana" charset="0"/>
                </a:endParaRPr>
              </a:p>
              <a:p>
                <a:pPr marL="928688" indent="-511175">
                  <a:buFont typeface="+mj-lt"/>
                  <a:buAutoNum type="alphaLcPeriod"/>
                </a:pPr>
                <a:r>
                  <a:rPr lang="en-US" sz="2000" dirty="0">
                    <a:latin typeface="Verdana" charset="0"/>
                    <a:ea typeface="Verdana" charset="0"/>
                    <a:cs typeface="Verdana" charset="0"/>
                  </a:rPr>
                  <a:t>What type of right triangle is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𝑀𝐺𝑇</m:t>
                    </m:r>
                  </m:oMath>
                </a14:m>
                <a:r>
                  <a:rPr lang="en-US" sz="2000" dirty="0">
                    <a:latin typeface="Verdana" charset="0"/>
                    <a:ea typeface="Verdana" charset="0"/>
                    <a:cs typeface="Verdana" charset="0"/>
                  </a:rPr>
                  <a:t>?</a:t>
                </a:r>
              </a:p>
              <a:p>
                <a:pPr marL="928688" indent="-511175">
                  <a:buFont typeface="+mj-lt"/>
                  <a:buAutoNum type="alphaLcPeriod"/>
                </a:pPr>
                <a:endParaRPr lang="en-US" sz="2000" dirty="0">
                  <a:latin typeface="Verdana" charset="0"/>
                  <a:ea typeface="Verdana" charset="0"/>
                  <a:cs typeface="Verdana" charset="0"/>
                </a:endParaRPr>
              </a:p>
              <a:p>
                <a:pPr marL="928688" indent="-511175">
                  <a:buFont typeface="+mj-lt"/>
                  <a:buAutoNum type="alphaLcPeriod"/>
                </a:pPr>
                <a:r>
                  <a:rPr lang="en-US" sz="2000" dirty="0">
                    <a:latin typeface="Verdana" charset="0"/>
                    <a:ea typeface="Verdana" charset="0"/>
                    <a:cs typeface="Verdana" charset="0"/>
                  </a:rPr>
                  <a:t>Determine the measurements. Leave the measurement of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𝑀𝑇</m:t>
                        </m:r>
                      </m:e>
                    </m:acc>
                  </m:oMath>
                </a14:m>
                <a:r>
                  <a:rPr lang="en-US" sz="2000" dirty="0">
                    <a:latin typeface="Verdana" charset="0"/>
                    <a:ea typeface="Verdana" charset="0"/>
                    <a:cs typeface="Verdana" charset="0"/>
                  </a:rPr>
                  <a:t> in radical form.</a:t>
                </a:r>
              </a:p>
              <a:p>
                <a:pPr marL="928688" indent="-511175">
                  <a:buFont typeface="+mj-lt"/>
                  <a:buAutoNum type="alphaLcPeriod"/>
                </a:pPr>
                <a:endParaRPr lang="en-US" sz="2000" dirty="0">
                  <a:latin typeface="Verdana" charset="0"/>
                  <a:ea typeface="Verdana" charset="0"/>
                  <a:cs typeface="Verdana" charset="0"/>
                </a:endParaRP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550515" y="1386150"/>
                <a:ext cx="8201953" cy="2554545"/>
              </a:xfrm>
              <a:prstGeom prst="rect">
                <a:avLst/>
              </a:prstGeom>
              <a:blipFill>
                <a:blip r:embed="rId5"/>
                <a:stretch>
                  <a:fillRect l="-743" t="-1193"/>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D672544D-2ABA-1343-B9BB-B0296BB0511F}"/>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752469" y="1060828"/>
            <a:ext cx="2871460" cy="2741432"/>
          </a:xfrm>
          <a:prstGeom prst="rect">
            <a:avLst/>
          </a:prstGeom>
        </p:spPr>
      </p:pic>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968629770"/>
                  </p:ext>
                </p:extLst>
              </p:nvPr>
            </p:nvGraphicFramePr>
            <p:xfrm>
              <a:off x="1376160" y="3940694"/>
              <a:ext cx="7747929" cy="2391614"/>
            </p:xfrm>
            <a:graphic>
              <a:graphicData uri="http://schemas.openxmlformats.org/drawingml/2006/table">
                <a:tbl>
                  <a:tblPr firstRow="1" firstCol="1" bandRow="1"/>
                  <a:tblGrid>
                    <a:gridCol w="2541585">
                      <a:extLst>
                        <a:ext uri="{9D8B030D-6E8A-4147-A177-3AD203B41FA5}">
                          <a16:colId xmlns:a16="http://schemas.microsoft.com/office/drawing/2014/main" val="20000"/>
                        </a:ext>
                      </a:extLst>
                    </a:gridCol>
                    <a:gridCol w="2603172">
                      <a:extLst>
                        <a:ext uri="{9D8B030D-6E8A-4147-A177-3AD203B41FA5}">
                          <a16:colId xmlns:a16="http://schemas.microsoft.com/office/drawing/2014/main" val="20001"/>
                        </a:ext>
                      </a:extLst>
                    </a:gridCol>
                    <a:gridCol w="2603172">
                      <a:extLst>
                        <a:ext uri="{9D8B030D-6E8A-4147-A177-3AD203B41FA5}">
                          <a16:colId xmlns:a16="http://schemas.microsoft.com/office/drawing/2014/main" val="20002"/>
                        </a:ext>
                      </a:extLst>
                    </a:gridCol>
                  </a:tblGrid>
                  <a:tr h="36050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b="1" i="1">
                                    <a:effectLst/>
                                    <a:latin typeface="Cambria Math" charset="0"/>
                                    <a:ea typeface="Verdana" charset="0"/>
                                    <a:cs typeface="Verdana" charset="0"/>
                                  </a:rPr>
                                  <m:t>𝑴𝑻</m:t>
                                </m:r>
                              </m:oMath>
                            </m:oMathPara>
                          </a14:m>
                          <a:endParaRPr lang="en-US" sz="2400">
                            <a:effectLst/>
                            <a:latin typeface="Verdana" charset="0"/>
                            <a:ea typeface="Verdana" charset="0"/>
                            <a:cs typeface="Verdana" charset="0"/>
                          </a:endParaRPr>
                        </a:p>
                      </a:txBody>
                      <a:tcPr marL="81114" marR="81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b="1" i="1">
                                    <a:effectLst/>
                                    <a:latin typeface="Cambria Math" charset="0"/>
                                    <a:ea typeface="Verdana" charset="0"/>
                                    <a:cs typeface="Verdana" charset="0"/>
                                  </a:rPr>
                                  <m:t>𝒎</m:t>
                                </m:r>
                                <m:r>
                                  <a:rPr lang="en-US" sz="2400" b="1" i="1">
                                    <a:effectLst/>
                                    <a:latin typeface="Cambria Math" charset="0"/>
                                    <a:ea typeface="Verdana" charset="0"/>
                                    <a:cs typeface="Verdana" charset="0"/>
                                  </a:rPr>
                                  <m:t>∠</m:t>
                                </m:r>
                                <m:r>
                                  <a:rPr lang="en-US" sz="2400" b="1" i="1">
                                    <a:effectLst/>
                                    <a:latin typeface="Cambria Math" charset="0"/>
                                    <a:ea typeface="Verdana" charset="0"/>
                                    <a:cs typeface="Verdana" charset="0"/>
                                  </a:rPr>
                                  <m:t>𝑮𝑴𝑻</m:t>
                                </m:r>
                              </m:oMath>
                            </m:oMathPara>
                          </a14:m>
                          <a:endParaRPr lang="en-US" sz="2400">
                            <a:effectLst/>
                            <a:latin typeface="Verdana" charset="0"/>
                            <a:ea typeface="Verdana" charset="0"/>
                            <a:cs typeface="Verdana" charset="0"/>
                          </a:endParaRPr>
                        </a:p>
                      </a:txBody>
                      <a:tcPr marL="81114" marR="81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b="1" i="1">
                                    <a:effectLst/>
                                    <a:latin typeface="Cambria Math" charset="0"/>
                                    <a:ea typeface="Verdana" charset="0"/>
                                    <a:cs typeface="Verdana" charset="0"/>
                                  </a:rPr>
                                  <m:t>𝒎</m:t>
                                </m:r>
                                <m:r>
                                  <a:rPr lang="en-US" sz="2400" b="1" i="1">
                                    <a:effectLst/>
                                    <a:latin typeface="Cambria Math" charset="0"/>
                                    <a:ea typeface="Verdana" charset="0"/>
                                    <a:cs typeface="Verdana" charset="0"/>
                                  </a:rPr>
                                  <m:t>∠</m:t>
                                </m:r>
                                <m:r>
                                  <a:rPr lang="en-US" sz="2400" b="1" i="1">
                                    <a:effectLst/>
                                    <a:latin typeface="Cambria Math" charset="0"/>
                                    <a:ea typeface="Verdana" charset="0"/>
                                    <a:cs typeface="Verdana" charset="0"/>
                                  </a:rPr>
                                  <m:t>𝑮𝑻𝑴</m:t>
                                </m:r>
                              </m:oMath>
                            </m:oMathPara>
                          </a14:m>
                          <a:endParaRPr lang="en-US" sz="2400">
                            <a:effectLst/>
                            <a:latin typeface="Verdana" charset="0"/>
                            <a:ea typeface="Verdana" charset="0"/>
                            <a:cs typeface="Verdana" charset="0"/>
                          </a:endParaRPr>
                        </a:p>
                      </a:txBody>
                      <a:tcPr marL="81114" marR="81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025854">
                    <a:tc>
                      <a:txBody>
                        <a:bodyPr/>
                        <a:lstStyle/>
                        <a:p>
                          <a:pPr marL="0" marR="0" algn="ctr">
                            <a:spcBef>
                              <a:spcPts val="0"/>
                            </a:spcBef>
                            <a:spcAft>
                              <a:spcPts val="0"/>
                            </a:spcAft>
                          </a:pPr>
                          <a:r>
                            <a:rPr lang="en-US" sz="2400" b="1">
                              <a:effectLst/>
                              <a:latin typeface="Verdana" charset="0"/>
                              <a:ea typeface="Verdana" charset="0"/>
                              <a:cs typeface="Verdana" charset="0"/>
                            </a:rPr>
                            <a:t> </a:t>
                          </a:r>
                          <a:endParaRPr lang="en-US" sz="2400">
                            <a:effectLst/>
                            <a:latin typeface="Verdana" charset="0"/>
                            <a:ea typeface="Verdana" charset="0"/>
                            <a:cs typeface="Verdana" charset="0"/>
                          </a:endParaRPr>
                        </a:p>
                        <a:p>
                          <a:pPr marL="0" marR="0" algn="ctr">
                            <a:spcBef>
                              <a:spcPts val="0"/>
                            </a:spcBef>
                            <a:spcAft>
                              <a:spcPts val="0"/>
                            </a:spcAft>
                          </a:pPr>
                          <a:r>
                            <a:rPr lang="en-US" sz="2400" b="1">
                              <a:effectLst/>
                              <a:latin typeface="Verdana" charset="0"/>
                              <a:ea typeface="Verdana" charset="0"/>
                              <a:cs typeface="Verdana" charset="0"/>
                            </a:rPr>
                            <a:t> </a:t>
                          </a:r>
                          <a:endParaRPr lang="en-US" sz="2400">
                            <a:effectLst/>
                            <a:latin typeface="Verdana" charset="0"/>
                            <a:ea typeface="Verdana" charset="0"/>
                            <a:cs typeface="Verdana" charset="0"/>
                          </a:endParaRPr>
                        </a:p>
                        <a:p>
                          <a:pPr marL="0" marR="0" algn="ctr">
                            <a:spcBef>
                              <a:spcPts val="0"/>
                            </a:spcBef>
                            <a:spcAft>
                              <a:spcPts val="0"/>
                            </a:spcAft>
                          </a:pPr>
                          <a:r>
                            <a:rPr lang="en-US" sz="2400" b="1">
                              <a:effectLst/>
                              <a:latin typeface="Verdana" charset="0"/>
                              <a:ea typeface="Verdana" charset="0"/>
                              <a:cs typeface="Verdana" charset="0"/>
                            </a:rPr>
                            <a:t> </a:t>
                          </a:r>
                          <a:endParaRPr lang="en-US" sz="2400">
                            <a:effectLst/>
                            <a:latin typeface="Verdana" charset="0"/>
                            <a:ea typeface="Verdana" charset="0"/>
                            <a:cs typeface="Verdana" charset="0"/>
                          </a:endParaRPr>
                        </a:p>
                      </a:txBody>
                      <a:tcPr marL="81114" marR="81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b="1" dirty="0">
                              <a:effectLst/>
                              <a:latin typeface="Verdana" charset="0"/>
                              <a:ea typeface="Verdana" charset="0"/>
                              <a:cs typeface="Verdana" charset="0"/>
                            </a:rPr>
                            <a:t> </a:t>
                          </a:r>
                          <a:endParaRPr lang="en-US" sz="2400" dirty="0">
                            <a:effectLst/>
                            <a:latin typeface="Verdana" charset="0"/>
                            <a:ea typeface="Verdana" charset="0"/>
                            <a:cs typeface="Verdana" charset="0"/>
                          </a:endParaRPr>
                        </a:p>
                      </a:txBody>
                      <a:tcPr marL="81114" marR="81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b="1" dirty="0">
                              <a:effectLst/>
                              <a:latin typeface="Verdana" charset="0"/>
                              <a:ea typeface="Verdana" charset="0"/>
                              <a:cs typeface="Verdana" charset="0"/>
                            </a:rPr>
                            <a:t> </a:t>
                          </a:r>
                          <a:endParaRPr lang="en-US" sz="2400" dirty="0">
                            <a:effectLst/>
                            <a:latin typeface="Verdana" charset="0"/>
                            <a:ea typeface="Verdana" charset="0"/>
                            <a:cs typeface="Verdana" charset="0"/>
                          </a:endParaRPr>
                        </a:p>
                      </a:txBody>
                      <a:tcPr marL="81114" marR="81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968629770"/>
                  </p:ext>
                </p:extLst>
              </p:nvPr>
            </p:nvGraphicFramePr>
            <p:xfrm>
              <a:off x="1376160" y="3940694"/>
              <a:ext cx="7747929" cy="2391614"/>
            </p:xfrm>
            <a:graphic>
              <a:graphicData uri="http://schemas.openxmlformats.org/drawingml/2006/table">
                <a:tbl>
                  <a:tblPr firstRow="1" firstCol="1" bandRow="1"/>
                  <a:tblGrid>
                    <a:gridCol w="2541585">
                      <a:extLst>
                        <a:ext uri="{9D8B030D-6E8A-4147-A177-3AD203B41FA5}">
                          <a16:colId xmlns:a16="http://schemas.microsoft.com/office/drawing/2014/main" val="20000"/>
                        </a:ext>
                      </a:extLst>
                    </a:gridCol>
                    <a:gridCol w="2603172">
                      <a:extLst>
                        <a:ext uri="{9D8B030D-6E8A-4147-A177-3AD203B41FA5}">
                          <a16:colId xmlns:a16="http://schemas.microsoft.com/office/drawing/2014/main" val="20001"/>
                        </a:ext>
                      </a:extLst>
                    </a:gridCol>
                    <a:gridCol w="2603172">
                      <a:extLst>
                        <a:ext uri="{9D8B030D-6E8A-4147-A177-3AD203B41FA5}">
                          <a16:colId xmlns:a16="http://schemas.microsoft.com/office/drawing/2014/main" val="20002"/>
                        </a:ext>
                      </a:extLst>
                    </a:gridCol>
                  </a:tblGrid>
                  <a:tr h="365760">
                    <a:tc>
                      <a:txBody>
                        <a:bodyPr/>
                        <a:lstStyle/>
                        <a:p>
                          <a:endParaRPr lang="en-US"/>
                        </a:p>
                      </a:txBody>
                      <a:tcPr marL="81114" marR="81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240" t="-1667" r="-205516" b="-558333"/>
                          </a:stretch>
                        </a:blipFill>
                      </a:tcPr>
                    </a:tc>
                    <a:tc>
                      <a:txBody>
                        <a:bodyPr/>
                        <a:lstStyle/>
                        <a:p>
                          <a:endParaRPr lang="en-US"/>
                        </a:p>
                      </a:txBody>
                      <a:tcPr marL="81114" marR="81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97664" t="-1667" r="-100234" b="-558333"/>
                          </a:stretch>
                        </a:blipFill>
                      </a:tcPr>
                    </a:tc>
                    <a:tc>
                      <a:txBody>
                        <a:bodyPr/>
                        <a:lstStyle/>
                        <a:p>
                          <a:endParaRPr lang="en-US"/>
                        </a:p>
                      </a:txBody>
                      <a:tcPr marL="81114" marR="81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98126" t="-1667" r="-468" b="-558333"/>
                          </a:stretch>
                        </a:blipFill>
                      </a:tcPr>
                    </a:tc>
                    <a:extLst>
                      <a:ext uri="{0D108BD9-81ED-4DB2-BD59-A6C34878D82A}">
                        <a16:rowId xmlns:a16="http://schemas.microsoft.com/office/drawing/2014/main" val="10000"/>
                      </a:ext>
                    </a:extLst>
                  </a:tr>
                  <a:tr h="2025854">
                    <a:tc>
                      <a:txBody>
                        <a:bodyPr/>
                        <a:lstStyle/>
                        <a:p>
                          <a:pPr marL="0" marR="0" algn="ctr">
                            <a:spcBef>
                              <a:spcPts val="0"/>
                            </a:spcBef>
                            <a:spcAft>
                              <a:spcPts val="0"/>
                            </a:spcAft>
                          </a:pPr>
                          <a:r>
                            <a:rPr lang="en-US" sz="2400" b="1">
                              <a:effectLst/>
                              <a:latin typeface="Verdana" charset="0"/>
                              <a:ea typeface="Verdana" charset="0"/>
                              <a:cs typeface="Verdana" charset="0"/>
                            </a:rPr>
                            <a:t> </a:t>
                          </a:r>
                          <a:endParaRPr lang="en-US" sz="2400">
                            <a:effectLst/>
                            <a:latin typeface="Verdana" charset="0"/>
                            <a:ea typeface="Verdana" charset="0"/>
                            <a:cs typeface="Verdana" charset="0"/>
                          </a:endParaRPr>
                        </a:p>
                        <a:p>
                          <a:pPr marL="0" marR="0" algn="ctr">
                            <a:spcBef>
                              <a:spcPts val="0"/>
                            </a:spcBef>
                            <a:spcAft>
                              <a:spcPts val="0"/>
                            </a:spcAft>
                          </a:pPr>
                          <a:r>
                            <a:rPr lang="en-US" sz="2400" b="1">
                              <a:effectLst/>
                              <a:latin typeface="Verdana" charset="0"/>
                              <a:ea typeface="Verdana" charset="0"/>
                              <a:cs typeface="Verdana" charset="0"/>
                            </a:rPr>
                            <a:t> </a:t>
                          </a:r>
                          <a:endParaRPr lang="en-US" sz="2400">
                            <a:effectLst/>
                            <a:latin typeface="Verdana" charset="0"/>
                            <a:ea typeface="Verdana" charset="0"/>
                            <a:cs typeface="Verdana" charset="0"/>
                          </a:endParaRPr>
                        </a:p>
                        <a:p>
                          <a:pPr marL="0" marR="0" algn="ctr">
                            <a:spcBef>
                              <a:spcPts val="0"/>
                            </a:spcBef>
                            <a:spcAft>
                              <a:spcPts val="0"/>
                            </a:spcAft>
                          </a:pPr>
                          <a:r>
                            <a:rPr lang="en-US" sz="2400" b="1">
                              <a:effectLst/>
                              <a:latin typeface="Verdana" charset="0"/>
                              <a:ea typeface="Verdana" charset="0"/>
                              <a:cs typeface="Verdana" charset="0"/>
                            </a:rPr>
                            <a:t> </a:t>
                          </a:r>
                          <a:endParaRPr lang="en-US" sz="2400">
                            <a:effectLst/>
                            <a:latin typeface="Verdana" charset="0"/>
                            <a:ea typeface="Verdana" charset="0"/>
                            <a:cs typeface="Verdana" charset="0"/>
                          </a:endParaRPr>
                        </a:p>
                      </a:txBody>
                      <a:tcPr marL="81114" marR="81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b="1" dirty="0">
                              <a:effectLst/>
                              <a:latin typeface="Verdana" charset="0"/>
                              <a:ea typeface="Verdana" charset="0"/>
                              <a:cs typeface="Verdana" charset="0"/>
                            </a:rPr>
                            <a:t> </a:t>
                          </a:r>
                          <a:endParaRPr lang="en-US" sz="2400" dirty="0">
                            <a:effectLst/>
                            <a:latin typeface="Verdana" charset="0"/>
                            <a:ea typeface="Verdana" charset="0"/>
                            <a:cs typeface="Verdana" charset="0"/>
                          </a:endParaRPr>
                        </a:p>
                      </a:txBody>
                      <a:tcPr marL="81114" marR="81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b="1" dirty="0">
                              <a:effectLst/>
                              <a:latin typeface="Verdana" charset="0"/>
                              <a:ea typeface="Verdana" charset="0"/>
                              <a:cs typeface="Verdana" charset="0"/>
                            </a:rPr>
                            <a:t> </a:t>
                          </a:r>
                          <a:endParaRPr lang="en-US" sz="2400" dirty="0">
                            <a:effectLst/>
                            <a:latin typeface="Verdana" charset="0"/>
                            <a:ea typeface="Verdana" charset="0"/>
                            <a:cs typeface="Verdana" charset="0"/>
                          </a:endParaRPr>
                        </a:p>
                      </a:txBody>
                      <a:tcPr marL="81114" marR="81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314160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3" y="528619"/>
                <a:ext cx="7392553" cy="2276777"/>
              </a:xfrm>
              <a:prstGeom prst="rect">
                <a:avLst/>
              </a:prstGeom>
              <a:noFill/>
            </p:spPr>
            <p:txBody>
              <a:bodyPr wrap="square" rtlCol="0">
                <a:spAutoFit/>
              </a:bodyPr>
              <a:lstStyle/>
              <a:p>
                <a:pPr marL="457200" indent="-457200">
                  <a:buFont typeface="+mj-lt"/>
                  <a:buAutoNum type="arabicPeriod" startAt="2"/>
                </a:pPr>
                <a14:m>
                  <m:oMath xmlns:m="http://schemas.openxmlformats.org/officeDocument/2006/math">
                    <m:r>
                      <a:rPr lang="en-US" sz="2000" i="1" smtClean="0">
                        <a:latin typeface="Cambria Math" panose="02040503050406030204" pitchFamily="18" charset="0"/>
                        <a:ea typeface="Verdana" charset="0"/>
                        <a:cs typeface="Verdana" charset="0"/>
                      </a:rPr>
                      <m:t>∆</m:t>
                    </m:r>
                    <m:r>
                      <a:rPr lang="en-US" sz="2000" i="1" smtClean="0">
                        <a:latin typeface="Cambria Math" panose="02040503050406030204" pitchFamily="18" charset="0"/>
                        <a:ea typeface="Verdana" charset="0"/>
                        <a:cs typeface="Verdana" charset="0"/>
                      </a:rPr>
                      <m:t>𝑊𝐶𝐻</m:t>
                    </m:r>
                  </m:oMath>
                </a14:m>
                <a:r>
                  <a:rPr lang="en-US" sz="2000" dirty="0">
                    <a:latin typeface="Verdana" charset="0"/>
                    <a:ea typeface="Verdana" charset="0"/>
                    <a:cs typeface="Verdana" charset="0"/>
                  </a:rPr>
                  <a:t> is a right triangle, where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𝑊𝐻𝐶</m:t>
                    </m:r>
                    <m:r>
                      <a:rPr lang="en-US" sz="2000" b="0" i="1" smtClean="0">
                        <a:latin typeface="Cambria Math" panose="02040503050406030204" pitchFamily="18" charset="0"/>
                        <a:ea typeface="Verdana" charset="0"/>
                        <a:cs typeface="Verdana" charset="0"/>
                      </a:rPr>
                      <m:t> </m:t>
                    </m:r>
                    <m:r>
                      <a:rPr lang="en-US" sz="2000" i="1">
                        <a:latin typeface="Cambria Math" panose="02040503050406030204" pitchFamily="18" charset="0"/>
                        <a:ea typeface="Verdana" charset="0"/>
                        <a:cs typeface="Verdana" charset="0"/>
                      </a:rPr>
                      <m:t>90°</m:t>
                    </m:r>
                  </m:oMath>
                </a14:m>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 </m:t>
                    </m:r>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𝑊𝐶𝐻</m:t>
                    </m:r>
                    <m:r>
                      <a:rPr lang="en-US" sz="2000" i="1">
                        <a:latin typeface="Cambria Math" panose="02040503050406030204" pitchFamily="18" charset="0"/>
                        <a:ea typeface="Verdana" charset="0"/>
                        <a:cs typeface="Verdana" charset="0"/>
                      </a:rPr>
                      <m:t>=45°</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𝑊𝐶</m:t>
                    </m:r>
                    <m:r>
                      <a:rPr lang="en-US" sz="2000" i="1">
                        <a:latin typeface="Cambria Math" panose="02040503050406030204" pitchFamily="18" charset="0"/>
                        <a:ea typeface="Verdana" charset="0"/>
                        <a:cs typeface="Verdana" charset="0"/>
                      </a:rPr>
                      <m:t>=4</m:t>
                    </m:r>
                    <m:rad>
                      <m:radPr>
                        <m:degHide m:val="on"/>
                        <m:ctrlPr>
                          <a:rPr lang="en-US" sz="2000" i="1">
                            <a:latin typeface="Cambria Math" panose="02040503050406030204" pitchFamily="18" charset="0"/>
                            <a:ea typeface="Verdana" charset="0"/>
                            <a:cs typeface="Verdana" charset="0"/>
                          </a:rPr>
                        </m:ctrlPr>
                      </m:radPr>
                      <m:deg/>
                      <m:e>
                        <m:r>
                          <a:rPr lang="en-US" sz="2000" i="1">
                            <a:latin typeface="Cambria Math" panose="02040503050406030204" pitchFamily="18" charset="0"/>
                            <a:ea typeface="Verdana" charset="0"/>
                            <a:cs typeface="Verdana" charset="0"/>
                          </a:rPr>
                          <m:t>2</m:t>
                        </m:r>
                      </m:e>
                    </m:rad>
                  </m:oMath>
                </a14:m>
                <a:r>
                  <a:rPr lang="en-US" sz="2000" dirty="0">
                    <a:latin typeface="Verdana" charset="0"/>
                    <a:ea typeface="Verdana" charset="0"/>
                    <a:cs typeface="Verdana" charset="0"/>
                  </a:rPr>
                  <a:t>. </a:t>
                </a:r>
              </a:p>
              <a:p>
                <a:pPr marL="457200" indent="-457200">
                  <a:buFont typeface="+mj-lt"/>
                  <a:buAutoNum type="arabicPeriod" startAt="2"/>
                </a:pPr>
                <a:endParaRPr lang="en-US" sz="2000" dirty="0">
                  <a:latin typeface="Verdana" charset="0"/>
                  <a:ea typeface="Verdana" charset="0"/>
                  <a:cs typeface="Verdana" charset="0"/>
                </a:endParaRPr>
              </a:p>
              <a:p>
                <a:pPr marL="928688" indent="-495300">
                  <a:buFont typeface="+mj-lt"/>
                  <a:buAutoNum type="alphaLcPeriod"/>
                </a:pPr>
                <a:r>
                  <a:rPr lang="en-US" sz="2000" dirty="0">
                    <a:latin typeface="Verdana" charset="0"/>
                    <a:ea typeface="Verdana" charset="0"/>
                    <a:cs typeface="Verdana" charset="0"/>
                  </a:rPr>
                  <a:t>What type of right triangle is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𝑊𝐶𝐻</m:t>
                    </m:r>
                  </m:oMath>
                </a14:m>
                <a:r>
                  <a:rPr lang="en-US" sz="2000" dirty="0">
                    <a:latin typeface="Verdana" charset="0"/>
                    <a:ea typeface="Verdana" charset="0"/>
                    <a:cs typeface="Verdana" charset="0"/>
                  </a:rPr>
                  <a:t>?</a:t>
                </a:r>
              </a:p>
              <a:p>
                <a:pPr marL="928688" indent="-495300">
                  <a:buFont typeface="+mj-lt"/>
                  <a:buAutoNum type="alphaLcPeriod"/>
                </a:pPr>
                <a:endParaRPr lang="en-US" sz="2000" dirty="0">
                  <a:latin typeface="Verdana" charset="0"/>
                  <a:ea typeface="Verdana" charset="0"/>
                  <a:cs typeface="Verdana" charset="0"/>
                </a:endParaRPr>
              </a:p>
              <a:p>
                <a:pPr marL="928688" indent="-495300">
                  <a:buFont typeface="+mj-lt"/>
                  <a:buAutoNum type="alphaLcPeriod"/>
                </a:pPr>
                <a:r>
                  <a:rPr lang="en-US" sz="2000" dirty="0">
                    <a:latin typeface="Verdana" charset="0"/>
                    <a:ea typeface="Verdana" charset="0"/>
                    <a:cs typeface="Verdana" charset="0"/>
                  </a:rPr>
                  <a:t>Determine the measurements. </a:t>
                </a:r>
              </a:p>
              <a:p>
                <a:pPr marL="928688" indent="-495300">
                  <a:buFont typeface="+mj-lt"/>
                  <a:buAutoNum type="alphaLcPeriod"/>
                </a:pPr>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3" y="528619"/>
                <a:ext cx="7392553" cy="2276777"/>
              </a:xfrm>
              <a:prstGeom prst="rect">
                <a:avLst/>
              </a:prstGeom>
              <a:blipFill>
                <a:blip r:embed="rId4"/>
                <a:stretch>
                  <a:fillRect l="-825" t="-1609"/>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760BDC3-AF44-C94E-BD05-E61FF805DD32}"/>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4" name="Picture 3"/>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8491250" y="528619"/>
            <a:ext cx="3136900" cy="2806700"/>
          </a:xfrm>
          <a:prstGeom prst="rect">
            <a:avLst/>
          </a:prstGeom>
        </p:spPr>
      </p:pic>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104488956"/>
                  </p:ext>
                </p:extLst>
              </p:nvPr>
            </p:nvGraphicFramePr>
            <p:xfrm>
              <a:off x="1558841" y="3728724"/>
              <a:ext cx="6054454" cy="2556104"/>
            </p:xfrm>
            <a:graphic>
              <a:graphicData uri="http://schemas.openxmlformats.org/drawingml/2006/table">
                <a:tbl>
                  <a:tblPr firstRow="1" firstCol="1" bandRow="1"/>
                  <a:tblGrid>
                    <a:gridCol w="1986024">
                      <a:extLst>
                        <a:ext uri="{9D8B030D-6E8A-4147-A177-3AD203B41FA5}">
                          <a16:colId xmlns:a16="http://schemas.microsoft.com/office/drawing/2014/main" val="20000"/>
                        </a:ext>
                      </a:extLst>
                    </a:gridCol>
                    <a:gridCol w="2034215">
                      <a:extLst>
                        <a:ext uri="{9D8B030D-6E8A-4147-A177-3AD203B41FA5}">
                          <a16:colId xmlns:a16="http://schemas.microsoft.com/office/drawing/2014/main" val="20001"/>
                        </a:ext>
                      </a:extLst>
                    </a:gridCol>
                    <a:gridCol w="2034215">
                      <a:extLst>
                        <a:ext uri="{9D8B030D-6E8A-4147-A177-3AD203B41FA5}">
                          <a16:colId xmlns:a16="http://schemas.microsoft.com/office/drawing/2014/main" val="20002"/>
                        </a:ext>
                      </a:extLst>
                    </a:gridCol>
                  </a:tblGrid>
                  <a:tr h="20515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charset="0"/>
                                    <a:ea typeface="Verdana" charset="0"/>
                                    <a:cs typeface="Verdana" charset="0"/>
                                  </a:rPr>
                                  <m:t>𝑯𝑪</m:t>
                                </m:r>
                              </m:oMath>
                            </m:oMathPara>
                          </a14:m>
                          <a:endParaRPr lang="en-US" sz="2000">
                            <a:effectLst/>
                            <a:latin typeface="Verdana" charset="0"/>
                            <a:ea typeface="Verdana" charset="0"/>
                            <a:cs typeface="Verdana" charset="0"/>
                          </a:endParaRPr>
                        </a:p>
                      </a:txBody>
                      <a:tcPr marL="61231" marR="61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charset="0"/>
                                    <a:ea typeface="Verdana" charset="0"/>
                                    <a:cs typeface="Verdana" charset="0"/>
                                  </a:rPr>
                                  <m:t>𝑾𝑯</m:t>
                                </m:r>
                              </m:oMath>
                            </m:oMathPara>
                          </a14:m>
                          <a:endParaRPr lang="en-US" sz="2000">
                            <a:effectLst/>
                            <a:latin typeface="Verdana" charset="0"/>
                            <a:ea typeface="Verdana" charset="0"/>
                            <a:cs typeface="Verdana" charset="0"/>
                          </a:endParaRPr>
                        </a:p>
                      </a:txBody>
                      <a:tcPr marL="61231" marR="61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charset="0"/>
                                    <a:ea typeface="Verdana" charset="0"/>
                                    <a:cs typeface="Verdana" charset="0"/>
                                  </a:rPr>
                                  <m:t>𝒎</m:t>
                                </m:r>
                                <m:r>
                                  <a:rPr lang="en-US" sz="2000" b="1" i="1">
                                    <a:effectLst/>
                                    <a:latin typeface="Cambria Math" charset="0"/>
                                    <a:ea typeface="Verdana" charset="0"/>
                                    <a:cs typeface="Verdana" charset="0"/>
                                  </a:rPr>
                                  <m:t>∠</m:t>
                                </m:r>
                                <m:r>
                                  <a:rPr lang="en-US" sz="2000" b="1" i="1">
                                    <a:effectLst/>
                                    <a:latin typeface="Cambria Math" charset="0"/>
                                    <a:ea typeface="Verdana" charset="0"/>
                                    <a:cs typeface="Verdana" charset="0"/>
                                  </a:rPr>
                                  <m:t>𝑪𝑾𝑯</m:t>
                                </m:r>
                              </m:oMath>
                            </m:oMathPara>
                          </a14:m>
                          <a:endParaRPr lang="en-US" sz="2000">
                            <a:effectLst/>
                            <a:latin typeface="Verdana" charset="0"/>
                            <a:ea typeface="Verdana" charset="0"/>
                            <a:cs typeface="Verdana" charset="0"/>
                          </a:endParaRPr>
                        </a:p>
                      </a:txBody>
                      <a:tcPr marL="61231" marR="61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251304">
                    <a:tc>
                      <a:txBody>
                        <a:bodyPr/>
                        <a:lstStyle/>
                        <a:p>
                          <a:pPr marL="0" marR="0" algn="ctr">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p>
                          <a:pPr marL="0" marR="0" algn="ctr">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p>
                          <a:pPr marL="0" marR="0" algn="ctr">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1231" marR="612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1231" marR="612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1231" marR="612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104488956"/>
                  </p:ext>
                </p:extLst>
              </p:nvPr>
            </p:nvGraphicFramePr>
            <p:xfrm>
              <a:off x="1558841" y="3728724"/>
              <a:ext cx="6054454" cy="2556104"/>
            </p:xfrm>
            <a:graphic>
              <a:graphicData uri="http://schemas.openxmlformats.org/drawingml/2006/table">
                <a:tbl>
                  <a:tblPr firstRow="1" firstCol="1" bandRow="1"/>
                  <a:tblGrid>
                    <a:gridCol w="1986024">
                      <a:extLst>
                        <a:ext uri="{9D8B030D-6E8A-4147-A177-3AD203B41FA5}">
                          <a16:colId xmlns:a16="http://schemas.microsoft.com/office/drawing/2014/main" val="20000"/>
                        </a:ext>
                      </a:extLst>
                    </a:gridCol>
                    <a:gridCol w="2034215">
                      <a:extLst>
                        <a:ext uri="{9D8B030D-6E8A-4147-A177-3AD203B41FA5}">
                          <a16:colId xmlns:a16="http://schemas.microsoft.com/office/drawing/2014/main" val="20001"/>
                        </a:ext>
                      </a:extLst>
                    </a:gridCol>
                    <a:gridCol w="2034215">
                      <a:extLst>
                        <a:ext uri="{9D8B030D-6E8A-4147-A177-3AD203B41FA5}">
                          <a16:colId xmlns:a16="http://schemas.microsoft.com/office/drawing/2014/main" val="20002"/>
                        </a:ext>
                      </a:extLst>
                    </a:gridCol>
                  </a:tblGrid>
                  <a:tr h="304800">
                    <a:tc>
                      <a:txBody>
                        <a:bodyPr/>
                        <a:lstStyle/>
                        <a:p>
                          <a:endParaRPr lang="en-US"/>
                        </a:p>
                      </a:txBody>
                      <a:tcPr marL="61231" marR="61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07" t="-2000" r="-205521" b="-746000"/>
                          </a:stretch>
                        </a:blipFill>
                      </a:tcPr>
                    </a:tc>
                    <a:tc>
                      <a:txBody>
                        <a:bodyPr/>
                        <a:lstStyle/>
                        <a:p>
                          <a:endParaRPr lang="en-US"/>
                        </a:p>
                      </a:txBody>
                      <a:tcPr marL="61231" marR="61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97904" t="-2000" r="-100599" b="-746000"/>
                          </a:stretch>
                        </a:blipFill>
                      </a:tcPr>
                    </a:tc>
                    <a:tc>
                      <a:txBody>
                        <a:bodyPr/>
                        <a:lstStyle/>
                        <a:p>
                          <a:endParaRPr lang="en-US"/>
                        </a:p>
                      </a:txBody>
                      <a:tcPr marL="61231" marR="61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97904" t="-2000" r="-599" b="-746000"/>
                          </a:stretch>
                        </a:blipFill>
                      </a:tcPr>
                    </a:tc>
                    <a:extLst>
                      <a:ext uri="{0D108BD9-81ED-4DB2-BD59-A6C34878D82A}">
                        <a16:rowId xmlns:a16="http://schemas.microsoft.com/office/drawing/2014/main" val="10000"/>
                      </a:ext>
                    </a:extLst>
                  </a:tr>
                  <a:tr h="2251304">
                    <a:tc>
                      <a:txBody>
                        <a:bodyPr/>
                        <a:lstStyle/>
                        <a:p>
                          <a:pPr marL="0" marR="0" algn="ctr">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p>
                          <a:pPr marL="0" marR="0" algn="ctr">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p>
                          <a:pPr marL="0" marR="0" algn="ctr">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1231" marR="612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1231" marR="612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1231" marR="612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987484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3" y="520518"/>
                <a:ext cx="8327136" cy="3170099"/>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What do you notice about the angles of </a:t>
                </a:r>
                <a14:m>
                  <m:oMath xmlns:m="http://schemas.openxmlformats.org/officeDocument/2006/math">
                    <m:r>
                      <m:rPr>
                        <m:sty m:val="p"/>
                      </m:rPr>
                      <a:rPr lang="en-US" sz="2000">
                        <a:latin typeface="Cambria Math" charset="0"/>
                        <a:ea typeface="Verdana" charset="0"/>
                        <a:cs typeface="Verdana" charset="0"/>
                      </a:rPr>
                      <m:t>Δ</m:t>
                    </m:r>
                    <m:r>
                      <a:rPr lang="en-US" sz="2000" i="1">
                        <a:latin typeface="Cambria Math" charset="0"/>
                        <a:ea typeface="Verdana" charset="0"/>
                        <a:cs typeface="Verdana" charset="0"/>
                      </a:rPr>
                      <m:t>𝑊𝐶𝐻</m:t>
                    </m:r>
                  </m:oMath>
                </a14:m>
                <a:r>
                  <a:rPr lang="en-US" sz="2000" dirty="0">
                    <a:latin typeface="Verdana" charset="0"/>
                    <a:ea typeface="Verdana" charset="0"/>
                    <a:cs typeface="Verdana" charset="0"/>
                  </a:rPr>
                  <a:t> and </a:t>
                </a:r>
                <a14:m>
                  <m:oMath xmlns:m="http://schemas.openxmlformats.org/officeDocument/2006/math">
                    <m:r>
                      <m:rPr>
                        <m:sty m:val="p"/>
                      </m:rPr>
                      <a:rPr lang="en-US" sz="2000">
                        <a:latin typeface="Cambria Math" charset="0"/>
                        <a:ea typeface="Verdana" charset="0"/>
                        <a:cs typeface="Verdana" charset="0"/>
                      </a:rPr>
                      <m:t>Δ</m:t>
                    </m:r>
                    <m:r>
                      <a:rPr lang="en-US" sz="2000" i="1">
                        <a:latin typeface="Cambria Math" charset="0"/>
                        <a:ea typeface="Verdana" charset="0"/>
                        <a:cs typeface="Verdana" charset="0"/>
                      </a:rPr>
                      <m:t>𝑀𝐺𝑇</m:t>
                    </m:r>
                  </m:oMath>
                </a14:m>
                <a:r>
                  <a:rPr lang="en-US" sz="2000" dirty="0">
                    <a:latin typeface="Verdana" charset="0"/>
                    <a:ea typeface="Verdana" charset="0"/>
                    <a:cs typeface="Verdana" charset="0"/>
                  </a:rPr>
                  <a:t>?</a:t>
                </a: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endParaRPr lang="en-US" sz="2000" dirty="0">
                  <a:latin typeface="Verdana" charset="0"/>
                  <a:ea typeface="Verdana" charset="0"/>
                  <a:cs typeface="Verdana" charset="0"/>
                </a:endParaRPr>
              </a:p>
              <a:p>
                <a:pPr marL="457200" indent="-457200">
                  <a:buFont typeface="+mj-lt"/>
                  <a:buAutoNum type="arabicPeriod" startAt="3"/>
                </a:pPr>
                <a:r>
                  <a:rPr lang="en-US" sz="2000" dirty="0">
                    <a:latin typeface="Verdana" charset="0"/>
                    <a:ea typeface="Verdana" charset="0"/>
                    <a:cs typeface="Verdana" charset="0"/>
                  </a:rPr>
                  <a:t>What do you notice about the legs of </a:t>
                </a:r>
                <a14:m>
                  <m:oMath xmlns:m="http://schemas.openxmlformats.org/officeDocument/2006/math">
                    <m:r>
                      <m:rPr>
                        <m:sty m:val="p"/>
                      </m:rPr>
                      <a:rPr lang="en-US" sz="2000">
                        <a:latin typeface="Cambria Math" charset="0"/>
                        <a:ea typeface="Verdana" charset="0"/>
                        <a:cs typeface="Verdana" charset="0"/>
                      </a:rPr>
                      <m:t>Δ</m:t>
                    </m:r>
                    <m:r>
                      <a:rPr lang="en-US" sz="2000" i="1">
                        <a:latin typeface="Cambria Math" charset="0"/>
                        <a:ea typeface="Verdana" charset="0"/>
                        <a:cs typeface="Verdana" charset="0"/>
                      </a:rPr>
                      <m:t>𝑊𝐶𝐻</m:t>
                    </m:r>
                  </m:oMath>
                </a14:m>
                <a:r>
                  <a:rPr lang="en-US" sz="2000" dirty="0">
                    <a:latin typeface="Verdana" charset="0"/>
                    <a:ea typeface="Verdana" charset="0"/>
                    <a:cs typeface="Verdana" charset="0"/>
                  </a:rPr>
                  <a:t> and </a:t>
                </a:r>
                <a14:m>
                  <m:oMath xmlns:m="http://schemas.openxmlformats.org/officeDocument/2006/math">
                    <m:r>
                      <m:rPr>
                        <m:sty m:val="p"/>
                      </m:rPr>
                      <a:rPr lang="en-US" sz="2000">
                        <a:latin typeface="Cambria Math" charset="0"/>
                        <a:ea typeface="Verdana" charset="0"/>
                        <a:cs typeface="Verdana" charset="0"/>
                      </a:rPr>
                      <m:t>Δ</m:t>
                    </m:r>
                    <m:r>
                      <a:rPr lang="en-US" sz="2000" i="1">
                        <a:latin typeface="Cambria Math" charset="0"/>
                        <a:ea typeface="Verdana" charset="0"/>
                        <a:cs typeface="Verdana" charset="0"/>
                      </a:rPr>
                      <m:t>𝑀𝐺𝑇</m:t>
                    </m:r>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3" y="520518"/>
                <a:ext cx="8327136" cy="3170099"/>
              </a:xfrm>
              <a:prstGeom prst="rect">
                <a:avLst/>
              </a:prstGeom>
              <a:blipFill>
                <a:blip r:embed="rId4"/>
                <a:stretch>
                  <a:fillRect l="-805" t="-1154" b="-269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760BDC3-AF44-C94E-BD05-E61FF805DD32}"/>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1680112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3075" name="Picture 41"/>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719371" y="3307611"/>
            <a:ext cx="19050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1"/>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58557" y="3506832"/>
            <a:ext cx="1879600" cy="1778000"/>
          </a:xfrm>
          <a:prstGeom prst="rect">
            <a:avLst/>
          </a:prstGeom>
          <a:noFill/>
          <a:extLst>
            <a:ext uri="{909E8E84-426E-40DD-AFC4-6F175D3DCCD1}">
              <a14:hiddenFill xmlns:a14="http://schemas.microsoft.com/office/drawing/2010/main">
                <a:solidFill>
                  <a:srgbClr val="FFFFFF"/>
                </a:solidFill>
              </a14:hiddenFill>
            </a:ext>
          </a:extLst>
        </p:spPr>
      </p:pic>
      <p:pic>
        <p:nvPicPr>
          <p:cNvPr id="28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3" y="520518"/>
                <a:ext cx="8327136" cy="1015663"/>
              </a:xfrm>
              <a:prstGeom prst="rect">
                <a:avLst/>
              </a:prstGeom>
              <a:noFill/>
            </p:spPr>
            <p:txBody>
              <a:bodyPr wrap="square" rtlCol="0">
                <a:spAutoFit/>
              </a:bodyPr>
              <a:lstStyle/>
              <a:p>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𝑊𝐻𝐶</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𝑀𝐺𝑇</m:t>
                    </m:r>
                  </m:oMath>
                </a14:m>
                <a:r>
                  <a:rPr lang="en-US" sz="2000" dirty="0">
                    <a:latin typeface="Verdana" charset="0"/>
                    <a:ea typeface="Verdana" charset="0"/>
                    <a:cs typeface="Verdana" charset="0"/>
                  </a:rPr>
                  <a:t> are </a:t>
                </a:r>
                <a14:m>
                  <m:oMath xmlns:m="http://schemas.openxmlformats.org/officeDocument/2006/math">
                    <m:r>
                      <a:rPr lang="en-US" sz="2000" i="1">
                        <a:latin typeface="Cambria Math" charset="0"/>
                        <a:ea typeface="Verdana" charset="0"/>
                        <a:cs typeface="Verdana" charset="0"/>
                      </a:rPr>
                      <m:t>45−45−90</m:t>
                    </m:r>
                  </m:oMath>
                </a14:m>
                <a:r>
                  <a:rPr lang="en-US" sz="2000" dirty="0">
                    <a:latin typeface="Verdana" charset="0"/>
                    <a:ea typeface="Verdana" charset="0"/>
                    <a:cs typeface="Verdana" charset="0"/>
                  </a:rPr>
                  <a:t> triangles. </a:t>
                </a:r>
              </a:p>
              <a:p>
                <a:r>
                  <a:rPr lang="en-US" sz="2000" dirty="0">
                    <a:latin typeface="Verdana" charset="0"/>
                    <a:ea typeface="Verdana" charset="0"/>
                    <a:cs typeface="Verdana" charset="0"/>
                  </a:rPr>
                  <a:t> </a:t>
                </a:r>
              </a:p>
              <a:p>
                <a:pPr marL="457200" indent="-457200">
                  <a:buFont typeface="+mj-lt"/>
                  <a:buAutoNum type="arabicPeriod" startAt="5"/>
                </a:pPr>
                <a:r>
                  <a:rPr lang="en-US" sz="2000" dirty="0">
                    <a:latin typeface="Verdana" charset="0"/>
                    <a:ea typeface="Verdana" charset="0"/>
                    <a:cs typeface="Verdana" charset="0"/>
                  </a:rPr>
                  <a:t>The table shows three </a:t>
                </a:r>
                <a14:m>
                  <m:oMath xmlns:m="http://schemas.openxmlformats.org/officeDocument/2006/math">
                    <m:r>
                      <a:rPr lang="en-US" sz="2000" i="1">
                        <a:latin typeface="Cambria Math" charset="0"/>
                        <a:ea typeface="Verdana" charset="0"/>
                        <a:cs typeface="Verdana" charset="0"/>
                      </a:rPr>
                      <m:t>45−45−90</m:t>
                    </m:r>
                  </m:oMath>
                </a14:m>
                <a:r>
                  <a:rPr lang="en-US" sz="2000" dirty="0">
                    <a:latin typeface="Verdana" charset="0"/>
                    <a:ea typeface="Verdana" charset="0"/>
                    <a:cs typeface="Verdana" charset="0"/>
                  </a:rPr>
                  <a:t> triangles.</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3" y="520518"/>
                <a:ext cx="8327136" cy="1015663"/>
              </a:xfrm>
              <a:prstGeom prst="rect">
                <a:avLst/>
              </a:prstGeom>
              <a:blipFill>
                <a:blip r:embed="rId6"/>
                <a:stretch>
                  <a:fillRect l="-805" t="-2994" b="-10180"/>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760BDC3-AF44-C94E-BD05-E61FF805DD32}"/>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4129210347"/>
                  </p:ext>
                </p:extLst>
              </p:nvPr>
            </p:nvGraphicFramePr>
            <p:xfrm>
              <a:off x="866476" y="2513296"/>
              <a:ext cx="7676568" cy="2976245"/>
            </p:xfrm>
            <a:graphic>
              <a:graphicData uri="http://schemas.openxmlformats.org/drawingml/2006/table">
                <a:tbl>
                  <a:tblPr firstRow="1" firstCol="1" bandRow="1"/>
                  <a:tblGrid>
                    <a:gridCol w="2427632">
                      <a:extLst>
                        <a:ext uri="{9D8B030D-6E8A-4147-A177-3AD203B41FA5}">
                          <a16:colId xmlns:a16="http://schemas.microsoft.com/office/drawing/2014/main" val="20000"/>
                        </a:ext>
                      </a:extLst>
                    </a:gridCol>
                    <a:gridCol w="2690080">
                      <a:extLst>
                        <a:ext uri="{9D8B030D-6E8A-4147-A177-3AD203B41FA5}">
                          <a16:colId xmlns:a16="http://schemas.microsoft.com/office/drawing/2014/main" val="20001"/>
                        </a:ext>
                      </a:extLst>
                    </a:gridCol>
                    <a:gridCol w="2558856">
                      <a:extLst>
                        <a:ext uri="{9D8B030D-6E8A-4147-A177-3AD203B41FA5}">
                          <a16:colId xmlns:a16="http://schemas.microsoft.com/office/drawing/2014/main" val="20002"/>
                        </a:ext>
                      </a:extLst>
                    </a:gridCol>
                  </a:tblGrid>
                  <a:tr h="41592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charset="0"/>
                                    <a:ea typeface="Times New Roman" charset="0"/>
                                    <a:cs typeface="Times New Roman" charset="0"/>
                                  </a:rPr>
                                  <m:t>∆</m:t>
                                </m:r>
                                <m:r>
                                  <a:rPr lang="en-US" sz="2000" b="1" i="1">
                                    <a:effectLst/>
                                    <a:latin typeface="Cambria Math" charset="0"/>
                                    <a:ea typeface="Times New Roman" charset="0"/>
                                    <a:cs typeface="Times New Roman" charset="0"/>
                                  </a:rPr>
                                  <m:t>𝑲𝑩𝑻</m:t>
                                </m:r>
                              </m:oMath>
                            </m:oMathPara>
                          </a14:m>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charset="0"/>
                                    <a:ea typeface="Times New Roman" charset="0"/>
                                    <a:cs typeface="Times New Roman" charset="0"/>
                                  </a:rPr>
                                  <m:t>∆</m:t>
                                </m:r>
                                <m:r>
                                  <a:rPr lang="en-US" sz="2000" b="1" i="1">
                                    <a:effectLst/>
                                    <a:latin typeface="Cambria Math" charset="0"/>
                                    <a:ea typeface="Times New Roman" charset="0"/>
                                    <a:cs typeface="Times New Roman" charset="0"/>
                                  </a:rPr>
                                  <m:t>𝑾𝑩𝑵</m:t>
                                </m:r>
                              </m:oMath>
                            </m:oMathPara>
                          </a14:m>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charset="0"/>
                                    <a:ea typeface="Times New Roman" charset="0"/>
                                    <a:cs typeface="Times New Roman" charset="0"/>
                                  </a:rPr>
                                  <m:t>∆</m:t>
                                </m:r>
                                <m:r>
                                  <a:rPr lang="en-US" sz="2000" b="1" i="1">
                                    <a:effectLst/>
                                    <a:latin typeface="Cambria Math" charset="0"/>
                                    <a:ea typeface="Times New Roman" charset="0"/>
                                    <a:cs typeface="Times New Roman" charset="0"/>
                                  </a:rPr>
                                  <m:t>𝑨𝒁𝑷</m:t>
                                </m:r>
                              </m:oMath>
                            </m:oMathPara>
                          </a14:m>
                          <a:endParaRPr lang="en-US" sz="20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560320">
                    <a:tc>
                      <a:txBody>
                        <a:bodyPr/>
                        <a:lstStyle/>
                        <a:p>
                          <a:pPr marL="0" marR="0" algn="ctr">
                            <a:spcBef>
                              <a:spcPts val="0"/>
                            </a:spcBef>
                            <a:spcAft>
                              <a:spcPts val="0"/>
                            </a:spcAft>
                          </a:pPr>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2000" dirty="0">
                            <a:effectLst/>
                            <a:latin typeface="Cambria" charset="0"/>
                            <a:ea typeface="Times New Roman" charset="0"/>
                            <a:cs typeface="Times New Roman" charset="0"/>
                          </a:endParaRPr>
                        </a:p>
                        <a:p>
                          <a:pPr marL="0" marR="0">
                            <a:spcBef>
                              <a:spcPts val="0"/>
                            </a:spcBef>
                            <a:spcAft>
                              <a:spcPts val="1000"/>
                            </a:spcAft>
                          </a:pPr>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4129210347"/>
                  </p:ext>
                </p:extLst>
              </p:nvPr>
            </p:nvGraphicFramePr>
            <p:xfrm>
              <a:off x="866476" y="2513296"/>
              <a:ext cx="7676568" cy="2976245"/>
            </p:xfrm>
            <a:graphic>
              <a:graphicData uri="http://schemas.openxmlformats.org/drawingml/2006/table">
                <a:tbl>
                  <a:tblPr firstRow="1" firstCol="1" bandRow="1"/>
                  <a:tblGrid>
                    <a:gridCol w="2427632">
                      <a:extLst>
                        <a:ext uri="{9D8B030D-6E8A-4147-A177-3AD203B41FA5}">
                          <a16:colId xmlns:a16="http://schemas.microsoft.com/office/drawing/2014/main" val="20000"/>
                        </a:ext>
                      </a:extLst>
                    </a:gridCol>
                    <a:gridCol w="2690080">
                      <a:extLst>
                        <a:ext uri="{9D8B030D-6E8A-4147-A177-3AD203B41FA5}">
                          <a16:colId xmlns:a16="http://schemas.microsoft.com/office/drawing/2014/main" val="20001"/>
                        </a:ext>
                      </a:extLst>
                    </a:gridCol>
                    <a:gridCol w="2558856">
                      <a:extLst>
                        <a:ext uri="{9D8B030D-6E8A-4147-A177-3AD203B41FA5}">
                          <a16:colId xmlns:a16="http://schemas.microsoft.com/office/drawing/2014/main" val="20002"/>
                        </a:ext>
                      </a:extLst>
                    </a:gridCol>
                  </a:tblGrid>
                  <a:tr h="41592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251" t="-1471" r="-217085" b="-622059"/>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90271" t="-1471" r="-95475" b="-622059"/>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200238" t="-1471" r="-476" b="-622059"/>
                          </a:stretch>
                        </a:blipFill>
                      </a:tcPr>
                    </a:tc>
                    <a:extLst>
                      <a:ext uri="{0D108BD9-81ED-4DB2-BD59-A6C34878D82A}">
                        <a16:rowId xmlns:a16="http://schemas.microsoft.com/office/drawing/2014/main" val="10000"/>
                      </a:ext>
                    </a:extLst>
                  </a:tr>
                  <a:tr h="2560320">
                    <a:tc>
                      <a:txBody>
                        <a:bodyPr/>
                        <a:lstStyle/>
                        <a:p>
                          <a:pPr marL="0" marR="0" algn="ctr">
                            <a:spcBef>
                              <a:spcPts val="0"/>
                            </a:spcBef>
                            <a:spcAft>
                              <a:spcPts val="0"/>
                            </a:spcAft>
                          </a:pPr>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2000" dirty="0">
                            <a:effectLst/>
                            <a:latin typeface="Cambria" charset="0"/>
                            <a:ea typeface="Times New Roman" charset="0"/>
                            <a:cs typeface="Times New Roman" charset="0"/>
                          </a:endParaRPr>
                        </a:p>
                        <a:p>
                          <a:pPr marL="0" marR="0">
                            <a:spcBef>
                              <a:spcPts val="0"/>
                            </a:spcBef>
                            <a:spcAft>
                              <a:spcPts val="1000"/>
                            </a:spcAft>
                          </a:pPr>
                          <a:endParaRPr lang="en-US" sz="20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Fallback>
      </mc:AlternateContent>
      <p:pic>
        <p:nvPicPr>
          <p:cNvPr id="3074" name="Picture 30"/>
          <p:cNvPicPr>
            <a:picLocks noChangeAspect="1" noChangeArrowheads="1"/>
          </p:cNvPicPr>
          <p:nvPr/>
        </p:nvPicPr>
        <p:blipFill>
          <a:blip r:embed="rId8" cstate="screen">
            <a:extLst>
              <a:ext uri="{28A0092B-C50C-407E-A947-70E740481C1C}">
                <a14:useLocalDpi xmlns:a14="http://schemas.microsoft.com/office/drawing/2010/main"/>
              </a:ext>
            </a:extLst>
          </a:blip>
          <a:srcRect l="7587" t="15237" r="9109" b="13683"/>
          <a:stretch>
            <a:fillRect/>
          </a:stretch>
        </p:blipFill>
        <p:spPr bwMode="auto">
          <a:xfrm>
            <a:off x="6279230" y="3808217"/>
            <a:ext cx="1951038" cy="134143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 name="Text Box 2"/>
              <p:cNvSpPr txBox="1">
                <a:spLocks noChangeArrowheads="1"/>
              </p:cNvSpPr>
              <p:nvPr/>
            </p:nvSpPr>
            <p:spPr bwMode="auto">
              <a:xfrm>
                <a:off x="2196428" y="3436775"/>
                <a:ext cx="668337" cy="564642"/>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Times New Roman"/>
                          <a:cs typeface="Times New Roman"/>
                        </a:rPr>
                        <m:t>7</m:t>
                      </m:r>
                      <m:rad>
                        <m:radPr>
                          <m:degHide m:val="on"/>
                          <m:ctrlPr>
                            <a:rPr lang="en-US" sz="2000" i="1">
                              <a:latin typeface="Cambria Math" panose="02040503050406030204" pitchFamily="18" charset="0"/>
                              <a:ea typeface="Times New Roman"/>
                              <a:cs typeface="Times New Roman"/>
                            </a:rPr>
                          </m:ctrlPr>
                        </m:radPr>
                        <m:deg/>
                        <m:e>
                          <m:r>
                            <a:rPr lang="en-US" sz="2000" i="1">
                              <a:latin typeface="Cambria Math" panose="02040503050406030204" pitchFamily="18" charset="0"/>
                              <a:ea typeface="Times New Roman"/>
                              <a:cs typeface="Times New Roman"/>
                            </a:rPr>
                            <m:t>2</m:t>
                          </m:r>
                        </m:e>
                      </m:rad>
                    </m:oMath>
                  </m:oMathPara>
                </a14:m>
                <a:endParaRPr lang="en-US" sz="2000" dirty="0">
                  <a:latin typeface="Cambria" panose="02040503050406030204" pitchFamily="18" charset="0"/>
                  <a:ea typeface="Times New Roman"/>
                  <a:cs typeface="Times New Roman"/>
                </a:endParaRPr>
              </a:p>
            </p:txBody>
          </p:sp>
        </mc:Choice>
        <mc:Fallback xmlns="">
          <p:sp>
            <p:nvSpPr>
              <p:cNvPr id="8" name="Text Box 2"/>
              <p:cNvSpPr txBox="1">
                <a:spLocks noRot="1" noChangeAspect="1" noMove="1" noResize="1" noEditPoints="1" noAdjustHandles="1" noChangeArrowheads="1" noChangeShapeType="1" noTextEdit="1"/>
              </p:cNvSpPr>
              <p:nvPr/>
            </p:nvSpPr>
            <p:spPr bwMode="auto">
              <a:xfrm>
                <a:off x="2196428" y="3436775"/>
                <a:ext cx="668337" cy="564642"/>
              </a:xfrm>
              <a:prstGeom prst="rect">
                <a:avLst/>
              </a:prstGeom>
              <a:blipFill>
                <a:blip r:embed="rId9"/>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2"/>
              <p:cNvSpPr txBox="1">
                <a:spLocks noChangeArrowheads="1"/>
              </p:cNvSpPr>
              <p:nvPr/>
            </p:nvSpPr>
            <p:spPr bwMode="auto">
              <a:xfrm>
                <a:off x="3459708" y="4395833"/>
                <a:ext cx="660400" cy="644525"/>
              </a:xfrm>
              <a:prstGeom prst="rect">
                <a:avLst/>
              </a:prstGeom>
              <a:noFill/>
              <a:ln w="9525">
                <a:noFill/>
                <a:miter lim="800000"/>
                <a:headEnd/>
                <a:tailEnd/>
              </a:ln>
            </p:spPr>
            <p:txBody>
              <a:bodyPr rot="0" vert="horz" wrap="square" lIns="91440" tIns="45720" rIns="91440" bIns="45720" anchor="t" anchorCtr="0">
                <a:noAutofit/>
              </a:bodyPr>
              <a:lstStyle/>
              <a:p>
                <a:pPr>
                  <a:spcAft>
                    <a:spcPts val="1000"/>
                  </a:spcAft>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ea typeface="Times New Roman"/>
                              <a:cs typeface="Times New Roman"/>
                            </a:rPr>
                          </m:ctrlPr>
                        </m:fPr>
                        <m:num>
                          <m:r>
                            <a:rPr lang="en-US" sz="2000" i="1">
                              <a:latin typeface="Cambria Math" panose="02040503050406030204" pitchFamily="18" charset="0"/>
                              <a:ea typeface="Times New Roman"/>
                              <a:cs typeface="Times New Roman"/>
                            </a:rPr>
                            <m:t>11</m:t>
                          </m:r>
                          <m:rad>
                            <m:radPr>
                              <m:degHide m:val="on"/>
                              <m:ctrlPr>
                                <a:rPr lang="en-US" sz="2000" i="1">
                                  <a:latin typeface="Cambria Math" panose="02040503050406030204" pitchFamily="18" charset="0"/>
                                  <a:ea typeface="Times New Roman"/>
                                  <a:cs typeface="Times New Roman"/>
                                </a:rPr>
                              </m:ctrlPr>
                            </m:radPr>
                            <m:deg/>
                            <m:e>
                              <m:r>
                                <a:rPr lang="en-US" sz="2000" i="1">
                                  <a:latin typeface="Cambria Math" panose="02040503050406030204" pitchFamily="18" charset="0"/>
                                  <a:ea typeface="Times New Roman"/>
                                  <a:cs typeface="Times New Roman"/>
                                </a:rPr>
                                <m:t>2</m:t>
                              </m:r>
                            </m:e>
                          </m:rad>
                        </m:num>
                        <m:den>
                          <m:r>
                            <a:rPr lang="en-US" sz="2000" i="1">
                              <a:latin typeface="Cambria Math" panose="02040503050406030204" pitchFamily="18" charset="0"/>
                              <a:ea typeface="Times New Roman"/>
                              <a:cs typeface="Times New Roman"/>
                            </a:rPr>
                            <m:t>2</m:t>
                          </m:r>
                        </m:den>
                      </m:f>
                    </m:oMath>
                  </m:oMathPara>
                </a14:m>
                <a:endParaRPr lang="en-US" sz="1600" dirty="0">
                  <a:latin typeface="Cambria" panose="02040503050406030204" pitchFamily="18" charset="0"/>
                  <a:ea typeface="Times New Roman"/>
                  <a:cs typeface="Times New Roman"/>
                </a:endParaRPr>
              </a:p>
            </p:txBody>
          </p:sp>
        </mc:Choice>
        <mc:Fallback xmlns="">
          <p:sp>
            <p:nvSpPr>
              <p:cNvPr id="9" name="Text Box 2"/>
              <p:cNvSpPr txBox="1">
                <a:spLocks noRot="1" noChangeAspect="1" noMove="1" noResize="1" noEditPoints="1" noAdjustHandles="1" noChangeArrowheads="1" noChangeShapeType="1" noTextEdit="1"/>
              </p:cNvSpPr>
              <p:nvPr/>
            </p:nvSpPr>
            <p:spPr bwMode="auto">
              <a:xfrm>
                <a:off x="3459708" y="4395833"/>
                <a:ext cx="660400" cy="644525"/>
              </a:xfrm>
              <a:prstGeom prst="rect">
                <a:avLst/>
              </a:prstGeom>
              <a:blipFill>
                <a:blip r:embed="rId10"/>
                <a:stretch>
                  <a:fillRect r="-3704" b="-6604"/>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2"/>
              <p:cNvSpPr txBox="1">
                <a:spLocks noChangeArrowheads="1"/>
              </p:cNvSpPr>
              <p:nvPr/>
            </p:nvSpPr>
            <p:spPr bwMode="auto">
              <a:xfrm>
                <a:off x="6949857" y="3217889"/>
                <a:ext cx="668337" cy="564642"/>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Times New Roman"/>
                          <a:cs typeface="Times New Roman"/>
                        </a:rPr>
                        <m:t>3.6</m:t>
                      </m:r>
                      <m:rad>
                        <m:radPr>
                          <m:degHide m:val="on"/>
                          <m:ctrlPr>
                            <a:rPr lang="en-US" sz="2000" i="1">
                              <a:latin typeface="Cambria Math" panose="02040503050406030204" pitchFamily="18" charset="0"/>
                              <a:ea typeface="Times New Roman"/>
                              <a:cs typeface="Times New Roman"/>
                            </a:rPr>
                          </m:ctrlPr>
                        </m:radPr>
                        <m:deg/>
                        <m:e>
                          <m:r>
                            <a:rPr lang="en-US" sz="2000" i="1">
                              <a:latin typeface="Cambria Math" panose="02040503050406030204" pitchFamily="18" charset="0"/>
                              <a:ea typeface="Times New Roman"/>
                              <a:cs typeface="Times New Roman"/>
                            </a:rPr>
                            <m:t>2</m:t>
                          </m:r>
                        </m:e>
                      </m:rad>
                    </m:oMath>
                  </m:oMathPara>
                </a14:m>
                <a:endParaRPr lang="en-US" dirty="0">
                  <a:latin typeface="Cambria" panose="02040503050406030204" pitchFamily="18" charset="0"/>
                  <a:ea typeface="Times New Roman"/>
                  <a:cs typeface="Times New Roman"/>
                </a:endParaRPr>
              </a:p>
            </p:txBody>
          </p:sp>
        </mc:Choice>
        <mc:Fallback xmlns="">
          <p:sp>
            <p:nvSpPr>
              <p:cNvPr id="10" name="Text Box 2"/>
              <p:cNvSpPr txBox="1">
                <a:spLocks noRot="1" noChangeAspect="1" noMove="1" noResize="1" noEditPoints="1" noAdjustHandles="1" noChangeArrowheads="1" noChangeShapeType="1" noTextEdit="1"/>
              </p:cNvSpPr>
              <p:nvPr/>
            </p:nvSpPr>
            <p:spPr bwMode="auto">
              <a:xfrm>
                <a:off x="6949857" y="3217889"/>
                <a:ext cx="668337" cy="564642"/>
              </a:xfrm>
              <a:prstGeom prst="rect">
                <a:avLst/>
              </a:prstGeom>
              <a:blipFill>
                <a:blip r:embed="rId11"/>
                <a:stretch>
                  <a:fillRect r="-10909"/>
                </a:stretch>
              </a:blipFill>
              <a:ln w="9525">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604874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408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5861"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43966" y="520517"/>
                <a:ext cx="10555895" cy="2246769"/>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Discuss with your partner the relationship between the legs of a </a:t>
                </a:r>
                <a14:m>
                  <m:oMath xmlns:m="http://schemas.openxmlformats.org/officeDocument/2006/math">
                    <m:r>
                      <a:rPr lang="en-US" sz="2000" i="1">
                        <a:latin typeface="Cambria Math" charset="0"/>
                        <a:ea typeface="Verdana" charset="0"/>
                        <a:cs typeface="Verdana" charset="0"/>
                      </a:rPr>
                      <m:t>45−45−90</m:t>
                    </m:r>
                  </m:oMath>
                </a14:m>
                <a:r>
                  <a:rPr lang="en-US" sz="2000" dirty="0">
                    <a:latin typeface="Verdana" charset="0"/>
                    <a:ea typeface="Verdana" charset="0"/>
                    <a:cs typeface="Verdana" charset="0"/>
                  </a:rPr>
                  <a:t> triangle and its hypotenuse. Write a conjecture.</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Ask two other pairs of partners for the conjecture they wrote. Listen to their conjecture and write a summary. </a:t>
                </a:r>
                <a:r>
                  <a:rPr lang="en-US" sz="2000" i="1" dirty="0">
                    <a:latin typeface="Verdana" charset="0"/>
                    <a:ea typeface="Verdana" charset="0"/>
                    <a:cs typeface="Verdana" charset="0"/>
                  </a:rPr>
                  <a:t>You are the only person who should write in the first column of the table.</a:t>
                </a:r>
                <a:r>
                  <a:rPr lang="en-US" sz="2000" dirty="0">
                    <a:latin typeface="Verdana" charset="0"/>
                    <a:ea typeface="Verdana" charset="0"/>
                    <a:cs typeface="Verdana" charset="0"/>
                  </a:rPr>
                  <a:t> Have the person initial next to your summary stating that your summary was accurate.</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43966" y="520517"/>
                <a:ext cx="10555895" cy="2246769"/>
              </a:xfrm>
              <a:prstGeom prst="rect">
                <a:avLst/>
              </a:prstGeom>
              <a:blipFill>
                <a:blip r:embed="rId4"/>
                <a:stretch>
                  <a:fillRect l="-635" t="-1626" r="-1155" b="-3794"/>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760BDC3-AF44-C94E-BD05-E61FF805DD32}"/>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graphicFrame>
        <p:nvGraphicFramePr>
          <p:cNvPr id="2" name="Table 1"/>
          <p:cNvGraphicFramePr>
            <a:graphicFrameLocks noGrp="1"/>
          </p:cNvGraphicFramePr>
          <p:nvPr>
            <p:extLst>
              <p:ext uri="{D42A27DB-BD31-4B8C-83A1-F6EECF244321}">
                <p14:modId xmlns:p14="http://schemas.microsoft.com/office/powerpoint/2010/main" val="2443076999"/>
              </p:ext>
            </p:extLst>
          </p:nvPr>
        </p:nvGraphicFramePr>
        <p:xfrm>
          <a:off x="943965" y="3078877"/>
          <a:ext cx="9542179" cy="2849976"/>
        </p:xfrm>
        <a:graphic>
          <a:graphicData uri="http://schemas.openxmlformats.org/drawingml/2006/table">
            <a:tbl>
              <a:tblPr bandRow="1"/>
              <a:tblGrid>
                <a:gridCol w="8043431">
                  <a:extLst>
                    <a:ext uri="{9D8B030D-6E8A-4147-A177-3AD203B41FA5}">
                      <a16:colId xmlns:a16="http://schemas.microsoft.com/office/drawing/2014/main" val="20000"/>
                    </a:ext>
                  </a:extLst>
                </a:gridCol>
                <a:gridCol w="1498748">
                  <a:extLst>
                    <a:ext uri="{9D8B030D-6E8A-4147-A177-3AD203B41FA5}">
                      <a16:colId xmlns:a16="http://schemas.microsoft.com/office/drawing/2014/main" val="20001"/>
                    </a:ext>
                  </a:extLst>
                </a:gridCol>
              </a:tblGrid>
              <a:tr h="543838">
                <a:tc>
                  <a:txBody>
                    <a:bodyPr/>
                    <a:lstStyle/>
                    <a:p>
                      <a:pPr marL="0" marR="0" algn="ctr">
                        <a:spcBef>
                          <a:spcPts val="0"/>
                        </a:spcBef>
                        <a:spcAft>
                          <a:spcPts val="0"/>
                        </a:spcAft>
                      </a:pPr>
                      <a:r>
                        <a:rPr lang="en-US" sz="2400" b="1" dirty="0">
                          <a:effectLst/>
                          <a:latin typeface="Verdana" charset="0"/>
                          <a:ea typeface="Verdana" charset="0"/>
                          <a:cs typeface="Verdana" charset="0"/>
                        </a:rPr>
                        <a:t>Conjecture</a:t>
                      </a:r>
                      <a:endParaRPr lang="en-US" sz="1300" dirty="0">
                        <a:effectLst/>
                        <a:latin typeface="Cambria" charset="0"/>
                        <a:ea typeface="Times New Roman" charset="0"/>
                        <a:cs typeface="Times New Roman" charset="0"/>
                      </a:endParaRPr>
                    </a:p>
                  </a:txBody>
                  <a:tcPr marL="72067" marR="7206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b="1">
                          <a:effectLst/>
                          <a:latin typeface="Verdana" charset="0"/>
                          <a:ea typeface="Verdana" charset="0"/>
                          <a:cs typeface="Verdana" charset="0"/>
                        </a:rPr>
                        <a:t>Initials</a:t>
                      </a:r>
                      <a:endParaRPr lang="en-US" sz="1300">
                        <a:effectLst/>
                        <a:latin typeface="Cambria" charset="0"/>
                        <a:ea typeface="Times New Roman" charset="0"/>
                        <a:cs typeface="Times New Roman" charset="0"/>
                      </a:endParaRPr>
                    </a:p>
                  </a:txBody>
                  <a:tcPr marL="72067" marR="7206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153069">
                <a:tc>
                  <a:txBody>
                    <a:bodyPr/>
                    <a:lstStyle/>
                    <a:p>
                      <a:pPr marL="0" marR="0">
                        <a:spcBef>
                          <a:spcPts val="0"/>
                        </a:spcBef>
                        <a:spcAft>
                          <a:spcPts val="1000"/>
                        </a:spcAft>
                      </a:pPr>
                      <a:r>
                        <a:rPr lang="en-US" sz="2400" dirty="0">
                          <a:effectLst/>
                          <a:latin typeface="Verdana" charset="0"/>
                          <a:ea typeface="Verdana" charset="0"/>
                          <a:cs typeface="Verdana" charset="0"/>
                        </a:rPr>
                        <a:t> </a:t>
                      </a:r>
                      <a:endParaRPr lang="en-US" sz="1300" dirty="0">
                        <a:effectLst/>
                        <a:latin typeface="Cambria" charset="0"/>
                        <a:ea typeface="Times New Roman" charset="0"/>
                        <a:cs typeface="Times New Roman" charset="0"/>
                      </a:endParaRPr>
                    </a:p>
                  </a:txBody>
                  <a:tcPr marL="72067" marR="720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400">
                          <a:effectLst/>
                          <a:latin typeface="Verdana" charset="0"/>
                          <a:ea typeface="Verdana" charset="0"/>
                          <a:cs typeface="Verdana" charset="0"/>
                        </a:rPr>
                        <a:t> </a:t>
                      </a:r>
                      <a:endParaRPr lang="en-US" sz="1300">
                        <a:effectLst/>
                        <a:latin typeface="Cambria" charset="0"/>
                        <a:ea typeface="Times New Roman" charset="0"/>
                        <a:cs typeface="Times New Roman" charset="0"/>
                      </a:endParaRPr>
                    </a:p>
                  </a:txBody>
                  <a:tcPr marL="72067" marR="720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53069">
                <a:tc>
                  <a:txBody>
                    <a:bodyPr/>
                    <a:lstStyle/>
                    <a:p>
                      <a:pPr marL="0" marR="0">
                        <a:spcBef>
                          <a:spcPts val="0"/>
                        </a:spcBef>
                        <a:spcAft>
                          <a:spcPts val="1000"/>
                        </a:spcAft>
                      </a:pPr>
                      <a:r>
                        <a:rPr lang="en-US" sz="2400">
                          <a:effectLst/>
                          <a:latin typeface="Verdana" charset="0"/>
                          <a:ea typeface="Verdana" charset="0"/>
                          <a:cs typeface="Verdana" charset="0"/>
                        </a:rPr>
                        <a:t> </a:t>
                      </a:r>
                      <a:endParaRPr lang="en-US" sz="1300">
                        <a:effectLst/>
                        <a:latin typeface="Cambria" charset="0"/>
                        <a:ea typeface="Times New Roman" charset="0"/>
                        <a:cs typeface="Times New Roman" charset="0"/>
                      </a:endParaRPr>
                    </a:p>
                  </a:txBody>
                  <a:tcPr marL="72067" marR="720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400" dirty="0">
                          <a:effectLst/>
                          <a:latin typeface="Verdana" charset="0"/>
                          <a:ea typeface="Verdana" charset="0"/>
                          <a:cs typeface="Verdana" charset="0"/>
                        </a:rPr>
                        <a:t> </a:t>
                      </a:r>
                      <a:endParaRPr lang="en-US" sz="1300" dirty="0">
                        <a:effectLst/>
                        <a:latin typeface="Cambria" charset="0"/>
                        <a:ea typeface="Times New Roman" charset="0"/>
                        <a:cs typeface="Times New Roman" charset="0"/>
                      </a:endParaRPr>
                    </a:p>
                  </a:txBody>
                  <a:tcPr marL="72067" marR="720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95882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7622"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396"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403</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2" y="528618"/>
                <a:ext cx="11025563" cy="5632311"/>
              </a:xfrm>
              <a:prstGeom prst="rect">
                <a:avLst/>
              </a:prstGeom>
              <a:noFill/>
            </p:spPr>
            <p:txBody>
              <a:bodyPr wrap="square" rtlCol="0">
                <a:spAutoFit/>
              </a:bodyPr>
              <a:lstStyle/>
              <a:p>
                <a:pPr marL="457200" indent="-457200">
                  <a:buFont typeface="+mj-lt"/>
                  <a:buAutoNum type="arabicPeriod" startAt="6"/>
                </a:pPr>
                <a:r>
                  <a:rPr lang="en-US" sz="2000" dirty="0">
                    <a:latin typeface="Verdana" charset="0"/>
                    <a:ea typeface="Verdana" charset="0"/>
                    <a:cs typeface="Verdana" charset="0"/>
                  </a:rPr>
                  <a:t>An isosceles right triangle is shown.</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463550"/>
                <a:r>
                  <a:rPr lang="en-US" sz="2000" dirty="0">
                    <a:latin typeface="Verdana" charset="0"/>
                    <a:ea typeface="Verdana" charset="0"/>
                    <a:cs typeface="Verdana" charset="0"/>
                  </a:rPr>
                  <a:t>Describe how the triangle shows the relationships in a    </a:t>
                </a:r>
                <a14:m>
                  <m:oMath xmlns:m="http://schemas.openxmlformats.org/officeDocument/2006/math">
                    <m:r>
                      <a:rPr lang="en-US" sz="2000" i="1">
                        <a:latin typeface="Cambria Math" charset="0"/>
                        <a:ea typeface="Verdana" charset="0"/>
                        <a:cs typeface="Verdana" charset="0"/>
                      </a:rPr>
                      <m:t>45−45−90</m:t>
                    </m:r>
                  </m:oMath>
                </a14:m>
                <a:r>
                  <a:rPr lang="en-US" sz="2000" dirty="0">
                    <a:latin typeface="Verdana" charset="0"/>
                    <a:ea typeface="Verdana" charset="0"/>
                    <a:cs typeface="Verdana" charset="0"/>
                  </a:rPr>
                  <a:t> triangle.</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2" y="528618"/>
                <a:ext cx="11025563" cy="5632311"/>
              </a:xfrm>
              <a:prstGeom prst="rect">
                <a:avLst/>
              </a:prstGeom>
              <a:blipFill>
                <a:blip r:embed="rId4"/>
                <a:stretch>
                  <a:fillRect l="-608" t="-758" b="-974"/>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760BDC3-AF44-C94E-BD05-E61FF805DD32}"/>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800851" y="1296791"/>
            <a:ext cx="3721100" cy="3683000"/>
          </a:xfrm>
          <a:prstGeom prst="rect">
            <a:avLst/>
          </a:prstGeom>
        </p:spPr>
      </p:pic>
    </p:spTree>
    <p:extLst>
      <p:ext uri="{BB962C8B-B14F-4D97-AF65-F5344CB8AC3E}">
        <p14:creationId xmlns:p14="http://schemas.microsoft.com/office/powerpoint/2010/main" val="70656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403</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4" y="528618"/>
                <a:ext cx="11130316" cy="4708981"/>
              </a:xfrm>
              <a:prstGeom prst="rect">
                <a:avLst/>
              </a:prstGeom>
              <a:noFill/>
            </p:spPr>
            <p:txBody>
              <a:bodyPr wrap="square" rtlCol="0">
                <a:spAutoFit/>
              </a:bodyPr>
              <a:lstStyle/>
              <a:p>
                <a:pPr marL="457200" indent="-457200">
                  <a:buFont typeface="+mj-lt"/>
                  <a:buAutoNum type="arabicPeriod" startAt="7"/>
                </a:pPr>
                <a14:m>
                  <m:oMath xmlns:m="http://schemas.openxmlformats.org/officeDocument/2006/math">
                    <m:r>
                      <a:rPr lang="en-US" sz="2000" i="1" smtClean="0">
                        <a:latin typeface="Cambria Math" panose="02040503050406030204" pitchFamily="18" charset="0"/>
                        <a:ea typeface="Verdana" charset="0"/>
                        <a:cs typeface="Verdana" charset="0"/>
                      </a:rPr>
                      <m:t>∆</m:t>
                    </m:r>
                    <m:r>
                      <a:rPr lang="en-US" sz="2000" i="1" smtClean="0">
                        <a:latin typeface="Cambria Math" panose="02040503050406030204" pitchFamily="18" charset="0"/>
                        <a:ea typeface="Verdana" charset="0"/>
                        <a:cs typeface="Verdana" charset="0"/>
                      </a:rPr>
                      <m:t>𝑀𝐵𝑇</m:t>
                    </m:r>
                  </m:oMath>
                </a14:m>
                <a:r>
                  <a:rPr lang="en-US" sz="2000" dirty="0">
                    <a:latin typeface="Verdana" charset="0"/>
                    <a:ea typeface="Verdana" charset="0"/>
                    <a:cs typeface="Verdana" charset="0"/>
                  </a:rPr>
                  <a:t> is a right triangle, where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𝑀𝐵𝑇</m:t>
                    </m:r>
                    <m:r>
                      <a:rPr lang="en-US" sz="2000" i="1">
                        <a:latin typeface="Cambria Math" panose="02040503050406030204" pitchFamily="18" charset="0"/>
                        <a:ea typeface="Verdana" charset="0"/>
                        <a:cs typeface="Verdana" charset="0"/>
                      </a:rPr>
                      <m:t>=90°</m:t>
                    </m:r>
                  </m:oMath>
                </a14:m>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𝑇𝑀𝐵</m:t>
                    </m:r>
                    <m:r>
                      <a:rPr lang="en-US" sz="2000" i="1">
                        <a:latin typeface="Cambria Math" panose="02040503050406030204" pitchFamily="18" charset="0"/>
                        <a:ea typeface="Verdana" charset="0"/>
                        <a:cs typeface="Verdana" charset="0"/>
                      </a:rPr>
                      <m:t>=30°</m:t>
                    </m:r>
                  </m:oMath>
                </a14:m>
                <a:r>
                  <a:rPr lang="en-US" sz="2000" dirty="0">
                    <a:latin typeface="Verdana" charset="0"/>
                    <a:ea typeface="Verdana" charset="0"/>
                    <a:cs typeface="Verdana" charset="0"/>
                  </a:rPr>
                  <a:t>,</a:t>
                </a:r>
                <a14:m>
                  <m:oMath xmlns:m="http://schemas.openxmlformats.org/officeDocument/2006/math">
                    <m:r>
                      <a:rPr lang="en-US" sz="2000" b="0" i="0" smtClean="0">
                        <a:latin typeface="Cambria Math" panose="02040503050406030204" pitchFamily="18" charset="0"/>
                        <a:ea typeface="Verdana" charset="0"/>
                        <a:cs typeface="Verdana" charset="0"/>
                      </a:rPr>
                      <m:t> </m:t>
                    </m:r>
                    <m:r>
                      <a:rPr lang="en-US" sz="2000" i="1">
                        <a:latin typeface="Cambria Math" panose="02040503050406030204" pitchFamily="18" charset="0"/>
                        <a:ea typeface="Verdana" charset="0"/>
                        <a:cs typeface="Verdana" charset="0"/>
                      </a:rPr>
                      <m:t>  </m:t>
                    </m:r>
                    <m:r>
                      <a:rPr lang="en-US" sz="2000" i="1">
                        <a:latin typeface="Cambria Math" panose="02040503050406030204" pitchFamily="18" charset="0"/>
                        <a:ea typeface="Verdana" charset="0"/>
                        <a:cs typeface="Verdana" charset="0"/>
                      </a:rPr>
                      <m:t>𝑇𝐵</m:t>
                    </m:r>
                    <m:r>
                      <a:rPr lang="en-US" sz="2000" i="1">
                        <a:latin typeface="Cambria Math" panose="02040503050406030204" pitchFamily="18" charset="0"/>
                        <a:ea typeface="Verdana" charset="0"/>
                        <a:cs typeface="Verdana" charset="0"/>
                      </a:rPr>
                      <m:t>=4</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𝑀𝑇</m:t>
                    </m:r>
                    <m:r>
                      <a:rPr lang="en-US" sz="2000" i="1">
                        <a:latin typeface="Cambria Math" panose="02040503050406030204" pitchFamily="18" charset="0"/>
                        <a:ea typeface="Verdana" charset="0"/>
                        <a:cs typeface="Verdana" charset="0"/>
                      </a:rPr>
                      <m:t>=8</m:t>
                    </m:r>
                  </m:oMath>
                </a14:m>
                <a:r>
                  <a:rPr lang="en-US" sz="2000" dirty="0">
                    <a:latin typeface="Verdana" charset="0"/>
                    <a:ea typeface="Verdana" charset="0"/>
                    <a:cs typeface="Verdana" charset="0"/>
                  </a:rPr>
                  <a:t>. </a:t>
                </a: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57200" indent="-457200">
                  <a:buFont typeface="+mj-lt"/>
                  <a:buAutoNum type="arabicPeriod" startAt="7"/>
                </a:pPr>
                <a:endParaRPr lang="en-US" sz="2000" dirty="0">
                  <a:latin typeface="Verdana" charset="0"/>
                  <a:ea typeface="Verdana" charset="0"/>
                  <a:cs typeface="Verdana" charset="0"/>
                </a:endParaRPr>
              </a:p>
              <a:p>
                <a:pPr marL="463550"/>
                <a:r>
                  <a:rPr lang="en-US" sz="2000" dirty="0">
                    <a:latin typeface="Verdana" charset="0"/>
                    <a:ea typeface="Verdana" charset="0"/>
                    <a:cs typeface="Verdana" charset="0"/>
                  </a:rPr>
                  <a:t>Find the length of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𝑀𝐵</m:t>
                        </m:r>
                      </m:e>
                    </m:acc>
                  </m:oMath>
                </a14:m>
                <a:r>
                  <a:rPr lang="en-US" sz="2000" dirty="0">
                    <a:latin typeface="Verdana" charset="0"/>
                    <a:ea typeface="Verdana" charset="0"/>
                    <a:cs typeface="Verdana" charset="0"/>
                  </a:rPr>
                  <a:t> using the Pythagorean Theorem. Write the answer in simplified radical form.</a:t>
                </a:r>
              </a:p>
              <a:p>
                <a:pPr lvl="0"/>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4" y="528618"/>
                <a:ext cx="11130316" cy="4708981"/>
              </a:xfrm>
              <a:prstGeom prst="rect">
                <a:avLst/>
              </a:prstGeom>
              <a:blipFill>
                <a:blip r:embed="rId4"/>
                <a:stretch>
                  <a:fillRect l="-548" t="-777"/>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760BDC3-AF44-C94E-BD05-E61FF805DD32}"/>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720073" y="1426571"/>
            <a:ext cx="3797300" cy="2755900"/>
          </a:xfrm>
          <a:prstGeom prst="rect">
            <a:avLst/>
          </a:prstGeom>
        </p:spPr>
      </p:pic>
    </p:spTree>
    <p:extLst>
      <p:ext uri="{BB962C8B-B14F-4D97-AF65-F5344CB8AC3E}">
        <p14:creationId xmlns:p14="http://schemas.microsoft.com/office/powerpoint/2010/main" val="376480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403</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2" y="520517"/>
                <a:ext cx="11130317" cy="5632311"/>
              </a:xfrm>
              <a:prstGeom prst="rect">
                <a:avLst/>
              </a:prstGeom>
              <a:noFill/>
            </p:spPr>
            <p:txBody>
              <a:bodyPr wrap="square" rtlCol="0">
                <a:spAutoFit/>
              </a:bodyPr>
              <a:lstStyle/>
              <a:p>
                <a:pPr marL="457200" indent="-457200">
                  <a:buFont typeface="+mj-lt"/>
                  <a:buAutoNum type="arabicPeriod" startAt="8"/>
                </a:pP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𝑅𝐹𝐷</m:t>
                    </m:r>
                  </m:oMath>
                </a14:m>
                <a:r>
                  <a:rPr lang="en-US" sz="2000" dirty="0">
                    <a:latin typeface="Verdana" charset="0"/>
                    <a:ea typeface="Verdana" charset="0"/>
                    <a:cs typeface="Verdana" charset="0"/>
                  </a:rPr>
                  <a:t> is a right triangle, where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𝐷𝑅𝐹</m:t>
                    </m:r>
                    <m:r>
                      <a:rPr lang="en-US" sz="2000" i="1">
                        <a:latin typeface="Cambria Math" panose="02040503050406030204" pitchFamily="18" charset="0"/>
                        <a:ea typeface="Verdana" charset="0"/>
                        <a:cs typeface="Verdana" charset="0"/>
                      </a:rPr>
                      <m:t>=90°</m:t>
                    </m:r>
                  </m:oMath>
                </a14:m>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𝑅𝐹𝐷</m:t>
                    </m:r>
                    <m:r>
                      <a:rPr lang="en-US" sz="2000" i="1">
                        <a:latin typeface="Cambria Math" panose="02040503050406030204" pitchFamily="18" charset="0"/>
                        <a:ea typeface="Verdana" charset="0"/>
                        <a:cs typeface="Verdana" charset="0"/>
                      </a:rPr>
                      <m:t>=60°</m:t>
                    </m:r>
                  </m:oMath>
                </a14:m>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 </m:t>
                    </m:r>
                    <m:r>
                      <a:rPr lang="en-US" sz="2000" i="1">
                        <a:latin typeface="Cambria Math" panose="02040503050406030204" pitchFamily="18" charset="0"/>
                        <a:ea typeface="Verdana" charset="0"/>
                        <a:cs typeface="Verdana" charset="0"/>
                      </a:rPr>
                      <m:t>𝑅𝐹</m:t>
                    </m:r>
                    <m:r>
                      <a:rPr lang="en-US" sz="2000" i="1">
                        <a:latin typeface="Cambria Math" panose="02040503050406030204" pitchFamily="18" charset="0"/>
                        <a:ea typeface="Verdana" charset="0"/>
                        <a:cs typeface="Verdana" charset="0"/>
                      </a:rPr>
                      <m:t>=6.1</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𝐹𝐷</m:t>
                    </m:r>
                    <m:r>
                      <a:rPr lang="en-US" sz="2000" i="1">
                        <a:latin typeface="Cambria Math" panose="02040503050406030204" pitchFamily="18" charset="0"/>
                        <a:ea typeface="Verdana" charset="0"/>
                        <a:cs typeface="Verdana" charset="0"/>
                      </a:rPr>
                      <m:t>=12.2</m:t>
                    </m:r>
                  </m:oMath>
                </a14:m>
                <a:r>
                  <a:rPr lang="en-US" sz="2000" dirty="0">
                    <a:latin typeface="Verdana" charset="0"/>
                    <a:ea typeface="Verdana" charset="0"/>
                    <a:cs typeface="Verdana" charset="0"/>
                  </a:rPr>
                  <a:t>. </a:t>
                </a: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63550"/>
                <a:r>
                  <a:rPr lang="en-US" sz="2000" dirty="0">
                    <a:latin typeface="Verdana" charset="0"/>
                    <a:ea typeface="Verdana" charset="0"/>
                    <a:cs typeface="Verdana" charset="0"/>
                  </a:rPr>
                  <a:t>Discuss with your partner what features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𝑅𝐹𝐷</m:t>
                    </m:r>
                  </m:oMath>
                </a14:m>
                <a:r>
                  <a:rPr lang="en-US" sz="2000" dirty="0">
                    <a:latin typeface="Verdana" charset="0"/>
                    <a:ea typeface="Verdana" charset="0"/>
                    <a:cs typeface="Verdana" charset="0"/>
                  </a:rPr>
                  <a:t> has in common with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𝑀𝐵𝑇</m:t>
                    </m:r>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2" y="520517"/>
                <a:ext cx="11130317" cy="5632311"/>
              </a:xfrm>
              <a:prstGeom prst="rect">
                <a:avLst/>
              </a:prstGeom>
              <a:blipFill>
                <a:blip r:embed="rId4"/>
                <a:stretch>
                  <a:fillRect l="-548" t="-541" b="-974"/>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760BDC3-AF44-C94E-BD05-E61FF805DD32}"/>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328768" y="1613024"/>
            <a:ext cx="2501900" cy="3619500"/>
          </a:xfrm>
          <a:prstGeom prst="rect">
            <a:avLst/>
          </a:prstGeom>
        </p:spPr>
      </p:pic>
    </p:spTree>
    <p:extLst>
      <p:ext uri="{BB962C8B-B14F-4D97-AF65-F5344CB8AC3E}">
        <p14:creationId xmlns:p14="http://schemas.microsoft.com/office/powerpoint/2010/main" val="976570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2" y="520517"/>
                <a:ext cx="11130317" cy="3785652"/>
              </a:xfrm>
              <a:prstGeom prst="rect">
                <a:avLst/>
              </a:prstGeom>
              <a:noFill/>
            </p:spPr>
            <p:txBody>
              <a:bodyPr wrap="square" rtlCol="0">
                <a:spAutoFit/>
              </a:bodyPr>
              <a:lstStyle/>
              <a:p>
                <a:pPr marL="457200" indent="-457200">
                  <a:buFont typeface="+mj-lt"/>
                  <a:buAutoNum type="arabicPeriod" startAt="9"/>
                </a:pP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𝑀𝐵𝑇</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𝑅𝐹𝐷</m:t>
                    </m:r>
                  </m:oMath>
                </a14:m>
                <a:r>
                  <a:rPr lang="en-US" sz="2000" dirty="0">
                    <a:latin typeface="Verdana" charset="0"/>
                    <a:ea typeface="Verdana" charset="0"/>
                    <a:cs typeface="Verdana" charset="0"/>
                  </a:rPr>
                  <a:t> are </a:t>
                </a:r>
                <a14:m>
                  <m:oMath xmlns:m="http://schemas.openxmlformats.org/officeDocument/2006/math">
                    <m:r>
                      <a:rPr lang="en-US" sz="2000" i="1">
                        <a:latin typeface="Cambria Math" panose="02040503050406030204" pitchFamily="18" charset="0"/>
                        <a:ea typeface="Verdana" charset="0"/>
                        <a:cs typeface="Verdana" charset="0"/>
                      </a:rPr>
                      <m:t>30−60−90</m:t>
                    </m:r>
                  </m:oMath>
                </a14:m>
                <a:r>
                  <a:rPr lang="en-US" sz="2000" dirty="0">
                    <a:latin typeface="Verdana" charset="0"/>
                    <a:ea typeface="Verdana" charset="0"/>
                    <a:cs typeface="Verdana" charset="0"/>
                  </a:rPr>
                  <a:t> triangles. </a:t>
                </a:r>
              </a:p>
              <a:p>
                <a:r>
                  <a:rPr lang="en-US" sz="2000" dirty="0">
                    <a:latin typeface="Verdana" charset="0"/>
                    <a:ea typeface="Verdana" charset="0"/>
                    <a:cs typeface="Verdana" charset="0"/>
                  </a:rPr>
                  <a:t> </a:t>
                </a:r>
              </a:p>
              <a:p>
                <a:pPr marL="463550"/>
                <a:r>
                  <a:rPr lang="en-US" sz="2000" dirty="0">
                    <a:latin typeface="Verdana" charset="0"/>
                    <a:ea typeface="Verdana" charset="0"/>
                    <a:cs typeface="Verdana" charset="0"/>
                  </a:rPr>
                  <a:t>The table gives the exact measurements for each of the sides of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𝑀𝐵𝑇</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𝑅𝐹𝐷</m:t>
                    </m:r>
                  </m:oMath>
                </a14:m>
                <a:r>
                  <a:rPr lang="en-US" sz="2000" dirty="0">
                    <a:latin typeface="Verdana" charset="0"/>
                    <a:ea typeface="Verdana" charset="0"/>
                    <a:cs typeface="Verdana" charset="0"/>
                  </a:rPr>
                  <a:t>.</a:t>
                </a:r>
              </a:p>
              <a:p>
                <a:pPr marL="463550"/>
                <a:endParaRPr lang="en-US" sz="2000" dirty="0">
                  <a:latin typeface="Verdana" charset="0"/>
                  <a:ea typeface="Verdana" charset="0"/>
                  <a:cs typeface="Verdana" charset="0"/>
                </a:endParaRPr>
              </a:p>
              <a:p>
                <a:pPr marL="463550"/>
                <a:endParaRPr lang="en-US" sz="2000" dirty="0">
                  <a:latin typeface="Verdana" charset="0"/>
                  <a:ea typeface="Verdana" charset="0"/>
                  <a:cs typeface="Verdana" charset="0"/>
                </a:endParaRPr>
              </a:p>
              <a:p>
                <a:pPr marL="463550"/>
                <a:endParaRPr lang="en-US" sz="2000" dirty="0">
                  <a:latin typeface="Verdana" charset="0"/>
                  <a:ea typeface="Verdana" charset="0"/>
                  <a:cs typeface="Verdana" charset="0"/>
                </a:endParaRPr>
              </a:p>
              <a:p>
                <a:pPr marL="463550"/>
                <a:endParaRPr lang="en-US" sz="2000" dirty="0">
                  <a:latin typeface="Verdana" charset="0"/>
                  <a:ea typeface="Verdana" charset="0"/>
                  <a:cs typeface="Verdana" charset="0"/>
                </a:endParaRPr>
              </a:p>
              <a:p>
                <a:pPr marL="463550"/>
                <a:endParaRPr lang="en-US" sz="2000" dirty="0">
                  <a:latin typeface="Verdana" charset="0"/>
                  <a:ea typeface="Verdana" charset="0"/>
                  <a:cs typeface="Verdana" charset="0"/>
                </a:endParaRPr>
              </a:p>
              <a:p>
                <a:pPr marL="463550"/>
                <a:endParaRPr lang="en-US" sz="2000" dirty="0">
                  <a:latin typeface="Verdana" charset="0"/>
                  <a:ea typeface="Verdana" charset="0"/>
                  <a:cs typeface="Verdana" charset="0"/>
                </a:endParaRPr>
              </a:p>
              <a:p>
                <a:pPr marL="463550"/>
                <a:r>
                  <a:rPr lang="en-US" sz="2000" dirty="0">
                    <a:latin typeface="Verdana" charset="0"/>
                    <a:ea typeface="Verdana" charset="0"/>
                    <a:cs typeface="Verdana" charset="0"/>
                  </a:rPr>
                  <a:t>Complete the table by describing the relationship between the side lengths of a </a:t>
                </a:r>
                <a14:m>
                  <m:oMath xmlns:m="http://schemas.openxmlformats.org/officeDocument/2006/math">
                    <m:r>
                      <a:rPr lang="en-US" sz="2000" i="1">
                        <a:latin typeface="Cambria Math" panose="02040503050406030204" pitchFamily="18" charset="0"/>
                        <a:ea typeface="Verdana" charset="0"/>
                        <a:cs typeface="Verdana" charset="0"/>
                      </a:rPr>
                      <m:t>30−60−90</m:t>
                    </m:r>
                  </m:oMath>
                </a14:m>
                <a:r>
                  <a:rPr lang="en-US" sz="2000" dirty="0">
                    <a:latin typeface="Verdana" charset="0"/>
                    <a:ea typeface="Verdana" charset="0"/>
                    <a:cs typeface="Verdana" charset="0"/>
                  </a:rPr>
                  <a:t> triangle. </a:t>
                </a:r>
              </a:p>
              <a:p>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2" y="520517"/>
                <a:ext cx="11130317" cy="3785652"/>
              </a:xfrm>
              <a:prstGeom prst="rect">
                <a:avLst/>
              </a:prstGeom>
              <a:blipFill>
                <a:blip r:embed="rId4"/>
                <a:stretch>
                  <a:fillRect l="-548" t="-805"/>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760BDC3-AF44-C94E-BD05-E61FF805DD32}"/>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616077172"/>
                  </p:ext>
                </p:extLst>
              </p:nvPr>
            </p:nvGraphicFramePr>
            <p:xfrm>
              <a:off x="1365749" y="1651875"/>
              <a:ext cx="8106498" cy="986282"/>
            </p:xfrm>
            <a:graphic>
              <a:graphicData uri="http://schemas.openxmlformats.org/drawingml/2006/table">
                <a:tbl>
                  <a:tblPr firstRow="1" firstCol="1" bandRow="1"/>
                  <a:tblGrid>
                    <a:gridCol w="2210935">
                      <a:extLst>
                        <a:ext uri="{9D8B030D-6E8A-4147-A177-3AD203B41FA5}">
                          <a16:colId xmlns:a16="http://schemas.microsoft.com/office/drawing/2014/main" val="20000"/>
                        </a:ext>
                      </a:extLst>
                    </a:gridCol>
                    <a:gridCol w="2093006">
                      <a:extLst>
                        <a:ext uri="{9D8B030D-6E8A-4147-A177-3AD203B41FA5}">
                          <a16:colId xmlns:a16="http://schemas.microsoft.com/office/drawing/2014/main" val="20001"/>
                        </a:ext>
                      </a:extLst>
                    </a:gridCol>
                    <a:gridCol w="1860278">
                      <a:extLst>
                        <a:ext uri="{9D8B030D-6E8A-4147-A177-3AD203B41FA5}">
                          <a16:colId xmlns:a16="http://schemas.microsoft.com/office/drawing/2014/main" val="20002"/>
                        </a:ext>
                      </a:extLst>
                    </a:gridCol>
                    <a:gridCol w="1942279">
                      <a:extLst>
                        <a:ext uri="{9D8B030D-6E8A-4147-A177-3AD203B41FA5}">
                          <a16:colId xmlns:a16="http://schemas.microsoft.com/office/drawing/2014/main" val="20003"/>
                        </a:ext>
                      </a:extLst>
                    </a:gridCol>
                  </a:tblGrid>
                  <a:tr h="272415">
                    <a:tc>
                      <a:txBody>
                        <a:bodyPr/>
                        <a:lstStyle/>
                        <a:p>
                          <a:pPr marL="0" marR="0" algn="ctr">
                            <a:spcBef>
                              <a:spcPts val="0"/>
                            </a:spcBef>
                            <a:spcAft>
                              <a:spcPts val="0"/>
                            </a:spcAft>
                          </a:pPr>
                          <a:r>
                            <a:rPr lang="en-US" sz="2000" b="1">
                              <a:effectLst/>
                              <a:latin typeface="Verdana" charset="0"/>
                              <a:ea typeface="Verdana" charset="0"/>
                              <a:cs typeface="Verdana" charset="0"/>
                            </a:rPr>
                            <a:t>Triangle</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Short Leg</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Long Leg</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Hypotenuse</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9908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𝑀𝐵𝑇</m:t>
                                </m:r>
                              </m:oMath>
                            </m:oMathPara>
                          </a14:m>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4</m:t>
                                </m:r>
                              </m:oMath>
                            </m:oMathPara>
                          </a14:m>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4</m:t>
                                </m:r>
                                <m:rad>
                                  <m:radPr>
                                    <m:degHide m:val="on"/>
                                    <m:ctrlPr>
                                      <a:rPr lang="en-US" sz="2000" i="1">
                                        <a:effectLst/>
                                        <a:latin typeface="Cambria Math" panose="02040503050406030204" pitchFamily="18" charset="0"/>
                                        <a:ea typeface="Verdana" charset="0"/>
                                        <a:cs typeface="Verdana" charset="0"/>
                                      </a:rPr>
                                    </m:ctrlPr>
                                  </m:radPr>
                                  <m:deg/>
                                  <m:e>
                                    <m:r>
                                      <a:rPr lang="en-US" sz="2000" i="1">
                                        <a:effectLst/>
                                        <a:latin typeface="Cambria Math" charset="0"/>
                                        <a:ea typeface="Verdana" charset="0"/>
                                        <a:cs typeface="Verdana" charset="0"/>
                                      </a:rPr>
                                      <m:t>3</m:t>
                                    </m:r>
                                  </m:e>
                                </m:rad>
                              </m:oMath>
                            </m:oMathPara>
                          </a14:m>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8</m:t>
                                </m:r>
                              </m:oMath>
                            </m:oMathPara>
                          </a14:m>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369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𝑅𝐹𝐷</m:t>
                                </m:r>
                              </m:oMath>
                            </m:oMathPara>
                          </a14:m>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6.1</m:t>
                                </m:r>
                              </m:oMath>
                            </m:oMathPara>
                          </a14:m>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6.1</m:t>
                                </m:r>
                                <m:rad>
                                  <m:radPr>
                                    <m:degHide m:val="on"/>
                                    <m:ctrlPr>
                                      <a:rPr lang="en-US" sz="2000" i="1">
                                        <a:effectLst/>
                                        <a:latin typeface="Cambria Math" panose="02040503050406030204" pitchFamily="18" charset="0"/>
                                        <a:ea typeface="Verdana" charset="0"/>
                                        <a:cs typeface="Verdana" charset="0"/>
                                      </a:rPr>
                                    </m:ctrlPr>
                                  </m:radPr>
                                  <m:deg/>
                                  <m:e>
                                    <m:r>
                                      <a:rPr lang="en-US" sz="2000" i="1">
                                        <a:effectLst/>
                                        <a:latin typeface="Cambria Math" charset="0"/>
                                        <a:ea typeface="Verdana" charset="0"/>
                                        <a:cs typeface="Verdana" charset="0"/>
                                      </a:rPr>
                                      <m:t>3</m:t>
                                    </m:r>
                                  </m:e>
                                </m:rad>
                              </m:oMath>
                            </m:oMathPara>
                          </a14:m>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12.2</m:t>
                                </m:r>
                              </m:oMath>
                            </m:oMathPara>
                          </a14:m>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616077172"/>
                  </p:ext>
                </p:extLst>
              </p:nvPr>
            </p:nvGraphicFramePr>
            <p:xfrm>
              <a:off x="1365749" y="1651875"/>
              <a:ext cx="8106498" cy="986282"/>
            </p:xfrm>
            <a:graphic>
              <a:graphicData uri="http://schemas.openxmlformats.org/drawingml/2006/table">
                <a:tbl>
                  <a:tblPr firstRow="1" firstCol="1" bandRow="1"/>
                  <a:tblGrid>
                    <a:gridCol w="2210935">
                      <a:extLst>
                        <a:ext uri="{9D8B030D-6E8A-4147-A177-3AD203B41FA5}">
                          <a16:colId xmlns:a16="http://schemas.microsoft.com/office/drawing/2014/main" val="20000"/>
                        </a:ext>
                      </a:extLst>
                    </a:gridCol>
                    <a:gridCol w="2093006">
                      <a:extLst>
                        <a:ext uri="{9D8B030D-6E8A-4147-A177-3AD203B41FA5}">
                          <a16:colId xmlns:a16="http://schemas.microsoft.com/office/drawing/2014/main" val="20001"/>
                        </a:ext>
                      </a:extLst>
                    </a:gridCol>
                    <a:gridCol w="1860278">
                      <a:extLst>
                        <a:ext uri="{9D8B030D-6E8A-4147-A177-3AD203B41FA5}">
                          <a16:colId xmlns:a16="http://schemas.microsoft.com/office/drawing/2014/main" val="20002"/>
                        </a:ext>
                      </a:extLst>
                    </a:gridCol>
                    <a:gridCol w="1942279">
                      <a:extLst>
                        <a:ext uri="{9D8B030D-6E8A-4147-A177-3AD203B41FA5}">
                          <a16:colId xmlns:a16="http://schemas.microsoft.com/office/drawing/2014/main" val="20003"/>
                        </a:ext>
                      </a:extLst>
                    </a:gridCol>
                  </a:tblGrid>
                  <a:tr h="304800">
                    <a:tc>
                      <a:txBody>
                        <a:bodyPr/>
                        <a:lstStyle/>
                        <a:p>
                          <a:pPr marL="0" marR="0" algn="ctr">
                            <a:spcBef>
                              <a:spcPts val="0"/>
                            </a:spcBef>
                            <a:spcAft>
                              <a:spcPts val="0"/>
                            </a:spcAft>
                          </a:pPr>
                          <a:r>
                            <a:rPr lang="en-US" sz="2000" b="1">
                              <a:effectLst/>
                              <a:latin typeface="Verdana" charset="0"/>
                              <a:ea typeface="Verdana" charset="0"/>
                              <a:cs typeface="Verdana" charset="0"/>
                            </a:rPr>
                            <a:t>Triangle</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Short Leg</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Long Leg</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Hypotenuse</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40741">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75" t="-114815" r="-267816" b="-107407"/>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6061" t="-114815" r="-182424" b="-107407"/>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31293" t="-114815" r="-104762" b="-107407"/>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18301" t="-114815" r="-654" b="-107407"/>
                          </a:stretch>
                        </a:blipFill>
                      </a:tcPr>
                    </a:tc>
                    <a:extLst>
                      <a:ext uri="{0D108BD9-81ED-4DB2-BD59-A6C34878D82A}">
                        <a16:rowId xmlns:a16="http://schemas.microsoft.com/office/drawing/2014/main" val="10001"/>
                      </a:ext>
                    </a:extLst>
                  </a:tr>
                  <a:tr h="340741">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75" t="-214815" r="-267816" b="-7407"/>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6061" t="-214815" r="-182424" b="-7407"/>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31293" t="-214815" r="-104762" b="-7407"/>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18301" t="-214815" r="-654" b="-7407"/>
                          </a:stretch>
                        </a:blipFill>
                      </a:tcPr>
                    </a:tc>
                    <a:extLst>
                      <a:ext uri="{0D108BD9-81ED-4DB2-BD59-A6C34878D82A}">
                        <a16:rowId xmlns:a16="http://schemas.microsoft.com/office/drawing/2014/main" val="10002"/>
                      </a:ext>
                    </a:extLst>
                  </a:tr>
                </a:tbl>
              </a:graphicData>
            </a:graphic>
          </p:graphicFrame>
        </mc:Fallback>
      </mc:AlternateContent>
      <p:graphicFrame>
        <p:nvGraphicFramePr>
          <p:cNvPr id="3" name="Table 2"/>
          <p:cNvGraphicFramePr>
            <a:graphicFrameLocks noGrp="1"/>
          </p:cNvGraphicFramePr>
          <p:nvPr>
            <p:extLst>
              <p:ext uri="{D42A27DB-BD31-4B8C-83A1-F6EECF244321}">
                <p14:modId xmlns:p14="http://schemas.microsoft.com/office/powerpoint/2010/main" val="2326678421"/>
              </p:ext>
            </p:extLst>
          </p:nvPr>
        </p:nvGraphicFramePr>
        <p:xfrm>
          <a:off x="1365751" y="4249500"/>
          <a:ext cx="6567170" cy="1913250"/>
        </p:xfrm>
        <a:graphic>
          <a:graphicData uri="http://schemas.openxmlformats.org/drawingml/2006/table">
            <a:tbl>
              <a:tblPr firstRow="1" firstCol="1" bandRow="1"/>
              <a:tblGrid>
                <a:gridCol w="3283585">
                  <a:extLst>
                    <a:ext uri="{9D8B030D-6E8A-4147-A177-3AD203B41FA5}">
                      <a16:colId xmlns:a16="http://schemas.microsoft.com/office/drawing/2014/main" val="20000"/>
                    </a:ext>
                  </a:extLst>
                </a:gridCol>
                <a:gridCol w="3283585">
                  <a:extLst>
                    <a:ext uri="{9D8B030D-6E8A-4147-A177-3AD203B41FA5}">
                      <a16:colId xmlns:a16="http://schemas.microsoft.com/office/drawing/2014/main" val="20001"/>
                    </a:ext>
                  </a:extLst>
                </a:gridCol>
              </a:tblGrid>
              <a:tr h="268075">
                <a:tc>
                  <a:txBody>
                    <a:bodyPr/>
                    <a:lstStyle/>
                    <a:p>
                      <a:pPr marL="0" marR="0" algn="ctr">
                        <a:spcBef>
                          <a:spcPts val="0"/>
                        </a:spcBef>
                        <a:spcAft>
                          <a:spcPts val="0"/>
                        </a:spcAft>
                      </a:pPr>
                      <a:r>
                        <a:rPr lang="en-US" sz="2000" b="1">
                          <a:effectLst/>
                          <a:latin typeface="Verdana" charset="0"/>
                          <a:ea typeface="Verdana" charset="0"/>
                          <a:cs typeface="Verdana" charset="0"/>
                        </a:rPr>
                        <a:t>Sides</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Relationship</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804225">
                <a:tc>
                  <a:txBody>
                    <a:bodyPr/>
                    <a:lstStyle/>
                    <a:p>
                      <a:pPr marL="0" marR="0" algn="ctr">
                        <a:spcBef>
                          <a:spcPts val="0"/>
                        </a:spcBef>
                        <a:spcAft>
                          <a:spcPts val="0"/>
                        </a:spcAft>
                      </a:pPr>
                      <a:r>
                        <a:rPr lang="en-US" sz="2000">
                          <a:effectLst/>
                          <a:latin typeface="Verdana" charset="0"/>
                          <a:ea typeface="Verdana" charset="0"/>
                          <a:cs typeface="Verdana" charset="0"/>
                        </a:rPr>
                        <a:t>short leg and hypotenuse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04225">
                <a:tc>
                  <a:txBody>
                    <a:bodyPr/>
                    <a:lstStyle/>
                    <a:p>
                      <a:pPr marL="0" marR="0" algn="ctr">
                        <a:spcBef>
                          <a:spcPts val="0"/>
                        </a:spcBef>
                        <a:spcAft>
                          <a:spcPts val="0"/>
                        </a:spcAft>
                      </a:pPr>
                      <a:r>
                        <a:rPr lang="en-US" sz="2000" dirty="0">
                          <a:effectLst/>
                          <a:latin typeface="Verdana" charset="0"/>
                          <a:ea typeface="Verdana" charset="0"/>
                          <a:cs typeface="Verdana" charset="0"/>
                        </a:rPr>
                        <a:t>short leg and long leg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08118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377"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45151"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3" y="520517"/>
                <a:ext cx="8327136" cy="400110"/>
              </a:xfrm>
              <a:prstGeom prst="rect">
                <a:avLst/>
              </a:prstGeom>
              <a:noFill/>
            </p:spPr>
            <p:txBody>
              <a:bodyPr wrap="square" rtlCol="0">
                <a:spAutoFit/>
              </a:bodyPr>
              <a:lstStyle/>
              <a:p>
                <a:pPr marL="525463" indent="-511175">
                  <a:buFont typeface="+mj-lt"/>
                  <a:buAutoNum type="arabicPeriod" startAt="10"/>
                </a:pPr>
                <a:r>
                  <a:rPr lang="en-US" sz="2000" dirty="0">
                    <a:latin typeface="Verdana" charset="0"/>
                    <a:ea typeface="Verdana" charset="0"/>
                    <a:cs typeface="Verdana" charset="0"/>
                  </a:rPr>
                  <a:t>The table below includes three </a:t>
                </a:r>
                <a14:m>
                  <m:oMath xmlns:m="http://schemas.openxmlformats.org/officeDocument/2006/math">
                    <m:r>
                      <a:rPr lang="en-US" sz="2000" i="1">
                        <a:latin typeface="Cambria Math" charset="0"/>
                        <a:ea typeface="Verdana" charset="0"/>
                        <a:cs typeface="Verdana" charset="0"/>
                      </a:rPr>
                      <m:t>30−60−90</m:t>
                    </m:r>
                  </m:oMath>
                </a14:m>
                <a:r>
                  <a:rPr lang="en-US" sz="2000" dirty="0">
                    <a:latin typeface="Verdana" charset="0"/>
                    <a:ea typeface="Verdana" charset="0"/>
                    <a:cs typeface="Verdana" charset="0"/>
                  </a:rPr>
                  <a:t> triangles.</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3" y="520517"/>
                <a:ext cx="8327136" cy="400110"/>
              </a:xfrm>
              <a:prstGeom prst="rect">
                <a:avLst/>
              </a:prstGeom>
              <a:blipFill>
                <a:blip r:embed="rId4"/>
                <a:stretch>
                  <a:fillRect l="-659" t="-9091" b="-2727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760BDC3-AF44-C94E-BD05-E61FF805DD32}"/>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918784154"/>
                  </p:ext>
                </p:extLst>
              </p:nvPr>
            </p:nvGraphicFramePr>
            <p:xfrm>
              <a:off x="760934" y="1203994"/>
              <a:ext cx="7677884" cy="4441911"/>
            </p:xfrm>
            <a:graphic>
              <a:graphicData uri="http://schemas.openxmlformats.org/drawingml/2006/table">
                <a:tbl>
                  <a:tblPr firstRow="1" firstCol="1" bandRow="1"/>
                  <a:tblGrid>
                    <a:gridCol w="2444632">
                      <a:extLst>
                        <a:ext uri="{9D8B030D-6E8A-4147-A177-3AD203B41FA5}">
                          <a16:colId xmlns:a16="http://schemas.microsoft.com/office/drawing/2014/main" val="20000"/>
                        </a:ext>
                      </a:extLst>
                    </a:gridCol>
                    <a:gridCol w="5233252">
                      <a:extLst>
                        <a:ext uri="{9D8B030D-6E8A-4147-A177-3AD203B41FA5}">
                          <a16:colId xmlns:a16="http://schemas.microsoft.com/office/drawing/2014/main" val="20001"/>
                        </a:ext>
                      </a:extLst>
                    </a:gridCol>
                  </a:tblGrid>
                  <a:tr h="444191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charset="0"/>
                                    <a:ea typeface="Verdana" charset="0"/>
                                    <a:cs typeface="Verdana" charset="0"/>
                                  </a:rPr>
                                  <m:t>∆</m:t>
                                </m:r>
                                <m:r>
                                  <a:rPr lang="en-US" sz="2000" b="1" i="1">
                                    <a:effectLst/>
                                    <a:latin typeface="Cambria Math" charset="0"/>
                                    <a:ea typeface="Verdana" charset="0"/>
                                    <a:cs typeface="Verdana" charset="0"/>
                                  </a:rPr>
                                  <m:t>𝑲𝑩𝑳</m:t>
                                </m:r>
                              </m:oMath>
                            </m:oMathPara>
                          </a14:m>
                          <a:endParaRPr lang="en-US" sz="2000">
                            <a:effectLst/>
                            <a:latin typeface="Verdana" charset="0"/>
                            <a:ea typeface="Verdana" charset="0"/>
                            <a:cs typeface="Verdana" charset="0"/>
                          </a:endParaRPr>
                        </a:p>
                      </a:txBody>
                      <a:tcPr marL="33644" marR="336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endParaRPr lang="en-US" sz="2000" dirty="0">
                            <a:effectLst/>
                            <a:latin typeface="Verdana" charset="0"/>
                            <a:ea typeface="Verdana" charset="0"/>
                            <a:cs typeface="Verdana" charset="0"/>
                          </a:endParaRPr>
                        </a:p>
                      </a:txBody>
                      <a:tcPr marL="33644" marR="336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918784154"/>
                  </p:ext>
                </p:extLst>
              </p:nvPr>
            </p:nvGraphicFramePr>
            <p:xfrm>
              <a:off x="760934" y="1203994"/>
              <a:ext cx="7677884" cy="4441911"/>
            </p:xfrm>
            <a:graphic>
              <a:graphicData uri="http://schemas.openxmlformats.org/drawingml/2006/table">
                <a:tbl>
                  <a:tblPr firstRow="1" firstCol="1" bandRow="1"/>
                  <a:tblGrid>
                    <a:gridCol w="2444632">
                      <a:extLst>
                        <a:ext uri="{9D8B030D-6E8A-4147-A177-3AD203B41FA5}">
                          <a16:colId xmlns:a16="http://schemas.microsoft.com/office/drawing/2014/main" val="20000"/>
                        </a:ext>
                      </a:extLst>
                    </a:gridCol>
                    <a:gridCol w="5233252">
                      <a:extLst>
                        <a:ext uri="{9D8B030D-6E8A-4147-A177-3AD203B41FA5}">
                          <a16:colId xmlns:a16="http://schemas.microsoft.com/office/drawing/2014/main" val="20001"/>
                        </a:ext>
                      </a:extLst>
                    </a:gridCol>
                  </a:tblGrid>
                  <a:tr h="4441911">
                    <a:tc>
                      <a:txBody>
                        <a:bodyPr/>
                        <a:lstStyle/>
                        <a:p>
                          <a:endParaRPr lang="en-US"/>
                        </a:p>
                      </a:txBody>
                      <a:tcPr marL="33644" marR="336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49" t="-137" r="-214179" b="-274"/>
                          </a:stretch>
                        </a:blipFill>
                      </a:tcPr>
                    </a:tc>
                    <a:tc>
                      <a:txBody>
                        <a:bodyPr/>
                        <a:lstStyle/>
                        <a:p>
                          <a:pPr marL="0" marR="0" algn="ctr">
                            <a:spcBef>
                              <a:spcPts val="0"/>
                            </a:spcBef>
                            <a:spcAft>
                              <a:spcPts val="0"/>
                            </a:spcAft>
                          </a:pPr>
                          <a:endParaRPr lang="en-US" sz="2000" dirty="0">
                            <a:effectLst/>
                            <a:latin typeface="Verdana" charset="0"/>
                            <a:ea typeface="Verdana" charset="0"/>
                            <a:cs typeface="Verdana" charset="0"/>
                          </a:endParaRPr>
                        </a:p>
                      </a:txBody>
                      <a:tcPr marL="33644" marR="336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Fallback>
      </mc:AlternateContent>
      <p:pic>
        <p:nvPicPr>
          <p:cNvPr id="3" name="Picture 2"/>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3519628" y="2053212"/>
            <a:ext cx="4570381" cy="2667257"/>
          </a:xfrm>
          <a:prstGeom prst="rect">
            <a:avLst/>
          </a:prstGeom>
        </p:spPr>
      </p:pic>
    </p:spTree>
    <p:extLst>
      <p:ext uri="{BB962C8B-B14F-4D97-AF65-F5344CB8AC3E}">
        <p14:creationId xmlns:p14="http://schemas.microsoft.com/office/powerpoint/2010/main" val="1572999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404</a:t>
            </a:r>
          </a:p>
        </p:txBody>
      </p:sp>
      <p:sp>
        <p:nvSpPr>
          <p:cNvPr id="6" name="Google Shape;278;g104476d1465_1_17">
            <a:extLst>
              <a:ext uri="{FF2B5EF4-FFF2-40B4-BE49-F238E27FC236}">
                <a16:creationId xmlns:a16="http://schemas.microsoft.com/office/drawing/2014/main" id="{6760BDC3-AF44-C94E-BD05-E61FF805DD32}"/>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787482031"/>
                  </p:ext>
                </p:extLst>
              </p:nvPr>
            </p:nvGraphicFramePr>
            <p:xfrm>
              <a:off x="760934" y="335366"/>
              <a:ext cx="7677884" cy="5714320"/>
            </p:xfrm>
            <a:graphic>
              <a:graphicData uri="http://schemas.openxmlformats.org/drawingml/2006/table">
                <a:tbl>
                  <a:tblPr firstRow="1" firstCol="1" bandRow="1"/>
                  <a:tblGrid>
                    <a:gridCol w="2444632">
                      <a:extLst>
                        <a:ext uri="{9D8B030D-6E8A-4147-A177-3AD203B41FA5}">
                          <a16:colId xmlns:a16="http://schemas.microsoft.com/office/drawing/2014/main" val="20000"/>
                        </a:ext>
                      </a:extLst>
                    </a:gridCol>
                    <a:gridCol w="5233252">
                      <a:extLst>
                        <a:ext uri="{9D8B030D-6E8A-4147-A177-3AD203B41FA5}">
                          <a16:colId xmlns:a16="http://schemas.microsoft.com/office/drawing/2014/main" val="20001"/>
                        </a:ext>
                      </a:extLst>
                    </a:gridCol>
                  </a:tblGrid>
                  <a:tr h="2837256">
                    <a:tc>
                      <a:txBody>
                        <a:bodyPr/>
                        <a:lstStyle/>
                        <a:p>
                          <a:pPr marL="0" marR="0" algn="ctr">
                            <a:spcBef>
                              <a:spcPts val="0"/>
                            </a:spcBef>
                            <a:spcAft>
                              <a:spcPts val="0"/>
                            </a:spcAft>
                          </a:pPr>
                          <a14:m>
                            <m:oMath xmlns:m="http://schemas.openxmlformats.org/officeDocument/2006/math">
                              <m:r>
                                <a:rPr lang="en-US" sz="2000" b="1" i="1">
                                  <a:effectLst/>
                                  <a:latin typeface="Cambria Math" charset="0"/>
                                  <a:ea typeface="Verdana" charset="0"/>
                                  <a:cs typeface="Verdana" charset="0"/>
                                </a:rPr>
                                <m:t>∆</m:t>
                              </m:r>
                              <m:r>
                                <a:rPr lang="en-US" sz="2000" b="1" i="1">
                                  <a:effectLst/>
                                  <a:latin typeface="Cambria Math" charset="0"/>
                                  <a:ea typeface="Verdana" charset="0"/>
                                  <a:cs typeface="Verdana" charset="0"/>
                                </a:rPr>
                                <m:t>𝑽𝑯𝑲</m:t>
                              </m:r>
                            </m:oMath>
                          </a14:m>
                          <a:r>
                            <a:rPr lang="en-US" sz="2000" dirty="0">
                              <a:effectLst/>
                              <a:latin typeface="Verdana" charset="0"/>
                              <a:ea typeface="Verdana" charset="0"/>
                              <a:cs typeface="Verdana" charset="0"/>
                            </a:rPr>
                            <a:t> </a:t>
                          </a:r>
                        </a:p>
                      </a:txBody>
                      <a:tcPr marL="33644" marR="336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endParaRPr lang="en-US" sz="2000" dirty="0">
                            <a:effectLst/>
                            <a:latin typeface="Verdana" charset="0"/>
                            <a:ea typeface="Verdana" charset="0"/>
                            <a:cs typeface="Verdana" charset="0"/>
                          </a:endParaRPr>
                        </a:p>
                        <a:p>
                          <a:pPr marL="0" marR="0">
                            <a:spcBef>
                              <a:spcPts val="0"/>
                            </a:spcBef>
                            <a:spcAft>
                              <a:spcPts val="0"/>
                            </a:spcAft>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33644" marR="336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87706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charset="0"/>
                                    <a:ea typeface="Verdana" charset="0"/>
                                    <a:cs typeface="Verdana" charset="0"/>
                                  </a:rPr>
                                  <m:t>∆</m:t>
                                </m:r>
                                <m:r>
                                  <a:rPr lang="en-US" sz="2000" b="1" i="1">
                                    <a:effectLst/>
                                    <a:latin typeface="Cambria Math" charset="0"/>
                                    <a:ea typeface="Verdana" charset="0"/>
                                    <a:cs typeface="Verdana" charset="0"/>
                                  </a:rPr>
                                  <m:t>𝑯𝑹𝒀</m:t>
                                </m:r>
                              </m:oMath>
                            </m:oMathPara>
                          </a14:m>
                          <a:endParaRPr lang="en-US" sz="2000" dirty="0">
                            <a:effectLst/>
                            <a:latin typeface="Verdana" charset="0"/>
                            <a:ea typeface="Verdana" charset="0"/>
                            <a:cs typeface="Verdana" charset="0"/>
                          </a:endParaRPr>
                        </a:p>
                      </a:txBody>
                      <a:tcPr marL="33644" marR="336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endParaRPr lang="en-US" sz="2000" dirty="0">
                            <a:effectLst/>
                            <a:latin typeface="Verdana" charset="0"/>
                            <a:ea typeface="Verdana" charset="0"/>
                            <a:cs typeface="Verdana" charset="0"/>
                          </a:endParaRPr>
                        </a:p>
                        <a:p>
                          <a:pPr marL="0" marR="0">
                            <a:spcBef>
                              <a:spcPts val="0"/>
                            </a:spcBef>
                            <a:spcAft>
                              <a:spcPts val="1000"/>
                            </a:spcAft>
                          </a:pPr>
                          <a:endParaRPr lang="en-US" sz="2000" dirty="0">
                            <a:effectLst/>
                            <a:latin typeface="Verdana" charset="0"/>
                            <a:ea typeface="Verdana" charset="0"/>
                            <a:cs typeface="Verdana" charset="0"/>
                          </a:endParaRPr>
                        </a:p>
                      </a:txBody>
                      <a:tcPr marL="33644" marR="336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787482031"/>
                  </p:ext>
                </p:extLst>
              </p:nvPr>
            </p:nvGraphicFramePr>
            <p:xfrm>
              <a:off x="760934" y="335366"/>
              <a:ext cx="7677884" cy="5714320"/>
            </p:xfrm>
            <a:graphic>
              <a:graphicData uri="http://schemas.openxmlformats.org/drawingml/2006/table">
                <a:tbl>
                  <a:tblPr firstRow="1" firstCol="1" bandRow="1"/>
                  <a:tblGrid>
                    <a:gridCol w="2444632">
                      <a:extLst>
                        <a:ext uri="{9D8B030D-6E8A-4147-A177-3AD203B41FA5}">
                          <a16:colId xmlns:a16="http://schemas.microsoft.com/office/drawing/2014/main" val="20000"/>
                        </a:ext>
                      </a:extLst>
                    </a:gridCol>
                    <a:gridCol w="5233252">
                      <a:extLst>
                        <a:ext uri="{9D8B030D-6E8A-4147-A177-3AD203B41FA5}">
                          <a16:colId xmlns:a16="http://schemas.microsoft.com/office/drawing/2014/main" val="20001"/>
                        </a:ext>
                      </a:extLst>
                    </a:gridCol>
                  </a:tblGrid>
                  <a:tr h="2837256">
                    <a:tc>
                      <a:txBody>
                        <a:bodyPr/>
                        <a:lstStyle/>
                        <a:p>
                          <a:endParaRPr lang="en-US"/>
                        </a:p>
                      </a:txBody>
                      <a:tcPr marL="33644" marR="336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9" t="-429" r="-214179" b="-101717"/>
                          </a:stretch>
                        </a:blipFill>
                      </a:tcPr>
                    </a:tc>
                    <a:tc>
                      <a:txBody>
                        <a:bodyPr/>
                        <a:lstStyle/>
                        <a:p>
                          <a:pPr marL="0" marR="0" algn="ctr">
                            <a:spcBef>
                              <a:spcPts val="0"/>
                            </a:spcBef>
                            <a:spcAft>
                              <a:spcPts val="0"/>
                            </a:spcAft>
                          </a:pPr>
                          <a:endParaRPr lang="en-US" sz="2000" dirty="0">
                            <a:effectLst/>
                            <a:latin typeface="Verdana" charset="0"/>
                            <a:ea typeface="Verdana" charset="0"/>
                            <a:cs typeface="Verdana" charset="0"/>
                          </a:endParaRPr>
                        </a:p>
                        <a:p>
                          <a:pPr marL="0" marR="0">
                            <a:spcBef>
                              <a:spcPts val="0"/>
                            </a:spcBef>
                            <a:spcAft>
                              <a:spcPts val="0"/>
                            </a:spcAft>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33644" marR="336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877064">
                    <a:tc>
                      <a:txBody>
                        <a:bodyPr/>
                        <a:lstStyle/>
                        <a:p>
                          <a:endParaRPr lang="en-US"/>
                        </a:p>
                      </a:txBody>
                      <a:tcPr marL="33644" marR="336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9" t="-99153" r="-214179" b="-424"/>
                          </a:stretch>
                        </a:blipFill>
                      </a:tcPr>
                    </a:tc>
                    <a:tc>
                      <a:txBody>
                        <a:bodyPr/>
                        <a:lstStyle/>
                        <a:p>
                          <a:pPr marL="0" marR="0" algn="ctr">
                            <a:spcBef>
                              <a:spcPts val="0"/>
                            </a:spcBef>
                            <a:spcAft>
                              <a:spcPts val="0"/>
                            </a:spcAft>
                          </a:pPr>
                          <a:endParaRPr lang="en-US" sz="2000" dirty="0">
                            <a:effectLst/>
                            <a:latin typeface="Verdana" charset="0"/>
                            <a:ea typeface="Verdana" charset="0"/>
                            <a:cs typeface="Verdana" charset="0"/>
                          </a:endParaRPr>
                        </a:p>
                        <a:p>
                          <a:pPr marL="0" marR="0">
                            <a:spcBef>
                              <a:spcPts val="0"/>
                            </a:spcBef>
                            <a:spcAft>
                              <a:spcPts val="1000"/>
                            </a:spcAft>
                          </a:pPr>
                          <a:endParaRPr lang="en-US" sz="2000" dirty="0">
                            <a:effectLst/>
                            <a:latin typeface="Verdana" charset="0"/>
                            <a:ea typeface="Verdana" charset="0"/>
                            <a:cs typeface="Verdana" charset="0"/>
                          </a:endParaRPr>
                        </a:p>
                      </a:txBody>
                      <a:tcPr marL="33644" marR="336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Fallback>
      </mc:AlternateContent>
      <p:pic>
        <p:nvPicPr>
          <p:cNvPr id="15" name="Picture 14"/>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185568" y="3195103"/>
            <a:ext cx="2818236" cy="2740873"/>
          </a:xfrm>
          <a:prstGeom prst="rect">
            <a:avLst/>
          </a:prstGeom>
        </p:spPr>
      </p:pic>
      <p:pic>
        <p:nvPicPr>
          <p:cNvPr id="16" name="Picture 15"/>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680306" y="348723"/>
            <a:ext cx="1852896" cy="2766652"/>
          </a:xfrm>
          <a:prstGeom prst="rect">
            <a:avLst/>
          </a:prstGeom>
        </p:spPr>
      </p:pic>
    </p:spTree>
    <p:extLst>
      <p:ext uri="{BB962C8B-B14F-4D97-AF65-F5344CB8AC3E}">
        <p14:creationId xmlns:p14="http://schemas.microsoft.com/office/powerpoint/2010/main" val="1378302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2" y="520517"/>
                <a:ext cx="11026091" cy="1323439"/>
              </a:xfrm>
              <a:prstGeom prst="rect">
                <a:avLst/>
              </a:prstGeom>
              <a:noFill/>
            </p:spPr>
            <p:txBody>
              <a:bodyPr wrap="square" rtlCol="0">
                <a:spAutoFit/>
              </a:bodyPr>
              <a:lstStyle/>
              <a:p>
                <a:r>
                  <a:rPr lang="en-US" sz="2000" dirty="0">
                    <a:latin typeface="Verdana" charset="0"/>
                    <a:ea typeface="Verdana" charset="0"/>
                    <a:cs typeface="Verdana" charset="0"/>
                  </a:rPr>
                  <a:t>Discuss with your partner the relationships between the sides of a </a:t>
                </a:r>
                <a14:m>
                  <m:oMath xmlns:m="http://schemas.openxmlformats.org/officeDocument/2006/math">
                    <m:r>
                      <a:rPr lang="en-US" sz="2000" i="1">
                        <a:latin typeface="Cambria Math" charset="0"/>
                        <a:ea typeface="Verdana" charset="0"/>
                        <a:cs typeface="Verdana" charset="0"/>
                      </a:rPr>
                      <m:t>30−60−90</m:t>
                    </m:r>
                  </m:oMath>
                </a14:m>
                <a:r>
                  <a:rPr lang="en-US" sz="2000" dirty="0">
                    <a:latin typeface="Verdana" charset="0"/>
                    <a:ea typeface="Verdana" charset="0"/>
                    <a:cs typeface="Verdana" charset="0"/>
                  </a:rPr>
                  <a:t> triangle in the table. Complete the table by showing how the short side of each of the triangles can be used to determine the long side and the hypotenuse. Write the final length as an exact value.</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2" y="520517"/>
                <a:ext cx="11026091" cy="1323439"/>
              </a:xfrm>
              <a:prstGeom prst="rect">
                <a:avLst/>
              </a:prstGeom>
              <a:blipFill>
                <a:blip r:embed="rId4"/>
                <a:stretch>
                  <a:fillRect l="-608" t="-2304" b="-737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760BDC3-AF44-C94E-BD05-E61FF805DD32}"/>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261218662"/>
                  </p:ext>
                </p:extLst>
              </p:nvPr>
            </p:nvGraphicFramePr>
            <p:xfrm>
              <a:off x="751883" y="2000349"/>
              <a:ext cx="8977946" cy="3899006"/>
            </p:xfrm>
            <a:graphic>
              <a:graphicData uri="http://schemas.openxmlformats.org/drawingml/2006/table">
                <a:tbl>
                  <a:tblPr firstRow="1" firstCol="1" bandRow="1"/>
                  <a:tblGrid>
                    <a:gridCol w="1547425">
                      <a:extLst>
                        <a:ext uri="{9D8B030D-6E8A-4147-A177-3AD203B41FA5}">
                          <a16:colId xmlns:a16="http://schemas.microsoft.com/office/drawing/2014/main" val="20000"/>
                        </a:ext>
                      </a:extLst>
                    </a:gridCol>
                    <a:gridCol w="1329752">
                      <a:extLst>
                        <a:ext uri="{9D8B030D-6E8A-4147-A177-3AD203B41FA5}">
                          <a16:colId xmlns:a16="http://schemas.microsoft.com/office/drawing/2014/main" val="20001"/>
                        </a:ext>
                      </a:extLst>
                    </a:gridCol>
                    <a:gridCol w="3104168">
                      <a:extLst>
                        <a:ext uri="{9D8B030D-6E8A-4147-A177-3AD203B41FA5}">
                          <a16:colId xmlns:a16="http://schemas.microsoft.com/office/drawing/2014/main" val="20002"/>
                        </a:ext>
                      </a:extLst>
                    </a:gridCol>
                    <a:gridCol w="2996601">
                      <a:extLst>
                        <a:ext uri="{9D8B030D-6E8A-4147-A177-3AD203B41FA5}">
                          <a16:colId xmlns:a16="http://schemas.microsoft.com/office/drawing/2014/main" val="20003"/>
                        </a:ext>
                      </a:extLst>
                    </a:gridCol>
                  </a:tblGrid>
                  <a:tr h="672515">
                    <a:tc>
                      <a:txBody>
                        <a:bodyPr/>
                        <a:lstStyle/>
                        <a:p>
                          <a:pPr marL="0" marR="0" algn="ctr">
                            <a:spcBef>
                              <a:spcPts val="0"/>
                            </a:spcBef>
                            <a:spcAft>
                              <a:spcPts val="0"/>
                            </a:spcAft>
                          </a:pPr>
                          <a:r>
                            <a:rPr lang="en-US" sz="2200" b="1">
                              <a:effectLst/>
                              <a:latin typeface="Verdana" charset="0"/>
                              <a:ea typeface="Verdana" charset="0"/>
                              <a:cs typeface="Verdana" charset="0"/>
                            </a:rPr>
                            <a:t>Triangle</a:t>
                          </a:r>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200" b="1">
                              <a:effectLst/>
                              <a:latin typeface="Verdana" charset="0"/>
                              <a:ea typeface="Verdana" charset="0"/>
                              <a:cs typeface="Verdana" charset="0"/>
                            </a:rPr>
                            <a:t>Short Side</a:t>
                          </a:r>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200" b="1">
                              <a:effectLst/>
                              <a:latin typeface="Verdana" charset="0"/>
                              <a:ea typeface="Verdana" charset="0"/>
                              <a:cs typeface="Verdana" charset="0"/>
                            </a:rPr>
                            <a:t>Work to Find the Long Side</a:t>
                          </a:r>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200" b="1" dirty="0">
                              <a:effectLst/>
                              <a:latin typeface="Verdana" charset="0"/>
                              <a:ea typeface="Verdana" charset="0"/>
                              <a:cs typeface="Verdana" charset="0"/>
                            </a:rPr>
                            <a:t>Work to Find the Hypotenuse</a:t>
                          </a:r>
                          <a:endParaRPr lang="en-US" sz="1500" dirty="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07549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200" i="1">
                                    <a:effectLst/>
                                    <a:latin typeface="Cambria Math" charset="0"/>
                                    <a:ea typeface="Verdana" charset="0"/>
                                    <a:cs typeface="Verdana" charset="0"/>
                                  </a:rPr>
                                  <m:t>∆</m:t>
                                </m:r>
                                <m:r>
                                  <a:rPr lang="en-US" sz="2200" i="1">
                                    <a:effectLst/>
                                    <a:latin typeface="Cambria Math" charset="0"/>
                                    <a:ea typeface="Verdana" charset="0"/>
                                    <a:cs typeface="Verdana" charset="0"/>
                                  </a:rPr>
                                  <m:t>𝐾𝐵𝐿</m:t>
                                </m:r>
                              </m:oMath>
                            </m:oMathPara>
                          </a14:m>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200" i="1">
                                    <a:effectLst/>
                                    <a:latin typeface="Cambria Math" charset="0"/>
                                    <a:ea typeface="Verdana" charset="0"/>
                                    <a:cs typeface="Verdana" charset="0"/>
                                  </a:rPr>
                                  <m:t>4</m:t>
                                </m:r>
                                <m:rad>
                                  <m:radPr>
                                    <m:degHide m:val="on"/>
                                    <m:ctrlPr>
                                      <a:rPr lang="en-US" sz="2200" i="1">
                                        <a:effectLst/>
                                        <a:latin typeface="Cambria Math" panose="02040503050406030204" pitchFamily="18" charset="0"/>
                                        <a:ea typeface="Verdana" charset="0"/>
                                        <a:cs typeface="Verdana" charset="0"/>
                                      </a:rPr>
                                    </m:ctrlPr>
                                  </m:radPr>
                                  <m:deg/>
                                  <m:e>
                                    <m:r>
                                      <a:rPr lang="en-US" sz="2200" i="1">
                                        <a:effectLst/>
                                        <a:latin typeface="Cambria Math" charset="0"/>
                                        <a:ea typeface="Verdana" charset="0"/>
                                        <a:cs typeface="Verdana" charset="0"/>
                                      </a:rPr>
                                      <m:t>3</m:t>
                                    </m:r>
                                  </m:e>
                                </m:rad>
                              </m:oMath>
                            </m:oMathPara>
                          </a14:m>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dirty="0">
                              <a:effectLst/>
                              <a:latin typeface="Verdana" charset="0"/>
                              <a:ea typeface="Verdana" charset="0"/>
                              <a:cs typeface="Verdana" charset="0"/>
                            </a:rPr>
                            <a:t> </a:t>
                          </a:r>
                          <a:endParaRPr lang="en-US" sz="1500" dirty="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7549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200" i="1">
                                    <a:effectLst/>
                                    <a:latin typeface="Cambria Math" charset="0"/>
                                    <a:ea typeface="Verdana" charset="0"/>
                                    <a:cs typeface="Verdana" charset="0"/>
                                  </a:rPr>
                                  <m:t>∆</m:t>
                                </m:r>
                                <m:r>
                                  <a:rPr lang="en-US" sz="2200" i="1">
                                    <a:effectLst/>
                                    <a:latin typeface="Cambria Math" charset="0"/>
                                    <a:ea typeface="Verdana" charset="0"/>
                                    <a:cs typeface="Verdana" charset="0"/>
                                  </a:rPr>
                                  <m:t>𝑉𝐻𝐾</m:t>
                                </m:r>
                              </m:oMath>
                            </m:oMathPara>
                          </a14:m>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200" i="1">
                                        <a:effectLst/>
                                        <a:latin typeface="Cambria Math" panose="02040503050406030204" pitchFamily="18" charset="0"/>
                                        <a:ea typeface="Verdana" charset="0"/>
                                        <a:cs typeface="Verdana" charset="0"/>
                                      </a:rPr>
                                    </m:ctrlPr>
                                  </m:fPr>
                                  <m:num>
                                    <m:r>
                                      <a:rPr lang="en-US" sz="2200" i="1">
                                        <a:effectLst/>
                                        <a:latin typeface="Cambria Math" charset="0"/>
                                        <a:ea typeface="Verdana" charset="0"/>
                                        <a:cs typeface="Verdana" charset="0"/>
                                      </a:rPr>
                                      <m:t>7</m:t>
                                    </m:r>
                                  </m:num>
                                  <m:den>
                                    <m:rad>
                                      <m:radPr>
                                        <m:degHide m:val="on"/>
                                        <m:ctrlPr>
                                          <a:rPr lang="en-US" sz="2200" i="1">
                                            <a:effectLst/>
                                            <a:latin typeface="Cambria Math" panose="02040503050406030204" pitchFamily="18" charset="0"/>
                                            <a:ea typeface="Verdana" charset="0"/>
                                            <a:cs typeface="Verdana" charset="0"/>
                                          </a:rPr>
                                        </m:ctrlPr>
                                      </m:radPr>
                                      <m:deg/>
                                      <m:e>
                                        <m:r>
                                          <a:rPr lang="en-US" sz="2200" i="1">
                                            <a:effectLst/>
                                            <a:latin typeface="Cambria Math" charset="0"/>
                                            <a:ea typeface="Verdana" charset="0"/>
                                            <a:cs typeface="Verdana" charset="0"/>
                                          </a:rPr>
                                          <m:t>3</m:t>
                                        </m:r>
                                      </m:e>
                                    </m:rad>
                                  </m:den>
                                </m:f>
                              </m:oMath>
                            </m:oMathPara>
                          </a14:m>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7549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200" i="1">
                                    <a:effectLst/>
                                    <a:latin typeface="Cambria Math" charset="0"/>
                                    <a:ea typeface="Verdana" charset="0"/>
                                    <a:cs typeface="Verdana" charset="0"/>
                                  </a:rPr>
                                  <m:t>∆</m:t>
                                </m:r>
                                <m:r>
                                  <a:rPr lang="en-US" sz="2200" i="1">
                                    <a:effectLst/>
                                    <a:latin typeface="Cambria Math" charset="0"/>
                                    <a:ea typeface="Verdana" charset="0"/>
                                    <a:cs typeface="Verdana" charset="0"/>
                                  </a:rPr>
                                  <m:t>𝐻𝑅𝑌</m:t>
                                </m:r>
                              </m:oMath>
                            </m:oMathPara>
                          </a14:m>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200" i="1">
                                    <a:effectLst/>
                                    <a:latin typeface="Cambria Math" charset="0"/>
                                    <a:ea typeface="Verdana" charset="0"/>
                                    <a:cs typeface="Verdana" charset="0"/>
                                  </a:rPr>
                                  <m:t>2</m:t>
                                </m:r>
                                <m:rad>
                                  <m:radPr>
                                    <m:degHide m:val="on"/>
                                    <m:ctrlPr>
                                      <a:rPr lang="en-US" sz="2200" i="1">
                                        <a:effectLst/>
                                        <a:latin typeface="Cambria Math" panose="02040503050406030204" pitchFamily="18" charset="0"/>
                                        <a:ea typeface="Verdana" charset="0"/>
                                        <a:cs typeface="Verdana" charset="0"/>
                                      </a:rPr>
                                    </m:ctrlPr>
                                  </m:radPr>
                                  <m:deg/>
                                  <m:e>
                                    <m:r>
                                      <a:rPr lang="en-US" sz="2200" i="1">
                                        <a:effectLst/>
                                        <a:latin typeface="Cambria Math" charset="0"/>
                                        <a:ea typeface="Verdana" charset="0"/>
                                        <a:cs typeface="Verdana" charset="0"/>
                                      </a:rPr>
                                      <m:t>7</m:t>
                                    </m:r>
                                  </m:e>
                                </m:rad>
                              </m:oMath>
                            </m:oMathPara>
                          </a14:m>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dirty="0">
                              <a:effectLst/>
                              <a:latin typeface="Verdana" charset="0"/>
                              <a:ea typeface="Verdana" charset="0"/>
                              <a:cs typeface="Verdana" charset="0"/>
                            </a:rPr>
                            <a:t> </a:t>
                          </a:r>
                          <a:endParaRPr lang="en-US" sz="1500" dirty="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261218662"/>
                  </p:ext>
                </p:extLst>
              </p:nvPr>
            </p:nvGraphicFramePr>
            <p:xfrm>
              <a:off x="751883" y="2000349"/>
              <a:ext cx="8977946" cy="3899006"/>
            </p:xfrm>
            <a:graphic>
              <a:graphicData uri="http://schemas.openxmlformats.org/drawingml/2006/table">
                <a:tbl>
                  <a:tblPr firstRow="1" firstCol="1" bandRow="1"/>
                  <a:tblGrid>
                    <a:gridCol w="1547425">
                      <a:extLst>
                        <a:ext uri="{9D8B030D-6E8A-4147-A177-3AD203B41FA5}">
                          <a16:colId xmlns:a16="http://schemas.microsoft.com/office/drawing/2014/main" val="20000"/>
                        </a:ext>
                      </a:extLst>
                    </a:gridCol>
                    <a:gridCol w="1329752">
                      <a:extLst>
                        <a:ext uri="{9D8B030D-6E8A-4147-A177-3AD203B41FA5}">
                          <a16:colId xmlns:a16="http://schemas.microsoft.com/office/drawing/2014/main" val="20001"/>
                        </a:ext>
                      </a:extLst>
                    </a:gridCol>
                    <a:gridCol w="3104168">
                      <a:extLst>
                        <a:ext uri="{9D8B030D-6E8A-4147-A177-3AD203B41FA5}">
                          <a16:colId xmlns:a16="http://schemas.microsoft.com/office/drawing/2014/main" val="20002"/>
                        </a:ext>
                      </a:extLst>
                    </a:gridCol>
                    <a:gridCol w="2996601">
                      <a:extLst>
                        <a:ext uri="{9D8B030D-6E8A-4147-A177-3AD203B41FA5}">
                          <a16:colId xmlns:a16="http://schemas.microsoft.com/office/drawing/2014/main" val="20003"/>
                        </a:ext>
                      </a:extLst>
                    </a:gridCol>
                  </a:tblGrid>
                  <a:tr h="672515">
                    <a:tc>
                      <a:txBody>
                        <a:bodyPr/>
                        <a:lstStyle/>
                        <a:p>
                          <a:pPr marL="0" marR="0" algn="ctr">
                            <a:spcBef>
                              <a:spcPts val="0"/>
                            </a:spcBef>
                            <a:spcAft>
                              <a:spcPts val="0"/>
                            </a:spcAft>
                          </a:pPr>
                          <a:r>
                            <a:rPr lang="en-US" sz="2200" b="1">
                              <a:effectLst/>
                              <a:latin typeface="Verdana" charset="0"/>
                              <a:ea typeface="Verdana" charset="0"/>
                              <a:cs typeface="Verdana" charset="0"/>
                            </a:rPr>
                            <a:t>Triangle</a:t>
                          </a:r>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200" b="1">
                              <a:effectLst/>
                              <a:latin typeface="Verdana" charset="0"/>
                              <a:ea typeface="Verdana" charset="0"/>
                              <a:cs typeface="Verdana" charset="0"/>
                            </a:rPr>
                            <a:t>Short Side</a:t>
                          </a:r>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200" b="1">
                              <a:effectLst/>
                              <a:latin typeface="Verdana" charset="0"/>
                              <a:ea typeface="Verdana" charset="0"/>
                              <a:cs typeface="Verdana" charset="0"/>
                            </a:rPr>
                            <a:t>Work to Find the Long Side</a:t>
                          </a:r>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200" b="1" dirty="0">
                              <a:effectLst/>
                              <a:latin typeface="Verdana" charset="0"/>
                              <a:ea typeface="Verdana" charset="0"/>
                              <a:cs typeface="Verdana" charset="0"/>
                            </a:rPr>
                            <a:t>Work to Find the Hypotenuse</a:t>
                          </a:r>
                          <a:endParaRPr lang="en-US" sz="1500" dirty="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075497">
                    <a:tc>
                      <a:txBody>
                        <a:bodyPr/>
                        <a:lstStyle/>
                        <a:p>
                          <a:endParaRPr lang="en-US"/>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94" t="-69492" r="-481102" b="-200565"/>
                          </a:stretch>
                        </a:blipFill>
                      </a:tcPr>
                    </a:tc>
                    <a:tc>
                      <a:txBody>
                        <a:bodyPr/>
                        <a:lstStyle/>
                        <a:p>
                          <a:endParaRPr lang="en-US"/>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16972" t="-69492" r="-460550" b="-200565"/>
                          </a:stretch>
                        </a:blipFill>
                      </a:tcPr>
                    </a:tc>
                    <a:tc>
                      <a:txBody>
                        <a:bodyPr/>
                        <a:lstStyle/>
                        <a:p>
                          <a:pPr marL="0" marR="0" algn="ctr">
                            <a:spcBef>
                              <a:spcPts val="0"/>
                            </a:spcBef>
                            <a:spcAft>
                              <a:spcPts val="0"/>
                            </a:spcAft>
                          </a:pPr>
                          <a:r>
                            <a:rPr lang="en-US" sz="2200" dirty="0">
                              <a:effectLst/>
                              <a:latin typeface="Verdana" charset="0"/>
                              <a:ea typeface="Verdana" charset="0"/>
                              <a:cs typeface="Verdana" charset="0"/>
                            </a:rPr>
                            <a:t> </a:t>
                          </a:r>
                          <a:endParaRPr lang="en-US" sz="1500" dirty="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75497">
                    <a:tc>
                      <a:txBody>
                        <a:bodyPr/>
                        <a:lstStyle/>
                        <a:p>
                          <a:endParaRPr lang="en-US"/>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94" t="-170455" r="-481102" b="-101705"/>
                          </a:stretch>
                        </a:blipFill>
                      </a:tcPr>
                    </a:tc>
                    <a:tc>
                      <a:txBody>
                        <a:bodyPr/>
                        <a:lstStyle/>
                        <a:p>
                          <a:endParaRPr lang="en-US"/>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16972" t="-170455" r="-460550" b="-101705"/>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75497">
                    <a:tc>
                      <a:txBody>
                        <a:bodyPr/>
                        <a:lstStyle/>
                        <a:p>
                          <a:endParaRPr lang="en-US"/>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94" t="-268927" r="-481102" b="-1130"/>
                          </a:stretch>
                        </a:blipFill>
                      </a:tcPr>
                    </a:tc>
                    <a:tc>
                      <a:txBody>
                        <a:bodyPr/>
                        <a:lstStyle/>
                        <a:p>
                          <a:endParaRPr lang="en-US"/>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16972" t="-268927" r="-460550" b="-1130"/>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50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dirty="0">
                              <a:effectLst/>
                              <a:latin typeface="Verdana" charset="0"/>
                              <a:ea typeface="Verdana" charset="0"/>
                              <a:cs typeface="Verdana" charset="0"/>
                            </a:rPr>
                            <a:t> </a:t>
                          </a:r>
                          <a:endParaRPr lang="en-US" sz="1500" dirty="0">
                            <a:effectLst/>
                            <a:latin typeface="Verdana" charset="0"/>
                            <a:ea typeface="Verdana" charset="0"/>
                            <a:cs typeface="Verdana" charset="0"/>
                          </a:endParaRPr>
                        </a:p>
                      </a:txBody>
                      <a:tcPr marL="75658" marR="756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268255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2" y="520517"/>
                <a:ext cx="11026091" cy="400110"/>
              </a:xfrm>
              <a:prstGeom prst="rect">
                <a:avLst/>
              </a:prstGeom>
              <a:noFill/>
            </p:spPr>
            <p:txBody>
              <a:bodyPr wrap="square" rtlCol="0">
                <a:spAutoFit/>
              </a:bodyPr>
              <a:lstStyle/>
              <a:p>
                <a:pPr marL="576263" indent="-576263">
                  <a:buFont typeface="+mj-lt"/>
                  <a:buAutoNum type="arabicPeriod" startAt="11"/>
                </a:pPr>
                <a:r>
                  <a:rPr lang="en-US" sz="2000" dirty="0">
                    <a:latin typeface="Verdana" charset="0"/>
                    <a:ea typeface="Verdana" charset="0"/>
                    <a:cs typeface="Verdana" charset="0"/>
                  </a:rPr>
                  <a:t>Describe how the triangle shows the relationships in a </a:t>
                </a:r>
                <a14:m>
                  <m:oMath xmlns:m="http://schemas.openxmlformats.org/officeDocument/2006/math">
                    <m:r>
                      <a:rPr lang="en-US" sz="2000" i="1">
                        <a:latin typeface="Cambria Math" charset="0"/>
                        <a:ea typeface="Verdana" charset="0"/>
                        <a:cs typeface="Verdana" charset="0"/>
                      </a:rPr>
                      <m:t>30−60−90</m:t>
                    </m:r>
                  </m:oMath>
                </a14:m>
                <a:r>
                  <a:rPr lang="en-US" sz="2000" dirty="0">
                    <a:latin typeface="Verdana" charset="0"/>
                    <a:ea typeface="Verdana" charset="0"/>
                    <a:cs typeface="Verdana" charset="0"/>
                  </a:rPr>
                  <a:t> triangle.</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2" y="520517"/>
                <a:ext cx="11026091" cy="400110"/>
              </a:xfrm>
              <a:prstGeom prst="rect">
                <a:avLst/>
              </a:prstGeom>
              <a:blipFill>
                <a:blip r:embed="rId4"/>
                <a:stretch>
                  <a:fillRect l="-608" t="-9091" b="-2727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760BDC3-AF44-C94E-BD05-E61FF805DD32}"/>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308851" y="1550751"/>
            <a:ext cx="2705100" cy="4584700"/>
          </a:xfrm>
          <a:prstGeom prst="rect">
            <a:avLst/>
          </a:prstGeom>
        </p:spPr>
      </p:pic>
    </p:spTree>
    <p:extLst>
      <p:ext uri="{BB962C8B-B14F-4D97-AF65-F5344CB8AC3E}">
        <p14:creationId xmlns:p14="http://schemas.microsoft.com/office/powerpoint/2010/main" val="1774416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405</a:t>
            </a:r>
          </a:p>
        </p:txBody>
      </p:sp>
    </p:spTree>
    <p:extLst>
      <p:ext uri="{BB962C8B-B14F-4D97-AF65-F5344CB8AC3E}">
        <p14:creationId xmlns:p14="http://schemas.microsoft.com/office/powerpoint/2010/main" val="872922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09918" y="-85855"/>
            <a:ext cx="1080354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7.6.3 Guided Instruction: 45-45-90 and      30-60-90 Triangles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262618" y="121409"/>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405</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497832" y="4302118"/>
                <a:ext cx="11026091" cy="707886"/>
              </a:xfrm>
              <a:prstGeom prst="rect">
                <a:avLst/>
              </a:prstGeom>
              <a:noFill/>
            </p:spPr>
            <p:txBody>
              <a:bodyPr wrap="square" rtlCol="0">
                <a:spAutoFit/>
              </a:bodyPr>
              <a:lstStyle/>
              <a:p>
                <a:pPr marL="457200" indent="-457200">
                  <a:buFont typeface="+mj-lt"/>
                  <a:buAutoNum type="arabicPeriod"/>
                </a:pPr>
                <a14:m>
                  <m:oMath xmlns:m="http://schemas.openxmlformats.org/officeDocument/2006/math">
                    <m:r>
                      <m:rPr>
                        <m:sty m:val="p"/>
                      </m:rPr>
                      <a:rPr lang="en-US" sz="2000">
                        <a:latin typeface="Cambria Math" panose="02040503050406030204" pitchFamily="18" charset="0"/>
                        <a:ea typeface="Verdana" charset="0"/>
                        <a:cs typeface="Verdana" charset="0"/>
                      </a:rPr>
                      <m:t>Δ</m:t>
                    </m:r>
                    <m:r>
                      <a:rPr lang="en-US" sz="2000" i="1">
                        <a:latin typeface="Cambria Math" panose="02040503050406030204" pitchFamily="18" charset="0"/>
                        <a:ea typeface="Verdana" charset="0"/>
                        <a:cs typeface="Verdana" charset="0"/>
                      </a:rPr>
                      <m:t>𝑍𝑌𝑁</m:t>
                    </m:r>
                  </m:oMath>
                </a14:m>
                <a:r>
                  <a:rPr lang="en-US" sz="2000" dirty="0">
                    <a:latin typeface="Verdana" charset="0"/>
                    <a:ea typeface="Verdana" charset="0"/>
                    <a:cs typeface="Verdana" charset="0"/>
                  </a:rPr>
                  <a:t> has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𝑌𝑍𝑁</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𝑌𝑁𝑍</m:t>
                    </m:r>
                    <m:r>
                      <a:rPr lang="en-US" sz="2000" i="1">
                        <a:latin typeface="Cambria Math" panose="02040503050406030204" pitchFamily="18" charset="0"/>
                        <a:ea typeface="Verdana" charset="0"/>
                        <a:cs typeface="Verdana" charset="0"/>
                      </a:rPr>
                      <m:t>=45°</m:t>
                    </m:r>
                  </m:oMath>
                </a14:m>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𝑍𝑌𝑁</m:t>
                    </m:r>
                    <m:r>
                      <a:rPr lang="en-US" sz="2000" i="1">
                        <a:latin typeface="Cambria Math" panose="02040503050406030204" pitchFamily="18" charset="0"/>
                        <a:ea typeface="Verdana" charset="0"/>
                        <a:cs typeface="Verdana" charset="0"/>
                      </a:rPr>
                      <m:t>=90°</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𝑍𝑁</m:t>
                    </m:r>
                    <m:r>
                      <a:rPr lang="en-US" sz="2000" i="1">
                        <a:latin typeface="Cambria Math" panose="02040503050406030204" pitchFamily="18" charset="0"/>
                        <a:ea typeface="Verdana" charset="0"/>
                        <a:cs typeface="Verdana" charset="0"/>
                      </a:rPr>
                      <m:t>=12</m:t>
                    </m:r>
                  </m:oMath>
                </a14:m>
                <a:r>
                  <a:rPr lang="en-US" sz="2000" dirty="0">
                    <a:latin typeface="Verdana" charset="0"/>
                    <a:ea typeface="Verdana" charset="0"/>
                    <a:cs typeface="Verdana" charset="0"/>
                  </a:rPr>
                  <a:t>. What are the lengths of the legs of the triangle? Leave your answer as an exact answer. </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497832" y="4302118"/>
                <a:ext cx="11026091" cy="707886"/>
              </a:xfrm>
              <a:prstGeom prst="rect">
                <a:avLst/>
              </a:prstGeom>
              <a:blipFill>
                <a:blip r:embed="rId5"/>
                <a:stretch>
                  <a:fillRect l="-553" t="-5172" b="-14655"/>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2B75021C-9817-6449-B54A-E1D9EB71417A}"/>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sp>
            <p:nvSpPr>
              <p:cNvPr id="10" name="Text Box 24"/>
              <p:cNvSpPr txBox="1"/>
              <p:nvPr/>
            </p:nvSpPr>
            <p:spPr>
              <a:xfrm>
                <a:off x="1499628" y="1568129"/>
                <a:ext cx="4930144" cy="1889653"/>
              </a:xfrm>
              <a:prstGeom prst="roundRect">
                <a:avLst/>
              </a:prstGeom>
              <a:solidFill>
                <a:srgbClr val="BA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rgbClr val="0070C0"/>
                    </a:solidFill>
                    <a:latin typeface="Verdana" charset="0"/>
                    <a:ea typeface="Verdana" charset="0"/>
                    <a:cs typeface="Verdana" charset="0"/>
                  </a:rPr>
                  <a:t>	The side lengths of a </a:t>
                </a:r>
              </a:p>
              <a:p>
                <a:r>
                  <a:rPr lang="en-US" sz="2000" dirty="0">
                    <a:solidFill>
                      <a:srgbClr val="0070C0"/>
                    </a:solidFill>
                    <a:latin typeface="Verdana" charset="0"/>
                    <a:ea typeface="Verdana" charset="0"/>
                    <a:cs typeface="Verdana" charset="0"/>
                  </a:rPr>
                  <a:t>	</a:t>
                </a:r>
                <a14:m>
                  <m:oMath xmlns:m="http://schemas.openxmlformats.org/officeDocument/2006/math">
                    <m:r>
                      <a:rPr lang="en-US" sz="2000" i="1">
                        <a:solidFill>
                          <a:srgbClr val="0070C0"/>
                        </a:solidFill>
                        <a:latin typeface="Cambria Math" charset="0"/>
                        <a:ea typeface="Verdana" charset="0"/>
                        <a:cs typeface="Verdana" charset="0"/>
                      </a:rPr>
                      <m:t>45−45−90</m:t>
                    </m:r>
                  </m:oMath>
                </a14:m>
                <a:r>
                  <a:rPr lang="en-US" sz="2000" dirty="0">
                    <a:solidFill>
                      <a:srgbClr val="0070C0"/>
                    </a:solidFill>
                    <a:latin typeface="Verdana" charset="0"/>
                    <a:ea typeface="Verdana" charset="0"/>
                    <a:cs typeface="Verdana" charset="0"/>
                  </a:rPr>
                  <a:t> triangle can be 	found using the 	equation</a:t>
                </a:r>
              </a:p>
              <a:p>
                <a:r>
                  <a:rPr lang="en-US" sz="2000" dirty="0">
                    <a:solidFill>
                      <a:srgbClr val="0070C0"/>
                    </a:solidFill>
                    <a:latin typeface="Verdana" charset="0"/>
                    <a:ea typeface="Verdana" charset="0"/>
                    <a:cs typeface="Verdana" charset="0"/>
                  </a:rPr>
                  <a:t> 	</a:t>
                </a:r>
                <a14:m>
                  <m:oMath xmlns:m="http://schemas.openxmlformats.org/officeDocument/2006/math">
                    <m:r>
                      <m:rPr>
                        <m:sty m:val="p"/>
                      </m:rPr>
                      <a:rPr lang="en-US" sz="2000">
                        <a:solidFill>
                          <a:srgbClr val="0070C0"/>
                        </a:solidFill>
                        <a:latin typeface="Cambria Math" charset="0"/>
                        <a:ea typeface="Verdana" charset="0"/>
                        <a:cs typeface="Verdana" charset="0"/>
                      </a:rPr>
                      <m:t>leg</m:t>
                    </m:r>
                    <m:r>
                      <a:rPr lang="en-US" sz="2000" i="1">
                        <a:solidFill>
                          <a:srgbClr val="0070C0"/>
                        </a:solidFill>
                        <a:latin typeface="Cambria Math" charset="0"/>
                        <a:ea typeface="Verdana" charset="0"/>
                        <a:cs typeface="Verdana" charset="0"/>
                      </a:rPr>
                      <m:t>∙</m:t>
                    </m:r>
                    <m:rad>
                      <m:radPr>
                        <m:degHide m:val="on"/>
                        <m:ctrlPr>
                          <a:rPr lang="en-US" sz="2000" i="1">
                            <a:solidFill>
                              <a:srgbClr val="0070C0"/>
                            </a:solidFill>
                            <a:latin typeface="Cambria Math" panose="02040503050406030204" pitchFamily="18" charset="0"/>
                            <a:ea typeface="Verdana" charset="0"/>
                            <a:cs typeface="Verdana" charset="0"/>
                          </a:rPr>
                        </m:ctrlPr>
                      </m:radPr>
                      <m:deg/>
                      <m:e>
                        <m:r>
                          <a:rPr lang="en-US" sz="2000" i="1">
                            <a:solidFill>
                              <a:srgbClr val="0070C0"/>
                            </a:solidFill>
                            <a:latin typeface="Cambria Math" charset="0"/>
                            <a:ea typeface="Verdana" charset="0"/>
                            <a:cs typeface="Verdana" charset="0"/>
                          </a:rPr>
                          <m:t>2</m:t>
                        </m:r>
                      </m:e>
                    </m:rad>
                    <m:r>
                      <a:rPr lang="en-US" sz="2000" i="1">
                        <a:solidFill>
                          <a:srgbClr val="0070C0"/>
                        </a:solidFill>
                        <a:latin typeface="Cambria Math" charset="0"/>
                        <a:ea typeface="Verdana" charset="0"/>
                        <a:cs typeface="Verdana" charset="0"/>
                      </a:rPr>
                      <m:t>=</m:t>
                    </m:r>
                    <m:r>
                      <m:rPr>
                        <m:sty m:val="p"/>
                      </m:rPr>
                      <a:rPr lang="en-US" sz="2000">
                        <a:solidFill>
                          <a:srgbClr val="0070C0"/>
                        </a:solidFill>
                        <a:latin typeface="Cambria Math" charset="0"/>
                        <a:ea typeface="Verdana" charset="0"/>
                        <a:cs typeface="Verdana" charset="0"/>
                      </a:rPr>
                      <m:t>hypotenuse</m:t>
                    </m:r>
                  </m:oMath>
                </a14:m>
                <a:r>
                  <a:rPr lang="en-US" sz="2000" dirty="0">
                    <a:solidFill>
                      <a:srgbClr val="0070C0"/>
                    </a:solidFill>
                    <a:latin typeface="Verdana" charset="0"/>
                    <a:ea typeface="Verdana" charset="0"/>
                    <a:cs typeface="Verdana" charset="0"/>
                  </a:rPr>
                  <a:t>.</a:t>
                </a:r>
              </a:p>
            </p:txBody>
          </p:sp>
        </mc:Choice>
        <mc:Fallback xmlns="">
          <p:sp>
            <p:nvSpPr>
              <p:cNvPr id="10" name="Text Box 24"/>
              <p:cNvSpPr txBox="1">
                <a:spLocks noRot="1" noChangeAspect="1" noMove="1" noResize="1" noEditPoints="1" noAdjustHandles="1" noChangeArrowheads="1" noChangeShapeType="1" noTextEdit="1"/>
              </p:cNvSpPr>
              <p:nvPr/>
            </p:nvSpPr>
            <p:spPr>
              <a:xfrm>
                <a:off x="1499628" y="1568129"/>
                <a:ext cx="4930144" cy="1889653"/>
              </a:xfrm>
              <a:prstGeom prst="roundRect">
                <a:avLst/>
              </a:prstGeom>
              <a:blipFill>
                <a:blip r:embed="rId6"/>
                <a:stretch>
                  <a:fillRect/>
                </a:stretch>
              </a:blipFill>
              <a:ln>
                <a:noFill/>
              </a:ln>
              <a:effectLst>
                <a:outerShdw blurRad="50800" dist="76200" dir="2700000" algn="tl" rotWithShape="0">
                  <a:prstClr val="black">
                    <a:alpha val="40000"/>
                  </a:prstClr>
                </a:outerShdw>
              </a:effectLst>
            </p:spPr>
            <p:txBody>
              <a:bodyPr/>
              <a:lstStyle/>
              <a:p>
                <a:r>
                  <a:rPr lang="en-US">
                    <a:noFill/>
                  </a:rPr>
                  <a:t> </a:t>
                </a:r>
              </a:p>
            </p:txBody>
          </p:sp>
        </mc:Fallback>
      </mc:AlternateContent>
      <p:pic>
        <p:nvPicPr>
          <p:cNvPr id="11" name="Picture 10"/>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832981" y="1819438"/>
            <a:ext cx="518433" cy="506782"/>
          </a:xfrm>
          <a:prstGeom prst="rect">
            <a:avLst/>
          </a:prstGeom>
          <a:effectLst>
            <a:outerShdw blurRad="50800" dist="76200" dir="2700000" algn="tl" rotWithShape="0">
              <a:prstClr val="black">
                <a:alpha val="40000"/>
              </a:prstClr>
            </a:outerShdw>
          </a:effectLst>
        </p:spPr>
      </p:pic>
      <p:pic>
        <p:nvPicPr>
          <p:cNvPr id="2" name="Picture 1"/>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648354" y="1373981"/>
            <a:ext cx="2589787" cy="2794000"/>
          </a:xfrm>
          <a:prstGeom prst="rect">
            <a:avLst/>
          </a:prstGeom>
        </p:spPr>
      </p:pic>
    </p:spTree>
    <p:extLst>
      <p:ext uri="{BB962C8B-B14F-4D97-AF65-F5344CB8AC3E}">
        <p14:creationId xmlns:p14="http://schemas.microsoft.com/office/powerpoint/2010/main" val="15286834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405</a:t>
            </a:r>
          </a:p>
        </p:txBody>
      </p:sp>
      <p:sp>
        <p:nvSpPr>
          <p:cNvPr id="6" name="Google Shape;278;g104476d1465_1_17">
            <a:extLst>
              <a:ext uri="{FF2B5EF4-FFF2-40B4-BE49-F238E27FC236}">
                <a16:creationId xmlns:a16="http://schemas.microsoft.com/office/drawing/2014/main" id="{D2AEBEA3-B321-FF43-939E-DBF04267F34A}"/>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sp>
            <p:nvSpPr>
              <p:cNvPr id="7" name="Text Box 24"/>
              <p:cNvSpPr txBox="1"/>
              <p:nvPr/>
            </p:nvSpPr>
            <p:spPr>
              <a:xfrm>
                <a:off x="2028609" y="569556"/>
                <a:ext cx="7684954" cy="1444892"/>
              </a:xfrm>
              <a:prstGeom prst="roundRect">
                <a:avLst/>
              </a:prstGeom>
              <a:solidFill>
                <a:srgbClr val="BA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rgbClr val="0070C0"/>
                    </a:solidFill>
                    <a:latin typeface="Verdana" charset="0"/>
                    <a:ea typeface="Verdana" charset="0"/>
                    <a:cs typeface="Verdana" charset="0"/>
                  </a:rPr>
                  <a:t>	The lengths of the short leg and the long leg of a </a:t>
                </a:r>
              </a:p>
              <a:p>
                <a:r>
                  <a:rPr lang="en-US" sz="2000" dirty="0">
                    <a:solidFill>
                      <a:srgbClr val="0070C0"/>
                    </a:solidFill>
                    <a:latin typeface="Verdana" charset="0"/>
                    <a:ea typeface="Verdana" charset="0"/>
                    <a:cs typeface="Verdana" charset="0"/>
                  </a:rPr>
                  <a:t>	</a:t>
                </a:r>
                <a14:m>
                  <m:oMath xmlns:m="http://schemas.openxmlformats.org/officeDocument/2006/math">
                    <m:r>
                      <a:rPr lang="en-US" sz="2000" i="1">
                        <a:solidFill>
                          <a:srgbClr val="0070C0"/>
                        </a:solidFill>
                        <a:latin typeface="Cambria Math" charset="0"/>
                        <a:ea typeface="Verdana" charset="0"/>
                        <a:cs typeface="Verdana" charset="0"/>
                      </a:rPr>
                      <m:t>30−60−90</m:t>
                    </m:r>
                  </m:oMath>
                </a14:m>
                <a:r>
                  <a:rPr lang="en-US" sz="2000" dirty="0">
                    <a:solidFill>
                      <a:srgbClr val="0070C0"/>
                    </a:solidFill>
                    <a:latin typeface="Verdana" charset="0"/>
                    <a:ea typeface="Verdana" charset="0"/>
                    <a:cs typeface="Verdana" charset="0"/>
                  </a:rPr>
                  <a:t> triangle can be found using the 	equation </a:t>
                </a:r>
                <a14:m>
                  <m:oMath xmlns:m="http://schemas.openxmlformats.org/officeDocument/2006/math">
                    <m:r>
                      <m:rPr>
                        <m:sty m:val="p"/>
                      </m:rPr>
                      <a:rPr lang="en-US" sz="2000">
                        <a:solidFill>
                          <a:srgbClr val="0070C0"/>
                        </a:solidFill>
                        <a:latin typeface="Cambria Math" charset="0"/>
                        <a:ea typeface="Verdana" charset="0"/>
                        <a:cs typeface="Verdana" charset="0"/>
                      </a:rPr>
                      <m:t>short</m:t>
                    </m:r>
                    <m:r>
                      <a:rPr lang="en-US" sz="2000">
                        <a:solidFill>
                          <a:srgbClr val="0070C0"/>
                        </a:solidFill>
                        <a:latin typeface="Cambria Math" charset="0"/>
                        <a:ea typeface="Verdana" charset="0"/>
                        <a:cs typeface="Verdana" charset="0"/>
                      </a:rPr>
                      <m:t> </m:t>
                    </m:r>
                    <m:r>
                      <m:rPr>
                        <m:sty m:val="p"/>
                      </m:rPr>
                      <a:rPr lang="en-US" sz="2000">
                        <a:solidFill>
                          <a:srgbClr val="0070C0"/>
                        </a:solidFill>
                        <a:latin typeface="Cambria Math" charset="0"/>
                        <a:ea typeface="Verdana" charset="0"/>
                        <a:cs typeface="Verdana" charset="0"/>
                      </a:rPr>
                      <m:t>leg</m:t>
                    </m:r>
                    <m:r>
                      <a:rPr lang="en-US" sz="2000" i="1">
                        <a:solidFill>
                          <a:srgbClr val="0070C0"/>
                        </a:solidFill>
                        <a:latin typeface="Cambria Math" charset="0"/>
                        <a:ea typeface="Verdana" charset="0"/>
                        <a:cs typeface="Verdana" charset="0"/>
                      </a:rPr>
                      <m:t> ∙</m:t>
                    </m:r>
                    <m:rad>
                      <m:radPr>
                        <m:degHide m:val="on"/>
                        <m:ctrlPr>
                          <a:rPr lang="en-US" sz="2000" i="1">
                            <a:solidFill>
                              <a:srgbClr val="0070C0"/>
                            </a:solidFill>
                            <a:latin typeface="Cambria Math" panose="02040503050406030204" pitchFamily="18" charset="0"/>
                            <a:ea typeface="Verdana" charset="0"/>
                            <a:cs typeface="Verdana" charset="0"/>
                          </a:rPr>
                        </m:ctrlPr>
                      </m:radPr>
                      <m:deg/>
                      <m:e>
                        <m:r>
                          <a:rPr lang="en-US" sz="2000" i="1">
                            <a:solidFill>
                              <a:srgbClr val="0070C0"/>
                            </a:solidFill>
                            <a:latin typeface="Cambria Math" charset="0"/>
                            <a:ea typeface="Verdana" charset="0"/>
                            <a:cs typeface="Verdana" charset="0"/>
                          </a:rPr>
                          <m:t>3</m:t>
                        </m:r>
                      </m:e>
                    </m:rad>
                    <m:r>
                      <a:rPr lang="en-US" sz="2000" i="1">
                        <a:solidFill>
                          <a:srgbClr val="0070C0"/>
                        </a:solidFill>
                        <a:latin typeface="Cambria Math" charset="0"/>
                        <a:ea typeface="Verdana" charset="0"/>
                        <a:cs typeface="Verdana" charset="0"/>
                      </a:rPr>
                      <m:t>=</m:t>
                    </m:r>
                    <m:r>
                      <m:rPr>
                        <m:sty m:val="p"/>
                      </m:rPr>
                      <a:rPr lang="en-US" sz="2000">
                        <a:solidFill>
                          <a:srgbClr val="0070C0"/>
                        </a:solidFill>
                        <a:latin typeface="Cambria Math" charset="0"/>
                        <a:ea typeface="Verdana" charset="0"/>
                        <a:cs typeface="Verdana" charset="0"/>
                      </a:rPr>
                      <m:t>long</m:t>
                    </m:r>
                    <m:r>
                      <a:rPr lang="en-US" sz="2000">
                        <a:solidFill>
                          <a:srgbClr val="0070C0"/>
                        </a:solidFill>
                        <a:latin typeface="Cambria Math" charset="0"/>
                        <a:ea typeface="Verdana" charset="0"/>
                        <a:cs typeface="Verdana" charset="0"/>
                      </a:rPr>
                      <m:t> </m:t>
                    </m:r>
                    <m:r>
                      <m:rPr>
                        <m:sty m:val="p"/>
                      </m:rPr>
                      <a:rPr lang="en-US" sz="2000">
                        <a:solidFill>
                          <a:srgbClr val="0070C0"/>
                        </a:solidFill>
                        <a:latin typeface="Cambria Math" charset="0"/>
                        <a:ea typeface="Verdana" charset="0"/>
                        <a:cs typeface="Verdana" charset="0"/>
                      </a:rPr>
                      <m:t>leg</m:t>
                    </m:r>
                  </m:oMath>
                </a14:m>
                <a:r>
                  <a:rPr lang="en-US" sz="2000" dirty="0">
                    <a:solidFill>
                      <a:srgbClr val="0070C0"/>
                    </a:solidFill>
                    <a:latin typeface="Verdana" charset="0"/>
                    <a:ea typeface="Verdana" charset="0"/>
                    <a:cs typeface="Verdana" charset="0"/>
                  </a:rPr>
                  <a:t>. </a:t>
                </a:r>
              </a:p>
            </p:txBody>
          </p:sp>
        </mc:Choice>
        <mc:Fallback xmlns="">
          <p:sp>
            <p:nvSpPr>
              <p:cNvPr id="7" name="Text Box 24"/>
              <p:cNvSpPr txBox="1">
                <a:spLocks noRot="1" noChangeAspect="1" noMove="1" noResize="1" noEditPoints="1" noAdjustHandles="1" noChangeArrowheads="1" noChangeShapeType="1" noTextEdit="1"/>
              </p:cNvSpPr>
              <p:nvPr/>
            </p:nvSpPr>
            <p:spPr>
              <a:xfrm>
                <a:off x="2028609" y="569556"/>
                <a:ext cx="7684954" cy="1444892"/>
              </a:xfrm>
              <a:prstGeom prst="roundRect">
                <a:avLst/>
              </a:prstGeom>
              <a:blipFill>
                <a:blip r:embed="rId4"/>
                <a:stretch>
                  <a:fillRect/>
                </a:stretch>
              </a:blipFill>
              <a:ln>
                <a:noFill/>
              </a:ln>
              <a:effectLst>
                <a:outerShdw blurRad="50800" dist="76200" dir="2700000" algn="tl" rotWithShape="0">
                  <a:prstClr val="black">
                    <a:alpha val="40000"/>
                  </a:prstClr>
                </a:outerShdw>
              </a:effectLst>
            </p:spPr>
            <p:txBody>
              <a:bodyPr/>
              <a:lstStyle/>
              <a:p>
                <a:r>
                  <a:rPr lang="en-US">
                    <a:noFill/>
                  </a:rPr>
                  <a:t> </a:t>
                </a:r>
              </a:p>
            </p:txBody>
          </p:sp>
        </mc:Fallback>
      </mc:AlternateContent>
      <p:pic>
        <p:nvPicPr>
          <p:cNvPr id="8" name="Picture 7"/>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361963" y="820865"/>
            <a:ext cx="518433" cy="506782"/>
          </a:xfrm>
          <a:prstGeom prst="rect">
            <a:avLst/>
          </a:prstGeom>
          <a:effectLst>
            <a:outerShdw blurRad="50800" dist="762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9" name="Text Box 24"/>
              <p:cNvSpPr txBox="1"/>
              <p:nvPr/>
            </p:nvSpPr>
            <p:spPr>
              <a:xfrm>
                <a:off x="4581309" y="2347785"/>
                <a:ext cx="5241432" cy="2074710"/>
              </a:xfrm>
              <a:prstGeom prst="roundRect">
                <a:avLst/>
              </a:prstGeom>
              <a:solidFill>
                <a:srgbClr val="BA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rgbClr val="0070C0"/>
                    </a:solidFill>
                    <a:latin typeface="Verdana" charset="0"/>
                    <a:ea typeface="Verdana" charset="0"/>
                    <a:cs typeface="Verdana" charset="0"/>
                  </a:rPr>
                  <a:t>	The lengths of the short leg 	and the hypotenuse of a     	</a:t>
                </a:r>
                <a14:m>
                  <m:oMath xmlns:m="http://schemas.openxmlformats.org/officeDocument/2006/math">
                    <m:r>
                      <a:rPr lang="en-US" sz="2000" i="1">
                        <a:solidFill>
                          <a:srgbClr val="0070C0"/>
                        </a:solidFill>
                        <a:latin typeface="Cambria Math" charset="0"/>
                        <a:ea typeface="Verdana" charset="0"/>
                        <a:cs typeface="Verdana" charset="0"/>
                      </a:rPr>
                      <m:t>30−60−90</m:t>
                    </m:r>
                  </m:oMath>
                </a14:m>
                <a:r>
                  <a:rPr lang="en-US" sz="2000" dirty="0">
                    <a:solidFill>
                      <a:srgbClr val="0070C0"/>
                    </a:solidFill>
                    <a:latin typeface="Verdana" charset="0"/>
                    <a:ea typeface="Verdana" charset="0"/>
                    <a:cs typeface="Verdana" charset="0"/>
                  </a:rPr>
                  <a:t> triangle can be 	found using the equation</a:t>
                </a:r>
              </a:p>
              <a:p>
                <a:r>
                  <a:rPr lang="en-US" sz="2000" dirty="0">
                    <a:solidFill>
                      <a:srgbClr val="0070C0"/>
                    </a:solidFill>
                    <a:latin typeface="Verdana" charset="0"/>
                    <a:ea typeface="Verdana" charset="0"/>
                    <a:cs typeface="Verdana" charset="0"/>
                  </a:rPr>
                  <a:t>	</a:t>
                </a:r>
                <a14:m>
                  <m:oMath xmlns:m="http://schemas.openxmlformats.org/officeDocument/2006/math">
                    <m:r>
                      <m:rPr>
                        <m:sty m:val="p"/>
                      </m:rPr>
                      <a:rPr lang="en-US" sz="2000">
                        <a:solidFill>
                          <a:srgbClr val="0070C0"/>
                        </a:solidFill>
                        <a:latin typeface="Cambria Math" charset="0"/>
                        <a:ea typeface="Verdana" charset="0"/>
                        <a:cs typeface="Verdana" charset="0"/>
                      </a:rPr>
                      <m:t>short</m:t>
                    </m:r>
                    <m:r>
                      <a:rPr lang="en-US" sz="2000">
                        <a:solidFill>
                          <a:srgbClr val="0070C0"/>
                        </a:solidFill>
                        <a:latin typeface="Cambria Math" charset="0"/>
                        <a:ea typeface="Verdana" charset="0"/>
                        <a:cs typeface="Verdana" charset="0"/>
                      </a:rPr>
                      <m:t> </m:t>
                    </m:r>
                    <m:r>
                      <m:rPr>
                        <m:sty m:val="p"/>
                      </m:rPr>
                      <a:rPr lang="en-US" sz="2000">
                        <a:solidFill>
                          <a:srgbClr val="0070C0"/>
                        </a:solidFill>
                        <a:latin typeface="Cambria Math" charset="0"/>
                        <a:ea typeface="Verdana" charset="0"/>
                        <a:cs typeface="Verdana" charset="0"/>
                      </a:rPr>
                      <m:t>leg</m:t>
                    </m:r>
                    <m:r>
                      <a:rPr lang="en-US" sz="2000" i="1">
                        <a:solidFill>
                          <a:srgbClr val="0070C0"/>
                        </a:solidFill>
                        <a:latin typeface="Cambria Math" charset="0"/>
                        <a:ea typeface="Verdana" charset="0"/>
                        <a:cs typeface="Verdana" charset="0"/>
                      </a:rPr>
                      <m:t> ∙2=</m:t>
                    </m:r>
                    <m:r>
                      <m:rPr>
                        <m:sty m:val="p"/>
                      </m:rPr>
                      <a:rPr lang="en-US" sz="2000">
                        <a:solidFill>
                          <a:srgbClr val="0070C0"/>
                        </a:solidFill>
                        <a:latin typeface="Cambria Math" charset="0"/>
                        <a:ea typeface="Verdana" charset="0"/>
                        <a:cs typeface="Verdana" charset="0"/>
                      </a:rPr>
                      <m:t>hypotenuse</m:t>
                    </m:r>
                  </m:oMath>
                </a14:m>
                <a:r>
                  <a:rPr lang="en-US" sz="2000" dirty="0">
                    <a:solidFill>
                      <a:srgbClr val="0070C0"/>
                    </a:solidFill>
                    <a:latin typeface="Verdana" charset="0"/>
                    <a:ea typeface="Verdana" charset="0"/>
                    <a:cs typeface="Verdana" charset="0"/>
                  </a:rPr>
                  <a:t>. </a:t>
                </a:r>
              </a:p>
            </p:txBody>
          </p:sp>
        </mc:Choice>
        <mc:Fallback xmlns="">
          <p:sp>
            <p:nvSpPr>
              <p:cNvPr id="9" name="Text Box 24"/>
              <p:cNvSpPr txBox="1">
                <a:spLocks noRot="1" noChangeAspect="1" noMove="1" noResize="1" noEditPoints="1" noAdjustHandles="1" noChangeArrowheads="1" noChangeShapeType="1" noTextEdit="1"/>
              </p:cNvSpPr>
              <p:nvPr/>
            </p:nvSpPr>
            <p:spPr>
              <a:xfrm>
                <a:off x="4581309" y="2347785"/>
                <a:ext cx="5241432" cy="2074710"/>
              </a:xfrm>
              <a:prstGeom prst="roundRect">
                <a:avLst/>
              </a:prstGeom>
              <a:blipFill>
                <a:blip r:embed="rId6"/>
                <a:stretch>
                  <a:fillRect/>
                </a:stretch>
              </a:blipFill>
              <a:ln>
                <a:noFill/>
              </a:ln>
              <a:effectLst>
                <a:outerShdw blurRad="50800" dist="76200" dir="2700000" algn="tl" rotWithShape="0">
                  <a:prstClr val="black">
                    <a:alpha val="40000"/>
                  </a:prstClr>
                </a:outerShdw>
              </a:effectLst>
            </p:spPr>
            <p:txBody>
              <a:bodyPr/>
              <a:lstStyle/>
              <a:p>
                <a:r>
                  <a:rPr lang="en-US">
                    <a:noFill/>
                  </a:rPr>
                  <a:t> </a:t>
                </a:r>
              </a:p>
            </p:txBody>
          </p:sp>
        </mc:Fallback>
      </mc:AlternateContent>
      <p:pic>
        <p:nvPicPr>
          <p:cNvPr id="10" name="Picture 9"/>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938943" y="2650171"/>
            <a:ext cx="518433" cy="506782"/>
          </a:xfrm>
          <a:prstGeom prst="rect">
            <a:avLst/>
          </a:prstGeom>
          <a:effectLst>
            <a:outerShdw blurRad="50800" dist="76200" dir="2700000" algn="tl" rotWithShape="0">
              <a:prstClr val="black">
                <a:alpha val="40000"/>
              </a:prstClr>
            </a:outerShdw>
          </a:effectLst>
        </p:spPr>
      </p:pic>
      <p:pic>
        <p:nvPicPr>
          <p:cNvPr id="2" name="Picture 1"/>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028609" y="2279499"/>
            <a:ext cx="2552700" cy="4178300"/>
          </a:xfrm>
          <a:prstGeom prst="rect">
            <a:avLst/>
          </a:prstGeom>
        </p:spPr>
      </p:pic>
    </p:spTree>
    <p:extLst>
      <p:ext uri="{BB962C8B-B14F-4D97-AF65-F5344CB8AC3E}">
        <p14:creationId xmlns:p14="http://schemas.microsoft.com/office/powerpoint/2010/main" val="1519755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2" y="520518"/>
                <a:ext cx="11026091" cy="736868"/>
              </a:xfrm>
              <a:prstGeom prst="rect">
                <a:avLst/>
              </a:prstGeom>
              <a:noFill/>
            </p:spPr>
            <p:txBody>
              <a:bodyPr wrap="square" rtlCol="0">
                <a:spAutoFit/>
              </a:bodyPr>
              <a:lstStyle/>
              <a:p>
                <a:pPr marL="457200" indent="-457200">
                  <a:buFont typeface="+mj-lt"/>
                  <a:buAutoNum type="arabicPeriod" startAt="2"/>
                </a:pPr>
                <a14:m>
                  <m:oMath xmlns:m="http://schemas.openxmlformats.org/officeDocument/2006/math">
                    <m:r>
                      <m:rPr>
                        <m:sty m:val="p"/>
                      </m:rPr>
                      <a:rPr lang="en-US" sz="2000">
                        <a:latin typeface="Cambria Math" panose="02040503050406030204" pitchFamily="18" charset="0"/>
                        <a:ea typeface="Verdana" charset="0"/>
                        <a:cs typeface="Verdana" charset="0"/>
                      </a:rPr>
                      <m:t>Δ</m:t>
                    </m:r>
                    <m:r>
                      <a:rPr lang="en-US" sz="2000" i="1">
                        <a:latin typeface="Cambria Math" panose="02040503050406030204" pitchFamily="18" charset="0"/>
                        <a:ea typeface="Verdana" charset="0"/>
                        <a:cs typeface="Verdana" charset="0"/>
                      </a:rPr>
                      <m:t>𝐵𝐻𝐾</m:t>
                    </m:r>
                  </m:oMath>
                </a14:m>
                <a:r>
                  <a:rPr lang="en-US" sz="2000" dirty="0">
                    <a:latin typeface="Verdana" charset="0"/>
                    <a:ea typeface="Verdana" charset="0"/>
                    <a:cs typeface="Verdana" charset="0"/>
                  </a:rPr>
                  <a:t> is a </a:t>
                </a:r>
                <a14:m>
                  <m:oMath xmlns:m="http://schemas.openxmlformats.org/officeDocument/2006/math">
                    <m:r>
                      <a:rPr lang="en-US" sz="2000" i="1">
                        <a:latin typeface="Cambria Math" panose="02040503050406030204" pitchFamily="18" charset="0"/>
                        <a:ea typeface="Verdana" charset="0"/>
                        <a:cs typeface="Verdana" charset="0"/>
                      </a:rPr>
                      <m:t>30−60−90</m:t>
                    </m:r>
                  </m:oMath>
                </a14:m>
                <a:r>
                  <a:rPr lang="en-US" sz="2000" dirty="0">
                    <a:latin typeface="Verdana" charset="0"/>
                    <a:ea typeface="Verdana" charset="0"/>
                    <a:cs typeface="Verdana" charset="0"/>
                  </a:rPr>
                  <a:t> triangle with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𝐾𝐵𝐻</m:t>
                    </m:r>
                    <m:r>
                      <a:rPr lang="en-US" sz="2000" i="1">
                        <a:latin typeface="Cambria Math" panose="02040503050406030204" pitchFamily="18" charset="0"/>
                        <a:ea typeface="Verdana" charset="0"/>
                        <a:cs typeface="Verdana" charset="0"/>
                      </a:rPr>
                      <m:t>=30°</m:t>
                    </m:r>
                  </m:oMath>
                </a14:m>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𝐵𝐾𝐻</m:t>
                    </m:r>
                    <m:r>
                      <a:rPr lang="en-US" sz="2000" i="1">
                        <a:latin typeface="Cambria Math" panose="02040503050406030204" pitchFamily="18" charset="0"/>
                        <a:ea typeface="Verdana" charset="0"/>
                        <a:cs typeface="Verdana" charset="0"/>
                      </a:rPr>
                      <m:t>=90°</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𝐵𝐾</m:t>
                    </m:r>
                    <m:r>
                      <a:rPr lang="en-US" sz="2000" i="1">
                        <a:latin typeface="Cambria Math" panose="02040503050406030204" pitchFamily="18" charset="0"/>
                        <a:ea typeface="Verdana" charset="0"/>
                        <a:cs typeface="Verdana" charset="0"/>
                      </a:rPr>
                      <m:t>=5</m:t>
                    </m:r>
                    <m:rad>
                      <m:radPr>
                        <m:degHide m:val="on"/>
                        <m:ctrlPr>
                          <a:rPr lang="en-US" sz="2000" i="1">
                            <a:latin typeface="Cambria Math" panose="02040503050406030204" pitchFamily="18" charset="0"/>
                            <a:ea typeface="Verdana" charset="0"/>
                            <a:cs typeface="Verdana" charset="0"/>
                          </a:rPr>
                        </m:ctrlPr>
                      </m:radPr>
                      <m:deg/>
                      <m:e>
                        <m:r>
                          <a:rPr lang="en-US" sz="2000" i="1">
                            <a:latin typeface="Cambria Math" panose="02040503050406030204" pitchFamily="18" charset="0"/>
                            <a:ea typeface="Verdana" charset="0"/>
                            <a:cs typeface="Verdana" charset="0"/>
                          </a:rPr>
                          <m:t>3</m:t>
                        </m:r>
                      </m:e>
                    </m:rad>
                  </m:oMath>
                </a14:m>
                <a:r>
                  <a:rPr lang="en-US" sz="2000" dirty="0">
                    <a:latin typeface="Verdana" charset="0"/>
                    <a:ea typeface="Verdana" charset="0"/>
                    <a:cs typeface="Verdana" charset="0"/>
                  </a:rPr>
                  <a:t>. What are the measures of the other sides of the triangle?</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2" y="520518"/>
                <a:ext cx="11026091" cy="736868"/>
              </a:xfrm>
              <a:prstGeom prst="rect">
                <a:avLst/>
              </a:prstGeom>
              <a:blipFill>
                <a:blip r:embed="rId4"/>
                <a:stretch>
                  <a:fillRect l="-553" t="-826" b="-14050"/>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2AEBEA3-B321-FF43-939E-DBF04267F34A}"/>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1999330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406</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4814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7273"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09917" y="-37087"/>
            <a:ext cx="1051312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7.6.4 Guided Practice: Solving Special Right Triangles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047"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406</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60110" y="12893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550515" y="1386150"/>
                <a:ext cx="11076757" cy="2554545"/>
              </a:xfrm>
              <a:prstGeom prst="rect">
                <a:avLst/>
              </a:prstGeom>
              <a:noFill/>
            </p:spPr>
            <p:txBody>
              <a:bodyPr wrap="square" rtlCol="0">
                <a:spAutoFit/>
              </a:bodyPr>
              <a:lstStyle/>
              <a:p>
                <a:pPr marL="457200" indent="-457200">
                  <a:buFont typeface="+mj-lt"/>
                  <a:buAutoNum type="arabicPeriod"/>
                </a:pPr>
                <a14:m>
                  <m:oMath xmlns:m="http://schemas.openxmlformats.org/officeDocument/2006/math">
                    <m:r>
                      <m:rPr>
                        <m:sty m:val="p"/>
                      </m:rPr>
                      <a:rPr lang="en-US" sz="2000">
                        <a:latin typeface="Cambria Math" panose="02040503050406030204" pitchFamily="18" charset="0"/>
                        <a:ea typeface="Verdana" charset="0"/>
                        <a:cs typeface="Verdana" charset="0"/>
                      </a:rPr>
                      <m:t>Δ</m:t>
                    </m:r>
                    <m:r>
                      <a:rPr lang="en-US" sz="2000" i="1">
                        <a:latin typeface="Cambria Math" panose="02040503050406030204" pitchFamily="18" charset="0"/>
                        <a:ea typeface="Verdana" charset="0"/>
                        <a:cs typeface="Verdana" charset="0"/>
                      </a:rPr>
                      <m:t>𝐿𝑃𝑀</m:t>
                    </m:r>
                  </m:oMath>
                </a14:m>
                <a:r>
                  <a:rPr lang="en-US" sz="2000" dirty="0">
                    <a:latin typeface="Verdana" charset="0"/>
                    <a:ea typeface="Verdana" charset="0"/>
                    <a:cs typeface="Verdana" charset="0"/>
                  </a:rPr>
                  <a:t> is a </a:t>
                </a:r>
                <a14:m>
                  <m:oMath xmlns:m="http://schemas.openxmlformats.org/officeDocument/2006/math">
                    <m:r>
                      <a:rPr lang="en-US" sz="2000" i="1">
                        <a:latin typeface="Cambria Math" panose="02040503050406030204" pitchFamily="18" charset="0"/>
                        <a:ea typeface="Verdana" charset="0"/>
                        <a:cs typeface="Verdana" charset="0"/>
                      </a:rPr>
                      <m:t>45−45−90</m:t>
                    </m:r>
                  </m:oMath>
                </a14:m>
                <a:r>
                  <a:rPr lang="en-US" sz="2000" dirty="0">
                    <a:latin typeface="Verdana" charset="0"/>
                    <a:ea typeface="Verdana" charset="0"/>
                    <a:cs typeface="Verdana" charset="0"/>
                  </a:rPr>
                  <a:t> triangle with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𝐿𝑀𝑃</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𝑀𝐿𝑃</m:t>
                    </m:r>
                    <m:r>
                      <a:rPr lang="en-US" sz="2000" i="1">
                        <a:latin typeface="Cambria Math" panose="02040503050406030204" pitchFamily="18" charset="0"/>
                        <a:ea typeface="Verdana" charset="0"/>
                        <a:cs typeface="Verdana" charset="0"/>
                      </a:rPr>
                      <m:t>=45°</m:t>
                    </m:r>
                  </m:oMath>
                </a14:m>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𝐿𝑃𝑀</m:t>
                    </m:r>
                    <m:r>
                      <a:rPr lang="en-US" sz="2000" i="1">
                        <a:latin typeface="Cambria Math" panose="02040503050406030204" pitchFamily="18" charset="0"/>
                        <a:ea typeface="Verdana" charset="0"/>
                        <a:cs typeface="Verdana" charset="0"/>
                      </a:rPr>
                      <m:t>=90°</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𝐿𝑀</m:t>
                    </m:r>
                    <m:r>
                      <a:rPr lang="en-US" sz="2000" i="1">
                        <a:latin typeface="Cambria Math" panose="02040503050406030204" pitchFamily="18" charset="0"/>
                        <a:ea typeface="Verdana" charset="0"/>
                        <a:cs typeface="Verdana" charset="0"/>
                      </a:rPr>
                      <m:t>=7</m:t>
                    </m:r>
                  </m:oMath>
                </a14:m>
                <a:r>
                  <a:rPr lang="en-US" sz="2000" dirty="0">
                    <a:latin typeface="Verdana" charset="0"/>
                    <a:ea typeface="Verdana" charset="0"/>
                    <a:cs typeface="Verdana" charset="0"/>
                  </a:rPr>
                  <a:t>. What are the lengths of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𝑃𝑀</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𝐿𝑃</m:t>
                        </m:r>
                      </m:e>
                    </m:acc>
                  </m:oMath>
                </a14:m>
                <a:r>
                  <a:rPr lang="en-US" sz="2000" dirty="0">
                    <a:latin typeface="Verdana" charset="0"/>
                    <a:ea typeface="Verdana" charset="0"/>
                    <a:cs typeface="Verdana" charset="0"/>
                  </a:rPr>
                  <a:t>?</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14:m>
                  <m:oMath xmlns:m="http://schemas.openxmlformats.org/officeDocument/2006/math">
                    <m:r>
                      <m:rPr>
                        <m:sty m:val="p"/>
                      </m:rPr>
                      <a:rPr lang="en-US" sz="2000">
                        <a:latin typeface="Cambria Math" panose="02040503050406030204" pitchFamily="18" charset="0"/>
                        <a:ea typeface="Verdana" charset="0"/>
                        <a:cs typeface="Verdana" charset="0"/>
                      </a:rPr>
                      <m:t>Δ</m:t>
                    </m:r>
                    <m:r>
                      <a:rPr lang="en-US" sz="2000" i="1">
                        <a:latin typeface="Cambria Math" panose="02040503050406030204" pitchFamily="18" charset="0"/>
                        <a:ea typeface="Verdana" charset="0"/>
                        <a:cs typeface="Verdana" charset="0"/>
                      </a:rPr>
                      <m:t>𝑇𝑁𝑊</m:t>
                    </m:r>
                  </m:oMath>
                </a14:m>
                <a:r>
                  <a:rPr lang="en-US" sz="2000" dirty="0">
                    <a:latin typeface="Verdana" charset="0"/>
                    <a:ea typeface="Verdana" charset="0"/>
                    <a:cs typeface="Verdana" charset="0"/>
                  </a:rPr>
                  <a:t> is a right triangle with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𝑁𝑇𝑊</m:t>
                    </m:r>
                    <m:r>
                      <a:rPr lang="en-US" sz="2000" i="1">
                        <a:latin typeface="Cambria Math" panose="02040503050406030204" pitchFamily="18" charset="0"/>
                        <a:ea typeface="Verdana" charset="0"/>
                        <a:cs typeface="Verdana" charset="0"/>
                      </a:rPr>
                      <m:t>=60°</m:t>
                    </m:r>
                  </m:oMath>
                </a14:m>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𝑊𝑁𝑇</m:t>
                    </m:r>
                    <m:r>
                      <a:rPr lang="en-US" sz="2000" i="1">
                        <a:latin typeface="Cambria Math" panose="02040503050406030204" pitchFamily="18" charset="0"/>
                        <a:ea typeface="Verdana" charset="0"/>
                        <a:cs typeface="Verdana" charset="0"/>
                      </a:rPr>
                      <m:t>=90°</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𝑇𝑊</m:t>
                    </m:r>
                    <m:r>
                      <a:rPr lang="en-US" sz="2000" i="1">
                        <a:latin typeface="Cambria Math" panose="02040503050406030204" pitchFamily="18" charset="0"/>
                        <a:ea typeface="Verdana" charset="0"/>
                        <a:cs typeface="Verdana" charset="0"/>
                      </a:rPr>
                      <m:t>=18</m:t>
                    </m:r>
                  </m:oMath>
                </a14:m>
                <a:r>
                  <a:rPr lang="en-US" sz="2000" dirty="0">
                    <a:latin typeface="Verdana" charset="0"/>
                    <a:ea typeface="Verdana" charset="0"/>
                    <a:cs typeface="Verdana" charset="0"/>
                  </a:rPr>
                  <a:t>. What are the measures of the other sides of the triangle?</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550515" y="1386150"/>
                <a:ext cx="11076757" cy="2554545"/>
              </a:xfrm>
              <a:prstGeom prst="rect">
                <a:avLst/>
              </a:prstGeom>
              <a:blipFill>
                <a:blip r:embed="rId5"/>
                <a:stretch>
                  <a:fillRect l="-550" t="-1193" r="-715" b="-3341"/>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DC83FE6C-2A92-0840-AA21-B0B38F631C93}"/>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18301782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407</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876775"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407</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5001"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092067" y="-185684"/>
            <a:ext cx="967425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7.6.5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262618" y="6044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550515" y="1386150"/>
                <a:ext cx="11064485" cy="736868"/>
              </a:xfrm>
              <a:prstGeom prst="rect">
                <a:avLst/>
              </a:prstGeom>
              <a:noFill/>
            </p:spPr>
            <p:txBody>
              <a:bodyPr wrap="square" rtlCol="0">
                <a:spAutoFit/>
              </a:bodyPr>
              <a:lstStyle/>
              <a:p>
                <a:pPr marL="457200" indent="-457200">
                  <a:buFont typeface="+mj-lt"/>
                  <a:buAutoNum type="arabicPeriod"/>
                </a:pPr>
                <a14:m>
                  <m:oMath xmlns:m="http://schemas.openxmlformats.org/officeDocument/2006/math">
                    <m:r>
                      <m:rPr>
                        <m:sty m:val="p"/>
                      </m:rPr>
                      <a:rPr lang="en-US" sz="2000">
                        <a:latin typeface="Cambria Math" panose="02040503050406030204" pitchFamily="18" charset="0"/>
                        <a:ea typeface="Verdana" charset="0"/>
                        <a:cs typeface="Verdana" charset="0"/>
                      </a:rPr>
                      <m:t>Δ</m:t>
                    </m:r>
                    <m:r>
                      <a:rPr lang="en-US" sz="2000" i="1">
                        <a:latin typeface="Cambria Math" panose="02040503050406030204" pitchFamily="18" charset="0"/>
                        <a:ea typeface="Verdana" charset="0"/>
                        <a:cs typeface="Verdana" charset="0"/>
                      </a:rPr>
                      <m:t>𝐹𝐻𝑋</m:t>
                    </m:r>
                  </m:oMath>
                </a14:m>
                <a:r>
                  <a:rPr lang="en-US" sz="2000" dirty="0">
                    <a:latin typeface="Verdana" charset="0"/>
                    <a:ea typeface="Verdana" charset="0"/>
                    <a:cs typeface="Verdana" charset="0"/>
                  </a:rPr>
                  <a:t> has angle measures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𝐻𝑋𝐹</m:t>
                    </m:r>
                    <m:r>
                      <a:rPr lang="en-US" sz="2000" i="1">
                        <a:latin typeface="Cambria Math" panose="02040503050406030204" pitchFamily="18" charset="0"/>
                        <a:ea typeface="Verdana" charset="0"/>
                        <a:cs typeface="Verdana" charset="0"/>
                      </a:rPr>
                      <m:t>=90°</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𝐻𝐹𝑋</m:t>
                    </m:r>
                    <m:r>
                      <a:rPr lang="en-US" sz="2000" i="1">
                        <a:latin typeface="Cambria Math" panose="02040503050406030204" pitchFamily="18" charset="0"/>
                        <a:ea typeface="Verdana" charset="0"/>
                        <a:cs typeface="Verdana" charset="0"/>
                      </a:rPr>
                      <m:t>=30°</m:t>
                    </m:r>
                  </m:oMath>
                </a14:m>
                <a:r>
                  <a:rPr lang="en-US" sz="2000" dirty="0">
                    <a:latin typeface="Verdana" charset="0"/>
                    <a:ea typeface="Verdana" charset="0"/>
                    <a:cs typeface="Verdana" charset="0"/>
                  </a:rPr>
                  <a:t>, and side length      </a:t>
                </a:r>
                <a14:m>
                  <m:oMath xmlns:m="http://schemas.openxmlformats.org/officeDocument/2006/math">
                    <m:r>
                      <a:rPr lang="en-US" sz="2000" i="1">
                        <a:latin typeface="Cambria Math" panose="02040503050406030204" pitchFamily="18" charset="0"/>
                        <a:ea typeface="Verdana" charset="0"/>
                        <a:cs typeface="Verdana" charset="0"/>
                      </a:rPr>
                      <m:t>𝐻𝑋</m:t>
                    </m:r>
                    <m:r>
                      <a:rPr lang="en-US" sz="2000" i="1">
                        <a:latin typeface="Cambria Math" panose="02040503050406030204" pitchFamily="18" charset="0"/>
                        <a:ea typeface="Verdana" charset="0"/>
                        <a:cs typeface="Verdana" charset="0"/>
                      </a:rPr>
                      <m:t>=6</m:t>
                    </m:r>
                    <m:rad>
                      <m:radPr>
                        <m:degHide m:val="on"/>
                        <m:ctrlPr>
                          <a:rPr lang="en-US" sz="2000" i="1">
                            <a:latin typeface="Cambria Math" panose="02040503050406030204" pitchFamily="18" charset="0"/>
                            <a:ea typeface="Verdana" charset="0"/>
                            <a:cs typeface="Verdana" charset="0"/>
                          </a:rPr>
                        </m:ctrlPr>
                      </m:radPr>
                      <m:deg/>
                      <m:e>
                        <m:r>
                          <a:rPr lang="en-US" sz="2000" i="1">
                            <a:latin typeface="Cambria Math" panose="02040503050406030204" pitchFamily="18" charset="0"/>
                            <a:ea typeface="Verdana" charset="0"/>
                            <a:cs typeface="Verdana" charset="0"/>
                          </a:rPr>
                          <m:t>3</m:t>
                        </m:r>
                      </m:e>
                    </m:rad>
                  </m:oMath>
                </a14:m>
                <a:r>
                  <a:rPr lang="en-US" sz="2000" dirty="0">
                    <a:latin typeface="Verdana" charset="0"/>
                    <a:ea typeface="Verdana" charset="0"/>
                    <a:cs typeface="Verdana" charset="0"/>
                  </a:rPr>
                  <a:t>. What are the exact measures of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𝐹𝑋</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𝐹𝐻</m:t>
                        </m:r>
                      </m:e>
                    </m:acc>
                  </m:oMath>
                </a14:m>
                <a:r>
                  <a:rPr lang="en-US" sz="2000" dirty="0">
                    <a:latin typeface="Verdana" charset="0"/>
                    <a:ea typeface="Verdana" charset="0"/>
                    <a:cs typeface="Verdana" charset="0"/>
                  </a:rPr>
                  <a:t>?</a:t>
                </a: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550515" y="1386150"/>
                <a:ext cx="11064485" cy="736868"/>
              </a:xfrm>
              <a:prstGeom prst="rect">
                <a:avLst/>
              </a:prstGeom>
              <a:blipFill>
                <a:blip r:embed="rId5"/>
                <a:stretch>
                  <a:fillRect l="-551" t="-4132" b="-13223"/>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C9825640-5649-F74D-866E-EC8F188D5640}"/>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1288</TotalTime>
  <Words>1296</Words>
  <Application>Microsoft Office PowerPoint</Application>
  <PresentationFormat>Widescreen</PresentationFormat>
  <Paragraphs>273</Paragraphs>
  <Slides>28</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Arial</vt:lpstr>
      <vt:lpstr>Arial Black</vt:lpstr>
      <vt:lpstr>Calibri</vt:lpstr>
      <vt:lpstr>Cambria</vt:lpstr>
      <vt:lpstr>Cambria Math</vt:lpstr>
      <vt:lpstr>Century Gothic</vt:lpstr>
      <vt:lpstr>Verdana</vt:lpstr>
      <vt:lpstr>Wingdings</vt:lpstr>
      <vt:lpstr>1_Office Theme</vt:lpstr>
      <vt:lpstr>Geometry  Unit 7, Lesson 6  Special Right Triangles  Volume 1, pg. 400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Guided Practice</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27</cp:revision>
  <dcterms:created xsi:type="dcterms:W3CDTF">2015-03-17T18:51:18Z</dcterms:created>
  <dcterms:modified xsi:type="dcterms:W3CDTF">2022-07-04T21:17:39Z</dcterms:modified>
</cp:coreProperties>
</file>