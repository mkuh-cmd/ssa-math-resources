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11" r:id="rId8"/>
    <p:sldId id="312" r:id="rId9"/>
    <p:sldId id="288" r:id="rId10"/>
    <p:sldId id="317" r:id="rId11"/>
    <p:sldId id="314" r:id="rId12"/>
    <p:sldId id="315" r:id="rId13"/>
    <p:sldId id="316" r:id="rId14"/>
    <p:sldId id="318" r:id="rId15"/>
    <p:sldId id="320" r:id="rId16"/>
    <p:sldId id="319" r:id="rId17"/>
    <p:sldId id="302" r:id="rId18"/>
    <p:sldId id="303" r:id="rId19"/>
    <p:sldId id="309" r:id="rId20"/>
    <p:sldId id="306" r:id="rId21"/>
    <p:sldId id="307" r:id="rId22"/>
    <p:sldId id="310" r:id="rId23"/>
  </p:sldIdLst>
  <p:sldSz cx="12192000" cy="6858000"/>
  <p:notesSz cx="6858000" cy="9144000"/>
  <p:embeddedFontLst>
    <p:embeddedFont>
      <p:font typeface="Arial Black" panose="020B06040202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20" autoAdjust="0"/>
    <p:restoredTop sz="94822" autoAdjust="0"/>
  </p:normalViewPr>
  <p:slideViewPr>
    <p:cSldViewPr snapToGrid="0">
      <p:cViewPr varScale="1">
        <p:scale>
          <a:sx n="124" d="100"/>
          <a:sy n="124" d="100"/>
        </p:scale>
        <p:origin x="112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01634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93384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095326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06559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172643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a:alphaModFix/>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a:alphaModFix/>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a:alphaModFix/>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Problems Involving Tangents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pic>
        <p:nvPicPr>
          <p:cNvPr id="283" name="Google Shape;283;g104476d1465_1_17"/>
          <p:cNvPicPr preferRelativeResize="0"/>
          <p:nvPr/>
        </p:nvPicPr>
        <p:blipFill>
          <a:blip r:embed="rId4">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MA.912.GR.6.2</a:t>
            </a:r>
          </a:p>
          <a:p>
            <a:pPr indent="0">
              <a:buNone/>
            </a:pPr>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Solve mathematical and real-world problems involving the measures of arcs and related angles.</a:t>
            </a:r>
            <a:r>
              <a:rPr lang="en-US" sz="3500" dirty="0">
                <a:latin typeface="Verdana" panose="020B0604030504040204" pitchFamily="34" charset="0"/>
                <a:ea typeface="Verdana" panose="020B0604030504040204" pitchFamily="34" charset="0"/>
                <a:cs typeface="Verdana" panose="020B0604030504040204" pitchFamily="34" charset="0"/>
              </a:rPr>
              <a:t>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855106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5263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1962797C-D115-7849-883B-0797884FD9A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a:alphaModFix/>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57200" y="1600200"/>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6575">
              <a:buFont typeface="Wingdings" pitchFamily="2" charset="2"/>
              <a:buChar char="q"/>
            </a:pPr>
            <a:r>
              <a:rPr lang="en-US" sz="3500" dirty="0">
                <a:latin typeface="Verdana" panose="020B0604030504040204" pitchFamily="34" charset="0"/>
                <a:ea typeface="MS Mincho" panose="02020609040205080304" pitchFamily="49" charset="-128"/>
                <a:cs typeface="Times New Roman" panose="02020603050405020304" pitchFamily="18" charset="0"/>
              </a:rPr>
              <a:t>I can solve problems related to tangents and secants and the measures of their intercepted arcs.</a:t>
            </a:r>
            <a:endParaRPr lang="en-US" sz="3500" dirty="0">
              <a:latin typeface="Cambria" panose="02040503050406030204" pitchFamily="18" charset="0"/>
              <a:ea typeface="MS Mincho" panose="02020609040205080304" pitchFamily="49" charset="-128"/>
              <a:cs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C6EF1B2E-2F67-3E4C-A2BB-A890C9E6C94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DF86F54A-5C43-B14D-85EF-C2FCF6A845CB}"/>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28150" y="622597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303390"/>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10.9.1 Warm-Up: Number Puzzle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93248" y="1091735"/>
            <a:ext cx="11034902"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MS Mincho" panose="02020609040205080304" pitchFamily="49" charset="-128"/>
                <a:cs typeface="Times New Roman" panose="02020603050405020304" pitchFamily="18" charset="0"/>
              </a:rPr>
              <a:t>In the circles, the outer numbers are used to calculate the number in the middle. Find the rule to determine what number should replace the question mark in the third circle.</a:t>
            </a:r>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9" name="Group 8">
            <a:extLst>
              <a:ext uri="{FF2B5EF4-FFF2-40B4-BE49-F238E27FC236}">
                <a16:creationId xmlns:a16="http://schemas.microsoft.com/office/drawing/2014/main" id="{E6447B95-6AE5-3F44-89A0-C9730F5B06F4}"/>
              </a:ext>
            </a:extLst>
          </p:cNvPr>
          <p:cNvGrpSpPr/>
          <p:nvPr/>
        </p:nvGrpSpPr>
        <p:grpSpPr>
          <a:xfrm>
            <a:off x="1209622" y="2954941"/>
            <a:ext cx="7094389" cy="2027936"/>
            <a:chOff x="0" y="0"/>
            <a:chExt cx="5322879" cy="1521502"/>
          </a:xfrm>
        </p:grpSpPr>
        <p:grpSp>
          <p:nvGrpSpPr>
            <p:cNvPr id="10" name="Group 9">
              <a:extLst>
                <a:ext uri="{FF2B5EF4-FFF2-40B4-BE49-F238E27FC236}">
                  <a16:creationId xmlns:a16="http://schemas.microsoft.com/office/drawing/2014/main" id="{50C85327-B48D-B048-9DBC-32AC8DB8BCBD}"/>
                </a:ext>
              </a:extLst>
            </p:cNvPr>
            <p:cNvGrpSpPr/>
            <p:nvPr/>
          </p:nvGrpSpPr>
          <p:grpSpPr>
            <a:xfrm>
              <a:off x="0" y="0"/>
              <a:ext cx="1596453" cy="1521502"/>
              <a:chOff x="0" y="0"/>
              <a:chExt cx="1596453" cy="1521502"/>
            </a:xfrm>
          </p:grpSpPr>
          <p:sp>
            <p:nvSpPr>
              <p:cNvPr id="38" name="Oval 37">
                <a:extLst>
                  <a:ext uri="{FF2B5EF4-FFF2-40B4-BE49-F238E27FC236}">
                    <a16:creationId xmlns:a16="http://schemas.microsoft.com/office/drawing/2014/main" id="{6E380F7D-EC89-BE47-94E3-BA7A92FA8C1F}"/>
                  </a:ext>
                </a:extLst>
              </p:cNvPr>
              <p:cNvSpPr/>
              <p:nvPr/>
            </p:nvSpPr>
            <p:spPr>
              <a:xfrm>
                <a:off x="0" y="0"/>
                <a:ext cx="1596453" cy="1521502"/>
              </a:xfrm>
              <a:prstGeom prst="ellipse">
                <a:avLst/>
              </a:prstGeom>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9" name="Straight Connector 38">
                <a:extLst>
                  <a:ext uri="{FF2B5EF4-FFF2-40B4-BE49-F238E27FC236}">
                    <a16:creationId xmlns:a16="http://schemas.microsoft.com/office/drawing/2014/main" id="{24DEF47C-0923-D54B-B152-28108C28AE2B}"/>
                  </a:ext>
                </a:extLst>
              </p:cNvPr>
              <p:cNvCxnSpPr/>
              <p:nvPr/>
            </p:nvCxnSpPr>
            <p:spPr>
              <a:xfrm>
                <a:off x="829664" y="0"/>
                <a:ext cx="0" cy="15214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1E358D8-ADB0-E842-8FB5-B7D7A23B85F2}"/>
                  </a:ext>
                </a:extLst>
              </p:cNvPr>
              <p:cNvCxnSpPr/>
              <p:nvPr/>
            </p:nvCxnSpPr>
            <p:spPr>
              <a:xfrm>
                <a:off x="0" y="777198"/>
                <a:ext cx="15963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1" name="Oval 40">
                <a:extLst>
                  <a:ext uri="{FF2B5EF4-FFF2-40B4-BE49-F238E27FC236}">
                    <a16:creationId xmlns:a16="http://schemas.microsoft.com/office/drawing/2014/main" id="{685341DD-7BC8-BF47-99CB-2FC6927938B7}"/>
                  </a:ext>
                </a:extLst>
              </p:cNvPr>
              <p:cNvSpPr/>
              <p:nvPr/>
            </p:nvSpPr>
            <p:spPr>
              <a:xfrm>
                <a:off x="569627" y="524655"/>
                <a:ext cx="479685" cy="487180"/>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1" name="Text Box 15">
              <a:extLst>
                <a:ext uri="{FF2B5EF4-FFF2-40B4-BE49-F238E27FC236}">
                  <a16:creationId xmlns:a16="http://schemas.microsoft.com/office/drawing/2014/main" id="{937E5F2A-92FD-C547-A864-E5D66CF86BF4}"/>
                </a:ext>
              </a:extLst>
            </p:cNvPr>
            <p:cNvSpPr txBox="1"/>
            <p:nvPr/>
          </p:nvSpPr>
          <p:spPr>
            <a:xfrm>
              <a:off x="239975" y="269566"/>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Math" panose="02040503050406030204" pitchFamily="18" charset="0"/>
                  <a:ea typeface="Cambria Math" panose="02040503050406030204" pitchFamily="18" charset="0"/>
                  <a:cs typeface="Times New Roman" panose="02020603050405020304" pitchFamily="18" charset="0"/>
                </a:rPr>
                <a:t>7</a:t>
              </a:r>
              <a:r>
                <a:rPr lang="en-US" sz="1200" dirty="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2" name="Group 11">
              <a:extLst>
                <a:ext uri="{FF2B5EF4-FFF2-40B4-BE49-F238E27FC236}">
                  <a16:creationId xmlns:a16="http://schemas.microsoft.com/office/drawing/2014/main" id="{D7D11D83-02F5-DA41-BF14-F4D5C1FEC909}"/>
                </a:ext>
              </a:extLst>
            </p:cNvPr>
            <p:cNvGrpSpPr/>
            <p:nvPr/>
          </p:nvGrpSpPr>
          <p:grpSpPr>
            <a:xfrm>
              <a:off x="1858297" y="0"/>
              <a:ext cx="1596453" cy="1521502"/>
              <a:chOff x="0" y="0"/>
              <a:chExt cx="1596453" cy="1521502"/>
            </a:xfrm>
          </p:grpSpPr>
          <p:sp>
            <p:nvSpPr>
              <p:cNvPr id="34" name="Oval 33">
                <a:extLst>
                  <a:ext uri="{FF2B5EF4-FFF2-40B4-BE49-F238E27FC236}">
                    <a16:creationId xmlns:a16="http://schemas.microsoft.com/office/drawing/2014/main" id="{817C9435-625A-EF4A-88C4-318416FE9BC9}"/>
                  </a:ext>
                </a:extLst>
              </p:cNvPr>
              <p:cNvSpPr/>
              <p:nvPr/>
            </p:nvSpPr>
            <p:spPr>
              <a:xfrm>
                <a:off x="0" y="0"/>
                <a:ext cx="1596453" cy="1521502"/>
              </a:xfrm>
              <a:prstGeom prst="ellipse">
                <a:avLst/>
              </a:prstGeom>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5" name="Straight Connector 34">
                <a:extLst>
                  <a:ext uri="{FF2B5EF4-FFF2-40B4-BE49-F238E27FC236}">
                    <a16:creationId xmlns:a16="http://schemas.microsoft.com/office/drawing/2014/main" id="{4D8F07CC-58E1-484C-9514-73011BF78A70}"/>
                  </a:ext>
                </a:extLst>
              </p:cNvPr>
              <p:cNvCxnSpPr/>
              <p:nvPr/>
            </p:nvCxnSpPr>
            <p:spPr>
              <a:xfrm>
                <a:off x="829664" y="0"/>
                <a:ext cx="0" cy="15214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B738B14-A418-0B46-B3E7-F039AABB0867}"/>
                  </a:ext>
                </a:extLst>
              </p:cNvPr>
              <p:cNvCxnSpPr/>
              <p:nvPr/>
            </p:nvCxnSpPr>
            <p:spPr>
              <a:xfrm>
                <a:off x="0" y="777198"/>
                <a:ext cx="15963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ECE41772-1974-C246-87CD-85B6FE94CCF8}"/>
                  </a:ext>
                </a:extLst>
              </p:cNvPr>
              <p:cNvSpPr/>
              <p:nvPr/>
            </p:nvSpPr>
            <p:spPr>
              <a:xfrm>
                <a:off x="569627" y="524655"/>
                <a:ext cx="479685" cy="487180"/>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4" name="Group 13">
              <a:extLst>
                <a:ext uri="{FF2B5EF4-FFF2-40B4-BE49-F238E27FC236}">
                  <a16:creationId xmlns:a16="http://schemas.microsoft.com/office/drawing/2014/main" id="{9EFB1E90-1CFE-5C46-B652-12D8DB78C32D}"/>
                </a:ext>
              </a:extLst>
            </p:cNvPr>
            <p:cNvGrpSpPr/>
            <p:nvPr/>
          </p:nvGrpSpPr>
          <p:grpSpPr>
            <a:xfrm>
              <a:off x="3726426" y="0"/>
              <a:ext cx="1596453" cy="1521502"/>
              <a:chOff x="0" y="0"/>
              <a:chExt cx="1596453" cy="1521502"/>
            </a:xfrm>
          </p:grpSpPr>
          <p:sp>
            <p:nvSpPr>
              <p:cNvPr id="30" name="Oval 29">
                <a:extLst>
                  <a:ext uri="{FF2B5EF4-FFF2-40B4-BE49-F238E27FC236}">
                    <a16:creationId xmlns:a16="http://schemas.microsoft.com/office/drawing/2014/main" id="{5FB5464F-3BA6-B841-8640-2D3BC9F3D5BF}"/>
                  </a:ext>
                </a:extLst>
              </p:cNvPr>
              <p:cNvSpPr/>
              <p:nvPr/>
            </p:nvSpPr>
            <p:spPr>
              <a:xfrm>
                <a:off x="0" y="0"/>
                <a:ext cx="1596453" cy="1521502"/>
              </a:xfrm>
              <a:prstGeom prst="ellipse">
                <a:avLst/>
              </a:prstGeom>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1" name="Straight Connector 30">
                <a:extLst>
                  <a:ext uri="{FF2B5EF4-FFF2-40B4-BE49-F238E27FC236}">
                    <a16:creationId xmlns:a16="http://schemas.microsoft.com/office/drawing/2014/main" id="{681848CB-B4A6-4042-88B1-21BE162BF3EA}"/>
                  </a:ext>
                </a:extLst>
              </p:cNvPr>
              <p:cNvCxnSpPr/>
              <p:nvPr/>
            </p:nvCxnSpPr>
            <p:spPr>
              <a:xfrm>
                <a:off x="829664" y="0"/>
                <a:ext cx="0" cy="15214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9CF3C53-A992-D34A-8099-C071B067B4E5}"/>
                  </a:ext>
                </a:extLst>
              </p:cNvPr>
              <p:cNvCxnSpPr/>
              <p:nvPr/>
            </p:nvCxnSpPr>
            <p:spPr>
              <a:xfrm>
                <a:off x="0" y="777198"/>
                <a:ext cx="159639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6BC93ED3-5537-B649-9D75-5ED0F5E6254C}"/>
                  </a:ext>
                </a:extLst>
              </p:cNvPr>
              <p:cNvSpPr/>
              <p:nvPr/>
            </p:nvSpPr>
            <p:spPr>
              <a:xfrm>
                <a:off x="569627" y="524655"/>
                <a:ext cx="479685" cy="487180"/>
              </a:xfrm>
              <a:prstGeom prst="ellipse">
                <a:avLst/>
              </a:prstGeom>
              <a:solidFill>
                <a:schemeClr val="bg1"/>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16" name="Text Box 33">
              <a:extLst>
                <a:ext uri="{FF2B5EF4-FFF2-40B4-BE49-F238E27FC236}">
                  <a16:creationId xmlns:a16="http://schemas.microsoft.com/office/drawing/2014/main" id="{9D15E5C3-3A10-664D-8BB8-ED335DA31E05}"/>
                </a:ext>
              </a:extLst>
            </p:cNvPr>
            <p:cNvSpPr txBox="1"/>
            <p:nvPr/>
          </p:nvSpPr>
          <p:spPr>
            <a:xfrm>
              <a:off x="997058" y="259734"/>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5</a:t>
              </a:r>
            </a:p>
          </p:txBody>
        </p:sp>
        <p:sp>
          <p:nvSpPr>
            <p:cNvPr id="17" name="Text Box 34">
              <a:extLst>
                <a:ext uri="{FF2B5EF4-FFF2-40B4-BE49-F238E27FC236}">
                  <a16:creationId xmlns:a16="http://schemas.microsoft.com/office/drawing/2014/main" id="{A3C81315-1244-5D4E-BFA6-9BAAD08E0455}"/>
                </a:ext>
              </a:extLst>
            </p:cNvPr>
            <p:cNvSpPr txBox="1"/>
            <p:nvPr/>
          </p:nvSpPr>
          <p:spPr>
            <a:xfrm>
              <a:off x="239975" y="1006986"/>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1</a:t>
              </a:r>
            </a:p>
          </p:txBody>
        </p:sp>
        <p:sp>
          <p:nvSpPr>
            <p:cNvPr id="18" name="Text Box 35">
              <a:extLst>
                <a:ext uri="{FF2B5EF4-FFF2-40B4-BE49-F238E27FC236}">
                  <a16:creationId xmlns:a16="http://schemas.microsoft.com/office/drawing/2014/main" id="{0CD466BD-D41D-0A4B-B9D2-0BF5C5B82266}"/>
                </a:ext>
              </a:extLst>
            </p:cNvPr>
            <p:cNvSpPr txBox="1"/>
            <p:nvPr/>
          </p:nvSpPr>
          <p:spPr>
            <a:xfrm>
              <a:off x="957730" y="1006986"/>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2</a:t>
              </a:r>
            </a:p>
          </p:txBody>
        </p:sp>
        <p:sp>
          <p:nvSpPr>
            <p:cNvPr id="19" name="Text Box 36">
              <a:extLst>
                <a:ext uri="{FF2B5EF4-FFF2-40B4-BE49-F238E27FC236}">
                  <a16:creationId xmlns:a16="http://schemas.microsoft.com/office/drawing/2014/main" id="{B0894FFF-0FAD-A149-9613-2CD43D0073BF}"/>
                </a:ext>
              </a:extLst>
            </p:cNvPr>
            <p:cNvSpPr txBox="1"/>
            <p:nvPr/>
          </p:nvSpPr>
          <p:spPr>
            <a:xfrm>
              <a:off x="2092433" y="259734"/>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12</a:t>
              </a:r>
            </a:p>
          </p:txBody>
        </p:sp>
        <p:sp>
          <p:nvSpPr>
            <p:cNvPr id="20" name="Text Box 37">
              <a:extLst>
                <a:ext uri="{FF2B5EF4-FFF2-40B4-BE49-F238E27FC236}">
                  <a16:creationId xmlns:a16="http://schemas.microsoft.com/office/drawing/2014/main" id="{69513CCE-93EF-694E-844F-1E2963A73825}"/>
                </a:ext>
              </a:extLst>
            </p:cNvPr>
            <p:cNvSpPr txBox="1"/>
            <p:nvPr/>
          </p:nvSpPr>
          <p:spPr>
            <a:xfrm>
              <a:off x="2839684" y="259734"/>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8</a:t>
              </a:r>
            </a:p>
          </p:txBody>
        </p:sp>
        <p:sp>
          <p:nvSpPr>
            <p:cNvPr id="21" name="Text Box 38">
              <a:extLst>
                <a:ext uri="{FF2B5EF4-FFF2-40B4-BE49-F238E27FC236}">
                  <a16:creationId xmlns:a16="http://schemas.microsoft.com/office/drawing/2014/main" id="{8A8787CE-8434-684A-8CA4-5AD09F91391B}"/>
                </a:ext>
              </a:extLst>
            </p:cNvPr>
            <p:cNvSpPr txBox="1"/>
            <p:nvPr/>
          </p:nvSpPr>
          <p:spPr>
            <a:xfrm>
              <a:off x="2839684" y="1006986"/>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3</a:t>
              </a:r>
            </a:p>
          </p:txBody>
        </p:sp>
        <p:sp>
          <p:nvSpPr>
            <p:cNvPr id="22" name="Text Box 40">
              <a:extLst>
                <a:ext uri="{FF2B5EF4-FFF2-40B4-BE49-F238E27FC236}">
                  <a16:creationId xmlns:a16="http://schemas.microsoft.com/office/drawing/2014/main" id="{6C2B2095-F165-014E-B6B1-42BD318D2A3E}"/>
                </a:ext>
              </a:extLst>
            </p:cNvPr>
            <p:cNvSpPr txBox="1"/>
            <p:nvPr/>
          </p:nvSpPr>
          <p:spPr>
            <a:xfrm>
              <a:off x="2102265" y="1006986"/>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6</a:t>
              </a:r>
            </a:p>
          </p:txBody>
        </p:sp>
        <p:sp>
          <p:nvSpPr>
            <p:cNvPr id="23" name="Text Box 41">
              <a:extLst>
                <a:ext uri="{FF2B5EF4-FFF2-40B4-BE49-F238E27FC236}">
                  <a16:creationId xmlns:a16="http://schemas.microsoft.com/office/drawing/2014/main" id="{FC8DA09F-FB43-B64D-9695-0DAF146236B0}"/>
                </a:ext>
              </a:extLst>
            </p:cNvPr>
            <p:cNvSpPr txBox="1"/>
            <p:nvPr/>
          </p:nvSpPr>
          <p:spPr>
            <a:xfrm>
              <a:off x="3914551" y="259735"/>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9</a:t>
              </a:r>
            </a:p>
          </p:txBody>
        </p:sp>
        <p:sp>
          <p:nvSpPr>
            <p:cNvPr id="24" name="Text Box 42">
              <a:extLst>
                <a:ext uri="{FF2B5EF4-FFF2-40B4-BE49-F238E27FC236}">
                  <a16:creationId xmlns:a16="http://schemas.microsoft.com/office/drawing/2014/main" id="{0C063540-B54A-6E48-9E4E-E870AD6945B6}"/>
                </a:ext>
              </a:extLst>
            </p:cNvPr>
            <p:cNvSpPr txBox="1"/>
            <p:nvPr/>
          </p:nvSpPr>
          <p:spPr>
            <a:xfrm>
              <a:off x="4710965" y="240071"/>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8</a:t>
              </a:r>
            </a:p>
          </p:txBody>
        </p:sp>
        <p:sp>
          <p:nvSpPr>
            <p:cNvPr id="25" name="Text Box 43">
              <a:extLst>
                <a:ext uri="{FF2B5EF4-FFF2-40B4-BE49-F238E27FC236}">
                  <a16:creationId xmlns:a16="http://schemas.microsoft.com/office/drawing/2014/main" id="{1B07D154-253B-2945-8A00-79910DF8ED12}"/>
                </a:ext>
              </a:extLst>
            </p:cNvPr>
            <p:cNvSpPr txBox="1"/>
            <p:nvPr/>
          </p:nvSpPr>
          <p:spPr>
            <a:xfrm>
              <a:off x="4710965" y="987322"/>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1</a:t>
              </a:r>
            </a:p>
          </p:txBody>
        </p:sp>
        <p:sp>
          <p:nvSpPr>
            <p:cNvPr id="26" name="Text Box 45">
              <a:extLst>
                <a:ext uri="{FF2B5EF4-FFF2-40B4-BE49-F238E27FC236}">
                  <a16:creationId xmlns:a16="http://schemas.microsoft.com/office/drawing/2014/main" id="{EDA92372-70E5-2544-A8F7-3CF425177697}"/>
                </a:ext>
              </a:extLst>
            </p:cNvPr>
            <p:cNvSpPr txBox="1"/>
            <p:nvPr/>
          </p:nvSpPr>
          <p:spPr>
            <a:xfrm>
              <a:off x="3934216" y="987322"/>
              <a:ext cx="405159" cy="405146"/>
            </a:xfrm>
            <a:prstGeom prst="rect">
              <a:avLst/>
            </a:prstGeom>
            <a:noFill/>
            <a:ln w="6350">
              <a:noFill/>
            </a:ln>
          </p:spPr>
          <p:txBody>
            <a:bodyPr rot="0" spcFirstLastPara="0" vert="horz" wrap="square" lIns="91440" tIns="45720" rIns="91440" bIns="45720" numCol="1" spcCol="0" rtlCol="0" fromWordArt="0" anchor="t"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4</a:t>
              </a:r>
            </a:p>
          </p:txBody>
        </p:sp>
        <p:sp>
          <p:nvSpPr>
            <p:cNvPr id="27" name="Text Box 47">
              <a:extLst>
                <a:ext uri="{FF2B5EF4-FFF2-40B4-BE49-F238E27FC236}">
                  <a16:creationId xmlns:a16="http://schemas.microsoft.com/office/drawing/2014/main" id="{60381DFC-2716-8A43-968F-2413F3D8F3DF}"/>
                </a:ext>
              </a:extLst>
            </p:cNvPr>
            <p:cNvSpPr txBox="1"/>
            <p:nvPr/>
          </p:nvSpPr>
          <p:spPr>
            <a:xfrm>
              <a:off x="569627" y="524655"/>
              <a:ext cx="490618" cy="487180"/>
            </a:xfrm>
            <a:prstGeom prst="rect">
              <a:avLst/>
            </a:prstGeom>
            <a:noFill/>
            <a:ln w="6350">
              <a:noFill/>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6</a:t>
              </a:r>
            </a:p>
          </p:txBody>
        </p:sp>
        <p:sp>
          <p:nvSpPr>
            <p:cNvPr id="28" name="Text Box 49">
              <a:extLst>
                <a:ext uri="{FF2B5EF4-FFF2-40B4-BE49-F238E27FC236}">
                  <a16:creationId xmlns:a16="http://schemas.microsoft.com/office/drawing/2014/main" id="{073D8DC4-EB8C-9E47-B95A-03489686FE08}"/>
                </a:ext>
              </a:extLst>
            </p:cNvPr>
            <p:cNvSpPr txBox="1"/>
            <p:nvPr/>
          </p:nvSpPr>
          <p:spPr>
            <a:xfrm>
              <a:off x="2427924" y="524654"/>
              <a:ext cx="479685" cy="487180"/>
            </a:xfrm>
            <a:prstGeom prst="rect">
              <a:avLst/>
            </a:prstGeom>
            <a:noFill/>
            <a:ln w="6350">
              <a:noFill/>
            </a:ln>
          </p:spPr>
          <p:txBody>
            <a:bodyPr rot="0" spcFirstLastPara="0" vert="horz" wrap="square" lIns="91440" tIns="45720" rIns="91440" bIns="45720" numCol="1" spcCol="0" rtlCol="0" fromWordArt="0" anchor="ctr" anchorCtr="1" forceAA="0" compatLnSpc="1">
              <a:prstTxWarp prst="textNoShape">
                <a:avLst/>
              </a:prstTxWarp>
              <a:noAutofit/>
            </a:bodyPr>
            <a:lstStyle/>
            <a:p>
              <a:pPr algn="ct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36</a:t>
              </a:r>
            </a:p>
          </p:txBody>
        </p:sp>
        <p:sp>
          <p:nvSpPr>
            <p:cNvPr id="29" name="Text Box 51">
              <a:extLst>
                <a:ext uri="{FF2B5EF4-FFF2-40B4-BE49-F238E27FC236}">
                  <a16:creationId xmlns:a16="http://schemas.microsoft.com/office/drawing/2014/main" id="{5C63733C-2C8A-DB46-91FD-1539C83406BE}"/>
                </a:ext>
              </a:extLst>
            </p:cNvPr>
            <p:cNvSpPr txBox="1"/>
            <p:nvPr/>
          </p:nvSpPr>
          <p:spPr>
            <a:xfrm>
              <a:off x="4296053" y="524655"/>
              <a:ext cx="480786" cy="487180"/>
            </a:xfrm>
            <a:prstGeom prst="rect">
              <a:avLst/>
            </a:prstGeom>
            <a:noFill/>
            <a:ln w="6350">
              <a:noFill/>
            </a:ln>
          </p:spPr>
          <p:txBody>
            <a:bodyPr rot="0" spcFirstLastPara="0" vert="horz" wrap="square" lIns="91440" tIns="45720" rIns="91440" bIns="45720" numCol="1" spcCol="0" rtlCol="0" fromWordArt="0" anchor="ctr" anchorCtr="1" forceAA="0" compatLnSpc="1">
              <a:prstTxWarp prst="textNoShape">
                <a:avLst/>
              </a:prstTxWarp>
              <a:noAutofit/>
            </a:bodyPr>
            <a:lstStyle/>
            <a:p>
              <a:pPr>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 </a:t>
              </a:r>
            </a:p>
          </p:txBody>
        </p:sp>
      </p:grpSp>
      <p:sp>
        <p:nvSpPr>
          <p:cNvPr id="42" name="Google Shape;282;g104476d1465_1_17">
            <a:extLst>
              <a:ext uri="{FF2B5EF4-FFF2-40B4-BE49-F238E27FC236}">
                <a16:creationId xmlns:a16="http://schemas.microsoft.com/office/drawing/2014/main" id="{E0517577-250F-094E-91EF-D22B1B3043D5}"/>
              </a:ext>
            </a:extLst>
          </p:cNvPr>
          <p:cNvSpPr txBox="1"/>
          <p:nvPr/>
        </p:nvSpPr>
        <p:spPr>
          <a:xfrm>
            <a:off x="8889924" y="648304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164</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7A302B30-F888-2749-8033-2296CD978D9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98752"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755908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10.9.2 Exploration: Intersecting Tangent Lines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3248" y="1386026"/>
                <a:ext cx="10625212" cy="452508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 your partner, answer the following.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Without measuring, which dashed line  represents the shortest distance from point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𝑃</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acc>
                      <m:accPr>
                        <m:chr m:val="̅"/>
                        <m:ctrlPr>
                          <a:rPr lang="en-US" sz="2400" i="1">
                            <a:latin typeface="Cambria Math" panose="02040503050406030204" pitchFamily="18" charset="0"/>
                            <a:ea typeface="Times New Roman" panose="02020603050405020304" pitchFamily="18" charset="0"/>
                            <a:cs typeface="Arial" panose="020B0604020202020204" pitchFamily="34" charset="0"/>
                          </a:rPr>
                        </m:ctrlPr>
                      </m:accPr>
                      <m:e>
                        <m:r>
                          <a:rPr lang="en-US" sz="2400" i="1">
                            <a:latin typeface="Cambria Math" panose="02040503050406030204" pitchFamily="18" charset="0"/>
                            <a:ea typeface="Times New Roman" panose="02020603050405020304" pitchFamily="18" charset="0"/>
                            <a:cs typeface="Arial" panose="020B0604020202020204" pitchFamily="34" charset="0"/>
                          </a:rPr>
                          <m:t>𝐴𝐵</m:t>
                        </m:r>
                      </m:e>
                    </m:acc>
                  </m:oMath>
                </a14:m>
                <a:r>
                  <a:rPr lang="en-US" sz="2400" dirty="0">
                    <a:latin typeface="Verdana" panose="020B0604030504040204" pitchFamily="34" charset="0"/>
                    <a:ea typeface="Verdana" panose="020B0604030504040204" pitchFamily="34" charset="0"/>
                    <a:cs typeface="Verdana" panose="020B0604030504040204" pitchFamily="34" charset="0"/>
                  </a:rPr>
                  <a:t>? Explain your answer.</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8" y="1386026"/>
                <a:ext cx="10625212" cy="4525085"/>
              </a:xfrm>
              <a:prstGeom prst="rect">
                <a:avLst/>
              </a:prstGeom>
              <a:blipFill>
                <a:blip r:embed="rId5"/>
                <a:stretch>
                  <a:fillRect l="-861" t="-1077" b="-1884"/>
                </a:stretch>
              </a:blipFill>
            </p:spPr>
            <p:txBody>
              <a:bodyPr/>
              <a:lstStyle/>
              <a:p>
                <a:r>
                  <a:rPr lang="en-US">
                    <a:noFill/>
                  </a:rPr>
                  <a:t> </a:t>
                </a:r>
              </a:p>
            </p:txBody>
          </p:sp>
        </mc:Fallback>
      </mc:AlternateContent>
      <p:pic>
        <p:nvPicPr>
          <p:cNvPr id="9" name="Picture 8" descr="Chart, radar chart, line chart&#10;&#10;Description automatically generated">
            <a:extLst>
              <a:ext uri="{FF2B5EF4-FFF2-40B4-BE49-F238E27FC236}">
                <a16:creationId xmlns:a16="http://schemas.microsoft.com/office/drawing/2014/main" id="{8EAD4034-6F5D-E14C-9DB1-0CEA6907150E}"/>
              </a:ext>
            </a:extLst>
          </p:cNvPr>
          <p:cNvPicPr/>
          <p:nvPr/>
        </p:nvPicPr>
        <p:blipFill rotWithShape="1">
          <a:blip r:embed="rId6" cstate="hqprint">
            <a:extLst>
              <a:ext uri="{28A0092B-C50C-407E-A947-70E740481C1C}">
                <a14:useLocalDpi xmlns:a14="http://schemas.microsoft.com/office/drawing/2010/main"/>
              </a:ext>
            </a:extLst>
          </a:blip>
          <a:srcRect/>
          <a:stretch/>
        </p:blipFill>
        <p:spPr bwMode="auto">
          <a:xfrm>
            <a:off x="2444485" y="1836402"/>
            <a:ext cx="3783833" cy="3176846"/>
          </a:xfrm>
          <a:prstGeom prst="rect">
            <a:avLst/>
          </a:prstGeom>
          <a:ln>
            <a:noFill/>
          </a:ln>
          <a:extLst>
            <a:ext uri="{53640926-AAD7-44D8-BBD7-CCE9431645EC}">
              <a14:shadowObscured xmlns:a14="http://schemas.microsoft.com/office/drawing/2010/main"/>
            </a:ext>
          </a:extLst>
        </p:spPr>
      </p:pic>
      <p:sp>
        <p:nvSpPr>
          <p:cNvPr id="11" name="Google Shape;282;g104476d1465_1_17">
            <a:extLst>
              <a:ext uri="{FF2B5EF4-FFF2-40B4-BE49-F238E27FC236}">
                <a16:creationId xmlns:a16="http://schemas.microsoft.com/office/drawing/2014/main" id="{02C570A0-74E7-D840-9AE6-0C51B6B2E7E9}"/>
              </a:ext>
            </a:extLst>
          </p:cNvPr>
          <p:cNvSpPr txBox="1"/>
          <p:nvPr/>
        </p:nvSpPr>
        <p:spPr>
          <a:xfrm>
            <a:off x="8860526"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Chart, radar chart&#10;&#10;Description automatically generated">
            <a:extLst>
              <a:ext uri="{FF2B5EF4-FFF2-40B4-BE49-F238E27FC236}">
                <a16:creationId xmlns:a16="http://schemas.microsoft.com/office/drawing/2014/main" id="{8B7BF139-A065-D64D-A73E-375AB2D6CEE9}"/>
              </a:ext>
            </a:extLst>
          </p:cNvPr>
          <p:cNvPicPr/>
          <p:nvPr/>
        </p:nvPicPr>
        <p:blipFill rotWithShape="1">
          <a:blip r:embed="rId3" cstate="hqprint">
            <a:extLst>
              <a:ext uri="{28A0092B-C50C-407E-A947-70E740481C1C}">
                <a14:useLocalDpi xmlns:a14="http://schemas.microsoft.com/office/drawing/2010/main"/>
              </a:ext>
            </a:extLst>
          </a:blip>
          <a:srcRect/>
          <a:stretch/>
        </p:blipFill>
        <p:spPr bwMode="auto">
          <a:xfrm>
            <a:off x="1245806" y="1645851"/>
            <a:ext cx="3632244" cy="3936322"/>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23391"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17174" y="373248"/>
                <a:ext cx="11006750" cy="708592"/>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Arial" panose="020B0604020202020204" pitchFamily="34" charset="0"/>
                  </a:rPr>
                  <a:t>Point </a:t>
                </a:r>
                <a14:m>
                  <m:oMath xmlns:m="http://schemas.openxmlformats.org/officeDocument/2006/math">
                    <m:r>
                      <a:rPr lang="en-US" sz="2000" i="1">
                        <a:latin typeface="Cambria Math" panose="02040503050406030204" pitchFamily="18" charset="0"/>
                        <a:ea typeface="Times New Roman" panose="02020603050405020304" pitchFamily="18" charset="0"/>
                        <a:cs typeface="Arial" panose="020B0604020202020204" pitchFamily="34" charset="0"/>
                      </a:rPr>
                      <m:t>𝑃</m:t>
                    </m:r>
                  </m:oMath>
                </a14:m>
                <a:r>
                  <a:rPr lang="en-US" sz="2000" dirty="0">
                    <a:latin typeface="Verdana" panose="020B0604030504040204" pitchFamily="34" charset="0"/>
                    <a:ea typeface="Times New Roman" panose="02020603050405020304" pitchFamily="18" charset="0"/>
                    <a:cs typeface="Arial" panose="020B0604020202020204" pitchFamily="34" charset="0"/>
                  </a:rPr>
                  <a:t> is the center of a circle that intersects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Arial" panose="020B0604020202020204" pitchFamily="34" charset="0"/>
                          </a:rPr>
                        </m:ctrlPr>
                      </m:accPr>
                      <m:e>
                        <m:r>
                          <a:rPr lang="en-US" sz="2000" i="1">
                            <a:latin typeface="Cambria Math" panose="02040503050406030204" pitchFamily="18" charset="0"/>
                            <a:ea typeface="Times New Roman" panose="02020603050405020304" pitchFamily="18" charset="0"/>
                            <a:cs typeface="Arial" panose="020B0604020202020204" pitchFamily="34" charset="0"/>
                          </a:rPr>
                          <m:t>𝐴𝐵</m:t>
                        </m:r>
                      </m:e>
                    </m:acc>
                  </m:oMath>
                </a14:m>
                <a:r>
                  <a:rPr lang="en-US" sz="2000" dirty="0">
                    <a:latin typeface="Verdana" panose="020B0604030504040204" pitchFamily="34" charset="0"/>
                    <a:ea typeface="Times New Roman" panose="02020603050405020304" pitchFamily="18" charset="0"/>
                    <a:cs typeface="Arial" panose="020B0604020202020204" pitchFamily="34" charset="0"/>
                  </a:rPr>
                  <a:t>. In the table, describe your observations of each dashed segment in relation to the center of Circle </a:t>
                </a:r>
                <a14:m>
                  <m:oMath xmlns:m="http://schemas.openxmlformats.org/officeDocument/2006/math">
                    <m:r>
                      <a:rPr lang="en-US" sz="2000" i="1">
                        <a:latin typeface="Cambria Math" panose="02040503050406030204" pitchFamily="18" charset="0"/>
                        <a:ea typeface="Times New Roman" panose="02020603050405020304" pitchFamily="18" charset="0"/>
                        <a:cs typeface="Arial" panose="020B0604020202020204" pitchFamily="34" charset="0"/>
                      </a:rPr>
                      <m:t>𝑃</m:t>
                    </m:r>
                  </m:oMath>
                </a14:m>
                <a:r>
                  <a:rPr lang="en-US" sz="2000" dirty="0">
                    <a:latin typeface="Verdana" panose="020B0604030504040204" pitchFamily="34" charset="0"/>
                    <a:ea typeface="Times New Roman" panose="02020603050405020304" pitchFamily="18" charset="0"/>
                    <a:cs typeface="Arial" panose="020B0604020202020204" pitchFamily="34" charset="0"/>
                  </a:rPr>
                  <a:t>.</a:t>
                </a:r>
                <a:endParaRPr lang="en-US"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17174" y="373248"/>
                <a:ext cx="11006750" cy="708592"/>
              </a:xfrm>
              <a:prstGeom prst="rect">
                <a:avLst/>
              </a:prstGeom>
              <a:blipFill>
                <a:blip r:embed="rId5"/>
                <a:stretch>
                  <a:fillRect t="-6034" r="-554" b="-14655"/>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A4001922-D8AF-2E42-9AF5-1D8CA545B13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88E6CD5-D0CB-E24E-B9FC-B8F8C5474B83}"/>
                  </a:ext>
                </a:extLst>
              </p:cNvPr>
              <p:cNvGraphicFramePr>
                <a:graphicFrameLocks noGrp="1"/>
              </p:cNvGraphicFramePr>
              <p:nvPr>
                <p:extLst>
                  <p:ext uri="{D42A27DB-BD31-4B8C-83A1-F6EECF244321}">
                    <p14:modId xmlns:p14="http://schemas.microsoft.com/office/powerpoint/2010/main" val="1470543348"/>
                  </p:ext>
                </p:extLst>
              </p:nvPr>
            </p:nvGraphicFramePr>
            <p:xfrm>
              <a:off x="5924047" y="1544012"/>
              <a:ext cx="4646216" cy="4140000"/>
            </p:xfrm>
            <a:graphic>
              <a:graphicData uri="http://schemas.openxmlformats.org/drawingml/2006/table">
                <a:tbl>
                  <a:tblPr firstRow="1" firstCol="1" bandRow="1"/>
                  <a:tblGrid>
                    <a:gridCol w="1766216">
                      <a:extLst>
                        <a:ext uri="{9D8B030D-6E8A-4147-A177-3AD203B41FA5}">
                          <a16:colId xmlns:a16="http://schemas.microsoft.com/office/drawing/2014/main" val="2785726374"/>
                        </a:ext>
                      </a:extLst>
                    </a:gridCol>
                    <a:gridCol w="2880000">
                      <a:extLst>
                        <a:ext uri="{9D8B030D-6E8A-4147-A177-3AD203B41FA5}">
                          <a16:colId xmlns:a16="http://schemas.microsoft.com/office/drawing/2014/main" val="1006721841"/>
                        </a:ext>
                      </a:extLst>
                    </a:gridCol>
                  </a:tblGrid>
                  <a:tr h="1260000">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Segment</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Relationship with the Center of Circle </a:t>
                          </a:r>
                          <a14:m>
                            <m:oMath xmlns:m="http://schemas.openxmlformats.org/officeDocument/2006/math">
                              <m:r>
                                <a:rPr lang="en-US" sz="2400" b="1"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𝑷</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1954465"/>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𝑃𝐺</m:t>
                                    </m:r>
                                  </m:e>
                                </m:acc>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707293"/>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𝑃𝑊</m:t>
                                    </m:r>
                                  </m:e>
                                </m:acc>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404472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𝑃𝐻</m:t>
                                    </m:r>
                                  </m:e>
                                </m:acc>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571444"/>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𝑃𝑋</m:t>
                                    </m:r>
                                  </m:e>
                                </m:acc>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1959704"/>
                      </a:ext>
                    </a:extLst>
                  </a:tr>
                </a:tbl>
              </a:graphicData>
            </a:graphic>
          </p:graphicFrame>
        </mc:Choice>
        <mc:Fallback xmlns="">
          <p:graphicFrame>
            <p:nvGraphicFramePr>
              <p:cNvPr id="8" name="Table 7">
                <a:extLst>
                  <a:ext uri="{FF2B5EF4-FFF2-40B4-BE49-F238E27FC236}">
                    <a16:creationId xmlns:a16="http://schemas.microsoft.com/office/drawing/2014/main" id="{F88E6CD5-D0CB-E24E-B9FC-B8F8C5474B83}"/>
                  </a:ext>
                </a:extLst>
              </p:cNvPr>
              <p:cNvGraphicFramePr>
                <a:graphicFrameLocks noGrp="1"/>
              </p:cNvGraphicFramePr>
              <p:nvPr>
                <p:extLst>
                  <p:ext uri="{D42A27DB-BD31-4B8C-83A1-F6EECF244321}">
                    <p14:modId xmlns:p14="http://schemas.microsoft.com/office/powerpoint/2010/main" val="1470543348"/>
                  </p:ext>
                </p:extLst>
              </p:nvPr>
            </p:nvGraphicFramePr>
            <p:xfrm>
              <a:off x="5924047" y="1544012"/>
              <a:ext cx="4646216" cy="4140000"/>
            </p:xfrm>
            <a:graphic>
              <a:graphicData uri="http://schemas.openxmlformats.org/drawingml/2006/table">
                <a:tbl>
                  <a:tblPr firstRow="1" firstCol="1" bandRow="1"/>
                  <a:tblGrid>
                    <a:gridCol w="1766216">
                      <a:extLst>
                        <a:ext uri="{9D8B030D-6E8A-4147-A177-3AD203B41FA5}">
                          <a16:colId xmlns:a16="http://schemas.microsoft.com/office/drawing/2014/main" val="2785726374"/>
                        </a:ext>
                      </a:extLst>
                    </a:gridCol>
                    <a:gridCol w="2880000">
                      <a:extLst>
                        <a:ext uri="{9D8B030D-6E8A-4147-A177-3AD203B41FA5}">
                          <a16:colId xmlns:a16="http://schemas.microsoft.com/office/drawing/2014/main" val="1006721841"/>
                        </a:ext>
                      </a:extLst>
                    </a:gridCol>
                  </a:tblGrid>
                  <a:tr h="1260000">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Segment</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1522" t="-966" r="-846" b="-229952"/>
                          </a:stretch>
                        </a:blipFill>
                      </a:tcPr>
                    </a:tc>
                    <a:extLst>
                      <a:ext uri="{0D108BD9-81ED-4DB2-BD59-A6C34878D82A}">
                        <a16:rowId xmlns:a16="http://schemas.microsoft.com/office/drawing/2014/main" val="1021954465"/>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45" t="-177119" r="-164483" b="-303390"/>
                          </a:stretch>
                        </a:blipFill>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707293"/>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45" t="-277119" r="-164483" b="-203390"/>
                          </a:stretch>
                        </a:blipFill>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404472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45" t="-373950" r="-164483" b="-101681"/>
                          </a:stretch>
                        </a:blipFill>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571444"/>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45" t="-477966" r="-164483" b="-2542"/>
                          </a:stretch>
                        </a:blipFill>
                      </a:tcPr>
                    </a:tc>
                    <a:tc>
                      <a:txBody>
                        <a:bodyPr/>
                        <a:lstStyle/>
                        <a:p>
                          <a:pPr marL="0" marR="0" algn="l">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1959704"/>
                      </a:ext>
                    </a:extLst>
                  </a:tr>
                </a:tbl>
              </a:graphicData>
            </a:graphic>
          </p:graphicFrame>
        </mc:Fallback>
      </mc:AlternateContent>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05927"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77361"/>
                <a:ext cx="10855316" cy="830997"/>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Arial" panose="020B0604020202020204" pitchFamily="34" charset="0"/>
                  </a:rPr>
                  <a:t>Discuss with your partner the relationship the blue segment has with the center of Circle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𝑃</m:t>
                    </m:r>
                  </m:oMath>
                </a14:m>
                <a:r>
                  <a:rPr lang="en-US" sz="2400" dirty="0">
                    <a:latin typeface="Verdana" panose="020B0604030504040204" pitchFamily="34" charset="0"/>
                    <a:ea typeface="Times New Roman" panose="02020603050405020304" pitchFamily="18" charset="0"/>
                    <a:cs typeface="Arial" panose="020B0604020202020204" pitchFamily="34" charset="0"/>
                  </a:rPr>
                  <a:t>. </a:t>
                </a:r>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7361"/>
                <a:ext cx="10855316" cy="830997"/>
              </a:xfrm>
              <a:prstGeom prst="rect">
                <a:avLst/>
              </a:prstGeom>
              <a:blipFill>
                <a:blip r:embed="rId4"/>
                <a:stretch>
                  <a:fillRect t="-5882" b="-15441"/>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E73259C2-B6C4-7344-AD17-27518FAEE2D7}"/>
              </a:ext>
            </a:extLst>
          </p:cNvPr>
          <p:cNvSpPr/>
          <p:nvPr/>
        </p:nvSpPr>
        <p:spPr>
          <a:xfrm>
            <a:off x="1702522" y="3760782"/>
            <a:ext cx="6300000" cy="925059"/>
          </a:xfrm>
          <a:prstGeom prst="roundRect">
            <a:avLst>
              <a:gd name="adj" fmla="val 16667"/>
            </a:avLst>
          </a:prstGeom>
          <a:solidFill>
            <a:srgbClr val="D9EAD3"/>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a:spcAft>
                <a:spcPts val="1000"/>
              </a:spcAft>
            </a:pPr>
            <a:r>
              <a:rPr lang="en-US" sz="2000" dirty="0">
                <a:solidFill>
                  <a:srgbClr val="6D983E"/>
                </a:solidFill>
                <a:latin typeface="Verdana" panose="020B0604030504040204" pitchFamily="34" charset="0"/>
                <a:ea typeface="MS Mincho" panose="02020609040205080304" pitchFamily="49" charset="-128"/>
                <a:cs typeface="Times New Roman" panose="02020603050405020304" pitchFamily="18" charset="0"/>
              </a:rPr>
              <a:t>A </a:t>
            </a:r>
            <a:r>
              <a:rPr lang="en-US" sz="2000" b="1" i="1" dirty="0">
                <a:solidFill>
                  <a:srgbClr val="6D983E"/>
                </a:solidFill>
                <a:latin typeface="Verdana" panose="020B0604030504040204" pitchFamily="34" charset="0"/>
                <a:ea typeface="MS Mincho" panose="02020609040205080304" pitchFamily="49" charset="-128"/>
                <a:cs typeface="Times New Roman" panose="02020603050405020304" pitchFamily="18" charset="0"/>
              </a:rPr>
              <a:t>tangent </a:t>
            </a:r>
            <a:r>
              <a:rPr lang="en-US" sz="2000" dirty="0">
                <a:solidFill>
                  <a:srgbClr val="6D983E"/>
                </a:solidFill>
                <a:latin typeface="Verdana" panose="020B0604030504040204" pitchFamily="34" charset="0"/>
                <a:ea typeface="MS Mincho" panose="02020609040205080304" pitchFamily="49" charset="-128"/>
                <a:cs typeface="Times New Roman" panose="02020603050405020304" pitchFamily="18" charset="0"/>
              </a:rPr>
              <a:t>is a line or segment that intersects a circle at exactly one point. </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grpSp>
        <p:nvGrpSpPr>
          <p:cNvPr id="11" name="Group 10">
            <a:extLst>
              <a:ext uri="{FF2B5EF4-FFF2-40B4-BE49-F238E27FC236}">
                <a16:creationId xmlns:a16="http://schemas.microsoft.com/office/drawing/2014/main" id="{A0B62254-2195-6B4C-88BA-8092F1AA55F5}"/>
              </a:ext>
            </a:extLst>
          </p:cNvPr>
          <p:cNvGrpSpPr/>
          <p:nvPr/>
        </p:nvGrpSpPr>
        <p:grpSpPr>
          <a:xfrm>
            <a:off x="1702522" y="4974766"/>
            <a:ext cx="6300000" cy="1225834"/>
            <a:chOff x="0" y="247608"/>
            <a:chExt cx="6300466" cy="1226996"/>
          </a:xfrm>
        </p:grpSpPr>
        <p:sp>
          <p:nvSpPr>
            <p:cNvPr id="13" name="Rounded Rectangle 12">
              <a:extLst>
                <a:ext uri="{FF2B5EF4-FFF2-40B4-BE49-F238E27FC236}">
                  <a16:creationId xmlns:a16="http://schemas.microsoft.com/office/drawing/2014/main" id="{AA935ABE-B853-0E42-8BFD-E3E584447BEB}"/>
                </a:ext>
              </a:extLst>
            </p:cNvPr>
            <p:cNvSpPr/>
            <p:nvPr/>
          </p:nvSpPr>
          <p:spPr>
            <a:xfrm>
              <a:off x="0" y="247608"/>
              <a:ext cx="6300466" cy="1226996"/>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91425" rIns="91425" bIns="91425" anchor="ctr" anchorCtr="0">
              <a:spAutoFit/>
            </a:bodyPr>
            <a:lstStyle/>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If a line is tangent to a circle, then it is perpendicular to a radius, which ends at the point of tangency.</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pic>
          <p:nvPicPr>
            <p:cNvPr id="14" name="Shape 6" descr="Icon&#10;&#10;Description automatically generated">
              <a:extLst>
                <a:ext uri="{FF2B5EF4-FFF2-40B4-BE49-F238E27FC236}">
                  <a16:creationId xmlns:a16="http://schemas.microsoft.com/office/drawing/2014/main" id="{496CF5F4-4DFE-EF43-AF80-FFD3FDA02FE3}"/>
                </a:ext>
              </a:extLst>
            </p:cNvPr>
            <p:cNvPicPr/>
            <p:nvPr/>
          </p:nvPicPr>
          <p:blipFill>
            <a:blip r:embed="rId5">
              <a:alphaModFix/>
            </a:blip>
            <a:stretch>
              <a:fillRect/>
            </a:stretch>
          </p:blipFill>
          <p:spPr>
            <a:xfrm>
              <a:off x="175416" y="368453"/>
              <a:ext cx="548681" cy="549160"/>
            </a:xfrm>
            <a:prstGeom prst="rect">
              <a:avLst/>
            </a:prstGeom>
            <a:noFill/>
            <a:ln>
              <a:noFill/>
            </a:ln>
            <a:effectLst>
              <a:outerShdw blurRad="50800" dist="38100" dir="2700000" algn="tl" rotWithShape="0">
                <a:prstClr val="black">
                  <a:alpha val="40000"/>
                </a:prstClr>
              </a:outerShdw>
            </a:effectLst>
          </p:spPr>
        </p:pic>
      </p:grpSp>
      <p:sp>
        <p:nvSpPr>
          <p:cNvPr id="15" name="Google Shape;282;g104476d1465_1_17">
            <a:extLst>
              <a:ext uri="{FF2B5EF4-FFF2-40B4-BE49-F238E27FC236}">
                <a16:creationId xmlns:a16="http://schemas.microsoft.com/office/drawing/2014/main" id="{62709DD5-4B70-CE4F-9D7F-7C80A9D07D8A}"/>
              </a:ext>
            </a:extLst>
          </p:cNvPr>
          <p:cNvSpPr txBox="1"/>
          <p:nvPr/>
        </p:nvSpPr>
        <p:spPr>
          <a:xfrm>
            <a:off x="8867701"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spTree>
    <p:extLst>
      <p:ext uri="{BB962C8B-B14F-4D97-AF65-F5344CB8AC3E}">
        <p14:creationId xmlns:p14="http://schemas.microsoft.com/office/powerpoint/2010/main" val="2362801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D7FBB0AA-58E5-2741-9DFF-8EB784B9C2E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a:extLst>
              <a:ext uri="{FF2B5EF4-FFF2-40B4-BE49-F238E27FC236}">
                <a16:creationId xmlns:a16="http://schemas.microsoft.com/office/drawing/2014/main" id="{1014072C-FEBA-8C46-B8F6-FEBD75A08791}"/>
              </a:ext>
            </a:extLst>
          </p:cNvPr>
          <p:cNvPicPr/>
          <p:nvPr/>
        </p:nvPicPr>
        <p:blipFill rotWithShape="1">
          <a:blip r:embed="rId3" cstate="hqprint">
            <a:extLst>
              <a:ext uri="{28A0092B-C50C-407E-A947-70E740481C1C}">
                <a14:useLocalDpi xmlns:a14="http://schemas.microsoft.com/office/drawing/2010/main"/>
              </a:ext>
            </a:extLst>
          </a:blip>
          <a:srcRect/>
          <a:stretch/>
        </p:blipFill>
        <p:spPr bwMode="auto">
          <a:xfrm>
            <a:off x="6852727" y="1098079"/>
            <a:ext cx="4660126" cy="3046763"/>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a:alphaModFix/>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8069" y="233831"/>
            <a:ext cx="9687309"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10.9.3 Collaboration: Angles Formed by Tangents and Secants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677746" y="1448454"/>
                <a:ext cx="6378147" cy="16319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MS Mincho" panose="02020609040205080304" pitchFamily="49" charset="-128"/>
                    <a:cs typeface="Times New Roman" panose="02020603050405020304" pitchFamily="18" charset="0"/>
                  </a:rPr>
                  <a:t>Circle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𝐺</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 with tangents </a:t>
                </a:r>
                <a14:m>
                  <m:oMath xmlns:m="http://schemas.openxmlformats.org/officeDocument/2006/math">
                    <m:acc>
                      <m:accPr>
                        <m:chr m:val="̅"/>
                        <m:ctrlPr>
                          <a:rPr lang="en-US" sz="2000" i="1">
                            <a:latin typeface="Cambria Math" panose="02040503050406030204" pitchFamily="18" charset="0"/>
                            <a:ea typeface="MS Mincho" panose="02020609040205080304" pitchFamily="49" charset="-128"/>
                            <a:cs typeface="Times New Roman" panose="02020603050405020304" pitchFamily="18" charset="0"/>
                          </a:rPr>
                        </m:ctrlPr>
                      </m:accPr>
                      <m:e>
                        <m:r>
                          <a:rPr lang="en-US" sz="2000" i="1">
                            <a:latin typeface="Cambria Math" panose="02040503050406030204" pitchFamily="18" charset="0"/>
                            <a:ea typeface="MS Mincho" panose="02020609040205080304" pitchFamily="49" charset="-128"/>
                            <a:cs typeface="Times New Roman" panose="02020603050405020304" pitchFamily="18" charset="0"/>
                          </a:rPr>
                          <m:t>𝑆𝐻</m:t>
                        </m:r>
                      </m:e>
                    </m:acc>
                  </m:oMath>
                </a14:m>
                <a:r>
                  <a:rPr lang="en-US" sz="2000" dirty="0">
                    <a:latin typeface="Verdana" panose="020B0604030504040204" pitchFamily="34" charset="0"/>
                    <a:ea typeface="MS Mincho" panose="02020609040205080304" pitchFamily="49" charset="-128"/>
                    <a:cs typeface="Times New Roman" panose="02020603050405020304" pitchFamily="18" charset="0"/>
                  </a:rPr>
                  <a:t> and </a:t>
                </a:r>
                <a14:m>
                  <m:oMath xmlns:m="http://schemas.openxmlformats.org/officeDocument/2006/math">
                    <m:acc>
                      <m:accPr>
                        <m:chr m:val="̅"/>
                        <m:ctrlPr>
                          <a:rPr lang="en-US" sz="2000" i="1">
                            <a:latin typeface="Cambria Math" panose="02040503050406030204" pitchFamily="18" charset="0"/>
                            <a:ea typeface="MS Mincho" panose="02020609040205080304" pitchFamily="49" charset="-128"/>
                            <a:cs typeface="Times New Roman" panose="02020603050405020304" pitchFamily="18" charset="0"/>
                          </a:rPr>
                        </m:ctrlPr>
                      </m:accPr>
                      <m:e>
                        <m:r>
                          <a:rPr lang="en-US" sz="2000" i="1">
                            <a:latin typeface="Cambria Math" panose="02040503050406030204" pitchFamily="18" charset="0"/>
                            <a:ea typeface="MS Mincho" panose="02020609040205080304" pitchFamily="49" charset="-128"/>
                            <a:cs typeface="Times New Roman" panose="02020603050405020304" pitchFamily="18" charset="0"/>
                          </a:rPr>
                          <m:t>𝑆𝐵</m:t>
                        </m:r>
                      </m:e>
                    </m:acc>
                  </m:oMath>
                </a14:m>
                <a:r>
                  <a:rPr lang="en-US" sz="2000" dirty="0">
                    <a:latin typeface="Verdana" panose="020B0604030504040204" pitchFamily="34" charset="0"/>
                    <a:ea typeface="MS Mincho" panose="02020609040205080304" pitchFamily="49" charset="-128"/>
                    <a:cs typeface="Times New Roman" panose="02020603050405020304" pitchFamily="18" charset="0"/>
                  </a:rPr>
                  <a:t> is shown. Use the diagram to answer the following.</a:t>
                </a:r>
              </a:p>
              <a:p>
                <a:pPr lvl="0"/>
                <a:endParaRPr lang="en-US" sz="2000" dirty="0">
                  <a:latin typeface="Cambria" panose="02040503050406030204" pitchFamily="18" charset="0"/>
                  <a:ea typeface="MS Mincho" panose="02020609040205080304" pitchFamily="49" charset="-128"/>
                  <a:cs typeface="Times New Roman" panose="02020603050405020304" pitchFamily="18" charset="0"/>
                </a:endParaRPr>
              </a:p>
              <a:p>
                <a:pPr lvl="0"/>
                <a:endParaRPr lang="en-US" sz="2000" dirty="0">
                  <a:latin typeface="Cambria" panose="02040503050406030204" pitchFamily="18" charset="0"/>
                  <a:ea typeface="MS Mincho" panose="02020609040205080304" pitchFamily="49" charset="-128"/>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MS Mincho" panose="02020609040205080304" pitchFamily="49" charset="-128"/>
                    <a:cs typeface="Times New Roman" panose="02020603050405020304" pitchFamily="18" charset="0"/>
                  </a:rPr>
                  <a:t>Complete the table.</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677746" y="1448454"/>
                <a:ext cx="6378147" cy="1631922"/>
              </a:xfrm>
              <a:prstGeom prst="rect">
                <a:avLst/>
              </a:prstGeom>
              <a:blipFill>
                <a:blip r:embed="rId6"/>
                <a:stretch>
                  <a:fillRect l="-1052" t="-2622" b="-5993"/>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4DD8C9D7-33D8-4B48-AEB7-1F20C676E75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89781D3C-BB9B-9C4B-8D4A-0006164B0EBD}"/>
                  </a:ext>
                </a:extLst>
              </p:cNvPr>
              <p:cNvGraphicFramePr>
                <a:graphicFrameLocks noGrp="1"/>
              </p:cNvGraphicFramePr>
              <p:nvPr>
                <p:extLst>
                  <p:ext uri="{D42A27DB-BD31-4B8C-83A1-F6EECF244321}">
                    <p14:modId xmlns:p14="http://schemas.microsoft.com/office/powerpoint/2010/main" val="4061147318"/>
                  </p:ext>
                </p:extLst>
              </p:nvPr>
            </p:nvGraphicFramePr>
            <p:xfrm>
              <a:off x="1691474" y="3894700"/>
              <a:ext cx="6660000" cy="2412000"/>
            </p:xfrm>
            <a:graphic>
              <a:graphicData uri="http://schemas.openxmlformats.org/drawingml/2006/table">
                <a:tbl>
                  <a:tblPr firstRow="1" firstCol="1" bandRow="1"/>
                  <a:tblGrid>
                    <a:gridCol w="2520000">
                      <a:extLst>
                        <a:ext uri="{9D8B030D-6E8A-4147-A177-3AD203B41FA5}">
                          <a16:colId xmlns:a16="http://schemas.microsoft.com/office/drawing/2014/main" val="2634413442"/>
                        </a:ext>
                      </a:extLst>
                    </a:gridCol>
                    <a:gridCol w="4140000">
                      <a:extLst>
                        <a:ext uri="{9D8B030D-6E8A-4147-A177-3AD203B41FA5}">
                          <a16:colId xmlns:a16="http://schemas.microsoft.com/office/drawing/2014/main" val="414764417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16821421"/>
                      </a:ext>
                    </a:extLst>
                  </a:tr>
                  <a:tr h="64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Major Arc </a:t>
                          </a:r>
                          <a14:m>
                            <m:oMath xmlns:m="http://schemas.openxmlformats.org/officeDocument/2006/math">
                              <m:r>
                                <a:rPr lang="en-US" sz="2000" b="1" i="1">
                                  <a:solidFill>
                                    <a:srgbClr val="000000"/>
                                  </a:solidFill>
                                  <a:effectLst/>
                                  <a:latin typeface="Cambria Math" panose="02040503050406030204" pitchFamily="18" charset="0"/>
                                  <a:ea typeface="MS Mincho" panose="02020609040205080304" pitchFamily="49" charset="-128"/>
                                  <a:cs typeface="Times New Roman" panose="02020603050405020304" pitchFamily="18" charset="0"/>
                                </a:rPr>
                                <m:t>𝑯𝑪𝑩</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6775251"/>
                      </a:ext>
                    </a:extLst>
                  </a:tr>
                  <a:tr h="64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Minor Arc </a:t>
                          </a:r>
                          <a14:m>
                            <m:oMath xmlns:m="http://schemas.openxmlformats.org/officeDocument/2006/math">
                              <m:r>
                                <a:rPr lang="en-US" sz="2000" b="1" i="1">
                                  <a:solidFill>
                                    <a:srgbClr val="000000"/>
                                  </a:solidFill>
                                  <a:effectLst/>
                                  <a:latin typeface="Cambria Math" panose="02040503050406030204" pitchFamily="18" charset="0"/>
                                  <a:ea typeface="MS Mincho" panose="02020609040205080304" pitchFamily="49" charset="-128"/>
                                  <a:cs typeface="Times New Roman" panose="02020603050405020304" pitchFamily="18" charset="0"/>
                                </a:rPr>
                                <m:t>𝑯𝑩</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585371"/>
                      </a:ext>
                    </a:extLst>
                  </a:tr>
                  <a:tr h="64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MS Mincho" panose="02020609040205080304" pitchFamily="49" charset="-128"/>
                                    <a:cs typeface="Times New Roman" panose="02020603050405020304" pitchFamily="18" charset="0"/>
                                  </a:rPr>
                                  <m:t>∠</m:t>
                                </m:r>
                                <m:r>
                                  <a:rPr lang="en-US" sz="2000" b="1" i="1">
                                    <a:solidFill>
                                      <a:srgbClr val="000000"/>
                                    </a:solidFill>
                                    <a:effectLst/>
                                    <a:latin typeface="Cambria Math" panose="02040503050406030204" pitchFamily="18" charset="0"/>
                                    <a:ea typeface="MS Mincho" panose="02020609040205080304" pitchFamily="49" charset="-128"/>
                                    <a:cs typeface="Times New Roman" panose="02020603050405020304" pitchFamily="18" charset="0"/>
                                  </a:rPr>
                                  <m:t>𝑯𝑺𝑩</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04768"/>
                      </a:ext>
                    </a:extLst>
                  </a:tr>
                </a:tbl>
              </a:graphicData>
            </a:graphic>
          </p:graphicFrame>
        </mc:Choice>
        <mc:Fallback xmlns="">
          <p:graphicFrame>
            <p:nvGraphicFramePr>
              <p:cNvPr id="13" name="Table 12">
                <a:extLst>
                  <a:ext uri="{FF2B5EF4-FFF2-40B4-BE49-F238E27FC236}">
                    <a16:creationId xmlns:a16="http://schemas.microsoft.com/office/drawing/2014/main" id="{89781D3C-BB9B-9C4B-8D4A-0006164B0EBD}"/>
                  </a:ext>
                </a:extLst>
              </p:cNvPr>
              <p:cNvGraphicFramePr>
                <a:graphicFrameLocks noGrp="1"/>
              </p:cNvGraphicFramePr>
              <p:nvPr>
                <p:extLst>
                  <p:ext uri="{D42A27DB-BD31-4B8C-83A1-F6EECF244321}">
                    <p14:modId xmlns:p14="http://schemas.microsoft.com/office/powerpoint/2010/main" val="4061147318"/>
                  </p:ext>
                </p:extLst>
              </p:nvPr>
            </p:nvGraphicFramePr>
            <p:xfrm>
              <a:off x="1691474" y="3894700"/>
              <a:ext cx="6660000" cy="2412000"/>
            </p:xfrm>
            <a:graphic>
              <a:graphicData uri="http://schemas.openxmlformats.org/drawingml/2006/table">
                <a:tbl>
                  <a:tblPr firstRow="1" firstCol="1" bandRow="1"/>
                  <a:tblGrid>
                    <a:gridCol w="2520000">
                      <a:extLst>
                        <a:ext uri="{9D8B030D-6E8A-4147-A177-3AD203B41FA5}">
                          <a16:colId xmlns:a16="http://schemas.microsoft.com/office/drawing/2014/main" val="2634413442"/>
                        </a:ext>
                      </a:extLst>
                    </a:gridCol>
                    <a:gridCol w="4140000">
                      <a:extLst>
                        <a:ext uri="{9D8B030D-6E8A-4147-A177-3AD203B41FA5}">
                          <a16:colId xmlns:a16="http://schemas.microsoft.com/office/drawing/2014/main" val="414764417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16821421"/>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7"/>
                          <a:stretch>
                            <a:fillRect l="-483" t="-72897" r="-164976" b="-20186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6775251"/>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7"/>
                          <a:stretch>
                            <a:fillRect l="-483" t="-174528" r="-164976" b="-10377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585371"/>
                      </a:ext>
                    </a:extLst>
                  </a:tr>
                  <a:tr h="64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7"/>
                          <a:stretch>
                            <a:fillRect l="-483" t="-271963" r="-164976" b="-280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04768"/>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40565" y="410666"/>
                <a:ext cx="11065362" cy="1538883"/>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values for the major and minor arcs of Circle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to determine a relationship between the arcs and the measure of the exterior angle formed by the two tangents. The relationship can be described using words or equations.</a:t>
                </a:r>
              </a:p>
              <a:p>
                <a:pPr marL="914400" indent="-457200">
                  <a:buFont typeface="+mj-lt"/>
                  <a:buAutoNum type="alphaLcPeriod" startAt="2"/>
                </a:pPr>
                <a:endParaRPr lang="en-US"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0666"/>
                <a:ext cx="11065362" cy="1538883"/>
              </a:xfrm>
              <a:prstGeom prst="rect">
                <a:avLst/>
              </a:prstGeom>
              <a:blipFill>
                <a:blip r:embed="rId4"/>
                <a:stretch>
                  <a:fillRect t="-2372"/>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82086954-7D25-D740-AE16-A0B2C3A97DED}"/>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317"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12244"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AA35BC6-D428-FC41-BDE5-6438AB8840FC}"/>
              </a:ext>
            </a:extLst>
          </p:cNvPr>
          <p:cNvSpPr txBox="1"/>
          <p:nvPr/>
        </p:nvSpPr>
        <p:spPr>
          <a:xfrm>
            <a:off x="546882" y="410666"/>
            <a:ext cx="11065362" cy="4708981"/>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Ask two other partner pairs to share their relationships. Record their relationships and ask them to initial verifying you have written it correctly. If their description or equation is different than yours, discuss the differences and determine if your description or equation needs to be revised.</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how to find the measure of an angle formed by two tangents drawn to a circle from a point outside that circle. Be sure to use the term(s) “intercepted arc(s)” at least once in the description. </a:t>
            </a:r>
            <a:endParaRPr lang="en-US" sz="2000" dirty="0">
              <a:latin typeface="Cambria" panose="02040503050406030204" pitchFamily="18" charset="0"/>
              <a:ea typeface="MS Mincho" panose="02020609040205080304" pitchFamily="49"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DB9363-7986-3E45-BCBE-B8008A4D339E}"/>
              </a:ext>
            </a:extLst>
          </p:cNvPr>
          <p:cNvGraphicFramePr>
            <a:graphicFrameLocks noGrp="1"/>
          </p:cNvGraphicFramePr>
          <p:nvPr>
            <p:extLst>
              <p:ext uri="{D42A27DB-BD31-4B8C-83A1-F6EECF244321}">
                <p14:modId xmlns:p14="http://schemas.microsoft.com/office/powerpoint/2010/main" val="2853858986"/>
              </p:ext>
            </p:extLst>
          </p:nvPr>
        </p:nvGraphicFramePr>
        <p:xfrm>
          <a:off x="1588822" y="1811156"/>
          <a:ext cx="6840000" cy="1908000"/>
        </p:xfrm>
        <a:graphic>
          <a:graphicData uri="http://schemas.openxmlformats.org/drawingml/2006/table">
            <a:tbl>
              <a:tblPr bandRow="1"/>
              <a:tblGrid>
                <a:gridCol w="5040000">
                  <a:extLst>
                    <a:ext uri="{9D8B030D-6E8A-4147-A177-3AD203B41FA5}">
                      <a16:colId xmlns:a16="http://schemas.microsoft.com/office/drawing/2014/main" val="3812697889"/>
                    </a:ext>
                  </a:extLst>
                </a:gridCol>
                <a:gridCol w="1800000">
                  <a:extLst>
                    <a:ext uri="{9D8B030D-6E8A-4147-A177-3AD203B41FA5}">
                      <a16:colId xmlns:a16="http://schemas.microsoft.com/office/drawing/2014/main" val="1275906397"/>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 or Equation</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7620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Initials</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12545481"/>
                  </a:ext>
                </a:extLst>
              </a:tr>
              <a:tr h="720000">
                <a:tc>
                  <a:txBody>
                    <a:bodyPr/>
                    <a:lstStyle/>
                    <a:p>
                      <a:pPr marL="914400" marR="0" algn="l">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14400" marR="0" algn="l">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2441550"/>
                  </a:ext>
                </a:extLst>
              </a:tr>
              <a:tr h="720000">
                <a:tc>
                  <a:txBody>
                    <a:bodyPr/>
                    <a:lstStyle/>
                    <a:p>
                      <a:pPr marL="914400" marR="0" algn="l">
                        <a:spcBef>
                          <a:spcPts val="0"/>
                        </a:spcBef>
                        <a:spcAft>
                          <a:spcPts val="0"/>
                        </a:spcAft>
                      </a:pP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914400" marR="0" algn="l">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6182664"/>
                  </a:ext>
                </a:extLst>
              </a:tr>
            </a:tbl>
          </a:graphicData>
        </a:graphic>
      </p:graphicFrame>
      <p:sp>
        <p:nvSpPr>
          <p:cNvPr id="8" name="Google Shape;282;g104476d1465_1_17">
            <a:extLst>
              <a:ext uri="{FF2B5EF4-FFF2-40B4-BE49-F238E27FC236}">
                <a16:creationId xmlns:a16="http://schemas.microsoft.com/office/drawing/2014/main" id="{73A1EFCB-7C18-B346-B9DC-1D285C99BA6E}"/>
              </a:ext>
            </a:extLst>
          </p:cNvPr>
          <p:cNvSpPr txBox="1"/>
          <p:nvPr/>
        </p:nvSpPr>
        <p:spPr>
          <a:xfrm>
            <a:off x="887401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endParaRPr i="1" dirty="0">
              <a:latin typeface="Calibri"/>
              <a:ea typeface="Calibri"/>
              <a:cs typeface="Calibri"/>
              <a:sym typeface="Calibri"/>
            </a:endParaRPr>
          </a:p>
        </p:txBody>
      </p:sp>
    </p:spTree>
    <p:extLst>
      <p:ext uri="{BB962C8B-B14F-4D97-AF65-F5344CB8AC3E}">
        <p14:creationId xmlns:p14="http://schemas.microsoft.com/office/powerpoint/2010/main" val="1481352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a:extLst>
              <a:ext uri="{FF2B5EF4-FFF2-40B4-BE49-F238E27FC236}">
                <a16:creationId xmlns:a16="http://schemas.microsoft.com/office/drawing/2014/main" id="{0B8433E9-E58A-1F4F-A3E5-99A3B2E4EAAB}"/>
              </a:ext>
            </a:extLst>
          </p:cNvPr>
          <p:cNvPicPr/>
          <p:nvPr/>
        </p:nvPicPr>
        <p:blipFill>
          <a:blip r:embed="rId3"/>
          <a:stretch>
            <a:fillRect/>
          </a:stretch>
        </p:blipFill>
        <p:spPr>
          <a:xfrm>
            <a:off x="6791214" y="1052141"/>
            <a:ext cx="5229225" cy="3162300"/>
          </a:xfrm>
          <a:prstGeom prst="rect">
            <a:avLst/>
          </a:prstGeom>
        </p:spPr>
      </p:pic>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a:alphaModFix/>
          </a:blip>
          <a:stretch>
            <a:fillRect/>
          </a:stretch>
        </p:blipFill>
        <p:spPr>
          <a:xfrm>
            <a:off x="11605927" y="6206316"/>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40565" y="410665"/>
                <a:ext cx="10961136" cy="440934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MS Mincho" panose="02020609040205080304" pitchFamily="49" charset="-128"/>
                    <a:cs typeface="Times New Roman" panose="02020603050405020304" pitchFamily="18" charset="0"/>
                  </a:rPr>
                  <a:t>Circle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𝐴</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 shows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m:t>
                    </m:r>
                    <m:r>
                      <a:rPr lang="en-US" sz="2000" i="1">
                        <a:latin typeface="Cambria Math" panose="02040503050406030204" pitchFamily="18" charset="0"/>
                        <a:ea typeface="MS Mincho" panose="02020609040205080304" pitchFamily="49" charset="-128"/>
                        <a:cs typeface="Times New Roman" panose="02020603050405020304" pitchFamily="18" charset="0"/>
                      </a:rPr>
                      <m:t>𝐺𝑆𝐻</m:t>
                    </m:r>
                    <m:r>
                      <a:rPr lang="en-US" sz="2000" i="1">
                        <a:latin typeface="Cambria Math" panose="02040503050406030204" pitchFamily="18" charset="0"/>
                        <a:ea typeface="MS Mincho" panose="02020609040205080304" pitchFamily="49" charset="-128"/>
                        <a:cs typeface="Times New Roman" panose="02020603050405020304" pitchFamily="18" charset="0"/>
                      </a:rPr>
                      <m:t> </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formed by the intersection of  tangent </a:t>
                </a:r>
                <a14:m>
                  <m:oMath xmlns:m="http://schemas.openxmlformats.org/officeDocument/2006/math">
                    <m:acc>
                      <m:accPr>
                        <m:chr m:val="̅"/>
                        <m:ctrlPr>
                          <a:rPr lang="en-US" sz="2000" i="1">
                            <a:latin typeface="Cambria Math" panose="02040503050406030204" pitchFamily="18" charset="0"/>
                            <a:ea typeface="MS Mincho" panose="02020609040205080304" pitchFamily="49" charset="-128"/>
                            <a:cs typeface="Times New Roman" panose="02020603050405020304" pitchFamily="18" charset="0"/>
                          </a:rPr>
                        </m:ctrlPr>
                      </m:accPr>
                      <m:e>
                        <m:r>
                          <a:rPr lang="en-US" sz="2000" i="1">
                            <a:latin typeface="Cambria Math" panose="02040503050406030204" pitchFamily="18" charset="0"/>
                            <a:ea typeface="MS Mincho" panose="02020609040205080304" pitchFamily="49" charset="-128"/>
                            <a:cs typeface="Times New Roman" panose="02020603050405020304" pitchFamily="18" charset="0"/>
                          </a:rPr>
                          <m:t>𝑆𝐻</m:t>
                        </m:r>
                      </m:e>
                    </m:acc>
                  </m:oMath>
                </a14:m>
                <a:r>
                  <a:rPr lang="en-US" sz="2000" dirty="0">
                    <a:latin typeface="Verdana" panose="020B0604030504040204" pitchFamily="34" charset="0"/>
                    <a:ea typeface="MS Mincho" panose="02020609040205080304" pitchFamily="49" charset="-128"/>
                    <a:cs typeface="Times New Roman" panose="02020603050405020304" pitchFamily="18" charset="0"/>
                  </a:rPr>
                  <a:t> and secant </a:t>
                </a:r>
                <a14:m>
                  <m:oMath xmlns:m="http://schemas.openxmlformats.org/officeDocument/2006/math">
                    <m:acc>
                      <m:accPr>
                        <m:chr m:val="̅"/>
                        <m:ctrlPr>
                          <a:rPr lang="en-US" sz="2000" i="1">
                            <a:latin typeface="Cambria Math" panose="02040503050406030204" pitchFamily="18" charset="0"/>
                            <a:ea typeface="MS Mincho" panose="02020609040205080304" pitchFamily="49" charset="-128"/>
                            <a:cs typeface="Times New Roman" panose="02020603050405020304" pitchFamily="18" charset="0"/>
                          </a:rPr>
                        </m:ctrlPr>
                      </m:accPr>
                      <m:e>
                        <m:r>
                          <a:rPr lang="en-US" sz="2000" i="1">
                            <a:latin typeface="Cambria Math" panose="02040503050406030204" pitchFamily="18" charset="0"/>
                            <a:ea typeface="MS Mincho" panose="02020609040205080304" pitchFamily="49" charset="-128"/>
                            <a:cs typeface="Times New Roman" panose="02020603050405020304" pitchFamily="18" charset="0"/>
                          </a:rPr>
                          <m:t>𝐺𝑆</m:t>
                        </m:r>
                      </m:e>
                    </m:acc>
                  </m:oMath>
                </a14:m>
                <a:r>
                  <a:rPr lang="en-US" sz="2000" dirty="0">
                    <a:latin typeface="Verdana" panose="020B0604030504040204" pitchFamily="34" charset="0"/>
                    <a:ea typeface="MS Mincho" panose="02020609040205080304" pitchFamily="49" charset="-128"/>
                    <a:cs typeface="Times New Roman" panose="02020603050405020304" pitchFamily="18" charset="0"/>
                  </a:rPr>
                  <a:t> outside the circle at point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𝑆</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0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000" i="1">
                            <a:latin typeface="Cambria Math" panose="02040503050406030204" pitchFamily="18" charset="0"/>
                            <a:ea typeface="MS Mincho" panose="02020609040205080304" pitchFamily="49" charset="-128"/>
                            <a:cs typeface="Times New Roman" panose="02020603050405020304" pitchFamily="18" charset="0"/>
                          </a:rPr>
                          <m:t>𝐺𝐻</m:t>
                        </m:r>
                      </m:e>
                    </m:groupChr>
                    <m:r>
                      <a:rPr lang="en-US" sz="2000" i="1">
                        <a:latin typeface="Cambria Math" panose="02040503050406030204" pitchFamily="18" charset="0"/>
                        <a:ea typeface="MS Mincho" panose="02020609040205080304" pitchFamily="49" charset="-128"/>
                        <a:cs typeface="Times New Roman" panose="02020603050405020304" pitchFamily="18" charset="0"/>
                      </a:rPr>
                      <m:t>=164°</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0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000" i="1">
                            <a:latin typeface="Cambria Math" panose="02040503050406030204" pitchFamily="18" charset="0"/>
                            <a:ea typeface="MS Mincho" panose="02020609040205080304" pitchFamily="49" charset="-128"/>
                            <a:cs typeface="Times New Roman" panose="02020603050405020304" pitchFamily="18" charset="0"/>
                          </a:rPr>
                          <m:t>𝑇𝐻</m:t>
                        </m:r>
                      </m:e>
                    </m:groupChr>
                    <m:r>
                      <a:rPr lang="en-US" sz="2000" i="1">
                        <a:latin typeface="Cambria Math" panose="02040503050406030204" pitchFamily="18" charset="0"/>
                        <a:ea typeface="MS Mincho" panose="02020609040205080304" pitchFamily="49" charset="-128"/>
                        <a:cs typeface="Times New Roman" panose="02020603050405020304" pitchFamily="18" charset="0"/>
                      </a:rPr>
                      <m:t>=74°</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𝑚</m:t>
                    </m:r>
                    <m:r>
                      <a:rPr lang="en-US" sz="2000" i="1">
                        <a:latin typeface="Cambria Math" panose="02040503050406030204" pitchFamily="18" charset="0"/>
                        <a:ea typeface="MS Mincho" panose="02020609040205080304" pitchFamily="49" charset="-128"/>
                        <a:cs typeface="Times New Roman" panose="02020603050405020304" pitchFamily="18" charset="0"/>
                      </a:rPr>
                      <m:t>∠</m:t>
                    </m:r>
                    <m:r>
                      <a:rPr lang="en-US" sz="2000" i="1">
                        <a:latin typeface="Cambria Math" panose="02040503050406030204" pitchFamily="18" charset="0"/>
                        <a:ea typeface="MS Mincho" panose="02020609040205080304" pitchFamily="49" charset="-128"/>
                        <a:cs typeface="Times New Roman" panose="02020603050405020304" pitchFamily="18" charset="0"/>
                      </a:rPr>
                      <m:t>𝐺𝑆𝐻</m:t>
                    </m:r>
                    <m:r>
                      <a:rPr lang="en-US" sz="2000" i="1">
                        <a:latin typeface="Cambria Math" panose="02040503050406030204" pitchFamily="18" charset="0"/>
                        <a:ea typeface="MS Mincho" panose="02020609040205080304" pitchFamily="49" charset="-128"/>
                        <a:cs typeface="Times New Roman" panose="02020603050405020304" pitchFamily="18" charset="0"/>
                      </a:rPr>
                      <m:t>=45°</m:t>
                    </m:r>
                  </m:oMath>
                </a14:m>
                <a:r>
                  <a:rPr lang="en-US" sz="2000" dirty="0">
                    <a:latin typeface="Verdana" panose="020B0604030504040204" pitchFamily="34" charset="0"/>
                    <a:ea typeface="MS Mincho" panose="02020609040205080304" pitchFamily="49" charset="-128"/>
                    <a:cs typeface="Times New Roman" panose="02020603050405020304" pitchFamily="18" charset="0"/>
                  </a:rPr>
                  <a:t>.</a:t>
                </a:r>
              </a:p>
              <a:p>
                <a:pPr marL="457200" indent="-457200">
                  <a:buFont typeface="+mj-lt"/>
                  <a:buAutoNum type="arabicPeriod" startAt="2"/>
                </a:pPr>
                <a:endParaRPr lang="en-US" dirty="0">
                  <a:latin typeface="Cambria" panose="02040503050406030204" pitchFamily="18" charset="0"/>
                  <a:ea typeface="MS Mincho" panose="02020609040205080304" pitchFamily="49" charset="-128"/>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the values for </a:t>
                </a:r>
                <a14:m>
                  <m:oMath xmlns:m="http://schemas.openxmlformats.org/officeDocument/2006/math">
                    <m:groupChr>
                      <m:groupChrPr>
                        <m:chr m:val="⏜"/>
                        <m:pos m:val="top"/>
                        <m:vertJc m:val="bot"/>
                        <m:ctrlPr>
                          <a:rPr lang="en-US" sz="20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000" i="1">
                            <a:latin typeface="Cambria Math" panose="02040503050406030204" pitchFamily="18" charset="0"/>
                            <a:ea typeface="MS Mincho" panose="02020609040205080304" pitchFamily="49" charset="-128"/>
                            <a:cs typeface="Times New Roman" panose="02020603050405020304" pitchFamily="18" charset="0"/>
                          </a:rPr>
                          <m:t>𝐺𝐻</m:t>
                        </m:r>
                      </m:e>
                    </m:groupCh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groupChr>
                      <m:groupChrPr>
                        <m:chr m:val="⏜"/>
                        <m:pos m:val="top"/>
                        <m:vertJc m:val="bot"/>
                        <m:ctrlPr>
                          <a:rPr lang="en-US" sz="20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000" i="1">
                            <a:latin typeface="Cambria Math" panose="02040503050406030204" pitchFamily="18" charset="0"/>
                            <a:ea typeface="MS Mincho" panose="02020609040205080304" pitchFamily="49" charset="-128"/>
                            <a:cs typeface="Times New Roman" panose="02020603050405020304" pitchFamily="18" charset="0"/>
                          </a:rPr>
                          <m:t>𝑇𝐻</m:t>
                        </m:r>
                      </m:e>
                    </m:groupChr>
                    <m:r>
                      <a:rPr lang="en-US" sz="2000" i="1">
                        <a:latin typeface="Cambria Math" panose="02040503050406030204" pitchFamily="18" charset="0"/>
                        <a:ea typeface="MS Mincho" panose="02020609040205080304" pitchFamily="49" charset="-128"/>
                        <a:cs typeface="Times New Roman" panose="020206030504050203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of Circle </a:t>
                </a:r>
                <a14:m>
                  <m:oMath xmlns:m="http://schemas.openxmlformats.org/officeDocument/2006/math">
                    <m:r>
                      <a:rPr lang="en-US" sz="2000" i="1">
                        <a:latin typeface="Cambria Math" panose="02040503050406030204" pitchFamily="18" charset="0"/>
                        <a:ea typeface="MS Mincho" panose="02020609040205080304" pitchFamily="49" charset="-128"/>
                        <a:cs typeface="Times New Roman" panose="020206030504050203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to determine the relationship between the                                             arcs and the measure of the exterior angle                                            formed by the tangent and the secant.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the relationship with your partner.</a:t>
                </a: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540565" y="410665"/>
                <a:ext cx="10961136" cy="4409349"/>
              </a:xfrm>
              <a:prstGeom prst="rect">
                <a:avLst/>
              </a:prstGeom>
              <a:blipFill>
                <a:blip r:embed="rId5"/>
                <a:stretch>
                  <a:fillRect l="-612" t="-829" b="-1657"/>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D3941B9B-484C-6E45-A7BB-A3A1B72A2544}"/>
              </a:ext>
            </a:extLst>
          </p:cNvPr>
          <p:cNvSpPr txBox="1"/>
          <p:nvPr/>
        </p:nvSpPr>
        <p:spPr>
          <a:xfrm>
            <a:off x="8867701" y="64633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endParaRPr i="1" dirty="0">
              <a:latin typeface="Calibri"/>
              <a:ea typeface="Calibri"/>
              <a:cs typeface="Calibri"/>
              <a:sym typeface="Calibri"/>
            </a:endParaRPr>
          </a:p>
        </p:txBody>
      </p:sp>
    </p:spTree>
    <p:extLst>
      <p:ext uri="{BB962C8B-B14F-4D97-AF65-F5344CB8AC3E}">
        <p14:creationId xmlns:p14="http://schemas.microsoft.com/office/powerpoint/2010/main" val="3677127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grpSp>
        <p:nvGrpSpPr>
          <p:cNvPr id="9" name="Group 8">
            <a:extLst>
              <a:ext uri="{FF2B5EF4-FFF2-40B4-BE49-F238E27FC236}">
                <a16:creationId xmlns:a16="http://schemas.microsoft.com/office/drawing/2014/main" id="{A10B7224-44B5-4A41-BCE5-7EEFED1DB9AA}"/>
              </a:ext>
            </a:extLst>
          </p:cNvPr>
          <p:cNvGrpSpPr/>
          <p:nvPr/>
        </p:nvGrpSpPr>
        <p:grpSpPr>
          <a:xfrm>
            <a:off x="1006198" y="1713905"/>
            <a:ext cx="7579579" cy="3132000"/>
            <a:chOff x="-176659" y="-363235"/>
            <a:chExt cx="7580139" cy="2357338"/>
          </a:xfrm>
        </p:grpSpPr>
        <mc:AlternateContent xmlns:mc="http://schemas.openxmlformats.org/markup-compatibility/2006">
          <mc:Choice xmlns:a14="http://schemas.microsoft.com/office/drawing/2010/main" Requires="a14">
            <p:sp>
              <p:nvSpPr>
                <p:cNvPr id="10" name="Rounded Rectangle 9">
                  <a:extLst>
                    <a:ext uri="{FF2B5EF4-FFF2-40B4-BE49-F238E27FC236}">
                      <a16:creationId xmlns:a16="http://schemas.microsoft.com/office/drawing/2014/main" id="{FBF6D833-AE5D-FB48-A114-E0EEF5E081DA}"/>
                    </a:ext>
                  </a:extLst>
                </p:cNvPr>
                <p:cNvSpPr/>
                <p:nvPr/>
              </p:nvSpPr>
              <p:spPr>
                <a:xfrm>
                  <a:off x="-176659" y="-363235"/>
                  <a:ext cx="7580139" cy="2357338"/>
                </a:xfrm>
                <a:prstGeom prst="roundRect">
                  <a:avLst>
                    <a:gd name="adj" fmla="val 16667"/>
                  </a:avLst>
                </a:prstGeom>
                <a:solidFill>
                  <a:srgbClr val="AEDBF1"/>
                </a:solidFill>
                <a:ln>
                  <a:noFill/>
                </a:ln>
                <a:effectLst>
                  <a:outerShdw blurRad="50800" dist="38100" dir="2700000" algn="tl" rotWithShape="0">
                    <a:prstClr val="black">
                      <a:alpha val="40000"/>
                    </a:prstClr>
                  </a:outerShdw>
                </a:effectLst>
              </p:spPr>
              <p:txBody>
                <a:bodyPr spcFirstLastPara="1" wrap="square" lIns="91425" tIns="72000" rIns="91425" bIns="0" anchor="t" anchorCtr="0">
                  <a:noAutofit/>
                </a:bodyPr>
                <a:lstStyle/>
                <a:p>
                  <a:pPr marL="633413"/>
                  <a:r>
                    <a:rPr lang="en-US" sz="2000" dirty="0">
                      <a:solidFill>
                        <a:srgbClr val="00619E"/>
                      </a:solidFill>
                      <a:latin typeface="Verdana" pitchFamily="34" charset="0"/>
                      <a:ea typeface="Verdana" pitchFamily="34" charset="0"/>
                      <a:cs typeface="Verdana" pitchFamily="34" charset="0"/>
                    </a:rPr>
                    <a:t>The formula for the measure of an</a:t>
                  </a:r>
                  <a:r>
                    <a:rPr lang="en-US" sz="2000" b="1" dirty="0">
                      <a:solidFill>
                        <a:srgbClr val="00619E"/>
                      </a:solidFill>
                      <a:latin typeface="Verdana" pitchFamily="34" charset="0"/>
                      <a:ea typeface="Verdana" pitchFamily="34" charset="0"/>
                      <a:cs typeface="Verdana" pitchFamily="34" charset="0"/>
                    </a:rPr>
                    <a:t> External Angle to a Circle</a:t>
                  </a:r>
                  <a:r>
                    <a:rPr lang="en-US" sz="2000" dirty="0">
                      <a:solidFill>
                        <a:srgbClr val="00619E"/>
                      </a:solidFill>
                      <a:latin typeface="Verdana" pitchFamily="34" charset="0"/>
                      <a:ea typeface="Verdana" pitchFamily="34" charset="0"/>
                      <a:cs typeface="Verdana" pitchFamily="34" charset="0"/>
                    </a:rPr>
                    <a:t> formed by two tangents, </a:t>
                  </a:r>
                  <a:br>
                    <a:rPr lang="en-US" sz="2000" dirty="0">
                      <a:solidFill>
                        <a:srgbClr val="00619E"/>
                      </a:solidFill>
                      <a:latin typeface="Verdana" pitchFamily="34" charset="0"/>
                      <a:ea typeface="Verdana" pitchFamily="34" charset="0"/>
                      <a:cs typeface="Verdana" pitchFamily="34" charset="0"/>
                    </a:rPr>
                  </a:br>
                  <a:r>
                    <a:rPr lang="en-US" sz="2000" dirty="0">
                      <a:solidFill>
                        <a:srgbClr val="00619E"/>
                      </a:solidFill>
                      <a:latin typeface="Verdana" pitchFamily="34" charset="0"/>
                      <a:ea typeface="Verdana" pitchFamily="34" charset="0"/>
                      <a:cs typeface="Verdana" pitchFamily="34" charset="0"/>
                    </a:rPr>
                    <a:t>two secants, or a tangent and a secant is </a:t>
                  </a:r>
                  <a:endParaRPr lang="en-US" sz="2000" dirty="0">
                    <a:latin typeface="Verdana" pitchFamily="34" charset="0"/>
                    <a:ea typeface="Verdana" pitchFamily="34" charset="0"/>
                    <a:cs typeface="Verdana" pitchFamily="34" charset="0"/>
                  </a:endParaRPr>
                </a:p>
                <a:p>
                  <a:pPr marL="685800"/>
                  <a:r>
                    <a:rPr lang="en-US" sz="2000" dirty="0">
                      <a:solidFill>
                        <a:srgbClr val="00619E"/>
                      </a:solidFill>
                      <a:latin typeface="Verdana" pitchFamily="34" charset="0"/>
                      <a:ea typeface="Verdana" pitchFamily="34" charset="0"/>
                      <a:cs typeface="Verdana" pitchFamily="34" charset="0"/>
                    </a:rPr>
                    <a:t> </a:t>
                  </a:r>
                  <a:endParaRPr lang="en-US" sz="2000" dirty="0">
                    <a:latin typeface="Verdana" pitchFamily="34" charset="0"/>
                    <a:ea typeface="Verdana" pitchFamily="34" charset="0"/>
                    <a:cs typeface="Verdana" pitchFamily="34" charset="0"/>
                  </a:endParaRPr>
                </a:p>
                <a:p>
                  <a:pPr>
                    <a:spcAft>
                      <a:spcPts val="1200"/>
                    </a:spcAft>
                  </a:pPr>
                  <a:r>
                    <a:rPr lang="en-US" sz="2000" dirty="0">
                      <a:solidFill>
                        <a:srgbClr val="00619E"/>
                      </a:solidFill>
                      <a:latin typeface="Verdana" pitchFamily="34" charset="0"/>
                      <a:ea typeface="Verdana" pitchFamily="34" charset="0"/>
                      <a:cs typeface="Verdana" pitchFamily="34" charset="0"/>
                    </a:rPr>
                    <a:t>Measure of angle formed </a:t>
                  </a:r>
                  <a14:m>
                    <m:oMath xmlns:m="http://schemas.openxmlformats.org/officeDocument/2006/math">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m:t>
                      </m:r>
                      <m:f>
                        <m:fPr>
                          <m:ctrlP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1</m:t>
                          </m:r>
                        </m:num>
                        <m:den>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2</m:t>
                          </m:r>
                        </m:den>
                      </m:f>
                      <m:d>
                        <m:dPr>
                          <m:ctrlP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ctrlPr>
                        </m:dPr>
                        <m:e>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difference</m:t>
                          </m:r>
                          <m: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of</m:t>
                          </m:r>
                          <m: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intercepted</m:t>
                          </m:r>
                          <m: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arcs</m:t>
                          </m:r>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spcAft>
                      <a:spcPts val="1200"/>
                    </a:spcAft>
                  </a:pPr>
                  <a:r>
                    <a:rPr lang="en-US" sz="2000" dirty="0">
                      <a:solidFill>
                        <a:srgbClr val="00619E"/>
                      </a:solidFill>
                      <a:latin typeface="Verdana" pitchFamily="34" charset="0"/>
                      <a:ea typeface="Verdana" pitchFamily="34" charset="0"/>
                      <a:cs typeface="Verdana" pitchFamily="34" charset="0"/>
                    </a:rPr>
                    <a:t>OR</a:t>
                  </a: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r>
                    <a:rPr lang="en-US" sz="2000" dirty="0">
                      <a:solidFill>
                        <a:srgbClr val="00619E"/>
                      </a:solidFill>
                      <a:latin typeface="Verdana" pitchFamily="34" charset="0"/>
                      <a:ea typeface="Verdana" pitchFamily="34" charset="0"/>
                      <a:cs typeface="Verdana" pitchFamily="34" charset="0"/>
                    </a:rPr>
                    <a:t>Measure of angle formed </a:t>
                  </a:r>
                  <a14:m>
                    <m:oMath xmlns:m="http://schemas.openxmlformats.org/officeDocument/2006/math">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m:t>
                      </m:r>
                      <m:f>
                        <m:fPr>
                          <m:ctrlP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1</m:t>
                          </m:r>
                        </m:num>
                        <m:den>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2</m:t>
                          </m:r>
                        </m:den>
                      </m:f>
                      <m:d>
                        <m:dPr>
                          <m:ctrlP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ctrlPr>
                        </m:dPr>
                        <m:e>
                          <m:r>
                            <m:rPr>
                              <m:sty m:val="p"/>
                            </m:rPr>
                            <a:rPr lang="en-US" sz="2000" b="0" i="0" smtClean="0">
                              <a:solidFill>
                                <a:srgbClr val="00619E"/>
                              </a:solidFill>
                              <a:latin typeface="Cambria Math" panose="02040503050406030204" pitchFamily="18" charset="0"/>
                              <a:ea typeface="Verdana" panose="020B0604030504040204" pitchFamily="34" charset="0"/>
                              <a:cs typeface="Verdana" panose="020B0604030504040204" pitchFamily="34" charset="0"/>
                            </a:rPr>
                            <m:t>larger</m:t>
                          </m:r>
                          <m: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arc</m:t>
                          </m:r>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m:t>
                          </m:r>
                          <m:r>
                            <m:rPr>
                              <m:sty m:val="p"/>
                            </m:rPr>
                            <a:rPr lang="en-US" sz="2000" b="0" i="0" smtClean="0">
                              <a:solidFill>
                                <a:srgbClr val="00619E"/>
                              </a:solidFill>
                              <a:latin typeface="Cambria Math" panose="02040503050406030204" pitchFamily="18" charset="0"/>
                              <a:ea typeface="Verdana" panose="020B0604030504040204" pitchFamily="34" charset="0"/>
                              <a:cs typeface="Verdana" panose="020B0604030504040204" pitchFamily="34" charset="0"/>
                            </a:rPr>
                            <m:t>smaller</m:t>
                          </m:r>
                          <m: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619E"/>
                              </a:solidFill>
                              <a:latin typeface="Cambria Math" panose="02040503050406030204" pitchFamily="18" charset="0"/>
                              <a:ea typeface="Verdana" panose="020B0604030504040204" pitchFamily="34" charset="0"/>
                              <a:cs typeface="Verdana" panose="020B0604030504040204" pitchFamily="34" charset="0"/>
                            </a:rPr>
                            <m:t>arc</m:t>
                          </m:r>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Rounded Rectangle 9">
                  <a:extLst>
                    <a:ext uri="{FF2B5EF4-FFF2-40B4-BE49-F238E27FC236}">
                      <a16:creationId xmlns:a16="http://schemas.microsoft.com/office/drawing/2014/main" id="{FBF6D833-AE5D-FB48-A114-E0EEF5E081DA}"/>
                    </a:ext>
                  </a:extLst>
                </p:cNvPr>
                <p:cNvSpPr>
                  <a:spLocks noRot="1" noChangeAspect="1" noMove="1" noResize="1" noEditPoints="1" noAdjustHandles="1" noChangeArrowheads="1" noChangeShapeType="1" noTextEdit="1"/>
                </p:cNvSpPr>
                <p:nvPr/>
              </p:nvSpPr>
              <p:spPr>
                <a:xfrm>
                  <a:off x="-176659" y="-363235"/>
                  <a:ext cx="7580139" cy="2357338"/>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1" name="Shape 6" descr="Icon&#10;&#10;Description automatically generated">
              <a:extLst>
                <a:ext uri="{FF2B5EF4-FFF2-40B4-BE49-F238E27FC236}">
                  <a16:creationId xmlns:a16="http://schemas.microsoft.com/office/drawing/2014/main" id="{049CB76F-FCB7-5A45-980D-4838D8418B51}"/>
                </a:ext>
              </a:extLst>
            </p:cNvPr>
            <p:cNvPicPr/>
            <p:nvPr/>
          </p:nvPicPr>
          <p:blipFill>
            <a:blip r:embed="rId5">
              <a:alphaModFix/>
            </a:blip>
            <a:stretch>
              <a:fillRect/>
            </a:stretch>
          </p:blipFill>
          <p:spPr>
            <a:xfrm>
              <a:off x="-52238" y="-154610"/>
              <a:ext cx="609103" cy="450055"/>
            </a:xfrm>
            <a:prstGeom prst="rect">
              <a:avLst/>
            </a:prstGeom>
            <a:noFill/>
            <a:ln>
              <a:noFill/>
            </a:ln>
            <a:effectLst>
              <a:outerShdw blurRad="50800" dist="38100" dir="2700000" algn="tl" rotWithShape="0">
                <a:prstClr val="black">
                  <a:alpha val="40000"/>
                </a:prstClr>
              </a:outerShdw>
            </a:effectLst>
          </p:spPr>
        </p:pic>
      </p:grpSp>
      <p:sp>
        <p:nvSpPr>
          <p:cNvPr id="13" name="Google Shape;282;g104476d1465_1_17">
            <a:extLst>
              <a:ext uri="{FF2B5EF4-FFF2-40B4-BE49-F238E27FC236}">
                <a16:creationId xmlns:a16="http://schemas.microsoft.com/office/drawing/2014/main" id="{1E9E9123-C3B4-3742-B7C5-A35572DCCD6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167</a:t>
            </a:r>
            <a:endParaRPr i="1" dirty="0">
              <a:latin typeface="Calibri"/>
              <a:ea typeface="Calibri"/>
              <a:cs typeface="Calibri"/>
              <a:sym typeface="Calibri"/>
            </a:endParaRPr>
          </a:p>
        </p:txBody>
      </p:sp>
    </p:spTree>
    <p:extLst>
      <p:ext uri="{BB962C8B-B14F-4D97-AF65-F5344CB8AC3E}">
        <p14:creationId xmlns:p14="http://schemas.microsoft.com/office/powerpoint/2010/main" val="106351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5D4D9F80-E985-5045-84E5-8FB7769AC4A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7309"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57088"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35341"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10.9.4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288041" y="60325"/>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491725" y="1136643"/>
                <a:ext cx="10863211" cy="126380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Circle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𝐹</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has points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𝑌</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on the circle. Tangents </a:t>
                </a:r>
                <a14:m>
                  <m:oMath xmlns:m="http://schemas.openxmlformats.org/officeDocument/2006/math">
                    <m:acc>
                      <m:accPr>
                        <m: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i="1">
                            <a:latin typeface="Cambria Math" panose="02040503050406030204" pitchFamily="18" charset="0"/>
                            <a:ea typeface="Times New Roman" panose="02020603050405020304" pitchFamily="18" charset="0"/>
                            <a:cs typeface="Times New Roman" panose="02020603050405020304" pitchFamily="18" charset="0"/>
                          </a:rPr>
                          <m:t>𝐶𝐻</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acc>
                      <m:accPr>
                        <m: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i="1">
                            <a:latin typeface="Cambria Math" panose="02040503050406030204" pitchFamily="18" charset="0"/>
                            <a:ea typeface="Times New Roman" panose="02020603050405020304" pitchFamily="18" charset="0"/>
                            <a:cs typeface="Times New Roman" panose="02020603050405020304" pitchFamily="18" charset="0"/>
                          </a:rPr>
                          <m:t>𝑌𝐻</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𝐻</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outside the circle.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4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400" i="1">
                            <a:latin typeface="Cambria Math" panose="02040503050406030204" pitchFamily="18" charset="0"/>
                            <a:ea typeface="MS Mincho" panose="02020609040205080304" pitchFamily="49" charset="-128"/>
                            <a:cs typeface="Times New Roman" panose="02020603050405020304" pitchFamily="18" charset="0"/>
                          </a:rPr>
                          <m:t>𝐶𝐵𝑌</m:t>
                        </m:r>
                      </m:e>
                    </m:groupChr>
                    <m:r>
                      <a:rPr lang="en-US" sz="2400" i="1">
                        <a:latin typeface="Cambria Math" panose="02040503050406030204" pitchFamily="18" charset="0"/>
                        <a:ea typeface="MS Mincho" panose="02020609040205080304" pitchFamily="49" charset="-128"/>
                        <a:cs typeface="Times New Roman" panose="02020603050405020304" pitchFamily="18" charset="0"/>
                      </a:rPr>
                      <m:t>=239.21°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4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400" i="1">
                            <a:latin typeface="Cambria Math" panose="02040503050406030204" pitchFamily="18" charset="0"/>
                            <a:ea typeface="MS Mincho" panose="02020609040205080304" pitchFamily="49" charset="-128"/>
                            <a:cs typeface="Times New Roman" panose="02020603050405020304" pitchFamily="18" charset="0"/>
                          </a:rPr>
                          <m:t>𝐶𝑌</m:t>
                        </m:r>
                      </m:e>
                    </m:groupChr>
                    <m:r>
                      <a:rPr lang="en-US" sz="2400" i="1">
                        <a:latin typeface="Cambria Math" panose="02040503050406030204" pitchFamily="18" charset="0"/>
                        <a:ea typeface="MS Mincho" panose="02020609040205080304" pitchFamily="49" charset="-128"/>
                        <a:cs typeface="Times New Roman" panose="02020603050405020304" pitchFamily="18" charset="0"/>
                      </a:rPr>
                      <m:t>=</m:t>
                    </m:r>
                    <m:r>
                      <a:rPr lang="en-US" sz="2400" i="1">
                        <a:latin typeface="Cambria Math" panose="02040503050406030204" pitchFamily="18" charset="0"/>
                        <a:ea typeface="MS Mincho" panose="02020609040205080304" pitchFamily="49" charset="-128"/>
                        <a:cs typeface="Times New Roman" panose="02020603050405020304" pitchFamily="18" charset="0"/>
                      </a:rPr>
                      <m:t>𝑥</m:t>
                    </m:r>
                    <m:r>
                      <a:rPr lang="en-US" sz="2400" i="1">
                        <a:latin typeface="Cambria Math" panose="02040503050406030204" pitchFamily="18" charset="0"/>
                        <a:ea typeface="MS Mincho" panose="02020609040205080304" pitchFamily="49" charset="-128"/>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r>
                      <a:rPr lang="en-US" sz="2400" i="1">
                        <a:latin typeface="Cambria Math" panose="02040503050406030204" pitchFamily="18" charset="0"/>
                        <a:ea typeface="MS Mincho" panose="02020609040205080304" pitchFamily="49" charset="-128"/>
                        <a:cs typeface="Times New Roman" panose="02020603050405020304" pitchFamily="18" charset="0"/>
                      </a:rPr>
                      <m:t>∠</m:t>
                    </m:r>
                    <m:r>
                      <a:rPr lang="en-US" sz="2400" i="1">
                        <a:latin typeface="Cambria Math" panose="02040503050406030204" pitchFamily="18" charset="0"/>
                        <a:ea typeface="MS Mincho" panose="02020609040205080304" pitchFamily="49" charset="-128"/>
                        <a:cs typeface="Times New Roman" panose="02020603050405020304" pitchFamily="18" charset="0"/>
                      </a:rPr>
                      <m:t>𝐶𝐻𝑌</m:t>
                    </m:r>
                    <m:r>
                      <a:rPr lang="en-US" sz="2400" i="1">
                        <a:latin typeface="Cambria Math" panose="02040503050406030204" pitchFamily="18" charset="0"/>
                        <a:ea typeface="MS Mincho" panose="02020609040205080304" pitchFamily="49" charset="-128"/>
                        <a:cs typeface="Times New Roman" panose="02020603050405020304" pitchFamily="18" charset="0"/>
                      </a:rPr>
                      <m:t>=59.21°</m:t>
                    </m:r>
                  </m:oMath>
                </a14:m>
                <a:r>
                  <a:rPr lang="en-US" sz="2400" dirty="0">
                    <a:latin typeface="Verdana" panose="020B0604030504040204" pitchFamily="34" charset="0"/>
                    <a:ea typeface="MS Mincho" panose="02020609040205080304" pitchFamily="49" charset="-128"/>
                    <a:cs typeface="Times New Roman" panose="02020603050405020304" pitchFamily="18" charset="0"/>
                  </a:rPr>
                  <a:t>. Find the value of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𝑥</m:t>
                    </m:r>
                  </m:oMath>
                </a14:m>
                <a:r>
                  <a:rPr lang="en-US" sz="2400" dirty="0">
                    <a:latin typeface="Verdana" panose="020B0604030504040204" pitchFamily="34" charset="0"/>
                    <a:ea typeface="MS Mincho" panose="02020609040205080304" pitchFamily="49" charset="-128"/>
                    <a:cs typeface="Times New Roman" panose="02020603050405020304" pitchFamily="18" charset="0"/>
                  </a:rPr>
                  <a:t>.</a:t>
                </a:r>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491725" y="1136643"/>
                <a:ext cx="10863211" cy="1263808"/>
              </a:xfrm>
              <a:prstGeom prst="rect">
                <a:avLst/>
              </a:prstGeom>
              <a:blipFill>
                <a:blip r:embed="rId5"/>
                <a:stretch>
                  <a:fillRect l="-898" t="-4327" b="-9135"/>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C09D97B2-58C0-4E46-A089-71ED718AE3D8}"/>
              </a:ext>
            </a:extLst>
          </p:cNvPr>
          <p:cNvPicPr/>
          <p:nvPr/>
        </p:nvPicPr>
        <p:blipFill>
          <a:blip r:embed="rId6"/>
          <a:stretch>
            <a:fillRect/>
          </a:stretch>
        </p:blipFill>
        <p:spPr>
          <a:xfrm>
            <a:off x="2215954" y="2877010"/>
            <a:ext cx="4791075" cy="3323590"/>
          </a:xfrm>
          <a:prstGeom prst="rect">
            <a:avLst/>
          </a:prstGeom>
        </p:spPr>
      </p:pic>
      <p:sp>
        <p:nvSpPr>
          <p:cNvPr id="13" name="Google Shape;282;g104476d1465_1_17">
            <a:extLst>
              <a:ext uri="{FF2B5EF4-FFF2-40B4-BE49-F238E27FC236}">
                <a16:creationId xmlns:a16="http://schemas.microsoft.com/office/drawing/2014/main" id="{258D7C50-B61E-954D-AC9F-C074A1C729C9}"/>
              </a:ext>
            </a:extLst>
          </p:cNvPr>
          <p:cNvSpPr txBox="1"/>
          <p:nvPr/>
        </p:nvSpPr>
        <p:spPr>
          <a:xfrm>
            <a:off x="8818862"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8462"/>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572634" y="619036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507271" y="388236"/>
                <a:ext cx="10301755" cy="1315232"/>
              </a:xfrm>
              <a:prstGeom prst="rect">
                <a:avLst/>
              </a:prstGeom>
              <a:noFill/>
            </p:spPr>
            <p:txBody>
              <a:bodyPr wrap="square" rtlCol="0">
                <a:spAutoFit/>
              </a:bodyPr>
              <a:lstStyle/>
              <a:p>
                <a:pPr marL="457200" indent="-457200">
                  <a:spcAft>
                    <a:spcPts val="1000"/>
                  </a:spcAft>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Circle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𝑊</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has points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𝐷</m:t>
                    </m:r>
                    <m:r>
                      <a:rPr lang="en-US" sz="2400" i="1">
                        <a:latin typeface="Cambria Math" panose="02040503050406030204" pitchFamily="18" charset="0"/>
                        <a:ea typeface="Times New Roman" panose="02020603050405020304" pitchFamily="18" charset="0"/>
                        <a:cs typeface="Times New Roman" panose="02020603050405020304" pitchFamily="18" charset="0"/>
                      </a:rPr>
                      <m:t>, </m:t>
                    </m:r>
                    <m:r>
                      <a:rPr lang="en-US" sz="2400" i="1">
                        <a:latin typeface="Cambria Math" panose="02040503050406030204" pitchFamily="18" charset="0"/>
                        <a:ea typeface="Times New Roman" panose="02020603050405020304" pitchFamily="18" charset="0"/>
                        <a:cs typeface="Times New Roman" panose="02020603050405020304" pitchFamily="18" charset="0"/>
                      </a:rPr>
                      <m:t>𝑉</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on the circle. Tangent  </a:t>
                </a:r>
                <a14:m>
                  <m:oMath xmlns:m="http://schemas.openxmlformats.org/officeDocument/2006/math">
                    <m:acc>
                      <m:accPr>
                        <m: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i="1">
                            <a:latin typeface="Cambria Math" panose="02040503050406030204" pitchFamily="18" charset="0"/>
                            <a:ea typeface="Times New Roman" panose="02020603050405020304" pitchFamily="18" charset="0"/>
                            <a:cs typeface="Times New Roman" panose="02020603050405020304" pitchFamily="18" charset="0"/>
                          </a:rPr>
                          <m:t>𝐵𝑍</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secant </a:t>
                </a:r>
                <a14:m>
                  <m:oMath xmlns:m="http://schemas.openxmlformats.org/officeDocument/2006/math">
                    <m:acc>
                      <m:accPr>
                        <m: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400" i="1">
                            <a:latin typeface="Cambria Math" panose="02040503050406030204" pitchFamily="18" charset="0"/>
                            <a:ea typeface="Times New Roman" panose="02020603050405020304" pitchFamily="18" charset="0"/>
                            <a:cs typeface="Times New Roman" panose="02020603050405020304" pitchFamily="18" charset="0"/>
                          </a:rPr>
                          <m:t>𝐷𝑍</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𝑍</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outside the circle.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4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400" i="1">
                            <a:latin typeface="Cambria Math" panose="02040503050406030204" pitchFamily="18" charset="0"/>
                            <a:ea typeface="MS Mincho" panose="02020609040205080304" pitchFamily="49" charset="-128"/>
                            <a:cs typeface="Times New Roman" panose="02020603050405020304" pitchFamily="18" charset="0"/>
                          </a:rPr>
                          <m:t>𝐷𝐵</m:t>
                        </m:r>
                      </m:e>
                    </m:groupChr>
                    <m:r>
                      <a:rPr lang="en-US" sz="2400" i="1">
                        <a:latin typeface="Cambria Math" panose="02040503050406030204" pitchFamily="18" charset="0"/>
                        <a:ea typeface="MS Mincho" panose="02020609040205080304" pitchFamily="49" charset="-128"/>
                        <a:cs typeface="Times New Roman" panose="02020603050405020304" pitchFamily="18" charset="0"/>
                      </a:rPr>
                      <m:t>=148°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groupChr>
                      <m:groupChrPr>
                        <m:chr m:val="⏜"/>
                        <m:pos m:val="top"/>
                        <m:vertJc m:val="bot"/>
                        <m:ctrlPr>
                          <a:rPr lang="en-US" sz="2400" i="1">
                            <a:latin typeface="Cambria Math" panose="02040503050406030204" pitchFamily="18" charset="0"/>
                            <a:ea typeface="MS Mincho" panose="02020609040205080304" pitchFamily="49" charset="-128"/>
                            <a:cs typeface="Times New Roman" panose="02020603050405020304" pitchFamily="18" charset="0"/>
                          </a:rPr>
                        </m:ctrlPr>
                      </m:groupChrPr>
                      <m:e>
                        <m:r>
                          <a:rPr lang="en-US" sz="2400" i="1">
                            <a:latin typeface="Cambria Math" panose="02040503050406030204" pitchFamily="18" charset="0"/>
                            <a:ea typeface="MS Mincho" panose="02020609040205080304" pitchFamily="49" charset="-128"/>
                            <a:cs typeface="Times New Roman" panose="02020603050405020304" pitchFamily="18" charset="0"/>
                          </a:rPr>
                          <m:t>𝑉𝐵</m:t>
                        </m:r>
                      </m:e>
                    </m:groupChr>
                    <m:r>
                      <a:rPr lang="en-US" sz="2400" i="1">
                        <a:latin typeface="Cambria Math" panose="02040503050406030204" pitchFamily="18" charset="0"/>
                        <a:ea typeface="MS Mincho" panose="02020609040205080304" pitchFamily="49" charset="-128"/>
                        <a:cs typeface="Times New Roman" panose="02020603050405020304" pitchFamily="18" charset="0"/>
                      </a:rPr>
                      <m:t>=62°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r>
                      <a:rPr lang="en-US" sz="2400" i="1">
                        <a:latin typeface="Cambria Math" panose="02040503050406030204" pitchFamily="18" charset="0"/>
                        <a:ea typeface="MS Mincho" panose="02020609040205080304" pitchFamily="49" charset="-128"/>
                        <a:cs typeface="Times New Roman" panose="02020603050405020304" pitchFamily="18" charset="0"/>
                      </a:rPr>
                      <m:t>∠</m:t>
                    </m:r>
                    <m:r>
                      <a:rPr lang="en-US" sz="2400" i="1">
                        <a:latin typeface="Cambria Math" panose="02040503050406030204" pitchFamily="18" charset="0"/>
                        <a:ea typeface="MS Mincho" panose="02020609040205080304" pitchFamily="49" charset="-128"/>
                        <a:cs typeface="Times New Roman" panose="02020603050405020304" pitchFamily="18" charset="0"/>
                      </a:rPr>
                      <m:t>𝐷𝑍𝐵</m:t>
                    </m:r>
                    <m:r>
                      <a:rPr lang="en-US" sz="2400" i="1">
                        <a:latin typeface="Cambria Math" panose="02040503050406030204" pitchFamily="18" charset="0"/>
                        <a:ea typeface="MS Mincho" panose="02020609040205080304" pitchFamily="49" charset="-128"/>
                        <a:cs typeface="Times New Roman" panose="02020603050405020304" pitchFamily="18" charset="0"/>
                      </a:rPr>
                      <m:t>=</m:t>
                    </m:r>
                    <m:r>
                      <a:rPr lang="en-US" sz="2400" i="1">
                        <a:latin typeface="Cambria Math" panose="02040503050406030204" pitchFamily="18" charset="0"/>
                        <a:ea typeface="MS Mincho" panose="02020609040205080304" pitchFamily="49" charset="-128"/>
                        <a:cs typeface="Times New Roman" panose="02020603050405020304" pitchFamily="18" charset="0"/>
                      </a:rPr>
                      <m:t>𝑥</m:t>
                    </m:r>
                    <m:r>
                      <a:rPr lang="en-US" sz="2400" i="1">
                        <a:latin typeface="Cambria Math" panose="02040503050406030204" pitchFamily="18" charset="0"/>
                        <a:ea typeface="MS Mincho" panose="02020609040205080304" pitchFamily="49" charset="-128"/>
                        <a:cs typeface="Times New Roman" panose="02020603050405020304" pitchFamily="18" charset="0"/>
                      </a:rPr>
                      <m:t>°</m:t>
                    </m:r>
                  </m:oMath>
                </a14:m>
                <a:r>
                  <a:rPr lang="en-US" sz="2400" dirty="0">
                    <a:latin typeface="Verdana" panose="020B0604030504040204" pitchFamily="34" charset="0"/>
                    <a:ea typeface="MS Mincho" panose="02020609040205080304" pitchFamily="49" charset="-128"/>
                    <a:cs typeface="Times New Roman" panose="02020603050405020304" pitchFamily="18" charset="0"/>
                  </a:rPr>
                  <a:t>. What is </a:t>
                </a:r>
                <a14:m>
                  <m:oMath xmlns:m="http://schemas.openxmlformats.org/officeDocument/2006/math">
                    <m:r>
                      <a:rPr lang="en-US" sz="2400" i="1">
                        <a:latin typeface="Cambria Math" panose="02040503050406030204" pitchFamily="18" charset="0"/>
                        <a:ea typeface="MS Mincho" panose="02020609040205080304" pitchFamily="49" charset="-128"/>
                        <a:cs typeface="Times New Roman" panose="02020603050405020304" pitchFamily="18" charset="0"/>
                      </a:rPr>
                      <m:t>𝑚</m:t>
                    </m:r>
                    <m:r>
                      <a:rPr lang="en-US" sz="2400" i="1">
                        <a:latin typeface="Cambria Math" panose="02040503050406030204" pitchFamily="18" charset="0"/>
                        <a:ea typeface="MS Mincho" panose="02020609040205080304" pitchFamily="49" charset="-128"/>
                        <a:cs typeface="Times New Roman" panose="02020603050405020304" pitchFamily="18" charset="0"/>
                      </a:rPr>
                      <m:t>∠</m:t>
                    </m:r>
                    <m:r>
                      <a:rPr lang="en-US" sz="2400" i="1">
                        <a:latin typeface="Cambria Math" panose="02040503050406030204" pitchFamily="18" charset="0"/>
                        <a:ea typeface="MS Mincho" panose="02020609040205080304" pitchFamily="49" charset="-128"/>
                        <a:cs typeface="Times New Roman" panose="02020603050405020304" pitchFamily="18" charset="0"/>
                      </a:rPr>
                      <m:t>𝐷𝑍𝐵</m:t>
                    </m:r>
                    <m:r>
                      <a:rPr lang="en-US" sz="2400" i="1">
                        <a:latin typeface="Cambria Math" panose="02040503050406030204" pitchFamily="18" charset="0"/>
                        <a:ea typeface="MS Mincho" panose="02020609040205080304" pitchFamily="49" charset="-128"/>
                        <a:cs typeface="Times New Roman" panose="02020603050405020304" pitchFamily="18" charset="0"/>
                      </a:rPr>
                      <m:t>?</m:t>
                    </m:r>
                  </m:oMath>
                </a14:m>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507271" y="388236"/>
                <a:ext cx="10301755" cy="1315232"/>
              </a:xfrm>
              <a:prstGeom prst="rect">
                <a:avLst/>
              </a:prstGeom>
              <a:blipFill>
                <a:blip r:embed="rId4"/>
                <a:stretch>
                  <a:fillRect l="-888" t="-4186" b="-9302"/>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B0A7C01B-27DD-1148-87B7-6EB33BEF1693}"/>
              </a:ext>
            </a:extLst>
          </p:cNvPr>
          <p:cNvSpPr txBox="1"/>
          <p:nvPr/>
        </p:nvSpPr>
        <p:spPr>
          <a:xfrm>
            <a:off x="8834408" y="64474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168</a:t>
            </a:r>
            <a:endParaRPr i="1" dirty="0">
              <a:latin typeface="Calibri"/>
              <a:ea typeface="Calibri"/>
              <a:cs typeface="Calibri"/>
              <a:sym typeface="Calibri"/>
            </a:endParaRPr>
          </a:p>
        </p:txBody>
      </p:sp>
      <p:pic>
        <p:nvPicPr>
          <p:cNvPr id="8" name="Picture 7">
            <a:extLst>
              <a:ext uri="{FF2B5EF4-FFF2-40B4-BE49-F238E27FC236}">
                <a16:creationId xmlns:a16="http://schemas.microsoft.com/office/drawing/2014/main" id="{C6F8988D-5AF3-0548-A3CD-E25B5E10AFB3}"/>
              </a:ext>
            </a:extLst>
          </p:cNvPr>
          <p:cNvPicPr/>
          <p:nvPr/>
        </p:nvPicPr>
        <p:blipFill>
          <a:blip r:embed="rId5"/>
          <a:stretch>
            <a:fillRect/>
          </a:stretch>
        </p:blipFill>
        <p:spPr>
          <a:xfrm>
            <a:off x="2348876" y="2015348"/>
            <a:ext cx="5149846" cy="3444828"/>
          </a:xfrm>
          <a:prstGeom prst="rect">
            <a:avLst/>
          </a:prstGeom>
        </p:spPr>
      </p:pic>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52BAFAC6-5864-F748-89F5-A6C574D863C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83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52650" y="15559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10.9.5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77385"/>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679000" y="1104946"/>
            <a:ext cx="10844924" cy="329320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Think back over this unit. If necessary, look back over the different lessons. Then, complete the sentences by checking all that apply.</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 don’t understand                    		 ...	  YET.</a:t>
            </a:r>
          </a:p>
          <a:p>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p:sp>
        <p:nvSpPr>
          <p:cNvPr id="10" name="Rectangle: Rounded Corners 19">
            <a:extLst>
              <a:ext uri="{FF2B5EF4-FFF2-40B4-BE49-F238E27FC236}">
                <a16:creationId xmlns:a16="http://schemas.microsoft.com/office/drawing/2014/main" id="{C707D3D9-9F20-7E42-9401-A78FBC258632}"/>
              </a:ext>
            </a:extLst>
          </p:cNvPr>
          <p:cNvSpPr/>
          <p:nvPr/>
        </p:nvSpPr>
        <p:spPr>
          <a:xfrm>
            <a:off x="4160077" y="2906258"/>
            <a:ext cx="4052754" cy="2809280"/>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452438" indent="-452438">
              <a:spcAft>
                <a:spcPts val="600"/>
              </a:spcAft>
              <a:buClrTx/>
              <a:buFont typeface="Wingdings" pitchFamily="2" charset="2"/>
              <a:buChar char=""/>
              <a:defRPr/>
            </a:pPr>
            <a:r>
              <a:rPr lang="en-US" sz="2400" dirty="0">
                <a:latin typeface="Verdana" panose="020B0604030504040204" pitchFamily="34" charset="0"/>
                <a:ea typeface="Verdana" panose="020B0604030504040204" pitchFamily="34" charset="0"/>
                <a:cs typeface="Verdana" panose="020B0604030504040204" pitchFamily="34" charset="0"/>
              </a:rPr>
              <a:t>arc length </a:t>
            </a:r>
            <a:endParaRPr lang="en-US" sz="24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a:p>
            <a:pPr marL="452438" indent="-452438">
              <a:spcAft>
                <a:spcPts val="600"/>
              </a:spcAft>
              <a:buClrTx/>
              <a:buFont typeface="Wingdings" pitchFamily="2" charset="2"/>
              <a:buChar char=""/>
              <a:defRPr/>
            </a:pPr>
            <a:r>
              <a:rPr lang="en-US" sz="2400" dirty="0">
                <a:latin typeface="Verdana" panose="020B0604030504040204" pitchFamily="34" charset="0"/>
                <a:ea typeface="Verdana" panose="020B0604030504040204" pitchFamily="34" charset="0"/>
                <a:cs typeface="Verdana" panose="020B0604030504040204" pitchFamily="34" charset="0"/>
              </a:rPr>
              <a:t>area of a sector </a:t>
            </a:r>
            <a:endParaRPr lang="en-US" sz="24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a:p>
            <a:pPr marL="452438" indent="-452438">
              <a:spcAft>
                <a:spcPts val="600"/>
              </a:spcAft>
              <a:buClrTx/>
              <a:buFont typeface="Wingdings" pitchFamily="2" charset="2"/>
              <a:buChar char=""/>
              <a:defRPr/>
            </a:pPr>
            <a:r>
              <a:rPr lang="en-US" sz="2400" dirty="0">
                <a:latin typeface="Verdana" panose="020B0604030504040204" pitchFamily="34" charset="0"/>
                <a:ea typeface="Verdana" panose="020B0604030504040204" pitchFamily="34" charset="0"/>
                <a:cs typeface="Verdana" panose="020B0604030504040204" pitchFamily="34" charset="0"/>
              </a:rPr>
              <a:t>converting between radians and degrees</a:t>
            </a:r>
            <a:endParaRPr lang="en-US" sz="24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a:p>
            <a:pPr marL="452438" indent="-452438">
              <a:spcAft>
                <a:spcPts val="600"/>
              </a:spcAft>
              <a:buClrTx/>
              <a:buFont typeface="Wingdings" pitchFamily="2" charset="2"/>
              <a:buChar char=""/>
              <a:defRPr/>
            </a:pPr>
            <a:r>
              <a:rPr lang="en-US" sz="2400" dirty="0">
                <a:latin typeface="Verdana" panose="020B0604030504040204" pitchFamily="34" charset="0"/>
                <a:ea typeface="Verdana" panose="020B0604030504040204" pitchFamily="34" charset="0"/>
                <a:cs typeface="Verdana" panose="020B0604030504040204" pitchFamily="34" charset="0"/>
              </a:rPr>
              <a:t>measures of arcs and related angles</a:t>
            </a:r>
            <a:endParaRPr lang="en-US" sz="2400" dirty="0">
              <a:solidFill>
                <a:sysClr val="windowText" lastClr="000000"/>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a:extLst>
              <a:ext uri="{FF2B5EF4-FFF2-40B4-BE49-F238E27FC236}">
                <a16:creationId xmlns:a16="http://schemas.microsoft.com/office/drawing/2014/main" id="{7055F808-5C8C-AA43-AE0C-166D5CA31E49}"/>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a:alphaModFix/>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4CE9D117-FAE6-F74F-940B-9CD1479755BE}"/>
              </a:ext>
            </a:extLst>
          </p:cNvPr>
          <p:cNvSpPr txBox="1"/>
          <p:nvPr/>
        </p:nvSpPr>
        <p:spPr>
          <a:xfrm>
            <a:off x="465232" y="3193993"/>
            <a:ext cx="8327136" cy="461665"/>
          </a:xfrm>
          <a:prstGeom prst="rect">
            <a:avLst/>
          </a:prstGeom>
          <a:noFill/>
        </p:spPr>
        <p:txBody>
          <a:bodyPr wrap="square" rtlCol="0">
            <a:spAutoFit/>
          </a:bodyPr>
          <a:lstStyle/>
          <a:p>
            <a:pPr marL="457200" indent="-457200">
              <a:buFont typeface="+mj-lt"/>
              <a:buAutoNum type="arabicPeriod" startAt="2"/>
              <a:tabLst>
                <a:tab pos="457200" algn="l"/>
              </a:tabLst>
            </a:pPr>
            <a:r>
              <a:rPr lang="en-US" sz="2400" dirty="0">
                <a:latin typeface="Verdana" panose="020B0604030504040204" pitchFamily="34" charset="0"/>
                <a:ea typeface="MS Mincho" panose="02020609040205080304" pitchFamily="49" charset="-128"/>
                <a:cs typeface="Times New Roman" panose="02020603050405020304" pitchFamily="18" charset="0"/>
              </a:rPr>
              <a:t>I can explain </a:t>
            </a:r>
            <a:endParaRPr lang="en-US" sz="1600" dirty="0">
              <a:latin typeface="Cambria" panose="02040503050406030204" pitchFamily="18" charset="0"/>
              <a:ea typeface="MS Mincho" panose="02020609040205080304" pitchFamily="49" charset="-128"/>
              <a:cs typeface="Times New Roman" panose="02020603050405020304" pitchFamily="18" charset="0"/>
            </a:endParaRPr>
          </a:p>
        </p:txBody>
      </p:sp>
      <p:sp>
        <p:nvSpPr>
          <p:cNvPr id="7" name="Rectangle: Rounded Corners 21">
            <a:extLst>
              <a:ext uri="{FF2B5EF4-FFF2-40B4-BE49-F238E27FC236}">
                <a16:creationId xmlns:a16="http://schemas.microsoft.com/office/drawing/2014/main" id="{C7C3C8DA-9084-8E46-A03F-8FFCFB732DDA}"/>
              </a:ext>
            </a:extLst>
          </p:cNvPr>
          <p:cNvSpPr/>
          <p:nvPr/>
        </p:nvSpPr>
        <p:spPr>
          <a:xfrm>
            <a:off x="3197830" y="794318"/>
            <a:ext cx="5750722" cy="5261015"/>
          </a:xfrm>
          <a:prstGeom prst="roundRect">
            <a:avLst/>
          </a:prstGeom>
          <a:solidFill>
            <a:sysClr val="window" lastClr="FFFFFF"/>
          </a:solidFill>
          <a:ln w="19050" cap="flat" cmpd="sng" algn="ctr">
            <a:solidFill>
              <a:sysClr val="windowText" lastClr="000000"/>
            </a:solidFill>
            <a:prstDash val="solid"/>
          </a:ln>
          <a:effectLst/>
        </p:spPr>
        <p:txBody>
          <a:bodyPr rot="0" spcFirstLastPara="0" vert="horz" wrap="square" lIns="91440" tIns="45720" rIns="0" bIns="45720" numCol="1" spcCol="0" rtlCol="0" fromWordArt="0" anchor="ctr" anchorCtr="0" forceAA="0" compatLnSpc="1">
            <a:prstTxWarp prst="textNoShape">
              <a:avLst/>
            </a:prstTxWarp>
            <a:spAutoFit/>
          </a:bodyPr>
          <a:lstStyle/>
          <a:p>
            <a:pPr marL="452438" indent="-452438">
              <a:spcAft>
                <a:spcPts val="600"/>
              </a:spcAft>
              <a:buClrTx/>
              <a:buFont typeface="Wingdings" pitchFamily="2" charset="2"/>
              <a:buChar char=""/>
              <a:defRPr/>
            </a:pPr>
            <a:r>
              <a:rPr lang="en-US" sz="2400" dirty="0">
                <a:latin typeface="Verdana" panose="020B0604030504040204" pitchFamily="34" charset="0"/>
                <a:ea typeface="MS Mincho" panose="02020609040205080304" pitchFamily="49" charset="-128"/>
                <a:cs typeface="Times New Roman" panose="02020603050405020304" pitchFamily="18" charset="0"/>
              </a:rPr>
              <a:t>how to solve problems involving arc length.</a:t>
            </a:r>
            <a:endParaRPr lang="en-US" sz="2400" dirty="0">
              <a:solidFill>
                <a:sysClr val="windowText" lastClr="000000"/>
              </a:solidFill>
              <a:latin typeface="Cambria"/>
              <a:ea typeface="MS Mincho" panose="02020609040205080304" pitchFamily="49" charset="-128"/>
              <a:cs typeface="Times New Roman" panose="02020603050405020304" pitchFamily="18" charset="0"/>
            </a:endParaRPr>
          </a:p>
          <a:p>
            <a:pPr marL="452438" indent="-452438">
              <a:spcAft>
                <a:spcPts val="600"/>
              </a:spcAft>
              <a:buClrTx/>
              <a:buFont typeface="Wingdings" pitchFamily="2" charset="2"/>
              <a:buChar char=""/>
              <a:defRPr/>
            </a:pPr>
            <a:r>
              <a:rPr lang="en-US" sz="2400" dirty="0">
                <a:latin typeface="Verdana" panose="020B0604030504040204" pitchFamily="34" charset="0"/>
                <a:ea typeface="MS Mincho" panose="02020609040205080304" pitchFamily="49" charset="-128"/>
                <a:cs typeface="Times New Roman" panose="02020603050405020304" pitchFamily="18" charset="0"/>
              </a:rPr>
              <a:t>how to solve problems involving: area of a sector.</a:t>
            </a:r>
            <a:endParaRPr lang="en-US" sz="2400" dirty="0">
              <a:solidFill>
                <a:sysClr val="windowText" lastClr="000000"/>
              </a:solidFill>
              <a:latin typeface="Cambria"/>
              <a:ea typeface="MS Mincho" panose="02020609040205080304" pitchFamily="49" charset="-128"/>
              <a:cs typeface="Times New Roman" panose="02020603050405020304" pitchFamily="18" charset="0"/>
            </a:endParaRPr>
          </a:p>
          <a:p>
            <a:pPr marL="452438" indent="-452438">
              <a:spcAft>
                <a:spcPts val="600"/>
              </a:spcAft>
              <a:buClrTx/>
              <a:buFont typeface="Wingdings" pitchFamily="2" charset="2"/>
              <a:buChar char=""/>
              <a:defRPr/>
            </a:pPr>
            <a:r>
              <a:rPr lang="en-US" sz="2400" dirty="0">
                <a:latin typeface="Verdana" panose="020B0604030504040204" pitchFamily="34" charset="0"/>
                <a:ea typeface="MS Mincho" panose="02020609040205080304" pitchFamily="49" charset="-128"/>
                <a:cs typeface="Times New Roman" panose="02020603050405020304" pitchFamily="18" charset="0"/>
              </a:rPr>
              <a:t>converting angle measures between degrees and radians.</a:t>
            </a:r>
            <a:endParaRPr lang="en-US" sz="2400" dirty="0">
              <a:solidFill>
                <a:sysClr val="windowText" lastClr="000000"/>
              </a:solidFill>
              <a:latin typeface="Cambria"/>
              <a:ea typeface="MS Mincho" panose="02020609040205080304" pitchFamily="49" charset="-128"/>
              <a:cs typeface="Times New Roman" panose="02020603050405020304" pitchFamily="18" charset="0"/>
            </a:endParaRPr>
          </a:p>
          <a:p>
            <a:pPr marL="452438" indent="-452438">
              <a:spcAft>
                <a:spcPts val="1000"/>
              </a:spcAft>
              <a:buClrTx/>
              <a:buFont typeface="Wingdings" pitchFamily="2" charset="2"/>
              <a:buChar char=""/>
              <a:defRPr/>
            </a:pPr>
            <a:r>
              <a:rPr lang="en-US" sz="2400" dirty="0">
                <a:latin typeface="Verdana" panose="020B0604030504040204" pitchFamily="34" charset="0"/>
                <a:ea typeface="MS Mincho" panose="02020609040205080304" pitchFamily="49" charset="-128"/>
                <a:cs typeface="Times New Roman" panose="02020603050405020304" pitchFamily="18" charset="0"/>
              </a:rPr>
              <a:t>how to solve problems involving measures of arcs and related angles including central, inscribed, and intersections of a chords, secants, and tangents.</a:t>
            </a:r>
            <a:endParaRPr lang="en-US" sz="2400" dirty="0">
              <a:solidFill>
                <a:sysClr val="windowText" lastClr="000000"/>
              </a:solidFill>
              <a:latin typeface="Cambria"/>
              <a:ea typeface="MS Mincho" panose="02020609040205080304" pitchFamily="49" charset="-128"/>
              <a:cs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98A5B288-609B-5447-8FEE-C0B574D91FEF}"/>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994</Words>
  <Application>Microsoft Macintosh PowerPoint</Application>
  <PresentationFormat>Widescreen</PresentationFormat>
  <Paragraphs>162</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Verdana</vt:lpstr>
      <vt:lpstr>Arial</vt:lpstr>
      <vt:lpstr>Cambria</vt:lpstr>
      <vt:lpstr>Century Gothic</vt:lpstr>
      <vt:lpstr>Calibri</vt:lpstr>
      <vt:lpstr>Arial Black</vt:lpstr>
      <vt:lpstr>Cambria Math</vt:lpstr>
      <vt:lpstr>Wingdings</vt:lpstr>
      <vt:lpstr>1_Office Theme</vt:lpstr>
      <vt:lpstr>Geometry  Unit 10, Lesson 9  Solving Problems Involving Tangents  Volume 2, pg. 164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21</cp:revision>
  <dcterms:created xsi:type="dcterms:W3CDTF">2015-03-17T18:51:18Z</dcterms:created>
  <dcterms:modified xsi:type="dcterms:W3CDTF">2023-03-02T19:16:24Z</dcterms:modified>
</cp:coreProperties>
</file>