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LgVltqXpsYg5gY44RKKp44cg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360AFF-1C73-48C1-BA1F-A05DBC6C6FCA}">
  <a:tblStyle styleId="{0C360AFF-1C73-48C1-BA1F-A05DBC6C6FCA}"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C0E6A3D-ED27-4966-A30B-19DC20AF651B}"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9"/>
    <p:restoredTop sz="94694"/>
  </p:normalViewPr>
  <p:slideViewPr>
    <p:cSldViewPr snapToGrid="0">
      <p:cViewPr varScale="1">
        <p:scale>
          <a:sx n="117" d="100"/>
          <a:sy n="117" d="100"/>
        </p:scale>
        <p:origin x="600"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49901" y="2054277"/>
            <a:ext cx="5168900"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Geometry</a:t>
            </a:r>
            <a:br>
              <a:rPr lang="en-US" sz="3800" b="1">
                <a:solidFill>
                  <a:srgbClr val="417DBF"/>
                </a:solidFill>
                <a:latin typeface="Verdana"/>
                <a:ea typeface="Verdana"/>
                <a:cs typeface="Verdana"/>
                <a:sym typeface="Verdana"/>
              </a:rPr>
            </a:b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10, Lesson 4</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Solving Problems Using Arc Length and Area of a Sector</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2, pg. 135</a:t>
            </a:r>
            <a:endParaRPr sz="2800" b="1">
              <a:solidFill>
                <a:srgbClr val="417DBF"/>
              </a:solidFill>
              <a:latin typeface="Verdana"/>
              <a:ea typeface="Verdana"/>
              <a:cs typeface="Verdana"/>
              <a:sym typeface="Verdana"/>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603831"/>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300550" y="380525"/>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135</a:t>
            </a:r>
            <a:endParaRPr i="1">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800" dirty="0">
                <a:solidFill>
                  <a:schemeClr val="dk1"/>
                </a:solidFill>
                <a:latin typeface="Verdana"/>
                <a:ea typeface="Verdana"/>
                <a:cs typeface="Verdana"/>
                <a:sym typeface="Verdana"/>
              </a:rPr>
              <a:t>MA.912.GR.6.4</a:t>
            </a:r>
            <a:endParaRPr sz="28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800" dirty="0">
                <a:solidFill>
                  <a:schemeClr val="dk1"/>
                </a:solidFill>
                <a:latin typeface="Verdana"/>
                <a:ea typeface="Verdana"/>
                <a:cs typeface="Verdana"/>
                <a:sym typeface="Verdana"/>
              </a:rPr>
              <a:t>Solve mathematical and real-world problems involving the arc length and area of a sector in a given circle.</a:t>
            </a:r>
            <a:endParaRPr sz="2800" dirty="0">
              <a:solidFill>
                <a:schemeClr val="dk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300550" y="372300"/>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25199" y="129667"/>
            <a:ext cx="8682477"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Integrated Mathematical Thinking and Reasoning Standards</a:t>
            </a:r>
            <a:endParaRPr dirty="0"/>
          </a:p>
        </p:txBody>
      </p:sp>
      <p:sp>
        <p:nvSpPr>
          <p:cNvPr id="137" name="Google Shape;137;p1"/>
          <p:cNvSpPr txBox="1"/>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MA.K12.MTR.5.1 Use patterns and structure to help understand and connect mathematical concepts.</a:t>
            </a:r>
            <a:endParaRPr sz="2400" dirty="0">
              <a:solidFill>
                <a:schemeClr val="dk1"/>
              </a:solidFill>
              <a:latin typeface="Verdana"/>
              <a:ea typeface="Verdana"/>
              <a:cs typeface="Verdana"/>
              <a:sym typeface="Verdana"/>
            </a:endParaRPr>
          </a:p>
        </p:txBody>
      </p:sp>
      <p:sp>
        <p:nvSpPr>
          <p:cNvPr id="138" name="Google Shape;138;p1"/>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135</a:t>
            </a:r>
            <a:endParaRPr i="1">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sz="4700" b="1" dirty="0">
              <a:solidFill>
                <a:srgbClr val="52BDA6"/>
              </a:solidFill>
              <a:latin typeface="Verdana"/>
              <a:ea typeface="Verdana"/>
              <a:cs typeface="Verdana"/>
              <a:sym typeface="Verdana"/>
            </a:endParaRPr>
          </a:p>
        </p:txBody>
      </p:sp>
      <p:pic>
        <p:nvPicPr>
          <p:cNvPr id="147" name="Google Shape;147;p2"/>
          <p:cNvPicPr preferRelativeResize="0"/>
          <p:nvPr/>
        </p:nvPicPr>
        <p:blipFill rotWithShape="1">
          <a:blip r:embed="rId4">
            <a:alphaModFix/>
          </a:blip>
          <a:srcRect/>
          <a:stretch/>
        </p:blipFill>
        <p:spPr>
          <a:xfrm>
            <a:off x="274413" y="31986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457199" y="1600200"/>
            <a:ext cx="10692581"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2800" dirty="0">
                <a:latin typeface="Verdana"/>
                <a:ea typeface="Verdana"/>
                <a:cs typeface="Verdana"/>
                <a:sym typeface="Verdana"/>
              </a:rPr>
              <a:t>I can solve mathematical and real-world problems involving arc length and sector area.</a:t>
            </a:r>
            <a:endParaRPr sz="2800" dirty="0">
              <a:latin typeface="Verdana"/>
              <a:ea typeface="Verdana"/>
              <a:cs typeface="Verdana"/>
              <a:sym typeface="Verdana"/>
            </a:endParaRPr>
          </a:p>
        </p:txBody>
      </p:sp>
      <p:sp>
        <p:nvSpPr>
          <p:cNvPr id="149" name="Google Shape;149;p2"/>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135</a:t>
            </a:r>
            <a:endParaRPr i="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159" name="Google Shape;159;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10422"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063072"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10.4.1 Warm-Up: Bell Work</a:t>
            </a:r>
            <a:endParaRPr sz="3600" b="1">
              <a:solidFill>
                <a:srgbClr val="3F2A67"/>
              </a:solidFill>
              <a:latin typeface="Verdana"/>
              <a:ea typeface="Verdana"/>
              <a:cs typeface="Verdana"/>
              <a:sym typeface="Verdana"/>
            </a:endParaRPr>
          </a:p>
        </p:txBody>
      </p:sp>
      <p:pic>
        <p:nvPicPr>
          <p:cNvPr id="168" name="Google Shape;168;p4"/>
          <p:cNvPicPr preferRelativeResize="0"/>
          <p:nvPr/>
        </p:nvPicPr>
        <p:blipFill rotWithShape="1">
          <a:blip r:embed="rId4">
            <a:alphaModFix/>
          </a:blip>
          <a:srcRect/>
          <a:stretch/>
        </p:blipFill>
        <p:spPr>
          <a:xfrm>
            <a:off x="315772"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603670" y="1386026"/>
            <a:ext cx="8327136" cy="2800767"/>
          </a:xfrm>
          <a:prstGeom prst="rect">
            <a:avLst/>
          </a:prstGeom>
          <a:blipFill rotWithShape="1">
            <a:blip r:embed="rId5">
              <a:alphaModFix/>
            </a:blip>
            <a:stretch>
              <a:fillRect l="-950" t="-1521" r="-730" b="-3695"/>
            </a:stretch>
          </a:blipFill>
          <a:ln>
            <a:noFill/>
          </a:ln>
        </p:spPr>
        <p:txBody>
          <a:bodyPr spcFirstLastPara="1" wrap="square" lIns="91425" tIns="45700" rIns="91425" bIns="45700" anchor="t" anchorCtr="0">
            <a:noAutofit/>
          </a:bodyPr>
          <a:lstStyle/>
          <a:p>
            <a:r>
              <a:rPr lang="en-US"/>
              <a:t> </a:t>
            </a:r>
            <a:endParaRPr/>
          </a:p>
        </p:txBody>
      </p:sp>
      <p:sp>
        <p:nvSpPr>
          <p:cNvPr id="170" name="Google Shape;170;p4"/>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135</a:t>
            </a:r>
            <a:endParaRPr i="1">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179" name="Google Shape;179;p5" descr="Icon&#10;&#10;Description automatically generated"/>
          <p:cNvPicPr preferRelativeResize="0"/>
          <p:nvPr/>
        </p:nvPicPr>
        <p:blipFill rotWithShape="1">
          <a:blip r:embed="rId4">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180" name="Google Shape;180;p5"/>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136</a:t>
            </a:r>
            <a:endParaRPr i="1" dirty="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42750" y="-28087"/>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87" name="Google Shape;18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180737"/>
            <a:ext cx="563850" cy="657276"/>
          </a:xfrm>
          <a:prstGeom prst="rect">
            <a:avLst/>
          </a:prstGeom>
          <a:noFill/>
          <a:ln>
            <a:noFill/>
          </a:ln>
          <a:effectLst>
            <a:outerShdw blurRad="57150" dist="19050" dir="5400000" algn="bl" rotWithShape="0">
              <a:srgbClr val="000000">
                <a:alpha val="49803"/>
              </a:srgbClr>
            </a:outerShdw>
          </a:effectLst>
        </p:spPr>
      </p:pic>
      <p:sp>
        <p:nvSpPr>
          <p:cNvPr id="188" name="Google Shape;188;p6"/>
          <p:cNvSpPr txBox="1"/>
          <p:nvPr/>
        </p:nvSpPr>
        <p:spPr>
          <a:xfrm>
            <a:off x="1009900" y="40463"/>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400" b="1" dirty="0">
                <a:solidFill>
                  <a:srgbClr val="33BEA6"/>
                </a:solidFill>
                <a:latin typeface="Verdana"/>
                <a:ea typeface="Verdana"/>
                <a:cs typeface="Verdana"/>
                <a:sym typeface="Verdana"/>
              </a:rPr>
              <a:t>10.4.2 Exploration: Finding a Formula for the Area of a Sector</a:t>
            </a:r>
            <a:endParaRPr sz="3400" b="1" dirty="0">
              <a:solidFill>
                <a:srgbClr val="33BEA6"/>
              </a:solidFill>
              <a:latin typeface="Verdana"/>
              <a:ea typeface="Verdana"/>
              <a:cs typeface="Verdana"/>
              <a:sym typeface="Verdana"/>
            </a:endParaRPr>
          </a:p>
        </p:txBody>
      </p:sp>
      <p:pic>
        <p:nvPicPr>
          <p:cNvPr id="189" name="Google Shape;189;p6"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53602" y="288588"/>
            <a:ext cx="752254" cy="752254"/>
          </a:xfrm>
          <a:prstGeom prst="rect">
            <a:avLst/>
          </a:prstGeom>
          <a:noFill/>
          <a:ln>
            <a:noFill/>
          </a:ln>
          <a:effectLst>
            <a:outerShdw blurRad="50800" dist="38100" dir="2700000" algn="tl" rotWithShape="0">
              <a:srgbClr val="000000">
                <a:alpha val="40000"/>
              </a:srgbClr>
            </a:outerShdw>
          </a:effectLst>
        </p:spPr>
      </p:pic>
      <p:sp>
        <p:nvSpPr>
          <p:cNvPr id="190" name="Google Shape;190;p6"/>
          <p:cNvSpPr txBox="1"/>
          <p:nvPr/>
        </p:nvSpPr>
        <p:spPr>
          <a:xfrm>
            <a:off x="550498" y="1366164"/>
            <a:ext cx="8327136" cy="1384995"/>
          </a:xfrm>
          <a:prstGeom prst="rect">
            <a:avLst/>
          </a:prstGeom>
          <a:blipFill rotWithShape="1">
            <a:blip r:embed="rId5" cstate="screen">
              <a:alphaModFix/>
              <a:extLst>
                <a:ext uri="{28A0092B-C50C-407E-A947-70E740481C1C}">
                  <a14:useLocalDpi xmlns:a14="http://schemas.microsoft.com/office/drawing/2010/main"/>
                </a:ext>
              </a:extLst>
            </a:blip>
            <a:stretch>
              <a:fillRect l="-877" t="-3069" b="-7453"/>
            </a:stretch>
          </a:blipFill>
          <a:ln>
            <a:noFill/>
          </a:ln>
        </p:spPr>
        <p:txBody>
          <a:bodyPr spcFirstLastPara="1" wrap="square" lIns="91425" tIns="45700" rIns="91425" bIns="45700" anchor="t" anchorCtr="0">
            <a:noAutofit/>
          </a:bodyPr>
          <a:lstStyle/>
          <a:p>
            <a:r>
              <a:rPr lang="en-US"/>
              <a:t> </a:t>
            </a:r>
            <a:endParaRPr/>
          </a:p>
        </p:txBody>
      </p:sp>
      <p:graphicFrame>
        <p:nvGraphicFramePr>
          <p:cNvPr id="191" name="Google Shape;191;p6"/>
          <p:cNvGraphicFramePr/>
          <p:nvPr>
            <p:extLst>
              <p:ext uri="{D42A27DB-BD31-4B8C-83A1-F6EECF244321}">
                <p14:modId xmlns:p14="http://schemas.microsoft.com/office/powerpoint/2010/main" val="1184883315"/>
              </p:ext>
            </p:extLst>
          </p:nvPr>
        </p:nvGraphicFramePr>
        <p:xfrm>
          <a:off x="760357" y="2800075"/>
          <a:ext cx="7515925" cy="3657600"/>
        </p:xfrm>
        <a:graphic>
          <a:graphicData uri="http://schemas.openxmlformats.org/drawingml/2006/table">
            <a:tbl>
              <a:tblPr firstRow="1" firstCol="1" bandRow="1">
                <a:noFill/>
                <a:tableStyleId>{0C360AFF-1C73-48C1-BA1F-A05DBC6C6FCA}</a:tableStyleId>
              </a:tblPr>
              <a:tblGrid>
                <a:gridCol w="1696175">
                  <a:extLst>
                    <a:ext uri="{9D8B030D-6E8A-4147-A177-3AD203B41FA5}">
                      <a16:colId xmlns:a16="http://schemas.microsoft.com/office/drawing/2014/main" val="20000"/>
                    </a:ext>
                  </a:extLst>
                </a:gridCol>
                <a:gridCol w="1768450">
                  <a:extLst>
                    <a:ext uri="{9D8B030D-6E8A-4147-A177-3AD203B41FA5}">
                      <a16:colId xmlns:a16="http://schemas.microsoft.com/office/drawing/2014/main" val="20001"/>
                    </a:ext>
                  </a:extLst>
                </a:gridCol>
                <a:gridCol w="1716525">
                  <a:extLst>
                    <a:ext uri="{9D8B030D-6E8A-4147-A177-3AD203B41FA5}">
                      <a16:colId xmlns:a16="http://schemas.microsoft.com/office/drawing/2014/main" val="20002"/>
                    </a:ext>
                  </a:extLst>
                </a:gridCol>
                <a:gridCol w="2334775">
                  <a:extLst>
                    <a:ext uri="{9D8B030D-6E8A-4147-A177-3AD203B41FA5}">
                      <a16:colId xmlns:a16="http://schemas.microsoft.com/office/drawing/2014/main" val="20003"/>
                    </a:ext>
                  </a:extLst>
                </a:gridCol>
              </a:tblGrid>
              <a:tr h="12192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Number of Slices</a:t>
                      </a:r>
                      <a:endParaRPr/>
                    </a:p>
                  </a:txBody>
                  <a:tcPr marL="68575" marR="68575" marT="0" marB="0" anchor="ctr">
                    <a:solidFill>
                      <a:srgbClr val="A5A5A5"/>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Fraction of the Circle</a:t>
                      </a:r>
                      <a:endParaRPr/>
                    </a:p>
                  </a:txBody>
                  <a:tcPr marL="68575" marR="68575" marT="0" marB="0" anchor="ctr">
                    <a:solidFill>
                      <a:srgbClr val="A5A5A5"/>
                    </a:solidFill>
                  </a:tcPr>
                </a:tc>
                <a:tc>
                  <a:txBody>
                    <a:bodyPr/>
                    <a:lstStyle/>
                    <a:p>
                      <a:pPr marL="0" lvl="0" indent="0" algn="ctr" rtl="0">
                        <a:spcBef>
                          <a:spcPts val="0"/>
                        </a:spcBef>
                        <a:spcAft>
                          <a:spcPts val="0"/>
                        </a:spcAft>
                        <a:buClr>
                          <a:schemeClr val="dk1"/>
                        </a:buClr>
                        <a:buFont typeface="Arial"/>
                        <a:buNone/>
                      </a:pPr>
                      <a:r>
                        <a:rPr lang="en-US" sz="2000" b="1">
                          <a:latin typeface="Verdana"/>
                          <a:ea typeface="Verdana"/>
                          <a:cs typeface="Verdana"/>
                          <a:sym typeface="Verdana"/>
                        </a:rPr>
                        <a:t>Central Angle in Degrees (°)</a:t>
                      </a:r>
                      <a:endParaRPr sz="1400" u="none" strike="noStrike" cap="none"/>
                    </a:p>
                  </a:txBody>
                  <a:tcPr marL="68575" marR="68575" marT="0" marB="0" anchor="ctr">
                    <a:solidFill>
                      <a:srgbClr val="A5A5A5"/>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Write an Equation to Find the Area of the Sector</a:t>
                      </a:r>
                      <a:endParaRPr/>
                    </a:p>
                  </a:txBody>
                  <a:tcPr marL="68575" marR="68575" marT="0" marB="0" anchor="ctr">
                    <a:solidFill>
                      <a:srgbClr val="A5A5A5"/>
                    </a:solidFill>
                  </a:tcPr>
                </a:tc>
                <a:extLst>
                  <a:ext uri="{0D108BD9-81ED-4DB2-BD59-A6C34878D82A}">
                    <a16:rowId xmlns:a16="http://schemas.microsoft.com/office/drawing/2014/main" val="10000"/>
                  </a:ext>
                </a:extLst>
              </a:tr>
              <a:tr h="6096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2</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a:p>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extLst>
                  <a:ext uri="{0D108BD9-81ED-4DB2-BD59-A6C34878D82A}">
                    <a16:rowId xmlns:a16="http://schemas.microsoft.com/office/drawing/2014/main" val="10001"/>
                  </a:ext>
                </a:extLst>
              </a:tr>
              <a:tr h="6096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4</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a:p>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extLst>
                  <a:ext uri="{0D108BD9-81ED-4DB2-BD59-A6C34878D82A}">
                    <a16:rowId xmlns:a16="http://schemas.microsoft.com/office/drawing/2014/main" val="10002"/>
                  </a:ext>
                </a:extLst>
              </a:tr>
              <a:tr h="6096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6</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a:p>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extLst>
                  <a:ext uri="{0D108BD9-81ED-4DB2-BD59-A6C34878D82A}">
                    <a16:rowId xmlns:a16="http://schemas.microsoft.com/office/drawing/2014/main" val="10003"/>
                  </a:ext>
                </a:extLst>
              </a:tr>
              <a:tr h="6096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8</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a:p>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tc>
                <a:tc>
                  <a:txBody>
                    <a:bodyPr/>
                    <a:lstStyle/>
                    <a:p>
                      <a:pPr marL="0" marR="0" lvl="0" indent="0" algn="l" rtl="0">
                        <a:lnSpc>
                          <a:spcPct val="100000"/>
                        </a:lnSpc>
                        <a:spcBef>
                          <a:spcPts val="0"/>
                        </a:spcBef>
                        <a:spcAft>
                          <a:spcPts val="0"/>
                        </a:spcAft>
                        <a:buNone/>
                      </a:pPr>
                      <a:r>
                        <a:rPr lang="en-US" sz="2000" u="none" strike="noStrike" cap="none" dirty="0">
                          <a:latin typeface="Cambria Math"/>
                          <a:ea typeface="Cambria Math"/>
                          <a:cs typeface="Cambria Math"/>
                          <a:sym typeface="Cambria Math"/>
                        </a:rPr>
                        <a:t> </a:t>
                      </a:r>
                      <a:endParaRPr sz="2000" u="none" strike="noStrike" cap="none" dirty="0">
                        <a:latin typeface="Cambria Math"/>
                        <a:ea typeface="Cambria Math"/>
                        <a:cs typeface="Cambria Math"/>
                        <a:sym typeface="Cambria Math"/>
                      </a:endParaRPr>
                    </a:p>
                  </a:txBody>
                  <a:tcPr marL="68575" marR="68575" marT="0" marB="0"/>
                </a:tc>
                <a:extLst>
                  <a:ext uri="{0D108BD9-81ED-4DB2-BD59-A6C34878D82A}">
                    <a16:rowId xmlns:a16="http://schemas.microsoft.com/office/drawing/2014/main" val="10004"/>
                  </a:ext>
                </a:extLst>
              </a:tr>
            </a:tbl>
          </a:graphicData>
        </a:graphic>
      </p:graphicFrame>
      <p:sp>
        <p:nvSpPr>
          <p:cNvPr id="192" name="Google Shape;192;p6"/>
          <p:cNvSpPr txBox="1"/>
          <p:nvPr/>
        </p:nvSpPr>
        <p:spPr>
          <a:xfrm>
            <a:off x="8889924" y="6437812"/>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136</a:t>
            </a:r>
            <a:endParaRPr i="1" dirty="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p:nvPr/>
        </p:nvSpPr>
        <p:spPr>
          <a:xfrm>
            <a:off x="-4275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02619" y="6200599"/>
            <a:ext cx="563850" cy="657276"/>
          </a:xfrm>
          <a:prstGeom prst="rect">
            <a:avLst/>
          </a:prstGeom>
          <a:noFill/>
          <a:ln>
            <a:noFill/>
          </a:ln>
          <a:effectLst>
            <a:outerShdw blurRad="57150" dist="19050" dir="5400000" algn="bl" rotWithShape="0">
              <a:srgbClr val="000000">
                <a:alpha val="49803"/>
              </a:srgbClr>
            </a:outerShdw>
          </a:effectLst>
        </p:spPr>
      </p:pic>
      <p:sp>
        <p:nvSpPr>
          <p:cNvPr id="200" name="Google Shape;200;p7"/>
          <p:cNvSpPr txBox="1"/>
          <p:nvPr/>
        </p:nvSpPr>
        <p:spPr>
          <a:xfrm>
            <a:off x="497815" y="373432"/>
            <a:ext cx="11104804" cy="3000781"/>
          </a:xfrm>
          <a:prstGeom prst="rect">
            <a:avLst/>
          </a:prstGeom>
          <a:noFill/>
          <a:ln>
            <a:noFill/>
          </a:ln>
        </p:spPr>
        <p:txBody>
          <a:bodyPr spcFirstLastPara="1" wrap="square" lIns="91425" tIns="45700" rIns="91425" bIns="45700" anchor="t" anchorCtr="0">
            <a:spAutoFit/>
          </a:bodyPr>
          <a:lstStyle/>
          <a:p>
            <a:pPr marL="914400" indent="-457200">
              <a:buSzPts val="2100"/>
              <a:buFont typeface="Arial"/>
              <a:buAutoNum type="alphaLcPeriod" startAt="2"/>
            </a:pPr>
            <a:r>
              <a:rPr lang="en-US" sz="2100" dirty="0">
                <a:latin typeface="Verdana"/>
                <a:ea typeface="Verdana"/>
                <a:cs typeface="Verdana"/>
                <a:sym typeface="Verdana"/>
              </a:rPr>
              <a:t>Compare the values in your table with your partner. Discuss your equations in the last column and make any revisions if needed.</a:t>
            </a:r>
            <a:endParaRPr dirty="0"/>
          </a:p>
          <a:p>
            <a:pPr marL="914400" indent="-323850">
              <a:buSzPts val="2100"/>
            </a:pPr>
            <a:endParaRPr sz="2100" dirty="0">
              <a:latin typeface="Verdana"/>
              <a:ea typeface="Verdana"/>
              <a:cs typeface="Verdana"/>
              <a:sym typeface="Verdana"/>
            </a:endParaRPr>
          </a:p>
          <a:p>
            <a:pPr marL="919163" indent="-461963">
              <a:buSzPts val="2100"/>
            </a:pPr>
            <a:r>
              <a:rPr lang="en-US" sz="2100" dirty="0">
                <a:latin typeface="Verdana"/>
                <a:ea typeface="Verdana"/>
                <a:cs typeface="Verdana"/>
                <a:sym typeface="Verdana"/>
              </a:rPr>
              <a:t>c.	Discuss with your partner how the fractions in your equations relate to the central angles, and how the equations might have differed if the angle measure was given in radians.</a:t>
            </a:r>
            <a:endParaRPr dirty="0"/>
          </a:p>
          <a:p>
            <a:pPr marL="457200">
              <a:buSzPts val="2100"/>
            </a:pPr>
            <a:endParaRPr lang="en-US" sz="2100" dirty="0">
              <a:latin typeface="Verdana"/>
              <a:ea typeface="Verdana"/>
              <a:cs typeface="Verdana"/>
              <a:sym typeface="Verdana"/>
            </a:endParaRPr>
          </a:p>
          <a:p>
            <a:pPr marL="919163" indent="-461963">
              <a:buSzPts val="2100"/>
            </a:pPr>
            <a:r>
              <a:rPr lang="en-US" sz="2100" dirty="0">
                <a:latin typeface="Verdana"/>
                <a:ea typeface="Verdana"/>
                <a:cs typeface="Verdana"/>
                <a:sym typeface="Verdana"/>
              </a:rPr>
              <a:t>d.	Summarize your discussion by writing a general formula to find the area of any sector.</a:t>
            </a:r>
            <a:endParaRPr sz="2100" dirty="0">
              <a:latin typeface="Verdana"/>
              <a:ea typeface="Verdana"/>
              <a:cs typeface="Verdana"/>
              <a:sym typeface="Verdana"/>
            </a:endParaRPr>
          </a:p>
        </p:txBody>
      </p:sp>
      <p:grpSp>
        <p:nvGrpSpPr>
          <p:cNvPr id="201" name="Google Shape;201;p7"/>
          <p:cNvGrpSpPr/>
          <p:nvPr/>
        </p:nvGrpSpPr>
        <p:grpSpPr>
          <a:xfrm>
            <a:off x="867958" y="4491449"/>
            <a:ext cx="6253843" cy="2166326"/>
            <a:chOff x="168107" y="-18606"/>
            <a:chExt cx="6253843" cy="2166519"/>
          </a:xfrm>
        </p:grpSpPr>
        <p:sp>
          <p:nvSpPr>
            <p:cNvPr id="202" name="Google Shape;202;p7"/>
            <p:cNvSpPr/>
            <p:nvPr/>
          </p:nvSpPr>
          <p:spPr>
            <a:xfrm>
              <a:off x="168107" y="-18606"/>
              <a:ext cx="6253843" cy="2166519"/>
            </a:xfrm>
            <a:prstGeom prst="roundRect">
              <a:avLst>
                <a:gd name="adj" fmla="val 16667"/>
              </a:avLst>
            </a:prstGeom>
            <a:solidFill>
              <a:srgbClr val="AEDBF1"/>
            </a:solidFill>
            <a:ln>
              <a:noFill/>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pic>
          <p:nvPicPr>
            <p:cNvPr id="203" name="Google Shape;203;p7" descr="Icon&#10;&#10;Description automatically generated"/>
            <p:cNvPicPr preferRelativeResize="0"/>
            <p:nvPr/>
          </p:nvPicPr>
          <p:blipFill rotWithShape="1">
            <a:blip r:embed="rId4">
              <a:alphaModFix/>
            </a:blip>
            <a:srcRect/>
            <a:stretch/>
          </p:blipFill>
          <p:spPr>
            <a:xfrm>
              <a:off x="470476" y="171942"/>
              <a:ext cx="548640" cy="548640"/>
            </a:xfrm>
            <a:prstGeom prst="rect">
              <a:avLst/>
            </a:prstGeom>
            <a:noFill/>
            <a:ln>
              <a:noFill/>
            </a:ln>
            <a:effectLst>
              <a:outerShdw blurRad="50800" dist="38100" dir="2700000" algn="tl" rotWithShape="0">
                <a:srgbClr val="000000">
                  <a:alpha val="40000"/>
                </a:srgbClr>
              </a:outerShdw>
            </a:effectLst>
          </p:spPr>
        </p:pic>
      </p:grpSp>
      <p:sp>
        <p:nvSpPr>
          <p:cNvPr id="205" name="Google Shape;205;p7"/>
          <p:cNvSpPr txBox="1"/>
          <p:nvPr/>
        </p:nvSpPr>
        <p:spPr>
          <a:xfrm>
            <a:off x="886439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136</a:t>
            </a:r>
            <a:endParaRPr i="1">
              <a:latin typeface="Calibri"/>
              <a:ea typeface="Calibri"/>
              <a:cs typeface="Calibri"/>
              <a:sym typeface="Calibri"/>
            </a:endParaRPr>
          </a:p>
        </p:txBody>
      </p:sp>
      <p:pic>
        <p:nvPicPr>
          <p:cNvPr id="3" name="Picture 2" descr="Graphical user interface, text, application&#10;&#10;Description automatically generated">
            <a:extLst>
              <a:ext uri="{FF2B5EF4-FFF2-40B4-BE49-F238E27FC236}">
                <a16:creationId xmlns:a16="http://schemas.microsoft.com/office/drawing/2014/main" id="{47C77494-C4F9-F27F-3408-7599B285B6B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76304" y="4725477"/>
            <a:ext cx="4688159" cy="17758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p:nvPr/>
        </p:nvSpPr>
        <p:spPr>
          <a:xfrm>
            <a:off x="0" y="-1270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12" name="Google Shape;212;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13" name="Google Shape;213;p8"/>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214" name="Google Shape;214;p8" descr="Icon&#10;&#10;Description automatically generated"/>
          <p:cNvPicPr preferRelativeResize="0"/>
          <p:nvPr/>
        </p:nvPicPr>
        <p:blipFill rotWithShape="1">
          <a:blip r:embed="rId4">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215" name="Google Shape;215;p8"/>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137</a:t>
            </a:r>
            <a:endParaRPr i="1">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9"/>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2" name="Google Shape;222;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23" name="Google Shape;223;p9"/>
          <p:cNvSpPr txBox="1"/>
          <p:nvPr/>
        </p:nvSpPr>
        <p:spPr>
          <a:xfrm>
            <a:off x="1052650" y="-155195"/>
            <a:ext cx="105755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10.4.3 Guided Practice: Area of a Sector</a:t>
            </a:r>
            <a:endParaRPr sz="3600" b="1" dirty="0">
              <a:solidFill>
                <a:srgbClr val="54B5D1"/>
              </a:solidFill>
              <a:latin typeface="Verdana"/>
              <a:ea typeface="Verdana"/>
              <a:cs typeface="Verdana"/>
              <a:sym typeface="Verdana"/>
            </a:endParaRPr>
          </a:p>
        </p:txBody>
      </p:sp>
      <p:pic>
        <p:nvPicPr>
          <p:cNvPr id="224" name="Google Shape;224;p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128815"/>
            <a:ext cx="749808" cy="749808"/>
          </a:xfrm>
          <a:prstGeom prst="rect">
            <a:avLst/>
          </a:prstGeom>
          <a:noFill/>
          <a:ln>
            <a:noFill/>
          </a:ln>
          <a:effectLst>
            <a:outerShdw blurRad="50800" dist="38100" dir="2700000" algn="tl" rotWithShape="0">
              <a:srgbClr val="000000">
                <a:alpha val="40000"/>
              </a:srgbClr>
            </a:outerShdw>
          </a:effectLst>
        </p:spPr>
      </p:pic>
      <p:sp>
        <p:nvSpPr>
          <p:cNvPr id="225" name="Google Shape;225;p9"/>
          <p:cNvSpPr txBox="1"/>
          <p:nvPr/>
        </p:nvSpPr>
        <p:spPr>
          <a:xfrm>
            <a:off x="593248" y="1386026"/>
            <a:ext cx="8297309" cy="1447319"/>
          </a:xfrm>
          <a:prstGeom prst="rect">
            <a:avLst/>
          </a:prstGeom>
          <a:blipFill rotWithShape="1">
            <a:blip r:embed="rId5">
              <a:alphaModFix/>
            </a:blip>
            <a:stretch>
              <a:fillRect l="-954" t="-3360" b="-7980"/>
            </a:stretch>
          </a:blipFill>
          <a:ln>
            <a:noFill/>
          </a:ln>
        </p:spPr>
        <p:txBody>
          <a:bodyPr spcFirstLastPara="1" wrap="square" lIns="91425" tIns="45700" rIns="91425" bIns="45700" anchor="t" anchorCtr="0">
            <a:noAutofit/>
          </a:bodyPr>
          <a:lstStyle/>
          <a:p>
            <a:r>
              <a:rPr lang="en-US"/>
              <a:t> </a:t>
            </a:r>
            <a:endParaRPr/>
          </a:p>
        </p:txBody>
      </p:sp>
      <p:pic>
        <p:nvPicPr>
          <p:cNvPr id="226" name="Google Shape;226;p9"/>
          <p:cNvPicPr preferRelativeResize="0"/>
          <p:nvPr/>
        </p:nvPicPr>
        <p:blipFill rotWithShape="1">
          <a:blip r:embed="rId6" cstate="screen">
            <a:alphaModFix/>
            <a:extLst>
              <a:ext uri="{28A0092B-C50C-407E-A947-70E740481C1C}">
                <a14:useLocalDpi xmlns:a14="http://schemas.microsoft.com/office/drawing/2010/main"/>
              </a:ext>
            </a:extLst>
          </a:blip>
          <a:srcRect l="33924" t="20653" r="23950" b="5680"/>
          <a:stretch/>
        </p:blipFill>
        <p:spPr>
          <a:xfrm>
            <a:off x="2292268" y="2870561"/>
            <a:ext cx="2995930" cy="3587115"/>
          </a:xfrm>
          <a:prstGeom prst="rect">
            <a:avLst/>
          </a:prstGeom>
          <a:noFill/>
          <a:ln>
            <a:noFill/>
          </a:ln>
        </p:spPr>
      </p:pic>
      <p:sp>
        <p:nvSpPr>
          <p:cNvPr id="227" name="Google Shape;227;p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137</a:t>
            </a:r>
            <a:endParaRPr i="1" dirty="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0"/>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4" name="Google Shape;234;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05927" y="6208824"/>
            <a:ext cx="563850" cy="657276"/>
          </a:xfrm>
          <a:prstGeom prst="rect">
            <a:avLst/>
          </a:prstGeom>
          <a:noFill/>
          <a:ln>
            <a:noFill/>
          </a:ln>
          <a:effectLst>
            <a:outerShdw blurRad="57150" dist="19050" dir="5400000" algn="bl" rotWithShape="0">
              <a:srgbClr val="000000">
                <a:alpha val="49803"/>
              </a:srgbClr>
            </a:outerShdw>
          </a:effectLst>
        </p:spPr>
      </p:pic>
      <p:sp>
        <p:nvSpPr>
          <p:cNvPr id="235" name="Google Shape;235;p10"/>
          <p:cNvSpPr txBox="1"/>
          <p:nvPr/>
        </p:nvSpPr>
        <p:spPr>
          <a:xfrm>
            <a:off x="540565" y="382314"/>
            <a:ext cx="8327136" cy="4154984"/>
          </a:xfrm>
          <a:prstGeom prst="rect">
            <a:avLst/>
          </a:prstGeom>
          <a:blipFill rotWithShape="1">
            <a:blip r:embed="rId4">
              <a:alphaModFix/>
            </a:blip>
            <a:stretch>
              <a:fillRect l="-951" t="-1172" b="-2198"/>
            </a:stretch>
          </a:blipFill>
          <a:ln>
            <a:noFill/>
          </a:ln>
        </p:spPr>
        <p:txBody>
          <a:bodyPr spcFirstLastPara="1" wrap="square" lIns="91425" tIns="45700" rIns="91425" bIns="45700" anchor="t" anchorCtr="0">
            <a:noAutofit/>
          </a:bodyPr>
          <a:lstStyle/>
          <a:p>
            <a:r>
              <a:rPr lang="en-US"/>
              <a:t> </a:t>
            </a:r>
            <a:endParaRPr/>
          </a:p>
        </p:txBody>
      </p:sp>
      <p:sp>
        <p:nvSpPr>
          <p:cNvPr id="236" name="Google Shape;236;p10"/>
          <p:cNvSpPr txBox="1"/>
          <p:nvPr/>
        </p:nvSpPr>
        <p:spPr>
          <a:xfrm>
            <a:off x="8867701" y="64658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137</a:t>
            </a:r>
            <a:endParaRPr i="1"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1"/>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43" name="Google Shape;243;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44" name="Google Shape;244;p11"/>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245" name="Google Shape;245;p11"/>
          <p:cNvPicPr preferRelativeResize="0"/>
          <p:nvPr/>
        </p:nvPicPr>
        <p:blipFill rotWithShape="1">
          <a:blip r:embed="rId4">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246" name="Google Shape;246;p11"/>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137</a:t>
            </a:r>
            <a:endParaRPr i="1" dirty="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2"/>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3" name="Google Shape;253;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98752" y="6200599"/>
            <a:ext cx="563850" cy="657276"/>
          </a:xfrm>
          <a:prstGeom prst="rect">
            <a:avLst/>
          </a:prstGeom>
          <a:noFill/>
          <a:ln>
            <a:noFill/>
          </a:ln>
          <a:effectLst>
            <a:outerShdw blurRad="57150" dist="19050" dir="5400000" algn="bl" rotWithShape="0">
              <a:srgbClr val="000000">
                <a:alpha val="49803"/>
              </a:srgbClr>
            </a:outerShdw>
          </a:effectLst>
        </p:spPr>
      </p:pic>
      <p:sp>
        <p:nvSpPr>
          <p:cNvPr id="254" name="Google Shape;254;p12"/>
          <p:cNvSpPr txBox="1"/>
          <p:nvPr/>
        </p:nvSpPr>
        <p:spPr>
          <a:xfrm>
            <a:off x="1052650"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3BEA6"/>
                </a:solidFill>
                <a:latin typeface="Verdana"/>
                <a:ea typeface="Verdana"/>
                <a:cs typeface="Verdana"/>
                <a:sym typeface="Verdana"/>
              </a:rPr>
              <a:t>10.4.4 Collaboration: Arc Length</a:t>
            </a:r>
            <a:endParaRPr sz="3600" b="1">
              <a:solidFill>
                <a:srgbClr val="33BEA6"/>
              </a:solidFill>
              <a:latin typeface="Verdana"/>
              <a:ea typeface="Verdana"/>
              <a:cs typeface="Verdana"/>
              <a:sym typeface="Verdana"/>
            </a:endParaRPr>
          </a:p>
        </p:txBody>
      </p:sp>
      <p:pic>
        <p:nvPicPr>
          <p:cNvPr id="255" name="Google Shape;255;p1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348271"/>
            <a:ext cx="749808" cy="749808"/>
          </a:xfrm>
          <a:prstGeom prst="rect">
            <a:avLst/>
          </a:prstGeom>
          <a:noFill/>
          <a:ln>
            <a:noFill/>
          </a:ln>
          <a:effectLst>
            <a:outerShdw blurRad="50800" dist="38100" dir="2700000" algn="tl" rotWithShape="0">
              <a:srgbClr val="000000">
                <a:alpha val="40000"/>
              </a:srgbClr>
            </a:outerShdw>
          </a:effectLst>
        </p:spPr>
      </p:pic>
      <p:sp>
        <p:nvSpPr>
          <p:cNvPr id="256" name="Google Shape;256;p12"/>
          <p:cNvSpPr txBox="1"/>
          <p:nvPr/>
        </p:nvSpPr>
        <p:spPr>
          <a:xfrm>
            <a:off x="593248" y="1386025"/>
            <a:ext cx="8327136" cy="5170646"/>
          </a:xfrm>
          <a:prstGeom prst="rect">
            <a:avLst/>
          </a:prstGeom>
          <a:blipFill rotWithShape="1">
            <a:blip r:embed="rId5">
              <a:alphaModFix/>
            </a:blip>
            <a:stretch>
              <a:fillRect l="-951" t="-588" b="-1411"/>
            </a:stretch>
          </a:blipFill>
          <a:ln>
            <a:noFill/>
          </a:ln>
        </p:spPr>
        <p:txBody>
          <a:bodyPr spcFirstLastPara="1" wrap="square" lIns="91425" tIns="45700" rIns="91425" bIns="45700" anchor="t" anchorCtr="0">
            <a:noAutofit/>
          </a:bodyPr>
          <a:lstStyle/>
          <a:p>
            <a:r>
              <a:rPr lang="en-US"/>
              <a:t> </a:t>
            </a:r>
            <a:endParaRPr/>
          </a:p>
        </p:txBody>
      </p:sp>
      <p:sp>
        <p:nvSpPr>
          <p:cNvPr id="257" name="Google Shape;257;p12"/>
          <p:cNvSpPr txBox="1"/>
          <p:nvPr/>
        </p:nvSpPr>
        <p:spPr>
          <a:xfrm>
            <a:off x="886052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137</a:t>
            </a:r>
            <a:endParaRPr i="1" dirty="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3"/>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64" name="Google Shape;264;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94" y="6200599"/>
            <a:ext cx="563850" cy="657276"/>
          </a:xfrm>
          <a:prstGeom prst="rect">
            <a:avLst/>
          </a:prstGeom>
          <a:noFill/>
          <a:ln>
            <a:noFill/>
          </a:ln>
          <a:effectLst>
            <a:outerShdw blurRad="57150" dist="19050" dir="5400000" algn="bl" rotWithShape="0">
              <a:srgbClr val="000000">
                <a:alpha val="49803"/>
              </a:srgbClr>
            </a:outerShdw>
          </a:effectLst>
        </p:spPr>
      </p:pic>
      <p:sp>
        <p:nvSpPr>
          <p:cNvPr id="265" name="Google Shape;265;p13"/>
          <p:cNvSpPr txBox="1"/>
          <p:nvPr/>
        </p:nvSpPr>
        <p:spPr>
          <a:xfrm>
            <a:off x="465232" y="386282"/>
            <a:ext cx="10961136" cy="3139281"/>
          </a:xfrm>
          <a:prstGeom prst="rect">
            <a:avLst/>
          </a:prstGeom>
          <a:noFill/>
          <a:ln>
            <a:noFill/>
          </a:ln>
        </p:spPr>
        <p:txBody>
          <a:bodyPr spcFirstLastPara="1" wrap="square" lIns="91425" tIns="45700" rIns="91425" bIns="45700" anchor="t" anchorCtr="0">
            <a:spAutoFit/>
          </a:bodyPr>
          <a:lstStyle/>
          <a:p>
            <a:pPr marL="457200" indent="-457200">
              <a:buSzPts val="2200"/>
              <a:buFont typeface="Arial"/>
              <a:buAutoNum type="arabicPeriod" startAt="5"/>
            </a:pPr>
            <a:r>
              <a:rPr lang="en-US" sz="2200" dirty="0">
                <a:latin typeface="Verdana"/>
                <a:ea typeface="Verdana"/>
                <a:cs typeface="Verdana"/>
                <a:sym typeface="Verdana"/>
              </a:rPr>
              <a:t>Write a general equation that can be used to find the arc length of a sector in degrees. </a:t>
            </a:r>
            <a:endParaRPr dirty="0"/>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317500">
              <a:buSzPts val="2200"/>
            </a:pPr>
            <a:endParaRPr sz="2200" dirty="0">
              <a:latin typeface="Verdana"/>
              <a:ea typeface="Verdana"/>
              <a:cs typeface="Verdana"/>
              <a:sym typeface="Verdana"/>
            </a:endParaRPr>
          </a:p>
          <a:p>
            <a:pPr marL="457200" indent="-457200">
              <a:buSzPts val="2200"/>
              <a:buFont typeface="+mj-lt"/>
              <a:buAutoNum type="arabicPeriod" startAt="6"/>
            </a:pPr>
            <a:r>
              <a:rPr lang="en-US" sz="2200" dirty="0">
                <a:latin typeface="Verdana"/>
                <a:ea typeface="Verdana"/>
                <a:cs typeface="Verdana"/>
                <a:sym typeface="Verdana"/>
              </a:rPr>
              <a:t>Discuss with your partner how your equation would change if the central angle had been given in radians. Summarize your discussion by writing an equation to find the arc length if the angle measure is given in radians.</a:t>
            </a:r>
            <a:endParaRPr sz="2200" dirty="0">
              <a:latin typeface="Verdana"/>
              <a:ea typeface="Verdana"/>
              <a:cs typeface="Verdana"/>
              <a:sym typeface="Verdana"/>
            </a:endParaRPr>
          </a:p>
        </p:txBody>
      </p:sp>
      <p:sp>
        <p:nvSpPr>
          <p:cNvPr id="266" name="Google Shape;266;p13"/>
          <p:cNvSpPr/>
          <p:nvPr/>
        </p:nvSpPr>
        <p:spPr>
          <a:xfrm>
            <a:off x="1106033" y="4342387"/>
            <a:ext cx="6570767" cy="2115289"/>
          </a:xfrm>
          <a:prstGeom prst="roundRect">
            <a:avLst>
              <a:gd name="adj" fmla="val 16667"/>
            </a:avLst>
          </a:prstGeom>
          <a:blipFill rotWithShape="1">
            <a:blip r:embed="rId4" cstate="screen">
              <a:alphaModFix/>
              <a:extLst>
                <a:ext uri="{28A0092B-C50C-407E-A947-70E740481C1C}">
                  <a14:useLocalDpi xmlns:a14="http://schemas.microsoft.com/office/drawing/2010/main"/>
                </a:ext>
              </a:extLst>
            </a:blip>
            <a:stretch>
              <a:fillRect/>
            </a:stretch>
          </a:blip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r>
              <a:rPr lang="en-US"/>
              <a:t> </a:t>
            </a:r>
            <a:endParaRPr/>
          </a:p>
        </p:txBody>
      </p:sp>
      <p:pic>
        <p:nvPicPr>
          <p:cNvPr id="267" name="Google Shape;267;p13" descr="Icon&#10;&#10;Description automatically generated"/>
          <p:cNvPicPr preferRelativeResize="0"/>
          <p:nvPr/>
        </p:nvPicPr>
        <p:blipFill rotWithShape="1">
          <a:blip r:embed="rId5">
            <a:alphaModFix/>
          </a:blip>
          <a:srcRect/>
          <a:stretch/>
        </p:blipFill>
        <p:spPr>
          <a:xfrm>
            <a:off x="1297990" y="4604655"/>
            <a:ext cx="536575" cy="556260"/>
          </a:xfrm>
          <a:prstGeom prst="rect">
            <a:avLst/>
          </a:prstGeom>
          <a:noFill/>
          <a:ln>
            <a:noFill/>
          </a:ln>
          <a:effectLst>
            <a:outerShdw blurRad="50800" dist="38100" dir="2700000" algn="tl" rotWithShape="0">
              <a:srgbClr val="000000">
                <a:alpha val="40000"/>
              </a:srgbClr>
            </a:outerShdw>
          </a:effectLst>
        </p:spPr>
      </p:pic>
      <p:sp>
        <p:nvSpPr>
          <p:cNvPr id="268" name="Google Shape;268;p13"/>
          <p:cNvSpPr txBox="1"/>
          <p:nvPr/>
        </p:nvSpPr>
        <p:spPr>
          <a:xfrm>
            <a:off x="87923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138</a:t>
            </a:r>
            <a:endParaRPr i="1" dirty="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4"/>
          <p:cNvSpPr/>
          <p:nvPr/>
        </p:nvSpPr>
        <p:spPr>
          <a:xfrm>
            <a:off x="0" y="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75" name="Google Shape;275;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76" name="Google Shape;276;p14"/>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277" name="Google Shape;277;p14" descr="Icon&#10;&#10;Description automatically generated"/>
          <p:cNvPicPr preferRelativeResize="0"/>
          <p:nvPr/>
        </p:nvPicPr>
        <p:blipFill rotWithShape="1">
          <a:blip r:embed="rId4">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278" name="Google Shape;278;p14"/>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138</a:t>
            </a:r>
            <a:endParaRPr i="1" dirty="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5"/>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5" name="Google Shape;285;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86" name="Google Shape;286;p15"/>
          <p:cNvSpPr txBox="1"/>
          <p:nvPr/>
        </p:nvSpPr>
        <p:spPr>
          <a:xfrm>
            <a:off x="1052650" y="-125699"/>
            <a:ext cx="9536692"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10.4.5 Guided Practice: Arc Length</a:t>
            </a:r>
            <a:endParaRPr sz="3600" b="1" dirty="0">
              <a:solidFill>
                <a:srgbClr val="54B5D1"/>
              </a:solidFill>
              <a:latin typeface="Verdana"/>
              <a:ea typeface="Verdana"/>
              <a:cs typeface="Verdana"/>
              <a:sym typeface="Verdana"/>
            </a:endParaRPr>
          </a:p>
        </p:txBody>
      </p:sp>
      <p:pic>
        <p:nvPicPr>
          <p:cNvPr id="287" name="Google Shape;287;p15"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128815"/>
            <a:ext cx="749808" cy="749808"/>
          </a:xfrm>
          <a:prstGeom prst="rect">
            <a:avLst/>
          </a:prstGeom>
          <a:noFill/>
          <a:ln>
            <a:noFill/>
          </a:ln>
          <a:effectLst>
            <a:outerShdw blurRad="50800" dist="38100" dir="2700000" algn="tl" rotWithShape="0">
              <a:srgbClr val="000000">
                <a:alpha val="40000"/>
              </a:srgbClr>
            </a:outerShdw>
          </a:effectLst>
        </p:spPr>
      </p:pic>
      <p:sp>
        <p:nvSpPr>
          <p:cNvPr id="288" name="Google Shape;288;p15"/>
          <p:cNvSpPr txBox="1"/>
          <p:nvPr/>
        </p:nvSpPr>
        <p:spPr>
          <a:xfrm>
            <a:off x="593248" y="1386026"/>
            <a:ext cx="8327136" cy="2125197"/>
          </a:xfrm>
          <a:prstGeom prst="rect">
            <a:avLst/>
          </a:prstGeom>
          <a:blipFill rotWithShape="1">
            <a:blip r:embed="rId5">
              <a:alphaModFix/>
            </a:blip>
            <a:stretch>
              <a:fillRect l="-951" t="-2291" b="-5157"/>
            </a:stretch>
          </a:blipFill>
          <a:ln>
            <a:noFill/>
          </a:ln>
        </p:spPr>
        <p:txBody>
          <a:bodyPr spcFirstLastPara="1" wrap="square" lIns="91425" tIns="45700" rIns="91425" bIns="45700" anchor="t" anchorCtr="0">
            <a:noAutofit/>
          </a:bodyPr>
          <a:lstStyle/>
          <a:p>
            <a:r>
              <a:rPr lang="en-US"/>
              <a:t> </a:t>
            </a:r>
            <a:endParaRPr/>
          </a:p>
        </p:txBody>
      </p:sp>
      <p:pic>
        <p:nvPicPr>
          <p:cNvPr id="289" name="Google Shape;289;p15" descr="Diagram&#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898032" y="3511222"/>
            <a:ext cx="3845292" cy="3202806"/>
          </a:xfrm>
          <a:prstGeom prst="rect">
            <a:avLst/>
          </a:prstGeom>
          <a:noFill/>
          <a:ln>
            <a:noFill/>
          </a:ln>
        </p:spPr>
      </p:pic>
      <p:sp>
        <p:nvSpPr>
          <p:cNvPr id="290" name="Google Shape;290;p15"/>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138</a:t>
            </a:r>
            <a:endParaRPr i="1" dirty="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6"/>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97" name="Google Shape;297;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05927" y="6200599"/>
            <a:ext cx="563850" cy="657276"/>
          </a:xfrm>
          <a:prstGeom prst="rect">
            <a:avLst/>
          </a:prstGeom>
          <a:noFill/>
          <a:ln>
            <a:noFill/>
          </a:ln>
          <a:effectLst>
            <a:outerShdw blurRad="57150" dist="19050" dir="5400000" algn="bl" rotWithShape="0">
              <a:srgbClr val="000000">
                <a:alpha val="49803"/>
              </a:srgbClr>
            </a:outerShdw>
          </a:effectLst>
        </p:spPr>
      </p:pic>
      <p:sp>
        <p:nvSpPr>
          <p:cNvPr id="298" name="Google Shape;298;p16"/>
          <p:cNvSpPr txBox="1"/>
          <p:nvPr/>
        </p:nvSpPr>
        <p:spPr>
          <a:xfrm>
            <a:off x="540565" y="410666"/>
            <a:ext cx="8327136" cy="769441"/>
          </a:xfrm>
          <a:prstGeom prst="rect">
            <a:avLst/>
          </a:prstGeom>
          <a:blipFill rotWithShape="1">
            <a:blip r:embed="rId4" cstate="screen">
              <a:alphaModFix/>
              <a:extLst>
                <a:ext uri="{28A0092B-C50C-407E-A947-70E740481C1C}">
                  <a14:useLocalDpi xmlns:a14="http://schemas.microsoft.com/office/drawing/2010/main"/>
                </a:ext>
              </a:extLst>
            </a:blip>
            <a:stretch>
              <a:fillRect t="-4723" b="-15746"/>
            </a:stretch>
          </a:blipFill>
          <a:ln>
            <a:noFill/>
          </a:ln>
        </p:spPr>
        <p:txBody>
          <a:bodyPr spcFirstLastPara="1" wrap="square" lIns="91425" tIns="45700" rIns="91425" bIns="45700" anchor="t" anchorCtr="0">
            <a:noAutofit/>
          </a:bodyPr>
          <a:lstStyle/>
          <a:p>
            <a:r>
              <a:rPr lang="en-US"/>
              <a:t> </a:t>
            </a:r>
            <a:endParaRPr/>
          </a:p>
        </p:txBody>
      </p:sp>
      <p:graphicFrame>
        <p:nvGraphicFramePr>
          <p:cNvPr id="299" name="Google Shape;299;p16"/>
          <p:cNvGraphicFramePr/>
          <p:nvPr>
            <p:extLst>
              <p:ext uri="{D42A27DB-BD31-4B8C-83A1-F6EECF244321}">
                <p14:modId xmlns:p14="http://schemas.microsoft.com/office/powerpoint/2010/main" val="2607507667"/>
              </p:ext>
            </p:extLst>
          </p:nvPr>
        </p:nvGraphicFramePr>
        <p:xfrm>
          <a:off x="1232457" y="1587931"/>
          <a:ext cx="6629400" cy="3657600"/>
        </p:xfrm>
        <a:graphic>
          <a:graphicData uri="http://schemas.openxmlformats.org/drawingml/2006/table">
            <a:tbl>
              <a:tblPr firstRow="1" firstCol="1" bandRow="1">
                <a:noFill/>
                <a:tableStyleId>{7C0E6A3D-ED27-4966-A30B-19DC20AF651B}</a:tableStyleId>
              </a:tblPr>
              <a:tblGrid>
                <a:gridCol w="2568575">
                  <a:extLst>
                    <a:ext uri="{9D8B030D-6E8A-4147-A177-3AD203B41FA5}">
                      <a16:colId xmlns:a16="http://schemas.microsoft.com/office/drawing/2014/main" val="20000"/>
                    </a:ext>
                  </a:extLst>
                </a:gridCol>
                <a:gridCol w="4060825">
                  <a:extLst>
                    <a:ext uri="{9D8B030D-6E8A-4147-A177-3AD203B41FA5}">
                      <a16:colId xmlns:a16="http://schemas.microsoft.com/office/drawing/2014/main" val="20001"/>
                    </a:ext>
                  </a:extLst>
                </a:gridCol>
              </a:tblGrid>
              <a:tr h="12192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Arc length of circle with radius PQ</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l"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tc>
                <a:extLst>
                  <a:ext uri="{0D108BD9-81ED-4DB2-BD59-A6C34878D82A}">
                    <a16:rowId xmlns:a16="http://schemas.microsoft.com/office/drawing/2014/main" val="10000"/>
                  </a:ext>
                </a:extLst>
              </a:tr>
              <a:tr h="12192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Arc length of circle with radius PR</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tc>
                <a:extLst>
                  <a:ext uri="{0D108BD9-81ED-4DB2-BD59-A6C34878D82A}">
                    <a16:rowId xmlns:a16="http://schemas.microsoft.com/office/drawing/2014/main" val="10001"/>
                  </a:ext>
                </a:extLst>
              </a:tr>
              <a:tr h="1219200">
                <a:tc>
                  <a:txBody>
                    <a:bodyPr/>
                    <a:lstStyle/>
                    <a:p>
                      <a:pPr marL="0" marR="0" lvl="0" indent="0" algn="ctr" rtl="0">
                        <a:lnSpc>
                          <a:spcPct val="100000"/>
                        </a:lnSpc>
                        <a:spcBef>
                          <a:spcPts val="0"/>
                        </a:spcBef>
                        <a:spcAft>
                          <a:spcPts val="0"/>
                        </a:spcAft>
                        <a:buNone/>
                      </a:pPr>
                      <a:r>
                        <a:rPr lang="en-US" sz="2000">
                          <a:latin typeface="Verdana"/>
                          <a:ea typeface="Verdana"/>
                          <a:cs typeface="Verdana"/>
                          <a:sym typeface="Verdana"/>
                        </a:rPr>
                        <a:t>Arc length of circle with radius PS</a:t>
                      </a:r>
                      <a:endParaRPr sz="2000" u="none" strike="noStrike" cap="none">
                        <a:latin typeface="Verdana"/>
                        <a:ea typeface="Verdana"/>
                        <a:cs typeface="Verdana"/>
                        <a:sym typeface="Verdana"/>
                      </a:endParaRPr>
                    </a:p>
                  </a:txBody>
                  <a:tcPr marL="68575" marR="68575" marT="0" marB="0" anchor="ct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tc>
                <a:extLst>
                  <a:ext uri="{0D108BD9-81ED-4DB2-BD59-A6C34878D82A}">
                    <a16:rowId xmlns:a16="http://schemas.microsoft.com/office/drawing/2014/main" val="10002"/>
                  </a:ext>
                </a:extLst>
              </a:tr>
            </a:tbl>
          </a:graphicData>
        </a:graphic>
      </p:graphicFrame>
      <p:sp>
        <p:nvSpPr>
          <p:cNvPr id="300" name="Google Shape;300;p16"/>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138</a:t>
            </a:r>
            <a:endParaRPr i="1" dirty="0">
              <a:latin typeface="Calibri"/>
              <a:ea typeface="Calibri"/>
              <a:cs typeface="Calibri"/>
              <a:sym typeface="Calibri"/>
            </a:endParaRPr>
          </a:p>
        </p:txBody>
      </p:sp>
      <p:cxnSp>
        <p:nvCxnSpPr>
          <p:cNvPr id="301" name="Google Shape;301;p16"/>
          <p:cNvCxnSpPr/>
          <p:nvPr/>
        </p:nvCxnSpPr>
        <p:spPr>
          <a:xfrm>
            <a:off x="4545675" y="2207000"/>
            <a:ext cx="385200" cy="0"/>
          </a:xfrm>
          <a:prstGeom prst="straightConnector1">
            <a:avLst/>
          </a:prstGeom>
          <a:noFill/>
          <a:ln w="9525" cap="flat" cmpd="sng">
            <a:solidFill>
              <a:schemeClr val="dk2"/>
            </a:solidFill>
            <a:prstDash val="solid"/>
            <a:round/>
            <a:headEnd type="none" w="med" len="med"/>
            <a:tailEnd type="none" w="med" len="med"/>
          </a:ln>
        </p:spPr>
      </p:cxnSp>
      <p:cxnSp>
        <p:nvCxnSpPr>
          <p:cNvPr id="302" name="Google Shape;302;p16"/>
          <p:cNvCxnSpPr/>
          <p:nvPr/>
        </p:nvCxnSpPr>
        <p:spPr>
          <a:xfrm>
            <a:off x="4516050" y="3436400"/>
            <a:ext cx="429600" cy="0"/>
          </a:xfrm>
          <a:prstGeom prst="straightConnector1">
            <a:avLst/>
          </a:prstGeom>
          <a:noFill/>
          <a:ln w="9525" cap="flat" cmpd="sng">
            <a:solidFill>
              <a:schemeClr val="dk2"/>
            </a:solidFill>
            <a:prstDash val="solid"/>
            <a:round/>
            <a:headEnd type="none" w="med" len="med"/>
            <a:tailEnd type="none" w="med" len="med"/>
          </a:ln>
        </p:spPr>
      </p:cxnSp>
      <p:cxnSp>
        <p:nvCxnSpPr>
          <p:cNvPr id="303" name="Google Shape;303;p16"/>
          <p:cNvCxnSpPr/>
          <p:nvPr/>
        </p:nvCxnSpPr>
        <p:spPr>
          <a:xfrm>
            <a:off x="4545750" y="4651000"/>
            <a:ext cx="3702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0" name="Google Shape;310;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311" name="Google Shape;311;p17"/>
          <p:cNvSpPr txBox="1"/>
          <p:nvPr/>
        </p:nvSpPr>
        <p:spPr>
          <a:xfrm>
            <a:off x="465232" y="386282"/>
            <a:ext cx="8327136" cy="824393"/>
          </a:xfrm>
          <a:prstGeom prst="rect">
            <a:avLst/>
          </a:prstGeom>
          <a:blipFill rotWithShape="1">
            <a:blip r:embed="rId4" cstate="screen">
              <a:alphaModFix/>
              <a:extLst>
                <a:ext uri="{28A0092B-C50C-407E-A947-70E740481C1C}">
                  <a14:useLocalDpi xmlns:a14="http://schemas.microsoft.com/office/drawing/2010/main"/>
                </a:ext>
              </a:extLst>
            </a:blip>
            <a:stretch>
              <a:fillRect l="-951" t="-5879" b="-13969"/>
            </a:stretch>
          </a:blipFill>
          <a:ln>
            <a:noFill/>
          </a:ln>
        </p:spPr>
        <p:txBody>
          <a:bodyPr spcFirstLastPara="1" wrap="square" lIns="91425" tIns="45700" rIns="91425" bIns="45700" anchor="t" anchorCtr="0">
            <a:noAutofit/>
          </a:bodyPr>
          <a:lstStyle/>
          <a:p>
            <a:r>
              <a:rPr lang="en-US"/>
              <a:t> </a:t>
            </a:r>
            <a:endParaRPr/>
          </a:p>
        </p:txBody>
      </p:sp>
      <p:pic>
        <p:nvPicPr>
          <p:cNvPr id="312" name="Google Shape;312;p17" descr="Diagram, venn diagram&#10;&#10;Description automatically generated"/>
          <p:cNvPicPr preferRelativeResize="0"/>
          <p:nvPr/>
        </p:nvPicPr>
        <p:blipFill rotWithShape="1">
          <a:blip r:embed="rId5">
            <a:alphaModFix/>
          </a:blip>
          <a:srcRect/>
          <a:stretch/>
        </p:blipFill>
        <p:spPr>
          <a:xfrm>
            <a:off x="1974364" y="1488075"/>
            <a:ext cx="4133215" cy="3873500"/>
          </a:xfrm>
          <a:prstGeom prst="rect">
            <a:avLst/>
          </a:prstGeom>
          <a:noFill/>
          <a:ln>
            <a:noFill/>
          </a:ln>
        </p:spPr>
      </p:pic>
      <p:sp>
        <p:nvSpPr>
          <p:cNvPr id="313" name="Google Shape;313;p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139</a:t>
            </a:r>
            <a:endParaRPr i="1" dirty="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8"/>
          <p:cNvSpPr/>
          <p:nvPr/>
        </p:nvSpPr>
        <p:spPr>
          <a:xfrm>
            <a:off x="0" y="-12825"/>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20" name="Google Shape;320;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21" name="Google Shape;321;p18"/>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22" name="Google Shape;322;p18" descr="Icon&#10;&#10;Description automatically generated"/>
          <p:cNvPicPr preferRelativeResize="0"/>
          <p:nvPr/>
        </p:nvPicPr>
        <p:blipFill rotWithShape="1">
          <a:blip r:embed="rId4">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323" name="Google Shape;323;p18"/>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139</a:t>
            </a:r>
            <a:endParaRPr i="1">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30" name="Google Shape;330;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31" name="Google Shape;331;p19"/>
          <p:cNvSpPr txBox="1"/>
          <p:nvPr/>
        </p:nvSpPr>
        <p:spPr>
          <a:xfrm>
            <a:off x="1052650" y="11776"/>
            <a:ext cx="9993892"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10.4.6 Guided Practice: Solving Real-World Problems Involving Arc Length and Area of a Sector</a:t>
            </a:r>
            <a:endParaRPr sz="3000" b="1" dirty="0">
              <a:solidFill>
                <a:srgbClr val="54B5D1"/>
              </a:solidFill>
              <a:latin typeface="Verdana"/>
              <a:ea typeface="Verdana"/>
              <a:cs typeface="Verdana"/>
              <a:sym typeface="Verdana"/>
            </a:endParaRPr>
          </a:p>
        </p:txBody>
      </p:sp>
      <p:pic>
        <p:nvPicPr>
          <p:cNvPr id="332" name="Google Shape;332;p1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128815"/>
            <a:ext cx="749808" cy="749808"/>
          </a:xfrm>
          <a:prstGeom prst="rect">
            <a:avLst/>
          </a:prstGeom>
          <a:noFill/>
          <a:ln>
            <a:noFill/>
          </a:ln>
          <a:effectLst>
            <a:outerShdw blurRad="50800" dist="38100" dir="2700000" algn="tl" rotWithShape="0">
              <a:srgbClr val="000000">
                <a:alpha val="40000"/>
              </a:srgbClr>
            </a:outerShdw>
          </a:effectLst>
        </p:spPr>
      </p:pic>
      <p:sp>
        <p:nvSpPr>
          <p:cNvPr id="334" name="Google Shape;334;p1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139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1C369F2-8A21-B77D-0546-1298B12CE15F}"/>
                  </a:ext>
                </a:extLst>
              </p:cNvPr>
              <p:cNvSpPr txBox="1"/>
              <p:nvPr/>
            </p:nvSpPr>
            <p:spPr>
              <a:xfrm>
                <a:off x="677746" y="1454515"/>
                <a:ext cx="10523654" cy="3416320"/>
              </a:xfrm>
              <a:prstGeom prst="rect">
                <a:avLst/>
              </a:prstGeom>
              <a:noFill/>
            </p:spPr>
            <p:txBody>
              <a:bodyPr wrap="square">
                <a:spAutoFit/>
              </a:bodyPr>
              <a:lstStyle/>
              <a:p>
                <a:pPr marL="342900" marR="0" lvl="0" indent="-342900">
                  <a:spcBef>
                    <a:spcPts val="0"/>
                  </a:spcBef>
                  <a:spcAft>
                    <a:spcPts val="0"/>
                  </a:spcAft>
                  <a:buFont typeface="Verdana" panose="020B0604030504040204" pitchFamily="34" charset="0"/>
                  <a:buAutoNum type="arabicPeriod"/>
                </a:pPr>
                <a:r>
                  <a:rPr lang="en-US" sz="2400" dirty="0">
                    <a:effectLst/>
                    <a:latin typeface="Verdana" panose="020B0604030504040204" pitchFamily="34" charset="0"/>
                    <a:ea typeface="Verdana" panose="020B0604030504040204" pitchFamily="34" charset="0"/>
                    <a:cs typeface="Verdana" panose="020B0604030504040204" pitchFamily="34" charset="0"/>
                  </a:rPr>
                  <a:t>In Sarah’s family, the person celebrating their birthday always gets to cut the first piece of a circular birthday cake. Sarah is celebrating her birthday with both of her parents, her two brothers and her best friend. She cuts her piece of birthday cake and it formed a sector with a diameter of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inches and a central angle with measure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85°</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If the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other party guests equally share the remaining portion of the cake, what is the approximate area of cake each person receives? Round your answer to two decimal places.</a:t>
                </a:r>
              </a:p>
            </p:txBody>
          </p:sp>
        </mc:Choice>
        <mc:Fallback>
          <p:sp>
            <p:nvSpPr>
              <p:cNvPr id="3" name="TextBox 2">
                <a:extLst>
                  <a:ext uri="{FF2B5EF4-FFF2-40B4-BE49-F238E27FC236}">
                    <a16:creationId xmlns:a16="http://schemas.microsoft.com/office/drawing/2014/main" id="{31C369F2-8A21-B77D-0546-1298B12CE15F}"/>
                  </a:ext>
                </a:extLst>
              </p:cNvPr>
              <p:cNvSpPr txBox="1">
                <a:spLocks noRot="1" noChangeAspect="1" noMove="1" noResize="1" noEditPoints="1" noAdjustHandles="1" noChangeArrowheads="1" noChangeShapeType="1" noTextEdit="1"/>
              </p:cNvSpPr>
              <p:nvPr/>
            </p:nvSpPr>
            <p:spPr>
              <a:xfrm>
                <a:off x="677746" y="1454515"/>
                <a:ext cx="10523654" cy="3416320"/>
              </a:xfrm>
              <a:prstGeom prst="rect">
                <a:avLst/>
              </a:prstGeom>
              <a:blipFill>
                <a:blip r:embed="rId5"/>
                <a:stretch>
                  <a:fillRect l="-964" t="-1481" r="-723" b="-2963"/>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0"/>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41" name="Google Shape;341;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42" name="Google Shape;342;p20"/>
          <p:cNvSpPr txBox="1"/>
          <p:nvPr/>
        </p:nvSpPr>
        <p:spPr>
          <a:xfrm>
            <a:off x="465232" y="394506"/>
            <a:ext cx="8327136" cy="1446550"/>
          </a:xfrm>
          <a:prstGeom prst="rect">
            <a:avLst/>
          </a:prstGeom>
          <a:blipFill rotWithShape="1">
            <a:blip r:embed="rId4">
              <a:alphaModFix/>
            </a:blip>
            <a:stretch>
              <a:fillRect l="-951" t="-2940" r="-1755" b="-7980"/>
            </a:stretch>
          </a:blipFill>
          <a:ln>
            <a:noFill/>
          </a:ln>
        </p:spPr>
        <p:txBody>
          <a:bodyPr spcFirstLastPara="1" wrap="square" lIns="91425" tIns="45700" rIns="91425" bIns="45700" anchor="t" anchorCtr="0">
            <a:noAutofit/>
          </a:bodyPr>
          <a:lstStyle/>
          <a:p>
            <a:r>
              <a:rPr lang="en-US"/>
              <a:t> </a:t>
            </a:r>
            <a:endParaRPr/>
          </a:p>
        </p:txBody>
      </p:sp>
      <p:pic>
        <p:nvPicPr>
          <p:cNvPr id="343" name="Google Shape;343;p20" descr="Diagram&#10;&#10;Description automatically generated with low confidence"/>
          <p:cNvPicPr preferRelativeResize="0"/>
          <p:nvPr/>
        </p:nvPicPr>
        <p:blipFill rotWithShape="1">
          <a:blip r:embed="rId5" cstate="screen">
            <a:alphaModFix/>
            <a:extLst>
              <a:ext uri="{28A0092B-C50C-407E-A947-70E740481C1C}">
                <a14:useLocalDpi xmlns:a14="http://schemas.microsoft.com/office/drawing/2010/main"/>
              </a:ext>
            </a:extLst>
          </a:blip>
          <a:srcRect l="13295" t="6800" r="28451" b="4613"/>
          <a:stretch/>
        </p:blipFill>
        <p:spPr>
          <a:xfrm>
            <a:off x="1868003" y="2066687"/>
            <a:ext cx="4099741" cy="4173583"/>
          </a:xfrm>
          <a:prstGeom prst="rect">
            <a:avLst/>
          </a:prstGeom>
          <a:noFill/>
          <a:ln>
            <a:noFill/>
          </a:ln>
        </p:spPr>
      </p:pic>
      <p:sp>
        <p:nvSpPr>
          <p:cNvPr id="344" name="Google Shape;344;p20"/>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140</a:t>
            </a:r>
            <a:endParaRPr i="1">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1"/>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51" name="Google Shape;351;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52" name="Google Shape;352;p21"/>
          <p:cNvSpPr txBox="1"/>
          <p:nvPr/>
        </p:nvSpPr>
        <p:spPr>
          <a:xfrm>
            <a:off x="465232" y="386281"/>
            <a:ext cx="8327136" cy="4493538"/>
          </a:xfrm>
          <a:prstGeom prst="rect">
            <a:avLst/>
          </a:prstGeom>
          <a:blipFill rotWithShape="1">
            <a:blip r:embed="rId4">
              <a:alphaModFix/>
            </a:blip>
            <a:stretch>
              <a:fillRect t="-1084" r="-437" b="-1899"/>
            </a:stretch>
          </a:blipFill>
          <a:ln>
            <a:noFill/>
          </a:ln>
        </p:spPr>
        <p:txBody>
          <a:bodyPr spcFirstLastPara="1" wrap="square" lIns="91425" tIns="45700" rIns="91425" bIns="45700" anchor="t" anchorCtr="0">
            <a:noAutofit/>
          </a:bodyPr>
          <a:lstStyle/>
          <a:p>
            <a:r>
              <a:rPr lang="en-US"/>
              <a:t> </a:t>
            </a:r>
            <a:endParaRPr/>
          </a:p>
        </p:txBody>
      </p:sp>
      <p:sp>
        <p:nvSpPr>
          <p:cNvPr id="353" name="Google Shape;353;p21"/>
          <p:cNvSpPr/>
          <p:nvPr/>
        </p:nvSpPr>
        <p:spPr>
          <a:xfrm>
            <a:off x="1459777" y="2428454"/>
            <a:ext cx="1143000" cy="457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54" name="Google Shape;354;p21"/>
          <p:cNvSpPr/>
          <p:nvPr/>
        </p:nvSpPr>
        <p:spPr>
          <a:xfrm>
            <a:off x="3485800" y="2428454"/>
            <a:ext cx="1143000" cy="457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55" name="Google Shape;355;p21"/>
          <p:cNvSpPr/>
          <p:nvPr/>
        </p:nvSpPr>
        <p:spPr>
          <a:xfrm>
            <a:off x="1459777" y="4389961"/>
            <a:ext cx="1143000" cy="457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56" name="Google Shape;356;p21"/>
          <p:cNvSpPr/>
          <p:nvPr/>
        </p:nvSpPr>
        <p:spPr>
          <a:xfrm>
            <a:off x="3468833" y="4389961"/>
            <a:ext cx="1143000" cy="457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57" name="Google Shape;357;p21"/>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140</a:t>
            </a:r>
            <a:endParaRPr i="1" dirty="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2"/>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64" name="Google Shape;364;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365" name="Google Shape;365;p22"/>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66" name="Google Shape;366;p22"/>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367" name="Google Shape;367;p22"/>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140</a:t>
            </a:r>
            <a:endParaRPr i="1">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3"/>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74" name="Google Shape;374;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75" name="Google Shape;375;p23"/>
          <p:cNvSpPr txBox="1"/>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10.4.7 Wrap-Up: Cool Down</a:t>
            </a:r>
            <a:endParaRPr sz="3600" b="1" dirty="0">
              <a:solidFill>
                <a:srgbClr val="3F2A67"/>
              </a:solidFill>
              <a:latin typeface="Verdana"/>
              <a:ea typeface="Verdana"/>
              <a:cs typeface="Verdana"/>
              <a:sym typeface="Verdana"/>
            </a:endParaRPr>
          </a:p>
        </p:txBody>
      </p:sp>
      <p:pic>
        <p:nvPicPr>
          <p:cNvPr id="376" name="Google Shape;376;p23"/>
          <p:cNvPicPr preferRelativeResize="0"/>
          <p:nvPr/>
        </p:nvPicPr>
        <p:blipFill rotWithShape="1">
          <a:blip r:embed="rId4">
            <a:alphaModFix/>
          </a:blip>
          <a:srcRect/>
          <a:stretch/>
        </p:blipFill>
        <p:spPr>
          <a:xfrm>
            <a:off x="305350" y="60325"/>
            <a:ext cx="747300" cy="747300"/>
          </a:xfrm>
          <a:prstGeom prst="rect">
            <a:avLst/>
          </a:prstGeom>
          <a:noFill/>
          <a:ln>
            <a:noFill/>
          </a:ln>
        </p:spPr>
      </p:pic>
      <p:sp>
        <p:nvSpPr>
          <p:cNvPr id="377" name="Google Shape;377;p23"/>
          <p:cNvSpPr txBox="1"/>
          <p:nvPr/>
        </p:nvSpPr>
        <p:spPr>
          <a:xfrm>
            <a:off x="593248" y="1386026"/>
            <a:ext cx="10600778" cy="400069"/>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charset="0"/>
                <a:ea typeface="Verdana" charset="0"/>
                <a:cs typeface="Verdana" charset="0"/>
              </a:rPr>
              <a:t>Write a summary of what you learned in this lesson.</a:t>
            </a:r>
          </a:p>
        </p:txBody>
      </p:sp>
      <p:sp>
        <p:nvSpPr>
          <p:cNvPr id="379" name="Google Shape;379;p23"/>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140</a:t>
            </a:r>
            <a:endParaRPr i="1">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719</Words>
  <Application>Microsoft Macintosh PowerPoint</Application>
  <PresentationFormat>Widescreen</PresentationFormat>
  <Paragraphs>140</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Black</vt:lpstr>
      <vt:lpstr>Calibri</vt:lpstr>
      <vt:lpstr>Cambria</vt:lpstr>
      <vt:lpstr>Cambria Math</vt:lpstr>
      <vt:lpstr>Verdana</vt:lpstr>
      <vt:lpstr>1_Office Theme</vt:lpstr>
      <vt:lpstr>Geometry  Unit 10, Lesson 4  Solving Problems Using Arc Length and Area of a Sector  Volume 2, pg. 135  </vt:lpstr>
      <vt:lpstr>Benchmark</vt:lpstr>
      <vt:lpstr>PowerPoint Presentation</vt:lpstr>
      <vt:lpstr>PowerPoint Presentation</vt:lpstr>
      <vt:lpstr>Warm-Up</vt:lpstr>
      <vt:lpstr>PowerPoint Presentation</vt:lpstr>
      <vt:lpstr>Exploration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Guided Practice</vt:lpstr>
      <vt:lpstr>PowerPoint Presentation</vt:lpstr>
      <vt:lpstr>PowerPoint Presentation</vt:lpstr>
      <vt:lpstr>PowerPoint Presentation</vt:lpstr>
      <vt:lpstr>Guided Practice</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Geometry  Unit 10, Lesson 4  Solving Problems Using Arc Length and Area of a Sector  Volume 2, pg. 135  </dc:title>
  <dc:creator>Karen McKenzie</dc:creator>
  <cp:lastModifiedBy>Diana Barnett</cp:lastModifiedBy>
  <cp:revision>7</cp:revision>
  <dcterms:created xsi:type="dcterms:W3CDTF">2015-03-17T18:51:18Z</dcterms:created>
  <dcterms:modified xsi:type="dcterms:W3CDTF">2023-03-02T18:42:14Z</dcterms:modified>
</cp:coreProperties>
</file>