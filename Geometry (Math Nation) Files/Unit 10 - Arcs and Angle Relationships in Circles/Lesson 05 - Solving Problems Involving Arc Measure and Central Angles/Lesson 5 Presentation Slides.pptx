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embeddedFontLst>
    <p:embeddedFont>
      <p:font typeface="Arial Black" panose="020B0A04020102020204" pitchFamily="34" charset="0"/>
      <p:regular r:id="rId3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mbria" panose="02040503050406030204" pitchFamily="18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NtChQJ2Def4Q5PJ0uMc5eE8G1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F91F49-FBDF-41C4-BFEA-B62F0344A70B}">
  <a:tblStyle styleId="{A6F91F49-FBDF-41C4-BFEA-B62F0344A70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1"/>
    <p:restoredTop sz="94674"/>
  </p:normalViewPr>
  <p:slideViewPr>
    <p:cSldViewPr snapToGrid="0">
      <p:cViewPr varScale="1">
        <p:scale>
          <a:sx n="79" d="100"/>
          <a:sy n="79" d="100"/>
        </p:scale>
        <p:origin x="54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5" name="Google Shape;23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2" name="Google Shape;372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JP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5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Arc Measure and Central Angles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141</a:t>
            </a:r>
            <a:endParaRPr sz="2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603831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MA.912.GR.6.2</a:t>
            </a:r>
            <a:endParaRPr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Solve mathematical and real-world problems involving the measures of arcs and related angles.</a:t>
            </a:r>
            <a:endParaRPr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125199" y="129667"/>
            <a:ext cx="86677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pPr marL="457200"/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dirty="0"/>
          </a:p>
          <a:p>
            <a:pPr marL="457200"/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pPr marL="457200"/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sz="2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1700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"/>
          <p:cNvSpPr txBox="1"/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 sz="4700" b="1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"/>
          <p:cNvSpPr txBox="1"/>
          <p:nvPr/>
        </p:nvSpPr>
        <p:spPr>
          <a:xfrm>
            <a:off x="457200" y="1600200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/>
                <a:ea typeface="Verdana"/>
                <a:cs typeface="Verdana"/>
                <a:sym typeface="Verdana"/>
              </a:rPr>
              <a:t>I can use the relationship between the measure of a central angle and its intercepted arc to solve problems.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8889924" y="642713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g104476d1465_1_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g104476d1465_1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6" name="Google Shape;166;p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7" name="Google Shape;167;p4"/>
          <p:cNvSpPr txBox="1"/>
          <p:nvPr/>
        </p:nvSpPr>
        <p:spPr>
          <a:xfrm>
            <a:off x="1052650" y="685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10.5.1 Warm-Up: Circles</a:t>
            </a:r>
            <a:endParaRPr sz="36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4"/>
          <p:cNvSpPr txBox="1"/>
          <p:nvPr/>
        </p:nvSpPr>
        <p:spPr>
          <a:xfrm>
            <a:off x="593249" y="1394250"/>
            <a:ext cx="3341869" cy="415498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371" t="-1025" b="-21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170" name="Google Shape;170;p4" descr="A picture containing diagram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501" t="7987" r="15241" b="5076"/>
          <a:stretch/>
        </p:blipFill>
        <p:spPr>
          <a:xfrm>
            <a:off x="4305165" y="1249739"/>
            <a:ext cx="3972910" cy="380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4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9" name="Google Shape;179;p5"/>
          <p:cNvSpPr txBox="1"/>
          <p:nvPr/>
        </p:nvSpPr>
        <p:spPr>
          <a:xfrm>
            <a:off x="540565" y="530121"/>
            <a:ext cx="8327136" cy="415498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25" b="-20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7" name="Google Shape;187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455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8" name="Google Shape;188;p6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p6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0" name="Google Shape;190;p6"/>
          <p:cNvSpPr txBox="1"/>
          <p:nvPr/>
        </p:nvSpPr>
        <p:spPr>
          <a:xfrm>
            <a:off x="886632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8" name="Google Shape;198;p7"/>
          <p:cNvSpPr txBox="1"/>
          <p:nvPr/>
        </p:nvSpPr>
        <p:spPr>
          <a:xfrm>
            <a:off x="10526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10.5.2 Exploration: Understanding Central Angles</a:t>
            </a:r>
            <a:endParaRPr sz="32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9" name="Google Shape;199;p7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6352" y="308450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0" name="Google Shape;200;p7"/>
          <p:cNvSpPr txBox="1"/>
          <p:nvPr/>
        </p:nvSpPr>
        <p:spPr>
          <a:xfrm>
            <a:off x="593248" y="1386026"/>
            <a:ext cx="8327136" cy="430887"/>
          </a:xfrm>
          <a:prstGeom prst="rect">
            <a:avLst/>
          </a:prstGeom>
          <a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951" t="-11267" b="-2816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01" name="Google Shape;201;p7" descr="A diagram of a circle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4918" y="1948042"/>
            <a:ext cx="4745939" cy="453517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 txBox="1"/>
          <p:nvPr/>
        </p:nvSpPr>
        <p:spPr>
          <a:xfrm>
            <a:off x="4799094" y="4195403"/>
            <a:ext cx="361920" cy="357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200">
                <a:latin typeface="Verdana"/>
                <a:ea typeface="Verdana"/>
                <a:cs typeface="Verdana"/>
                <a:sym typeface="Verdana"/>
              </a:rPr>
              <a:t>B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682859" y="4173403"/>
            <a:ext cx="84455" cy="84455"/>
          </a:xfrm>
          <a:prstGeom prst="ellipse">
            <a:avLst/>
          </a:prstGeom>
          <a:solidFill>
            <a:schemeClr val="dk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1" name="Google Shape;211;p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2" name="Google Shape;212;p8"/>
          <p:cNvSpPr txBox="1"/>
          <p:nvPr/>
        </p:nvSpPr>
        <p:spPr>
          <a:xfrm>
            <a:off x="540565" y="374089"/>
            <a:ext cx="8327136" cy="517064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941" r="-804" b="-141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0" name="Google Shape;220;p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1" name="Google Shape;221;p9"/>
          <p:cNvSpPr txBox="1"/>
          <p:nvPr/>
        </p:nvSpPr>
        <p:spPr>
          <a:xfrm>
            <a:off x="540565" y="374089"/>
            <a:ext cx="8327136" cy="52234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815" r="-1610" b="-15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0" name="Google Shape;230;p10"/>
          <p:cNvSpPr txBox="1"/>
          <p:nvPr/>
        </p:nvSpPr>
        <p:spPr>
          <a:xfrm>
            <a:off x="540565" y="374090"/>
            <a:ext cx="8327136" cy="45243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1076" b="-201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9" name="Google Shape;239;p11"/>
          <p:cNvSpPr txBox="1"/>
          <p:nvPr/>
        </p:nvSpPr>
        <p:spPr>
          <a:xfrm>
            <a:off x="540565" y="382314"/>
            <a:ext cx="8327136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indent="-457200">
              <a:buSzPts val="2100"/>
              <a:buFont typeface="Arial"/>
              <a:buAutoNum type="alphaLcPeriod" startAt="1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Share your response with your partner. Listen to your partner’s explanation and write a summary of the explanation. Have your partner initial stating that your summary of their explanation is accurate.</a:t>
            </a:r>
            <a:endParaRPr dirty="0"/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9163" indent="-452438">
              <a:buSzPts val="21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k.	Draw a diagram that shows the relationship between a central angle and its intercepted arc. </a:t>
            </a:r>
            <a:endParaRPr dirty="0"/>
          </a:p>
          <a:p>
            <a:pPr marL="9144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919163" indent="-461963">
              <a:buSzPts val="21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l.	Discuss with your partner how arc measure relates to the relationship between a central angle and its intercepted arc. Summarize your discussion.</a:t>
            </a:r>
            <a:endParaRPr dirty="0"/>
          </a:p>
        </p:txBody>
      </p:sp>
      <p:graphicFrame>
        <p:nvGraphicFramePr>
          <p:cNvPr id="240" name="Google Shape;240;p11"/>
          <p:cNvGraphicFramePr/>
          <p:nvPr>
            <p:extLst>
              <p:ext uri="{D42A27DB-BD31-4B8C-83A1-F6EECF244321}">
                <p14:modId xmlns:p14="http://schemas.microsoft.com/office/powerpoint/2010/main" val="3346760486"/>
              </p:ext>
            </p:extLst>
          </p:nvPr>
        </p:nvGraphicFramePr>
        <p:xfrm>
          <a:off x="985759" y="1847966"/>
          <a:ext cx="7600000" cy="2214875"/>
        </p:xfrm>
        <a:graphic>
          <a:graphicData uri="http://schemas.openxmlformats.org/drawingml/2006/table">
            <a:tbl>
              <a:tblPr firstRow="1" firstCol="1" bandRow="1">
                <a:noFill/>
                <a:tableStyleId>{A6F91F49-FBDF-41C4-BFEA-B62F0344A70B}</a:tableStyleId>
              </a:tblPr>
              <a:tblGrid>
                <a:gridCol w="613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Your Partner’s Explanation</a:t>
                      </a:r>
                      <a:endParaRPr/>
                    </a:p>
                  </a:txBody>
                  <a:tcPr marL="68575" marR="68575" marT="0" marB="0" anchor="ctr"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Partner’s Initials</a:t>
                      </a:r>
                      <a:endParaRPr/>
                    </a:p>
                  </a:txBody>
                  <a:tcPr marL="68575" marR="68575" marT="0" marB="0" anchor="ctr">
                    <a:solidFill>
                      <a:srgbClr val="A5A5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2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 </a:t>
                      </a:r>
                      <a:endParaRPr sz="12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1" name="Google Shape;241;p11"/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8" name="Google Shape;248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9" name="Google Shape;249;p12"/>
          <p:cNvSpPr txBox="1"/>
          <p:nvPr/>
        </p:nvSpPr>
        <p:spPr>
          <a:xfrm>
            <a:off x="540565" y="374089"/>
            <a:ext cx="8327136" cy="59005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51" t="-825" b="-12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250" name="Google Shape;250;p12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85" t="8614" r="14391" b="13522"/>
          <a:stretch/>
        </p:blipFill>
        <p:spPr>
          <a:xfrm>
            <a:off x="2573503" y="1256775"/>
            <a:ext cx="3001229" cy="293685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8" name="Google Shape;258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9" name="Google Shape;259;p13"/>
          <p:cNvSpPr txBox="1"/>
          <p:nvPr/>
        </p:nvSpPr>
        <p:spPr>
          <a:xfrm>
            <a:off x="465232" y="435050"/>
            <a:ext cx="8327136" cy="49244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t="-865" r="-95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ext, table&#10;&#10;Description automatically generated">
            <a:extLst>
              <a:ext uri="{FF2B5EF4-FFF2-40B4-BE49-F238E27FC236}">
                <a16:creationId xmlns:a16="http://schemas.microsoft.com/office/drawing/2014/main" id="{35DC3DDD-B394-480F-BC14-09F794109D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32" y="1699692"/>
            <a:ext cx="8549640" cy="1912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8" name="Google Shape;268;p1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9" name="Google Shape;269;p14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0" name="Google Shape;270;p14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5255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1" name="Google Shape;271;p14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8" name="Google Shape;278;p1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9" name="Google Shape;279;p15"/>
          <p:cNvSpPr txBox="1"/>
          <p:nvPr/>
        </p:nvSpPr>
        <p:spPr>
          <a:xfrm>
            <a:off x="1052649" y="-12827"/>
            <a:ext cx="102593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10.5.3 Bring It Together: Arc Measure and Central Angles</a:t>
            </a:r>
            <a:endParaRPr sz="36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0" name="Google Shape;280;p15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0928" y="10007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81" name="Google Shape;281;p15"/>
          <p:cNvSpPr/>
          <p:nvPr/>
        </p:nvSpPr>
        <p:spPr>
          <a:xfrm>
            <a:off x="1302277" y="1623849"/>
            <a:ext cx="6735817" cy="106046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>
                <a:solidFill>
                  <a:srgbClr val="6D983E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lang="en-US" sz="2000" b="1" i="1">
                <a:solidFill>
                  <a:srgbClr val="6D983E"/>
                </a:solidFill>
                <a:latin typeface="Verdana"/>
                <a:ea typeface="Verdana"/>
                <a:cs typeface="Verdana"/>
                <a:sym typeface="Verdana"/>
              </a:rPr>
              <a:t>arc</a:t>
            </a:r>
            <a:r>
              <a:rPr lang="en-US" sz="2000">
                <a:solidFill>
                  <a:srgbClr val="6D983E"/>
                </a:solidFill>
                <a:latin typeface="Verdana"/>
                <a:ea typeface="Verdana"/>
                <a:cs typeface="Verdana"/>
                <a:sym typeface="Verdana"/>
              </a:rPr>
              <a:t> of a circle is a section of the circumference of the circle.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82" name="Google Shape;282;p15"/>
          <p:cNvGrpSpPr/>
          <p:nvPr/>
        </p:nvGrpSpPr>
        <p:grpSpPr>
          <a:xfrm>
            <a:off x="1302276" y="3310599"/>
            <a:ext cx="6629400" cy="1149350"/>
            <a:chOff x="0" y="0"/>
            <a:chExt cx="6629400" cy="1149928"/>
          </a:xfrm>
        </p:grpSpPr>
        <p:sp>
          <p:nvSpPr>
            <p:cNvPr id="283" name="Google Shape;283;p15"/>
            <p:cNvSpPr/>
            <p:nvPr/>
          </p:nvSpPr>
          <p:spPr>
            <a:xfrm>
              <a:off x="0" y="0"/>
              <a:ext cx="6629400" cy="1149928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The </a:t>
              </a:r>
              <a:r>
                <a:rPr lang="en-US" sz="2000" b="1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length of an arc</a:t>
              </a:r>
              <a:r>
                <a:rPr lang="en-US" sz="200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 is simply the length of the section of the circumference.</a:t>
              </a:r>
              <a:endParaRPr sz="2000">
                <a:latin typeface="Cambria"/>
                <a:ea typeface="Cambria"/>
                <a:cs typeface="Cambria"/>
                <a:sym typeface="Cambria"/>
              </a:endParaRPr>
            </a:p>
          </p:txBody>
        </p:sp>
        <p:pic>
          <p:nvPicPr>
            <p:cNvPr id="284" name="Google Shape;284;p15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1015" y="193431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85" name="Google Shape;285;p15"/>
          <p:cNvGrpSpPr/>
          <p:nvPr/>
        </p:nvGrpSpPr>
        <p:grpSpPr>
          <a:xfrm>
            <a:off x="1302276" y="4989655"/>
            <a:ext cx="6629400" cy="1468020"/>
            <a:chOff x="0" y="0"/>
            <a:chExt cx="6629400" cy="1468440"/>
          </a:xfrm>
        </p:grpSpPr>
        <p:sp>
          <p:nvSpPr>
            <p:cNvPr id="286" name="Google Shape;286;p15"/>
            <p:cNvSpPr/>
            <p:nvPr/>
          </p:nvSpPr>
          <p:spPr>
            <a:xfrm>
              <a:off x="0" y="0"/>
              <a:ext cx="6629400" cy="1468440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In a circle, the </a:t>
              </a:r>
              <a:r>
                <a:rPr lang="en-US" sz="2000" b="1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measure of an arc</a:t>
              </a:r>
              <a:r>
                <a:rPr lang="en-US" sz="2000">
                  <a:solidFill>
                    <a:srgbClr val="00619E"/>
                  </a:solidFill>
                  <a:latin typeface="Verdana"/>
                  <a:ea typeface="Verdana"/>
                  <a:cs typeface="Verdana"/>
                  <a:sym typeface="Verdana"/>
                </a:rPr>
                <a:t> (in degrees or radians) is equal to the measure of the central angle that intercepts the arc.</a:t>
              </a:r>
              <a:endParaRPr sz="2000">
                <a:latin typeface="Cambria"/>
                <a:ea typeface="Cambria"/>
                <a:cs typeface="Cambria"/>
                <a:sym typeface="Cambria"/>
              </a:endParaRPr>
            </a:p>
          </p:txBody>
        </p:sp>
        <p:pic>
          <p:nvPicPr>
            <p:cNvPr id="287" name="Google Shape;287;p15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1015" y="96612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288" name="Google Shape;288;p15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grpSp>
        <p:nvGrpSpPr>
          <p:cNvPr id="296" name="Google Shape;296;p16"/>
          <p:cNvGrpSpPr/>
          <p:nvPr/>
        </p:nvGrpSpPr>
        <p:grpSpPr>
          <a:xfrm>
            <a:off x="1298335" y="792996"/>
            <a:ext cx="6629400" cy="1740535"/>
            <a:chOff x="0" y="0"/>
            <a:chExt cx="6629400" cy="1740877"/>
          </a:xfrm>
        </p:grpSpPr>
        <p:sp>
          <p:nvSpPr>
            <p:cNvPr id="297" name="Google Shape;297;p16"/>
            <p:cNvSpPr/>
            <p:nvPr/>
          </p:nvSpPr>
          <p:spPr>
            <a:xfrm>
              <a:off x="0" y="0"/>
              <a:ext cx="6629400" cy="1740877"/>
            </a:xfrm>
            <a:prstGeom prst="roundRect">
              <a:avLst>
                <a:gd name="adj" fmla="val 16667"/>
              </a:avLst>
            </a:prstGeom>
            <a:blipFill rotWithShape="1">
              <a:blip r:embed="rId4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/>
                <a:t> </a:t>
              </a:r>
              <a:endParaRPr/>
            </a:p>
          </p:txBody>
        </p:sp>
        <p:pic>
          <p:nvPicPr>
            <p:cNvPr id="298" name="Google Shape;298;p16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1015" y="193431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99" name="Google Shape;299;p16"/>
          <p:cNvGrpSpPr/>
          <p:nvPr/>
        </p:nvGrpSpPr>
        <p:grpSpPr>
          <a:xfrm>
            <a:off x="1298335" y="3718531"/>
            <a:ext cx="6629400" cy="1740535"/>
            <a:chOff x="0" y="0"/>
            <a:chExt cx="6629400" cy="1740877"/>
          </a:xfrm>
        </p:grpSpPr>
        <p:sp>
          <p:nvSpPr>
            <p:cNvPr id="300" name="Google Shape;300;p16"/>
            <p:cNvSpPr/>
            <p:nvPr/>
          </p:nvSpPr>
          <p:spPr>
            <a:xfrm>
              <a:off x="0" y="0"/>
              <a:ext cx="6629400" cy="1740877"/>
            </a:xfrm>
            <a:prstGeom prst="roundRect">
              <a:avLst>
                <a:gd name="adj" fmla="val 16667"/>
              </a:avLst>
            </a:prstGeom>
            <a:blipFill rotWithShape="1">
              <a:blip r:embed="rId6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/>
                <a:t> </a:t>
              </a:r>
              <a:endParaRPr/>
            </a:p>
          </p:txBody>
        </p:sp>
        <p:pic>
          <p:nvPicPr>
            <p:cNvPr id="301" name="Google Shape;301;p16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1015" y="193431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</p:pic>
      </p:grpSp>
      <p:sp>
        <p:nvSpPr>
          <p:cNvPr id="302" name="Google Shape;302;p16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9" name="Google Shape;309;p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0" name="Google Shape;310;p17"/>
          <p:cNvSpPr txBox="1"/>
          <p:nvPr/>
        </p:nvSpPr>
        <p:spPr>
          <a:xfrm>
            <a:off x="465233" y="435049"/>
            <a:ext cx="4132037" cy="25677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916" t="-1894" r="-2801" b="-402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11" name="Google Shape;311;p17" descr="Chart, pie chart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74"/>
          <a:stretch/>
        </p:blipFill>
        <p:spPr>
          <a:xfrm>
            <a:off x="5123081" y="311347"/>
            <a:ext cx="3100258" cy="285752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465232" y="5383089"/>
            <a:ext cx="838872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/>
            <a:r>
              <a:rPr lang="en-US" sz="2200">
                <a:latin typeface="Verdana"/>
                <a:ea typeface="Verdana"/>
                <a:cs typeface="Verdana"/>
                <a:sym typeface="Verdana"/>
              </a:rPr>
              <a:t>Do you agree with Ryan or Katelyn? Justify your answer.</a:t>
            </a:r>
            <a:endParaRPr sz="2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6BD2A94B-264C-4757-8E5B-AC6CCBDE9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894" y="3232038"/>
            <a:ext cx="5105400" cy="2087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/>
          <p:nvPr/>
        </p:nvSpPr>
        <p:spPr>
          <a:xfrm>
            <a:off x="0" y="-12700"/>
            <a:ext cx="2731200" cy="68707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1" name="Google Shape;321;p1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2" name="Google Shape;322;p18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3" name="Google Shape;323;p18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24" name="Google Shape;324;p18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1" name="Google Shape;331;p1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2" name="Google Shape;332;p19"/>
          <p:cNvSpPr txBox="1"/>
          <p:nvPr/>
        </p:nvSpPr>
        <p:spPr>
          <a:xfrm>
            <a:off x="1052650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10.5.4 Guided Practice: Finding Angle Measures</a:t>
            </a:r>
            <a:endParaRPr sz="36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3" name="Google Shape;333;p19" descr="Ico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842" y="128815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34" name="Google Shape;334;p19"/>
          <p:cNvSpPr txBox="1"/>
          <p:nvPr/>
        </p:nvSpPr>
        <p:spPr>
          <a:xfrm>
            <a:off x="593248" y="1386025"/>
            <a:ext cx="8327136" cy="510229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51" t="-95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35" name="Google Shape;335;p19" descr="Shape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0498" y="2138873"/>
            <a:ext cx="2891053" cy="273267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145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3" name="Google Shape;343;p2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4" name="Google Shape;344;p20"/>
          <p:cNvSpPr txBox="1"/>
          <p:nvPr/>
        </p:nvSpPr>
        <p:spPr>
          <a:xfrm>
            <a:off x="465232" y="386281"/>
            <a:ext cx="8327136" cy="393402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802" t="-928" r="-583" b="-170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45" name="Google Shape;345;p20" descr="A picture containing text, accessory, umbrella, envelop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194" r="15832" b="3908"/>
          <a:stretch/>
        </p:blipFill>
        <p:spPr>
          <a:xfrm>
            <a:off x="2693273" y="4320308"/>
            <a:ext cx="2235073" cy="235138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3" name="Google Shape;353;p2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4" name="Google Shape;354;p21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5" name="Google Shape;35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6" name="Google Shape;356;p21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3" name="Google Shape;363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4" name="Google Shape;364;p22"/>
          <p:cNvSpPr txBox="1"/>
          <p:nvPr/>
        </p:nvSpPr>
        <p:spPr>
          <a:xfrm>
            <a:off x="1052650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10.5.5 Your Turn!</a:t>
            </a:r>
            <a:endParaRPr/>
          </a:p>
        </p:txBody>
      </p:sp>
      <p:pic>
        <p:nvPicPr>
          <p:cNvPr id="365" name="Google Shape;36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593248" y="1141995"/>
            <a:ext cx="8327136" cy="114339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51" t="-4254" b="-957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67" name="Google Shape;367;p22" descr="Diagram&#10;&#10;Description automatically generated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4959" y="2444683"/>
            <a:ext cx="3714682" cy="386749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2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5" name="Google Shape;375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6" name="Google Shape;376;p23"/>
          <p:cNvSpPr txBox="1"/>
          <p:nvPr/>
        </p:nvSpPr>
        <p:spPr>
          <a:xfrm>
            <a:off x="465232" y="398473"/>
            <a:ext cx="8327136" cy="25721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951" t="-1894" r="-2049" b="-402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77" name="Google Shape;37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5498" y="2970587"/>
            <a:ext cx="4372052" cy="3808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3" descr="Horse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11877" y="3424825"/>
            <a:ext cx="674370" cy="67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3" descr="Deciduous tree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4833" y="5696840"/>
            <a:ext cx="554990" cy="55499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3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87" name="Google Shape;387;p2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88" name="Google Shape;388;p24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9" name="Google Shape;38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90" name="Google Shape;390;p24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97" name="Google Shape;397;p2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98" name="Google Shape;398;p25"/>
          <p:cNvSpPr txBox="1"/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10.5.6 Wrap-Up: Ticket Out the Door</a:t>
            </a:r>
            <a:endParaRPr sz="36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9" name="Google Shape;39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5"/>
          <p:cNvSpPr txBox="1"/>
          <p:nvPr/>
        </p:nvSpPr>
        <p:spPr>
          <a:xfrm>
            <a:off x="593248" y="1386025"/>
            <a:ext cx="8327136" cy="121789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950" t="-3999" r="-218" b="-94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567</Words>
  <Application>Microsoft Office PowerPoint</Application>
  <PresentationFormat>Widescreen</PresentationFormat>
  <Paragraphs>118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Cambria</vt:lpstr>
      <vt:lpstr>Arial Black</vt:lpstr>
      <vt:lpstr>Verdana</vt:lpstr>
      <vt:lpstr>Arial</vt:lpstr>
      <vt:lpstr>1_Office Theme</vt:lpstr>
      <vt:lpstr>Geometry  Unit 10, Lesson 5  Solving Problems Involving Arc Measure and Central Angles  Volume 2, pg. 141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  Unit 10, Lesson 5  Solving Problems Involving Arc Measure and Central Angles  Volume 2, pg. 141</dc:title>
  <dc:creator>Karen McKenzie</dc:creator>
  <cp:lastModifiedBy>Cassie O'Connor</cp:lastModifiedBy>
  <cp:revision>5</cp:revision>
  <dcterms:created xsi:type="dcterms:W3CDTF">2015-03-17T18:51:18Z</dcterms:created>
  <dcterms:modified xsi:type="dcterms:W3CDTF">2022-07-04T17:42:02Z</dcterms:modified>
</cp:coreProperties>
</file>