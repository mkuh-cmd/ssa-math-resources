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embeddedFontLst>
    <p:embeddedFont>
      <p:font typeface="Arial Black" panose="020B0A04020102020204" pitchFamily="34" charset="0"/>
      <p:regular r:id="rId24"/>
      <p:bold r:id="rId25"/>
    </p:embeddedFon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D0/2AR3XejuO2Fo8lLMdL6Vaa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94650"/>
  </p:normalViewPr>
  <p:slideViewPr>
    <p:cSldViewPr snapToGrid="0">
      <p:cViewPr varScale="1">
        <p:scale>
          <a:sx n="79" d="100"/>
          <a:sy n="79" d="100"/>
        </p:scale>
        <p:origin x="82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1351e8cc3e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11351e8cc3e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g11351e8cc3e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1351e8cc3e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11351e8cc3e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11351e8cc3e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1351e8cc3e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g11351e8cc3e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g11351e8cc3e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11351e8cc3e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11351e8cc3e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11351e8cc3e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11351e8cc3e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11351e8cc3e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11351e8cc3e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1" name="Google Shape;331;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2" name="Google Shape;332;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0.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49901" y="2054277"/>
            <a:ext cx="5168900"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Geometry</a:t>
            </a:r>
            <a:br>
              <a:rPr lang="en-US" sz="3800" b="1">
                <a:solidFill>
                  <a:srgbClr val="417DBF"/>
                </a:solidFill>
                <a:latin typeface="Verdana"/>
                <a:ea typeface="Verdana"/>
                <a:cs typeface="Verdana"/>
                <a:sym typeface="Verdana"/>
              </a:rPr>
            </a:br>
            <a:endParaRPr sz="3800" b="1">
              <a:solidFill>
                <a:srgbClr val="417DBF"/>
              </a:solidFill>
              <a:latin typeface="Verdana"/>
              <a:ea typeface="Verdana"/>
              <a:cs typeface="Verdana"/>
              <a:sym typeface="Verdana"/>
            </a:endParaRPr>
          </a:p>
          <a:p>
            <a:pPr algn="ctr">
              <a:lnSpc>
                <a:spcPct val="100000"/>
              </a:lnSpc>
            </a:pPr>
            <a:r>
              <a:rPr lang="en-US" sz="3800" b="1">
                <a:solidFill>
                  <a:srgbClr val="417DBF"/>
                </a:solidFill>
                <a:latin typeface="Verdana"/>
                <a:ea typeface="Verdana"/>
                <a:cs typeface="Verdana"/>
                <a:sym typeface="Verdana"/>
              </a:rPr>
              <a:t>Unit 10, Lesson 7</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Solving Problems Involving Intersecting Chords</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2, pg. 153</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12701"/>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83677" y="1603831"/>
            <a:ext cx="3126752" cy="3644900"/>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300550" y="380525"/>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153</a:t>
            </a:r>
            <a:endParaRPr i="1">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514000" y="1608425"/>
            <a:ext cx="1111415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500" dirty="0">
                <a:solidFill>
                  <a:schemeClr val="dk1"/>
                </a:solidFill>
                <a:latin typeface="Verdana"/>
                <a:ea typeface="Verdana"/>
                <a:cs typeface="Verdana"/>
                <a:sym typeface="Verdana"/>
              </a:rPr>
              <a:t>MA.912.GR.6.2</a:t>
            </a:r>
            <a:r>
              <a:rPr lang="en-US" sz="1800" dirty="0">
                <a:solidFill>
                  <a:schemeClr val="dk1"/>
                </a:solidFill>
                <a:highlight>
                  <a:srgbClr val="FFFFFF"/>
                </a:highlight>
                <a:latin typeface="Verdana"/>
                <a:ea typeface="Verdana"/>
                <a:cs typeface="Verdana"/>
                <a:sym typeface="Verdana"/>
              </a:rPr>
              <a:t> </a:t>
            </a:r>
            <a:endParaRPr sz="3500" dirty="0">
              <a:solidFill>
                <a:schemeClr val="dk1"/>
              </a:solidFill>
              <a:latin typeface="Verdana"/>
              <a:ea typeface="Verdana"/>
              <a:cs typeface="Verdana"/>
              <a:sym typeface="Verdana"/>
            </a:endParaRPr>
          </a:p>
          <a:p>
            <a:pPr marL="457200">
              <a:buClr>
                <a:schemeClr val="dk1"/>
              </a:buClr>
              <a:buSzPts val="1100"/>
            </a:pPr>
            <a:r>
              <a:rPr lang="en-US" sz="2800" dirty="0">
                <a:solidFill>
                  <a:schemeClr val="dk1"/>
                </a:solidFill>
                <a:highlight>
                  <a:srgbClr val="FFFFFF"/>
                </a:highlight>
                <a:latin typeface="Verdana"/>
                <a:ea typeface="Verdana"/>
                <a:cs typeface="Verdana"/>
                <a:sym typeface="Verdana"/>
              </a:rPr>
              <a:t>Solve mathematical and real-world problems involving the measures of arcs and related angles.</a:t>
            </a:r>
            <a:endParaRPr sz="2800" dirty="0">
              <a:solidFill>
                <a:schemeClr val="dk1"/>
              </a:solidFill>
              <a:latin typeface="Cambria"/>
              <a:ea typeface="Cambria"/>
              <a:cs typeface="Cambria"/>
              <a:sym typeface="Cambria"/>
            </a:endParaRPr>
          </a:p>
          <a:p>
            <a:pPr marL="457200">
              <a:lnSpc>
                <a:spcPct val="90000"/>
              </a:lnSpc>
              <a:spcBef>
                <a:spcPts val="750"/>
              </a:spcBef>
              <a:buClr>
                <a:schemeClr val="dk1"/>
              </a:buClr>
              <a:buSzPts val="2100"/>
            </a:pPr>
            <a:endParaRPr sz="3500" dirty="0">
              <a:solidFill>
                <a:schemeClr val="dk1"/>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300550" y="380525"/>
            <a:ext cx="747300" cy="7473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125200" y="137892"/>
            <a:ext cx="8708348"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dirty="0">
                <a:solidFill>
                  <a:srgbClr val="54B5D1"/>
                </a:solidFill>
                <a:latin typeface="Verdana"/>
                <a:ea typeface="Verdana"/>
                <a:cs typeface="Verdana"/>
                <a:sym typeface="Verdana"/>
              </a:rPr>
              <a:t>Integrated Mathematical Thinking and Reasoning Standards</a:t>
            </a:r>
            <a:endParaRPr dirty="0"/>
          </a:p>
        </p:txBody>
      </p:sp>
      <p:sp>
        <p:nvSpPr>
          <p:cNvPr id="137" name="Google Shape;137;p1"/>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153</a:t>
            </a:r>
            <a:endParaRPr i="1">
              <a:latin typeface="Calibri"/>
              <a:ea typeface="Calibri"/>
              <a:cs typeface="Calibri"/>
              <a:sym typeface="Calibri"/>
            </a:endParaRPr>
          </a:p>
        </p:txBody>
      </p:sp>
      <p:sp>
        <p:nvSpPr>
          <p:cNvPr id="138" name="Google Shape;138;p1"/>
          <p:cNvSpPr txBox="1"/>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p>
            <a:r>
              <a:rPr lang="en-US" sz="18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MA.K12.MTR.2.1 Demonstrate understanding by representing problems in multiple ways.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MA.K12.MTR.4.1 Engage in discussions that reflect on the mathematical thinking of self and others.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MA.K12.MTR.5.1 Use patterns and structure to help understand and connect mathematical concepts.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MA.K12.MTR.6.1 Assess the reasonableness of solutions.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MA.K12.MTR.7.1 Apply mathematics to real-world contexts.</a:t>
            </a:r>
            <a:endParaRPr sz="1800" dirty="0">
              <a:solidFill>
                <a:schemeClr val="dk1"/>
              </a:solidFill>
              <a:latin typeface="Verdana"/>
              <a:ea typeface="Verdana"/>
              <a:cs typeface="Verdana"/>
              <a:sym typeface="Verdan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46" name="Google Shape;146;p2"/>
          <p:cNvSpPr txBox="1"/>
          <p:nvPr/>
        </p:nvSpPr>
        <p:spPr>
          <a:xfrm>
            <a:off x="1056575" y="38885"/>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a:t>
            </a:r>
            <a:endParaRPr/>
          </a:p>
        </p:txBody>
      </p:sp>
      <p:pic>
        <p:nvPicPr>
          <p:cNvPr id="147" name="Google Shape;147;p2"/>
          <p:cNvPicPr preferRelativeResize="0"/>
          <p:nvPr/>
        </p:nvPicPr>
        <p:blipFill rotWithShape="1">
          <a:blip r:embed="rId4">
            <a:alphaModFix/>
          </a:blip>
          <a:srcRect/>
          <a:stretch/>
        </p:blipFill>
        <p:spPr>
          <a:xfrm>
            <a:off x="274413" y="328085"/>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153</a:t>
            </a:r>
            <a:endParaRPr i="1" dirty="0">
              <a:latin typeface="Calibri"/>
              <a:ea typeface="Calibri"/>
              <a:cs typeface="Calibri"/>
              <a:sym typeface="Calibri"/>
            </a:endParaRPr>
          </a:p>
        </p:txBody>
      </p:sp>
      <p:sp>
        <p:nvSpPr>
          <p:cNvPr id="149" name="Google Shape;149;p2"/>
          <p:cNvSpPr txBox="1"/>
          <p:nvPr/>
        </p:nvSpPr>
        <p:spPr>
          <a:xfrm>
            <a:off x="457200" y="1608425"/>
            <a:ext cx="8229600" cy="4205700"/>
          </a:xfrm>
          <a:prstGeom prst="rect">
            <a:avLst/>
          </a:prstGeom>
          <a:noFill/>
          <a:ln>
            <a:noFill/>
          </a:ln>
        </p:spPr>
        <p:txBody>
          <a:bodyPr spcFirstLastPara="1" wrap="square" lIns="91425" tIns="45700" rIns="91425" bIns="45700" anchor="t" anchorCtr="0">
            <a:noAutofit/>
          </a:bodyPr>
          <a:lstStyle/>
          <a:p>
            <a:pPr marL="457200" indent="-406400">
              <a:buClr>
                <a:srgbClr val="434343"/>
              </a:buClr>
              <a:buSzPts val="2800"/>
              <a:buFont typeface="Verdana"/>
              <a:buChar char="❏"/>
            </a:pPr>
            <a:r>
              <a:rPr lang="en-US" sz="2800" dirty="0">
                <a:solidFill>
                  <a:schemeClr val="dk1"/>
                </a:solidFill>
                <a:latin typeface="Verdana"/>
                <a:ea typeface="Verdana"/>
                <a:cs typeface="Verdana"/>
                <a:sym typeface="Verdana"/>
              </a:rPr>
              <a:t>I can solve problems involving chords of a circle and their related angles.</a:t>
            </a:r>
            <a:endParaRPr sz="700" dirty="0"/>
          </a:p>
          <a:p>
            <a:pPr marL="457200"/>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pic>
        <p:nvPicPr>
          <p:cNvPr id="157" name="Google Shape;157;g104476d1465_1_39"/>
          <p:cNvPicPr preferRelativeResize="0"/>
          <p:nvPr/>
        </p:nvPicPr>
        <p:blipFill rotWithShape="1">
          <a:blip r:embed="rId4">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159" name="Google Shape;159;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154</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052650" y="6855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10.7.1 Warm-Up: Sectors</a:t>
            </a:r>
            <a:endParaRPr/>
          </a:p>
        </p:txBody>
      </p:sp>
      <p:pic>
        <p:nvPicPr>
          <p:cNvPr id="168" name="Google Shape;168;p4"/>
          <p:cNvPicPr preferRelativeResize="0"/>
          <p:nvPr/>
        </p:nvPicPr>
        <p:blipFill rotWithShape="1">
          <a:blip r:embed="rId4">
            <a:alphaModFix/>
          </a:blip>
          <a:srcRect/>
          <a:stretch/>
        </p:blipFill>
        <p:spPr>
          <a:xfrm>
            <a:off x="305350" y="205710"/>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154</a:t>
            </a:r>
            <a:endParaRPr i="1">
              <a:latin typeface="Calibri"/>
              <a:ea typeface="Calibri"/>
              <a:cs typeface="Calibri"/>
              <a:sym typeface="Calibri"/>
            </a:endParaRPr>
          </a:p>
        </p:txBody>
      </p:sp>
      <p:sp>
        <p:nvSpPr>
          <p:cNvPr id="170" name="Google Shape;170;p4"/>
          <p:cNvSpPr txBox="1"/>
          <p:nvPr/>
        </p:nvSpPr>
        <p:spPr>
          <a:xfrm>
            <a:off x="465236" y="1456863"/>
            <a:ext cx="8327100" cy="461700"/>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1. What do you notice about the circle graph? </a:t>
            </a:r>
            <a:endParaRPr dirty="0"/>
          </a:p>
        </p:txBody>
      </p:sp>
      <p:pic>
        <p:nvPicPr>
          <p:cNvPr id="171" name="Google Shape;171;p4"/>
          <p:cNvPicPr preferRelativeResize="0"/>
          <p:nvPr/>
        </p:nvPicPr>
        <p:blipFill>
          <a:blip r:embed="rId5">
            <a:alphaModFix/>
          </a:blip>
          <a:stretch>
            <a:fillRect/>
          </a:stretch>
        </p:blipFill>
        <p:spPr>
          <a:xfrm>
            <a:off x="2871050" y="1957375"/>
            <a:ext cx="2976500" cy="2761600"/>
          </a:xfrm>
          <a:prstGeom prst="rect">
            <a:avLst/>
          </a:prstGeom>
          <a:noFill/>
          <a:ln>
            <a:noFill/>
          </a:ln>
        </p:spPr>
      </p:pic>
      <p:sp>
        <p:nvSpPr>
          <p:cNvPr id="172" name="Google Shape;172;p4"/>
          <p:cNvSpPr txBox="1"/>
          <p:nvPr/>
        </p:nvSpPr>
        <p:spPr>
          <a:xfrm>
            <a:off x="465230" y="4917075"/>
            <a:ext cx="7749300" cy="523200"/>
          </a:xfrm>
          <a:prstGeom prst="rect">
            <a:avLst/>
          </a:prstGeom>
          <a:noFill/>
          <a:ln>
            <a:noFill/>
          </a:ln>
        </p:spPr>
        <p:txBody>
          <a:bodyPr spcFirstLastPara="1" wrap="square" lIns="91425" tIns="91425" rIns="91425" bIns="91425" anchor="t" anchorCtr="0">
            <a:spAutoFit/>
          </a:bodyPr>
          <a:lstStyle/>
          <a:p>
            <a:r>
              <a:rPr lang="en-US" sz="2200">
                <a:latin typeface="Verdana"/>
                <a:ea typeface="Verdana"/>
                <a:cs typeface="Verdana"/>
                <a:sym typeface="Verdana"/>
              </a:rPr>
              <a:t>2. Identify a sector that is incorrectly sized.</a:t>
            </a:r>
            <a:endParaRPr sz="2200">
              <a:latin typeface="Verdana"/>
              <a:ea typeface="Verdana"/>
              <a:cs typeface="Verdana"/>
              <a:sym typeface="Verdana"/>
            </a:endParaRPr>
          </a:p>
        </p:txBody>
      </p:sp>
      <p:sp>
        <p:nvSpPr>
          <p:cNvPr id="173" name="Google Shape;173;p4"/>
          <p:cNvSpPr txBox="1"/>
          <p:nvPr/>
        </p:nvSpPr>
        <p:spPr>
          <a:xfrm>
            <a:off x="465225" y="5440275"/>
            <a:ext cx="10822368" cy="861900"/>
          </a:xfrm>
          <a:prstGeom prst="rect">
            <a:avLst/>
          </a:prstGeom>
          <a:noFill/>
          <a:ln>
            <a:noFill/>
          </a:ln>
        </p:spPr>
        <p:txBody>
          <a:bodyPr spcFirstLastPara="1" wrap="square" lIns="91425" tIns="91425" rIns="91425" bIns="91425" anchor="t" anchorCtr="0">
            <a:spAutoFit/>
          </a:bodyPr>
          <a:lstStyle/>
          <a:p>
            <a:r>
              <a:rPr lang="en-US" sz="2200" dirty="0">
                <a:latin typeface="Verdana"/>
                <a:ea typeface="Verdana"/>
                <a:cs typeface="Verdana"/>
                <a:sym typeface="Verdana"/>
              </a:rPr>
              <a:t>3. Redraw the circle graph so that the sizes are proportional to the number of hours.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g11351e8cc3e_0_11"/>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80" name="Google Shape;180;g11351e8cc3e_0_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0"/>
              </a:srgbClr>
            </a:outerShdw>
          </a:effectLst>
        </p:spPr>
      </p:pic>
      <p:sp>
        <p:nvSpPr>
          <p:cNvPr id="181" name="Google Shape;181;g11351e8cc3e_0_11"/>
          <p:cNvSpPr txBox="1">
            <a:spLocks noGrp="1"/>
          </p:cNvSpPr>
          <p:nvPr>
            <p:ph type="title" idx="4294967295"/>
          </p:nvPr>
        </p:nvSpPr>
        <p:spPr>
          <a:xfrm>
            <a:off x="5844350" y="2766145"/>
            <a:ext cx="439680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sp>
        <p:nvSpPr>
          <p:cNvPr id="182" name="Google Shape;182;g11351e8cc3e_0_11"/>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154</a:t>
            </a:r>
            <a:endParaRPr i="1" dirty="0">
              <a:latin typeface="Calibri"/>
              <a:ea typeface="Calibri"/>
              <a:cs typeface="Calibri"/>
              <a:sym typeface="Calibri"/>
            </a:endParaRPr>
          </a:p>
        </p:txBody>
      </p:sp>
      <p:pic>
        <p:nvPicPr>
          <p:cNvPr id="183" name="Google Shape;183;g11351e8cc3e_0_11" descr="Icon&#10;&#10;Description automatically generated"/>
          <p:cNvPicPr preferRelativeResize="0"/>
          <p:nvPr/>
        </p:nvPicPr>
        <p:blipFill rotWithShape="1">
          <a:blip r:embed="rId4">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11351e8cc3e_0_20"/>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buSzPts val="1400"/>
            </a:pPr>
            <a:endParaRPr/>
          </a:p>
        </p:txBody>
      </p:sp>
      <p:pic>
        <p:nvPicPr>
          <p:cNvPr id="190" name="Google Shape;190;g11351e8cc3e_0_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0"/>
              </a:srgbClr>
            </a:outerShdw>
          </a:effectLst>
        </p:spPr>
      </p:pic>
      <p:sp>
        <p:nvSpPr>
          <p:cNvPr id="191" name="Google Shape;191;g11351e8cc3e_0_20"/>
          <p:cNvSpPr txBox="1"/>
          <p:nvPr/>
        </p:nvSpPr>
        <p:spPr>
          <a:xfrm>
            <a:off x="1052650" y="6855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3BEA6"/>
                </a:solidFill>
                <a:latin typeface="Verdana"/>
                <a:ea typeface="Verdana"/>
                <a:cs typeface="Verdana"/>
                <a:sym typeface="Verdana"/>
              </a:rPr>
              <a:t>10.7.2 Exploration: Chords</a:t>
            </a:r>
            <a:endParaRPr/>
          </a:p>
        </p:txBody>
      </p:sp>
      <p:sp>
        <p:nvSpPr>
          <p:cNvPr id="192" name="Google Shape;192;g11351e8cc3e_0_20"/>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154</a:t>
            </a:r>
            <a:endParaRPr i="1">
              <a:latin typeface="Calibri"/>
              <a:ea typeface="Calibri"/>
              <a:cs typeface="Calibri"/>
              <a:sym typeface="Calibri"/>
            </a:endParaRPr>
          </a:p>
        </p:txBody>
      </p:sp>
      <p:pic>
        <p:nvPicPr>
          <p:cNvPr id="193" name="Google Shape;193;g11351e8cc3e_0_20"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96352" y="316675"/>
            <a:ext cx="752254" cy="752254"/>
          </a:xfrm>
          <a:prstGeom prst="rect">
            <a:avLst/>
          </a:prstGeom>
          <a:noFill/>
          <a:ln>
            <a:noFill/>
          </a:ln>
          <a:effectLst>
            <a:outerShdw blurRad="50800" dist="38100" dir="2700000" algn="tl" rotWithShape="0">
              <a:srgbClr val="000000">
                <a:alpha val="40000"/>
              </a:srgbClr>
            </a:outerShdw>
          </a:effectLst>
        </p:spPr>
      </p:pic>
      <p:sp>
        <p:nvSpPr>
          <p:cNvPr id="9" name="TextBox 8">
            <a:extLst>
              <a:ext uri="{FF2B5EF4-FFF2-40B4-BE49-F238E27FC236}">
                <a16:creationId xmlns:a16="http://schemas.microsoft.com/office/drawing/2014/main" id="{D1FFD65A-A65D-3045-8ADF-7B4E0D14A807}"/>
              </a:ext>
            </a:extLst>
          </p:cNvPr>
          <p:cNvSpPr txBox="1"/>
          <p:nvPr/>
        </p:nvSpPr>
        <p:spPr>
          <a:xfrm>
            <a:off x="296353" y="1288432"/>
            <a:ext cx="8505054" cy="400110"/>
          </a:xfrm>
          <a:prstGeom prst="rect">
            <a:avLst/>
          </a:prstGeom>
          <a:noFill/>
        </p:spPr>
        <p:txBody>
          <a:bodyPr wrap="square">
            <a:spAutoFit/>
          </a:bodyPr>
          <a:lstStyle/>
          <a:p>
            <a:r>
              <a:rPr lang="en-US" sz="2000" dirty="0">
                <a:latin typeface="Verdana"/>
                <a:ea typeface="Verdana"/>
                <a:cs typeface="Verdana"/>
                <a:sym typeface="Verdana"/>
              </a:rPr>
              <a:t>Circle </a:t>
            </a:r>
            <a:r>
              <a:rPr lang="en-US" sz="2000" i="1" dirty="0">
                <a:latin typeface="Verdana"/>
                <a:ea typeface="Verdana"/>
                <a:cs typeface="Verdana"/>
                <a:sym typeface="Verdana"/>
              </a:rPr>
              <a:t>W</a:t>
            </a:r>
            <a:r>
              <a:rPr lang="en-US" sz="2000" dirty="0">
                <a:latin typeface="Verdana"/>
                <a:ea typeface="Verdana"/>
                <a:cs typeface="Verdana"/>
                <a:sym typeface="Verdana"/>
              </a:rPr>
              <a:t> is shown where points </a:t>
            </a:r>
            <a:r>
              <a:rPr lang="en-US" sz="2000" i="1" dirty="0">
                <a:latin typeface="Verdana"/>
                <a:ea typeface="Verdana"/>
                <a:cs typeface="Verdana"/>
                <a:sym typeface="Verdana"/>
              </a:rPr>
              <a:t>R</a:t>
            </a:r>
            <a:r>
              <a:rPr lang="en-US" sz="2000" dirty="0">
                <a:latin typeface="Verdana"/>
                <a:ea typeface="Verdana"/>
                <a:cs typeface="Verdana"/>
                <a:sym typeface="Verdana"/>
              </a:rPr>
              <a:t>, </a:t>
            </a:r>
            <a:r>
              <a:rPr lang="en-US" sz="2000" i="1" dirty="0">
                <a:latin typeface="Verdana"/>
                <a:ea typeface="Verdana"/>
                <a:cs typeface="Verdana"/>
                <a:sym typeface="Verdana"/>
              </a:rPr>
              <a:t>G</a:t>
            </a:r>
            <a:r>
              <a:rPr lang="en-US" sz="2000" dirty="0">
                <a:latin typeface="Verdana"/>
                <a:ea typeface="Verdana"/>
                <a:cs typeface="Verdana"/>
                <a:sym typeface="Verdana"/>
              </a:rPr>
              <a:t>, </a:t>
            </a:r>
            <a:r>
              <a:rPr lang="en-US" sz="2000" i="1" dirty="0">
                <a:latin typeface="Verdana"/>
                <a:ea typeface="Verdana"/>
                <a:cs typeface="Verdana"/>
                <a:sym typeface="Verdana"/>
              </a:rPr>
              <a:t>K</a:t>
            </a:r>
            <a:r>
              <a:rPr lang="en-US" sz="2000" dirty="0">
                <a:latin typeface="Verdana"/>
                <a:ea typeface="Verdana"/>
                <a:cs typeface="Verdana"/>
                <a:sym typeface="Verdana"/>
              </a:rPr>
              <a:t>, and </a:t>
            </a:r>
            <a:r>
              <a:rPr lang="en-US" sz="2000" i="1" dirty="0">
                <a:latin typeface="Verdana"/>
                <a:ea typeface="Verdana"/>
                <a:cs typeface="Verdana"/>
                <a:sym typeface="Verdana"/>
              </a:rPr>
              <a:t>H</a:t>
            </a:r>
            <a:r>
              <a:rPr lang="en-US" sz="2000" dirty="0">
                <a:latin typeface="Verdana"/>
                <a:ea typeface="Verdana"/>
                <a:cs typeface="Verdana"/>
                <a:sym typeface="Verdana"/>
              </a:rPr>
              <a:t> lie on the circle.</a:t>
            </a:r>
            <a:endParaRPr lang="en-US" sz="2000" dirty="0"/>
          </a:p>
        </p:txBody>
      </p:sp>
      <p:pic>
        <p:nvPicPr>
          <p:cNvPr id="3" name="Picture 2">
            <a:extLst>
              <a:ext uri="{FF2B5EF4-FFF2-40B4-BE49-F238E27FC236}">
                <a16:creationId xmlns:a16="http://schemas.microsoft.com/office/drawing/2014/main" id="{4CC1C495-6E40-DC48-B9FF-227496EA4904}"/>
              </a:ext>
            </a:extLst>
          </p:cNvPr>
          <p:cNvPicPr>
            <a:picLocks noChangeAspect="1"/>
          </p:cNvPicPr>
          <p:nvPr/>
        </p:nvPicPr>
        <p:blipFill>
          <a:blip r:embed="rId5"/>
          <a:stretch>
            <a:fillRect/>
          </a:stretch>
        </p:blipFill>
        <p:spPr>
          <a:xfrm>
            <a:off x="380856" y="1982489"/>
            <a:ext cx="3419579" cy="3486960"/>
          </a:xfrm>
          <a:prstGeom prst="rect">
            <a:avLst/>
          </a:prstGeom>
        </p:spPr>
      </p:pic>
      <mc:AlternateContent xmlns:mc="http://schemas.openxmlformats.org/markup-compatibility/2006" xmlns:a14="http://schemas.microsoft.com/office/drawing/2010/main">
        <mc:Choice Requires="a14">
          <p:sp>
            <p:nvSpPr>
              <p:cNvPr id="11" name="Google Shape;203;g11351e8cc3e_0_30">
                <a:extLst>
                  <a:ext uri="{FF2B5EF4-FFF2-40B4-BE49-F238E27FC236}">
                    <a16:creationId xmlns:a16="http://schemas.microsoft.com/office/drawing/2014/main" id="{357C21E2-8CF6-C84E-B106-C1F6A2190DB8}"/>
                  </a:ext>
                </a:extLst>
              </p:cNvPr>
              <p:cNvSpPr txBox="1"/>
              <p:nvPr/>
            </p:nvSpPr>
            <p:spPr>
              <a:xfrm>
                <a:off x="4218896" y="2140236"/>
                <a:ext cx="7409253" cy="2555916"/>
              </a:xfrm>
              <a:prstGeom prst="rect">
                <a:avLst/>
              </a:prstGeom>
              <a:noFill/>
              <a:ln>
                <a:noFill/>
              </a:ln>
            </p:spPr>
            <p:txBody>
              <a:bodyPr spcFirstLastPara="1" wrap="square" lIns="91425" tIns="45700" rIns="91425" bIns="45700" anchor="t" anchorCtr="0">
                <a:spAutoFit/>
              </a:bodyPr>
              <a:lstStyle/>
              <a:p>
                <a:endParaRPr lang="en-US" sz="2400" dirty="0">
                  <a:latin typeface="Verdana"/>
                  <a:ea typeface="Verdana"/>
                  <a:cs typeface="Verdana"/>
                  <a:sym typeface="Verdana"/>
                </a:endParaRPr>
              </a:p>
              <a:p>
                <a:pPr lvl="0"/>
                <a:r>
                  <a:rPr lang="en-US" sz="2000" dirty="0">
                    <a:latin typeface="Verdana"/>
                    <a:ea typeface="Verdana"/>
                    <a:cs typeface="Verdana"/>
                    <a:sym typeface="Verdana"/>
                  </a:rPr>
                  <a:t>1. What similarities do you notice between </a:t>
                </a:r>
                <a14:m>
                  <m:oMath xmlns:m="http://schemas.openxmlformats.org/officeDocument/2006/math">
                    <m:acc>
                      <m:accPr>
                        <m:chr m:val="̅"/>
                        <m:ctrlPr>
                          <a:rPr lang="ar-AE" sz="2000" i="1">
                            <a:latin typeface="Cambria Math" panose="02040503050406030204" pitchFamily="18" charset="0"/>
                            <a:ea typeface="Verdana"/>
                            <a:cs typeface="Verdana"/>
                            <a:sym typeface="Verdana"/>
                          </a:rPr>
                        </m:ctrlPr>
                      </m:accPr>
                      <m:e>
                        <m:r>
                          <a:rPr lang="ar-AE" sz="2000" i="1">
                            <a:latin typeface="Cambria Math" panose="02040503050406030204" pitchFamily="18" charset="0"/>
                            <a:ea typeface="Verdana"/>
                            <a:cs typeface="Verdana"/>
                            <a:sym typeface="Verdana"/>
                          </a:rPr>
                          <m:t>𝑅</m:t>
                        </m:r>
                        <m:r>
                          <a:rPr lang="en-US" sz="2000" i="1">
                            <a:latin typeface="Cambria Math" panose="02040503050406030204" pitchFamily="18" charset="0"/>
                            <a:ea typeface="Verdana"/>
                            <a:cs typeface="Verdana"/>
                            <a:sym typeface="Verdana"/>
                          </a:rPr>
                          <m:t>𝐻</m:t>
                        </m:r>
                      </m:e>
                    </m:acc>
                  </m:oMath>
                </a14:m>
                <a:r>
                  <a:rPr lang="en-US" sz="2000" dirty="0">
                    <a:latin typeface="Verdana"/>
                    <a:ea typeface="Verdana"/>
                    <a:cs typeface="Verdana"/>
                    <a:sym typeface="Verdana"/>
                  </a:rPr>
                  <a:t> and </a:t>
                </a:r>
                <a14:m>
                  <m:oMath xmlns:m="http://schemas.openxmlformats.org/officeDocument/2006/math">
                    <m:acc>
                      <m:accPr>
                        <m:chr m:val="̅"/>
                        <m:ctrlPr>
                          <a:rPr lang="ar-AE" sz="2000" i="1">
                            <a:latin typeface="Cambria Math" panose="02040503050406030204" pitchFamily="18" charset="0"/>
                            <a:ea typeface="Verdana"/>
                            <a:cs typeface="Verdana"/>
                            <a:sym typeface="Verdana"/>
                          </a:rPr>
                        </m:ctrlPr>
                      </m:accPr>
                      <m:e>
                        <m:r>
                          <a:rPr lang="en-US" sz="2000" i="1">
                            <a:latin typeface="Cambria Math" panose="02040503050406030204" pitchFamily="18" charset="0"/>
                            <a:ea typeface="Verdana"/>
                            <a:cs typeface="Verdana"/>
                            <a:sym typeface="Verdana"/>
                          </a:rPr>
                          <m:t>𝐺𝐾</m:t>
                        </m:r>
                      </m:e>
                    </m:acc>
                  </m:oMath>
                </a14:m>
                <a:r>
                  <a:rPr lang="en-US" sz="2000" dirty="0">
                    <a:latin typeface="Verdana"/>
                    <a:ea typeface="Verdana"/>
                    <a:cs typeface="Verdana"/>
                    <a:sym typeface="Verdana"/>
                  </a:rPr>
                  <a:t>?</a:t>
                </a:r>
              </a:p>
              <a:p>
                <a:endParaRPr lang="en-US" sz="2400" dirty="0">
                  <a:latin typeface="Verdana"/>
                  <a:ea typeface="Verdana"/>
                  <a:cs typeface="Verdana"/>
                  <a:sym typeface="Verdana"/>
                </a:endParaRPr>
              </a:p>
              <a:p>
                <a:endParaRPr lang="en-US" sz="2400" dirty="0">
                  <a:latin typeface="Verdana"/>
                  <a:ea typeface="Verdana"/>
                  <a:cs typeface="Verdana"/>
                  <a:sym typeface="Verdana"/>
                </a:endParaRPr>
              </a:p>
              <a:p>
                <a:endParaRPr lang="en-US" sz="2400" dirty="0">
                  <a:latin typeface="Verdana"/>
                  <a:ea typeface="Verdana"/>
                  <a:cs typeface="Verdana"/>
                  <a:sym typeface="Verdana"/>
                </a:endParaRPr>
              </a:p>
              <a:p>
                <a:pPr lvl="0"/>
                <a:r>
                  <a:rPr lang="en-US" sz="2000" dirty="0">
                    <a:latin typeface="Verdana"/>
                    <a:ea typeface="Verdana"/>
                    <a:cs typeface="Verdana"/>
                    <a:sym typeface="Verdana"/>
                  </a:rPr>
                  <a:t>2. What differences do you notice between </a:t>
                </a:r>
                <a14:m>
                  <m:oMath xmlns:m="http://schemas.openxmlformats.org/officeDocument/2006/math">
                    <m:acc>
                      <m:accPr>
                        <m:chr m:val="̅"/>
                        <m:ctrlPr>
                          <a:rPr lang="ar-AE" sz="2000" i="1">
                            <a:latin typeface="Cambria Math" panose="02040503050406030204" pitchFamily="18" charset="0"/>
                            <a:ea typeface="Verdana"/>
                            <a:cs typeface="Verdana"/>
                            <a:sym typeface="Verdana"/>
                          </a:rPr>
                        </m:ctrlPr>
                      </m:accPr>
                      <m:e>
                        <m:r>
                          <a:rPr lang="ar-AE" sz="2000" i="1">
                            <a:latin typeface="Cambria Math" panose="02040503050406030204" pitchFamily="18" charset="0"/>
                            <a:ea typeface="Verdana"/>
                            <a:cs typeface="Verdana"/>
                            <a:sym typeface="Verdana"/>
                          </a:rPr>
                          <m:t>𝑅</m:t>
                        </m:r>
                        <m:r>
                          <a:rPr lang="en-US" sz="2000" i="1">
                            <a:latin typeface="Cambria Math" panose="02040503050406030204" pitchFamily="18" charset="0"/>
                            <a:ea typeface="Verdana"/>
                            <a:cs typeface="Verdana"/>
                            <a:sym typeface="Verdana"/>
                          </a:rPr>
                          <m:t>𝐻</m:t>
                        </m:r>
                      </m:e>
                    </m:acc>
                  </m:oMath>
                </a14:m>
                <a:r>
                  <a:rPr lang="en-US" sz="2000" dirty="0">
                    <a:latin typeface="Verdana"/>
                    <a:ea typeface="Verdana"/>
                    <a:cs typeface="Verdana"/>
                    <a:sym typeface="Verdana"/>
                  </a:rPr>
                  <a:t> and </a:t>
                </a:r>
                <a14:m>
                  <m:oMath xmlns:m="http://schemas.openxmlformats.org/officeDocument/2006/math">
                    <m:acc>
                      <m:accPr>
                        <m:chr m:val="̅"/>
                        <m:ctrlPr>
                          <a:rPr lang="ar-AE" sz="2000" i="1">
                            <a:latin typeface="Cambria Math" panose="02040503050406030204" pitchFamily="18" charset="0"/>
                            <a:ea typeface="Verdana"/>
                            <a:cs typeface="Verdana"/>
                            <a:sym typeface="Verdana"/>
                          </a:rPr>
                        </m:ctrlPr>
                      </m:accPr>
                      <m:e>
                        <m:r>
                          <a:rPr lang="en-US" sz="2000" i="1">
                            <a:latin typeface="Cambria Math" panose="02040503050406030204" pitchFamily="18" charset="0"/>
                            <a:ea typeface="Verdana"/>
                            <a:cs typeface="Verdana"/>
                            <a:sym typeface="Verdana"/>
                          </a:rPr>
                          <m:t>𝐺𝐾</m:t>
                        </m:r>
                      </m:e>
                    </m:acc>
                  </m:oMath>
                </a14:m>
                <a:r>
                  <a:rPr lang="en-US" sz="2000" dirty="0">
                    <a:latin typeface="Verdana"/>
                    <a:ea typeface="Verdana"/>
                    <a:cs typeface="Verdana"/>
                    <a:sym typeface="Verdana"/>
                  </a:rPr>
                  <a:t>?</a:t>
                </a:r>
              </a:p>
              <a:p>
                <a:endParaRPr sz="2400" dirty="0">
                  <a:latin typeface="Verdana"/>
                  <a:ea typeface="Verdana"/>
                  <a:cs typeface="Verdana"/>
                  <a:sym typeface="Verdana"/>
                </a:endParaRPr>
              </a:p>
            </p:txBody>
          </p:sp>
        </mc:Choice>
        <mc:Fallback xmlns="">
          <p:sp>
            <p:nvSpPr>
              <p:cNvPr id="11" name="Google Shape;203;g11351e8cc3e_0_30">
                <a:extLst>
                  <a:ext uri="{FF2B5EF4-FFF2-40B4-BE49-F238E27FC236}">
                    <a16:creationId xmlns:a16="http://schemas.microsoft.com/office/drawing/2014/main" id="{357C21E2-8CF6-C84E-B106-C1F6A2190DB8}"/>
                  </a:ext>
                </a:extLst>
              </p:cNvPr>
              <p:cNvSpPr txBox="1">
                <a:spLocks noRot="1" noChangeAspect="1" noMove="1" noResize="1" noEditPoints="1" noAdjustHandles="1" noChangeArrowheads="1" noChangeShapeType="1" noTextEdit="1"/>
              </p:cNvSpPr>
              <p:nvPr/>
            </p:nvSpPr>
            <p:spPr>
              <a:xfrm>
                <a:off x="4218896" y="2140236"/>
                <a:ext cx="7409253" cy="2555916"/>
              </a:xfrm>
              <a:prstGeom prst="rect">
                <a:avLst/>
              </a:prstGeom>
              <a:blipFill>
                <a:blip r:embed="rId6"/>
                <a:stretch>
                  <a:fillRect l="-822"/>
                </a:stretch>
              </a:blipFill>
              <a:ln>
                <a:noFill/>
              </a:ln>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11351e8cc3e_0_43"/>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buSzPts val="1400"/>
            </a:pPr>
            <a:endParaRPr/>
          </a:p>
        </p:txBody>
      </p:sp>
      <p:pic>
        <p:nvPicPr>
          <p:cNvPr id="211" name="Google Shape;211;g11351e8cc3e_0_4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0"/>
              </a:srgbClr>
            </a:outerShdw>
          </a:effectLst>
        </p:spPr>
      </p:pic>
      <p:sp>
        <p:nvSpPr>
          <p:cNvPr id="212" name="Google Shape;212;g11351e8cc3e_0_43"/>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155</a:t>
            </a:r>
            <a:endParaRPr i="1" dirty="0">
              <a:latin typeface="Calibri"/>
              <a:ea typeface="Calibri"/>
              <a:cs typeface="Calibri"/>
              <a:sym typeface="Calibri"/>
            </a:endParaRPr>
          </a:p>
        </p:txBody>
      </p:sp>
      <p:sp>
        <p:nvSpPr>
          <p:cNvPr id="213" name="Google Shape;213;g11351e8cc3e_0_43"/>
          <p:cNvSpPr txBox="1"/>
          <p:nvPr/>
        </p:nvSpPr>
        <p:spPr>
          <a:xfrm>
            <a:off x="1037925" y="2530045"/>
            <a:ext cx="8327100" cy="677100"/>
          </a:xfrm>
          <a:prstGeom prst="rect">
            <a:avLst/>
          </a:prstGeom>
          <a:noFill/>
          <a:ln>
            <a:noFill/>
          </a:ln>
        </p:spPr>
        <p:txBody>
          <a:bodyPr spcFirstLastPara="1" wrap="square" lIns="91425" tIns="45700" rIns="91425" bIns="45700" anchor="t" anchorCtr="0">
            <a:spAutoFit/>
          </a:bodyPr>
          <a:lstStyle/>
          <a:p>
            <a:pPr>
              <a:buClr>
                <a:schemeClr val="dk1"/>
              </a:buClr>
            </a:pPr>
            <a:r>
              <a:rPr lang="en-US" sz="2400" dirty="0">
                <a:solidFill>
                  <a:schemeClr val="dk1"/>
                </a:solidFill>
                <a:latin typeface="Verdana"/>
                <a:ea typeface="Verdana"/>
                <a:cs typeface="Verdana"/>
                <a:sym typeface="Verdana"/>
              </a:rPr>
              <a:t>3. Complete the statements.</a:t>
            </a:r>
            <a:endParaRPr sz="2400" dirty="0">
              <a:solidFill>
                <a:schemeClr val="dk1"/>
              </a:solidFill>
              <a:latin typeface="Verdana"/>
              <a:ea typeface="Verdana"/>
              <a:cs typeface="Verdana"/>
              <a:sym typeface="Verdana"/>
            </a:endParaRPr>
          </a:p>
          <a:p>
            <a:endParaRPr dirty="0"/>
          </a:p>
        </p:txBody>
      </p:sp>
      <p:pic>
        <p:nvPicPr>
          <p:cNvPr id="214" name="Google Shape;214;g11351e8cc3e_0_43"/>
          <p:cNvPicPr preferRelativeResize="0"/>
          <p:nvPr/>
        </p:nvPicPr>
        <p:blipFill>
          <a:blip r:embed="rId4">
            <a:alphaModFix/>
          </a:blip>
          <a:stretch>
            <a:fillRect/>
          </a:stretch>
        </p:blipFill>
        <p:spPr>
          <a:xfrm>
            <a:off x="1037925" y="3207145"/>
            <a:ext cx="8200325" cy="3322093"/>
          </a:xfrm>
          <a:prstGeom prst="rect">
            <a:avLst/>
          </a:prstGeom>
          <a:noFill/>
          <a:ln>
            <a:noFill/>
          </a:ln>
        </p:spPr>
      </p:pic>
      <p:pic>
        <p:nvPicPr>
          <p:cNvPr id="7" name="Google Shape;204;g11351e8cc3e_0_30">
            <a:extLst>
              <a:ext uri="{FF2B5EF4-FFF2-40B4-BE49-F238E27FC236}">
                <a16:creationId xmlns:a16="http://schemas.microsoft.com/office/drawing/2014/main" id="{997BC231-2D84-4ABC-8B2A-286E8F655CB0}"/>
              </a:ext>
            </a:extLst>
          </p:cNvPr>
          <p:cNvPicPr preferRelativeResize="0"/>
          <p:nvPr/>
        </p:nvPicPr>
        <p:blipFill>
          <a:blip r:embed="rId5">
            <a:alphaModFix/>
          </a:blip>
          <a:stretch>
            <a:fillRect/>
          </a:stretch>
        </p:blipFill>
        <p:spPr>
          <a:xfrm>
            <a:off x="488684" y="885238"/>
            <a:ext cx="6826066" cy="11376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6"/>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21" name="Google Shape;221;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0052976" y="6200600"/>
            <a:ext cx="563850" cy="657276"/>
          </a:xfrm>
          <a:prstGeom prst="rect">
            <a:avLst/>
          </a:prstGeom>
          <a:noFill/>
          <a:ln>
            <a:noFill/>
          </a:ln>
          <a:effectLst>
            <a:outerShdw blurRad="57150" dist="19050" dir="5400000" algn="bl" rotWithShape="0">
              <a:srgbClr val="000000">
                <a:alpha val="49803"/>
              </a:srgbClr>
            </a:outerShdw>
          </a:effectLst>
        </p:spPr>
      </p:pic>
      <p:sp>
        <p:nvSpPr>
          <p:cNvPr id="222" name="Google Shape;222;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sp>
        <p:nvSpPr>
          <p:cNvPr id="223" name="Google Shape;223;p6"/>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155</a:t>
            </a:r>
            <a:endParaRPr i="1">
              <a:latin typeface="Calibri"/>
              <a:ea typeface="Calibri"/>
              <a:cs typeface="Calibri"/>
              <a:sym typeface="Calibri"/>
            </a:endParaRPr>
          </a:p>
        </p:txBody>
      </p:sp>
      <p:pic>
        <p:nvPicPr>
          <p:cNvPr id="224" name="Google Shape;224;p6"/>
          <p:cNvPicPr preferRelativeResize="0"/>
          <p:nvPr/>
        </p:nvPicPr>
        <p:blipFill rotWithShape="1">
          <a:blip r:embed="rId4">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1" name="Google Shape;231;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232" name="Google Shape;232;p7"/>
          <p:cNvSpPr txBox="1"/>
          <p:nvPr/>
        </p:nvSpPr>
        <p:spPr>
          <a:xfrm>
            <a:off x="1052650" y="60325"/>
            <a:ext cx="9079492"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10.7.3 Collaboration: Angles in Intersecting Chords</a:t>
            </a:r>
            <a:endParaRPr dirty="0"/>
          </a:p>
        </p:txBody>
      </p:sp>
      <p:sp>
        <p:nvSpPr>
          <p:cNvPr id="233" name="Google Shape;233;p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155</a:t>
            </a:r>
            <a:endParaRPr i="1" dirty="0">
              <a:latin typeface="Calibri"/>
              <a:ea typeface="Calibri"/>
              <a:cs typeface="Calibri"/>
              <a:sym typeface="Calibri"/>
            </a:endParaRPr>
          </a:p>
        </p:txBody>
      </p:sp>
      <p:pic>
        <p:nvPicPr>
          <p:cNvPr id="234" name="Google Shape;234;p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2842" y="348271"/>
            <a:ext cx="749808" cy="749808"/>
          </a:xfrm>
          <a:prstGeom prst="rect">
            <a:avLst/>
          </a:prstGeom>
          <a:noFill/>
          <a:ln>
            <a:noFill/>
          </a:ln>
          <a:effectLst>
            <a:outerShdw blurRad="50800" dist="38100" dir="2700000" algn="tl" rotWithShape="0">
              <a:srgbClr val="000000">
                <a:alpha val="40000"/>
              </a:srgbClr>
            </a:outerShdw>
          </a:effectLst>
        </p:spPr>
      </p:pic>
      <p:sp>
        <p:nvSpPr>
          <p:cNvPr id="235" name="Google Shape;235;p7"/>
          <p:cNvSpPr txBox="1"/>
          <p:nvPr/>
        </p:nvSpPr>
        <p:spPr>
          <a:xfrm>
            <a:off x="593248" y="1386025"/>
            <a:ext cx="10930676" cy="1708120"/>
          </a:xfrm>
          <a:prstGeom prst="rect">
            <a:avLst/>
          </a:prstGeom>
          <a:noFill/>
          <a:ln>
            <a:noFill/>
          </a:ln>
        </p:spPr>
        <p:txBody>
          <a:bodyPr spcFirstLastPara="1" wrap="square" lIns="91425" tIns="45700" rIns="91425" bIns="45700" anchor="t" anchorCtr="0">
            <a:spAutoFit/>
          </a:bodyPr>
          <a:lstStyle/>
          <a:p>
            <a:pPr marL="457200" indent="-361950">
              <a:buSzPts val="2100"/>
              <a:buFont typeface="Verdana"/>
              <a:buAutoNum type="arabicPeriod"/>
            </a:pPr>
            <a:r>
              <a:rPr lang="en-US" sz="2100" dirty="0">
                <a:latin typeface="Verdana"/>
                <a:ea typeface="Verdana"/>
                <a:cs typeface="Verdana"/>
                <a:sym typeface="Verdana"/>
              </a:rPr>
              <a:t>With your partner, complete the following using Circle D. </a:t>
            </a:r>
            <a:endParaRPr sz="2100" dirty="0">
              <a:latin typeface="Verdana"/>
              <a:ea typeface="Verdana"/>
              <a:cs typeface="Verdana"/>
              <a:sym typeface="Verdana"/>
            </a:endParaRPr>
          </a:p>
          <a:p>
            <a:pPr marL="457200"/>
            <a:endParaRPr sz="2100" dirty="0">
              <a:latin typeface="Verdana"/>
              <a:ea typeface="Verdana"/>
              <a:cs typeface="Verdana"/>
              <a:sym typeface="Verdana"/>
            </a:endParaRPr>
          </a:p>
          <a:p>
            <a:pPr marL="914400" indent="-361950">
              <a:buSzPts val="2100"/>
              <a:buFont typeface="Verdana"/>
              <a:buAutoNum type="alphaLcPeriod"/>
            </a:pPr>
            <a:r>
              <a:rPr lang="en-US" sz="2100" dirty="0">
                <a:latin typeface="Verdana"/>
                <a:ea typeface="Verdana"/>
                <a:cs typeface="Verdana"/>
                <a:sym typeface="Verdana"/>
              </a:rPr>
              <a:t>Draw and label two chords that intersect inside the circle, making sure the endpoints fall on the points. When drawing the chords, do not draw the same chords as your partner and avoid drawing diameters.</a:t>
            </a:r>
            <a:endParaRPr sz="1100" dirty="0"/>
          </a:p>
        </p:txBody>
      </p:sp>
      <p:pic>
        <p:nvPicPr>
          <p:cNvPr id="236" name="Google Shape;236;p7"/>
          <p:cNvPicPr preferRelativeResize="0"/>
          <p:nvPr/>
        </p:nvPicPr>
        <p:blipFill>
          <a:blip r:embed="rId5">
            <a:alphaModFix/>
          </a:blip>
          <a:stretch>
            <a:fillRect/>
          </a:stretch>
        </p:blipFill>
        <p:spPr>
          <a:xfrm>
            <a:off x="3396273" y="3194818"/>
            <a:ext cx="3391047" cy="3135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8"/>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43" name="Google Shape;243;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05891" y="6200599"/>
            <a:ext cx="563850" cy="657276"/>
          </a:xfrm>
          <a:prstGeom prst="rect">
            <a:avLst/>
          </a:prstGeom>
          <a:noFill/>
          <a:ln>
            <a:noFill/>
          </a:ln>
          <a:effectLst>
            <a:outerShdw blurRad="57150" dist="19050" dir="5400000" algn="bl" rotWithShape="0">
              <a:srgbClr val="000000">
                <a:alpha val="49803"/>
              </a:srgbClr>
            </a:outerShdw>
          </a:effectLst>
        </p:spPr>
      </p:pic>
      <p:sp>
        <p:nvSpPr>
          <p:cNvPr id="244" name="Google Shape;244;p8"/>
          <p:cNvSpPr txBox="1"/>
          <p:nvPr/>
        </p:nvSpPr>
        <p:spPr>
          <a:xfrm>
            <a:off x="88676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156</a:t>
            </a:r>
            <a:endParaRPr i="1" dirty="0">
              <a:latin typeface="Calibri"/>
              <a:ea typeface="Calibri"/>
              <a:cs typeface="Calibri"/>
              <a:sym typeface="Calibri"/>
            </a:endParaRPr>
          </a:p>
        </p:txBody>
      </p:sp>
      <p:sp>
        <p:nvSpPr>
          <p:cNvPr id="245" name="Google Shape;245;p8"/>
          <p:cNvSpPr txBox="1"/>
          <p:nvPr/>
        </p:nvSpPr>
        <p:spPr>
          <a:xfrm>
            <a:off x="540564" y="410665"/>
            <a:ext cx="10653461" cy="400069"/>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b. Choose one of the angles to measure and label. Then, complete the table.</a:t>
            </a:r>
            <a:endParaRPr sz="1000" dirty="0"/>
          </a:p>
        </p:txBody>
      </p:sp>
      <p:pic>
        <p:nvPicPr>
          <p:cNvPr id="246" name="Google Shape;246;p8"/>
          <p:cNvPicPr preferRelativeResize="0"/>
          <p:nvPr/>
        </p:nvPicPr>
        <p:blipFill>
          <a:blip r:embed="rId4">
            <a:alphaModFix/>
          </a:blip>
          <a:stretch>
            <a:fillRect/>
          </a:stretch>
        </p:blipFill>
        <p:spPr>
          <a:xfrm>
            <a:off x="758288" y="810734"/>
            <a:ext cx="5568770" cy="2815376"/>
          </a:xfrm>
          <a:prstGeom prst="rect">
            <a:avLst/>
          </a:prstGeom>
          <a:noFill/>
          <a:ln>
            <a:noFill/>
          </a:ln>
        </p:spPr>
      </p:pic>
      <p:sp>
        <p:nvSpPr>
          <p:cNvPr id="247" name="Google Shape;247;p8"/>
          <p:cNvSpPr txBox="1"/>
          <p:nvPr/>
        </p:nvSpPr>
        <p:spPr>
          <a:xfrm>
            <a:off x="540574" y="3682175"/>
            <a:ext cx="10343735" cy="2339072"/>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c. Discuss the following with your partner. </a:t>
            </a:r>
            <a:endParaRPr sz="2000" dirty="0">
              <a:latin typeface="Verdana"/>
              <a:ea typeface="Verdana"/>
              <a:cs typeface="Verdana"/>
              <a:sym typeface="Verdana"/>
            </a:endParaRPr>
          </a:p>
          <a:p>
            <a:endParaRPr sz="2000" dirty="0">
              <a:latin typeface="Verdana"/>
              <a:ea typeface="Verdana"/>
              <a:cs typeface="Verdana"/>
              <a:sym typeface="Verdana"/>
            </a:endParaRPr>
          </a:p>
          <a:p>
            <a:r>
              <a:rPr lang="en-US" sz="2000" dirty="0">
                <a:latin typeface="Verdana"/>
                <a:ea typeface="Verdana"/>
                <a:cs typeface="Verdana"/>
                <a:sym typeface="Verdana"/>
              </a:rPr>
              <a:t>• What do you notice about the values in the table? </a:t>
            </a:r>
            <a:endParaRPr sz="2000" dirty="0">
              <a:latin typeface="Verdana"/>
              <a:ea typeface="Verdana"/>
              <a:cs typeface="Verdana"/>
              <a:sym typeface="Verdana"/>
            </a:endParaRPr>
          </a:p>
          <a:p>
            <a:endParaRPr sz="2000" dirty="0">
              <a:latin typeface="Verdana"/>
              <a:ea typeface="Verdana"/>
              <a:cs typeface="Verdana"/>
              <a:sym typeface="Verdana"/>
            </a:endParaRPr>
          </a:p>
          <a:p>
            <a:r>
              <a:rPr lang="en-US" sz="2000" dirty="0">
                <a:latin typeface="Verdana"/>
                <a:ea typeface="Verdana"/>
                <a:cs typeface="Verdana"/>
                <a:sym typeface="Verdana"/>
              </a:rPr>
              <a:t>• What do you think the relationship is between the angle measure and the two intercepted arcs?</a:t>
            </a:r>
            <a:endParaRPr sz="2000" dirty="0">
              <a:latin typeface="Verdana"/>
              <a:ea typeface="Verdana"/>
              <a:cs typeface="Verdana"/>
              <a:sym typeface="Verdana"/>
            </a:endParaRPr>
          </a:p>
          <a:p>
            <a:endParaRPr sz="2000" dirty="0">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11351e8cc3e_0_60"/>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buSzPts val="1400"/>
            </a:pPr>
            <a:endParaRPr/>
          </a:p>
        </p:txBody>
      </p:sp>
      <p:pic>
        <p:nvPicPr>
          <p:cNvPr id="254" name="Google Shape;254;g11351e8cc3e_0_6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0"/>
              </a:srgbClr>
            </a:outerShdw>
          </a:effectLst>
        </p:spPr>
      </p:pic>
      <p:sp>
        <p:nvSpPr>
          <p:cNvPr id="255" name="Google Shape;255;g11351e8cc3e_0_60"/>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156</a:t>
            </a:r>
            <a:endParaRPr i="1" dirty="0">
              <a:latin typeface="Calibri"/>
              <a:ea typeface="Calibri"/>
              <a:cs typeface="Calibri"/>
              <a:sym typeface="Calibri"/>
            </a:endParaRPr>
          </a:p>
        </p:txBody>
      </p:sp>
      <p:sp>
        <p:nvSpPr>
          <p:cNvPr id="256" name="Google Shape;256;g11351e8cc3e_0_60"/>
          <p:cNvSpPr txBox="1"/>
          <p:nvPr/>
        </p:nvSpPr>
        <p:spPr>
          <a:xfrm>
            <a:off x="465232" y="345738"/>
            <a:ext cx="10271594" cy="1939500"/>
          </a:xfrm>
          <a:prstGeom prst="rect">
            <a:avLst/>
          </a:prstGeom>
          <a:noFill/>
          <a:ln>
            <a:noFill/>
          </a:ln>
        </p:spPr>
        <p:txBody>
          <a:bodyPr spcFirstLastPara="1" wrap="square" lIns="91425" tIns="45700" rIns="91425" bIns="45700" anchor="t" anchorCtr="0">
            <a:spAutoFit/>
          </a:bodyPr>
          <a:lstStyle/>
          <a:p>
            <a:pPr>
              <a:buClr>
                <a:schemeClr val="dk1"/>
              </a:buClr>
              <a:buSzPts val="1100"/>
            </a:pPr>
            <a:r>
              <a:rPr lang="en-US" sz="2400" dirty="0">
                <a:solidFill>
                  <a:schemeClr val="dk1"/>
                </a:solidFill>
                <a:latin typeface="Verdana"/>
                <a:ea typeface="Verdana"/>
                <a:cs typeface="Verdana"/>
                <a:sym typeface="Verdana"/>
              </a:rPr>
              <a:t>d. Write a formula that generalizes your discovery from the discussion you had in Part C.</a:t>
            </a:r>
            <a:endParaRPr sz="2400" dirty="0">
              <a:solidFill>
                <a:schemeClr val="dk1"/>
              </a:solidFill>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r>
              <a:rPr lang="en-US" sz="2400" dirty="0">
                <a:latin typeface="Verdana"/>
                <a:ea typeface="Verdana"/>
                <a:cs typeface="Verdana"/>
                <a:sym typeface="Verdana"/>
              </a:rPr>
              <a:t>e. Complete the statement.</a:t>
            </a:r>
            <a:endParaRPr dirty="0"/>
          </a:p>
        </p:txBody>
      </p:sp>
      <p:pic>
        <p:nvPicPr>
          <p:cNvPr id="257" name="Google Shape;257;g11351e8cc3e_0_60"/>
          <p:cNvPicPr preferRelativeResize="0"/>
          <p:nvPr/>
        </p:nvPicPr>
        <p:blipFill>
          <a:blip r:embed="rId4">
            <a:alphaModFix/>
          </a:blip>
          <a:stretch>
            <a:fillRect/>
          </a:stretch>
        </p:blipFill>
        <p:spPr>
          <a:xfrm>
            <a:off x="1153573" y="2441750"/>
            <a:ext cx="6950451" cy="33621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1"/>
          <p:cNvSpPr/>
          <p:nvPr/>
        </p:nvSpPr>
        <p:spPr>
          <a:xfrm>
            <a:off x="0" y="0"/>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64" name="Google Shape;264;p2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65" name="Google Shape;265;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sp>
        <p:nvSpPr>
          <p:cNvPr id="266" name="Google Shape;266;p21"/>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157</a:t>
            </a:r>
            <a:endParaRPr i="1" dirty="0">
              <a:latin typeface="Calibri"/>
              <a:ea typeface="Calibri"/>
              <a:cs typeface="Calibri"/>
              <a:sym typeface="Calibri"/>
            </a:endParaRPr>
          </a:p>
        </p:txBody>
      </p:sp>
      <p:pic>
        <p:nvPicPr>
          <p:cNvPr id="267" name="Google Shape;267;p21" descr="Icon&#10;&#10;Description automatically generated"/>
          <p:cNvPicPr preferRelativeResize="0"/>
          <p:nvPr/>
        </p:nvPicPr>
        <p:blipFill rotWithShape="1">
          <a:blip r:embed="rId4">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2"/>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74" name="Google Shape;274;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75" name="Google Shape;275;p22"/>
          <p:cNvSpPr txBox="1"/>
          <p:nvPr/>
        </p:nvSpPr>
        <p:spPr>
          <a:xfrm>
            <a:off x="1052650" y="-37211"/>
            <a:ext cx="983166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2700" b="1" dirty="0">
                <a:solidFill>
                  <a:srgbClr val="54B5D1"/>
                </a:solidFill>
                <a:latin typeface="Verdana"/>
                <a:ea typeface="Verdana"/>
                <a:cs typeface="Verdana"/>
                <a:sym typeface="Verdana"/>
              </a:rPr>
              <a:t>10.7.4 Guided Practice: Solving Problems Involving Angles in Intersecting Chords</a:t>
            </a:r>
            <a:endParaRPr sz="500" dirty="0"/>
          </a:p>
        </p:txBody>
      </p:sp>
      <p:sp>
        <p:nvSpPr>
          <p:cNvPr id="276" name="Google Shape;276;p22"/>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157</a:t>
            </a:r>
            <a:endParaRPr i="1" dirty="0">
              <a:latin typeface="Calibri"/>
              <a:ea typeface="Calibri"/>
              <a:cs typeface="Calibri"/>
              <a:sym typeface="Calibri"/>
            </a:endParaRPr>
          </a:p>
        </p:txBody>
      </p:sp>
      <p:pic>
        <p:nvPicPr>
          <p:cNvPr id="277" name="Google Shape;277;p22"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2842" y="128815"/>
            <a:ext cx="749808" cy="749808"/>
          </a:xfrm>
          <a:prstGeom prst="rect">
            <a:avLst/>
          </a:prstGeom>
          <a:noFill/>
          <a:ln>
            <a:noFill/>
          </a:ln>
          <a:effectLst>
            <a:outerShdw blurRad="50800" dist="38100" dir="2700000" algn="tl" rotWithShape="0">
              <a:srgbClr val="000000">
                <a:alpha val="40000"/>
              </a:srgbClr>
            </a:outerShdw>
          </a:effectLst>
        </p:spPr>
      </p:pic>
      <p:sp>
        <p:nvSpPr>
          <p:cNvPr id="278" name="Google Shape;278;p22"/>
          <p:cNvSpPr txBox="1"/>
          <p:nvPr/>
        </p:nvSpPr>
        <p:spPr>
          <a:xfrm>
            <a:off x="2060448" y="1386025"/>
            <a:ext cx="8327100" cy="307800"/>
          </a:xfrm>
          <a:prstGeom prst="rect">
            <a:avLst/>
          </a:prstGeom>
          <a:noFill/>
          <a:ln>
            <a:noFill/>
          </a:ln>
        </p:spPr>
        <p:txBody>
          <a:bodyPr spcFirstLastPara="1" wrap="square" lIns="91425" tIns="45700" rIns="91425" bIns="45700" anchor="t" anchorCtr="0">
            <a:spAutoFit/>
          </a:bodyPr>
          <a:lstStyle/>
          <a:p>
            <a:endParaRPr/>
          </a:p>
        </p:txBody>
      </p:sp>
      <p:pic>
        <p:nvPicPr>
          <p:cNvPr id="279" name="Google Shape;279;p22"/>
          <p:cNvPicPr preferRelativeResize="0"/>
          <p:nvPr/>
        </p:nvPicPr>
        <p:blipFill>
          <a:blip r:embed="rId5">
            <a:alphaModFix/>
          </a:blip>
          <a:stretch>
            <a:fillRect/>
          </a:stretch>
        </p:blipFill>
        <p:spPr>
          <a:xfrm>
            <a:off x="1052650" y="1044649"/>
            <a:ext cx="7457169" cy="563188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3"/>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86" name="Google Shape;286;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287" name="Google Shape;287;p23"/>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157</a:t>
            </a:r>
            <a:endParaRPr i="1">
              <a:latin typeface="Calibri"/>
              <a:ea typeface="Calibri"/>
              <a:cs typeface="Calibri"/>
              <a:sym typeface="Calibri"/>
            </a:endParaRPr>
          </a:p>
        </p:txBody>
      </p:sp>
      <p:pic>
        <p:nvPicPr>
          <p:cNvPr id="288" name="Google Shape;288;p23"/>
          <p:cNvPicPr preferRelativeResize="0"/>
          <p:nvPr/>
        </p:nvPicPr>
        <p:blipFill>
          <a:blip r:embed="rId4">
            <a:alphaModFix/>
          </a:blip>
          <a:stretch>
            <a:fillRect/>
          </a:stretch>
        </p:blipFill>
        <p:spPr>
          <a:xfrm>
            <a:off x="1137644" y="210483"/>
            <a:ext cx="6914975" cy="657293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11351e8cc3e_0_74"/>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buSzPts val="1400"/>
            </a:pPr>
            <a:endParaRPr/>
          </a:p>
        </p:txBody>
      </p:sp>
      <p:pic>
        <p:nvPicPr>
          <p:cNvPr id="295" name="Google Shape;295;g11351e8cc3e_0_7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0"/>
              </a:srgbClr>
            </a:outerShdw>
          </a:effectLst>
        </p:spPr>
      </p:pic>
      <p:sp>
        <p:nvSpPr>
          <p:cNvPr id="296" name="Google Shape;296;g11351e8cc3e_0_74"/>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297" name="Google Shape;297;g11351e8cc3e_0_74"/>
          <p:cNvPicPr preferRelativeResize="0"/>
          <p:nvPr/>
        </p:nvPicPr>
        <p:blipFill>
          <a:blip r:embed="rId4">
            <a:alphaModFix/>
          </a:blip>
          <a:stretch>
            <a:fillRect/>
          </a:stretch>
        </p:blipFill>
        <p:spPr>
          <a:xfrm>
            <a:off x="1000668" y="166646"/>
            <a:ext cx="8003994" cy="64553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0"/>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04" name="Google Shape;304;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05" name="Google Shape;305;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06" name="Google Shape;306;p30"/>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307" name="Google Shape;307;p30"/>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158</a:t>
            </a:r>
            <a:endParaRPr i="1" dirty="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31"/>
          <p:cNvPicPr preferRelativeResize="0"/>
          <p:nvPr/>
        </p:nvPicPr>
        <p:blipFill>
          <a:blip r:embed="rId3">
            <a:alphaModFix/>
          </a:blip>
          <a:stretch>
            <a:fillRect/>
          </a:stretch>
        </p:blipFill>
        <p:spPr>
          <a:xfrm>
            <a:off x="550428" y="907753"/>
            <a:ext cx="7143000" cy="5675050"/>
          </a:xfrm>
          <a:prstGeom prst="rect">
            <a:avLst/>
          </a:prstGeom>
          <a:noFill/>
          <a:ln>
            <a:noFill/>
          </a:ln>
        </p:spPr>
      </p:pic>
      <p:sp>
        <p:nvSpPr>
          <p:cNvPr id="314" name="Google Shape;314;p31"/>
          <p:cNvSpPr/>
          <p:nvPr/>
        </p:nvSpPr>
        <p:spPr>
          <a:xfrm>
            <a:off x="0" y="-8224"/>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15" name="Google Shape;315;p3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195026"/>
            <a:ext cx="563850" cy="657276"/>
          </a:xfrm>
          <a:prstGeom prst="rect">
            <a:avLst/>
          </a:prstGeom>
          <a:noFill/>
          <a:ln>
            <a:noFill/>
          </a:ln>
          <a:effectLst>
            <a:outerShdw blurRad="57150" dist="19050" dir="5400000" algn="bl" rotWithShape="0">
              <a:srgbClr val="000000">
                <a:alpha val="49803"/>
              </a:srgbClr>
            </a:outerShdw>
          </a:effectLst>
        </p:spPr>
      </p:pic>
      <p:sp>
        <p:nvSpPr>
          <p:cNvPr id="316" name="Google Shape;316;p31"/>
          <p:cNvSpPr txBox="1"/>
          <p:nvPr/>
        </p:nvSpPr>
        <p:spPr>
          <a:xfrm>
            <a:off x="1052650" y="60326"/>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E24E5F"/>
                </a:solidFill>
                <a:latin typeface="Verdana"/>
                <a:ea typeface="Verdana"/>
                <a:cs typeface="Verdana"/>
                <a:sym typeface="Verdana"/>
              </a:rPr>
              <a:t>10.7.5 Your Turn!</a:t>
            </a:r>
            <a:endParaRPr/>
          </a:p>
        </p:txBody>
      </p:sp>
      <p:pic>
        <p:nvPicPr>
          <p:cNvPr id="317" name="Google Shape;317;p31"/>
          <p:cNvPicPr preferRelativeResize="0"/>
          <p:nvPr/>
        </p:nvPicPr>
        <p:blipFill rotWithShape="1">
          <a:blip r:embed="rId5">
            <a:alphaModFix/>
          </a:blip>
          <a:srcRect/>
          <a:stretch/>
        </p:blipFill>
        <p:spPr>
          <a:xfrm>
            <a:off x="305350" y="60326"/>
            <a:ext cx="747300" cy="747300"/>
          </a:xfrm>
          <a:prstGeom prst="rect">
            <a:avLst/>
          </a:prstGeom>
          <a:noFill/>
          <a:ln>
            <a:noFill/>
          </a:ln>
        </p:spPr>
      </p:pic>
      <p:sp>
        <p:nvSpPr>
          <p:cNvPr id="318" name="Google Shape;318;p31"/>
          <p:cNvSpPr txBox="1"/>
          <p:nvPr/>
        </p:nvSpPr>
        <p:spPr>
          <a:xfrm>
            <a:off x="8836194" y="6457676"/>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158</a:t>
            </a:r>
            <a:endParaRPr i="1" dirty="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3"/>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25" name="Google Shape;325;p33"/>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159</a:t>
            </a:r>
            <a:endParaRPr i="1" dirty="0">
              <a:latin typeface="Calibri"/>
              <a:ea typeface="Calibri"/>
              <a:cs typeface="Calibri"/>
              <a:sym typeface="Calibri"/>
            </a:endParaRPr>
          </a:p>
        </p:txBody>
      </p:sp>
      <p:pic>
        <p:nvPicPr>
          <p:cNvPr id="326" name="Google Shape;326;p3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27" name="Google Shape;327;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28" name="Google Shape;328;p33"/>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34"/>
          <p:cNvPicPr preferRelativeResize="0"/>
          <p:nvPr/>
        </p:nvPicPr>
        <p:blipFill rotWithShape="1">
          <a:blip r:embed="rId3">
            <a:alphaModFix/>
          </a:blip>
          <a:srcRect b="9008"/>
          <a:stretch/>
        </p:blipFill>
        <p:spPr>
          <a:xfrm>
            <a:off x="1927588" y="1868250"/>
            <a:ext cx="5675640" cy="4837350"/>
          </a:xfrm>
          <a:prstGeom prst="rect">
            <a:avLst/>
          </a:prstGeom>
          <a:noFill/>
          <a:ln>
            <a:noFill/>
          </a:ln>
        </p:spPr>
      </p:pic>
      <p:sp>
        <p:nvSpPr>
          <p:cNvPr id="335" name="Google Shape;335;p34"/>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36" name="Google Shape;336;p34"/>
          <p:cNvSpPr txBox="1"/>
          <p:nvPr/>
        </p:nvSpPr>
        <p:spPr>
          <a:xfrm>
            <a:off x="879234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159</a:t>
            </a:r>
            <a:endParaRPr i="1">
              <a:latin typeface="Calibri"/>
              <a:ea typeface="Calibri"/>
              <a:cs typeface="Calibri"/>
              <a:sym typeface="Calibri"/>
            </a:endParaRPr>
          </a:p>
        </p:txBody>
      </p:sp>
      <p:pic>
        <p:nvPicPr>
          <p:cNvPr id="337" name="Google Shape;337;p34"/>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74" y="6200599"/>
            <a:ext cx="563850" cy="657276"/>
          </a:xfrm>
          <a:prstGeom prst="rect">
            <a:avLst/>
          </a:prstGeom>
          <a:noFill/>
          <a:ln>
            <a:noFill/>
          </a:ln>
          <a:effectLst>
            <a:outerShdw blurRad="57150" dist="19050" dir="5400000" algn="bl" rotWithShape="0">
              <a:srgbClr val="000000">
                <a:alpha val="49803"/>
              </a:srgbClr>
            </a:outerShdw>
          </a:effectLst>
        </p:spPr>
      </p:pic>
      <p:sp>
        <p:nvSpPr>
          <p:cNvPr id="338" name="Google Shape;338;p34"/>
          <p:cNvSpPr txBox="1"/>
          <p:nvPr/>
        </p:nvSpPr>
        <p:spPr>
          <a:xfrm>
            <a:off x="1134800" y="-8257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10.7.6 Wrap-Up: Reflection</a:t>
            </a:r>
            <a:endParaRPr/>
          </a:p>
        </p:txBody>
      </p:sp>
      <p:pic>
        <p:nvPicPr>
          <p:cNvPr id="339" name="Google Shape;339;p34"/>
          <p:cNvPicPr preferRelativeResize="0"/>
          <p:nvPr/>
        </p:nvPicPr>
        <p:blipFill rotWithShape="1">
          <a:blip r:embed="rId5">
            <a:alphaModFix/>
          </a:blip>
          <a:srcRect/>
          <a:stretch/>
        </p:blipFill>
        <p:spPr>
          <a:xfrm>
            <a:off x="305350" y="60325"/>
            <a:ext cx="747300" cy="747300"/>
          </a:xfrm>
          <a:prstGeom prst="rect">
            <a:avLst/>
          </a:prstGeom>
          <a:noFill/>
          <a:ln>
            <a:noFill/>
          </a:ln>
        </p:spPr>
      </p:pic>
      <p:sp>
        <p:nvSpPr>
          <p:cNvPr id="340" name="Google Shape;340;p34"/>
          <p:cNvSpPr txBox="1"/>
          <p:nvPr/>
        </p:nvSpPr>
        <p:spPr>
          <a:xfrm>
            <a:off x="465247" y="1243125"/>
            <a:ext cx="10242081" cy="738900"/>
          </a:xfrm>
          <a:prstGeom prst="rect">
            <a:avLst/>
          </a:prstGeom>
          <a:noFill/>
          <a:ln>
            <a:noFill/>
          </a:ln>
        </p:spPr>
        <p:txBody>
          <a:bodyPr spcFirstLastPara="1" wrap="square" lIns="91425" tIns="45700" rIns="91425" bIns="45700" anchor="t" anchorCtr="0">
            <a:spAutoFit/>
          </a:bodyPr>
          <a:lstStyle/>
          <a:p>
            <a:r>
              <a:rPr lang="en-US" sz="2100">
                <a:latin typeface="Verdana"/>
                <a:ea typeface="Verdana"/>
                <a:cs typeface="Verdana"/>
                <a:sym typeface="Verdana"/>
              </a:rPr>
              <a:t>Draw an X on each line to indicate where your current learning is in relation to solving problems involving chords.</a:t>
            </a:r>
            <a:endParaRPr sz="1100"/>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587</Words>
  <Application>Microsoft Office PowerPoint</Application>
  <PresentationFormat>Widescreen</PresentationFormat>
  <Paragraphs>96</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Calibri</vt:lpstr>
      <vt:lpstr>Cambria</vt:lpstr>
      <vt:lpstr>Arial Black</vt:lpstr>
      <vt:lpstr>Verdana</vt:lpstr>
      <vt:lpstr>Arial</vt:lpstr>
      <vt:lpstr>Cambria Math</vt:lpstr>
      <vt:lpstr>1_Office Theme</vt:lpstr>
      <vt:lpstr>Geometry  Unit 10, Lesson 7  Solving Problems Involving Intersecting Chords  Volume 2, pg. 153  </vt:lpstr>
      <vt:lpstr>Benchmark</vt:lpstr>
      <vt:lpstr>PowerPoint Presentation</vt:lpstr>
      <vt:lpstr>PowerPoint Presentation</vt:lpstr>
      <vt:lpstr>Warm-Up</vt:lpstr>
      <vt:lpstr>PowerPoint Presentation</vt:lpstr>
      <vt:lpstr>Exploration</vt:lpstr>
      <vt:lpstr>PowerPoint Presentation</vt:lpstr>
      <vt:lpstr>PowerPoint Presentation</vt:lpstr>
      <vt:lpstr>Collaboration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Geometry  Unit 10, Lesson 7  Solving Problems Involving Intersecting Chords  Volume 2, pg. 153</dc:title>
  <dc:creator>Karen McKenzie</dc:creator>
  <cp:lastModifiedBy>Cassie O'Connor</cp:lastModifiedBy>
  <cp:revision>4</cp:revision>
  <dcterms:created xsi:type="dcterms:W3CDTF">2015-03-17T18:51:18Z</dcterms:created>
  <dcterms:modified xsi:type="dcterms:W3CDTF">2022-07-04T17:44:10Z</dcterms:modified>
</cp:coreProperties>
</file>