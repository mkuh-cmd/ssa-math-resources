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17" r:id="rId12"/>
    <p:sldId id="319" r:id="rId13"/>
    <p:sldId id="320" r:id="rId14"/>
    <p:sldId id="302" r:id="rId15"/>
    <p:sldId id="303" r:id="rId16"/>
    <p:sldId id="309" r:id="rId17"/>
    <p:sldId id="306" r:id="rId18"/>
    <p:sldId id="307" r:id="rId19"/>
  </p:sldIdLst>
  <p:sldSz cx="12192000" cy="6858000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65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44" autoAdjust="0"/>
    <p:restoredTop sz="94591" autoAdjust="0"/>
  </p:normalViewPr>
  <p:slideViewPr>
    <p:cSldViewPr snapToGrid="0">
      <p:cViewPr varScale="1">
        <p:scale>
          <a:sx n="83" d="100"/>
          <a:sy n="83" d="100"/>
        </p:scale>
        <p:origin x="107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2987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9963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3060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8486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0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H1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Constructing Tangent Lines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169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677" y="1603831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MA.912.GR.5.5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Given a point outside a circle, construct a line tangent to the circle that passes through the given point. 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96049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D47EFAA-EBCC-AD46-B3D8-0B04F704A43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43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268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71055" y="1600200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can construct a line tangent to a circle that passes through a given point outside the circle.  </a:t>
            </a:r>
            <a:endParaRPr lang="en-US" sz="35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1D1EBD0-827A-CD46-BC6C-C3793B6BEC0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3707601-D78F-024F-AF25-D5F771736F1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303390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10.H1.1 Warm-Up: Radio Signals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316751"/>
                <a:ext cx="10930676" cy="3850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Two-way radio communications help climbers stay in touch with base camp and contact the other expeditioners climbing Mt. Everest. The separate expeditions reserve a central channel where the various groups can share information on weather conditions and route changes or call for rescue.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shows the maximum theoretical range of a radio signal, in miles, using a line-of-sight calculation, which considers the curvature of the Earth and presumes the earth to be a perfect sphere – which of course it is not. This also assumes the radio signal is transmitted with sufficient power that maintains enough energy to travel the distance.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2000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𝐻𝑜𝑟𝑖𝑧𝑜𝑛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𝑚𝑖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)=1.23×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h𝑒𝑖𝑔h𝑡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16751"/>
                <a:ext cx="10930676" cy="3850606"/>
              </a:xfrm>
              <a:prstGeom prst="rect">
                <a:avLst/>
              </a:prstGeom>
              <a:blipFill>
                <a:blip r:embed="rId5"/>
                <a:stretch>
                  <a:fillRect l="-613" t="-1108" r="-725" b="-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C740A2E7-BABE-194C-9167-205C5605E66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1961150"/>
            <a:ext cx="107461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formula to find the distance the radio signal would go based on your height.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the relationship of the radio signal range (red line) and Earth.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BF24C8-948B-0547-9EBC-AEA5E82EC36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103683" y="317595"/>
            <a:ext cx="7200900" cy="1485900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779618E-EF48-7E45-A952-330BD48C17F8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78CBE7D-AB5D-AC40-9DF8-DBFC261CC1D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71E738E-9D12-244A-840A-5E132EE7353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58330" y="929911"/>
            <a:ext cx="3569820" cy="3097344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04858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10.H1.2 Collaboration: Tangent Lines of Circles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469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7992529" cy="3629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with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tangent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two facts about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tangent line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𝑅𝐾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18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Share your facts with your partner and write down one additional fact.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7992529" cy="3629583"/>
              </a:xfrm>
              <a:prstGeom prst="rect">
                <a:avLst/>
              </a:prstGeom>
              <a:blipFill>
                <a:blip r:embed="rId6"/>
                <a:stretch>
                  <a:fillRect l="-839" b="-1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72D788-F9CE-4340-A870-C08CE0989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62183"/>
              </p:ext>
            </p:extLst>
          </p:nvPr>
        </p:nvGraphicFramePr>
        <p:xfrm>
          <a:off x="1609887" y="2704825"/>
          <a:ext cx="6120000" cy="1440000"/>
        </p:xfrm>
        <a:graphic>
          <a:graphicData uri="http://schemas.openxmlformats.org/drawingml/2006/table">
            <a:tbl>
              <a:tblPr firstRow="1" firstCol="1" bandRow="1"/>
              <a:tblGrid>
                <a:gridCol w="6120000">
                  <a:extLst>
                    <a:ext uri="{9D8B030D-6E8A-4147-A177-3AD203B41FA5}">
                      <a16:colId xmlns:a16="http://schemas.microsoft.com/office/drawing/2014/main" val="146218213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90685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775577"/>
                  </a:ext>
                </a:extLst>
              </a:tr>
            </a:tbl>
          </a:graphicData>
        </a:graphic>
      </p:graphicFrame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E85C311D-72C8-564E-80B4-B4D8E85E429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4E06CE1-0962-8446-9F63-98745CA38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754132"/>
              </p:ext>
            </p:extLst>
          </p:nvPr>
        </p:nvGraphicFramePr>
        <p:xfrm>
          <a:off x="1609887" y="5207286"/>
          <a:ext cx="6120000" cy="720000"/>
        </p:xfrm>
        <a:graphic>
          <a:graphicData uri="http://schemas.openxmlformats.org/drawingml/2006/table">
            <a:tbl>
              <a:tblPr firstRow="1" firstCol="1" bandRow="1"/>
              <a:tblGrid>
                <a:gridCol w="6120000">
                  <a:extLst>
                    <a:ext uri="{9D8B030D-6E8A-4147-A177-3AD203B41FA5}">
                      <a16:colId xmlns:a16="http://schemas.microsoft.com/office/drawing/2014/main" val="5992839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318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832713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line tangent to a circle touches a </a:t>
            </a:r>
          </a:p>
          <a:p>
            <a:pPr marL="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at point(s), and the line </a:t>
            </a:r>
          </a:p>
          <a:p>
            <a:pPr marL="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  			 to the radius of the circle.   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16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49">
            <a:extLst>
              <a:ext uri="{FF2B5EF4-FFF2-40B4-BE49-F238E27FC236}">
                <a16:creationId xmlns:a16="http://schemas.microsoft.com/office/drawing/2014/main" id="{1D1A2611-1DDE-E848-ADF9-430BD6496A97}"/>
              </a:ext>
            </a:extLst>
          </p:cNvPr>
          <p:cNvSpPr/>
          <p:nvPr/>
        </p:nvSpPr>
        <p:spPr>
          <a:xfrm>
            <a:off x="5841201" y="1839621"/>
            <a:ext cx="1440947" cy="1283541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73050" indent="-273050">
              <a:buClrTx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</a:t>
            </a:r>
          </a:p>
          <a:p>
            <a:pPr marL="273050" indent="-273050">
              <a:buClrTx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</a:t>
            </a:r>
          </a:p>
          <a:p>
            <a:pPr marL="273050" indent="-273050">
              <a:spcAft>
                <a:spcPts val="1000"/>
              </a:spcAft>
              <a:buClrTx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</a:t>
            </a:r>
          </a:p>
        </p:txBody>
      </p:sp>
      <p:sp>
        <p:nvSpPr>
          <p:cNvPr id="16" name="Rectangle: Rounded Corners 3">
            <a:extLst>
              <a:ext uri="{FF2B5EF4-FFF2-40B4-BE49-F238E27FC236}">
                <a16:creationId xmlns:a16="http://schemas.microsoft.com/office/drawing/2014/main" id="{0239E54D-5E49-C249-A25D-DD5FD367C9C5}"/>
              </a:ext>
            </a:extLst>
          </p:cNvPr>
          <p:cNvSpPr/>
          <p:nvPr/>
        </p:nvSpPr>
        <p:spPr>
          <a:xfrm>
            <a:off x="1560811" y="3089606"/>
            <a:ext cx="2742167" cy="980470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73050" indent="-273050">
              <a:buClrTx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parallel</a:t>
            </a:r>
          </a:p>
          <a:p>
            <a:pPr marL="273050" indent="-273050">
              <a:spcAft>
                <a:spcPts val="1000"/>
              </a:spcAft>
              <a:buClrTx/>
              <a:buFont typeface="Courier New" panose="02070309020205020404" pitchFamily="49" charset="0"/>
              <a:buChar char="o"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perpendicular</a:t>
            </a:r>
          </a:p>
        </p:txBody>
      </p: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51FCF3D2-76A4-2040-8EE3-251741C1F58C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112305" y="296983"/>
            <a:ext cx="3493622" cy="2474134"/>
            <a:chOff x="2656308" y="3073781"/>
            <a:chExt cx="3493622" cy="24741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A7548CA-CD91-0543-A8E1-44666C8FD8BD}"/>
                </a:ext>
              </a:extLst>
            </p:cNvPr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3420"/>
            <a:stretch/>
          </p:blipFill>
          <p:spPr>
            <a:xfrm>
              <a:off x="5286704" y="3073782"/>
              <a:ext cx="863226" cy="247413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7548CA-CD91-0543-A8E1-44666C8FD8BD}"/>
                </a:ext>
              </a:extLst>
            </p:cNvPr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265"/>
            <a:stretch/>
          </p:blipFill>
          <p:spPr>
            <a:xfrm>
              <a:off x="2656308" y="3073781"/>
              <a:ext cx="2745560" cy="2474133"/>
            </a:xfrm>
            <a:prstGeom prst="rect">
              <a:avLst/>
            </a:prstGeom>
          </p:spPr>
        </p:pic>
      </p:grp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775727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construct a line tangent to a circle, you need a compass and a ruler.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Work with your partner and use the steps below to construct a line that is tangent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goes through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7757274" cy="1938992"/>
              </a:xfrm>
              <a:prstGeom prst="rect">
                <a:avLst/>
              </a:prstGeom>
              <a:blipFill>
                <a:blip r:embed="rId5"/>
                <a:stretch>
                  <a:fillRect l="-865"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A842359-20EF-F644-BFC8-34CF6B0E1E07}"/>
              </a:ext>
            </a:extLst>
          </p:cNvPr>
          <p:cNvSpPr txBox="1"/>
          <p:nvPr/>
        </p:nvSpPr>
        <p:spPr>
          <a:xfrm>
            <a:off x="886770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A76D436-B7A3-F947-BEF4-49491DF889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0992733"/>
                  </p:ext>
                </p:extLst>
              </p:nvPr>
            </p:nvGraphicFramePr>
            <p:xfrm>
              <a:off x="1135100" y="2852600"/>
              <a:ext cx="7346451" cy="334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06451">
                      <a:extLst>
                        <a:ext uri="{9D8B030D-6E8A-4147-A177-3AD203B41FA5}">
                          <a16:colId xmlns:a16="http://schemas.microsoft.com/office/drawing/2014/main" val="4028523290"/>
                        </a:ext>
                      </a:extLst>
                    </a:gridCol>
                    <a:gridCol w="6840000">
                      <a:extLst>
                        <a:ext uri="{9D8B030D-6E8A-4147-A177-3AD203B41FA5}">
                          <a16:colId xmlns:a16="http://schemas.microsoft.com/office/drawing/2014/main" val="9841565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Use the ruler to draw a line from the center,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to the given point.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5361386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2.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Construct the perpendicular bisector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𝑆𝐴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find its midpoint.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441575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3.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Set the compass width to the distance from the midpoint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𝑆𝐴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the circle’s center,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2543683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Keeping the compass at the midpoint, mark an arc across the circle at two places, creating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0506051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5.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Draw the two tangent lines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01867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AA76D436-B7A3-F947-BEF4-49491DF889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0992733"/>
                  </p:ext>
                </p:extLst>
              </p:nvPr>
            </p:nvGraphicFramePr>
            <p:xfrm>
              <a:off x="1135100" y="2852600"/>
              <a:ext cx="7346451" cy="334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06451">
                      <a:extLst>
                        <a:ext uri="{9D8B030D-6E8A-4147-A177-3AD203B41FA5}">
                          <a16:colId xmlns:a16="http://schemas.microsoft.com/office/drawing/2014/main" val="4028523290"/>
                        </a:ext>
                      </a:extLst>
                    </a:gridCol>
                    <a:gridCol w="6840000">
                      <a:extLst>
                        <a:ext uri="{9D8B030D-6E8A-4147-A177-3AD203B41FA5}">
                          <a16:colId xmlns:a16="http://schemas.microsoft.com/office/drawing/2014/main" val="98415650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569" t="-2542" r="-267" b="-3762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61386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2.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569" t="-101681" r="-267" b="-2731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441575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3.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569" t="-203390" r="-267" b="-175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543683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569" t="-300840" r="-267" b="-739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5060513"/>
                      </a:ext>
                    </a:extLst>
                  </a:tr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5.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569" t="-619481" r="-267" b="-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1867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3497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19809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8890"/>
                <a:ext cx="1096113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Jamie wrote the steps for constructing a line tangent to a circle on note cards, including the steps of the perpendicular bisector, but the cards got out of order.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order the steps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1−8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8890"/>
                <a:ext cx="10961136" cy="1323439"/>
              </a:xfrm>
              <a:prstGeom prst="rect">
                <a:avLst/>
              </a:prstGeom>
              <a:blipFill>
                <a:blip r:embed="rId4"/>
                <a:stretch>
                  <a:fillRect l="-612" t="-3226" r="-501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FCD29E-04C9-7C4B-86DD-ADFFF0F9F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754183"/>
              </p:ext>
            </p:extLst>
          </p:nvPr>
        </p:nvGraphicFramePr>
        <p:xfrm>
          <a:off x="1511393" y="1919624"/>
          <a:ext cx="7127639" cy="4353638"/>
        </p:xfrm>
        <a:graphic>
          <a:graphicData uri="http://schemas.openxmlformats.org/drawingml/2006/table">
            <a:tbl>
              <a:tblPr firstRow="1" firstCol="1" bandRow="1"/>
              <a:tblGrid>
                <a:gridCol w="963194">
                  <a:extLst>
                    <a:ext uri="{9D8B030D-6E8A-4147-A177-3AD203B41FA5}">
                      <a16:colId xmlns:a16="http://schemas.microsoft.com/office/drawing/2014/main" val="201122564"/>
                    </a:ext>
                  </a:extLst>
                </a:gridCol>
                <a:gridCol w="6164445">
                  <a:extLst>
                    <a:ext uri="{9D8B030D-6E8A-4147-A177-3AD203B41FA5}">
                      <a16:colId xmlns:a16="http://schemas.microsoft.com/office/drawing/2014/main" val="3396702336"/>
                    </a:ext>
                  </a:extLst>
                </a:gridCol>
              </a:tblGrid>
              <a:tr h="11558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61" marR="97861" marT="48930" marB="489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Place the compass on the midpoint of the line segment and adjust its lengths to reach the center. </a:t>
                      </a:r>
                      <a:endParaRPr lang="en-US" sz="2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61" marR="97861" marT="48930" marB="489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659100"/>
                  </a:ext>
                </a:extLst>
              </a:tr>
              <a:tr h="11558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61" marR="97861" marT="48930" marB="489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Place the compass at one end of the line segment and adjust the compass to slightly longer than half the line segment.</a:t>
                      </a:r>
                      <a:endParaRPr lang="en-US" sz="2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61" marR="97861" marT="48930" marB="489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54417"/>
                  </a:ext>
                </a:extLst>
              </a:tr>
              <a:tr h="115583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61" marR="97861" marT="48930" marB="489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Place the ruler where the arcs are above and below the line cross, and draw the perpendicular line. </a:t>
                      </a:r>
                      <a:endParaRPr lang="en-US" sz="2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61" marR="97861" marT="48930" marB="489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298496"/>
                  </a:ext>
                </a:extLst>
              </a:tr>
              <a:tr h="8861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61" marR="97861" marT="48930" marB="489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Keeping the same width and compass point at the midpoint, draw a circle. </a:t>
                      </a:r>
                      <a:endParaRPr lang="en-US" sz="21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861" marR="97861" marT="48930" marB="489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772702B-595C-894D-8A08-8F81BA7DFD57}"/>
              </a:ext>
            </a:extLst>
          </p:cNvPr>
          <p:cNvSpPr txBox="1"/>
          <p:nvPr/>
        </p:nvSpPr>
        <p:spPr>
          <a:xfrm>
            <a:off x="8867701" y="645516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495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615858" y="3989612"/>
            <a:ext cx="83271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Jamie’s method is different. 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why Jamie’s method works.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E619995-AAA8-4B4E-8711-536CB8886FD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8270E3-076B-6E46-9912-DE29B1923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06707"/>
              </p:ext>
            </p:extLst>
          </p:nvPr>
        </p:nvGraphicFramePr>
        <p:xfrm>
          <a:off x="1524505" y="325721"/>
          <a:ext cx="6660000" cy="3453840"/>
        </p:xfrm>
        <a:graphic>
          <a:graphicData uri="http://schemas.openxmlformats.org/drawingml/2006/table">
            <a:tbl>
              <a:tblPr firstRow="1" firstCol="1" bandRow="1"/>
              <a:tblGrid>
                <a:gridCol w="900000">
                  <a:extLst>
                    <a:ext uri="{9D8B030D-6E8A-4147-A177-3AD203B41FA5}">
                      <a16:colId xmlns:a16="http://schemas.microsoft.com/office/drawing/2014/main" val="349897994"/>
                    </a:ext>
                  </a:extLst>
                </a:gridCol>
                <a:gridCol w="5760000">
                  <a:extLst>
                    <a:ext uri="{9D8B030D-6E8A-4147-A177-3AD203B41FA5}">
                      <a16:colId xmlns:a16="http://schemas.microsoft.com/office/drawing/2014/main" val="327890066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Draw arcs above and below the line. 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084608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Where the new circle crosses the original circle, create a point and draw the tangent line. 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39912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Draw a line connecting the center of the circle and the point outside the circle. 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48371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Keeping the same compass width, draw arcs above and below the line from the other end of the line segment. 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813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02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5D312DE-A9DE-524D-B6BA-A842C832CCB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10.H1.3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7" y="1104156"/>
                <a:ext cx="1054332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outside the circle, construct a line tangent to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going through point using Jamie’s method. </a:t>
                </a: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104156"/>
                <a:ext cx="10543325" cy="830997"/>
              </a:xfrm>
              <a:prstGeom prst="rect">
                <a:avLst/>
              </a:prstGeom>
              <a:blipFill>
                <a:blip r:embed="rId5"/>
                <a:stretch>
                  <a:fillRect l="-867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1AC98F8-2FB4-1340-81A1-57DE50A275B2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028" y="2231684"/>
            <a:ext cx="5655310" cy="3059430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83E93A17-003C-C240-AF32-4037F0270BF1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58471" y="398473"/>
                <a:ext cx="10800931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Naomi and Xavier were practicing constructing a line tangent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going through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but their results did not match.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Who correctly drew a line tangent 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going through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the mistake the other student made.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71" y="398473"/>
                <a:ext cx="10800931" cy="5324535"/>
              </a:xfrm>
              <a:prstGeom prst="rect">
                <a:avLst/>
              </a:prstGeom>
              <a:blipFill>
                <a:blip r:embed="rId3"/>
                <a:stretch>
                  <a:fillRect l="-621" t="-686" b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360B49-BCA1-034E-9DF9-68406CBF6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6050"/>
              </p:ext>
            </p:extLst>
          </p:nvPr>
        </p:nvGraphicFramePr>
        <p:xfrm>
          <a:off x="1077728" y="1249128"/>
          <a:ext cx="7200000" cy="2856012"/>
        </p:xfrm>
        <a:graphic>
          <a:graphicData uri="http://schemas.openxmlformats.org/drawingml/2006/table">
            <a:tbl>
              <a:tblPr firstRow="1" firstCol="1"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val="1848736942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4232721377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Naomi’s Construction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Xavier’s Construction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616229"/>
                  </a:ext>
                </a:extLst>
              </a:tr>
              <a:tr h="238801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4692599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-676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6C6226-C4A5-314F-83FA-D8D098FA7513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3490" y="1791759"/>
            <a:ext cx="2969260" cy="2238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DFBC8-57F6-3B49-A1CB-1F839E91F049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0393" y="1791759"/>
            <a:ext cx="3049226" cy="2238375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15487F07-A8F4-B647-84CD-85B48608DC3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5F0A2D5-A571-674A-8FAA-85CE089C0C08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541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2548" y="-204162"/>
            <a:ext cx="103069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10.H1.4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809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88707" y="1326259"/>
                <a:ext cx="106706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ct val="100000"/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outside the circle, construct a line tangent to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going through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endParaRPr lang="en-US" sz="16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07" y="1326259"/>
                <a:ext cx="10670696" cy="830997"/>
              </a:xfrm>
              <a:prstGeom prst="rect">
                <a:avLst/>
              </a:prstGeom>
              <a:blipFill>
                <a:blip r:embed="rId5"/>
                <a:stretch>
                  <a:fillRect l="-914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3E37542-3F76-9144-87F7-A4F59B92B10B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1065" y="2361977"/>
            <a:ext cx="5353685" cy="3419475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460F884E-ACA9-BE4A-83D9-B7106364395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987</Words>
  <Application>Microsoft Office PowerPoint</Application>
  <PresentationFormat>Widescreen</PresentationFormat>
  <Paragraphs>150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Wingdings</vt:lpstr>
      <vt:lpstr>Cambria</vt:lpstr>
      <vt:lpstr>Courier New</vt:lpstr>
      <vt:lpstr>Arial Black</vt:lpstr>
      <vt:lpstr>Calibri</vt:lpstr>
      <vt:lpstr>Verdana</vt:lpstr>
      <vt:lpstr>Century Gothic</vt:lpstr>
      <vt:lpstr>Cambria Math</vt:lpstr>
      <vt:lpstr>1_Office Theme</vt:lpstr>
      <vt:lpstr>Geometry  Unit 10, Lesson H1  Constructing Tangent Lines  Volume 2, pg. 169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18</cp:revision>
  <dcterms:created xsi:type="dcterms:W3CDTF">2015-03-17T18:51:18Z</dcterms:created>
  <dcterms:modified xsi:type="dcterms:W3CDTF">2022-07-04T17:46:35Z</dcterms:modified>
</cp:coreProperties>
</file>