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288" r:id="rId8"/>
    <p:sldId id="311" r:id="rId9"/>
    <p:sldId id="312" r:id="rId10"/>
    <p:sldId id="313" r:id="rId11"/>
    <p:sldId id="326" r:id="rId12"/>
    <p:sldId id="327" r:id="rId13"/>
    <p:sldId id="328" r:id="rId14"/>
    <p:sldId id="329" r:id="rId15"/>
    <p:sldId id="330" r:id="rId16"/>
    <p:sldId id="323" r:id="rId17"/>
    <p:sldId id="324" r:id="rId18"/>
    <p:sldId id="325" r:id="rId19"/>
    <p:sldId id="331" r:id="rId20"/>
    <p:sldId id="302" r:id="rId21"/>
    <p:sldId id="303" r:id="rId22"/>
    <p:sldId id="309" r:id="rId23"/>
    <p:sldId id="306" r:id="rId24"/>
    <p:sldId id="307"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431" autoAdjust="0"/>
    <p:restoredTop sz="94622"/>
  </p:normalViewPr>
  <p:slideViewPr>
    <p:cSldViewPr snapToGrid="0">
      <p:cViewPr varScale="1">
        <p:scale>
          <a:sx n="82" d="100"/>
          <a:sy n="82" d="100"/>
        </p:scale>
        <p:origin x="176" y="736"/>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55" Type="http://customschemas.google.com/relationships/presentationmetadata" Target="metadata"/><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03380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38265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3988686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070437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364399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37234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3290912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786517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84842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712485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540458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5.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17.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70.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image" Target="../media/image19.jpe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0.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22.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3.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4.png"/><Relationship Id="rId5" Type="http://schemas.openxmlformats.org/officeDocument/2006/relationships/image" Target="../media/image25.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50.png"/><Relationship Id="rId5" Type="http://schemas.openxmlformats.org/officeDocument/2006/relationships/image" Target="../media/image26.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7.pn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28.png"/><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9.png"/><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0.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0.png"/><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10, Lesson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Sectors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119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12701"/>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xmlns=""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a:ea typeface="Verdana"/>
                <a:cs typeface="Verdana"/>
                <a:sym typeface="Verdana"/>
              </a:rPr>
              <a:t>MA.912.GR.6.4</a:t>
            </a:r>
          </a:p>
          <a:p>
            <a:pPr indent="0">
              <a:buNone/>
            </a:pPr>
            <a:r>
              <a:rPr lang="en-US" sz="3200" dirty="0">
                <a:solidFill>
                  <a:schemeClr val="tx1"/>
                </a:solidFill>
                <a:latin typeface="Verdana"/>
                <a:ea typeface="Verdana"/>
                <a:cs typeface="Verdana"/>
                <a:sym typeface="Verdana"/>
              </a:rPr>
              <a:t>Solve mathematical and real-world problems involving the arc length and area of a sector in a given circle.</a:t>
            </a:r>
            <a:endParaRPr lang="en-US" sz="32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25199" y="129667"/>
            <a:ext cx="872672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01760" y="1596390"/>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2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0565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274413"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457200" y="1600200"/>
            <a:ext cx="111709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200" dirty="0">
                <a:latin typeface="Verdana" panose="020B0604030504040204" pitchFamily="34" charset="0"/>
                <a:ea typeface="Verdana" panose="020B0604030504040204" pitchFamily="34" charset="0"/>
                <a:cs typeface="Verdana" panose="020B0604030504040204" pitchFamily="34" charset="0"/>
              </a:rPr>
              <a:t>I can define a sector of a circle.</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457200" indent="-450850">
              <a:buClr>
                <a:srgbClr val="434343"/>
              </a:buClr>
              <a:buSzPts val="3500"/>
              <a:buFont typeface="Verdana"/>
              <a:buChar char="❏"/>
            </a:pPr>
            <a:r>
              <a:rPr lang="en-US" sz="3200" dirty="0">
                <a:latin typeface="Verdana" panose="020B0604030504040204" pitchFamily="34" charset="0"/>
                <a:ea typeface="Verdana" panose="020B0604030504040204" pitchFamily="34" charset="0"/>
                <a:cs typeface="Verdana" panose="020B0604030504040204" pitchFamily="34" charset="0"/>
              </a:rPr>
              <a:t>I can explain how the area of a sector is defined as a fractional part of the area of a circle.</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10.1.1 Warm-Up: Pac-Man</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xmlns="" id="{E1D7562E-134F-D14B-AF1A-DF40E11EF758}"/>
              </a:ext>
            </a:extLst>
          </p:cNvPr>
          <p:cNvSpPr txBox="1"/>
          <p:nvPr/>
        </p:nvSpPr>
        <p:spPr>
          <a:xfrm>
            <a:off x="593249" y="1386026"/>
            <a:ext cx="7061164" cy="2123658"/>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The classic and popular Pac-Man video game was released in Japan in May of 1980 and was in the United States by October of that same year. The yellow, pie-shaped character travels around a maze trying to eat dots while avoiding the ghosts hunting him. </a:t>
            </a:r>
          </a:p>
        </p:txBody>
      </p:sp>
      <p:pic>
        <p:nvPicPr>
          <p:cNvPr id="3" name="Picture 2">
            <a:extLst>
              <a:ext uri="{FF2B5EF4-FFF2-40B4-BE49-F238E27FC236}">
                <a16:creationId xmlns:a16="http://schemas.microsoft.com/office/drawing/2014/main" xmlns="" id="{62BFE169-7D1A-B04C-997B-97E6A0184237}"/>
              </a:ext>
            </a:extLst>
          </p:cNvPr>
          <p:cNvPicPr>
            <a:picLocks noChangeAspect="1"/>
          </p:cNvPicPr>
          <p:nvPr/>
        </p:nvPicPr>
        <p:blipFill>
          <a:blip r:embed="rId5"/>
          <a:stretch>
            <a:fillRect/>
          </a:stretch>
        </p:blipFill>
        <p:spPr>
          <a:xfrm>
            <a:off x="7812909" y="1386025"/>
            <a:ext cx="3436883" cy="448899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40566" y="520393"/>
            <a:ext cx="11087584" cy="4832092"/>
          </a:xfrm>
          <a:prstGeom prst="rect">
            <a:avLst/>
          </a:prstGeom>
          <a:noFill/>
        </p:spPr>
        <p:txBody>
          <a:bodyPr wrap="square" rtlCol="0">
            <a:spAutoFit/>
          </a:bodyPr>
          <a:lstStyle/>
          <a:p>
            <a:pPr marL="15875"/>
            <a:endParaRPr lang="en-US" sz="2200" dirty="0">
              <a:latin typeface="Verdana" panose="020B0604030504040204" pitchFamily="34" charset="0"/>
              <a:ea typeface="Verdana" panose="020B0604030504040204" pitchFamily="34" charset="0"/>
              <a:cs typeface="Verdana" panose="020B0604030504040204" pitchFamily="34" charset="0"/>
            </a:endParaRPr>
          </a:p>
          <a:p>
            <a:pPr marL="473075" indent="-457200">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73075" indent="-457200">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73075" indent="-457200">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73075" indent="-457200">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73075" indent="-457200">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73075" indent="-457200">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73075" indent="-457200">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73075" indent="-457200">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What do you notice about Pac-Man’s body as he opens and closes his mouth to eat the dots?</a:t>
            </a:r>
          </a:p>
          <a:p>
            <a:pPr marL="473075" indent="-457200">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73075" indent="-457200">
              <a:buFont typeface="Arial"/>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73075" indent="-457200">
              <a:buFont typeface="Arial"/>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73075" indent="-457200">
              <a:buFont typeface="Arial"/>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What do you wonder as you watch Pac-Man move around the maze?</a:t>
            </a:r>
          </a:p>
        </p:txBody>
      </p:sp>
      <p:pic>
        <p:nvPicPr>
          <p:cNvPr id="2" name="Picture 1">
            <a:extLst>
              <a:ext uri="{FF2B5EF4-FFF2-40B4-BE49-F238E27FC236}">
                <a16:creationId xmlns:a16="http://schemas.microsoft.com/office/drawing/2014/main" xmlns="" id="{9F063892-D4DC-024F-92E0-D2D13368F76C}"/>
              </a:ext>
            </a:extLst>
          </p:cNvPr>
          <p:cNvPicPr>
            <a:picLocks noChangeAspect="1"/>
          </p:cNvPicPr>
          <p:nvPr/>
        </p:nvPicPr>
        <p:blipFill>
          <a:blip r:embed="rId4"/>
          <a:stretch>
            <a:fillRect/>
          </a:stretch>
        </p:blipFill>
        <p:spPr>
          <a:xfrm>
            <a:off x="7753173" y="520393"/>
            <a:ext cx="2273501" cy="2224609"/>
          </a:xfrm>
          <a:prstGeom prst="rect">
            <a:avLst/>
          </a:prstGeom>
        </p:spPr>
      </p:pic>
      <p:sp>
        <p:nvSpPr>
          <p:cNvPr id="4" name="Rectangle 3"/>
          <p:cNvSpPr/>
          <p:nvPr/>
        </p:nvSpPr>
        <p:spPr>
          <a:xfrm>
            <a:off x="540565" y="903876"/>
            <a:ext cx="6494416" cy="769441"/>
          </a:xfrm>
          <a:prstGeom prst="rect">
            <a:avLst/>
          </a:prstGeom>
        </p:spPr>
        <p:txBody>
          <a:bodyPr wrap="square">
            <a:spAutoFit/>
          </a:bodyPr>
          <a:lstStyle/>
          <a:p>
            <a:pPr marL="15875"/>
            <a:r>
              <a:rPr lang="en-US" sz="2200" dirty="0">
                <a:latin typeface="Verdana" panose="020B0604030504040204" pitchFamily="34" charset="0"/>
                <a:ea typeface="Verdana" panose="020B0604030504040204" pitchFamily="34" charset="0"/>
                <a:cs typeface="Verdana" panose="020B0604030504040204" pitchFamily="34" charset="0"/>
              </a:rPr>
              <a:t>Watch the video of Pac-Man going around the maze and eating dots.</a:t>
            </a: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120</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60325"/>
            <a:ext cx="105755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10.1.2 Exploration: Fractions of a Circle</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120</a:t>
            </a:r>
            <a:endParaRPr i="1" dirty="0">
              <a:latin typeface="Calibri"/>
              <a:ea typeface="Calibri"/>
              <a:cs typeface="Calibri"/>
              <a:sym typeface="Calibri"/>
            </a:endParaRPr>
          </a:p>
        </p:txBody>
      </p:sp>
      <p:pic>
        <p:nvPicPr>
          <p:cNvPr id="7"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6352"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152D1D4D-DCB8-A246-B186-D40316579D77}"/>
              </a:ext>
            </a:extLst>
          </p:cNvPr>
          <p:cNvSpPr txBox="1"/>
          <p:nvPr/>
        </p:nvSpPr>
        <p:spPr>
          <a:xfrm>
            <a:off x="593248" y="1386026"/>
            <a:ext cx="8327136" cy="46166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p:txBody>
      </p:sp>
      <p:sp>
        <p:nvSpPr>
          <p:cNvPr id="2" name="TextBox 1">
            <a:extLst>
              <a:ext uri="{FF2B5EF4-FFF2-40B4-BE49-F238E27FC236}">
                <a16:creationId xmlns:a16="http://schemas.microsoft.com/office/drawing/2014/main" xmlns="" id="{6AABCA0A-8CE1-C04C-B689-7906A95F1E9A}"/>
              </a:ext>
            </a:extLst>
          </p:cNvPr>
          <p:cNvSpPr txBox="1"/>
          <p:nvPr/>
        </p:nvSpPr>
        <p:spPr>
          <a:xfrm>
            <a:off x="593249" y="2381267"/>
            <a:ext cx="7208648" cy="193899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Pizza sizes are given in terms of the pizza’s diameter. The standard size for most large circular pizzas is 14 inches (in.) and it is usually cut into 10 triangular slices.</a:t>
            </a:r>
          </a:p>
        </p:txBody>
      </p:sp>
      <p:pic>
        <p:nvPicPr>
          <p:cNvPr id="3" name="Picture 2">
            <a:extLst>
              <a:ext uri="{FF2B5EF4-FFF2-40B4-BE49-F238E27FC236}">
                <a16:creationId xmlns:a16="http://schemas.microsoft.com/office/drawing/2014/main" xmlns="" id="{BBEF8DB5-3CAA-F148-9E8E-5C6CC3117F51}"/>
              </a:ext>
            </a:extLst>
          </p:cNvPr>
          <p:cNvPicPr>
            <a:picLocks noChangeAspect="1"/>
          </p:cNvPicPr>
          <p:nvPr/>
        </p:nvPicPr>
        <p:blipFill>
          <a:blip r:embed="rId5"/>
          <a:stretch>
            <a:fillRect/>
          </a:stretch>
        </p:blipFill>
        <p:spPr>
          <a:xfrm>
            <a:off x="8171946" y="2381267"/>
            <a:ext cx="3073494" cy="2680373"/>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B74EB5C6-2FDE-474B-866F-02AD6706D73C}"/>
                  </a:ext>
                </a:extLst>
              </p:cNvPr>
              <p:cNvSpPr txBox="1"/>
              <p:nvPr/>
            </p:nvSpPr>
            <p:spPr>
              <a:xfrm>
                <a:off x="540565" y="540343"/>
                <a:ext cx="11065362" cy="2092561"/>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approximate area of a 14-inch pizza? Use </a:t>
                </a:r>
                <a14:m>
                  <m:oMath xmlns:m="http://schemas.openxmlformats.org/officeDocument/2006/math">
                    <m:f>
                      <m:fPr>
                        <m:ctrlPr>
                          <a:rPr lang="en-US" sz="2400" i="1">
                            <a:latin typeface="Cambria Math"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22</m:t>
                        </m:r>
                      </m:num>
                      <m:den>
                        <m:r>
                          <a:rPr lang="en-US" sz="2400" i="1">
                            <a:latin typeface="Cambria Math" panose="02040503050406030204" pitchFamily="18" charset="0"/>
                            <a:ea typeface="Cambria Math" panose="02040503050406030204" pitchFamily="18" charset="0"/>
                          </a:rPr>
                          <m:t>7</m:t>
                        </m:r>
                      </m:den>
                    </m:f>
                  </m:oMath>
                </a14:m>
                <a:r>
                  <a:rPr lang="en-US" sz="2400" dirty="0">
                    <a:latin typeface="Verdana" panose="020B0604030504040204" pitchFamily="34" charset="0"/>
                    <a:ea typeface="Verdana" panose="020B0604030504040204" pitchFamily="34" charset="0"/>
                    <a:cs typeface="Verdana" panose="020B0604030504040204" pitchFamily="34" charset="0"/>
                  </a:rPr>
                  <a:t> for 𝜋.</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If the slices are cut precisely and equally, what fraction and percentage of the pizza is </a:t>
                </a:r>
                <a:r>
                  <a:rPr lang="en-US" sz="2400" dirty="0">
                    <a:latin typeface="Cambria Math" panose="02040503050406030204" pitchFamily="18" charset="0"/>
                    <a:ea typeface="Cambria Math" panose="02040503050406030204" pitchFamily="18" charset="0"/>
                    <a:cs typeface="Verdana" panose="020B0604030504040204" pitchFamily="34" charset="0"/>
                  </a:rPr>
                  <a:t>5</a:t>
                </a:r>
                <a:r>
                  <a:rPr lang="en-US" sz="2400" dirty="0">
                    <a:latin typeface="Verdana" panose="020B0604030504040204" pitchFamily="34" charset="0"/>
                    <a:ea typeface="Verdana" panose="020B0604030504040204" pitchFamily="34" charset="0"/>
                    <a:cs typeface="Verdana" panose="020B0604030504040204" pitchFamily="34" charset="0"/>
                  </a:rPr>
                  <a:t> slices?</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5" y="540343"/>
                <a:ext cx="11065362" cy="2092561"/>
              </a:xfrm>
              <a:prstGeom prst="rect">
                <a:avLst/>
              </a:prstGeom>
              <a:blipFill>
                <a:blip r:embed="rId4"/>
                <a:stretch>
                  <a:fillRect b="-5831"/>
                </a:stretch>
              </a:blipFill>
            </p:spPr>
            <p:txBody>
              <a:bodyPr/>
              <a:lstStyle/>
              <a:p>
                <a:r>
                  <a:rPr lang="en-US">
                    <a:noFill/>
                  </a:rPr>
                  <a:t> </a:t>
                </a:r>
              </a:p>
            </p:txBody>
          </p:sp>
        </mc:Fallback>
      </mc:AlternateContent>
      <p:graphicFrame>
        <p:nvGraphicFramePr>
          <p:cNvPr id="6" name="Table 6">
            <a:extLst>
              <a:ext uri="{FF2B5EF4-FFF2-40B4-BE49-F238E27FC236}">
                <a16:creationId xmlns:a16="http://schemas.microsoft.com/office/drawing/2014/main" xmlns="" id="{34721C9D-B078-D140-A929-C1FA4D30ADF1}"/>
              </a:ext>
            </a:extLst>
          </p:cNvPr>
          <p:cNvGraphicFramePr>
            <a:graphicFrameLocks noGrp="1"/>
          </p:cNvGraphicFramePr>
          <p:nvPr>
            <p:extLst>
              <p:ext uri="{D42A27DB-BD31-4B8C-83A1-F6EECF244321}">
                <p14:modId xmlns:p14="http://schemas.microsoft.com/office/powerpoint/2010/main" val="2477353007"/>
              </p:ext>
            </p:extLst>
          </p:nvPr>
        </p:nvGraphicFramePr>
        <p:xfrm>
          <a:off x="1419749" y="2929536"/>
          <a:ext cx="6763412" cy="1229193"/>
        </p:xfrm>
        <a:graphic>
          <a:graphicData uri="http://schemas.openxmlformats.org/drawingml/2006/table">
            <a:tbl>
              <a:tblPr firstRow="1" bandRow="1">
                <a:tableStyleId>{A91F0D33-8C57-4600-99A7-42BC86742BE1}</a:tableStyleId>
              </a:tblPr>
              <a:tblGrid>
                <a:gridCol w="3381706">
                  <a:extLst>
                    <a:ext uri="{9D8B030D-6E8A-4147-A177-3AD203B41FA5}">
                      <a16:colId xmlns:a16="http://schemas.microsoft.com/office/drawing/2014/main" xmlns="" val="4121625075"/>
                    </a:ext>
                  </a:extLst>
                </a:gridCol>
                <a:gridCol w="3381706">
                  <a:extLst>
                    <a:ext uri="{9D8B030D-6E8A-4147-A177-3AD203B41FA5}">
                      <a16:colId xmlns:a16="http://schemas.microsoft.com/office/drawing/2014/main" xmlns="" val="3132742870"/>
                    </a:ext>
                  </a:extLst>
                </a:gridCol>
              </a:tblGrid>
              <a:tr h="496992">
                <a:tc>
                  <a:txBody>
                    <a:bodyPr/>
                    <a:lstStyle/>
                    <a:p>
                      <a:pPr algn="ctr"/>
                      <a:r>
                        <a:rPr lang="en-US" sz="2400" b="1" dirty="0">
                          <a:latin typeface="Verdana" panose="020B0604030504040204" pitchFamily="34" charset="0"/>
                          <a:ea typeface="Verdana" panose="020B0604030504040204" pitchFamily="34" charset="0"/>
                          <a:cs typeface="Verdana" panose="020B0604030504040204" pitchFamily="34" charset="0"/>
                        </a:rPr>
                        <a:t>Fraction</a:t>
                      </a:r>
                    </a:p>
                  </a:txBody>
                  <a:tcPr marL="108409" marR="108409" marT="54204" marB="54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400" b="1" dirty="0">
                          <a:latin typeface="Verdana" panose="020B0604030504040204" pitchFamily="34" charset="0"/>
                          <a:ea typeface="Verdana" panose="020B0604030504040204" pitchFamily="34" charset="0"/>
                          <a:cs typeface="Verdana" panose="020B0604030504040204" pitchFamily="34" charset="0"/>
                        </a:rPr>
                        <a:t>Percentage</a:t>
                      </a:r>
                    </a:p>
                  </a:txBody>
                  <a:tcPr marL="108409" marR="108409" marT="54204" marB="54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886593279"/>
                  </a:ext>
                </a:extLst>
              </a:tr>
              <a:tr h="732201">
                <a:tc>
                  <a:txBody>
                    <a:bodyPr/>
                    <a:lstStyle/>
                    <a:p>
                      <a:endParaRPr lang="en-US" sz="1700" dirty="0"/>
                    </a:p>
                  </a:txBody>
                  <a:tcPr marL="108409" marR="108409" marT="54204" marB="54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700" dirty="0"/>
                    </a:p>
                  </a:txBody>
                  <a:tcPr marL="108409" marR="108409" marT="54204" marB="54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32949155"/>
                  </a:ext>
                </a:extLst>
              </a:tr>
            </a:tbl>
          </a:graphicData>
        </a:graphic>
      </p:graphicFrame>
    </p:spTree>
    <p:extLst>
      <p:ext uri="{BB962C8B-B14F-4D97-AF65-F5344CB8AC3E}">
        <p14:creationId xmlns:p14="http://schemas.microsoft.com/office/powerpoint/2010/main" val="687834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120</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xmlns="" id="{B74EB5C6-2FDE-474B-866F-02AD6706D73C}"/>
              </a:ext>
            </a:extLst>
          </p:cNvPr>
          <p:cNvSpPr txBox="1"/>
          <p:nvPr/>
        </p:nvSpPr>
        <p:spPr>
          <a:xfrm>
            <a:off x="540565" y="540343"/>
            <a:ext cx="8327136" cy="2677656"/>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area of </a:t>
            </a:r>
            <a:r>
              <a:rPr lang="en-US" sz="2400" dirty="0">
                <a:latin typeface="Cambria Math" panose="02040503050406030204" pitchFamily="18" charset="0"/>
                <a:ea typeface="Cambria Math" panose="02040503050406030204" pitchFamily="18" charset="0"/>
                <a:cs typeface="Verdana" panose="020B0604030504040204" pitchFamily="34" charset="0"/>
              </a:rPr>
              <a:t>5</a:t>
            </a:r>
            <a:r>
              <a:rPr lang="en-US" sz="2400" dirty="0">
                <a:latin typeface="Verdana" panose="020B0604030504040204" pitchFamily="34" charset="0"/>
                <a:ea typeface="Verdana" panose="020B0604030504040204" pitchFamily="34" charset="0"/>
                <a:cs typeface="Verdana" panose="020B0604030504040204" pitchFamily="34" charset="0"/>
              </a:rPr>
              <a:t> slices?</a:t>
            </a: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area of </a:t>
            </a:r>
            <a:r>
              <a:rPr lang="en-US" sz="2400" dirty="0">
                <a:latin typeface="Cambria Math" panose="02040503050406030204" pitchFamily="18" charset="0"/>
                <a:ea typeface="Cambria Math" panose="02040503050406030204" pitchFamily="18" charset="0"/>
                <a:cs typeface="Verdana" panose="020B0604030504040204" pitchFamily="34" charset="0"/>
              </a:rPr>
              <a:t>1</a:t>
            </a:r>
            <a:r>
              <a:rPr lang="en-US" sz="2400" dirty="0">
                <a:latin typeface="Verdana" panose="020B0604030504040204" pitchFamily="34" charset="0"/>
                <a:ea typeface="Verdana" panose="020B0604030504040204" pitchFamily="34" charset="0"/>
                <a:cs typeface="Verdana" panose="020B0604030504040204" pitchFamily="34" charset="0"/>
              </a:rPr>
              <a:t> slice?</a:t>
            </a:r>
          </a:p>
        </p:txBody>
      </p:sp>
    </p:spTree>
    <p:extLst>
      <p:ext uri="{BB962C8B-B14F-4D97-AF65-F5344CB8AC3E}">
        <p14:creationId xmlns:p14="http://schemas.microsoft.com/office/powerpoint/2010/main" val="31647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120</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xmlns="" id="{B74EB5C6-2FDE-474B-866F-02AD6706D73C}"/>
              </a:ext>
            </a:extLst>
          </p:cNvPr>
          <p:cNvSpPr txBox="1"/>
          <p:nvPr/>
        </p:nvSpPr>
        <p:spPr>
          <a:xfrm>
            <a:off x="540564" y="383679"/>
            <a:ext cx="10833287" cy="5847755"/>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The point where a pizza is divided to create precisely equal slices is a central angle.</a:t>
            </a: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The central angle is a fraction of the total 360° in a circle.</a:t>
            </a:r>
          </a:p>
        </p:txBody>
      </p:sp>
      <p:grpSp>
        <p:nvGrpSpPr>
          <p:cNvPr id="8" name="Group 7"/>
          <p:cNvGrpSpPr/>
          <p:nvPr/>
        </p:nvGrpSpPr>
        <p:grpSpPr>
          <a:xfrm>
            <a:off x="818148" y="1181205"/>
            <a:ext cx="7063518" cy="1240436"/>
            <a:chOff x="0" y="1"/>
            <a:chExt cx="7063577" cy="1240436"/>
          </a:xfrm>
        </p:grpSpPr>
        <p:sp>
          <p:nvSpPr>
            <p:cNvPr id="9" name="Rounded Rectangle 8"/>
            <p:cNvSpPr/>
            <p:nvPr/>
          </p:nvSpPr>
          <p:spPr>
            <a:xfrm>
              <a:off x="0" y="1"/>
              <a:ext cx="7063577" cy="1240436"/>
            </a:xfrm>
            <a:prstGeom prst="roundRect">
              <a:avLst>
                <a:gd name="adj" fmla="val 16667"/>
              </a:avLst>
            </a:prstGeom>
            <a:solidFill>
              <a:srgbClr val="D9EAD3"/>
            </a:solidFill>
            <a:ln>
              <a:noFill/>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685800">
                <a:lnSpc>
                  <a:spcPct val="114000"/>
                </a:lnSpc>
                <a:spcAft>
                  <a:spcPts val="1000"/>
                </a:spcAft>
              </a:pPr>
              <a:r>
                <a:rPr lang="tr-TR" sz="2000" dirty="0">
                  <a:solidFill>
                    <a:srgbClr val="6D983E"/>
                  </a:solidFill>
                  <a:latin typeface="Verdana" panose="020B0604030504040204" pitchFamily="34" charset="0"/>
                  <a:ea typeface="Times New Roman" panose="02020603050405020304" pitchFamily="18" charset="0"/>
                  <a:cs typeface="Times New Roman" panose="02020603050405020304" pitchFamily="18" charset="0"/>
                </a:rPr>
                <a:t>A </a:t>
              </a:r>
              <a:r>
                <a:rPr lang="tr-TR" sz="2000" b="1" i="1" dirty="0">
                  <a:solidFill>
                    <a:srgbClr val="6D983E"/>
                  </a:solidFill>
                  <a:latin typeface="Verdana" panose="020B0604030504040204" pitchFamily="34" charset="0"/>
                  <a:ea typeface="Times New Roman" panose="02020603050405020304" pitchFamily="18" charset="0"/>
                  <a:cs typeface="Times New Roman" panose="02020603050405020304" pitchFamily="18" charset="0"/>
                </a:rPr>
                <a:t>central angle</a:t>
              </a:r>
              <a:r>
                <a:rPr lang="tr-TR" sz="2000" dirty="0">
                  <a:solidFill>
                    <a:srgbClr val="6D983E"/>
                  </a:solidFill>
                  <a:latin typeface="Verdana" panose="020B0604030504040204" pitchFamily="34" charset="0"/>
                  <a:ea typeface="Times New Roman" panose="02020603050405020304" pitchFamily="18" charset="0"/>
                  <a:cs typeface="Times New Roman" panose="02020603050405020304" pitchFamily="18" charset="0"/>
                </a:rPr>
                <a:t> is an angle with its vertex at the center of a circle with radii as its side.</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0" name="Shape 5" descr="Icon&#10;&#10;Description automatically generated with medium confidence"/>
            <p:cNvPicPr/>
            <p:nvPr/>
          </p:nvPicPr>
          <p:blipFill>
            <a:blip r:embed="rId4">
              <a:alphaModFix/>
            </a:blip>
            <a:stretch>
              <a:fillRect/>
            </a:stretch>
          </p:blipFill>
          <p:spPr>
            <a:xfrm>
              <a:off x="202104" y="185182"/>
              <a:ext cx="548645" cy="548640"/>
            </a:xfrm>
            <a:prstGeom prst="rect">
              <a:avLst/>
            </a:prstGeom>
            <a:noFill/>
            <a:ln>
              <a:noFill/>
            </a:ln>
            <a:effectLst>
              <a:outerShdw blurRad="50800" dist="38100" dir="2700000" algn="tl" rotWithShape="0">
                <a:prstClr val="black">
                  <a:alpha val="40000"/>
                </a:prstClr>
              </a:outerShdw>
            </a:effectLst>
          </p:spPr>
        </p:pic>
      </p:grpSp>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27586" y="2475945"/>
            <a:ext cx="2941981" cy="2828066"/>
          </a:xfrm>
          <a:prstGeom prst="rect">
            <a:avLst/>
          </a:prstGeom>
        </p:spPr>
      </p:pic>
    </p:spTree>
    <p:extLst>
      <p:ext uri="{BB962C8B-B14F-4D97-AF65-F5344CB8AC3E}">
        <p14:creationId xmlns:p14="http://schemas.microsoft.com/office/powerpoint/2010/main" val="4171832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120</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xmlns="" id="{B74EB5C6-2FDE-474B-866F-02AD6706D73C}"/>
              </a:ext>
            </a:extLst>
          </p:cNvPr>
          <p:cNvSpPr txBox="1"/>
          <p:nvPr/>
        </p:nvSpPr>
        <p:spPr>
          <a:xfrm>
            <a:off x="540565" y="540344"/>
            <a:ext cx="10240506" cy="430887"/>
          </a:xfrm>
          <a:prstGeom prst="rect">
            <a:avLst/>
          </a:prstGeom>
          <a:noFill/>
        </p:spPr>
        <p:txBody>
          <a:bodyPr wrap="square" rtlCol="0">
            <a:spAutoFit/>
          </a:bodyPr>
          <a:lstStyle/>
          <a:p>
            <a:pPr marL="914400" indent="-457200">
              <a:buFont typeface="+mj-lt"/>
              <a:buAutoNum type="alphaLcPeriod"/>
              <a:tabLst>
                <a:tab pos="60325" algn="l"/>
              </a:tabLst>
            </a:pPr>
            <a:r>
              <a:rPr lang="en-US" sz="2200" dirty="0">
                <a:latin typeface="Verdana" panose="020B0604030504040204" pitchFamily="34" charset="0"/>
                <a:ea typeface="Verdana" panose="020B0604030504040204" pitchFamily="34" charset="0"/>
                <a:cs typeface="Verdana" panose="020B0604030504040204" pitchFamily="34" charset="0"/>
              </a:rPr>
              <a:t>Complete the table. The first row of the table has been filled in.</a:t>
            </a:r>
          </a:p>
        </p:txBody>
      </p:sp>
      <p:pic>
        <p:nvPicPr>
          <p:cNvPr id="4" name="Picture 3">
            <a:extLst>
              <a:ext uri="{FF2B5EF4-FFF2-40B4-BE49-F238E27FC236}">
                <a16:creationId xmlns:a16="http://schemas.microsoft.com/office/drawing/2014/main" xmlns="" id="{7A20A7AC-2D69-434D-BA8A-DC0EF7378051}"/>
              </a:ext>
            </a:extLst>
          </p:cNvPr>
          <p:cNvPicPr>
            <a:picLocks noChangeAspect="1"/>
          </p:cNvPicPr>
          <p:nvPr/>
        </p:nvPicPr>
        <p:blipFill>
          <a:blip r:embed="rId4"/>
          <a:stretch>
            <a:fillRect/>
          </a:stretch>
        </p:blipFill>
        <p:spPr>
          <a:xfrm>
            <a:off x="1034488" y="1645902"/>
            <a:ext cx="7447062" cy="3557847"/>
          </a:xfrm>
          <a:prstGeom prst="rect">
            <a:avLst/>
          </a:prstGeom>
        </p:spPr>
      </p:pic>
    </p:spTree>
    <p:extLst>
      <p:ext uri="{BB962C8B-B14F-4D97-AF65-F5344CB8AC3E}">
        <p14:creationId xmlns:p14="http://schemas.microsoft.com/office/powerpoint/2010/main" val="2622707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121</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xmlns="" id="{B74EB5C6-2FDE-474B-866F-02AD6706D73C}"/>
              </a:ext>
            </a:extLst>
          </p:cNvPr>
          <p:cNvSpPr txBox="1"/>
          <p:nvPr/>
        </p:nvSpPr>
        <p:spPr>
          <a:xfrm>
            <a:off x="540565" y="548568"/>
            <a:ext cx="8327136" cy="5201424"/>
          </a:xfrm>
          <a:prstGeom prst="rect">
            <a:avLst/>
          </a:prstGeom>
          <a:noFill/>
        </p:spPr>
        <p:txBody>
          <a:bodyPr wrap="square" rtlCol="0">
            <a:spAutoFit/>
          </a:bodyPr>
          <a:lstStyle/>
          <a:p>
            <a:pPr marL="914400" indent="-457200">
              <a:buFont typeface="+mj-lt"/>
              <a:buAutoNum type="alphaLcPeriod" startAt="2"/>
            </a:pPr>
            <a:r>
              <a:rPr lang="en-US" sz="2200" dirty="0">
                <a:latin typeface="Verdana" panose="020B0604030504040204" pitchFamily="34" charset="0"/>
                <a:ea typeface="Verdana" panose="020B0604030504040204" pitchFamily="34" charset="0"/>
                <a:cs typeface="Verdana" panose="020B0604030504040204" pitchFamily="34" charset="0"/>
              </a:rPr>
              <a:t>Complete the statement.</a:t>
            </a:r>
          </a:p>
          <a:p>
            <a:pPr marL="793750" indent="-1588">
              <a:lnSpc>
                <a:spcPct val="250000"/>
              </a:lnSpc>
            </a:pPr>
            <a:r>
              <a:rPr lang="en-US" sz="2200" dirty="0">
                <a:latin typeface="Verdana" panose="020B0604030504040204" pitchFamily="34" charset="0"/>
                <a:ea typeface="Verdana" panose="020B0604030504040204" pitchFamily="34" charset="0"/>
                <a:cs typeface="Verdana" panose="020B0604030504040204" pitchFamily="34" charset="0"/>
              </a:rPr>
              <a:t>One slice, or fraction of the circle, is bounded by two 		     and an arc. Since each slice is the same size, the central angle for each fractional piece of the circular pizza will </a:t>
            </a:r>
          </a:p>
          <a:p>
            <a:pPr marL="793750" indent="-1588"/>
            <a:endParaRPr lang="en-US" sz="2400" dirty="0"/>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The pizza slices are an example of </a:t>
            </a:r>
            <a:r>
              <a:rPr lang="en-US" sz="2200" b="1" i="1" dirty="0">
                <a:latin typeface="Verdana" panose="020B0604030504040204" pitchFamily="34" charset="0"/>
                <a:ea typeface="Verdana" panose="020B0604030504040204" pitchFamily="34" charset="0"/>
                <a:cs typeface="Verdana" panose="020B0604030504040204" pitchFamily="34" charset="0"/>
              </a:rPr>
              <a:t>sectors</a:t>
            </a:r>
            <a:r>
              <a:rPr lang="en-US" sz="2200" dirty="0">
                <a:latin typeface="Verdana" panose="020B0604030504040204" pitchFamily="34" charset="0"/>
                <a:ea typeface="Verdana" panose="020B0604030504040204" pitchFamily="34" charset="0"/>
                <a:cs typeface="Verdana" panose="020B0604030504040204" pitchFamily="34" charset="0"/>
              </a:rPr>
              <a:t>. With your partner, write a definition of the term </a:t>
            </a:r>
            <a:r>
              <a:rPr lang="en-US" sz="2200" b="1" i="1" dirty="0">
                <a:latin typeface="Verdana" panose="020B0604030504040204" pitchFamily="34" charset="0"/>
                <a:ea typeface="Verdana" panose="020B0604030504040204" pitchFamily="34" charset="0"/>
                <a:cs typeface="Verdana" panose="020B0604030504040204" pitchFamily="34" charset="0"/>
              </a:rPr>
              <a:t>sector</a:t>
            </a:r>
            <a:r>
              <a:rPr lang="en-US" sz="2200" dirty="0">
                <a:latin typeface="Verdana" panose="020B0604030504040204" pitchFamily="34" charset="0"/>
                <a:ea typeface="Verdana" panose="020B0604030504040204" pitchFamily="34" charset="0"/>
                <a:cs typeface="Verdana" panose="020B0604030504040204" pitchFamily="34" charset="0"/>
              </a:rPr>
              <a:t>.</a:t>
            </a:r>
          </a:p>
        </p:txBody>
      </p:sp>
      <p:pic>
        <p:nvPicPr>
          <p:cNvPr id="2" name="Picture 1"/>
          <p:cNvPicPr>
            <a:picLocks noChangeAspect="1"/>
          </p:cNvPicPr>
          <p:nvPr/>
        </p:nvPicPr>
        <p:blipFill>
          <a:blip r:embed="rId4"/>
          <a:stretch>
            <a:fillRect/>
          </a:stretch>
        </p:blipFill>
        <p:spPr>
          <a:xfrm>
            <a:off x="2004429" y="1904247"/>
            <a:ext cx="1784923" cy="861419"/>
          </a:xfrm>
          <a:prstGeom prst="rect">
            <a:avLst/>
          </a:prstGeom>
        </p:spPr>
      </p:pic>
      <p:pic>
        <p:nvPicPr>
          <p:cNvPr id="3" name="Picture 2"/>
          <p:cNvPicPr>
            <a:picLocks noChangeAspect="1"/>
          </p:cNvPicPr>
          <p:nvPr/>
        </p:nvPicPr>
        <p:blipFill>
          <a:blip r:embed="rId5"/>
          <a:stretch>
            <a:fillRect/>
          </a:stretch>
        </p:blipFill>
        <p:spPr>
          <a:xfrm>
            <a:off x="5617059" y="3597942"/>
            <a:ext cx="1724962" cy="809053"/>
          </a:xfrm>
          <a:prstGeom prst="rect">
            <a:avLst/>
          </a:prstGeom>
        </p:spPr>
      </p:pic>
    </p:spTree>
    <p:extLst>
      <p:ext uri="{BB962C8B-B14F-4D97-AF65-F5344CB8AC3E}">
        <p14:creationId xmlns:p14="http://schemas.microsoft.com/office/powerpoint/2010/main" val="4192099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121</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xmlns="" id="{B74EB5C6-2FDE-474B-866F-02AD6706D73C}"/>
              </a:ext>
            </a:extLst>
          </p:cNvPr>
          <p:cNvSpPr txBox="1"/>
          <p:nvPr/>
        </p:nvSpPr>
        <p:spPr>
          <a:xfrm>
            <a:off x="540564" y="540343"/>
            <a:ext cx="10983359" cy="1938992"/>
          </a:xfrm>
          <a:prstGeom prst="rect">
            <a:avLst/>
          </a:prstGeom>
          <a:noFill/>
        </p:spPr>
        <p:txBody>
          <a:bodyPr wrap="square" rtlCol="0">
            <a:spAutoFit/>
          </a:bodyPr>
          <a:lstStyle/>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Ask two other partner pairs to share their definition of a sector. Record a summary of their definition. </a:t>
            </a:r>
            <a:r>
              <a:rPr lang="en-US" sz="2400" i="1" dirty="0">
                <a:latin typeface="Verdana" panose="020B0604030504040204" pitchFamily="34" charset="0"/>
                <a:ea typeface="Verdana" panose="020B0604030504040204" pitchFamily="34" charset="0"/>
                <a:cs typeface="Verdana" panose="020B0604030504040204" pitchFamily="34" charset="0"/>
              </a:rPr>
              <a:t>You are the only person who should write in the first column of the table. </a:t>
            </a:r>
            <a:r>
              <a:rPr lang="en-US" sz="2400" dirty="0">
                <a:latin typeface="Verdana" panose="020B0604030504040204" pitchFamily="34" charset="0"/>
                <a:ea typeface="Verdana" panose="020B0604030504040204" pitchFamily="34" charset="0"/>
                <a:cs typeface="Verdana" panose="020B0604030504040204" pitchFamily="34" charset="0"/>
              </a:rPr>
              <a:t>Have the person initial next to your summary stating that your summary was correct.</a:t>
            </a:r>
          </a:p>
        </p:txBody>
      </p:sp>
      <p:graphicFrame>
        <p:nvGraphicFramePr>
          <p:cNvPr id="3" name="Table 3">
            <a:extLst>
              <a:ext uri="{FF2B5EF4-FFF2-40B4-BE49-F238E27FC236}">
                <a16:creationId xmlns:a16="http://schemas.microsoft.com/office/drawing/2014/main" xmlns="" id="{9879D05F-32CE-9E48-97A3-1388A8E4D8B1}"/>
              </a:ext>
            </a:extLst>
          </p:cNvPr>
          <p:cNvGraphicFramePr>
            <a:graphicFrameLocks noGrp="1"/>
          </p:cNvGraphicFramePr>
          <p:nvPr>
            <p:extLst>
              <p:ext uri="{D42A27DB-BD31-4B8C-83A1-F6EECF244321}">
                <p14:modId xmlns:p14="http://schemas.microsoft.com/office/powerpoint/2010/main" val="2147844423"/>
              </p:ext>
            </p:extLst>
          </p:nvPr>
        </p:nvGraphicFramePr>
        <p:xfrm>
          <a:off x="1130357" y="3294087"/>
          <a:ext cx="9201506" cy="2553976"/>
        </p:xfrm>
        <a:graphic>
          <a:graphicData uri="http://schemas.openxmlformats.org/drawingml/2006/table">
            <a:tbl>
              <a:tblPr firstRow="1" bandRow="1">
                <a:tableStyleId>{5940675A-B579-460E-94D1-54222C63F5DA}</a:tableStyleId>
              </a:tblPr>
              <a:tblGrid>
                <a:gridCol w="7377618">
                  <a:extLst>
                    <a:ext uri="{9D8B030D-6E8A-4147-A177-3AD203B41FA5}">
                      <a16:colId xmlns:a16="http://schemas.microsoft.com/office/drawing/2014/main" xmlns="" val="2549915219"/>
                    </a:ext>
                  </a:extLst>
                </a:gridCol>
                <a:gridCol w="1823888">
                  <a:extLst>
                    <a:ext uri="{9D8B030D-6E8A-4147-A177-3AD203B41FA5}">
                      <a16:colId xmlns:a16="http://schemas.microsoft.com/office/drawing/2014/main" xmlns="" val="795426796"/>
                    </a:ext>
                  </a:extLst>
                </a:gridCol>
              </a:tblGrid>
              <a:tr h="953329">
                <a:tc>
                  <a:txBody>
                    <a:bodyPr/>
                    <a:lstStyle/>
                    <a:p>
                      <a:pPr algn="ctr"/>
                      <a:r>
                        <a:rPr lang="en-US" sz="2600" b="1" dirty="0">
                          <a:latin typeface="Verdana" panose="020B0604030504040204" pitchFamily="34" charset="0"/>
                          <a:ea typeface="Verdana" panose="020B0604030504040204" pitchFamily="34" charset="0"/>
                          <a:cs typeface="Verdana" panose="020B0604030504040204" pitchFamily="34" charset="0"/>
                        </a:rPr>
                        <a:t>My Summary of Their Definition of a Sector</a:t>
                      </a:r>
                    </a:p>
                  </a:txBody>
                  <a:tcPr marL="168552" marR="168552" marT="84276" marB="84276">
                    <a:solidFill>
                      <a:schemeClr val="bg1">
                        <a:lumMod val="75000"/>
                      </a:schemeClr>
                    </a:solidFill>
                  </a:tcPr>
                </a:tc>
                <a:tc>
                  <a:txBody>
                    <a:bodyPr/>
                    <a:lstStyle/>
                    <a:p>
                      <a:pPr algn="ctr"/>
                      <a:r>
                        <a:rPr lang="en-US" sz="2600" b="1" dirty="0">
                          <a:latin typeface="Verdana" panose="020B0604030504040204" pitchFamily="34" charset="0"/>
                          <a:ea typeface="Verdana" panose="020B0604030504040204" pitchFamily="34" charset="0"/>
                          <a:cs typeface="Verdana" panose="020B0604030504040204" pitchFamily="34" charset="0"/>
                        </a:rPr>
                        <a:t>Initials</a:t>
                      </a:r>
                    </a:p>
                  </a:txBody>
                  <a:tcPr marL="168552" marR="168552" marT="84276" marB="84276">
                    <a:solidFill>
                      <a:schemeClr val="bg1">
                        <a:lumMod val="75000"/>
                      </a:schemeClr>
                    </a:solidFill>
                  </a:tcPr>
                </a:tc>
                <a:extLst>
                  <a:ext uri="{0D108BD9-81ED-4DB2-BD59-A6C34878D82A}">
                    <a16:rowId xmlns:a16="http://schemas.microsoft.com/office/drawing/2014/main" xmlns="" val="2510781682"/>
                  </a:ext>
                </a:extLst>
              </a:tr>
              <a:tr h="796472">
                <a:tc>
                  <a:txBody>
                    <a:bodyPr/>
                    <a:lstStyle/>
                    <a:p>
                      <a:endParaRPr lang="en-US" sz="2600"/>
                    </a:p>
                  </a:txBody>
                  <a:tcPr marL="168552" marR="168552" marT="84276" marB="84276"/>
                </a:tc>
                <a:tc>
                  <a:txBody>
                    <a:bodyPr/>
                    <a:lstStyle/>
                    <a:p>
                      <a:endParaRPr lang="en-US" sz="2600" dirty="0"/>
                    </a:p>
                  </a:txBody>
                  <a:tcPr marL="168552" marR="168552" marT="84276" marB="84276"/>
                </a:tc>
                <a:extLst>
                  <a:ext uri="{0D108BD9-81ED-4DB2-BD59-A6C34878D82A}">
                    <a16:rowId xmlns:a16="http://schemas.microsoft.com/office/drawing/2014/main" xmlns="" val="998564335"/>
                  </a:ext>
                </a:extLst>
              </a:tr>
              <a:tr h="796472">
                <a:tc>
                  <a:txBody>
                    <a:bodyPr/>
                    <a:lstStyle/>
                    <a:p>
                      <a:endParaRPr lang="en-US" sz="2600"/>
                    </a:p>
                  </a:txBody>
                  <a:tcPr marL="168552" marR="168552" marT="84276" marB="84276"/>
                </a:tc>
                <a:tc>
                  <a:txBody>
                    <a:bodyPr/>
                    <a:lstStyle/>
                    <a:p>
                      <a:endParaRPr lang="en-US" sz="2600" dirty="0"/>
                    </a:p>
                  </a:txBody>
                  <a:tcPr marL="168552" marR="168552" marT="84276" marB="84276"/>
                </a:tc>
                <a:extLst>
                  <a:ext uri="{0D108BD9-81ED-4DB2-BD59-A6C34878D82A}">
                    <a16:rowId xmlns:a16="http://schemas.microsoft.com/office/drawing/2014/main" xmlns="" val="2412096859"/>
                  </a:ext>
                </a:extLst>
              </a:tr>
            </a:tbl>
          </a:graphicData>
        </a:graphic>
      </p:graphicFrame>
    </p:spTree>
    <p:extLst>
      <p:ext uri="{BB962C8B-B14F-4D97-AF65-F5344CB8AC3E}">
        <p14:creationId xmlns:p14="http://schemas.microsoft.com/office/powerpoint/2010/main" val="39824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707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121</a:t>
            </a:r>
            <a:endParaRPr i="1" dirty="0">
              <a:latin typeface="Calibri"/>
              <a:ea typeface="Calibri"/>
              <a:cs typeface="Calibri"/>
              <a:sym typeface="Calibri"/>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49" y="-37211"/>
            <a:ext cx="958093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10.1.3 Guided Practice: Finding the Area of a Sector</a:t>
            </a:r>
          </a:p>
        </p:txBody>
      </p:sp>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121</a:t>
            </a:r>
            <a:endParaRPr i="1" dirty="0">
              <a:latin typeface="Calibri"/>
              <a:ea typeface="Calibri"/>
              <a:cs typeface="Calibri"/>
              <a:sym typeface="Calibri"/>
            </a:endParaRP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31D40250-DEDD-2C41-8538-3D4DD18CCC4A}"/>
              </a:ext>
            </a:extLst>
          </p:cNvPr>
          <p:cNvSpPr txBox="1"/>
          <p:nvPr/>
        </p:nvSpPr>
        <p:spPr>
          <a:xfrm>
            <a:off x="593248" y="1386026"/>
            <a:ext cx="6026728" cy="2462213"/>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The images show a stopwatch with different time increments marked. The blue shading on the stopwatches each forms a sector.</a:t>
            </a: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Complete the table.</a:t>
            </a:r>
          </a:p>
        </p:txBody>
      </p:sp>
      <p:pic>
        <p:nvPicPr>
          <p:cNvPr id="4" name="Picture 3">
            <a:extLst>
              <a:ext uri="{FF2B5EF4-FFF2-40B4-BE49-F238E27FC236}">
                <a16:creationId xmlns:a16="http://schemas.microsoft.com/office/drawing/2014/main" xmlns="" id="{DF323A67-DD0B-7F43-8DA0-A2A82AF39AF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940100" y="1012457"/>
            <a:ext cx="4367926" cy="5445217"/>
          </a:xfrm>
          <a:prstGeom prst="rect">
            <a:avLst/>
          </a:prstGeom>
        </p:spPr>
      </p:pic>
    </p:spTree>
    <p:extLst>
      <p:ext uri="{BB962C8B-B14F-4D97-AF65-F5344CB8AC3E}">
        <p14:creationId xmlns:p14="http://schemas.microsoft.com/office/powerpoint/2010/main" val="745523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122</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xmlns="" id="{A3BC97A7-8575-5A46-8E72-A886A83AEC7E}"/>
              </a:ext>
            </a:extLst>
          </p:cNvPr>
          <p:cNvSpPr txBox="1"/>
          <p:nvPr/>
        </p:nvSpPr>
        <p:spPr>
          <a:xfrm>
            <a:off x="465232" y="386281"/>
            <a:ext cx="11162918" cy="3785652"/>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Summarize what you notice about the relationship between the values in each row.</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ratios could be used to find the area of the sectors, including any additional information that might be needed. Summarize your discussion.</a:t>
            </a:r>
          </a:p>
        </p:txBody>
      </p:sp>
    </p:spTree>
    <p:extLst>
      <p:ext uri="{BB962C8B-B14F-4D97-AF65-F5344CB8AC3E}">
        <p14:creationId xmlns:p14="http://schemas.microsoft.com/office/powerpoint/2010/main" val="1918385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0305"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1207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A3BC97A7-8575-5A46-8E72-A886A83AEC7E}"/>
                  </a:ext>
                </a:extLst>
              </p:cNvPr>
              <p:cNvSpPr txBox="1"/>
              <p:nvPr/>
            </p:nvSpPr>
            <p:spPr>
              <a:xfrm>
                <a:off x="465231" y="386281"/>
                <a:ext cx="10980847" cy="3200876"/>
              </a:xfrm>
              <a:prstGeom prst="rect">
                <a:avLst/>
              </a:prstGeom>
              <a:noFill/>
            </p:spPr>
            <p:txBody>
              <a:bodyPr wrap="square" rtlCol="0">
                <a:spAutoFit/>
              </a:bodyPr>
              <a:lstStyle/>
              <a:p>
                <a:r>
                  <a:rPr lang="en-US" sz="2100" dirty="0">
                    <a:latin typeface="Verdana" panose="020B0604030504040204" pitchFamily="34" charset="0"/>
                    <a:ea typeface="Verdana" panose="020B0604030504040204" pitchFamily="34" charset="0"/>
                    <a:cs typeface="Verdana" panose="020B0604030504040204" pitchFamily="34" charset="0"/>
                  </a:rPr>
                  <a:t>Given the radius of the stopwatch is 2 in., the area of the stopwatch is 4𝜋 </a:t>
                </a:r>
                <a14:m>
                  <m:oMath xmlns:m="http://schemas.openxmlformats.org/officeDocument/2006/math">
                    <m:sSup>
                      <m:sSupPr>
                        <m:ctrlPr>
                          <a:rPr lang="en-US" sz="2100" i="1">
                            <a:latin typeface="Cambria Math" charset="0"/>
                            <a:ea typeface="Cambria Math" panose="02040503050406030204" pitchFamily="18" charset="0"/>
                          </a:rPr>
                        </m:ctrlPr>
                      </m:sSupPr>
                      <m:e>
                        <m:r>
                          <m:rPr>
                            <m:sty m:val="p"/>
                          </m:rPr>
                          <a:rPr lang="en-US" sz="2100">
                            <a:latin typeface="Cambria Math" panose="02040503050406030204" pitchFamily="18" charset="0"/>
                            <a:ea typeface="Cambria Math" panose="02040503050406030204" pitchFamily="18" charset="0"/>
                          </a:rPr>
                          <m:t>in</m:t>
                        </m:r>
                      </m:e>
                      <m:sup>
                        <m:r>
                          <a:rPr lang="en-US" sz="2100">
                            <a:latin typeface="Cambria Math" panose="02040503050406030204" pitchFamily="18" charset="0"/>
                            <a:ea typeface="Cambria Math" panose="02040503050406030204" pitchFamily="18" charset="0"/>
                          </a:rPr>
                          <m:t>2</m:t>
                        </m:r>
                      </m:sup>
                    </m:sSup>
                  </m:oMath>
                </a14:m>
                <a:r>
                  <a:rPr lang="en-US" sz="2100" dirty="0">
                    <a:latin typeface="Verdana" panose="020B0604030504040204" pitchFamily="34" charset="0"/>
                    <a:ea typeface="Verdana" panose="020B0604030504040204" pitchFamily="34" charset="0"/>
                    <a:cs typeface="Verdana" panose="020B0604030504040204" pitchFamily="34" charset="0"/>
                  </a:rPr>
                  <a:t> </a:t>
                </a:r>
              </a:p>
              <a:p>
                <a:pPr algn="ct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ea typeface="Cambria Math" panose="02040503050406030204" pitchFamily="18" charset="0"/>
                          <a:cs typeface="Verdana" panose="020B0604030504040204" pitchFamily="34" charset="0"/>
                        </a:rPr>
                        <m:t>𝐴</m:t>
                      </m:r>
                      <m:r>
                        <a:rPr lang="en-US" sz="2100" i="1">
                          <a:latin typeface="Cambria Math" panose="02040503050406030204" pitchFamily="18" charset="0"/>
                          <a:ea typeface="Cambria Math" panose="02040503050406030204" pitchFamily="18" charset="0"/>
                          <a:cs typeface="Verdana" panose="020B0604030504040204" pitchFamily="34" charset="0"/>
                        </a:rPr>
                        <m:t>=</m:t>
                      </m:r>
                      <m:r>
                        <a:rPr lang="el-GR" sz="2100" i="1">
                          <a:latin typeface="Cambria Math" panose="02040503050406030204" pitchFamily="18" charset="0"/>
                          <a:ea typeface="Cambria Math" panose="02040503050406030204" pitchFamily="18" charset="0"/>
                          <a:cs typeface="Verdana" panose="020B0604030504040204" pitchFamily="34" charset="0"/>
                        </a:rPr>
                        <m:t>𝜋</m:t>
                      </m:r>
                      <m:sSup>
                        <m:sSupPr>
                          <m:ctrlPr>
                            <a:rPr lang="en-US" sz="2100" i="1">
                              <a:latin typeface="Cambria Math" charset="0"/>
                              <a:ea typeface="Cambria Math" panose="02040503050406030204" pitchFamily="18" charset="0"/>
                              <a:cs typeface="Verdana" panose="020B0604030504040204" pitchFamily="34" charset="0"/>
                            </a:rPr>
                          </m:ctrlPr>
                        </m:sSupPr>
                        <m:e>
                          <m:r>
                            <a:rPr lang="en-US" sz="2100" i="1">
                              <a:latin typeface="Cambria Math" panose="02040503050406030204" pitchFamily="18" charset="0"/>
                              <a:ea typeface="Cambria Math" panose="02040503050406030204" pitchFamily="18" charset="0"/>
                              <a:cs typeface="Verdana" panose="020B0604030504040204" pitchFamily="34" charset="0"/>
                            </a:rPr>
                            <m:t>𝑟</m:t>
                          </m:r>
                        </m:e>
                        <m:sup>
                          <m:r>
                            <a:rPr lang="en-US" sz="2100" i="1">
                              <a:latin typeface="Cambria Math" panose="02040503050406030204" pitchFamily="18" charset="0"/>
                              <a:ea typeface="Cambria Math" panose="02040503050406030204" pitchFamily="18" charset="0"/>
                              <a:cs typeface="Verdana" panose="020B0604030504040204" pitchFamily="34" charset="0"/>
                            </a:rPr>
                            <m:t>2</m:t>
                          </m:r>
                        </m:sup>
                      </m:sSup>
                    </m:oMath>
                  </m:oMathPara>
                </a14:m>
                <a:endParaRPr lang="en-US" sz="2100" dirty="0">
                  <a:latin typeface="Verdana" panose="020B0604030504040204" pitchFamily="34" charset="0"/>
                  <a:ea typeface="Verdana" panose="020B0604030504040204" pitchFamily="34" charset="0"/>
                  <a:cs typeface="Verdana" panose="020B0604030504040204" pitchFamily="34" charset="0"/>
                </a:endParaRPr>
              </a:p>
              <a:p>
                <a:pPr algn="ct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ea typeface="Cambria Math" panose="02040503050406030204" pitchFamily="18" charset="0"/>
                          <a:cs typeface="Verdana" panose="020B0604030504040204" pitchFamily="34" charset="0"/>
                        </a:rPr>
                        <m:t>𝐴</m:t>
                      </m:r>
                      <m:r>
                        <a:rPr lang="en-US" sz="2100" i="1">
                          <a:latin typeface="Cambria Math" panose="02040503050406030204" pitchFamily="18" charset="0"/>
                          <a:ea typeface="Cambria Math" panose="02040503050406030204" pitchFamily="18" charset="0"/>
                          <a:cs typeface="Verdana" panose="020B0604030504040204" pitchFamily="34" charset="0"/>
                        </a:rPr>
                        <m:t>=</m:t>
                      </m:r>
                      <m:r>
                        <a:rPr lang="el-GR" sz="2100" i="1">
                          <a:latin typeface="Cambria Math" panose="02040503050406030204" pitchFamily="18" charset="0"/>
                          <a:ea typeface="Cambria Math" panose="02040503050406030204" pitchFamily="18" charset="0"/>
                          <a:cs typeface="Verdana" panose="020B0604030504040204" pitchFamily="34" charset="0"/>
                        </a:rPr>
                        <m:t>𝜋</m:t>
                      </m:r>
                      <m:sSup>
                        <m:sSupPr>
                          <m:ctrlPr>
                            <a:rPr lang="en-US" sz="2100" i="1">
                              <a:latin typeface="Cambria Math" charset="0"/>
                              <a:ea typeface="Cambria Math" panose="02040503050406030204" pitchFamily="18" charset="0"/>
                              <a:cs typeface="Verdana" panose="020B0604030504040204" pitchFamily="34" charset="0"/>
                            </a:rPr>
                          </m:ctrlPr>
                        </m:sSupPr>
                        <m:e>
                          <m:r>
                            <a:rPr lang="en-US" sz="2100" i="1">
                              <a:latin typeface="Cambria Math" panose="02040503050406030204" pitchFamily="18" charset="0"/>
                              <a:ea typeface="Cambria Math" panose="02040503050406030204" pitchFamily="18" charset="0"/>
                              <a:cs typeface="Verdana" panose="020B0604030504040204" pitchFamily="34" charset="0"/>
                            </a:rPr>
                            <m:t>(2)</m:t>
                          </m:r>
                        </m:e>
                        <m:sup>
                          <m:r>
                            <a:rPr lang="en-US" sz="2100" i="1">
                              <a:latin typeface="Cambria Math" panose="02040503050406030204" pitchFamily="18" charset="0"/>
                              <a:ea typeface="Cambria Math" panose="02040503050406030204" pitchFamily="18" charset="0"/>
                              <a:cs typeface="Verdana" panose="020B0604030504040204" pitchFamily="34" charset="0"/>
                            </a:rPr>
                            <m:t>2</m:t>
                          </m:r>
                        </m:sup>
                      </m:sSup>
                    </m:oMath>
                  </m:oMathPara>
                </a14:m>
                <a:endParaRPr lang="en-US" sz="2100" dirty="0">
                  <a:latin typeface="Verdana" panose="020B0604030504040204" pitchFamily="34" charset="0"/>
                  <a:ea typeface="Verdana" panose="020B0604030504040204" pitchFamily="34" charset="0"/>
                  <a:cs typeface="Verdana" panose="020B0604030504040204" pitchFamily="34" charset="0"/>
                </a:endParaRPr>
              </a:p>
              <a:p>
                <a:pPr algn="ct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ea typeface="Cambria Math" panose="02040503050406030204" pitchFamily="18" charset="0"/>
                          <a:cs typeface="Verdana" panose="020B0604030504040204" pitchFamily="34" charset="0"/>
                        </a:rPr>
                        <m:t>𝐴</m:t>
                      </m:r>
                      <m:r>
                        <a:rPr lang="en-US" sz="2100" i="1">
                          <a:latin typeface="Cambria Math" panose="02040503050406030204" pitchFamily="18" charset="0"/>
                          <a:ea typeface="Cambria Math" panose="02040503050406030204" pitchFamily="18" charset="0"/>
                          <a:cs typeface="Verdana" panose="020B0604030504040204" pitchFamily="34" charset="0"/>
                        </a:rPr>
                        <m:t>=4</m:t>
                      </m:r>
                      <m:r>
                        <a:rPr lang="el-GR" sz="2100" i="1">
                          <a:latin typeface="Cambria Math" panose="02040503050406030204" pitchFamily="18" charset="0"/>
                          <a:ea typeface="Cambria Math" panose="02040503050406030204" pitchFamily="18" charset="0"/>
                          <a:cs typeface="Verdana" panose="020B0604030504040204" pitchFamily="34" charset="0"/>
                        </a:rPr>
                        <m:t>𝜋</m:t>
                      </m:r>
                      <m:r>
                        <a:rPr lang="en-US" sz="2100" i="1">
                          <a:latin typeface="Cambria Math" panose="02040503050406030204" pitchFamily="18" charset="0"/>
                          <a:ea typeface="Cambria Math" panose="02040503050406030204" pitchFamily="18" charset="0"/>
                          <a:cs typeface="Verdana" panose="020B0604030504040204" pitchFamily="34" charset="0"/>
                        </a:rPr>
                        <m:t> </m:t>
                      </m:r>
                      <m:sSup>
                        <m:sSupPr>
                          <m:ctrlPr>
                            <a:rPr lang="en-US" sz="2100" i="1">
                              <a:latin typeface="Cambria Math" charset="0"/>
                              <a:ea typeface="Cambria Math" panose="02040503050406030204" pitchFamily="18" charset="0"/>
                              <a:cs typeface="Verdana" panose="020B0604030504040204" pitchFamily="34" charset="0"/>
                            </a:rPr>
                          </m:ctrlPr>
                        </m:sSupPr>
                        <m:e>
                          <m:r>
                            <a:rPr lang="en-US" sz="2100" i="1">
                              <a:latin typeface="Cambria Math" panose="02040503050406030204" pitchFamily="18" charset="0"/>
                              <a:ea typeface="Cambria Math" panose="02040503050406030204" pitchFamily="18" charset="0"/>
                              <a:cs typeface="Verdana" panose="020B0604030504040204" pitchFamily="34" charset="0"/>
                            </a:rPr>
                            <m:t>𝑖</m:t>
                          </m:r>
                          <m:r>
                            <m:rPr>
                              <m:sty m:val="p"/>
                            </m:rPr>
                            <a:rPr lang="en-US" sz="2100">
                              <a:latin typeface="Cambria Math" panose="02040503050406030204" pitchFamily="18" charset="0"/>
                              <a:ea typeface="Cambria Math" panose="02040503050406030204" pitchFamily="18" charset="0"/>
                              <a:cs typeface="Verdana" panose="020B0604030504040204" pitchFamily="34" charset="0"/>
                            </a:rPr>
                            <m:t>n</m:t>
                          </m:r>
                          <m:r>
                            <a:rPr lang="en-US" sz="2100" i="1">
                              <a:latin typeface="Cambria Math" panose="02040503050406030204" pitchFamily="18" charset="0"/>
                              <a:ea typeface="Cambria Math" panose="02040503050406030204" pitchFamily="18" charset="0"/>
                              <a:cs typeface="Verdana" panose="020B0604030504040204" pitchFamily="34" charset="0"/>
                            </a:rPr>
                            <m:t>.</m:t>
                          </m:r>
                        </m:e>
                        <m:sup>
                          <m:r>
                            <a:rPr lang="en-US" sz="2100" i="1">
                              <a:latin typeface="Cambria Math" panose="02040503050406030204" pitchFamily="18" charset="0"/>
                              <a:ea typeface="Cambria Math" panose="02040503050406030204" pitchFamily="18" charset="0"/>
                              <a:cs typeface="Verdana" panose="020B0604030504040204" pitchFamily="34" charset="0"/>
                            </a:rPr>
                            <m:t>2</m:t>
                          </m:r>
                        </m:sup>
                      </m:sSup>
                    </m:oMath>
                  </m:oMathPara>
                </a14:m>
                <a:endParaRPr lang="en-US" sz="2100" dirty="0">
                  <a:latin typeface="Verdana" panose="020B0604030504040204" pitchFamily="34" charset="0"/>
                  <a:ea typeface="Verdana" panose="020B0604030504040204" pitchFamily="34" charset="0"/>
                  <a:cs typeface="Verdana" panose="020B0604030504040204" pitchFamily="34" charset="0"/>
                </a:endParaRPr>
              </a:p>
              <a:p>
                <a:pPr algn="ctr"/>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465231" y="386281"/>
                <a:ext cx="10980847" cy="3200876"/>
              </a:xfrm>
              <a:prstGeom prst="rect">
                <a:avLst/>
              </a:prstGeom>
              <a:blipFill>
                <a:blip r:embed="rId4"/>
                <a:stretch>
                  <a:fillRect l="-666" t="-1333"/>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xmlns="" id="{F84DCFCE-5529-3D45-8BEA-5F5757CAAF00}"/>
              </a:ext>
            </a:extLst>
          </p:cNvPr>
          <p:cNvSpPr txBox="1"/>
          <p:nvPr/>
        </p:nvSpPr>
        <p:spPr>
          <a:xfrm>
            <a:off x="465233" y="2471584"/>
            <a:ext cx="5093920" cy="1923604"/>
          </a:xfrm>
          <a:prstGeom prst="rect">
            <a:avLst/>
          </a:prstGeom>
          <a:noFill/>
        </p:spPr>
        <p:txBody>
          <a:bodyPr wrap="square" rtlCol="0">
            <a:spAutoFit/>
          </a:bodyPr>
          <a:lstStyle/>
          <a:p>
            <a:pPr marL="457200" indent="-457200">
              <a:buFont typeface="+mj-lt"/>
              <a:buAutoNum type="arabicPeriod" startAt="4"/>
            </a:pPr>
            <a:r>
              <a:rPr lang="en-US" sz="2100" dirty="0">
                <a:latin typeface="Verdana" panose="020B0604030504040204" pitchFamily="34" charset="0"/>
                <a:ea typeface="Verdana" panose="020B0604030504040204" pitchFamily="34" charset="0"/>
                <a:cs typeface="Verdana" panose="020B0604030504040204" pitchFamily="34" charset="0"/>
              </a:rPr>
              <a:t>Use the relationship between each sector and the whole stopwatch explored in problem 1 to find the area of each sector. Show your work.</a:t>
            </a:r>
          </a:p>
          <a:p>
            <a:endParaRPr lang="en-US" dirty="0"/>
          </a:p>
        </p:txBody>
      </p:sp>
      <p:pic>
        <p:nvPicPr>
          <p:cNvPr id="4" name="Picture 3"/>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801184" y="2400074"/>
            <a:ext cx="3923285" cy="4071645"/>
          </a:xfrm>
          <a:prstGeom prst="rect">
            <a:avLst/>
          </a:prstGeom>
        </p:spPr>
      </p:pic>
    </p:spTree>
    <p:extLst>
      <p:ext uri="{BB962C8B-B14F-4D97-AF65-F5344CB8AC3E}">
        <p14:creationId xmlns:p14="http://schemas.microsoft.com/office/powerpoint/2010/main" val="4175102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EE3C8BB3-D8AE-154C-9B2D-B1D7451436F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123</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4"/>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0283"/>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052650" y="60326"/>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10.1.4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305350" y="60326"/>
            <a:ext cx="747300" cy="747300"/>
          </a:xfrm>
          <a:prstGeom prst="rect">
            <a:avLst/>
          </a:prstGeom>
          <a:noFill/>
          <a:ln>
            <a:noFill/>
          </a:ln>
        </p:spPr>
      </p:pic>
      <p:sp>
        <p:nvSpPr>
          <p:cNvPr id="11" name="Google Shape;282;g104476d1465_1_17">
            <a:extLst>
              <a:ext uri="{FF2B5EF4-FFF2-40B4-BE49-F238E27FC236}">
                <a16:creationId xmlns:a16="http://schemas.microsoft.com/office/drawing/2014/main" xmlns="" id="{F9486181-07A1-C74B-A129-E8949F43C159}"/>
              </a:ext>
            </a:extLst>
          </p:cNvPr>
          <p:cNvSpPr txBox="1"/>
          <p:nvPr/>
        </p:nvSpPr>
        <p:spPr>
          <a:xfrm>
            <a:off x="8836194" y="64429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123</a:t>
            </a:r>
            <a:endParaRPr i="1" dirty="0">
              <a:latin typeface="Calibri"/>
              <a:ea typeface="Calibri"/>
              <a:cs typeface="Calibri"/>
              <a:sym typeface="Calibri"/>
            </a:endParaRPr>
          </a:p>
        </p:txBody>
      </p:sp>
      <p:sp>
        <p:nvSpPr>
          <p:cNvPr id="12" name="TextBox 11">
            <a:extLst>
              <a:ext uri="{FF2B5EF4-FFF2-40B4-BE49-F238E27FC236}">
                <a16:creationId xmlns:a16="http://schemas.microsoft.com/office/drawing/2014/main" xmlns="" id="{759C3E41-93EC-B84D-963F-86A3B15AC1C6}"/>
              </a:ext>
            </a:extLst>
          </p:cNvPr>
          <p:cNvSpPr txBox="1"/>
          <p:nvPr/>
        </p:nvSpPr>
        <p:spPr>
          <a:xfrm>
            <a:off x="540564" y="1096826"/>
            <a:ext cx="10929629" cy="769441"/>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Kenya orders a medium pizza that has a </a:t>
            </a:r>
            <a:r>
              <a:rPr lang="en-US" sz="2200" dirty="0">
                <a:latin typeface="Cambria Math" panose="02040503050406030204" pitchFamily="18" charset="0"/>
                <a:ea typeface="Cambria Math" panose="02040503050406030204" pitchFamily="18" charset="0"/>
                <a:cs typeface="Verdana" panose="020B0604030504040204" pitchFamily="34" charset="0"/>
              </a:rPr>
              <a:t>8</a:t>
            </a:r>
            <a:r>
              <a:rPr lang="en-US" sz="2200" dirty="0">
                <a:latin typeface="Verdana" panose="020B0604030504040204" pitchFamily="34" charset="0"/>
                <a:ea typeface="Verdana" panose="020B0604030504040204" pitchFamily="34" charset="0"/>
                <a:cs typeface="Verdana" panose="020B0604030504040204" pitchFamily="34" charset="0"/>
              </a:rPr>
              <a:t> in. radius. Complete the table on the number of slices she has.</a:t>
            </a:r>
          </a:p>
        </p:txBody>
      </p:sp>
      <p:pic>
        <p:nvPicPr>
          <p:cNvPr id="2" name="Picture 1">
            <a:extLst>
              <a:ext uri="{FF2B5EF4-FFF2-40B4-BE49-F238E27FC236}">
                <a16:creationId xmlns:a16="http://schemas.microsoft.com/office/drawing/2014/main" xmlns="" id="{1746EA01-FEE9-244D-80AD-50A7977596A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315339" y="1840110"/>
            <a:ext cx="4741170" cy="4997449"/>
          </a:xfrm>
          <a:prstGeom prst="rect">
            <a:avLst/>
          </a:prstGeom>
        </p:spPr>
      </p:pic>
    </p:spTree>
    <p:extLst>
      <p:ext uri="{BB962C8B-B14F-4D97-AF65-F5344CB8AC3E}">
        <p14:creationId xmlns:p14="http://schemas.microsoft.com/office/powerpoint/2010/main" val="3101299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123</a:t>
            </a:r>
            <a:endParaRPr i="1" dirty="0">
              <a:latin typeface="Calibri"/>
              <a:ea typeface="Calibri"/>
              <a:cs typeface="Calibri"/>
              <a:sym typeface="Calibri"/>
            </a:endParaRPr>
          </a:p>
        </p:txBody>
      </p:sp>
      <p:pic>
        <p:nvPicPr>
          <p:cNvPr id="2" name="Picture 1">
            <a:extLst>
              <a:ext uri="{FF2B5EF4-FFF2-40B4-BE49-F238E27FC236}">
                <a16:creationId xmlns:a16="http://schemas.microsoft.com/office/drawing/2014/main" xmlns="" id="{6892112F-C40F-2C48-A4FA-9DB0E495F2DF}"/>
              </a:ext>
            </a:extLst>
          </p:cNvPr>
          <p:cNvPicPr>
            <a:picLocks noChangeAspect="1"/>
          </p:cNvPicPr>
          <p:nvPr/>
        </p:nvPicPr>
        <p:blipFill>
          <a:blip r:embed="rId4"/>
          <a:stretch>
            <a:fillRect/>
          </a:stretch>
        </p:blipFill>
        <p:spPr>
          <a:xfrm>
            <a:off x="762810" y="0"/>
            <a:ext cx="4542958" cy="6858000"/>
          </a:xfrm>
          <a:prstGeom prst="rect">
            <a:avLst/>
          </a:prstGeom>
        </p:spPr>
      </p:pic>
    </p:spTree>
    <p:extLst>
      <p:ext uri="{BB962C8B-B14F-4D97-AF65-F5344CB8AC3E}">
        <p14:creationId xmlns:p14="http://schemas.microsoft.com/office/powerpoint/2010/main" val="843614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124</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124</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05304" y="-215303"/>
            <a:ext cx="946929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10.1.5 Wrap-Up: </a:t>
            </a:r>
            <a:r>
              <a:rPr lang="en-US" sz="3600" b="1" dirty="0" smtClean="0">
                <a:solidFill>
                  <a:srgbClr val="3F2A67"/>
                </a:solidFill>
                <a:latin typeface="Verdana"/>
                <a:ea typeface="Verdana"/>
                <a:cs typeface="Verdana"/>
                <a:sym typeface="Verdana"/>
              </a:rPr>
              <a:t>Cool Down</a:t>
            </a:r>
            <a:endParaRPr lang="en-US" sz="3600" b="1" dirty="0">
              <a:solidFill>
                <a:srgbClr val="3F2A67"/>
              </a:solidFill>
              <a:latin typeface="Verdana"/>
              <a:ea typeface="Verdana"/>
              <a:cs typeface="Verdana"/>
              <a:sym typeface="Verdana"/>
            </a:endParaRP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05350" y="60325"/>
            <a:ext cx="747300" cy="747300"/>
          </a:xfrm>
          <a:prstGeom prst="rect">
            <a:avLst/>
          </a:prstGeom>
          <a:noFill/>
          <a:ln>
            <a:noFill/>
          </a:ln>
        </p:spPr>
      </p:pic>
      <p:sp>
        <p:nvSpPr>
          <p:cNvPr id="12" name="TextBox 11">
            <a:extLst>
              <a:ext uri="{FF2B5EF4-FFF2-40B4-BE49-F238E27FC236}">
                <a16:creationId xmlns:a16="http://schemas.microsoft.com/office/drawing/2014/main" xmlns="" id="{0370EDB7-6994-3D43-ABF9-E04CBAFB9CD9}"/>
              </a:ext>
            </a:extLst>
          </p:cNvPr>
          <p:cNvSpPr txBox="1"/>
          <p:nvPr/>
        </p:nvSpPr>
        <p:spPr>
          <a:xfrm>
            <a:off x="568280" y="1243129"/>
            <a:ext cx="11059870" cy="707886"/>
          </a:xfrm>
          <a:prstGeom prst="rect">
            <a:avLst/>
          </a:prstGeom>
          <a:noFill/>
        </p:spPr>
        <p:txBody>
          <a:bodyPr wrap="square" rtlCol="0">
            <a:spAutoFit/>
          </a:bodyPr>
          <a:lstStyle/>
          <a:p>
            <a:pPr marL="457200" indent="-457200" fontAlgn="base">
              <a:buFont typeface="+mj-lt"/>
              <a:buAutoNum type="arabicPeriod"/>
            </a:pPr>
            <a:r>
              <a:rPr lang="en-US" sz="2000" dirty="0">
                <a:latin typeface="Verdana" charset="0"/>
                <a:ea typeface="Verdana" charset="0"/>
                <a:cs typeface="Verdana" charset="0"/>
              </a:rPr>
              <a:t>Write an explanation to a classmate who might have missed today’s lesson, in your own words, about sectors.</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1510</TotalTime>
  <Words>844</Words>
  <Application>Microsoft Macintosh PowerPoint</Application>
  <PresentationFormat>Widescreen</PresentationFormat>
  <Paragraphs>151</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Black</vt:lpstr>
      <vt:lpstr>Calibri</vt:lpstr>
      <vt:lpstr>Cambria</vt:lpstr>
      <vt:lpstr>Cambria Math</vt:lpstr>
      <vt:lpstr>Century Gothic</vt:lpstr>
      <vt:lpstr>Times New Roman</vt:lpstr>
      <vt:lpstr>Verdana</vt:lpstr>
      <vt:lpstr>1_Office Theme</vt:lpstr>
      <vt:lpstr>Geometry  Unit 10, Lesson 1  Sectors  Volume 2, pg. 119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jslater9816@gmail.com</cp:lastModifiedBy>
  <cp:revision>30</cp:revision>
  <dcterms:created xsi:type="dcterms:W3CDTF">2015-03-17T18:51:18Z</dcterms:created>
  <dcterms:modified xsi:type="dcterms:W3CDTF">2022-09-15T11:46:36Z</dcterms:modified>
</cp:coreProperties>
</file>