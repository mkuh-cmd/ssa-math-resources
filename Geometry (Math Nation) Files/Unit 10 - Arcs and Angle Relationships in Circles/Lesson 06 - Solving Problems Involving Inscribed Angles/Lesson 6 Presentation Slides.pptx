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1" r:id="rId9"/>
    <p:sldId id="312" r:id="rId10"/>
    <p:sldId id="313" r:id="rId11"/>
    <p:sldId id="326" r:id="rId12"/>
    <p:sldId id="327" r:id="rId13"/>
    <p:sldId id="328" r:id="rId14"/>
    <p:sldId id="329" r:id="rId15"/>
    <p:sldId id="323" r:id="rId16"/>
    <p:sldId id="324" r:id="rId17"/>
    <p:sldId id="325" r:id="rId18"/>
    <p:sldId id="330" r:id="rId19"/>
    <p:sldId id="331" r:id="rId20"/>
    <p:sldId id="302" r:id="rId21"/>
    <p:sldId id="303" r:id="rId22"/>
    <p:sldId id="309" r:id="rId23"/>
    <p:sldId id="332" r:id="rId24"/>
    <p:sldId id="306" r:id="rId25"/>
    <p:sldId id="307" r:id="rId26"/>
  </p:sldIdLst>
  <p:sldSz cx="12192000" cy="6858000"/>
  <p:notesSz cx="6858000" cy="9144000"/>
  <p:embeddedFontLst>
    <p:embeddedFont>
      <p:font typeface="Arial Black" panose="020B0604020202020204" pitchFamily="34" charset="0"/>
      <p:bold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Cambria" panose="02040503050406030204" pitchFamily="18" charset="0"/>
      <p:regular r:id="rId33"/>
      <p:bold r:id="rId34"/>
      <p:italic r:id="rId35"/>
      <p:boldItalic r:id="rId36"/>
    </p:embeddedFont>
    <p:embeddedFont>
      <p:font typeface="Cambria Math" panose="02040503050406030204" pitchFamily="18" charset="0"/>
      <p:regular r:id="rId37"/>
    </p:embeddedFont>
    <p:embeddedFont>
      <p:font typeface="Century Gothic" panose="020B0502020202020204" pitchFamily="34" charset="0"/>
      <p:regular r:id="rId38"/>
      <p:bold r:id="rId39"/>
      <p:italic r:id="rId40"/>
      <p:boldItalic r:id="rId41"/>
    </p:embeddedFont>
    <p:embeddedFont>
      <p:font typeface="Verdana" panose="020B0604030504040204" pitchFamily="3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3165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90" autoAdjust="0"/>
    <p:restoredTop sz="94694"/>
  </p:normalViewPr>
  <p:slideViewPr>
    <p:cSldViewPr snapToGrid="0">
      <p:cViewPr varScale="1">
        <p:scale>
          <a:sx n="117" d="100"/>
          <a:sy n="117" d="100"/>
        </p:scale>
        <p:origin x="480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6573663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4255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3018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07759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13216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83757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55093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2257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71695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291115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95811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hyperlink" Target="https://graphicdesign.stackexchange.com/questions/74797/positioning-vertical-watch-dial-numeric-markers-in-illustrator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0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0.pn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49901" y="2054277"/>
            <a:ext cx="516890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10, Lesson 6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Problems Involving Inscribed Angles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148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12701"/>
            <a:ext cx="4094106" cy="6870701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ADCE3FE7-B71C-E44E-AEBC-574B47F8940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677" y="1603831"/>
            <a:ext cx="3126752" cy="3644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4475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8425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MA.912.GR.6.2</a:t>
            </a:r>
          </a:p>
          <a:p>
            <a:pPr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mathematical and real-world problems involving the measures of arcs and related angles.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37892"/>
            <a:ext cx="8549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604615"/>
            <a:ext cx="104221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56575" y="38885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413" y="3280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57200" y="1608425"/>
            <a:ext cx="110667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use the relationship between the measure of an inscribed angle and its intercepted arc to solve problems.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875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-19938"/>
            <a:ext cx="963993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10.6.1 Warm-Up: Angles on a Clock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50" y="20571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93248" y="1394251"/>
                <a:ext cx="8327136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clock to answer the following questions.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the time is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10:10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the hour hand does not move, what is the exact angle between the minute hand and hour hand?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94251"/>
                <a:ext cx="8327136" cy="5262979"/>
              </a:xfrm>
              <a:prstGeom prst="rect">
                <a:avLst/>
              </a:prstGeom>
              <a:blipFill>
                <a:blip r:embed="rId5"/>
                <a:stretch>
                  <a:fillRect l="-952" t="-811" r="-1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lignment - Positioning vertical watch dial numeric ..."/>
          <p:cNvPicPr/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rcRect l="8044" t="3055" r="8592" b="4636"/>
          <a:stretch/>
        </p:blipFill>
        <p:spPr bwMode="auto">
          <a:xfrm>
            <a:off x="2638896" y="1992244"/>
            <a:ext cx="3208655" cy="31877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Oval 9"/>
          <p:cNvSpPr>
            <a:spLocks noChangeAspect="1"/>
          </p:cNvSpPr>
          <p:nvPr/>
        </p:nvSpPr>
        <p:spPr>
          <a:xfrm>
            <a:off x="5681188" y="3514052"/>
            <a:ext cx="127000" cy="127635"/>
          </a:xfrm>
          <a:prstGeom prst="ellipse">
            <a:avLst/>
          </a:prstGeom>
          <a:solidFill>
            <a:schemeClr val="tx1"/>
          </a:solidFill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6052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4" y="520394"/>
                <a:ext cx="11272893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the hour hand does move, what is the exact angle if the time is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7:30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the hour hand does move, what is the exact angle if the time is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7:35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520394"/>
                <a:ext cx="11272893" cy="2123658"/>
              </a:xfrm>
              <a:prstGeom prst="rect">
                <a:avLst/>
              </a:prstGeom>
              <a:blipFill>
                <a:blip r:embed="rId4"/>
                <a:stretch>
                  <a:fillRect t="-2292" b="-4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7638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45011" y="68550"/>
            <a:ext cx="972131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10.6.2 Exploration: Inscribed Angles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8714" y="316675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85610" y="1394250"/>
                <a:ext cx="83271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points on the circle.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610" y="1394250"/>
                <a:ext cx="8327136" cy="400110"/>
              </a:xfrm>
              <a:prstGeom prst="rect">
                <a:avLst/>
              </a:prstGeom>
              <a:blipFill>
                <a:blip r:embed="rId5"/>
                <a:stretch>
                  <a:fillRect l="-805" t="-10769" r="-732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1040969" y="1788787"/>
            <a:ext cx="6829261" cy="1106990"/>
          </a:xfrm>
          <a:prstGeom prst="roundRect">
            <a:avLst>
              <a:gd name="adj" fmla="val 16667"/>
            </a:avLst>
          </a:prstGeom>
          <a:solidFill>
            <a:srgbClr val="E2EED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2000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</a:t>
            </a:r>
            <a:r>
              <a:rPr lang="en-US" sz="2000" b="1" i="1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chord</a:t>
            </a:r>
            <a:r>
              <a:rPr lang="en-US" sz="2000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 a line segment on the interior of a circle with both endpoints lying on the circle.</a:t>
            </a:r>
            <a:endParaRPr lang="en-US" sz="20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040968" y="3075093"/>
            <a:ext cx="6629400" cy="1229446"/>
            <a:chOff x="2031300" y="3179134"/>
            <a:chExt cx="6629400" cy="1229891"/>
          </a:xfrm>
        </p:grpSpPr>
        <p:grpSp>
          <p:nvGrpSpPr>
            <p:cNvPr id="12" name="Group 11"/>
            <p:cNvGrpSpPr/>
            <p:nvPr/>
          </p:nvGrpSpPr>
          <p:grpSpPr>
            <a:xfrm>
              <a:off x="2031300" y="3179134"/>
              <a:ext cx="6629400" cy="1229891"/>
              <a:chOff x="2031300" y="3179134"/>
              <a:chExt cx="6629400" cy="1229891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14" name="Group 13"/>
              <p:cNvGrpSpPr/>
              <p:nvPr/>
            </p:nvGrpSpPr>
            <p:grpSpPr>
              <a:xfrm>
                <a:off x="2031300" y="3179134"/>
                <a:ext cx="6629400" cy="1229891"/>
                <a:chOff x="0" y="-194466"/>
                <a:chExt cx="6629400" cy="1229891"/>
              </a:xfrm>
            </p:grpSpPr>
            <p:sp>
              <p:nvSpPr>
                <p:cNvPr id="16" name="Rectangle 15"/>
                <p:cNvSpPr/>
                <p:nvPr/>
              </p:nvSpPr>
              <p:spPr>
                <a:xfrm>
                  <a:off x="0" y="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MS Mincho" panose="02020609040205080304" pitchFamily="49" charset="-128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17" name="Rounded Rectangle 16"/>
                <p:cNvSpPr/>
                <p:nvPr/>
              </p:nvSpPr>
              <p:spPr>
                <a:xfrm>
                  <a:off x="0" y="-194466"/>
                  <a:ext cx="6629400" cy="1229891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2EED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742950">
                    <a:spcAft>
                      <a:spcPts val="1000"/>
                    </a:spcAft>
                  </a:pP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An </a:t>
                  </a:r>
                  <a:r>
                    <a:rPr lang="en-US" sz="2000" b="1" i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inscribed angle in a circle</a:t>
                  </a: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is an angle which is formed in the interior of a circle when two chords share an endpoint.</a:t>
                  </a:r>
                  <a:endParaRPr lang="en-US" sz="2000" dirty="0"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18" name="Shape 7" descr="Icon&#10;&#10;Description automatically generated"/>
                <p:cNvPicPr preferRelativeResize="0"/>
                <p:nvPr/>
              </p:nvPicPr>
              <p:blipFill rotWithShape="1">
                <a:blip r:embed="rId6" cstate="screen">
                  <a:alphaModFix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195247" y="-119271"/>
                  <a:ext cx="539750" cy="53975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</p:grpSp>
      </p:grpSp>
      <p:pic>
        <p:nvPicPr>
          <p:cNvPr id="19" name="Picture 18"/>
          <p:cNvPicPr/>
          <p:nvPr/>
        </p:nvPicPr>
        <p:blipFill>
          <a:blip r:embed="rId7"/>
          <a:stretch>
            <a:fillRect/>
          </a:stretch>
        </p:blipFill>
        <p:spPr>
          <a:xfrm>
            <a:off x="1506091" y="4423767"/>
            <a:ext cx="2464191" cy="22907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4074507" y="4728607"/>
                <a:ext cx="4572000" cy="168110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sz="20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Central Angle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𝑚</m:t>
                    </m:r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∠</m:t>
                    </m:r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𝑃𝐿𝐶</m:t>
                    </m:r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=110°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			 </a:t>
                </a:r>
                <a:r>
                  <a:rPr lang="en-US" sz="2000" dirty="0">
                    <a:solidFill>
                      <a:srgbClr val="76923C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Inscribed Angle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76923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𝑚</m:t>
                    </m:r>
                    <m:r>
                      <a:rPr lang="en-US" sz="2000" i="1">
                        <a:solidFill>
                          <a:srgbClr val="76923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∠</m:t>
                    </m:r>
                    <m:r>
                      <a:rPr lang="en-US" sz="2000" i="1">
                        <a:solidFill>
                          <a:srgbClr val="76923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𝑃𝑀𝐶</m:t>
                    </m:r>
                    <m:r>
                      <a:rPr lang="en-US" sz="2000" i="1">
                        <a:solidFill>
                          <a:srgbClr val="76923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=55°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			</a:t>
                </a:r>
              </a:p>
              <a:p>
                <a:r>
                  <a:rPr lang="en-US" sz="2000" dirty="0">
                    <a:solidFill>
                      <a:srgbClr val="0070C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Arc Measure </a:t>
                </a:r>
                <a14:m>
                  <m:oMath xmlns:m="http://schemas.openxmlformats.org/officeDocument/2006/math"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𝑃𝐶</m:t>
                        </m:r>
                      </m:e>
                    </m:groupChr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=110°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4507" y="4728607"/>
                <a:ext cx="4572000" cy="1681101"/>
              </a:xfrm>
              <a:prstGeom prst="rect">
                <a:avLst/>
              </a:prstGeom>
              <a:blipFill>
                <a:blip r:embed="rId8"/>
                <a:stretch>
                  <a:fillRect l="-1333" t="-2182" b="-5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40565" y="382314"/>
            <a:ext cx="1096113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connection between the central angle and the arc measure?</a:t>
            </a: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the relationship between the central angle and the inscribed angle. </a:t>
            </a: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 conclusion about the measures of the central angle, the inscribed angle, and the arc measure.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67701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2345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407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52910" y="374089"/>
            <a:ext cx="1090116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4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Share your response to Part C with two classmates. Listen to their conclusion and summarize it in the table. </a:t>
            </a:r>
            <a:r>
              <a:rPr lang="en-US" sz="2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 are the only person who should write in the first column of the table.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Have the person initial next to your summary stating your summary was correct.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572530"/>
              </p:ext>
            </p:extLst>
          </p:nvPr>
        </p:nvGraphicFramePr>
        <p:xfrm>
          <a:off x="874456" y="2843956"/>
          <a:ext cx="8005590" cy="27533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831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3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My Summary of Their Conclusion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Initials 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71584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6808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4073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5" y="382315"/>
                <a:ext cx="832713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5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Using Circle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complete the table.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82315"/>
                <a:ext cx="8327136" cy="430887"/>
              </a:xfrm>
              <a:prstGeom prst="rect">
                <a:avLst/>
              </a:prstGeom>
              <a:blipFill>
                <a:blip r:embed="rId4"/>
                <a:stretch>
                  <a:fillRect t="-11429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3740830"/>
                  </p:ext>
                </p:extLst>
              </p:nvPr>
            </p:nvGraphicFramePr>
            <p:xfrm>
              <a:off x="1089788" y="1207536"/>
              <a:ext cx="6951683" cy="292608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18938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4257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3653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Central Angle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Inscribed Angle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Arc Measure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216°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81°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143°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145°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3740830"/>
                  </p:ext>
                </p:extLst>
              </p:nvPr>
            </p:nvGraphicFramePr>
            <p:xfrm>
              <a:off x="1089788" y="1207536"/>
              <a:ext cx="6951683" cy="292608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18938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4257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3653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Central Angle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Inscribed Angle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Arc Measure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278" t="-64762" r="-217778" b="-3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90704" t="-163208" r="-9698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197656" t="-265714" r="-521" b="-10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90704" t="-365714" r="-96985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715847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1790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5" y="374089"/>
                <a:ext cx="8327136" cy="4493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𝐴𝐿𝑇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inscribed in semicircle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as shown.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the angle inscribed in the semicircle.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74089"/>
                <a:ext cx="8327136" cy="4493538"/>
              </a:xfrm>
              <a:prstGeom prst="rect">
                <a:avLst/>
              </a:prstGeom>
              <a:blipFill>
                <a:blip r:embed="rId4"/>
                <a:stretch>
                  <a:fillRect l="-1025" t="-1085" b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/>
          <p:nvPr/>
        </p:nvPicPr>
        <p:blipFill>
          <a:blip r:embed="rId5"/>
          <a:stretch>
            <a:fillRect/>
          </a:stretch>
        </p:blipFill>
        <p:spPr>
          <a:xfrm>
            <a:off x="1465820" y="1128032"/>
            <a:ext cx="5248275" cy="2838450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1063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6" y="374089"/>
                <a:ext cx="5801240" cy="8243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the entire Circle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shown, what is the measure of </a:t>
                </a:r>
                <a14:m>
                  <m:oMath xmlns:m="http://schemas.openxmlformats.org/officeDocument/2006/math"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𝐴𝑇</m:t>
                        </m:r>
                      </m:e>
                    </m:groupCh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6" y="374089"/>
                <a:ext cx="5801240" cy="824393"/>
              </a:xfrm>
              <a:prstGeom prst="rect">
                <a:avLst/>
              </a:prstGeom>
              <a:blipFill>
                <a:blip r:embed="rId4"/>
                <a:stretch>
                  <a:fillRect t="-5882" b="-13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/>
          <p:nvPr/>
        </p:nvPicPr>
        <p:blipFill>
          <a:blip r:embed="rId5"/>
          <a:stretch>
            <a:fillRect/>
          </a:stretch>
        </p:blipFill>
        <p:spPr>
          <a:xfrm>
            <a:off x="6830829" y="374089"/>
            <a:ext cx="3376095" cy="275463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40565" y="3342831"/>
            <a:ext cx="804521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57200">
              <a:buFont typeface="+mj-lt"/>
              <a:buAutoNum type="alphaLcPeriod" startAt="3"/>
            </a:pPr>
            <a:r>
              <a:rPr lang="en-US" sz="2200" dirty="0"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Discuss with your partner the relationship between an inscribed angle and a semicircle. </a:t>
            </a:r>
            <a:endParaRPr lang="en-US" sz="2200" dirty="0"/>
          </a:p>
        </p:txBody>
      </p:sp>
      <p:grpSp>
        <p:nvGrpSpPr>
          <p:cNvPr id="8" name="Group 7"/>
          <p:cNvGrpSpPr/>
          <p:nvPr/>
        </p:nvGrpSpPr>
        <p:grpSpPr>
          <a:xfrm>
            <a:off x="1121360" y="4842970"/>
            <a:ext cx="6629400" cy="1357630"/>
            <a:chOff x="0" y="1"/>
            <a:chExt cx="6629400" cy="1358020"/>
          </a:xfrm>
        </p:grpSpPr>
        <p:sp>
          <p:nvSpPr>
            <p:cNvPr id="9" name="Rounded Rectangle 8"/>
            <p:cNvSpPr/>
            <p:nvPr/>
          </p:nvSpPr>
          <p:spPr>
            <a:xfrm>
              <a:off x="0" y="1"/>
              <a:ext cx="6629400" cy="1358020"/>
            </a:xfrm>
            <a:prstGeom prst="roundRect">
              <a:avLst>
                <a:gd name="adj" fmla="val 16667"/>
              </a:avLst>
            </a:prstGeom>
            <a:solidFill>
              <a:srgbClr val="AEDBF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685800">
                <a:lnSpc>
                  <a:spcPct val="115000"/>
                </a:lnSpc>
              </a:pPr>
              <a:r>
                <a:rPr lang="en-US" sz="2000" b="1" dirty="0">
                  <a:solidFill>
                    <a:srgbClr val="00619E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Inscribed Angle Theorem</a:t>
              </a:r>
              <a:endPara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685800">
                <a:lnSpc>
                  <a:spcPct val="114000"/>
                </a:lnSpc>
                <a:spcAft>
                  <a:spcPts val="1000"/>
                </a:spcAft>
              </a:pPr>
              <a:r>
                <a:rPr lang="en-US" sz="2000" dirty="0">
                  <a:solidFill>
                    <a:srgbClr val="00619E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The measure of an inscribed angle is one-half the measure of the intercepted arc.</a:t>
              </a:r>
              <a:endPara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10" name="Shape 6" descr="Icon&#10;&#10;Description automatically generated"/>
            <p:cNvPicPr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17695" y="162962"/>
              <a:ext cx="548640" cy="54864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1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3501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2700"/>
            <a:ext cx="2731200" cy="68707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3956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419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66606" y="-110951"/>
            <a:ext cx="1112539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10.6.3 Guided Practice: Inscribed Angles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6798" y="12881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607204" y="1386026"/>
                <a:ext cx="11006990" cy="822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 where points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are on the circle.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𝑅𝑊𝐻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inscribed inside Circle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𝑅𝐻</m:t>
                        </m:r>
                      </m:e>
                    </m:groupCh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=80°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Find the value of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204" y="1386026"/>
                <a:ext cx="11006990" cy="822213"/>
              </a:xfrm>
              <a:prstGeom prst="rect">
                <a:avLst/>
              </a:prstGeom>
              <a:blipFill>
                <a:blip r:embed="rId5"/>
                <a:stretch>
                  <a:fillRect l="-776" t="-5926" b="-14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Diagram&#10;&#10;Description automatically generated"/>
          <p:cNvPicPr/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635" t="12773" r="2508"/>
          <a:stretch/>
        </p:blipFill>
        <p:spPr bwMode="auto">
          <a:xfrm>
            <a:off x="2094844" y="2379516"/>
            <a:ext cx="4226291" cy="353854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Google Shape;282;g104476d1465_1_17"/>
          <p:cNvSpPr txBox="1"/>
          <p:nvPr/>
        </p:nvSpPr>
        <p:spPr>
          <a:xfrm>
            <a:off x="887596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465233" y="394506"/>
                <a:ext cx="10758290" cy="807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Points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lie on Circle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𝐺𝐶𝑊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inscribed in the circle. Find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given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𝐺𝑌𝑊</m:t>
                        </m:r>
                      </m:e>
                    </m:groupCh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=192°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𝐺𝐶𝑊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=(31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+3)°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3" y="394506"/>
                <a:ext cx="10758290" cy="807016"/>
              </a:xfrm>
              <a:prstGeom prst="rect">
                <a:avLst/>
              </a:prstGeom>
              <a:blipFill>
                <a:blip r:embed="rId4"/>
                <a:stretch>
                  <a:fillRect l="-737" t="-6061" b="-14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Diagram, venn diagram&#10;&#10;Description automatically generated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8723" y="1201522"/>
            <a:ext cx="3335655" cy="3436620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9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465232" y="386281"/>
                <a:ext cx="11362974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Boats use angle measures and arcs when sailing in treacherous waters. When a boat captain turns on the boat light, it forms inscribed angle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𝑁𝑇𝐷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Use the information for Circle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find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𝑁𝐷𝑇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386281"/>
                <a:ext cx="11362974" cy="1107996"/>
              </a:xfrm>
              <a:prstGeom prst="rect">
                <a:avLst/>
              </a:prstGeom>
              <a:blipFill>
                <a:blip r:embed="rId4"/>
                <a:stretch>
                  <a:fillRect l="-697" t="-3846" r="-590" b="-104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24702" y="2025376"/>
            <a:ext cx="3504199" cy="3510011"/>
          </a:xfrm>
          <a:prstGeom prst="rect">
            <a:avLst/>
          </a:prstGeom>
        </p:spPr>
      </p:pic>
      <p:pic>
        <p:nvPicPr>
          <p:cNvPr id="7" name="Graphic 50" descr="Tug boat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16719" y="4163876"/>
            <a:ext cx="783590" cy="7835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51"/>
              <p:cNvSpPr txBox="1"/>
              <p:nvPr/>
            </p:nvSpPr>
            <p:spPr>
              <a:xfrm>
                <a:off x="4347450" y="5043306"/>
                <a:ext cx="1367155" cy="39624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m:t>(7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m:t>−10)°</m:t>
                      </m:r>
                    </m:oMath>
                  </m:oMathPara>
                </a14:m>
                <a:endParaRPr lang="en-US" sz="20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 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450" y="5043306"/>
                <a:ext cx="1367155" cy="39624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52"/>
              <p:cNvSpPr txBox="1"/>
              <p:nvPr/>
            </p:nvSpPr>
            <p:spPr>
              <a:xfrm>
                <a:off x="4919539" y="2258671"/>
                <a:ext cx="1619704" cy="39624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m:t>(13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m:t>−10)°</m:t>
                      </m:r>
                    </m:oMath>
                  </m:oMathPara>
                </a14:m>
                <a:endParaRPr lang="en-US" sz="20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 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9539" y="2258671"/>
                <a:ext cx="1619704" cy="39624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79236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1194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9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465231" y="386282"/>
            <a:ext cx="10242097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Craig and Valentina are reviewing circles to identify inscribed angles.</a:t>
            </a:r>
          </a:p>
          <a:p>
            <a:pPr marL="457200" indent="-457200">
              <a:buFont typeface="+mj-lt"/>
              <a:buAutoNum type="arabicPeriod" startAt="4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Valentina identified Circle C is an inscribed angle. Craig identified both Circle A and Circle C as inscribed angles. </a:t>
            </a:r>
          </a:p>
          <a:p>
            <a:pPr marL="457200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 you agree with Valentina, Craig, or neither? Justify your reasoning.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224" y="1391054"/>
            <a:ext cx="7028528" cy="2756405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79236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944396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5707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36943" y="6032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10.6.4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643" y="60325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77541" y="1157423"/>
                <a:ext cx="1043950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 where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𝐸𝑇𝐵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central angle,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𝐸𝑅𝐵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inscribed in the circle, and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𝐸𝑇𝐵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=62°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Find 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𝐸𝑅𝐵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541" y="1157423"/>
                <a:ext cx="10439504" cy="769441"/>
              </a:xfrm>
              <a:prstGeom prst="rect">
                <a:avLst/>
              </a:prstGeom>
              <a:blipFill>
                <a:blip r:embed="rId5"/>
                <a:stretch>
                  <a:fillRect l="-818" t="-6349" b="-150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Diagram&#10;&#10;Description automatically generated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1730" y="2113771"/>
            <a:ext cx="3684270" cy="3350260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465231" y="398473"/>
                <a:ext cx="10861530" cy="8243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has points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circle.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𝐷𝑆𝐿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inscribed in Circle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measuring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95°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 Given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𝑆𝐿</m:t>
                        </m:r>
                      </m:e>
                    </m:groupCh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=75°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find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𝐷𝑆</m:t>
                        </m:r>
                      </m:e>
                    </m:groupCh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1" y="398473"/>
                <a:ext cx="10861530" cy="824393"/>
              </a:xfrm>
              <a:prstGeom prst="rect">
                <a:avLst/>
              </a:prstGeom>
              <a:blipFill>
                <a:blip r:embed="rId4"/>
                <a:stretch>
                  <a:fillRect l="-701" t="-6061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Diagram, venn diagram&#10;&#10;Description automatically generated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6359" y="1616371"/>
            <a:ext cx="3409315" cy="3140710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465232" y="398473"/>
                <a:ext cx="1116291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Equilateral triangle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𝐶𝐾𝑉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inscribed in Circle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Circle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consists of three equal inscribed angles. Determine the value of the inscribed angle.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398473"/>
                <a:ext cx="11162918" cy="769441"/>
              </a:xfrm>
              <a:prstGeom prst="rect">
                <a:avLst/>
              </a:prstGeom>
              <a:blipFill>
                <a:blip r:embed="rId4"/>
                <a:stretch>
                  <a:fillRect l="-710" t="-6299" b="-157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/>
          <p:nvPr/>
        </p:nvPicPr>
        <p:blipFill>
          <a:blip r:embed="rId5"/>
          <a:stretch>
            <a:fillRect/>
          </a:stretch>
        </p:blipFill>
        <p:spPr>
          <a:xfrm>
            <a:off x="2234836" y="1167914"/>
            <a:ext cx="4368800" cy="4192270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38243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-8257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10.6.5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0325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93248" y="1386025"/>
            <a:ext cx="1093067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was the </a:t>
            </a:r>
            <a:r>
              <a:rPr lang="en-US" sz="22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muddiest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(most difficult or confusing) point in today’s lesson on solving problems using the relationship between the measure of an inscribed angle and its intercepted arc?</a:t>
            </a:r>
          </a:p>
        </p:txBody>
      </p:sp>
      <p:pic>
        <p:nvPicPr>
          <p:cNvPr id="8" name="image24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2534120" y="2975472"/>
            <a:ext cx="3313430" cy="2317115"/>
          </a:xfrm>
          <a:prstGeom prst="rect">
            <a:avLst/>
          </a:prstGeom>
          <a:ln/>
        </p:spPr>
      </p:pic>
      <p:sp>
        <p:nvSpPr>
          <p:cNvPr id="10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1299</TotalTime>
  <Words>1036</Words>
  <Application>Microsoft Macintosh PowerPoint</Application>
  <PresentationFormat>Widescreen</PresentationFormat>
  <Paragraphs>180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Verdana</vt:lpstr>
      <vt:lpstr>Arial</vt:lpstr>
      <vt:lpstr>Cambria</vt:lpstr>
      <vt:lpstr>Century Gothic</vt:lpstr>
      <vt:lpstr>Calibri</vt:lpstr>
      <vt:lpstr>Arial Black</vt:lpstr>
      <vt:lpstr>Cambria Math</vt:lpstr>
      <vt:lpstr>1_Office Theme</vt:lpstr>
      <vt:lpstr>Geometry  Unit 10, Lesson 6  Solving Problems Involving Inscribed Angles  Volume 2, pg. 148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Diana Barnett</cp:lastModifiedBy>
  <cp:revision>24</cp:revision>
  <dcterms:created xsi:type="dcterms:W3CDTF">2015-03-17T18:51:18Z</dcterms:created>
  <dcterms:modified xsi:type="dcterms:W3CDTF">2023-03-02T18:56:32Z</dcterms:modified>
</cp:coreProperties>
</file>