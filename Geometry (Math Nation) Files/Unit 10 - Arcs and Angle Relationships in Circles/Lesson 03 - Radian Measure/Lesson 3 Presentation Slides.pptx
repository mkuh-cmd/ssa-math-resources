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j1lvpfyDVgnqk+nTWDpYtix3Ti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54F03E-4935-4907-8F8F-5991E00987AF}">
  <a:tblStyle styleId="{E954F03E-4935-4907-8F8F-5991E00987A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10"/>
    <p:restoredTop sz="94695"/>
  </p:normalViewPr>
  <p:slideViewPr>
    <p:cSldViewPr snapToGrid="0">
      <p:cViewPr varScale="1">
        <p:scale>
          <a:sx n="79" d="100"/>
          <a:sy n="79" d="100"/>
        </p:scale>
        <p:origin x="224" y="8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43" Type="http://customschemas.google.com/relationships/presentationmetadata" Target="meta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10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 i="0" u="none" strike="noStrike" cap="none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3</a:t>
            </a:r>
            <a:b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Radian Measure</a:t>
            </a:r>
            <a:b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130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endParaRPr sz="3400" b="1" i="0" u="none" strike="noStrike" cap="none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 b="0" i="0" u="none" strike="noStrike" cap="none">
              <a:solidFill>
                <a:srgbClr val="417D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g104476d1465_0_0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677" y="1603831"/>
            <a:ext cx="3126752" cy="3644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889924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130</a:t>
            </a:r>
            <a:endParaRPr/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514000" y="1608425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MA.912.GR.6.4</a:t>
            </a:r>
            <a:endParaRPr/>
          </a:p>
          <a:p>
            <a:pPr marL="457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3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Solve mathematical and </a:t>
            </a:r>
            <a:br>
              <a:rPr lang="en-US" sz="3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real-world problems involving </a:t>
            </a:r>
            <a:br>
              <a:rPr lang="en-US" sz="3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arc length and area of a sector in a given circle.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35" name="Google Shape;135;p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125200" y="137892"/>
            <a:ext cx="881037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i="0" u="none" strike="noStrike" cap="non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7" name="Google Shape;137;p1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130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101760" y="1604615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6" name="Google Shape;146;p2"/>
          <p:cNvSpPr txBox="1"/>
          <p:nvPr/>
        </p:nvSpPr>
        <p:spPr>
          <a:xfrm>
            <a:off x="10565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i="0" u="none" strike="noStrike" cap="non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/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4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130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457200" y="1600200"/>
            <a:ext cx="110667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6575" marR="0" lvl="0" indent="-5302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define radian.</a:t>
            </a:r>
            <a:endParaRPr sz="35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536575" marR="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Font typeface="Verdana"/>
              <a:buNone/>
            </a:pPr>
            <a:endParaRPr sz="35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536575" marR="0" lvl="0" indent="-5302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explain the relationship between the length of the arc intercepted by an angle to the radius.</a:t>
            </a:r>
            <a:endParaRPr sz="35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57" name="Google Shape;157;g104476d1465_1_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130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7" name="Google Shape;167;p4"/>
          <p:cNvSpPr txBox="1"/>
          <p:nvPr/>
        </p:nvSpPr>
        <p:spPr>
          <a:xfrm>
            <a:off x="1052650" y="283915"/>
            <a:ext cx="992015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i="0" u="none" strike="noStrike" cap="non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10.3.1 Warm-Up: Would You Rather?</a:t>
            </a:r>
            <a:endParaRPr/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2057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4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130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679000" y="3207190"/>
            <a:ext cx="10293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Which would you rather choose? Justify your reasoning using mathematics.</a:t>
            </a:r>
            <a:endParaRPr sz="16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2724151" y="3344962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="" xmlns:a16="http://schemas.microsoft.com/office/drawing/2014/main" id="{6F8E1F1A-C952-5AAB-9F83-81B03A6B4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7620" y="1011002"/>
            <a:ext cx="8496559" cy="20614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0" name="Google Shape;180;p5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131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5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90" name="Google Shape;190;p6"/>
          <p:cNvSpPr txBox="1"/>
          <p:nvPr/>
        </p:nvSpPr>
        <p:spPr>
          <a:xfrm>
            <a:off x="1052650" y="685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i="0" u="none" strike="noStrike" cap="none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10.3.2 Exploration: Discovering Radian Measure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131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6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6352" y="316675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3" name="Google Shape;193;p6"/>
          <p:cNvSpPr txBox="1"/>
          <p:nvPr/>
        </p:nvSpPr>
        <p:spPr>
          <a:xfrm>
            <a:off x="593248" y="1394250"/>
            <a:ext cx="11034902" cy="304698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827" t="-15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0" y="7142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05927" y="621596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01" name="Google Shape;201;p7"/>
          <p:cNvSpPr txBox="1"/>
          <p:nvPr/>
        </p:nvSpPr>
        <p:spPr>
          <a:xfrm>
            <a:off x="8867701" y="647304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131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540565" y="389457"/>
            <a:ext cx="11065362" cy="458003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605" t="-797" r="-881" b="-146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0" name="Google Shape;210;p8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131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509034" y="374090"/>
            <a:ext cx="10477413" cy="126047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30" t="-4829" b="-772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2" name="Google Shape;212;p8"/>
              <p:cNvGraphicFramePr/>
              <p:nvPr>
                <p:extLst>
                  <p:ext uri="{D42A27DB-BD31-4B8C-83A1-F6EECF244321}">
                    <p14:modId xmlns:p14="http://schemas.microsoft.com/office/powerpoint/2010/main" val="670791067"/>
                  </p:ext>
                </p:extLst>
              </p:nvPr>
            </p:nvGraphicFramePr>
            <p:xfrm>
              <a:off x="1194674" y="1785883"/>
              <a:ext cx="7560000" cy="2160000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{E954F03E-4935-4907-8F8F-5991E00987AF}</a:tableStyleId>
                  </a:tblPr>
                  <a:tblGrid>
                    <a:gridCol w="216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 smtClean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Radius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u="none" strike="noStrike" cap="none" dirty="0" smtClean="0"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𝒓</m:t>
                              </m:r>
                            </m:oMath>
                          </a14:m>
                          <a:r>
                            <a:rPr lang="en-US" sz="2000" b="1" u="none" strike="noStrike" cap="none" dirty="0" smtClean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)</a:t>
                          </a:r>
                          <a:endParaRPr sz="2000" b="1" u="none" strike="noStrike" cap="none" dirty="0"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u="none" strike="noStrike" cap="none" dirty="0" smtClean="0"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</m:t>
                              </m:r>
                              <m:r>
                                <a:rPr lang="en-US" sz="2000" i="1" u="none" strike="noStrike" cap="none" baseline="-25000" dirty="0" smtClean="0"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𝑒𝑛𝑡𝑟𝑎𝑙𝐴𝑛𝑔𝑙𝑒</m:t>
                              </m:r>
                            </m:oMath>
                          </a14:m>
                          <a:r>
                            <a:rPr lang="en-US" sz="2000" u="none" strike="noStrike" cap="none" baseline="-25000" dirty="0" smtClean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u="none" strike="noStrike" cap="none" baseline="0" dirty="0" smtClean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b="1" u="none" strike="noStrike" cap="none" baseline="0" dirty="0" smtClean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de-DE" sz="2000" b="1" i="1" u="none" strike="noStrike" cap="none" baseline="0" dirty="0" smtClean="0"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US" sz="2000" b="1" u="none" strike="noStrike" cap="none" baseline="0" dirty="0" smtClean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)</a:t>
                          </a:r>
                          <a:endParaRPr lang="en-US" sz="2000" b="1" u="none" strike="noStrike" cap="none" baseline="0" dirty="0"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cap="none" dirty="0" smtClean="0"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𝐴</m:t>
                                </m:r>
                                <m:r>
                                  <a:rPr lang="en-US" sz="2000" b="0" i="1" u="none" strike="noStrike" cap="none" baseline="-25000" dirty="0" smtClean="0"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𝑟𝑐𝐿𝑒𝑛𝑔𝑡h</m:t>
                                </m:r>
                              </m:oMath>
                            </m:oMathPara>
                          </a14:m>
                          <a:endParaRPr lang="en-US" sz="2000" u="none" strike="noStrike" cap="none" baseline="-25000" dirty="0"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2" name="Google Shape;212;p8"/>
              <p:cNvGraphicFramePr/>
              <p:nvPr>
                <p:extLst>
                  <p:ext uri="{D42A27DB-BD31-4B8C-83A1-F6EECF244321}">
                    <p14:modId xmlns:p14="http://schemas.microsoft.com/office/powerpoint/2010/main" val="670791067"/>
                  </p:ext>
                </p:extLst>
              </p:nvPr>
            </p:nvGraphicFramePr>
            <p:xfrm>
              <a:off x="1194674" y="1785883"/>
              <a:ext cx="7560000" cy="2160000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{E954F03E-4935-4907-8F8F-5991E00987AF}</a:tableStyleId>
                  </a:tblPr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0">
                          <a:blip r:embed="rId5"/>
                          <a:stretch>
                            <a:fillRect l="-282" t="-840" r="-250704" b="-2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0">
                          <a:blip r:embed="rId5"/>
                          <a:stretch>
                            <a:fillRect l="-282" t="-101695" r="-250704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0">
                          <a:blip r:embed="rId5"/>
                          <a:stretch>
                            <a:fillRect l="-282" t="-200000" r="-250704" b="-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3" name="Google Shape;213;p8"/>
          <p:cNvSpPr/>
          <p:nvPr/>
        </p:nvSpPr>
        <p:spPr>
          <a:xfrm>
            <a:off x="519545" y="4261609"/>
            <a:ext cx="1075350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2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Describe the relationship observed in the table between the measure of the arc length and the measure of the radius</a:t>
            </a:r>
            <a:r>
              <a:rPr lang="en-US" sz="2400" b="0" i="0" u="none" strike="noStrike" cap="none" dirty="0" smtClea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600" b="0" i="0" u="none" strike="noStrike" cap="none" baseline="-25000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7439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21" name="Google Shape;221;p9"/>
          <p:cNvSpPr txBox="1"/>
          <p:nvPr/>
        </p:nvSpPr>
        <p:spPr>
          <a:xfrm>
            <a:off x="883617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131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509034" y="374090"/>
            <a:ext cx="10354583" cy="123040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40" t="-4947" r="-1117" b="-98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509035" y="4261609"/>
            <a:ext cx="1035458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74662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4"/>
            </a:pP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Describe the relationship observed in the table between the measure of the arc length and the measure of the radius. </a:t>
            </a:r>
            <a:endParaRPr sz="16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Google Shape;212;p8"/>
              <p:cNvGraphicFramePr/>
              <p:nvPr>
                <p:extLst>
                  <p:ext uri="{D42A27DB-BD31-4B8C-83A1-F6EECF244321}">
                    <p14:modId xmlns:p14="http://schemas.microsoft.com/office/powerpoint/2010/main" val="1167429242"/>
                  </p:ext>
                </p:extLst>
              </p:nvPr>
            </p:nvGraphicFramePr>
            <p:xfrm>
              <a:off x="1553903" y="1816541"/>
              <a:ext cx="7560000" cy="2160000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{E954F03E-4935-4907-8F8F-5991E00987AF}</a:tableStyleId>
                  </a:tblPr>
                  <a:tblGrid>
                    <a:gridCol w="216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 smtClean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Radius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u="none" strike="noStrike" cap="none" dirty="0" smtClean="0"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𝒓</m:t>
                              </m:r>
                            </m:oMath>
                          </a14:m>
                          <a:r>
                            <a:rPr lang="en-US" sz="2000" b="1" u="none" strike="noStrike" cap="none" dirty="0" smtClean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)</a:t>
                          </a:r>
                          <a:endParaRPr sz="2000" b="1" u="none" strike="noStrike" cap="none" dirty="0"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u="none" strike="noStrike" cap="none" dirty="0" smtClean="0"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𝐶</m:t>
                              </m:r>
                              <m:r>
                                <a:rPr lang="en-US" sz="2000" i="1" u="none" strike="noStrike" cap="none" baseline="-25000" dirty="0" smtClean="0"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𝑒𝑛𝑡𝑟𝑎𝑙𝐴𝑛𝑔𝑙𝑒</m:t>
                              </m:r>
                            </m:oMath>
                          </a14:m>
                          <a:r>
                            <a:rPr lang="en-US" sz="2000" u="none" strike="noStrike" cap="none" baseline="-25000" dirty="0" smtClean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u="none" strike="noStrike" cap="none" baseline="0" dirty="0" smtClean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b="1" u="none" strike="noStrike" cap="none" baseline="0" dirty="0" smtClean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de-DE" sz="2000" b="1" i="1" u="none" strike="noStrike" cap="none" baseline="0" dirty="0" smtClean="0"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US" sz="2000" b="1" u="none" strike="noStrike" cap="none" baseline="0" dirty="0" smtClean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)</a:t>
                          </a:r>
                          <a:endParaRPr lang="en-US" sz="2000" b="1" u="none" strike="noStrike" cap="none" baseline="0" dirty="0"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cap="none" dirty="0" smtClean="0"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𝐴</m:t>
                                </m:r>
                                <m:r>
                                  <a:rPr lang="en-US" sz="2000" b="0" i="1" u="none" strike="noStrike" cap="none" baseline="-25000" dirty="0" smtClean="0"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𝑟𝑐𝐿𝑒𝑛𝑔𝑡h</m:t>
                                </m:r>
                              </m:oMath>
                            </m:oMathPara>
                          </a14:m>
                          <a:endParaRPr lang="en-US" sz="2000" u="none" strike="noStrike" cap="none" baseline="-25000" dirty="0"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Google Shape;212;p8"/>
              <p:cNvGraphicFramePr/>
              <p:nvPr>
                <p:extLst>
                  <p:ext uri="{D42A27DB-BD31-4B8C-83A1-F6EECF244321}">
                    <p14:modId xmlns:p14="http://schemas.microsoft.com/office/powerpoint/2010/main" val="1167429242"/>
                  </p:ext>
                </p:extLst>
              </p:nvPr>
            </p:nvGraphicFramePr>
            <p:xfrm>
              <a:off x="1553903" y="1816541"/>
              <a:ext cx="7560000" cy="2160000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{E954F03E-4935-4907-8F8F-5991E00987AF}</a:tableStyleId>
                  </a:tblPr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0">
                          <a:blip r:embed="rId5"/>
                          <a:stretch>
                            <a:fillRect l="-282" t="-840" r="-250704" b="-2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0">
                          <a:blip r:embed="rId5"/>
                          <a:stretch>
                            <a:fillRect l="-282" t="-101695" r="-250704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0">
                          <a:blip r:embed="rId5"/>
                          <a:stretch>
                            <a:fillRect l="-282" t="-200000" r="-250704" b="-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/>
          <p:nvPr/>
        </p:nvSpPr>
        <p:spPr>
          <a:xfrm>
            <a:off x="0" y="-18894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1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32" name="Google Shape;232;p10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132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540564" y="363420"/>
            <a:ext cx="9411509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5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Complete the statements based on your work in questions 1-4.</a:t>
            </a:r>
            <a:endParaRPr dirty="0"/>
          </a:p>
          <a:p>
            <a:pPr marL="4524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24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radian is a unit used to express the measure of an angle. </a:t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Radians are based on the number of 		         of a circle </a:t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being wrapped along the			               of the circle. </a:t>
            </a:r>
            <a:endParaRPr dirty="0"/>
          </a:p>
          <a:p>
            <a:pPr marL="4524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radian measure of a central angle is equal to the length </a:t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of 	                 the intercepted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by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central angle divided </a:t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by the</a:t>
            </a:r>
            <a:endParaRPr sz="20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096000" y="1709736"/>
            <a:ext cx="1391552" cy="78319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Char char="o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angles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Char char="o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radii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725403" y="2630963"/>
            <a:ext cx="2400544" cy="78319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Char char="o"/>
            </a:pPr>
            <a:r>
              <a:rPr lang="en-US" sz="2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diameter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Char char="o"/>
            </a:pPr>
            <a:r>
              <a:rPr lang="en-US" sz="2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circumference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1575363" y="4429305"/>
            <a:ext cx="1329128" cy="78319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Char char="o"/>
            </a:pPr>
            <a:r>
              <a:rPr lang="en-US" sz="2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arc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Char char="o"/>
            </a:pPr>
            <a:r>
              <a:rPr lang="en-US" sz="2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radius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2082933" y="5387576"/>
            <a:ext cx="1969021" cy="78319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Char char="o"/>
            </a:pPr>
            <a:r>
              <a:rPr lang="en-US" sz="2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radius.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Char char="o"/>
            </a:pPr>
            <a:r>
              <a:rPr lang="en-US" sz="2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arc length.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0" y="-405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45" name="Google Shape;245;p11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132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1" descr="Radian - Simple English Wikipedia, the free encyclopedia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00405" y="366252"/>
            <a:ext cx="2810891" cy="281089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1"/>
          <p:cNvSpPr txBox="1"/>
          <p:nvPr/>
        </p:nvSpPr>
        <p:spPr>
          <a:xfrm>
            <a:off x="518204" y="3429000"/>
            <a:ext cx="10672960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6"/>
            </a:pP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Describe how the diagram shows the relationship between the radius and arc length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1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55" name="Google Shape;255;p12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132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2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1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65" name="Google Shape;265;p13"/>
          <p:cNvSpPr txBox="1"/>
          <p:nvPr/>
        </p:nvSpPr>
        <p:spPr>
          <a:xfrm>
            <a:off x="105265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i="0" u="none" strike="noStrike" cap="none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10.3.3 Exploration: Discovering Radians in a Whole Circle</a:t>
            </a:r>
            <a:endParaRPr/>
          </a:p>
        </p:txBody>
      </p:sp>
      <p:sp>
        <p:nvSpPr>
          <p:cNvPr id="266" name="Google Shape;266;p13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132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13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6352" y="308450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68" name="Google Shape;268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13547" y="2201632"/>
            <a:ext cx="4137629" cy="456925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 txBox="1"/>
          <p:nvPr/>
        </p:nvSpPr>
        <p:spPr>
          <a:xfrm>
            <a:off x="593248" y="1386025"/>
            <a:ext cx="10930676" cy="163121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611" t="-223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1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77" name="Google Shape;277;p14"/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132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540565" y="374090"/>
            <a:ext cx="83271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890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/>
            </a:pP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Complete the table with your partner.</a:t>
            </a:r>
            <a:endParaRPr sz="16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1444442"/>
                  </p:ext>
                </p:extLst>
              </p:nvPr>
            </p:nvGraphicFramePr>
            <p:xfrm>
              <a:off x="2438400" y="1090839"/>
              <a:ext cx="7200000" cy="43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/>
                    <a:gridCol w="2880000"/>
                    <a:gridCol w="2520000"/>
                  </a:tblGrid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Circle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Circumference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Ratio of Circumference to Radius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Radius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𝐸𝐴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=1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effectLst/>
                                    <a:latin typeface="Cambria Math"/>
                                  </a:rPr>
                                  <m:t>unit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Radius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𝐸𝐹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=2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effectLst/>
                                    <a:latin typeface="Cambria Math"/>
                                  </a:rPr>
                                  <m:t>units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Radius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𝐸𝐻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=3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effectLst/>
                                  <a:latin typeface="Cambria Math"/>
                                </a:rPr>
                                <m:t>units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1444442"/>
                  </p:ext>
                </p:extLst>
              </p:nvPr>
            </p:nvGraphicFramePr>
            <p:xfrm>
              <a:off x="2438400" y="1090839"/>
              <a:ext cx="7200000" cy="43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/>
                    <a:gridCol w="2880000"/>
                    <a:gridCol w="2520000"/>
                  </a:tblGrid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Circle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Circumference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Ratio of Circumference to Radius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Radius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𝐸𝐴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=1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effectLst/>
                                    <a:latin typeface="Cambria Math"/>
                                  </a:rPr>
                                  <m:t>unit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Radius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𝐸𝐹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=2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effectLst/>
                                    <a:latin typeface="Cambria Math"/>
                                  </a:rPr>
                                  <m:t>units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 panose="020B0604030504040204" pitchFamily="34" charset="0"/>
                            </a:rPr>
                            <a:t>Radius </a:t>
                          </a:r>
                          <a14:m xmlns:a14="http://schemas.microsoft.com/office/drawing/2010/main"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𝐸𝐻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=3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effectLst/>
                                  <a:latin typeface="Cambria Math"/>
                                </a:rPr>
                                <m:t>units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87" name="Google Shape;287;p15"/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133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540565" y="374089"/>
            <a:ext cx="10961136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890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2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Discuss any observations you made about the values in the table with your partner. Summarize your discussion.</a:t>
            </a:r>
            <a:endParaRPr dirty="0"/>
          </a:p>
          <a:p>
            <a:pPr marL="930275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30275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30275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30275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30275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318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c. Write a conjecture about the ratio of the circumference to radius   and a whole circle measured in radians.</a:t>
            </a:r>
            <a:endParaRPr sz="16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2239202" y="1227428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1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97" name="Google Shape;297;p16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lang="en-US" sz="5500" b="1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133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6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5255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6472" y="2517635"/>
            <a:ext cx="4210485" cy="371718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08" name="Google Shape;308;p17"/>
          <p:cNvSpPr txBox="1"/>
          <p:nvPr/>
        </p:nvSpPr>
        <p:spPr>
          <a:xfrm>
            <a:off x="1052650" y="108303"/>
            <a:ext cx="801930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i="0" u="none" strike="noStrike" cap="non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10.3.4 Bring It Together: </a:t>
            </a:r>
            <a:br>
              <a:rPr lang="en-US" sz="3200" b="1" i="0" u="none" strike="noStrike" cap="non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i="0" u="none" strike="noStrike" cap="non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Relating Arc Length to the Radius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133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 txBox="1"/>
          <p:nvPr/>
        </p:nvSpPr>
        <p:spPr>
          <a:xfrm>
            <a:off x="593248" y="1394251"/>
            <a:ext cx="11034902" cy="224676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606" t="-1900" b="-40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11" name="Google Shape;311;p17" descr="Icon&#10;&#10;Description automatically generated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0928" y="222742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1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19" name="Google Shape;319;p18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134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465231" y="382499"/>
            <a:ext cx="102073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2438" marR="0" lvl="0" indent="-4524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2"/>
            </a:pPr>
            <a:r>
              <a:rPr lang="en-US" sz="2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Use words from the bank below to complete the statements.</a:t>
            </a:r>
            <a:endParaRPr/>
          </a:p>
        </p:txBody>
      </p:sp>
      <p:sp>
        <p:nvSpPr>
          <p:cNvPr id="321" name="Google Shape;321;p18"/>
          <p:cNvSpPr/>
          <p:nvPr/>
        </p:nvSpPr>
        <p:spPr>
          <a:xfrm>
            <a:off x="465232" y="2102390"/>
            <a:ext cx="8327136" cy="188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5613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length of the ____________ intercepted by a(n) ____________ is proportional to the ____________ of the circle. The ____________ measure of the angle is the constant of proportionality.</a:t>
            </a:r>
            <a:endParaRPr sz="20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322" name="Google Shape;322;p18"/>
          <p:cNvGrpSpPr/>
          <p:nvPr/>
        </p:nvGrpSpPr>
        <p:grpSpPr>
          <a:xfrm>
            <a:off x="1526777" y="4353119"/>
            <a:ext cx="5760000" cy="2020472"/>
            <a:chOff x="61044" y="1905184"/>
            <a:chExt cx="5476302" cy="1663202"/>
          </a:xfrm>
        </p:grpSpPr>
        <p:sp>
          <p:nvSpPr>
            <p:cNvPr id="323" name="Google Shape;323;p18"/>
            <p:cNvSpPr/>
            <p:nvPr/>
          </p:nvSpPr>
          <p:spPr>
            <a:xfrm>
              <a:off x="61044" y="1905184"/>
              <a:ext cx="5476302" cy="1663202"/>
            </a:xfrm>
            <a:prstGeom prst="roundRect">
              <a:avLst>
                <a:gd name="adj" fmla="val 16667"/>
              </a:avLst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pic>
          <p:nvPicPr>
            <p:cNvPr id="324" name="Google Shape;324;p18" descr="Icon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52792" y="1986322"/>
              <a:ext cx="553127" cy="4594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325" name="Google Shape;325;p18"/>
          <p:cNvSpPr txBox="1"/>
          <p:nvPr/>
        </p:nvSpPr>
        <p:spPr>
          <a:xfrm>
            <a:off x="1028800" y="1413802"/>
            <a:ext cx="7200000" cy="43092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angle            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arc</a:t>
            </a:r>
            <a:r>
              <a:rPr lang="en-US"/>
              <a:t> </a:t>
            </a: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      r</a:t>
            </a: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adian</a:t>
            </a:r>
            <a:r>
              <a:rPr lang="en-US"/>
              <a:t>                     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radius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134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34" name="Google Shape;334;p1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5" name="Google Shape;335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134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2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44" name="Google Shape;344;p20"/>
          <p:cNvSpPr txBox="1"/>
          <p:nvPr/>
        </p:nvSpPr>
        <p:spPr>
          <a:xfrm>
            <a:off x="1052650" y="146755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i="0" u="none" strike="noStrike" cap="non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10.3.5 Wrap-Up: Cool Down</a:t>
            </a:r>
            <a:endParaRPr/>
          </a:p>
        </p:txBody>
      </p:sp>
      <p:pic>
        <p:nvPicPr>
          <p:cNvPr id="345" name="Google Shape;34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0"/>
          <p:cNvSpPr txBox="1"/>
          <p:nvPr/>
        </p:nvSpPr>
        <p:spPr>
          <a:xfrm>
            <a:off x="593248" y="1099960"/>
            <a:ext cx="1093067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Your friend was absent today and will need notes from class. Write a quick note to help them understand relationship between the length of an arc intercepted by an angle and the radius.</a:t>
            </a:r>
            <a:endParaRPr sz="16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554</Words>
  <Application>Microsoft Macintosh PowerPoint</Application>
  <PresentationFormat>Widescreen</PresentationFormat>
  <Paragraphs>126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Courier New</vt:lpstr>
      <vt:lpstr>Times New Roman</vt:lpstr>
      <vt:lpstr>Arial Black</vt:lpstr>
      <vt:lpstr>Calibri</vt:lpstr>
      <vt:lpstr>Cambria</vt:lpstr>
      <vt:lpstr>Cambria Math</vt:lpstr>
      <vt:lpstr>Century Gothic</vt:lpstr>
      <vt:lpstr>Verdana</vt:lpstr>
      <vt:lpstr>1_Office Theme</vt:lpstr>
      <vt:lpstr>Geometry  Unit 10, Lesson 3  Radian Measure  Volume 2, pg. 130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Geometry  Unit 10, Lesson 3  Radian Measure  Volume 2, pg. 130  </dc:title>
  <dc:creator>Karen McKenzie</dc:creator>
  <cp:lastModifiedBy>jslater9816@gmail.com</cp:lastModifiedBy>
  <cp:revision>6</cp:revision>
  <dcterms:created xsi:type="dcterms:W3CDTF">2015-03-17T18:51:18Z</dcterms:created>
  <dcterms:modified xsi:type="dcterms:W3CDTF">2022-09-15T12:37:02Z</dcterms:modified>
</cp:coreProperties>
</file>