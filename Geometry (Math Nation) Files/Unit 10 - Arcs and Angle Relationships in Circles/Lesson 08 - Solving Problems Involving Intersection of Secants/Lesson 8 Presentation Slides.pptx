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93" r:id="rId11"/>
    <p:sldId id="278" r:id="rId12"/>
    <p:sldId id="279" r:id="rId13"/>
    <p:sldId id="280" r:id="rId14"/>
    <p:sldId id="287" r:id="rId15"/>
    <p:sldId id="288" r:id="rId16"/>
    <p:sldId id="289" r:id="rId17"/>
    <p:sldId id="290" r:id="rId18"/>
    <p:sldId id="291" r:id="rId19"/>
  </p:sldIdLst>
  <p:sldSz cx="12192000" cy="6858000"/>
  <p:notesSz cx="6858000" cy="9144000"/>
  <p:embeddedFontLst>
    <p:embeddedFont>
      <p:font typeface="Arial Black" panose="020B0604020202020204" pitchFamily="34" charset="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92" autoAdjust="0"/>
    <p:restoredTop sz="94707" autoAdjust="0"/>
  </p:normalViewPr>
  <p:slideViewPr>
    <p:cSldViewPr snapToGrid="0">
      <p:cViewPr varScale="1">
        <p:scale>
          <a:sx n="124" d="100"/>
          <a:sy n="124" d="100"/>
        </p:scale>
        <p:origin x="68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3016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8248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5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5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6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7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Intersection of Secants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159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9"/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p19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616532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p20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p20"/>
          <p:cNvSpPr txBox="1"/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MA.912.GR.6.2</a:t>
            </a:r>
            <a:endParaRPr sz="3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Solve mathematical and real-world problems involving the measures of arcs and related angles.</a:t>
            </a:r>
            <a:endParaRPr sz="35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2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21"/>
          <p:cNvSpPr txBox="1"/>
          <p:nvPr/>
        </p:nvSpPr>
        <p:spPr>
          <a:xfrm>
            <a:off x="1125199" y="129667"/>
            <a:ext cx="878307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8" name="Google Shape;138;p21"/>
          <p:cNvSpPr txBox="1"/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000" dirty="0"/>
          </a:p>
          <a:p>
            <a:pPr marL="457200"/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2000"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sz="2000"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p20">
            <a:extLst>
              <a:ext uri="{FF2B5EF4-FFF2-40B4-BE49-F238E27FC236}">
                <a16:creationId xmlns:a16="http://schemas.microsoft.com/office/drawing/2014/main" id="{A7FEC975-00E4-1742-A685-514C1FBD5EE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1700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2"/>
          <p:cNvSpPr txBox="1"/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2"/>
          <p:cNvSpPr txBox="1"/>
          <p:nvPr/>
        </p:nvSpPr>
        <p:spPr>
          <a:xfrm>
            <a:off x="457200" y="1600200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6575" indent="-5302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solve problems involving secants drawn from a point external to the circle and their related angles.</a:t>
            </a:r>
            <a:endParaRPr sz="3500" dirty="0"/>
          </a:p>
        </p:txBody>
      </p:sp>
      <p:sp>
        <p:nvSpPr>
          <p:cNvPr id="8" name="Google Shape;125;p20">
            <a:extLst>
              <a:ext uri="{FF2B5EF4-FFF2-40B4-BE49-F238E27FC236}">
                <a16:creationId xmlns:a16="http://schemas.microsoft.com/office/drawing/2014/main" id="{BBB39F76-0C09-2049-822E-8D6F5F549854}"/>
              </a:ext>
            </a:extLst>
          </p:cNvPr>
          <p:cNvSpPr txBox="1"/>
          <p:nvPr/>
        </p:nvSpPr>
        <p:spPr>
          <a:xfrm>
            <a:off x="8889924" y="642713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p23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p20">
            <a:extLst>
              <a:ext uri="{FF2B5EF4-FFF2-40B4-BE49-F238E27FC236}">
                <a16:creationId xmlns:a16="http://schemas.microsoft.com/office/drawing/2014/main" id="{A191C990-082C-C843-9069-F925077911B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7" name="Google Shape;167;p24"/>
          <p:cNvSpPr txBox="1"/>
          <p:nvPr/>
        </p:nvSpPr>
        <p:spPr>
          <a:xfrm>
            <a:off x="1052650" y="26391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10.8.1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Satellite Operations Engineer</a:t>
            </a:r>
            <a:endParaRPr dirty="0"/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24"/>
          <p:cNvSpPr txBox="1"/>
          <p:nvPr/>
        </p:nvSpPr>
        <p:spPr>
          <a:xfrm>
            <a:off x="593248" y="1386024"/>
            <a:ext cx="1093067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Veronica Navarro is a satellite operations engineer. Before beginning her career, she received a bachelor’s degree. One piece of advice she would give to high school students is to take as many classes in high school as possible because they are free. In her opinion, a degree beyond high school is needed in many careers because employers want to know a person can be trained and is capable of learning. Veronica’s employer paid for her to receive additional degrees as a means to further develop her abilities and deepen her learning.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447675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Why do you think it is important for companies to know you are capable of being trained?  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p20">
            <a:extLst>
              <a:ext uri="{FF2B5EF4-FFF2-40B4-BE49-F238E27FC236}">
                <a16:creationId xmlns:a16="http://schemas.microsoft.com/office/drawing/2014/main" id="{D40E8ADA-EEA1-5142-9761-87373757C918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6" name="Google Shape;216;p2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7" name="Google Shape;217;p2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9" name="Google Shape;219;p29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p20">
            <a:extLst>
              <a:ext uri="{FF2B5EF4-FFF2-40B4-BE49-F238E27FC236}">
                <a16:creationId xmlns:a16="http://schemas.microsoft.com/office/drawing/2014/main" id="{B304BC5B-B489-4944-9408-12E85EA94BF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6" name="Google Shape;226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7" name="Google Shape;227;p30"/>
          <p:cNvSpPr txBox="1"/>
          <p:nvPr/>
        </p:nvSpPr>
        <p:spPr>
          <a:xfrm>
            <a:off x="10526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10.8.2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Angles Formed by Secants</a:t>
            </a:r>
            <a:endParaRPr dirty="0"/>
          </a:p>
        </p:txBody>
      </p:sp>
      <p:pic>
        <p:nvPicPr>
          <p:cNvPr id="229" name="Google Shape;229;p30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352" y="308450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Google Shape;230;p30"/>
              <p:cNvSpPr txBox="1"/>
              <p:nvPr/>
            </p:nvSpPr>
            <p:spPr>
              <a:xfrm>
                <a:off x="540565" y="2536155"/>
                <a:ext cx="10227519" cy="1015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57188" lvl="5" indent="-357188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𝑀𝐵𝑆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intersects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creating two intersecting arcs, where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 are on the circle.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𝑍𝐾𝑌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=38°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𝑆𝐾𝑀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=80°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, and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𝑀𝐵𝑆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=21°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Arial" panose="020B0604020202020204" pitchFamily="34" charset="0"/>
                  </a:rPr>
                  <a:t>.</a:t>
                </a:r>
                <a:endParaRPr lang="en-US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0" name="Google Shape;230;p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536155"/>
                <a:ext cx="10227519" cy="1015622"/>
              </a:xfrm>
              <a:prstGeom prst="rect">
                <a:avLst/>
              </a:prstGeom>
              <a:blipFill>
                <a:blip r:embed="rId5"/>
                <a:stretch>
                  <a:fillRect l="-656" t="-4192" r="-1193" b="-9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4F9EC7-8005-164B-BB59-3167D22934F6}"/>
              </a:ext>
            </a:extLst>
          </p:cNvPr>
          <p:cNvSpPr/>
          <p:nvPr/>
        </p:nvSpPr>
        <p:spPr>
          <a:xfrm>
            <a:off x="564133" y="1513972"/>
            <a:ext cx="9535364" cy="90335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72000" rIns="91425" bIns="0" anchor="t" anchorCtr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solidFill>
                  <a:srgbClr val="6D983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b="1" i="1" dirty="0">
                <a:solidFill>
                  <a:srgbClr val="6D983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secant</a:t>
            </a:r>
            <a:r>
              <a:rPr lang="en-US" sz="2000" dirty="0">
                <a:solidFill>
                  <a:srgbClr val="6D983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line or line segment that passes through two points on a circle. In the interior of the circle, a secant line segment forms a chord.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4C084879-05D8-EE49-9F77-FC3557B7A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376" y="3551778"/>
            <a:ext cx="4500880" cy="3216275"/>
          </a:xfrm>
          <a:prstGeom prst="rect">
            <a:avLst/>
          </a:prstGeom>
        </p:spPr>
      </p:pic>
      <p:sp>
        <p:nvSpPr>
          <p:cNvPr id="10" name="Google Shape;125;p20">
            <a:extLst>
              <a:ext uri="{FF2B5EF4-FFF2-40B4-BE49-F238E27FC236}">
                <a16:creationId xmlns:a16="http://schemas.microsoft.com/office/drawing/2014/main" id="{C327CB42-7250-C747-8F07-B60D37D98B9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7" name="Google Shape;237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9" name="Google Shape;239;p31"/>
          <p:cNvSpPr txBox="1"/>
          <p:nvPr/>
        </p:nvSpPr>
        <p:spPr>
          <a:xfrm>
            <a:off x="540565" y="374089"/>
            <a:ext cx="832713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890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Complete the table.</a:t>
            </a:r>
            <a:endParaRPr lang="en-US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773B739-482B-054B-9DBF-794B996CD7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8199584"/>
                  </p:ext>
                </p:extLst>
              </p:nvPr>
            </p:nvGraphicFramePr>
            <p:xfrm>
              <a:off x="1604065" y="921478"/>
              <a:ext cx="6120000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360932046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412122651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32466126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Central Angle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 Measure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182283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Times New Roman" panose="02020603050405020304" pitchFamily="18" charset="0"/>
                                      </a:rPr>
                                      <m:t>𝑀𝑆</m:t>
                                    </m:r>
                                  </m:e>
                                </m:groupCh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796395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Times New Roman" panose="02020603050405020304" pitchFamily="18" charset="0"/>
                                      </a:rPr>
                                      <m:t>𝑍𝑌</m:t>
                                    </m:r>
                                  </m:e>
                                </m:groupCh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8313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773B739-482B-054B-9DBF-794B996CD7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8199584"/>
                  </p:ext>
                </p:extLst>
              </p:nvPr>
            </p:nvGraphicFramePr>
            <p:xfrm>
              <a:off x="1604065" y="921478"/>
              <a:ext cx="6120000" cy="19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360932046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412122651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324661267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Central Angle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 Measure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1822837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30" t="-66387" r="-469492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796395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30" t="-167797" r="-469492" b="-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83130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584892-71C1-8A41-8BD3-DE34F5F3AE96}"/>
                  </a:ext>
                </a:extLst>
              </p:cNvPr>
              <p:cNvSpPr txBox="1"/>
              <p:nvPr/>
            </p:nvSpPr>
            <p:spPr>
              <a:xfrm>
                <a:off x="540564" y="3346895"/>
                <a:ext cx="8045212" cy="2797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93763" indent="-452438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Add and subtract the two arc measures. </a:t>
                </a:r>
              </a:p>
              <a:p>
                <a:pPr marL="685800"/>
                <a:endParaRPr lang="en-US" sz="2400" i="1" dirty="0">
                  <a:latin typeface="Cambria Math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896938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𝑀𝑆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𝑍𝑌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</a:t>
                </a:r>
              </a:p>
              <a:p>
                <a:pPr marL="8969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96938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𝑀𝑆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𝑍𝑌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</a:t>
                </a:r>
              </a:p>
              <a:p>
                <a:pPr marL="6858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858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584892-71C1-8A41-8BD3-DE34F5F3A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346895"/>
                <a:ext cx="8045212" cy="2797432"/>
              </a:xfrm>
              <a:prstGeom prst="rect">
                <a:avLst/>
              </a:prstGeom>
              <a:blipFill>
                <a:blip r:embed="rId5"/>
                <a:stretch>
                  <a:fillRect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25;p20">
            <a:extLst>
              <a:ext uri="{FF2B5EF4-FFF2-40B4-BE49-F238E27FC236}">
                <a16:creationId xmlns:a16="http://schemas.microsoft.com/office/drawing/2014/main" id="{AFBCF9C2-3C76-BE4C-9829-409D83E0406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7" name="Google Shape;237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1552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Google Shape;239;p31"/>
              <p:cNvSpPr txBox="1"/>
              <p:nvPr/>
            </p:nvSpPr>
            <p:spPr>
              <a:xfrm>
                <a:off x="540565" y="374089"/>
                <a:ext cx="10961136" cy="2677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 the operations in Part B compare to the measure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𝑀𝐵𝑆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If so, explain.</a:t>
                </a: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With your partner, write a formula that can be used to find the measure of an exterior angle of two secant lines. </a:t>
                </a:r>
                <a:endParaRPr lang="en-US" sz="16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9" name="Google Shape;239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10961136" cy="2677616"/>
              </a:xfrm>
              <a:prstGeom prst="rect">
                <a:avLst/>
              </a:prstGeom>
              <a:blipFill>
                <a:blip r:embed="rId4"/>
                <a:stretch>
                  <a:fillRect t="-2045" b="-3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4BBA8FB-B23A-E442-85EE-7F39214F5A3B}"/>
              </a:ext>
            </a:extLst>
          </p:cNvPr>
          <p:cNvGrpSpPr/>
          <p:nvPr/>
        </p:nvGrpSpPr>
        <p:grpSpPr>
          <a:xfrm>
            <a:off x="744133" y="4477726"/>
            <a:ext cx="7920000" cy="1566353"/>
            <a:chOff x="0" y="204510"/>
            <a:chExt cx="7920000" cy="156645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E7D6AED-4C34-E448-AF84-1521B726E804}"/>
                </a:ext>
              </a:extLst>
            </p:cNvPr>
            <p:cNvSpPr/>
            <p:nvPr/>
          </p:nvSpPr>
          <p:spPr>
            <a:xfrm>
              <a:off x="0" y="204510"/>
              <a:ext cx="7920000" cy="1566451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ctr" anchorCtr="0">
              <a:spAutoFit/>
            </a:bodyPr>
            <a:lstStyle/>
            <a:p>
              <a:pPr marL="633413"/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Exterior Secant Angle Theorem 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633413"/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measure of an angle formed by two secant lines intersecting in the exterior of a circle is</a:t>
              </a:r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one-half the difference of the measures of the intercepted arcs. </a:t>
              </a:r>
            </a:p>
          </p:txBody>
        </p:sp>
        <p:pic>
          <p:nvPicPr>
            <p:cNvPr id="8" name="Shape 6" descr="Icon&#10;&#10;Description automatically generated">
              <a:extLst>
                <a:ext uri="{FF2B5EF4-FFF2-40B4-BE49-F238E27FC236}">
                  <a16:creationId xmlns:a16="http://schemas.microsoft.com/office/drawing/2014/main" id="{E9963A21-4AAD-A640-96A9-085188FDB0A1}"/>
                </a:ext>
              </a:extLst>
            </p:cNvPr>
            <p:cNvPicPr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7754" y="360830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Google Shape;125;p20">
            <a:extLst>
              <a:ext uri="{FF2B5EF4-FFF2-40B4-BE49-F238E27FC236}">
                <a16:creationId xmlns:a16="http://schemas.microsoft.com/office/drawing/2014/main" id="{A044D670-0057-C64D-A77A-362050387730}"/>
              </a:ext>
            </a:extLst>
          </p:cNvPr>
          <p:cNvSpPr txBox="1"/>
          <p:nvPr/>
        </p:nvSpPr>
        <p:spPr>
          <a:xfrm>
            <a:off x="8867701" y="64123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896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/>
          <p:nvPr/>
        </p:nvSpPr>
        <p:spPr>
          <a:xfrm>
            <a:off x="0" y="-12825"/>
            <a:ext cx="2731200" cy="68707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6" name="Google Shape;336;p4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7" name="Google Shape;337;p4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41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p20">
            <a:extLst>
              <a:ext uri="{FF2B5EF4-FFF2-40B4-BE49-F238E27FC236}">
                <a16:creationId xmlns:a16="http://schemas.microsoft.com/office/drawing/2014/main" id="{C24CD929-6FB0-1540-AC2F-12540AB3F65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/>
          <p:nvPr/>
        </p:nvSpPr>
        <p:spPr>
          <a:xfrm>
            <a:off x="572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6" name="Google Shape;346;p4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757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7" name="Google Shape;347;p42"/>
          <p:cNvSpPr txBox="1"/>
          <p:nvPr/>
        </p:nvSpPr>
        <p:spPr>
          <a:xfrm>
            <a:off x="1053222" y="107795"/>
            <a:ext cx="10697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10.8.3 Guided Practice: Solving Problems Involving Angles Formed by Secants</a:t>
            </a:r>
            <a:endParaRPr sz="1200" dirty="0"/>
          </a:p>
        </p:txBody>
      </p:sp>
      <p:pic>
        <p:nvPicPr>
          <p:cNvPr id="349" name="Google Shape;349;p42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414" y="39574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Google Shape;350;p42"/>
              <p:cNvSpPr txBox="1"/>
              <p:nvPr/>
            </p:nvSpPr>
            <p:spPr>
              <a:xfrm>
                <a:off x="593820" y="1626447"/>
                <a:ext cx="10929532" cy="1066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on the circle.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𝐶𝐷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𝐵𝐷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outside the circle.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𝐶𝐵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=125°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𝐸𝐹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=27°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𝐶𝐷𝐵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            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?</a:t>
                </a:r>
                <a:endParaRPr lang="en-US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0" name="Google Shape;350;p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20" y="1626447"/>
                <a:ext cx="10929532" cy="1066214"/>
              </a:xfrm>
              <a:prstGeom prst="rect">
                <a:avLst/>
              </a:prstGeom>
              <a:blipFill>
                <a:blip r:embed="rId5"/>
                <a:stretch>
                  <a:fillRect l="-613" t="-4000" b="-91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01C977CE-17B6-2D43-A37A-8564CE77C4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026" y="2718044"/>
            <a:ext cx="5114724" cy="3811194"/>
          </a:xfrm>
          <a:prstGeom prst="rect">
            <a:avLst/>
          </a:prstGeom>
        </p:spPr>
      </p:pic>
      <p:sp>
        <p:nvSpPr>
          <p:cNvPr id="9" name="Google Shape;125;p20">
            <a:extLst>
              <a:ext uri="{FF2B5EF4-FFF2-40B4-BE49-F238E27FC236}">
                <a16:creationId xmlns:a16="http://schemas.microsoft.com/office/drawing/2014/main" id="{6E3D6CB6-D718-EB40-9051-424B51E8746C}"/>
              </a:ext>
            </a:extLst>
          </p:cNvPr>
          <p:cNvSpPr txBox="1"/>
          <p:nvPr/>
        </p:nvSpPr>
        <p:spPr>
          <a:xfrm>
            <a:off x="888935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5DEB08EE-0F62-F341-ABF8-3854259EE9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31"/>
          <a:stretch/>
        </p:blipFill>
        <p:spPr>
          <a:xfrm>
            <a:off x="1206785" y="2766505"/>
            <a:ext cx="6844030" cy="3891270"/>
          </a:xfrm>
          <a:prstGeom prst="rect">
            <a:avLst/>
          </a:prstGeom>
        </p:spPr>
      </p:pic>
      <p:sp>
        <p:nvSpPr>
          <p:cNvPr id="356" name="Google Shape;356;p4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Google Shape;359;p43"/>
              <p:cNvSpPr txBox="1"/>
              <p:nvPr/>
            </p:nvSpPr>
            <p:spPr>
              <a:xfrm>
                <a:off x="465232" y="386281"/>
                <a:ext cx="11162918" cy="2397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marR="889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satellite,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sends signals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𝑉𝑊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𝑆𝑊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Earth. Signal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𝑉𝑊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hits tower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before reaching tower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Similarly, signal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𝑆𝑊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hits tower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before reaching tower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Scientists are interested in finding the measure of the intersecting arcs created by the two signals. They know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𝑉𝑆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−30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°,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𝐸𝐺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+15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°. 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marR="889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2438" marR="88900" indent="-31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𝑉𝑆</m:t>
                        </m:r>
                      </m:e>
                    </m:groupCh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𝐸𝐺</m:t>
                        </m:r>
                      </m:e>
                    </m:groupCh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9" name="Google Shape;359;p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281"/>
                <a:ext cx="11162918" cy="2397796"/>
              </a:xfrm>
              <a:prstGeom prst="rect">
                <a:avLst/>
              </a:prstGeom>
              <a:blipFill>
                <a:blip r:embed="rId5"/>
                <a:stretch>
                  <a:fillRect l="-600" t="-1523" b="-3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phic 101" descr="Cell Tower">
            <a:extLst>
              <a:ext uri="{FF2B5EF4-FFF2-40B4-BE49-F238E27FC236}">
                <a16:creationId xmlns:a16="http://schemas.microsoft.com/office/drawing/2014/main" id="{FF37138B-01FA-C14F-802C-B0845C2FECB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074855">
            <a:off x="3347544" y="5547324"/>
            <a:ext cx="456565" cy="456565"/>
          </a:xfrm>
          <a:prstGeom prst="rect">
            <a:avLst/>
          </a:prstGeom>
        </p:spPr>
      </p:pic>
      <p:pic>
        <p:nvPicPr>
          <p:cNvPr id="14" name="Graphic 102" descr="Cell Tower">
            <a:extLst>
              <a:ext uri="{FF2B5EF4-FFF2-40B4-BE49-F238E27FC236}">
                <a16:creationId xmlns:a16="http://schemas.microsoft.com/office/drawing/2014/main" id="{BC193658-963D-114C-81CE-52EC0851B6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5173" y="3766149"/>
            <a:ext cx="459740" cy="459105"/>
          </a:xfrm>
          <a:prstGeom prst="rect">
            <a:avLst/>
          </a:prstGeom>
        </p:spPr>
      </p:pic>
      <p:pic>
        <p:nvPicPr>
          <p:cNvPr id="15" name="Graphic 103" descr="Cell Tower">
            <a:extLst>
              <a:ext uri="{FF2B5EF4-FFF2-40B4-BE49-F238E27FC236}">
                <a16:creationId xmlns:a16="http://schemas.microsoft.com/office/drawing/2014/main" id="{465E1D36-4EC7-1645-9372-216AB55696C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527146">
            <a:off x="5380813" y="5243793"/>
            <a:ext cx="430530" cy="430530"/>
          </a:xfrm>
          <a:prstGeom prst="rect">
            <a:avLst/>
          </a:prstGeom>
        </p:spPr>
      </p:pic>
      <p:pic>
        <p:nvPicPr>
          <p:cNvPr id="16" name="Graphic 104" descr="Cell Tower">
            <a:extLst>
              <a:ext uri="{FF2B5EF4-FFF2-40B4-BE49-F238E27FC236}">
                <a16:creationId xmlns:a16="http://schemas.microsoft.com/office/drawing/2014/main" id="{D4B4716A-6F50-374E-8445-9D6F1DE9427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6684" y="4049359"/>
            <a:ext cx="456565" cy="456565"/>
          </a:xfrm>
          <a:prstGeom prst="rect">
            <a:avLst/>
          </a:prstGeom>
        </p:spPr>
      </p:pic>
      <p:pic>
        <p:nvPicPr>
          <p:cNvPr id="17" name="Graphic 105" descr="Satellite">
            <a:extLst>
              <a:ext uri="{FF2B5EF4-FFF2-40B4-BE49-F238E27FC236}">
                <a16:creationId xmlns:a16="http://schemas.microsoft.com/office/drawing/2014/main" id="{0351F96C-95FB-F344-A2D7-64FDD86BC10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4299462">
            <a:off x="7192469" y="3976969"/>
            <a:ext cx="578485" cy="578485"/>
          </a:xfrm>
          <a:prstGeom prst="rect">
            <a:avLst/>
          </a:prstGeom>
        </p:spPr>
      </p:pic>
      <p:sp>
        <p:nvSpPr>
          <p:cNvPr id="18" name="Google Shape;125;p20">
            <a:extLst>
              <a:ext uri="{FF2B5EF4-FFF2-40B4-BE49-F238E27FC236}">
                <a16:creationId xmlns:a16="http://schemas.microsoft.com/office/drawing/2014/main" id="{F46E98E7-1076-2444-971C-D066131C7C9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26" name="Google Shape;426;p5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27" name="Google Shape;427;p5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p20">
            <a:extLst>
              <a:ext uri="{FF2B5EF4-FFF2-40B4-BE49-F238E27FC236}">
                <a16:creationId xmlns:a16="http://schemas.microsoft.com/office/drawing/2014/main" id="{30201DD7-5AD7-D541-B5AD-022DDD73A3E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36" name="Google Shape;436;p5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37" name="Google Shape;437;p51"/>
          <p:cNvSpPr txBox="1"/>
          <p:nvPr/>
        </p:nvSpPr>
        <p:spPr>
          <a:xfrm>
            <a:off x="10526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10.8.4 Your Turn!</a:t>
            </a:r>
            <a:endParaRPr dirty="0"/>
          </a:p>
        </p:txBody>
      </p:sp>
      <p:pic>
        <p:nvPicPr>
          <p:cNvPr id="438" name="Google Shape;438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Google Shape;440;p51"/>
              <p:cNvSpPr txBox="1"/>
              <p:nvPr/>
            </p:nvSpPr>
            <p:spPr>
              <a:xfrm>
                <a:off x="540564" y="1113853"/>
                <a:ext cx="11210157" cy="12609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circle.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𝐶𝑅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𝐸𝑅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outside the circle.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𝐶𝐸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=92°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𝐾𝑁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=22°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𝐶𝑅𝐸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What is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40" name="Google Shape;440;p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1113853"/>
                <a:ext cx="11210157" cy="1260946"/>
              </a:xfrm>
              <a:prstGeom prst="rect">
                <a:avLst/>
              </a:prstGeom>
              <a:blipFill>
                <a:blip r:embed="rId5"/>
                <a:stretch>
                  <a:fillRect l="-870" t="-4348" b="-96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p20">
            <a:extLst>
              <a:ext uri="{FF2B5EF4-FFF2-40B4-BE49-F238E27FC236}">
                <a16:creationId xmlns:a16="http://schemas.microsoft.com/office/drawing/2014/main" id="{D5AAA1C2-1D7F-B04A-A9FB-34B09FBFF3F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92D760-273D-E341-9CAA-8A313077D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3639" y="2744131"/>
            <a:ext cx="4997322" cy="3538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47" name="Google Shape;447;p5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9" name="Google Shape;449;p52"/>
              <p:cNvSpPr txBox="1"/>
              <p:nvPr/>
            </p:nvSpPr>
            <p:spPr>
              <a:xfrm>
                <a:off x="465231" y="398474"/>
                <a:ext cx="10698637" cy="2112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on the circle.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𝑍𝐴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𝑅𝐴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outside the circle.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𝑍𝑅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=(5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+10)°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𝐾𝑉</m:t>
                        </m:r>
                      </m:e>
                    </m:groupCh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=(3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+4)°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𝑍𝐴𝑅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=30°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endParaRPr lang="en-US" sz="24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24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4492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Find the measure of 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𝑍𝑅</m:t>
                        </m:r>
                      </m:e>
                    </m:groupCh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9" name="Google Shape;449;p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398474"/>
                <a:ext cx="10698637" cy="2112076"/>
              </a:xfrm>
              <a:prstGeom prst="rect">
                <a:avLst/>
              </a:prstGeom>
              <a:blipFill>
                <a:blip r:embed="rId4"/>
                <a:stretch>
                  <a:fillRect l="-855" t="-2594" b="-51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25;p20">
            <a:extLst>
              <a:ext uri="{FF2B5EF4-FFF2-40B4-BE49-F238E27FC236}">
                <a16:creationId xmlns:a16="http://schemas.microsoft.com/office/drawing/2014/main" id="{D440F826-F3D1-374B-A7F5-0F89CE8DFD1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Diagram, venn diagram&#10;&#10;Description automatically generated">
            <a:extLst>
              <a:ext uri="{FF2B5EF4-FFF2-40B4-BE49-F238E27FC236}">
                <a16:creationId xmlns:a16="http://schemas.microsoft.com/office/drawing/2014/main" id="{100B7DC2-D610-6E4E-B085-B7E3638D9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0571" y="2694067"/>
            <a:ext cx="6156458" cy="37636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3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57" name="Google Shape;457;p5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58" name="Google Shape;458;p5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p20">
            <a:extLst>
              <a:ext uri="{FF2B5EF4-FFF2-40B4-BE49-F238E27FC236}">
                <a16:creationId xmlns:a16="http://schemas.microsoft.com/office/drawing/2014/main" id="{AAA1E939-6731-8641-B5B5-64DD0CC464B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67" name="Google Shape;467;p5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68" name="Google Shape;468;p54"/>
          <p:cNvSpPr txBox="1"/>
          <p:nvPr/>
        </p:nvSpPr>
        <p:spPr>
          <a:xfrm>
            <a:off x="1052650" y="13853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10.8.5 Wrap-Up: Cool Down</a:t>
            </a:r>
            <a:endParaRPr dirty="0"/>
          </a:p>
        </p:txBody>
      </p:sp>
      <p:pic>
        <p:nvPicPr>
          <p:cNvPr id="469" name="Google Shape;469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4"/>
          <p:cNvSpPr txBox="1"/>
          <p:nvPr/>
        </p:nvSpPr>
        <p:spPr>
          <a:xfrm>
            <a:off x="540564" y="1085475"/>
            <a:ext cx="10227519" cy="95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3550" indent="-4635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 a short note to a friend who missed class summarizing today’s lesson.</a:t>
            </a:r>
            <a:endParaRPr lang="en-US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Google Shape;125;p20">
            <a:extLst>
              <a:ext uri="{FF2B5EF4-FFF2-40B4-BE49-F238E27FC236}">
                <a16:creationId xmlns:a16="http://schemas.microsoft.com/office/drawing/2014/main" id="{A031ADC4-8BA5-EB44-8030-FC06F3033D9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899</Words>
  <Application>Microsoft Macintosh PowerPoint</Application>
  <PresentationFormat>Widescreen</PresentationFormat>
  <Paragraphs>99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Verdana</vt:lpstr>
      <vt:lpstr>Arial</vt:lpstr>
      <vt:lpstr>Cambria</vt:lpstr>
      <vt:lpstr>Century Gothic</vt:lpstr>
      <vt:lpstr>Calibri</vt:lpstr>
      <vt:lpstr>Arial Black</vt:lpstr>
      <vt:lpstr>Cambria Math</vt:lpstr>
      <vt:lpstr>1_Office Theme</vt:lpstr>
      <vt:lpstr>Geometry  Unit 10, Lesson 8  Solving Problems Involving Intersection of Secants  Volume 2, pg. 159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  Unit 10, Lesson 8  Solving Problems Involving Intersection of Secants  Volume 2, pg. 159</dc:title>
  <dc:creator>user</dc:creator>
  <cp:lastModifiedBy>Diana Barnett</cp:lastModifiedBy>
  <cp:revision>7</cp:revision>
  <dcterms:modified xsi:type="dcterms:W3CDTF">2023-03-02T20:39:05Z</dcterms:modified>
</cp:coreProperties>
</file>