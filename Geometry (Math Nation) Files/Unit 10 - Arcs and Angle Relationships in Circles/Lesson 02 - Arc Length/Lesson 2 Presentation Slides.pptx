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288" r:id="rId8"/>
    <p:sldId id="311" r:id="rId9"/>
    <p:sldId id="312" r:id="rId10"/>
    <p:sldId id="313" r:id="rId11"/>
    <p:sldId id="335" r:id="rId12"/>
    <p:sldId id="336" r:id="rId13"/>
    <p:sldId id="338" r:id="rId14"/>
    <p:sldId id="340" r:id="rId15"/>
    <p:sldId id="317" r:id="rId16"/>
    <p:sldId id="318" r:id="rId17"/>
    <p:sldId id="319" r:id="rId18"/>
    <p:sldId id="341" r:id="rId19"/>
    <p:sldId id="332" r:id="rId20"/>
    <p:sldId id="333" r:id="rId21"/>
    <p:sldId id="334" r:id="rId22"/>
    <p:sldId id="343" r:id="rId23"/>
    <p:sldId id="344" r:id="rId24"/>
    <p:sldId id="306" r:id="rId25"/>
    <p:sldId id="307"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3165"/>
    <a:srgbClr val="C9DF6F"/>
    <a:srgbClr val="417DBF"/>
    <a:srgbClr val="3F2A67"/>
    <a:srgbClr val="E24E5F"/>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28"/>
    <p:restoredTop sz="94558"/>
  </p:normalViewPr>
  <p:slideViewPr>
    <p:cSldViewPr snapToGrid="0">
      <p:cViewPr varScale="1">
        <p:scale>
          <a:sx n="90" d="100"/>
          <a:sy n="90" d="100"/>
        </p:scale>
        <p:origin x="232" y="76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1852139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429041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9196515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4808468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8831717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46734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7030514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18437388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605846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054378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2243780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89574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895740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jpe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6.tiff"/><Relationship Id="rId5" Type="http://schemas.openxmlformats.org/officeDocument/2006/relationships/image" Target="../media/image150.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7.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6" name="Google Shape;261;g104476d1465_0_0"/>
          <p:cNvSpPr txBox="1">
            <a:spLocks/>
          </p:cNvSpPr>
          <p:nvPr/>
        </p:nvSpPr>
        <p:spPr>
          <a:xfrm>
            <a:off x="5549901" y="2054277"/>
            <a:ext cx="5168900"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10, Lesson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Arc Length</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124</a:t>
            </a:r>
          </a:p>
          <a:p>
            <a:pPr algn="ctr">
              <a:lnSpc>
                <a:spcPct val="100000"/>
              </a:lnSpc>
              <a:buClr>
                <a:srgbClr val="000000"/>
              </a:buClr>
              <a:buFont typeface="Arial"/>
              <a:buNone/>
            </a:pPr>
            <a:endParaRPr lang="en-US" sz="3400" b="1" dirty="0">
              <a:solidFill>
                <a:srgbClr val="417DBF"/>
              </a:solidFill>
              <a:latin typeface="Verdana"/>
              <a:ea typeface="Verdana"/>
              <a:cs typeface="Verdana"/>
              <a:sym typeface="Verdana"/>
            </a:endParaRPr>
          </a:p>
          <a:p>
            <a:pPr algn="ctr">
              <a:lnSpc>
                <a:spcPct val="75000"/>
              </a:lnSpc>
            </a:pPr>
            <a:endParaRPr lang="en-US" sz="3100" dirty="0">
              <a:solidFill>
                <a:srgbClr val="417DBF"/>
              </a:solidFill>
            </a:endParaRPr>
          </a:p>
        </p:txBody>
      </p:sp>
      <p:sp>
        <p:nvSpPr>
          <p:cNvPr id="7" name="Google Shape;309;g104476d1465_1_39">
            <a:extLst>
              <a:ext uri="{FF2B5EF4-FFF2-40B4-BE49-F238E27FC236}">
                <a16:creationId xmlns:a16="http://schemas.microsoft.com/office/drawing/2014/main" id="{566F1422-A32C-7745-9E85-5AF7B9DBC697}"/>
              </a:ext>
            </a:extLst>
          </p:cNvPr>
          <p:cNvSpPr/>
          <p:nvPr/>
        </p:nvSpPr>
        <p:spPr>
          <a:xfrm>
            <a:off x="0" y="-12701"/>
            <a:ext cx="4094106" cy="6870701"/>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8" name="Picture 7" descr="Logo&#10;&#10;Description automatically generated">
            <a:extLst>
              <a:ext uri="{FF2B5EF4-FFF2-40B4-BE49-F238E27FC236}">
                <a16:creationId xmlns:a16="http://schemas.microsoft.com/office/drawing/2014/main" id="{ADCE3FE7-B71C-E44E-AEBC-574B47F8940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677" y="1603831"/>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MA.912.GR.6.4</a:t>
            </a:r>
          </a:p>
          <a:p>
            <a:pPr indent="0">
              <a:buNone/>
            </a:pPr>
            <a:r>
              <a:rPr lang="en-US" sz="3500" dirty="0">
                <a:solidFill>
                  <a:schemeClr val="tx1"/>
                </a:solidFill>
                <a:latin typeface="Verdana"/>
                <a:ea typeface="Verdana"/>
                <a:cs typeface="Verdana"/>
                <a:sym typeface="Verdana"/>
              </a:rPr>
              <a:t>Solve mathematical and </a:t>
            </a:r>
            <a:br>
              <a:rPr lang="en-US" sz="3500" dirty="0">
                <a:solidFill>
                  <a:schemeClr val="tx1"/>
                </a:solidFill>
                <a:latin typeface="Verdana"/>
                <a:ea typeface="Verdana"/>
                <a:cs typeface="Verdana"/>
                <a:sym typeface="Verdana"/>
              </a:rPr>
            </a:br>
            <a:r>
              <a:rPr lang="en-US" sz="3500" dirty="0">
                <a:solidFill>
                  <a:schemeClr val="tx1"/>
                </a:solidFill>
                <a:latin typeface="Verdana"/>
                <a:ea typeface="Verdana"/>
                <a:cs typeface="Verdana"/>
                <a:sym typeface="Verdana"/>
              </a:rPr>
              <a:t>real-world problems involving the arc length and area of a sector in a given circle.</a:t>
            </a:r>
            <a:endParaRPr lang="en-US" sz="36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29667"/>
            <a:ext cx="902169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124</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390"/>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565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74413"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124</a:t>
            </a:r>
            <a:endParaRPr i="1" dirty="0">
              <a:latin typeface="Calibri"/>
              <a:ea typeface="Calibri"/>
              <a:cs typeface="Calibri"/>
              <a:sym typeface="Calibri"/>
            </a:endParaRP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57200" y="1600200"/>
            <a:ext cx="1117095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571500" indent="-571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define arc length.</a:t>
            </a:r>
          </a:p>
          <a:p>
            <a:pPr marL="571500" indent="-571500">
              <a:buFont typeface="Wingdings"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571500" indent="-571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explain how the length of an arc is proportional to the ratio of the central angle to the whole circle, measured in degrees.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125</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57659"/>
            <a:ext cx="987590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10.2.1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125</a:t>
            </a:r>
            <a:endParaRPr i="1" dirty="0">
              <a:latin typeface="Calibri"/>
              <a:ea typeface="Calibri"/>
              <a:cs typeface="Calibri"/>
              <a:sym typeface="Calibri"/>
            </a:endParaRPr>
          </a:p>
        </p:txBody>
      </p:sp>
      <p:sp>
        <p:nvSpPr>
          <p:cNvPr id="2" name="TextBox 1">
            <a:extLst>
              <a:ext uri="{FF2B5EF4-FFF2-40B4-BE49-F238E27FC236}">
                <a16:creationId xmlns:a16="http://schemas.microsoft.com/office/drawing/2014/main" id="{E1D7562E-134F-D14B-AF1A-DF40E11EF758}"/>
              </a:ext>
            </a:extLst>
          </p:cNvPr>
          <p:cNvSpPr txBox="1"/>
          <p:nvPr/>
        </p:nvSpPr>
        <p:spPr>
          <a:xfrm>
            <a:off x="593248" y="1386026"/>
            <a:ext cx="10930676" cy="707886"/>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The Chandelier Tree, located in Leggett California, is part of a drive-thru tree park. The tree is believed to have been carved in the early 1930’s by Charlie Underwood. </a:t>
            </a:r>
          </a:p>
        </p:txBody>
      </p:sp>
      <p:pic>
        <p:nvPicPr>
          <p:cNvPr id="9" name="Picture 8" descr="A picture containing text, tree, outdoor, way&#10;&#10;Description automatically generated">
            <a:extLst>
              <a:ext uri="{FF2B5EF4-FFF2-40B4-BE49-F238E27FC236}">
                <a16:creationId xmlns:a16="http://schemas.microsoft.com/office/drawing/2014/main" id="{8A77249B-C8FB-DF4F-A9DB-C644E864663B}"/>
              </a:ext>
            </a:extLst>
          </p:cNvPr>
          <p:cNvPicPr>
            <a:picLocks noChangeAspect="1"/>
          </p:cNvPicPr>
          <p:nvPr/>
        </p:nvPicPr>
        <p:blipFill>
          <a:blip r:embed="rId5">
            <a:extLst>
              <a:ext uri="{28A0092B-C50C-407E-A947-70E740481C1C}">
                <a14:useLocalDpi xmlns:a14="http://schemas.microsoft.com/office/drawing/2010/main"/>
              </a:ext>
            </a:extLst>
          </a:blip>
          <a:srcRect/>
          <a:stretch>
            <a:fillRect/>
          </a:stretch>
        </p:blipFill>
        <p:spPr bwMode="auto">
          <a:xfrm>
            <a:off x="2396074" y="2230156"/>
            <a:ext cx="5730287" cy="4293016"/>
          </a:xfrm>
          <a:prstGeom prst="rect">
            <a:avLst/>
          </a:prstGeom>
          <a:noFill/>
          <a:ln>
            <a:noFill/>
          </a:ln>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2920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8627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125</a:t>
            </a:r>
            <a:endParaRPr i="1" dirty="0">
              <a:latin typeface="Calibri"/>
              <a:ea typeface="Calibri"/>
              <a:cs typeface="Calibri"/>
              <a:sym typeface="Calibri"/>
            </a:endParaRP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50373"/>
            <a:ext cx="8327136" cy="4093428"/>
          </a:xfrm>
          <a:prstGeom prst="rect">
            <a:avLst/>
          </a:prstGeom>
          <a:noFill/>
        </p:spPr>
        <p:txBody>
          <a:bodyPr wrap="square" rtlCol="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do you wonder?</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Estimate the diameter of the tree at the base.</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Explain why you chose that number as your estimate.</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125</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2973"/>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185851"/>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48606" y="54224"/>
            <a:ext cx="85525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10.2.2 Exploration: Arc Length and Proportional Relationships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67701" y="644292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125</a:t>
            </a:r>
            <a:endParaRPr i="1" dirty="0">
              <a:latin typeface="Calibri"/>
              <a:ea typeface="Calibri"/>
              <a:cs typeface="Calibri"/>
              <a:sym typeface="Calibri"/>
            </a:endParaRP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6352" y="293702"/>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40565" y="1371278"/>
                <a:ext cx="8942648" cy="3477875"/>
              </a:xfrm>
              <a:prstGeom prst="rect">
                <a:avLst/>
              </a:prstGeom>
              <a:noFill/>
            </p:spPr>
            <p:txBody>
              <a:bodyPr wrap="square" rtlCol="0">
                <a:spAutoFit/>
              </a:bodyPr>
              <a:lstStyle/>
              <a:p>
                <a:pPr marL="457200" indent="-457200">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Circle </a:t>
                </a:r>
                <a14:m>
                  <m:oMath xmlns:m="http://schemas.openxmlformats.org/officeDocument/2006/math">
                    <m:r>
                      <a:rPr lang="en-US" sz="2000" i="1">
                        <a:latin typeface="Cambria Math" panose="02040503050406030204" pitchFamily="18" charset="0"/>
                      </a:rPr>
                      <m:t>𝑃</m:t>
                    </m:r>
                  </m:oMath>
                </a14:m>
                <a:r>
                  <a:rPr lang="en-US" sz="2000" dirty="0">
                    <a:latin typeface="Verdana" panose="020B0604030504040204" pitchFamily="34" charset="0"/>
                    <a:ea typeface="Verdana" panose="020B0604030504040204" pitchFamily="34" charset="0"/>
                    <a:cs typeface="Verdana" panose="020B0604030504040204" pitchFamily="34" charset="0"/>
                  </a:rPr>
                  <a:t> with point </a:t>
                </a:r>
                <a14:m>
                  <m:oMath xmlns:m="http://schemas.openxmlformats.org/officeDocument/2006/math">
                    <m:r>
                      <a:rPr lang="en-US" sz="2000" i="1">
                        <a:latin typeface="Cambria Math" panose="02040503050406030204" pitchFamily="18" charset="0"/>
                      </a:rPr>
                      <m:t>𝐾</m:t>
                    </m:r>
                  </m:oMath>
                </a14:m>
                <a:r>
                  <a:rPr lang="en-US" sz="2000" dirty="0">
                    <a:latin typeface="Verdana" panose="020B0604030504040204" pitchFamily="34" charset="0"/>
                    <a:ea typeface="Verdana" panose="020B0604030504040204" pitchFamily="34" charset="0"/>
                    <a:cs typeface="Verdana" panose="020B0604030504040204" pitchFamily="34" charset="0"/>
                  </a:rPr>
                  <a:t> on the circle and diameter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𝑌𝑀</m:t>
                        </m:r>
                      </m:e>
                    </m:acc>
                  </m:oMath>
                </a14:m>
                <a:r>
                  <a:rPr lang="en-US" sz="2000" dirty="0">
                    <a:latin typeface="Verdana" panose="020B0604030504040204" pitchFamily="34" charset="0"/>
                    <a:ea typeface="Verdana" panose="020B0604030504040204" pitchFamily="34" charset="0"/>
                    <a:cs typeface="Verdana" panose="020B0604030504040204" pitchFamily="34" charset="0"/>
                  </a:rPr>
                  <a:t> is shown.</a:t>
                </a:r>
              </a:p>
              <a:p>
                <a:pPr marL="457200" indent="-457200">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a:t>
                </a:r>
                <a14:m>
                  <m:oMath xmlns:m="http://schemas.openxmlformats.org/officeDocument/2006/math">
                    <m:r>
                      <a:rPr lang="en-US" sz="2000" i="1">
                        <a:latin typeface="Cambria Math" panose="02040503050406030204" pitchFamily="18" charset="0"/>
                      </a:rPr>
                      <m:t>𝑚</m:t>
                    </m:r>
                    <m:r>
                      <a:rPr lang="en-US" sz="2000" i="1">
                        <a:latin typeface="Cambria Math" panose="02040503050406030204" pitchFamily="18" charset="0"/>
                      </a:rPr>
                      <m:t>∠</m:t>
                    </m:r>
                    <m:r>
                      <a:rPr lang="en-US" sz="2000" i="1">
                        <a:latin typeface="Cambria Math" panose="02040503050406030204" pitchFamily="18" charset="0"/>
                      </a:rPr>
                      <m:t>𝑌𝑃𝑀</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Determine the ratio of the measure of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central angle,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𝑌𝑃𝑀</m:t>
                    </m:r>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to the whole circle.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Simplify the ratio.</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40565" y="1371278"/>
                <a:ext cx="8942648" cy="3477875"/>
              </a:xfrm>
              <a:prstGeom prst="rect">
                <a:avLst/>
              </a:prstGeom>
              <a:blipFill>
                <a:blip r:embed="rId5"/>
                <a:stretch>
                  <a:fillRect l="-750" t="-1228" b="-2281"/>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CB902CF3-115C-8C4C-9C2F-B1091D51245A}"/>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bwMode="auto">
          <a:xfrm>
            <a:off x="7182908" y="1991260"/>
            <a:ext cx="3769995" cy="410654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6" name="Picture 5">
            <a:extLst>
              <a:ext uri="{FF2B5EF4-FFF2-40B4-BE49-F238E27FC236}">
                <a16:creationId xmlns:a16="http://schemas.microsoft.com/office/drawing/2014/main" id="{7E5A441F-4258-B54B-8277-564A463A4FE8}"/>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3820"/>
          <a:stretch/>
        </p:blipFill>
        <p:spPr bwMode="auto">
          <a:xfrm>
            <a:off x="7897951" y="616890"/>
            <a:ext cx="3625973" cy="4106545"/>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53155" y="616890"/>
                <a:ext cx="7344796" cy="4433330"/>
              </a:xfrm>
              <a:prstGeom prst="rect">
                <a:avLst/>
              </a:prstGeom>
              <a:noFill/>
            </p:spPr>
            <p:txBody>
              <a:bodyPr wrap="square" rtlCol="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An arc of a circle is the portion of the circumference between points. Point </a:t>
                </a:r>
                <a14:m>
                  <m:oMath xmlns:m="http://schemas.openxmlformats.org/officeDocument/2006/math">
                    <m:r>
                      <a:rPr lang="en-US" sz="2000" i="1">
                        <a:latin typeface="Cambria Math" panose="02040503050406030204" pitchFamily="18" charset="0"/>
                      </a:rPr>
                      <m:t>𝐾</m:t>
                    </m:r>
                  </m:oMath>
                </a14:m>
                <a:r>
                  <a:rPr lang="en-US" sz="2000" dirty="0">
                    <a:latin typeface="Verdana" panose="020B0604030504040204" pitchFamily="34" charset="0"/>
                    <a:ea typeface="Verdana" panose="020B0604030504040204" pitchFamily="34" charset="0"/>
                    <a:cs typeface="Verdana" panose="020B0604030504040204" pitchFamily="34" charset="0"/>
                  </a:rPr>
                  <a:t> is a point on Circle </a:t>
                </a:r>
                <a14:m>
                  <m:oMath xmlns:m="http://schemas.openxmlformats.org/officeDocument/2006/math">
                    <m:r>
                      <a:rPr lang="en-US" sz="2000" i="1">
                        <a:latin typeface="Cambria Math" panose="02040503050406030204" pitchFamily="18" charset="0"/>
                      </a:rPr>
                      <m:t>𝑃</m:t>
                    </m:r>
                  </m:oMath>
                </a14:m>
                <a:r>
                  <a:rPr lang="en-US" sz="2000" dirty="0">
                    <a:latin typeface="Verdana" panose="020B0604030504040204" pitchFamily="34" charset="0"/>
                    <a:ea typeface="Verdana" panose="020B0604030504040204" pitchFamily="34" charset="0"/>
                    <a:cs typeface="Verdana" panose="020B0604030504040204" pitchFamily="34" charset="0"/>
                  </a:rPr>
                  <a:t>. Discuss with your partner which part of the circle is arc </a:t>
                </a:r>
                <a14:m>
                  <m:oMath xmlns:m="http://schemas.openxmlformats.org/officeDocument/2006/math">
                    <m:r>
                      <a:rPr lang="en-US" sz="2000" i="1">
                        <a:latin typeface="Cambria Math" panose="02040503050406030204" pitchFamily="18" charset="0"/>
                      </a:rPr>
                      <m:t>𝑌𝐾𝑀</m:t>
                    </m:r>
                  </m:oMath>
                </a14:m>
                <a:r>
                  <a:rPr lang="en-US" sz="2000" dirty="0">
                    <a:latin typeface="Verdana" panose="020B0604030504040204" pitchFamily="34" charset="0"/>
                    <a:ea typeface="Verdana" panose="020B0604030504040204" pitchFamily="34" charset="0"/>
                    <a:cs typeface="Verdana" panose="020B0604030504040204" pitchFamily="34" charset="0"/>
                  </a:rPr>
                  <a:t>. Then, trace over this portion of the circle.</a:t>
                </a: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What fraction of the circle’s circumference does arc </a:t>
                </a:r>
                <a14:m>
                  <m:oMath xmlns:m="http://schemas.openxmlformats.org/officeDocument/2006/math">
                    <m:r>
                      <a:rPr lang="en-US" sz="2000" i="1">
                        <a:latin typeface="Cambria Math" panose="02040503050406030204" pitchFamily="18" charset="0"/>
                      </a:rPr>
                      <m:t>𝑌𝐾𝑀</m:t>
                    </m:r>
                  </m:oMath>
                </a14:m>
                <a:r>
                  <a:rPr lang="en-US" sz="2000" dirty="0">
                    <a:latin typeface="Verdana" panose="020B0604030504040204" pitchFamily="34" charset="0"/>
                    <a:ea typeface="Verdana" panose="020B0604030504040204" pitchFamily="34" charset="0"/>
                    <a:cs typeface="Verdana" panose="020B0604030504040204" pitchFamily="34" charset="0"/>
                  </a:rPr>
                  <a:t> represent?</a:t>
                </a: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Arc </a:t>
                </a:r>
                <a14:m>
                  <m:oMath xmlns:m="http://schemas.openxmlformats.org/officeDocument/2006/math">
                    <m:r>
                      <a:rPr lang="en-US" sz="2000" i="1">
                        <a:latin typeface="Cambria Math" panose="02040503050406030204" pitchFamily="18" charset="0"/>
                      </a:rPr>
                      <m:t>𝑌𝐾𝑀</m:t>
                    </m:r>
                  </m:oMath>
                </a14:m>
                <a:r>
                  <a:rPr lang="en-US" sz="2000" dirty="0">
                    <a:latin typeface="Verdana" panose="020B0604030504040204" pitchFamily="34" charset="0"/>
                    <a:ea typeface="Verdana" panose="020B0604030504040204" pitchFamily="34" charset="0"/>
                    <a:cs typeface="Verdana" panose="020B0604030504040204" pitchFamily="34" charset="0"/>
                  </a:rPr>
                  <a:t> can also be notated as </a:t>
                </a:r>
                <a14:m>
                  <m:oMath xmlns:m="http://schemas.openxmlformats.org/officeDocument/2006/math">
                    <m:groupChr>
                      <m:groupChrPr>
                        <m:chr m:val="⏜"/>
                        <m:pos m:val="top"/>
                        <m:vertJc m:val="bot"/>
                        <m:ctrlPr>
                          <a:rPr lang="en-US" sz="2000" i="1">
                            <a:latin typeface="Cambria Math" panose="02040503050406030204" pitchFamily="18" charset="0"/>
                          </a:rPr>
                        </m:ctrlPr>
                      </m:groupChrPr>
                      <m:e>
                        <m:r>
                          <a:rPr lang="en-US" sz="2000" i="1">
                            <a:latin typeface="Cambria Math" panose="02040503050406030204" pitchFamily="18" charset="0"/>
                          </a:rPr>
                          <m:t>𝑌𝐾𝑀</m:t>
                        </m:r>
                      </m:e>
                    </m:groupChr>
                  </m:oMath>
                </a14:m>
                <a:r>
                  <a:rPr lang="en-US" sz="2000" dirty="0">
                    <a:latin typeface="Verdana" panose="020B0604030504040204" pitchFamily="34" charset="0"/>
                    <a:ea typeface="Verdana" panose="020B0604030504040204" pitchFamily="34" charset="0"/>
                    <a:cs typeface="Verdana" panose="020B0604030504040204" pitchFamily="34" charset="0"/>
                  </a:rPr>
                  <a:t>.</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53155" y="616890"/>
                <a:ext cx="7344796" cy="4433330"/>
              </a:xfrm>
              <a:prstGeom prst="rect">
                <a:avLst/>
              </a:prstGeom>
              <a:blipFill>
                <a:blip r:embed="rId5"/>
                <a:stretch>
                  <a:fillRect l="-913" t="-963" r="-1909" b="-1513"/>
                </a:stretch>
              </a:blipFill>
            </p:spPr>
            <p:txBody>
              <a:bodyPr/>
              <a:lstStyle/>
              <a:p>
                <a:r>
                  <a:rPr lang="en-US">
                    <a:noFill/>
                  </a:rPr>
                  <a:t> </a:t>
                </a:r>
              </a:p>
            </p:txBody>
          </p:sp>
        </mc:Fallback>
      </mc:AlternateContent>
    </p:spTree>
    <p:extLst>
      <p:ext uri="{BB962C8B-B14F-4D97-AF65-F5344CB8AC3E}">
        <p14:creationId xmlns:p14="http://schemas.microsoft.com/office/powerpoint/2010/main" val="687834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6" name="Picture 5">
            <a:extLst>
              <a:ext uri="{FF2B5EF4-FFF2-40B4-BE49-F238E27FC236}">
                <a16:creationId xmlns:a16="http://schemas.microsoft.com/office/drawing/2014/main" id="{3F765D74-D37B-944D-BD7D-0B14101FCB8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6514" r="7673"/>
          <a:stretch/>
        </p:blipFill>
        <p:spPr bwMode="auto">
          <a:xfrm>
            <a:off x="7685348" y="799533"/>
            <a:ext cx="3838576" cy="3578995"/>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40565" y="374090"/>
                <a:ext cx="8327136" cy="5376600"/>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Circle </a:t>
                </a:r>
                <a14:m>
                  <m:oMath xmlns:m="http://schemas.openxmlformats.org/officeDocument/2006/math">
                    <m:r>
                      <a:rPr lang="en-US" sz="2000" i="1">
                        <a:latin typeface="Cambria Math" panose="02040503050406030204" pitchFamily="18" charset="0"/>
                      </a:rPr>
                      <m:t>𝐿</m:t>
                    </m:r>
                  </m:oMath>
                </a14:m>
                <a:r>
                  <a:rPr lang="en-US" sz="2000" dirty="0">
                    <a:latin typeface="Verdana" panose="020B0604030504040204" pitchFamily="34" charset="0"/>
                    <a:ea typeface="Verdana" panose="020B0604030504040204" pitchFamily="34" charset="0"/>
                    <a:cs typeface="Verdana" panose="020B0604030504040204" pitchFamily="34" charset="0"/>
                  </a:rPr>
                  <a:t> is shown where points </a:t>
                </a:r>
                <a14:m>
                  <m:oMath xmlns:m="http://schemas.openxmlformats.org/officeDocument/2006/math">
                    <m:r>
                      <a:rPr lang="en-US" sz="2000" i="1">
                        <a:latin typeface="Cambria Math" panose="02040503050406030204" pitchFamily="18" charset="0"/>
                      </a:rPr>
                      <m:t>𝑊</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rPr>
                      <m:t>𝐶</m:t>
                    </m:r>
                  </m:oMath>
                </a14:m>
                <a:r>
                  <a:rPr lang="en-US" sz="2000" dirty="0">
                    <a:latin typeface="Verdana" panose="020B0604030504040204" pitchFamily="34" charset="0"/>
                    <a:ea typeface="Verdana" panose="020B0604030504040204" pitchFamily="34" charset="0"/>
                    <a:cs typeface="Verdana" panose="020B0604030504040204" pitchFamily="34" charset="0"/>
                  </a:rPr>
                  <a:t> are on the circle.</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ratio of the central angle,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𝐶𝐿𝑊</m:t>
                    </m:r>
                  </m:oMath>
                </a14:m>
                <a:r>
                  <a:rPr lang="en-US" sz="2000" dirty="0">
                    <a:latin typeface="Verdana" panose="020B0604030504040204" pitchFamily="34" charset="0"/>
                    <a:ea typeface="Verdana" panose="020B0604030504040204" pitchFamily="34" charset="0"/>
                    <a:cs typeface="Verdana" panose="020B0604030504040204" pitchFamily="34" charset="0"/>
                  </a:rPr>
                  <a: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to the whole circle? Simplify the ratio. </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fraction of the circle’s circumference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does </a:t>
                </a:r>
                <a14:m>
                  <m:oMath xmlns:m="http://schemas.openxmlformats.org/officeDocument/2006/math">
                    <m:groupChr>
                      <m:groupChrPr>
                        <m:chr m:val="⏜"/>
                        <m:pos m:val="top"/>
                        <m:vertJc m:val="bot"/>
                        <m:ctrlPr>
                          <a:rPr lang="en-US" sz="2000" i="1">
                            <a:latin typeface="Cambria Math" panose="02040503050406030204" pitchFamily="18" charset="0"/>
                          </a:rPr>
                        </m:ctrlPr>
                      </m:groupChrPr>
                      <m:e>
                        <m:r>
                          <a:rPr lang="en-US" sz="2000" i="1">
                            <a:latin typeface="Cambria Math" panose="02040503050406030204" pitchFamily="18" charset="0"/>
                          </a:rPr>
                          <m:t>𝑊𝐶</m:t>
                        </m:r>
                      </m:e>
                    </m:groupChr>
                  </m:oMath>
                </a14:m>
                <a:r>
                  <a:rPr lang="en-US" sz="2000" dirty="0">
                    <a:latin typeface="Verdana" panose="020B0604030504040204" pitchFamily="34" charset="0"/>
                    <a:ea typeface="Verdana" panose="020B0604030504040204" pitchFamily="34" charset="0"/>
                    <a:cs typeface="Verdana" panose="020B0604030504040204" pitchFamily="34" charset="0"/>
                  </a:rPr>
                  <a:t> represent? </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Verify your answers to problems 1 and 2 with your partner and resolve any differences, if necessary.</a:t>
                </a:r>
              </a:p>
              <a:p>
                <a:pPr marL="457200" indent="-457200">
                  <a:buFont typeface="+mj-lt"/>
                  <a:buAutoNum type="arabi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With your partner, discuss any relationships you observe. Summarize your discussion.</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5" y="374090"/>
                <a:ext cx="8327136" cy="5376600"/>
              </a:xfrm>
              <a:prstGeom prst="rect">
                <a:avLst/>
              </a:prstGeom>
              <a:blipFill>
                <a:blip r:embed="rId5"/>
                <a:stretch>
                  <a:fillRect l="-805" t="-680" b="-1134"/>
                </a:stretch>
              </a:blipFill>
            </p:spPr>
            <p:txBody>
              <a:bodyPr/>
              <a:lstStyle/>
              <a:p>
                <a:r>
                  <a:rPr lang="en-US">
                    <a:noFill/>
                  </a:rPr>
                  <a:t> </a:t>
                </a:r>
              </a:p>
            </p:txBody>
          </p:sp>
        </mc:Fallback>
      </mc:AlternateContent>
    </p:spTree>
    <p:extLst>
      <p:ext uri="{BB962C8B-B14F-4D97-AF65-F5344CB8AC3E}">
        <p14:creationId xmlns:p14="http://schemas.microsoft.com/office/powerpoint/2010/main" val="3657632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7" name="Picture 6">
            <a:extLst>
              <a:ext uri="{FF2B5EF4-FFF2-40B4-BE49-F238E27FC236}">
                <a16:creationId xmlns:a16="http://schemas.microsoft.com/office/drawing/2014/main" id="{6B2D52E9-68AB-B540-A46A-4977944EC28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bwMode="auto">
          <a:xfrm>
            <a:off x="7574291" y="969682"/>
            <a:ext cx="4313561" cy="4283477"/>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540565" y="374090"/>
                <a:ext cx="6745138" cy="4451090"/>
              </a:xfrm>
              <a:prstGeom prst="rect">
                <a:avLst/>
              </a:prstGeom>
              <a:noFill/>
            </p:spPr>
            <p:txBody>
              <a:bodyPr wrap="square" rtlCol="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On Circle </a:t>
                </a:r>
                <a14:m>
                  <m:oMath xmlns:m="http://schemas.openxmlformats.org/officeDocument/2006/math">
                    <m:r>
                      <a:rPr lang="en-US" sz="2000" i="1">
                        <a:latin typeface="Cambria Math" panose="02040503050406030204" pitchFamily="18" charset="0"/>
                      </a:rPr>
                      <m:t>𝑅</m:t>
                    </m:r>
                  </m:oMath>
                </a14:m>
                <a:r>
                  <a:rPr lang="en-US" sz="2000" dirty="0">
                    <a:latin typeface="Verdana" panose="020B0604030504040204" pitchFamily="34" charset="0"/>
                    <a:ea typeface="Verdana" panose="020B0604030504040204" pitchFamily="34" charset="0"/>
                    <a:cs typeface="Verdana" panose="020B0604030504040204" pitchFamily="34" charset="0"/>
                  </a:rPr>
                  <a:t>, the distance between each point measured along the circumference is </a:t>
                </a:r>
                <a14:m>
                  <m:oMath xmlns:m="http://schemas.openxmlformats.org/officeDocument/2006/math">
                    <m:r>
                      <a:rPr lang="en-US" sz="2000" i="1">
                        <a:latin typeface="Cambria Math" panose="02040503050406030204" pitchFamily="18" charset="0"/>
                      </a:rPr>
                      <m:t>1 </m:t>
                    </m:r>
                  </m:oMath>
                </a14:m>
                <a:r>
                  <a:rPr lang="en-US" sz="2000" dirty="0">
                    <a:latin typeface="Verdana" panose="020B0604030504040204" pitchFamily="34" charset="0"/>
                    <a:ea typeface="Verdana" panose="020B0604030504040204" pitchFamily="34" charset="0"/>
                    <a:cs typeface="Verdana" panose="020B0604030504040204" pitchFamily="34" charset="0"/>
                  </a:rPr>
                  <a:t>inch.</a:t>
                </a:r>
              </a:p>
              <a:p>
                <a:pPr marL="457200" indent="-457200">
                  <a:buFont typeface="+mj-lt"/>
                  <a:buAutoNum type="arabicPeriod" startAt="5"/>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Mark a point anywhere along the circle’s circumference as point </a:t>
                </a:r>
                <a14:m>
                  <m:oMath xmlns:m="http://schemas.openxmlformats.org/officeDocument/2006/math">
                    <m:r>
                      <a:rPr lang="en-US" sz="2000" i="1">
                        <a:latin typeface="Cambria Math" panose="02040503050406030204" pitchFamily="18" charset="0"/>
                      </a:rPr>
                      <m:t>𝑇</m:t>
                    </m:r>
                  </m:oMath>
                </a14:m>
                <a:r>
                  <a:rPr lang="en-US" sz="2000" dirty="0">
                    <a:latin typeface="Verdana" panose="020B0604030504040204" pitchFamily="34" charset="0"/>
                    <a:ea typeface="Verdana" panose="020B0604030504040204" pitchFamily="34" charset="0"/>
                    <a:cs typeface="Verdana" panose="020B0604030504040204" pitchFamily="34" charset="0"/>
                  </a:rPr>
                  <a:t>. Then, starting at point </a:t>
                </a:r>
                <a14:m>
                  <m:oMath xmlns:m="http://schemas.openxmlformats.org/officeDocument/2006/math">
                    <m:r>
                      <a:rPr lang="en-US" sz="2000" i="1">
                        <a:latin typeface="Cambria Math" panose="02040503050406030204" pitchFamily="18" charset="0"/>
                      </a:rPr>
                      <m:t>𝑇</m:t>
                    </m:r>
                  </m:oMath>
                </a14:m>
                <a:r>
                  <a:rPr lang="en-US" sz="2000" dirty="0">
                    <a:latin typeface="Verdana" panose="020B0604030504040204" pitchFamily="34" charset="0"/>
                    <a:ea typeface="Verdana" panose="020B0604030504040204" pitchFamily="34" charset="0"/>
                    <a:cs typeface="Verdana" panose="020B0604030504040204" pitchFamily="34" charset="0"/>
                  </a:rPr>
                  <a:t>, mark an </a:t>
                </a:r>
                <a14:m>
                  <m:oMath xmlns:m="http://schemas.openxmlformats.org/officeDocument/2006/math">
                    <m:r>
                      <a:rPr lang="en-US" sz="2000" i="1">
                        <a:latin typeface="Cambria Math" panose="02040503050406030204" pitchFamily="18"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-inch section along the circle’s circumference. Label the other endpoint of the </a:t>
                </a:r>
                <a14:m>
                  <m:oMath xmlns:m="http://schemas.openxmlformats.org/officeDocument/2006/math">
                    <m:r>
                      <a:rPr lang="en-US" sz="2000" i="1">
                        <a:latin typeface="Cambria Math" panose="02040503050406030204" pitchFamily="18"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-inch section as point </a:t>
                </a:r>
                <a14:m>
                  <m:oMath xmlns:m="http://schemas.openxmlformats.org/officeDocument/2006/math">
                    <m:r>
                      <a:rPr lang="en-US" sz="2000" i="1">
                        <a:latin typeface="Cambria Math" panose="02040503050406030204" pitchFamily="18" charset="0"/>
                      </a:rPr>
                      <m:t>𝐺</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fraction of the circle’s circumference does the length of </a:t>
                </a:r>
                <a14:m>
                  <m:oMath xmlns:m="http://schemas.openxmlformats.org/officeDocument/2006/math">
                    <m:groupChr>
                      <m:groupChrPr>
                        <m:chr m:val="⏜"/>
                        <m:pos m:val="top"/>
                        <m:vertJc m:val="bot"/>
                        <m:ctrlPr>
                          <a:rPr lang="en-US" sz="2000" i="1">
                            <a:latin typeface="Cambria Math" panose="02040503050406030204" pitchFamily="18" charset="0"/>
                          </a:rPr>
                        </m:ctrlPr>
                      </m:groupChrPr>
                      <m:e>
                        <m:r>
                          <a:rPr lang="en-US" sz="2000" i="1">
                            <a:latin typeface="Cambria Math" panose="02040503050406030204" pitchFamily="18" charset="0"/>
                          </a:rPr>
                          <m:t>𝑇𝐺</m:t>
                        </m:r>
                      </m:e>
                    </m:groupChr>
                  </m:oMath>
                </a14:m>
                <a:r>
                  <a:rPr lang="en-US" sz="2000" dirty="0">
                    <a:latin typeface="Verdana" panose="020B0604030504040204" pitchFamily="34" charset="0"/>
                    <a:ea typeface="Verdana" panose="020B0604030504040204" pitchFamily="34" charset="0"/>
                    <a:cs typeface="Verdana" panose="020B0604030504040204" pitchFamily="34" charset="0"/>
                  </a:rPr>
                  <a:t> represent? </a:t>
                </a:r>
              </a:p>
              <a:p>
                <a:pPr marL="4572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Draw the central angle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𝑇𝑅𝐺</m:t>
                    </m:r>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5" y="374090"/>
                <a:ext cx="6745138" cy="4451090"/>
              </a:xfrm>
              <a:prstGeom prst="rect">
                <a:avLst/>
              </a:prstGeom>
              <a:blipFill>
                <a:blip r:embed="rId5"/>
                <a:stretch>
                  <a:fillRect l="-995" t="-821" b="-1505"/>
                </a:stretch>
              </a:blipFill>
            </p:spPr>
            <p:txBody>
              <a:bodyPr/>
              <a:lstStyle/>
              <a:p>
                <a:r>
                  <a:rPr lang="en-US">
                    <a:noFill/>
                  </a:rPr>
                  <a:t> </a:t>
                </a:r>
              </a:p>
            </p:txBody>
          </p:sp>
        </mc:Fallback>
      </mc:AlternateContent>
    </p:spTree>
    <p:extLst>
      <p:ext uri="{BB962C8B-B14F-4D97-AF65-F5344CB8AC3E}">
        <p14:creationId xmlns:p14="http://schemas.microsoft.com/office/powerpoint/2010/main" val="2030580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4EB5C6-2FDE-474B-866F-02AD6706D73C}"/>
                  </a:ext>
                </a:extLst>
              </p:cNvPr>
              <p:cNvSpPr txBox="1"/>
              <p:nvPr/>
            </p:nvSpPr>
            <p:spPr>
              <a:xfrm>
                <a:off x="540565" y="374089"/>
                <a:ext cx="8327136" cy="3785652"/>
              </a:xfrm>
              <a:prstGeom prst="rect">
                <a:avLst/>
              </a:prstGeom>
              <a:noFill/>
            </p:spPr>
            <p:txBody>
              <a:bodyPr wrap="square" rtlCol="0">
                <a:spAutoFit/>
              </a:bodyPr>
              <a:lstStyle/>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What is the measure of the central angle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𝑇𝑅𝐺</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What is the ratio of the central angle to the whole circle?</a:t>
                </a: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4"/>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6"/>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the relationship between the length of the arc and the ratio of the central angle to the whole circle.</a:t>
                </a:r>
              </a:p>
            </p:txBody>
          </p:sp>
        </mc:Choice>
        <mc:Fallback xmlns="">
          <p:sp>
            <p:nvSpPr>
              <p:cNvPr id="7" name="TextBox 6">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540565" y="374089"/>
                <a:ext cx="8327136" cy="3785652"/>
              </a:xfrm>
              <a:prstGeom prst="rect">
                <a:avLst/>
              </a:prstGeom>
              <a:blipFill>
                <a:blip r:embed="rId3"/>
                <a:stretch>
                  <a:fillRect t="-966" b="-1932"/>
                </a:stretch>
              </a:blipFill>
            </p:spPr>
            <p:txBody>
              <a:bodyPr/>
              <a:lstStyle/>
              <a:p>
                <a:r>
                  <a:rPr lang="en-US">
                    <a:noFill/>
                  </a:rPr>
                  <a:t> </a:t>
                </a:r>
              </a:p>
            </p:txBody>
          </p:sp>
        </mc:Fallback>
      </mc:AlternateContent>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126</a:t>
            </a:r>
            <a:endParaRPr i="1" dirty="0">
              <a:latin typeface="Calibri"/>
              <a:ea typeface="Calibri"/>
              <a:cs typeface="Calibri"/>
              <a:sym typeface="Calibri"/>
            </a:endParaRPr>
          </a:p>
        </p:txBody>
      </p:sp>
    </p:spTree>
    <p:extLst>
      <p:ext uri="{BB962C8B-B14F-4D97-AF65-F5344CB8AC3E}">
        <p14:creationId xmlns:p14="http://schemas.microsoft.com/office/powerpoint/2010/main" val="3980437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127</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B74EB5C6-2FDE-474B-866F-02AD6706D73C}"/>
              </a:ext>
            </a:extLst>
          </p:cNvPr>
          <p:cNvSpPr txBox="1"/>
          <p:nvPr/>
        </p:nvSpPr>
        <p:spPr>
          <a:xfrm>
            <a:off x="465232" y="319499"/>
            <a:ext cx="8476261" cy="5016758"/>
          </a:xfrm>
          <a:prstGeom prst="rect">
            <a:avLst/>
          </a:prstGeom>
          <a:noFill/>
        </p:spPr>
        <p:txBody>
          <a:bodyPr wrap="square" rtlCol="0">
            <a:spAutoFit/>
          </a:bodyPr>
          <a:lstStyle/>
          <a:p>
            <a:pPr marL="457200" indent="-4572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Complete the statements.</a:t>
            </a:r>
          </a:p>
          <a:p>
            <a:pPr marL="457200" indent="-457200">
              <a:buFont typeface="+mj-lt"/>
              <a:buAutoNum type="arabicPeriod" startAt="6"/>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6"/>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3200400" algn="l"/>
              </a:tabLst>
            </a:pPr>
            <a:r>
              <a:rPr lang="en-US" sz="2000" dirty="0">
                <a:latin typeface="Verdana" panose="020B0604030504040204" pitchFamily="34" charset="0"/>
                <a:ea typeface="Verdana" panose="020B0604030504040204" pitchFamily="34" charset="0"/>
                <a:cs typeface="Verdana" panose="020B0604030504040204" pitchFamily="34" charset="0"/>
              </a:rPr>
              <a:t>The	is the distance along the part of </a:t>
            </a:r>
          </a:p>
          <a:p>
            <a:pPr marL="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a circle’s circumference or along any curve.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6515100" algn="l"/>
              </a:tabLst>
            </a:pPr>
            <a:r>
              <a:rPr lang="en-US" sz="2000" dirty="0">
                <a:latin typeface="Verdana" panose="020B0604030504040204" pitchFamily="34" charset="0"/>
                <a:ea typeface="Verdana" panose="020B0604030504040204" pitchFamily="34" charset="0"/>
                <a:cs typeface="Verdana" panose="020B0604030504040204" pitchFamily="34" charset="0"/>
              </a:rPr>
              <a:t>The ratio of the length of an arc to the circumference of a</a:t>
            </a:r>
          </a:p>
          <a:p>
            <a:pPr marL="457200">
              <a:tabLst>
                <a:tab pos="65151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65151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6515100" algn="l"/>
              </a:tabLst>
            </a:pPr>
            <a:r>
              <a:rPr lang="en-US" sz="2000" dirty="0">
                <a:latin typeface="Verdana" panose="020B0604030504040204" pitchFamily="34" charset="0"/>
                <a:ea typeface="Verdana" panose="020B0604030504040204" pitchFamily="34" charset="0"/>
                <a:cs typeface="Verdana" panose="020B0604030504040204" pitchFamily="34" charset="0"/>
              </a:rPr>
              <a:t>circle is                                 the ratio of the central angle</a:t>
            </a:r>
          </a:p>
          <a:p>
            <a:pPr marL="457200">
              <a:tabLst>
                <a:tab pos="65151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65151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6515100" algn="l"/>
              </a:tabLst>
            </a:pPr>
            <a:r>
              <a:rPr lang="en-US" sz="2000" dirty="0">
                <a:latin typeface="Verdana" panose="020B0604030504040204" pitchFamily="34" charset="0"/>
                <a:ea typeface="Verdana" panose="020B0604030504040204" pitchFamily="34" charset="0"/>
                <a:cs typeface="Verdana" panose="020B0604030504040204" pitchFamily="34" charset="0"/>
              </a:rPr>
              <a:t>to the whole circle.</a:t>
            </a:r>
          </a:p>
        </p:txBody>
      </p:sp>
      <p:sp>
        <p:nvSpPr>
          <p:cNvPr id="6" name="Rounded Rectangle 5">
            <a:extLst>
              <a:ext uri="{FF2B5EF4-FFF2-40B4-BE49-F238E27FC236}">
                <a16:creationId xmlns:a16="http://schemas.microsoft.com/office/drawing/2014/main" id="{90995C83-1D91-5D4E-95BF-CDFD44A51CC5}"/>
              </a:ext>
            </a:extLst>
          </p:cNvPr>
          <p:cNvSpPr/>
          <p:nvPr/>
        </p:nvSpPr>
        <p:spPr>
          <a:xfrm>
            <a:off x="1615469" y="870103"/>
            <a:ext cx="2033270" cy="1123712"/>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342900" indent="-342900">
              <a:buSzPts val="1800"/>
              <a:buFont typeface="Courier New" panose="02070309020205020404" pitchFamily="49" charset="0"/>
              <a:buChar char="o"/>
            </a:pPr>
            <a:r>
              <a:rPr lang="en-US" sz="2000" dirty="0">
                <a:latin typeface="Verdana" pitchFamily="34" charset="0"/>
                <a:ea typeface="Verdana" pitchFamily="34" charset="0"/>
                <a:cs typeface="Times New Roman" panose="02020603050405020304" pitchFamily="18" charset="0"/>
              </a:rPr>
              <a:t>arc length</a:t>
            </a:r>
          </a:p>
          <a:p>
            <a:pPr marL="342900" indent="-342900">
              <a:buSzPts val="1800"/>
              <a:buFont typeface="Courier New" panose="02070309020205020404" pitchFamily="49" charset="0"/>
              <a:buChar char="o"/>
            </a:pPr>
            <a:r>
              <a:rPr lang="en-US" sz="2000" dirty="0">
                <a:latin typeface="Verdana" pitchFamily="34" charset="0"/>
                <a:ea typeface="Verdana" pitchFamily="34" charset="0"/>
                <a:cs typeface="Times New Roman" panose="02020603050405020304" pitchFamily="18" charset="0"/>
              </a:rPr>
              <a:t>diameter</a:t>
            </a:r>
          </a:p>
          <a:p>
            <a:pPr marL="342900" indent="-342900">
              <a:spcAft>
                <a:spcPts val="1000"/>
              </a:spcAft>
              <a:buSzPts val="1800"/>
              <a:buFont typeface="Courier New" panose="02070309020205020404" pitchFamily="49" charset="0"/>
              <a:buChar char="o"/>
            </a:pPr>
            <a:r>
              <a:rPr lang="en-US" sz="2000" dirty="0">
                <a:latin typeface="Verdana" pitchFamily="34" charset="0"/>
                <a:ea typeface="Verdana" pitchFamily="34" charset="0"/>
                <a:cs typeface="Times New Roman" panose="02020603050405020304" pitchFamily="18" charset="0"/>
              </a:rPr>
              <a:t>radius</a:t>
            </a:r>
          </a:p>
        </p:txBody>
      </p:sp>
      <p:sp>
        <p:nvSpPr>
          <p:cNvPr id="7" name="Rounded Rectangle 6">
            <a:extLst>
              <a:ext uri="{FF2B5EF4-FFF2-40B4-BE49-F238E27FC236}">
                <a16:creationId xmlns:a16="http://schemas.microsoft.com/office/drawing/2014/main" id="{D543EA6F-0ADC-5A4E-AF3C-5D2BFD53EA6E}"/>
              </a:ext>
            </a:extLst>
          </p:cNvPr>
          <p:cNvSpPr/>
          <p:nvPr/>
        </p:nvSpPr>
        <p:spPr>
          <a:xfrm>
            <a:off x="2051602" y="3809518"/>
            <a:ext cx="2651760" cy="783193"/>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342900" indent="-342900">
              <a:buSzPts val="1800"/>
              <a:buFont typeface="Courier New" panose="02070309020205020404" pitchFamily="49" charset="0"/>
              <a:buChar char="o"/>
            </a:pPr>
            <a:r>
              <a:rPr lang="en-US" sz="2000" dirty="0">
                <a:latin typeface="Verdana" pitchFamily="34" charset="0"/>
                <a:ea typeface="Verdana" pitchFamily="34" charset="0"/>
                <a:cs typeface="Times New Roman" panose="02020603050405020304" pitchFamily="18" charset="0"/>
              </a:rPr>
              <a:t>the inverse of</a:t>
            </a:r>
          </a:p>
          <a:p>
            <a:pPr marL="342900" indent="-342900">
              <a:spcAft>
                <a:spcPts val="1000"/>
              </a:spcAft>
              <a:buSzPts val="1800"/>
              <a:buFont typeface="Courier New" panose="02070309020205020404" pitchFamily="49" charset="0"/>
              <a:buChar char="o"/>
            </a:pPr>
            <a:r>
              <a:rPr lang="en-US" sz="2000" dirty="0">
                <a:latin typeface="Verdana" pitchFamily="34" charset="0"/>
                <a:ea typeface="Verdana" pitchFamily="34" charset="0"/>
                <a:cs typeface="Times New Roman" panose="02020603050405020304" pitchFamily="18" charset="0"/>
              </a:rPr>
              <a:t>proportional to</a:t>
            </a:r>
          </a:p>
        </p:txBody>
      </p:sp>
    </p:spTree>
    <p:extLst>
      <p:ext uri="{BB962C8B-B14F-4D97-AF65-F5344CB8AC3E}">
        <p14:creationId xmlns:p14="http://schemas.microsoft.com/office/powerpoint/2010/main" val="1550648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127</a:t>
            </a:r>
            <a:endParaRPr i="1" dirty="0">
              <a:latin typeface="Calibri"/>
              <a:ea typeface="Calibri"/>
              <a:cs typeface="Calibri"/>
              <a:sym typeface="Calibri"/>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111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60325"/>
            <a:ext cx="1062807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33BEA6"/>
                </a:solidFill>
                <a:latin typeface="Verdana"/>
                <a:ea typeface="Verdana"/>
                <a:cs typeface="Verdana"/>
                <a:sym typeface="Verdana"/>
              </a:rPr>
              <a:t>10.2.3 Activity: Matching Central Angles and Ratios of Arc Length to Circumference</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127</a:t>
            </a:r>
            <a:endParaRPr i="1" dirty="0">
              <a:latin typeface="Calibri"/>
              <a:ea typeface="Calibri"/>
              <a:cs typeface="Calibri"/>
              <a:sym typeface="Calibri"/>
            </a:endParaRP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677746" y="1602753"/>
            <a:ext cx="10950404" cy="2677656"/>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Your teacher will give you two sets of cards for this activity. One set shows circles with a central angle. The other set of cards is a set of ratios of the arc length to the circumference.</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Work with your partner to match each circle card to the corresponding ratio indicated on the lettered card. </a:t>
            </a:r>
            <a:r>
              <a:rPr lang="tr-TR" sz="2400" dirty="0">
                <a:latin typeface="Verdana" panose="020B0604030504040204" pitchFamily="34" charset="0"/>
                <a:ea typeface="Verdana" panose="020B0604030504040204" pitchFamily="34" charset="0"/>
                <a:cs typeface="Verdana" panose="020B0604030504040204" pitchFamily="34" charset="0"/>
              </a:rPr>
              <a:t>Record the matches in the table.</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4069935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275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127</a:t>
            </a:r>
            <a:endParaRPr i="1" dirty="0">
              <a:latin typeface="Calibri"/>
              <a:ea typeface="Calibri"/>
              <a:cs typeface="Calibri"/>
              <a:sym typeface="Calibri"/>
            </a:endParaRPr>
          </a:p>
        </p:txBody>
      </p:sp>
      <p:sp>
        <p:nvSpPr>
          <p:cNvPr id="5" name="TextBox 4">
            <a:extLst>
              <a:ext uri="{FF2B5EF4-FFF2-40B4-BE49-F238E27FC236}">
                <a16:creationId xmlns:a16="http://schemas.microsoft.com/office/drawing/2014/main" id="{B6C08EE3-8247-C14E-9600-35165D5C8679}"/>
              </a:ext>
            </a:extLst>
          </p:cNvPr>
          <p:cNvSpPr txBox="1"/>
          <p:nvPr/>
        </p:nvSpPr>
        <p:spPr>
          <a:xfrm>
            <a:off x="779740" y="4959783"/>
            <a:ext cx="10744184" cy="707886"/>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Summarize how you and your partner were able to match the circles to a corresponding ratio without being given the circumference.</a:t>
            </a:r>
          </a:p>
        </p:txBody>
      </p:sp>
      <p:graphicFrame>
        <p:nvGraphicFramePr>
          <p:cNvPr id="2" name="Table 1">
            <a:extLst>
              <a:ext uri="{FF2B5EF4-FFF2-40B4-BE49-F238E27FC236}">
                <a16:creationId xmlns:a16="http://schemas.microsoft.com/office/drawing/2014/main" id="{41986223-FC12-164E-BC80-598588D1C678}"/>
              </a:ext>
            </a:extLst>
          </p:cNvPr>
          <p:cNvGraphicFramePr>
            <a:graphicFrameLocks noGrp="1"/>
          </p:cNvGraphicFramePr>
          <p:nvPr>
            <p:extLst>
              <p:ext uri="{D42A27DB-BD31-4B8C-83A1-F6EECF244321}">
                <p14:modId xmlns:p14="http://schemas.microsoft.com/office/powerpoint/2010/main" val="2425901381"/>
              </p:ext>
            </p:extLst>
          </p:nvPr>
        </p:nvGraphicFramePr>
        <p:xfrm>
          <a:off x="1291276" y="423653"/>
          <a:ext cx="9721112" cy="4281805"/>
        </p:xfrm>
        <a:graphic>
          <a:graphicData uri="http://schemas.openxmlformats.org/drawingml/2006/table">
            <a:tbl>
              <a:tblPr firstRow="1" firstCol="1" bandRow="1">
                <a:tableStyleId>{A91F0D33-8C57-4600-99A7-42BC86742BE1}</a:tableStyleId>
              </a:tblPr>
              <a:tblGrid>
                <a:gridCol w="1471801">
                  <a:extLst>
                    <a:ext uri="{9D8B030D-6E8A-4147-A177-3AD203B41FA5}">
                      <a16:colId xmlns:a16="http://schemas.microsoft.com/office/drawing/2014/main" val="414681885"/>
                    </a:ext>
                  </a:extLst>
                </a:gridCol>
                <a:gridCol w="3390128">
                  <a:extLst>
                    <a:ext uri="{9D8B030D-6E8A-4147-A177-3AD203B41FA5}">
                      <a16:colId xmlns:a16="http://schemas.microsoft.com/office/drawing/2014/main" val="4260409319"/>
                    </a:ext>
                  </a:extLst>
                </a:gridCol>
                <a:gridCol w="1469055">
                  <a:extLst>
                    <a:ext uri="{9D8B030D-6E8A-4147-A177-3AD203B41FA5}">
                      <a16:colId xmlns:a16="http://schemas.microsoft.com/office/drawing/2014/main" val="3940807429"/>
                    </a:ext>
                  </a:extLst>
                </a:gridCol>
                <a:gridCol w="3390128">
                  <a:extLst>
                    <a:ext uri="{9D8B030D-6E8A-4147-A177-3AD203B41FA5}">
                      <a16:colId xmlns:a16="http://schemas.microsoft.com/office/drawing/2014/main" val="4178685754"/>
                    </a:ext>
                  </a:extLst>
                </a:gridCol>
              </a:tblGrid>
              <a:tr h="918845">
                <a:tc>
                  <a:txBody>
                    <a:bodyPr/>
                    <a:lstStyle/>
                    <a:p>
                      <a:pPr marL="0" marR="0" algn="ctr">
                        <a:spcBef>
                          <a:spcPts val="0"/>
                        </a:spcBef>
                        <a:spcAft>
                          <a:spcPts val="0"/>
                        </a:spcAft>
                      </a:pPr>
                      <a:r>
                        <a:rPr lang="en-US" sz="2000" b="1" dirty="0">
                          <a:effectLst/>
                          <a:latin typeface="Verdana" pitchFamily="34" charset="0"/>
                          <a:ea typeface="Verdana" pitchFamily="34" charset="0"/>
                        </a:rPr>
                        <a:t>Card Letter</a:t>
                      </a:r>
                      <a:endParaRPr lang="en-US" sz="2000" b="1"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itchFamily="34" charset="0"/>
                          <a:ea typeface="Verdana" pitchFamily="34" charset="0"/>
                        </a:rPr>
                        <a:t>Ratio of the Arc Length to the Circumference</a:t>
                      </a:r>
                      <a:endParaRPr lang="en-US" sz="2000" b="1"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itchFamily="34" charset="0"/>
                          <a:ea typeface="Verdana" pitchFamily="34" charset="0"/>
                        </a:rPr>
                        <a:t>Card Letter</a:t>
                      </a:r>
                      <a:endParaRPr lang="en-US" sz="2000" b="1"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itchFamily="34" charset="0"/>
                          <a:ea typeface="Verdana" pitchFamily="34" charset="0"/>
                        </a:rPr>
                        <a:t>Ratio of the Arc Length to the Circumference</a:t>
                      </a:r>
                      <a:endParaRPr lang="en-US" sz="2000" b="1"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538701582"/>
                  </a:ext>
                </a:extLst>
              </a:tr>
              <a:tr h="636905">
                <a:tc>
                  <a:txBody>
                    <a:bodyPr/>
                    <a:lstStyle/>
                    <a:p>
                      <a:pPr marL="0" marR="0" algn="ctr">
                        <a:spcBef>
                          <a:spcPts val="0"/>
                        </a:spcBef>
                        <a:spcAft>
                          <a:spcPts val="0"/>
                        </a:spcAft>
                      </a:pPr>
                      <a:r>
                        <a:rPr lang="en-US" sz="2000">
                          <a:effectLst/>
                          <a:latin typeface="Verdana" pitchFamily="34" charset="0"/>
                          <a:ea typeface="Verdana" pitchFamily="34" charset="0"/>
                        </a:rPr>
                        <a:t>A</a:t>
                      </a:r>
                      <a:endParaRPr lang="en-US"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F</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0956797"/>
                  </a:ext>
                </a:extLst>
              </a:tr>
              <a:tr h="636905">
                <a:tc>
                  <a:txBody>
                    <a:bodyPr/>
                    <a:lstStyle/>
                    <a:p>
                      <a:pPr marL="0" marR="0" algn="ctr">
                        <a:spcBef>
                          <a:spcPts val="0"/>
                        </a:spcBef>
                        <a:spcAft>
                          <a:spcPts val="0"/>
                        </a:spcAft>
                      </a:pPr>
                      <a:r>
                        <a:rPr lang="en-US" sz="2000">
                          <a:effectLst/>
                          <a:latin typeface="Verdana" pitchFamily="34" charset="0"/>
                          <a:ea typeface="Verdana" pitchFamily="34" charset="0"/>
                        </a:rPr>
                        <a:t>B</a:t>
                      </a:r>
                      <a:endParaRPr lang="en-US"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G</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604875"/>
                  </a:ext>
                </a:extLst>
              </a:tr>
              <a:tr h="636905">
                <a:tc>
                  <a:txBody>
                    <a:bodyPr/>
                    <a:lstStyle/>
                    <a:p>
                      <a:pPr marL="0" marR="0" algn="ctr">
                        <a:spcBef>
                          <a:spcPts val="0"/>
                        </a:spcBef>
                        <a:spcAft>
                          <a:spcPts val="0"/>
                        </a:spcAft>
                      </a:pPr>
                      <a:r>
                        <a:rPr lang="en-US" sz="2000">
                          <a:effectLst/>
                          <a:latin typeface="Verdana" pitchFamily="34" charset="0"/>
                          <a:ea typeface="Verdana" pitchFamily="34" charset="0"/>
                        </a:rPr>
                        <a:t>C</a:t>
                      </a:r>
                      <a:endParaRPr lang="en-US"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H</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7275641"/>
                  </a:ext>
                </a:extLst>
              </a:tr>
              <a:tr h="636905">
                <a:tc>
                  <a:txBody>
                    <a:bodyPr/>
                    <a:lstStyle/>
                    <a:p>
                      <a:pPr marL="0" marR="0" algn="ctr">
                        <a:spcBef>
                          <a:spcPts val="0"/>
                        </a:spcBef>
                        <a:spcAft>
                          <a:spcPts val="0"/>
                        </a:spcAft>
                      </a:pPr>
                      <a:r>
                        <a:rPr lang="en-US" sz="2000">
                          <a:effectLst/>
                          <a:latin typeface="Verdana" pitchFamily="34" charset="0"/>
                          <a:ea typeface="Verdana" pitchFamily="34" charset="0"/>
                        </a:rPr>
                        <a:t>D</a:t>
                      </a:r>
                      <a:endParaRPr lang="en-US"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rPr>
                        <a:t>I</a:t>
                      </a:r>
                      <a:endParaRPr lang="en-US"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0299042"/>
                  </a:ext>
                </a:extLst>
              </a:tr>
              <a:tr h="636905">
                <a:tc>
                  <a:txBody>
                    <a:bodyPr/>
                    <a:lstStyle/>
                    <a:p>
                      <a:pPr marL="0" marR="0" algn="ctr">
                        <a:spcBef>
                          <a:spcPts val="0"/>
                        </a:spcBef>
                        <a:spcAft>
                          <a:spcPts val="0"/>
                        </a:spcAft>
                      </a:pPr>
                      <a:r>
                        <a:rPr lang="en-US" sz="2000" dirty="0">
                          <a:effectLst/>
                          <a:latin typeface="Verdana" pitchFamily="34" charset="0"/>
                          <a:ea typeface="Verdana" pitchFamily="34" charset="0"/>
                        </a:rPr>
                        <a:t>E</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rPr>
                        <a:t> </a:t>
                      </a:r>
                      <a:endParaRPr lang="en-US"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itchFamily="34" charset="0"/>
                          <a:ea typeface="Verdana" pitchFamily="34" charset="0"/>
                        </a:rPr>
                        <a:t>J</a:t>
                      </a:r>
                      <a:endParaRPr lang="en-US" sz="200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8091604"/>
                  </a:ext>
                </a:extLst>
              </a:tr>
            </a:tbl>
          </a:graphicData>
        </a:graphic>
      </p:graphicFrame>
    </p:spTree>
    <p:extLst>
      <p:ext uri="{BB962C8B-B14F-4D97-AF65-F5344CB8AC3E}">
        <p14:creationId xmlns:p14="http://schemas.microsoft.com/office/powerpoint/2010/main" val="27711547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7" name="TextBox 6">
            <a:extLst>
              <a:ext uri="{FF2B5EF4-FFF2-40B4-BE49-F238E27FC236}">
                <a16:creationId xmlns:a16="http://schemas.microsoft.com/office/drawing/2014/main" id="{B74EB5C6-2FDE-474B-866F-02AD6706D73C}"/>
              </a:ext>
            </a:extLst>
          </p:cNvPr>
          <p:cNvSpPr txBox="1"/>
          <p:nvPr/>
        </p:nvSpPr>
        <p:spPr>
          <a:xfrm>
            <a:off x="465232" y="319499"/>
            <a:ext cx="8476261" cy="2862322"/>
          </a:xfrm>
          <a:prstGeom prst="rect">
            <a:avLst/>
          </a:prstGeom>
          <a:noFill/>
        </p:spPr>
        <p:txBody>
          <a:bodyPr wrap="square" rtlCol="0">
            <a:spAutoFit/>
          </a:bodyPr>
          <a:lstStyle/>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pPr marL="457200" indent="-457200">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The ratio of the central angle to the whole circle is the </a:t>
            </a:r>
          </a:p>
          <a:p>
            <a:pPr marL="45720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2686050" algn="l"/>
              </a:tabLst>
            </a:pPr>
            <a:r>
              <a:rPr lang="en-US" sz="2000" dirty="0">
                <a:latin typeface="Verdana" panose="020B0604030504040204" pitchFamily="34" charset="0"/>
                <a:ea typeface="Verdana" panose="020B0604030504040204" pitchFamily="34" charset="0"/>
                <a:cs typeface="Verdana" panose="020B0604030504040204" pitchFamily="34" charset="0"/>
              </a:rPr>
              <a:t>	the ratio of the length of an arc to </a:t>
            </a:r>
          </a:p>
          <a:p>
            <a:pPr marL="457200">
              <a:tabLst>
                <a:tab pos="22860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2286000"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2286000" algn="l"/>
              </a:tabLst>
            </a:pPr>
            <a:r>
              <a:rPr lang="en-US" sz="2000" dirty="0">
                <a:latin typeface="Verdana" panose="020B0604030504040204" pitchFamily="34" charset="0"/>
                <a:ea typeface="Verdana" panose="020B0604030504040204" pitchFamily="34" charset="0"/>
                <a:cs typeface="Verdana" panose="020B0604030504040204" pitchFamily="34" charset="0"/>
              </a:rPr>
              <a:t>the circumference. </a:t>
            </a:r>
          </a:p>
        </p:txBody>
      </p:sp>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128</a:t>
            </a:r>
            <a:endParaRPr i="1" dirty="0">
              <a:latin typeface="Calibri"/>
              <a:ea typeface="Calibri"/>
              <a:cs typeface="Calibri"/>
              <a:sym typeface="Calibri"/>
            </a:endParaRPr>
          </a:p>
        </p:txBody>
      </p:sp>
      <p:sp>
        <p:nvSpPr>
          <p:cNvPr id="9" name="Rounded Rectangle 8"/>
          <p:cNvSpPr/>
          <p:nvPr/>
        </p:nvSpPr>
        <p:spPr>
          <a:xfrm>
            <a:off x="1002315" y="1661721"/>
            <a:ext cx="2033270" cy="783193"/>
          </a:xfrm>
          <a:prstGeom prst="roundRect">
            <a:avLst/>
          </a:prstGeom>
          <a:ln w="12700"/>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285750" indent="-285750">
              <a:buFont typeface="Courier New" pitchFamily="49" charset="0"/>
              <a:buChar char="o"/>
            </a:pPr>
            <a:r>
              <a:rPr lang="en-US" sz="2000" dirty="0">
                <a:latin typeface="Verdana" pitchFamily="34" charset="0"/>
                <a:ea typeface="Verdana" pitchFamily="34" charset="0"/>
                <a:cs typeface="Times New Roman"/>
              </a:rPr>
              <a:t>inverse of</a:t>
            </a:r>
          </a:p>
          <a:p>
            <a:pPr marL="285750" indent="-285750">
              <a:spcAft>
                <a:spcPts val="1000"/>
              </a:spcAft>
              <a:buFont typeface="Courier New" pitchFamily="49" charset="0"/>
              <a:buChar char="o"/>
            </a:pPr>
            <a:r>
              <a:rPr lang="en-US" sz="2000" dirty="0">
                <a:latin typeface="Verdana" pitchFamily="34" charset="0"/>
                <a:ea typeface="Verdana" pitchFamily="34" charset="0"/>
                <a:cs typeface="Times New Roman"/>
              </a:rPr>
              <a:t>same as</a:t>
            </a:r>
          </a:p>
        </p:txBody>
      </p:sp>
    </p:spTree>
    <p:extLst>
      <p:ext uri="{BB962C8B-B14F-4D97-AF65-F5344CB8AC3E}">
        <p14:creationId xmlns:p14="http://schemas.microsoft.com/office/powerpoint/2010/main" val="36515900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128</a:t>
            </a:r>
            <a:endParaRPr i="1" dirty="0">
              <a:latin typeface="Calibri"/>
              <a:ea typeface="Calibri"/>
              <a:cs typeface="Calibri"/>
              <a:sym typeface="Calibri"/>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082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21757" y="60325"/>
            <a:ext cx="934959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33BEA6"/>
                </a:solidFill>
                <a:latin typeface="Verdana"/>
                <a:ea typeface="Verdana"/>
                <a:cs typeface="Verdana"/>
                <a:sym typeface="Verdana"/>
              </a:rPr>
              <a:t>10.2.4 Exploration: Arc Lengths With the Same Central Angle and Different Radii</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128</a:t>
            </a:r>
            <a:endParaRPr i="1" dirty="0">
              <a:latin typeface="Calibri"/>
              <a:ea typeface="Calibri"/>
              <a:cs typeface="Calibri"/>
              <a:sym typeface="Calibri"/>
            </a:endParaRP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96352"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672479" y="1720295"/>
                <a:ext cx="10713276" cy="3231654"/>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Points </a:t>
                </a:r>
                <a14:m>
                  <m:oMath xmlns:m="http://schemas.openxmlformats.org/officeDocument/2006/math">
                    <m:r>
                      <a:rPr lang="en-US" sz="2000" i="1">
                        <a:latin typeface="Cambria Math" panose="02040503050406030204" pitchFamily="18" charset="0"/>
                      </a:rPr>
                      <m:t>𝐷</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rPr>
                      <m:t>𝑃</m:t>
                    </m:r>
                  </m:oMath>
                </a14:m>
                <a:r>
                  <a:rPr lang="en-US" sz="2000" dirty="0">
                    <a:latin typeface="Verdana" panose="020B0604030504040204" pitchFamily="34" charset="0"/>
                    <a:ea typeface="Verdana" panose="020B0604030504040204" pitchFamily="34" charset="0"/>
                    <a:cs typeface="Verdana" panose="020B0604030504040204" pitchFamily="34" charset="0"/>
                  </a:rPr>
                  <a:t> lie on Circle </a:t>
                </a:r>
                <a14:m>
                  <m:oMath xmlns:m="http://schemas.openxmlformats.org/officeDocument/2006/math">
                    <m:r>
                      <a:rPr lang="en-US" sz="2000" i="1">
                        <a:latin typeface="Cambria Math" panose="02040503050406030204" pitchFamily="18" charset="0"/>
                      </a:rPr>
                      <m:t>𝑊</m:t>
                    </m:r>
                  </m:oMath>
                </a14:m>
                <a:r>
                  <a:rPr lang="en-US" sz="2000" dirty="0">
                    <a:latin typeface="Verdana" panose="020B0604030504040204" pitchFamily="34" charset="0"/>
                    <a:ea typeface="Verdana" panose="020B0604030504040204" pitchFamily="34" charset="0"/>
                    <a:cs typeface="Verdana" panose="020B0604030504040204" pitchFamily="34" charset="0"/>
                  </a:rPr>
                  <a:t>. The radius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𝑊𝑃</m:t>
                        </m:r>
                      </m:e>
                    </m:acc>
                    <m:r>
                      <a:rPr lang="en-US" sz="2000" i="1">
                        <a:latin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measures </a:t>
                </a:r>
                <a14:m>
                  <m:oMath xmlns:m="http://schemas.openxmlformats.org/officeDocument/2006/math">
                    <m:r>
                      <a:rPr lang="en-US" sz="2000" i="1">
                        <a:latin typeface="Cambria Math" panose="020405030504060302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inches (in.).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 smaller Circle </a:t>
                </a:r>
                <a14:m>
                  <m:oMath xmlns:m="http://schemas.openxmlformats.org/officeDocument/2006/math">
                    <m:r>
                      <a:rPr lang="en-US" sz="2000" i="1">
                        <a:latin typeface="Cambria Math" panose="02040503050406030204" pitchFamily="18" charset="0"/>
                      </a:rPr>
                      <m:t>𝑊</m:t>
                    </m:r>
                  </m:oMath>
                </a14:m>
                <a:r>
                  <a:rPr lang="en-US" sz="2000" dirty="0">
                    <a:latin typeface="Verdana" panose="020B0604030504040204" pitchFamily="34" charset="0"/>
                    <a:ea typeface="Verdana" panose="020B0604030504040204" pitchFamily="34" charset="0"/>
                    <a:cs typeface="Verdana" panose="020B0604030504040204" pitchFamily="34" charset="0"/>
                  </a:rPr>
                  <a:t> with a radius measure of </a:t>
                </a:r>
                <a14:m>
                  <m:oMath xmlns:m="http://schemas.openxmlformats.org/officeDocument/2006/math">
                    <m:r>
                      <a:rPr lang="en-US" sz="2000" i="1">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in. rests inside the larger Circle </a:t>
                </a:r>
                <a14:m>
                  <m:oMath xmlns:m="http://schemas.openxmlformats.org/officeDocument/2006/math">
                    <m:r>
                      <a:rPr lang="en-US" sz="2000" i="1">
                        <a:latin typeface="Cambria Math" panose="02040503050406030204" pitchFamily="18" charset="0"/>
                      </a:rPr>
                      <m:t>𝑊</m:t>
                    </m:r>
                  </m:oMath>
                </a14:m>
                <a:r>
                  <a:rPr lang="en-US" sz="2000" dirty="0">
                    <a:latin typeface="Verdana" panose="020B0604030504040204" pitchFamily="34" charset="0"/>
                    <a:ea typeface="Verdana" panose="020B0604030504040204" pitchFamily="34" charset="0"/>
                    <a:cs typeface="Verdana" panose="020B0604030504040204" pitchFamily="34" charset="0"/>
                  </a:rPr>
                  <a:t>, where points </a:t>
                </a:r>
                <a14:m>
                  <m:oMath xmlns:m="http://schemas.openxmlformats.org/officeDocument/2006/math">
                    <m:r>
                      <a:rPr lang="en-US" sz="2000" i="1">
                        <a:latin typeface="Cambria Math" panose="02040503050406030204" pitchFamily="18" charset="0"/>
                      </a:rPr>
                      <m:t>𝑀</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rPr>
                      <m:t>𝐾</m:t>
                    </m:r>
                  </m:oMath>
                </a14:m>
                <a:r>
                  <a:rPr lang="en-US" sz="2000" dirty="0">
                    <a:latin typeface="Verdana" panose="020B0604030504040204" pitchFamily="34" charset="0"/>
                    <a:ea typeface="Verdana" panose="020B0604030504040204" pitchFamily="34" charset="0"/>
                    <a:cs typeface="Verdana" panose="020B0604030504040204" pitchFamily="34" charset="0"/>
                  </a:rPr>
                  <a:t> lie on the smaller circle.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The smaller Circle </a:t>
                </a:r>
                <a14:m>
                  <m:oMath xmlns:m="http://schemas.openxmlformats.org/officeDocument/2006/math">
                    <m:r>
                      <a:rPr lang="en-US" sz="2000" i="1">
                        <a:latin typeface="Cambria Math" panose="02040503050406030204" pitchFamily="18" charset="0"/>
                      </a:rPr>
                      <m:t>𝑊</m:t>
                    </m:r>
                  </m:oMath>
                </a14:m>
                <a:r>
                  <a:rPr lang="en-US" sz="2000" dirty="0">
                    <a:latin typeface="Verdana" panose="020B0604030504040204" pitchFamily="34" charset="0"/>
                    <a:ea typeface="Verdana" panose="020B0604030504040204" pitchFamily="34" charset="0"/>
                    <a:cs typeface="Verdana" panose="020B0604030504040204" pitchFamily="34" charset="0"/>
                  </a:rPr>
                  <a:t> has central angle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𝐾𝑊𝑀</m:t>
                    </m:r>
                  </m:oMath>
                </a14:m>
                <a:r>
                  <a:rPr lang="en-US" sz="2000" dirty="0">
                    <a:latin typeface="Verdana" panose="020B0604030504040204" pitchFamily="34" charset="0"/>
                    <a:ea typeface="Verdana" panose="020B0604030504040204" pitchFamily="34" charset="0"/>
                    <a:cs typeface="Verdana" panose="020B0604030504040204" pitchFamily="34" charset="0"/>
                  </a:rPr>
                  <a:t> that measures </a:t>
                </a:r>
                <a14:m>
                  <m:oMath xmlns:m="http://schemas.openxmlformats.org/officeDocument/2006/math">
                    <m:r>
                      <a:rPr lang="en-US" sz="2000" i="1">
                        <a:latin typeface="Cambria Math" panose="02040503050406030204" pitchFamily="18" charset="0"/>
                      </a:rPr>
                      <m:t>45°</m:t>
                    </m:r>
                  </m:oMath>
                </a14:m>
                <a:r>
                  <a:rPr lang="en-US" sz="2000" dirty="0">
                    <a:latin typeface="Verdana" panose="020B0604030504040204" pitchFamily="34" charset="0"/>
                    <a:ea typeface="Verdana" panose="020B0604030504040204" pitchFamily="34" charset="0"/>
                    <a:cs typeface="Verdana" panose="020B0604030504040204" pitchFamily="34" charset="0"/>
                  </a:rPr>
                  <a:t> and the larger Circle </a:t>
                </a:r>
                <a14:m>
                  <m:oMath xmlns:m="http://schemas.openxmlformats.org/officeDocument/2006/math">
                    <m:r>
                      <a:rPr lang="en-US" sz="2000" i="1">
                        <a:latin typeface="Cambria Math" panose="02040503050406030204" pitchFamily="18" charset="0"/>
                      </a:rPr>
                      <m:t>𝑊</m:t>
                    </m:r>
                  </m:oMath>
                </a14:m>
                <a:r>
                  <a:rPr lang="en-US" sz="2000" dirty="0">
                    <a:latin typeface="Verdana" panose="020B0604030504040204" pitchFamily="34" charset="0"/>
                    <a:ea typeface="Verdana" panose="020B0604030504040204" pitchFamily="34" charset="0"/>
                    <a:cs typeface="Verdana" panose="020B0604030504040204" pitchFamily="34" charset="0"/>
                  </a:rPr>
                  <a:t> has central angle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𝑃𝑊𝐷</m:t>
                    </m:r>
                  </m:oMath>
                </a14:m>
                <a:r>
                  <a:rPr lang="en-US" sz="2000" dirty="0">
                    <a:latin typeface="Verdana" panose="020B0604030504040204" pitchFamily="34" charset="0"/>
                    <a:ea typeface="Verdana" panose="020B0604030504040204" pitchFamily="34" charset="0"/>
                    <a:cs typeface="Verdana" panose="020B0604030504040204" pitchFamily="34" charset="0"/>
                  </a:rPr>
                  <a:t> that measures </a:t>
                </a:r>
                <a14:m>
                  <m:oMath xmlns:m="http://schemas.openxmlformats.org/officeDocument/2006/math">
                    <m:r>
                      <a:rPr lang="en-US" sz="2000" i="1">
                        <a:latin typeface="Cambria Math" panose="02040503050406030204" pitchFamily="18" charset="0"/>
                      </a:rPr>
                      <m:t>45°</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Use the information to complete the following.</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672479" y="1720295"/>
                <a:ext cx="10713276" cy="3231654"/>
              </a:xfrm>
              <a:prstGeom prst="rect">
                <a:avLst/>
              </a:prstGeom>
              <a:blipFill>
                <a:blip r:embed="rId5"/>
                <a:stretch>
                  <a:fillRect l="-626" t="-1321"/>
                </a:stretch>
              </a:blipFill>
            </p:spPr>
            <p:txBody>
              <a:bodyPr/>
              <a:lstStyle/>
              <a:p>
                <a:r>
                  <a:rPr lang="en-US">
                    <a:noFill/>
                  </a:rPr>
                  <a:t> </a:t>
                </a:r>
              </a:p>
            </p:txBody>
          </p:sp>
        </mc:Fallback>
      </mc:AlternateContent>
    </p:spTree>
    <p:extLst>
      <p:ext uri="{BB962C8B-B14F-4D97-AF65-F5344CB8AC3E}">
        <p14:creationId xmlns:p14="http://schemas.microsoft.com/office/powerpoint/2010/main" val="39721274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6" name="Picture 5" descr="Diagram&#10;&#10;Description automatically generated">
            <a:extLst>
              <a:ext uri="{FF2B5EF4-FFF2-40B4-BE49-F238E27FC236}">
                <a16:creationId xmlns:a16="http://schemas.microsoft.com/office/drawing/2014/main" id="{791E4836-14ED-C84D-83D3-D61E862E5FF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151196" y="305833"/>
            <a:ext cx="4644390" cy="4201160"/>
          </a:xfrm>
          <a:prstGeom prst="rect">
            <a:avLst/>
          </a:prstGeom>
        </p:spPr>
      </p:pic>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74EB5C6-2FDE-474B-866F-02AD6706D73C}"/>
                  </a:ext>
                </a:extLst>
              </p:cNvPr>
              <p:cNvSpPr txBox="1"/>
              <p:nvPr/>
            </p:nvSpPr>
            <p:spPr>
              <a:xfrm>
                <a:off x="465232" y="4619132"/>
                <a:ext cx="11162918" cy="1065741"/>
              </a:xfrm>
              <a:prstGeom prst="rect">
                <a:avLst/>
              </a:prstGeom>
              <a:noFill/>
            </p:spPr>
            <p:txBody>
              <a:bodyPr wrap="square" rtlCol="0">
                <a:spAutoFit/>
              </a:bodyPr>
              <a:lstStyle/>
              <a:p>
                <a:pPr marL="914400" indent="-457200"/>
                <a:r>
                  <a:rPr lang="en-PH" sz="2000" dirty="0">
                    <a:latin typeface="Verdana" pitchFamily="34" charset="0"/>
                    <a:ea typeface="Verdana" pitchFamily="34" charset="0"/>
                  </a:rPr>
                  <a:t>a.	</a:t>
                </a:r>
                <a14:m>
                  <m:oMath xmlns:m="http://schemas.openxmlformats.org/officeDocument/2006/math">
                    <m:groupChr>
                      <m:groupChrPr>
                        <m:chr m:val="⏜"/>
                        <m:pos m:val="top"/>
                        <m:vertJc m:val="bot"/>
                        <m:ctrlPr>
                          <a:rPr lang="en-US" sz="2000" i="1">
                            <a:latin typeface="Cambria Math" panose="02040503050406030204" pitchFamily="18" charset="0"/>
                          </a:rPr>
                        </m:ctrlPr>
                      </m:groupChrPr>
                      <m:e>
                        <m:r>
                          <a:rPr lang="en-US" sz="2000" i="1">
                            <a:latin typeface="Cambria Math" panose="02040503050406030204" pitchFamily="18" charset="0"/>
                          </a:rPr>
                          <m:t>𝑀𝐾</m:t>
                        </m:r>
                      </m:e>
                    </m:groupChr>
                  </m:oMath>
                </a14:m>
                <a:r>
                  <a:rPr lang="tr-TR" sz="2000" dirty="0">
                    <a:latin typeface="Verdana" panose="020B0604030504040204" pitchFamily="34" charset="0"/>
                    <a:ea typeface="Verdana" panose="020B0604030504040204" pitchFamily="34" charset="0"/>
                    <a:cs typeface="Verdana" panose="020B0604030504040204" pitchFamily="34" charset="0"/>
                  </a:rPr>
                  <a:t> </a:t>
                </a:r>
                <a:r>
                  <a:rPr lang="tr-TR" sz="2000" dirty="0" err="1">
                    <a:latin typeface="Verdana" panose="020B0604030504040204" pitchFamily="34" charset="0"/>
                    <a:ea typeface="Verdana" panose="020B0604030504040204" pitchFamily="34" charset="0"/>
                    <a:cs typeface="Verdana" panose="020B0604030504040204" pitchFamily="34" charset="0"/>
                  </a:rPr>
                  <a:t>and</a:t>
                </a:r>
                <a:r>
                  <a:rPr lang="tr-TR"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groupChr>
                      <m:groupChrPr>
                        <m:chr m:val="⏜"/>
                        <m:pos m:val="top"/>
                        <m:vertJc m:val="bot"/>
                        <m:ctrlPr>
                          <a:rPr lang="en-US" sz="2000" i="1">
                            <a:latin typeface="Cambria Math" panose="02040503050406030204" pitchFamily="18" charset="0"/>
                          </a:rPr>
                        </m:ctrlPr>
                      </m:groupChrPr>
                      <m:e>
                        <m:r>
                          <a:rPr lang="en-US" sz="2000" i="1">
                            <a:latin typeface="Cambria Math" panose="02040503050406030204" pitchFamily="18" charset="0"/>
                          </a:rPr>
                          <m:t>𝐷𝑃</m:t>
                        </m:r>
                      </m:e>
                    </m:groupChr>
                  </m:oMath>
                </a14:m>
                <a:r>
                  <a:rPr lang="tr-TR" sz="2000" dirty="0">
                    <a:latin typeface="Verdana" panose="020B0604030504040204" pitchFamily="34" charset="0"/>
                    <a:ea typeface="Verdana" panose="020B0604030504040204" pitchFamily="34" charset="0"/>
                    <a:cs typeface="Verdana" panose="020B0604030504040204" pitchFamily="34" charset="0"/>
                  </a:rPr>
                  <a:t> </a:t>
                </a:r>
                <a:r>
                  <a:rPr lang="tr-TR" sz="2000" dirty="0" err="1">
                    <a:latin typeface="Verdana" panose="020B0604030504040204" pitchFamily="34" charset="0"/>
                    <a:ea typeface="Verdana" panose="020B0604030504040204" pitchFamily="34" charset="0"/>
                    <a:cs typeface="Verdana" panose="020B0604030504040204" pitchFamily="34" charset="0"/>
                  </a:rPr>
                  <a:t>are</a:t>
                </a:r>
                <a:r>
                  <a:rPr lang="tr-TR" sz="20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different lengths. Discuss with your partner whether you think the ratio of the arc length and circumference will be the same as or different than the ratio of the central angle of the whole circle.</a:t>
                </a:r>
              </a:p>
            </p:txBody>
          </p:sp>
        </mc:Choice>
        <mc:Fallback xmlns="">
          <p:sp>
            <p:nvSpPr>
              <p:cNvPr id="5" name="TextBox 4">
                <a:extLst>
                  <a:ext uri="{FF2B5EF4-FFF2-40B4-BE49-F238E27FC236}">
                    <a16:creationId xmlns:a16="http://schemas.microsoft.com/office/drawing/2014/main" id="{B74EB5C6-2FDE-474B-866F-02AD6706D73C}"/>
                  </a:ext>
                </a:extLst>
              </p:cNvPr>
              <p:cNvSpPr txBox="1">
                <a:spLocks noRot="1" noChangeAspect="1" noMove="1" noResize="1" noEditPoints="1" noAdjustHandles="1" noChangeArrowheads="1" noChangeShapeType="1" noTextEdit="1"/>
              </p:cNvSpPr>
              <p:nvPr/>
            </p:nvSpPr>
            <p:spPr>
              <a:xfrm>
                <a:off x="465232" y="4619132"/>
                <a:ext cx="11162918" cy="1065741"/>
              </a:xfrm>
              <a:prstGeom prst="rect">
                <a:avLst/>
              </a:prstGeom>
              <a:blipFill>
                <a:blip r:embed="rId5"/>
                <a:stretch>
                  <a:fillRect t="-9714" r="-218" b="-9714"/>
                </a:stretch>
              </a:blipFill>
            </p:spPr>
            <p:txBody>
              <a:bodyPr/>
              <a:lstStyle/>
              <a:p>
                <a:r>
                  <a:rPr lang="en-US">
                    <a:noFill/>
                  </a:rPr>
                  <a:t> </a:t>
                </a:r>
              </a:p>
            </p:txBody>
          </p:sp>
        </mc:Fallback>
      </mc:AlternateContent>
    </p:spTree>
    <p:extLst>
      <p:ext uri="{BB962C8B-B14F-4D97-AF65-F5344CB8AC3E}">
        <p14:creationId xmlns:p14="http://schemas.microsoft.com/office/powerpoint/2010/main" val="1968247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902961" y="542541"/>
            <a:ext cx="10620963" cy="3785652"/>
          </a:xfrm>
          <a:prstGeom prst="rect">
            <a:avLst/>
          </a:prstGeom>
          <a:noFill/>
        </p:spPr>
        <p:txBody>
          <a:bodyPr wrap="square" rtlCol="0">
            <a:spAutoFit/>
          </a:bodyPr>
          <a:lstStyle/>
          <a:p>
            <a:pPr marL="4572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Andrew and Sarah are discussing if the ratio of the arc length to the circumference is the same as the ratio of the central angle to the whole circle for both the smaller and larger circles.</a:t>
            </a:r>
          </a:p>
          <a:p>
            <a:pPr marL="4572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Explain who you agree with.</a:t>
            </a:r>
          </a:p>
        </p:txBody>
      </p:sp>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129</a:t>
            </a:r>
            <a:endParaRPr i="1" dirty="0">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B23705A2-9D86-6744-B50A-2F921D2F32E3}"/>
              </a:ext>
            </a:extLst>
          </p:cNvPr>
          <p:cNvGraphicFramePr>
            <a:graphicFrameLocks noGrp="1"/>
          </p:cNvGraphicFramePr>
          <p:nvPr>
            <p:extLst>
              <p:ext uri="{D42A27DB-BD31-4B8C-83A1-F6EECF244321}">
                <p14:modId xmlns:p14="http://schemas.microsoft.com/office/powerpoint/2010/main" val="3796525807"/>
              </p:ext>
            </p:extLst>
          </p:nvPr>
        </p:nvGraphicFramePr>
        <p:xfrm>
          <a:off x="1481559" y="1717945"/>
          <a:ext cx="7837260" cy="1895410"/>
        </p:xfrm>
        <a:graphic>
          <a:graphicData uri="http://schemas.openxmlformats.org/drawingml/2006/table">
            <a:tbl>
              <a:tblPr firstRow="1" firstCol="1" bandRow="1">
                <a:tableStyleId>{A91F0D33-8C57-4600-99A7-42BC86742BE1}</a:tableStyleId>
              </a:tblPr>
              <a:tblGrid>
                <a:gridCol w="3918630">
                  <a:extLst>
                    <a:ext uri="{9D8B030D-6E8A-4147-A177-3AD203B41FA5}">
                      <a16:colId xmlns:a16="http://schemas.microsoft.com/office/drawing/2014/main" val="2361643246"/>
                    </a:ext>
                  </a:extLst>
                </a:gridCol>
                <a:gridCol w="3918630">
                  <a:extLst>
                    <a:ext uri="{9D8B030D-6E8A-4147-A177-3AD203B41FA5}">
                      <a16:colId xmlns:a16="http://schemas.microsoft.com/office/drawing/2014/main" val="878641594"/>
                    </a:ext>
                  </a:extLst>
                </a:gridCol>
              </a:tblGrid>
              <a:tr h="1895410">
                <a:tc>
                  <a:txBody>
                    <a:bodyPr/>
                    <a:lstStyle/>
                    <a:p>
                      <a:pPr marL="0" marR="0">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Sarah says, “Yes. They will have the same ratios because they have the same central angle.”</a:t>
                      </a:r>
                    </a:p>
                  </a:txBody>
                  <a:tcPr marL="101540" marR="101540" marT="101540" marB="1015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200" dirty="0">
                          <a:effectLst/>
                          <a:latin typeface="Verdana" panose="020B0604030504040204" pitchFamily="34" charset="0"/>
                          <a:ea typeface="Verdana" panose="020B0604030504040204" pitchFamily="34" charset="0"/>
                          <a:cs typeface="Verdana" panose="020B0604030504040204" pitchFamily="34" charset="0"/>
                        </a:rPr>
                        <a:t>Andrew says, “No. They do not have the same ratios because they are different circles with different radii.”</a:t>
                      </a:r>
                    </a:p>
                  </a:txBody>
                  <a:tcPr marL="101540" marR="101540" marT="101540" marB="1015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4747004"/>
                  </a:ext>
                </a:extLst>
              </a:tr>
            </a:tbl>
          </a:graphicData>
        </a:graphic>
      </p:graphicFrame>
    </p:spTree>
    <p:extLst>
      <p:ext uri="{BB962C8B-B14F-4D97-AF65-F5344CB8AC3E}">
        <p14:creationId xmlns:p14="http://schemas.microsoft.com/office/powerpoint/2010/main" val="3387939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5" name="TextBox 4">
            <a:extLst>
              <a:ext uri="{FF2B5EF4-FFF2-40B4-BE49-F238E27FC236}">
                <a16:creationId xmlns:a16="http://schemas.microsoft.com/office/drawing/2014/main" id="{B74EB5C6-2FDE-474B-866F-02AD6706D73C}"/>
              </a:ext>
            </a:extLst>
          </p:cNvPr>
          <p:cNvSpPr txBox="1"/>
          <p:nvPr/>
        </p:nvSpPr>
        <p:spPr>
          <a:xfrm>
            <a:off x="902961" y="550767"/>
            <a:ext cx="10620963" cy="5016758"/>
          </a:xfrm>
          <a:prstGeom prst="rect">
            <a:avLst/>
          </a:prstGeom>
          <a:noFill/>
        </p:spPr>
        <p:txBody>
          <a:bodyPr wrap="square" rtlCol="0">
            <a:spAutoFit/>
          </a:bodyPr>
          <a:lstStyle/>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table to support your reasoning in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Part B.</a:t>
            </a: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Explain whether your findings in Part C support your answers to Parts A and B. If not, explain why your answers to Parts A and B are incorrect.</a:t>
            </a:r>
          </a:p>
        </p:txBody>
      </p:sp>
      <p:sp>
        <p:nvSpPr>
          <p:cNvPr id="278" name="Google Shape;278;g104476d1465_1_17"/>
          <p:cNvSpPr/>
          <p:nvPr/>
        </p:nvSpPr>
        <p:spPr>
          <a:xfrm>
            <a:off x="0" y="0"/>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129</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C5AFCBBF-8E1C-6841-A078-ACEDBF2070C2}"/>
                  </a:ext>
                </a:extLst>
              </p:cNvPr>
              <p:cNvGraphicFramePr>
                <a:graphicFrameLocks noGrp="1"/>
              </p:cNvGraphicFramePr>
              <p:nvPr>
                <p:extLst>
                  <p:ext uri="{D42A27DB-BD31-4B8C-83A1-F6EECF244321}">
                    <p14:modId xmlns:p14="http://schemas.microsoft.com/office/powerpoint/2010/main" val="3676579320"/>
                  </p:ext>
                </p:extLst>
              </p:nvPr>
            </p:nvGraphicFramePr>
            <p:xfrm>
              <a:off x="1467858" y="1290475"/>
              <a:ext cx="6583680" cy="3291840"/>
            </p:xfrm>
            <a:graphic>
              <a:graphicData uri="http://schemas.openxmlformats.org/drawingml/2006/table">
                <a:tbl>
                  <a:tblPr firstRow="1" firstCol="1" bandRow="1">
                    <a:tableStyleId>{A91F0D33-8C57-4600-99A7-42BC86742BE1}</a:tableStyleId>
                  </a:tblPr>
                  <a:tblGrid>
                    <a:gridCol w="1920240">
                      <a:extLst>
                        <a:ext uri="{9D8B030D-6E8A-4147-A177-3AD203B41FA5}">
                          <a16:colId xmlns:a16="http://schemas.microsoft.com/office/drawing/2014/main" val="2496768872"/>
                        </a:ext>
                      </a:extLst>
                    </a:gridCol>
                    <a:gridCol w="2286000">
                      <a:extLst>
                        <a:ext uri="{9D8B030D-6E8A-4147-A177-3AD203B41FA5}">
                          <a16:colId xmlns:a16="http://schemas.microsoft.com/office/drawing/2014/main" val="2767733205"/>
                        </a:ext>
                      </a:extLst>
                    </a:gridCol>
                    <a:gridCol w="2377440">
                      <a:extLst>
                        <a:ext uri="{9D8B030D-6E8A-4147-A177-3AD203B41FA5}">
                          <a16:colId xmlns:a16="http://schemas.microsoft.com/office/drawing/2014/main" val="508415817"/>
                        </a:ext>
                      </a:extLst>
                    </a:gridCol>
                  </a:tblGrid>
                  <a:tr h="833755">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itchFamily="34" charset="0"/>
                              <a:ea typeface="Verdana" pitchFamily="34" charset="0"/>
                            </a:rPr>
                            <a:t>Ratio of Arc Length to Circumference</a:t>
                          </a:r>
                          <a:endParaRPr lang="en-US" sz="2000" b="1"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itchFamily="34" charset="0"/>
                              <a:ea typeface="Verdana" pitchFamily="34" charset="0"/>
                            </a:rPr>
                            <a:t>Ratio of Central Angle to Whole Circle</a:t>
                          </a:r>
                          <a:endParaRPr lang="en-US" sz="2000" b="1"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03808220"/>
                      </a:ext>
                    </a:extLst>
                  </a:tr>
                  <a:tr h="833755">
                    <a:tc>
                      <a:txBody>
                        <a:bodyPr/>
                        <a:lstStyle/>
                        <a:p>
                          <a:pPr marL="0" marR="0" algn="ctr">
                            <a:spcBef>
                              <a:spcPts val="0"/>
                            </a:spcBef>
                            <a:spcAft>
                              <a:spcPts val="0"/>
                            </a:spcAft>
                          </a:pPr>
                          <a:r>
                            <a:rPr lang="en-US" sz="2000" dirty="0">
                              <a:effectLst/>
                              <a:latin typeface="Verdana" pitchFamily="34" charset="0"/>
                              <a:ea typeface="Verdana" pitchFamily="34" charset="0"/>
                            </a:rPr>
                            <a:t>Circle </a:t>
                          </a:r>
                          <a14:m>
                            <m:oMath xmlns:m="http://schemas.openxmlformats.org/officeDocument/2006/math">
                              <m:r>
                                <a:rPr lang="en-US" sz="2000">
                                  <a:effectLst/>
                                  <a:latin typeface="Cambria Math" panose="02040503050406030204" pitchFamily="18" charset="0"/>
                                </a:rPr>
                                <m:t>𝑊</m:t>
                              </m:r>
                            </m:oMath>
                          </a14:m>
                          <a:r>
                            <a:rPr lang="en-US" sz="2000" dirty="0">
                              <a:effectLst/>
                              <a:latin typeface="Verdana" pitchFamily="34" charset="0"/>
                              <a:ea typeface="Verdana" pitchFamily="34" charset="0"/>
                            </a:rPr>
                            <a:t> with radius </a:t>
                          </a:r>
                          <a14:m>
                            <m:oMath xmlns:m="http://schemas.openxmlformats.org/officeDocument/2006/math">
                              <m:r>
                                <a:rPr lang="en-US" sz="2000">
                                  <a:effectLst/>
                                  <a:latin typeface="Cambria Math" panose="02040503050406030204" pitchFamily="18" charset="0"/>
                                </a:rPr>
                                <m:t>2</m:t>
                              </m:r>
                            </m:oMath>
                          </a14:m>
                          <a:r>
                            <a:rPr lang="en-US" sz="2000" dirty="0">
                              <a:effectLst/>
                              <a:latin typeface="Verdana" pitchFamily="34" charset="0"/>
                              <a:ea typeface="Verdana" pitchFamily="34" charset="0"/>
                            </a:rPr>
                            <a:t> in.</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7666867"/>
                      </a:ext>
                    </a:extLst>
                  </a:tr>
                  <a:tr h="833755">
                    <a:tc>
                      <a:txBody>
                        <a:bodyPr/>
                        <a:lstStyle/>
                        <a:p>
                          <a:pPr marL="0" marR="0" algn="ctr">
                            <a:spcBef>
                              <a:spcPts val="0"/>
                            </a:spcBef>
                            <a:spcAft>
                              <a:spcPts val="0"/>
                            </a:spcAft>
                          </a:pPr>
                          <a:r>
                            <a:rPr lang="en-US" sz="2000" dirty="0">
                              <a:effectLst/>
                              <a:latin typeface="Verdana" pitchFamily="34" charset="0"/>
                              <a:ea typeface="Verdana" pitchFamily="34" charset="0"/>
                            </a:rPr>
                            <a:t>Circle </a:t>
                          </a:r>
                          <a14:m>
                            <m:oMath xmlns:m="http://schemas.openxmlformats.org/officeDocument/2006/math">
                              <m:r>
                                <a:rPr lang="en-US" sz="2000">
                                  <a:effectLst/>
                                  <a:latin typeface="Cambria Math" panose="02040503050406030204" pitchFamily="18" charset="0"/>
                                </a:rPr>
                                <m:t>𝑊</m:t>
                              </m:r>
                            </m:oMath>
                          </a14:m>
                          <a:r>
                            <a:rPr lang="en-US" sz="2000" dirty="0">
                              <a:effectLst/>
                              <a:latin typeface="Verdana" pitchFamily="34" charset="0"/>
                              <a:ea typeface="Verdana" pitchFamily="34" charset="0"/>
                            </a:rPr>
                            <a:t> with radius </a:t>
                          </a:r>
                          <a14:m>
                            <m:oMath xmlns:m="http://schemas.openxmlformats.org/officeDocument/2006/math">
                              <m:r>
                                <a:rPr lang="en-US" sz="2000">
                                  <a:effectLst/>
                                  <a:latin typeface="Cambria Math" panose="02040503050406030204" pitchFamily="18" charset="0"/>
                                </a:rPr>
                                <m:t>5</m:t>
                              </m:r>
                            </m:oMath>
                          </a14:m>
                          <a:r>
                            <a:rPr lang="en-US" sz="2000" dirty="0">
                              <a:effectLst/>
                              <a:latin typeface="Verdana" pitchFamily="34" charset="0"/>
                              <a:ea typeface="Verdana" pitchFamily="34" charset="0"/>
                            </a:rPr>
                            <a:t> in.</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7649293"/>
                      </a:ext>
                    </a:extLst>
                  </a:tr>
                </a:tbl>
              </a:graphicData>
            </a:graphic>
          </p:graphicFrame>
        </mc:Choice>
        <mc:Fallback xmlns="">
          <p:graphicFrame>
            <p:nvGraphicFramePr>
              <p:cNvPr id="3" name="Table 2">
                <a:extLst>
                  <a:ext uri="{FF2B5EF4-FFF2-40B4-BE49-F238E27FC236}">
                    <a16:creationId xmlns:a16="http://schemas.microsoft.com/office/drawing/2014/main" id="{C5AFCBBF-8E1C-6841-A078-ACEDBF2070C2}"/>
                  </a:ext>
                </a:extLst>
              </p:cNvPr>
              <p:cNvGraphicFramePr>
                <a:graphicFrameLocks noGrp="1"/>
              </p:cNvGraphicFramePr>
              <p:nvPr>
                <p:extLst>
                  <p:ext uri="{D42A27DB-BD31-4B8C-83A1-F6EECF244321}">
                    <p14:modId xmlns:p14="http://schemas.microsoft.com/office/powerpoint/2010/main" val="3676579320"/>
                  </p:ext>
                </p:extLst>
              </p:nvPr>
            </p:nvGraphicFramePr>
            <p:xfrm>
              <a:off x="1467858" y="1290475"/>
              <a:ext cx="6583680" cy="3291840"/>
            </p:xfrm>
            <a:graphic>
              <a:graphicData uri="http://schemas.openxmlformats.org/drawingml/2006/table">
                <a:tbl>
                  <a:tblPr firstRow="1" firstCol="1" bandRow="1">
                    <a:tableStyleId>{A91F0D33-8C57-4600-99A7-42BC86742BE1}</a:tableStyleId>
                  </a:tblPr>
                  <a:tblGrid>
                    <a:gridCol w="1920240">
                      <a:extLst>
                        <a:ext uri="{9D8B030D-6E8A-4147-A177-3AD203B41FA5}">
                          <a16:colId xmlns:a16="http://schemas.microsoft.com/office/drawing/2014/main" val="2496768872"/>
                        </a:ext>
                      </a:extLst>
                    </a:gridCol>
                    <a:gridCol w="2286000">
                      <a:extLst>
                        <a:ext uri="{9D8B030D-6E8A-4147-A177-3AD203B41FA5}">
                          <a16:colId xmlns:a16="http://schemas.microsoft.com/office/drawing/2014/main" val="2767733205"/>
                        </a:ext>
                      </a:extLst>
                    </a:gridCol>
                    <a:gridCol w="2377440">
                      <a:extLst>
                        <a:ext uri="{9D8B030D-6E8A-4147-A177-3AD203B41FA5}">
                          <a16:colId xmlns:a16="http://schemas.microsoft.com/office/drawing/2014/main" val="508415817"/>
                        </a:ext>
                      </a:extLst>
                    </a:gridCol>
                  </a:tblGrid>
                  <a:tr h="1097280">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itchFamily="34" charset="0"/>
                              <a:ea typeface="Verdana" pitchFamily="34" charset="0"/>
                            </a:rPr>
                            <a:t>Ratio of Arc Length to Circumference</a:t>
                          </a:r>
                          <a:endParaRPr lang="en-US" sz="2000" b="1"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itchFamily="34" charset="0"/>
                              <a:ea typeface="Verdana" pitchFamily="34" charset="0"/>
                            </a:rPr>
                            <a:t>Ratio of Central Angle to Whole Circle</a:t>
                          </a:r>
                          <a:endParaRPr lang="en-US" sz="2000" b="1"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03808220"/>
                      </a:ext>
                    </a:extLst>
                  </a:tr>
                  <a:tr h="10972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7" t="-100000" r="-243810" b="-100552"/>
                          </a:stretch>
                        </a:blipFill>
                      </a:tcPr>
                    </a:tc>
                    <a:tc>
                      <a:txBody>
                        <a:bodyPr/>
                        <a:lstStyle/>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7666867"/>
                      </a:ext>
                    </a:extLst>
                  </a:tr>
                  <a:tr h="1097280">
                    <a:tc>
                      <a:txBody>
                        <a:bodyPr/>
                        <a:lstStyle/>
                        <a:p>
                          <a:endParaRPr lang="en-US"/>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7" t="-201111" r="-243810" b="-1111"/>
                          </a:stretch>
                        </a:blipFill>
                      </a:tcPr>
                    </a:tc>
                    <a:tc>
                      <a:txBody>
                        <a:bodyPr/>
                        <a:lstStyle/>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p>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lgn="ctr">
                            <a:spcBef>
                              <a:spcPts val="0"/>
                            </a:spcBef>
                            <a:spcAft>
                              <a:spcPts val="0"/>
                            </a:spcAft>
                          </a:pPr>
                          <a:r>
                            <a:rPr lang="en-US" sz="2000" dirty="0">
                              <a:effectLst/>
                              <a:latin typeface="Verdana" pitchFamily="34" charset="0"/>
                              <a:ea typeface="Verdana" pitchFamily="34" charset="0"/>
                            </a:rPr>
                            <a:t> </a:t>
                          </a:r>
                          <a:endParaRPr lang="en-US" sz="2000" dirty="0">
                            <a:effectLst/>
                            <a:latin typeface="Verdana" pitchFamily="34" charset="0"/>
                            <a:ea typeface="Verdana" pitchFamily="34" charset="0"/>
                            <a:cs typeface="Times New Roman" panose="02020603050405020304" pitchFamily="18" charset="0"/>
                          </a:endParaRPr>
                        </a:p>
                      </a:txBody>
                      <a:tcPr marT="91440" marB="9144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7649293"/>
                      </a:ext>
                    </a:extLst>
                  </a:tr>
                </a:tbl>
              </a:graphicData>
            </a:graphic>
          </p:graphicFrame>
        </mc:Fallback>
      </mc:AlternateContent>
    </p:spTree>
    <p:extLst>
      <p:ext uri="{BB962C8B-B14F-4D97-AF65-F5344CB8AC3E}">
        <p14:creationId xmlns:p14="http://schemas.microsoft.com/office/powerpoint/2010/main" val="2098385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129</a:t>
            </a:r>
            <a:endParaRPr i="1" dirty="0">
              <a:latin typeface="Calibri"/>
              <a:ea typeface="Calibri"/>
              <a:cs typeface="Calibri"/>
              <a:sym typeface="Calibri"/>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12" name="TextBox 11">
            <a:extLst>
              <a:ext uri="{FF2B5EF4-FFF2-40B4-BE49-F238E27FC236}">
                <a16:creationId xmlns:a16="http://schemas.microsoft.com/office/drawing/2014/main" id="{0370EDB7-6994-3D43-ABF9-E04CBAFB9CD9}"/>
              </a:ext>
            </a:extLst>
          </p:cNvPr>
          <p:cNvSpPr txBox="1"/>
          <p:nvPr/>
        </p:nvSpPr>
        <p:spPr>
          <a:xfrm>
            <a:off x="679000" y="1164289"/>
            <a:ext cx="9150391" cy="400110"/>
          </a:xfrm>
          <a:prstGeom prst="rect">
            <a:avLst/>
          </a:prstGeom>
          <a:noFill/>
        </p:spPr>
        <p:txBody>
          <a:bodyPr wrap="square" rtlCol="0">
            <a:spAutoFit/>
          </a:bodyPr>
          <a:lstStyle/>
          <a:p>
            <a:pPr marL="457200" indent="-457200" fontAlgn="base">
              <a:buFont typeface="+mj-lt"/>
              <a:buAutoNum type="arabicPeriod"/>
            </a:pPr>
            <a:r>
              <a:rPr lang="en-US" sz="2000" dirty="0">
                <a:latin typeface="Verdana" charset="0"/>
                <a:ea typeface="Verdana" charset="0"/>
                <a:cs typeface="Verdana" charset="0"/>
              </a:rPr>
              <a:t>Write a summary of what you learned in this lesson.</a:t>
            </a:r>
          </a:p>
        </p:txBody>
      </p:sp>
      <p:sp>
        <p:nvSpPr>
          <p:cNvPr id="278" name="Google Shape;278;g104476d1465_1_17"/>
          <p:cNvSpPr/>
          <p:nvPr/>
        </p:nvSpPr>
        <p:spPr>
          <a:xfrm>
            <a:off x="0" y="-8225"/>
            <a:ext cx="223200" cy="6866100"/>
          </a:xfrm>
          <a:prstGeom prst="rect">
            <a:avLst/>
          </a:prstGeom>
          <a:solidFill>
            <a:srgbClr val="1F3165"/>
          </a:solidFill>
          <a:ln w="9525" cap="flat" cmpd="sng">
            <a:solidFill>
              <a:srgbClr val="1F3165"/>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129</a:t>
            </a:r>
            <a:endParaRPr i="1" dirty="0">
              <a:latin typeface="Calibri"/>
              <a:ea typeface="Calibri"/>
              <a:cs typeface="Calibri"/>
              <a:sym typeface="Calibri"/>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0326" y="169950"/>
            <a:ext cx="8019300" cy="5280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10.2.5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325"/>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2">
            <a:extLst>
              <a:ext uri="{FF2B5EF4-FFF2-40B4-BE49-F238E27FC236}">
                <a16:creationId xmlns:a16="http://schemas.microsoft.com/office/drawing/2014/main" id="{C36B4070-C533-DB45-A607-AAB5D9D0BFB4}"/>
              </a:ext>
            </a:extLst>
          </p:cNvPr>
          <p:cNvSpPr>
            <a:spLocks noChangeArrowheads="1"/>
          </p:cNvSpPr>
          <p:nvPr/>
        </p:nvSpPr>
        <p:spPr bwMode="auto">
          <a:xfrm>
            <a:off x="2738652" y="1835209"/>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4">
            <a:extLst>
              <a:ext uri="{FF2B5EF4-FFF2-40B4-BE49-F238E27FC236}">
                <a16:creationId xmlns:a16="http://schemas.microsoft.com/office/drawing/2014/main" id="{2867B5F0-4251-E049-A3B5-CA584963F3C3}"/>
              </a:ext>
            </a:extLst>
          </p:cNvPr>
          <p:cNvSpPr>
            <a:spLocks noChangeArrowheads="1"/>
          </p:cNvSpPr>
          <p:nvPr/>
        </p:nvSpPr>
        <p:spPr bwMode="auto">
          <a:xfrm>
            <a:off x="3939654" y="1835209"/>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4" name="Rectangle 6">
            <a:extLst>
              <a:ext uri="{FF2B5EF4-FFF2-40B4-BE49-F238E27FC236}">
                <a16:creationId xmlns:a16="http://schemas.microsoft.com/office/drawing/2014/main" id="{3EC9FA8C-8EDA-934E-A612-24FA9F20F618}"/>
              </a:ext>
            </a:extLst>
          </p:cNvPr>
          <p:cNvSpPr>
            <a:spLocks noChangeArrowheads="1"/>
          </p:cNvSpPr>
          <p:nvPr/>
        </p:nvSpPr>
        <p:spPr bwMode="auto">
          <a:xfrm>
            <a:off x="5140656" y="1811438"/>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8">
            <a:extLst>
              <a:ext uri="{FF2B5EF4-FFF2-40B4-BE49-F238E27FC236}">
                <a16:creationId xmlns:a16="http://schemas.microsoft.com/office/drawing/2014/main" id="{F6C6B51C-804F-3547-A793-0C60C96F7135}"/>
              </a:ext>
            </a:extLst>
          </p:cNvPr>
          <p:cNvSpPr>
            <a:spLocks noChangeArrowheads="1"/>
          </p:cNvSpPr>
          <p:nvPr/>
        </p:nvSpPr>
        <p:spPr bwMode="auto">
          <a:xfrm>
            <a:off x="6341658" y="1811438"/>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10">
            <a:extLst>
              <a:ext uri="{FF2B5EF4-FFF2-40B4-BE49-F238E27FC236}">
                <a16:creationId xmlns:a16="http://schemas.microsoft.com/office/drawing/2014/main" id="{3E1E8ED5-7D29-3D4C-9867-8141F62A5BFD}"/>
              </a:ext>
            </a:extLst>
          </p:cNvPr>
          <p:cNvSpPr>
            <a:spLocks noChangeArrowheads="1"/>
          </p:cNvSpPr>
          <p:nvPr/>
        </p:nvSpPr>
        <p:spPr bwMode="auto">
          <a:xfrm>
            <a:off x="7542660" y="1811438"/>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0" name="Rectangle 12">
            <a:extLst>
              <a:ext uri="{FF2B5EF4-FFF2-40B4-BE49-F238E27FC236}">
                <a16:creationId xmlns:a16="http://schemas.microsoft.com/office/drawing/2014/main" id="{0746103E-F6D9-4243-9460-AB27ABD566EB}"/>
              </a:ext>
            </a:extLst>
          </p:cNvPr>
          <p:cNvSpPr>
            <a:spLocks noChangeArrowheads="1"/>
          </p:cNvSpPr>
          <p:nvPr/>
        </p:nvSpPr>
        <p:spPr bwMode="auto">
          <a:xfrm>
            <a:off x="8743662" y="1811438"/>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1406</TotalTime>
  <Words>1296</Words>
  <Application>Microsoft Macintosh PowerPoint</Application>
  <PresentationFormat>Widescreen</PresentationFormat>
  <Paragraphs>247</Paragraphs>
  <Slides>25</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Arial</vt:lpstr>
      <vt:lpstr>Arial Black</vt:lpstr>
      <vt:lpstr>Calibri</vt:lpstr>
      <vt:lpstr>Cambria Math</vt:lpstr>
      <vt:lpstr>Century Gothic</vt:lpstr>
      <vt:lpstr>Courier New</vt:lpstr>
      <vt:lpstr>Verdana</vt:lpstr>
      <vt:lpstr>Wingdings</vt:lpstr>
      <vt:lpstr>1_Office Theme</vt:lpstr>
      <vt:lpstr>PowerPoint Presentation</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Activity</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37</cp:revision>
  <cp:lastPrinted>2022-01-28T19:53:25Z</cp:lastPrinted>
  <dcterms:created xsi:type="dcterms:W3CDTF">2015-03-17T18:51:18Z</dcterms:created>
  <dcterms:modified xsi:type="dcterms:W3CDTF">2023-03-02T18:24:08Z</dcterms:modified>
</cp:coreProperties>
</file>