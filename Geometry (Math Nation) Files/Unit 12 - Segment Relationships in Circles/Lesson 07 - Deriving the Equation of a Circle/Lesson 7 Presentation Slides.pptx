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63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80" r:id="rId19"/>
    <p:sldId id="289" r:id="rId20"/>
    <p:sldId id="290" r:id="rId21"/>
    <p:sldId id="366" r:id="rId22"/>
    <p:sldId id="381" r:id="rId23"/>
    <p:sldId id="382" r:id="rId24"/>
    <p:sldId id="306" r:id="rId25"/>
    <p:sldId id="307" r:id="rId26"/>
    <p:sldId id="383" r:id="rId27"/>
  </p:sldIdLst>
  <p:sldSz cx="12192000" cy="6858000"/>
  <p:notesSz cx="6858000" cy="9144000"/>
  <p:embeddedFontLst>
    <p:embeddedFont>
      <p:font typeface="Arial Black" panose="020B06040202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73" autoAdjust="0"/>
    <p:restoredTop sz="94707" autoAdjust="0"/>
  </p:normalViewPr>
  <p:slideViewPr>
    <p:cSldViewPr snapToGrid="0">
      <p:cViewPr varScale="1">
        <p:scale>
          <a:sx n="78" d="100"/>
          <a:sy n="78" d="100"/>
        </p:scale>
        <p:origin x="200" y="7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72774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957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5756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7934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3431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7669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8028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5676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0201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562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3164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1394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2685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Deriving the Equation of a Circle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 pg. 260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80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MA.912.GR.7.2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</a:t>
            </a:r>
            <a:b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context, derive and create the equation of a circle using key features.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60565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547E739-25A1-9D41-B647-B4CE49D291A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498651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Pythagorean Theorem to derive the equation of a circle.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key features of a circle given the graph or equation.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equation of a circle using key features.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2A27322-4C3D-2745-B475-B1F67B8D024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3E9B602-07C0-DD4E-90B5-6B70E36F8AB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10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303390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12.7.1 Warm-Up: Roundabouts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102247"/>
            <a:ext cx="80193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Roundabouts promote a continuous flow of traffic because drivers do not have to wait for a green light at a roundabout to get through the intersection. A diagram of a roundabout is shown.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 about the diagram? 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different paths could the red car take? 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at least two things you have studied in Geometry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 far that may be helpful to know when constructing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roundabout.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97FC3A-EEF7-C44A-BBE7-AE5961947A8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0273" y="1102247"/>
            <a:ext cx="3149256" cy="3145734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245E8D77-30E0-2F42-B137-BB80E6C98432}"/>
              </a:ext>
            </a:extLst>
          </p:cNvPr>
          <p:cNvSpPr txBox="1"/>
          <p:nvPr/>
        </p:nvSpPr>
        <p:spPr>
          <a:xfrm>
            <a:off x="883887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631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7529CED-4269-0B4A-892A-A8F69036AF35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575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12.7.2 Exploration: Deriving the Equation of a Circle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50" y="1449122"/>
                <a:ext cx="7718237" cy="1966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center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lies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(4, 6.25)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 Right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𝐷𝐹𝑊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drawn inside the circle, such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circle’s radius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lies on radius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length of each side. 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50" y="1449122"/>
                <a:ext cx="7718237" cy="1966244"/>
              </a:xfrm>
              <a:prstGeom prst="rect">
                <a:avLst/>
              </a:prstGeom>
              <a:blipFill>
                <a:blip r:embed="rId5"/>
                <a:stretch>
                  <a:fillRect l="-821" t="-1935" r="-1642" b="-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BDEE5FC-9C53-D042-85C6-BB84A75169F6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9630" y="1386025"/>
            <a:ext cx="3114294" cy="3069909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838920-DE81-7640-BDFC-58E8479A89B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2E6ED56-357B-4F4E-8F6A-006BA51FE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333795"/>
                  </p:ext>
                </p:extLst>
              </p:nvPr>
            </p:nvGraphicFramePr>
            <p:xfrm>
              <a:off x="896415" y="4644906"/>
              <a:ext cx="6840000" cy="190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1051724109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237270673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998495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𝐷𝐹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3340918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𝐹𝑊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38099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2E6ED56-357B-4F4E-8F6A-006BA51FE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333795"/>
                  </p:ext>
                </p:extLst>
              </p:nvPr>
            </p:nvGraphicFramePr>
            <p:xfrm>
              <a:off x="896415" y="4644906"/>
              <a:ext cx="6840000" cy="190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1051724109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237270673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998495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23" t="-65546" r="-138055" b="-10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3340918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23" t="-166949" r="-138055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38099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400087"/>
                <a:ext cx="1096113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values you found for the lengths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𝐷𝐹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complete the equation that can be used to 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applying the Pythagorean Theorem.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𝐷𝑊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             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             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00087"/>
                <a:ext cx="10961136" cy="1938992"/>
              </a:xfrm>
              <a:prstGeom prst="rect">
                <a:avLst/>
              </a:prstGeom>
              <a:blipFill>
                <a:blip r:embed="rId4"/>
                <a:stretch>
                  <a:fillRect t="-2597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289511D7-68E6-EE42-B1E7-DE7444020B0F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3249"/>
                <a:ext cx="738878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center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lies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Right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𝑀𝑃𝐻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drawn inside the circle, such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circle’s radius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lies on radius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expression that represents the length of each side.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3249"/>
                <a:ext cx="7388783" cy="2246769"/>
              </a:xfrm>
              <a:prstGeom prst="rect">
                <a:avLst/>
              </a:prstGeom>
              <a:blipFill>
                <a:blip r:embed="rId4"/>
                <a:stretch>
                  <a:fillRect l="-908" t="-1897" r="-83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A7379BA-39D8-B446-BC96-003C86936A61}"/>
              </a:ext>
            </a:extLst>
          </p:cNvPr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286" b="5128"/>
          <a:stretch/>
        </p:blipFill>
        <p:spPr bwMode="auto">
          <a:xfrm>
            <a:off x="8125911" y="373249"/>
            <a:ext cx="3645677" cy="32449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7C8F65CE-C944-4143-BBE7-476D187AFB5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DF25B6A-106A-6E49-93FE-D7B8200E2B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4906861"/>
                  </p:ext>
                </p:extLst>
              </p:nvPr>
            </p:nvGraphicFramePr>
            <p:xfrm>
              <a:off x="1606746" y="3956123"/>
              <a:ext cx="7939589" cy="19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42985">
                      <a:extLst>
                        <a:ext uri="{9D8B030D-6E8A-4147-A177-3AD203B41FA5}">
                          <a16:colId xmlns:a16="http://schemas.microsoft.com/office/drawing/2014/main" val="1805689936"/>
                        </a:ext>
                      </a:extLst>
                    </a:gridCol>
                    <a:gridCol w="4596604">
                      <a:extLst>
                        <a:ext uri="{9D8B030D-6E8A-4147-A177-3AD203B41FA5}">
                          <a16:colId xmlns:a16="http://schemas.microsoft.com/office/drawing/2014/main" val="2961092529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Between Endpoints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09607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𝑀𝐻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333161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𝐻𝑃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33996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DF25B6A-106A-6E49-93FE-D7B8200E2B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4906861"/>
                  </p:ext>
                </p:extLst>
              </p:nvPr>
            </p:nvGraphicFramePr>
            <p:xfrm>
              <a:off x="1606746" y="3956123"/>
              <a:ext cx="7939589" cy="19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42985">
                      <a:extLst>
                        <a:ext uri="{9D8B030D-6E8A-4147-A177-3AD203B41FA5}">
                          <a16:colId xmlns:a16="http://schemas.microsoft.com/office/drawing/2014/main" val="1805689936"/>
                        </a:ext>
                      </a:extLst>
                    </a:gridCol>
                    <a:gridCol w="4596604">
                      <a:extLst>
                        <a:ext uri="{9D8B030D-6E8A-4147-A177-3AD203B41FA5}">
                          <a16:colId xmlns:a16="http://schemas.microsoft.com/office/drawing/2014/main" val="2961092529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Between Endpoints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09607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9" t="-66667" r="-137879" b="-1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333161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9" t="-166667" r="-137879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33996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62738"/>
                <a:ext cx="1106536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expressions you found for the lengths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𝐻𝑃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complete the equation that can be used to 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𝑀𝑃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applying the Pythagorean Theorem.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𝑀𝑃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             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             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62738"/>
                <a:ext cx="11065362" cy="1938992"/>
              </a:xfrm>
              <a:prstGeom prst="rect">
                <a:avLst/>
              </a:prstGeom>
              <a:blipFill>
                <a:blip r:embed="rId4"/>
                <a:stretch>
                  <a:fillRect t="-2597" r="-1032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F795C86-2398-2248-A136-40FF3E05F3BC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680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858977-795C-D04A-817D-DE76E91869AD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5726" y="326784"/>
            <a:ext cx="3451219" cy="3244996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50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80484"/>
                <a:ext cx="7757274" cy="2531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center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lies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Right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𝑊𝐿𝐶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drawn inside the circle, such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circle’s radius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lies on radius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 startAt="3"/>
                </a:pP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expression that represents the length of each side.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0484"/>
                <a:ext cx="7757274" cy="2531206"/>
              </a:xfrm>
              <a:prstGeom prst="rect">
                <a:avLst/>
              </a:prstGeom>
              <a:blipFill>
                <a:blip r:embed="rId5"/>
                <a:stretch>
                  <a:fillRect l="-817" t="-995" r="-1144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1FD3399-D82C-5A47-9235-AE1FD446FB5B}"/>
              </a:ext>
            </a:extLst>
          </p:cNvPr>
          <p:cNvSpPr txBox="1"/>
          <p:nvPr/>
        </p:nvSpPr>
        <p:spPr>
          <a:xfrm>
            <a:off x="885679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941336E-6B56-B341-B756-294172BB2C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7737177"/>
                  </p:ext>
                </p:extLst>
              </p:nvPr>
            </p:nvGraphicFramePr>
            <p:xfrm>
              <a:off x="1119996" y="4292599"/>
              <a:ext cx="8194692" cy="19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50396">
                      <a:extLst>
                        <a:ext uri="{9D8B030D-6E8A-4147-A177-3AD203B41FA5}">
                          <a16:colId xmlns:a16="http://schemas.microsoft.com/office/drawing/2014/main" val="2250854973"/>
                        </a:ext>
                      </a:extLst>
                    </a:gridCol>
                    <a:gridCol w="4744296">
                      <a:extLst>
                        <a:ext uri="{9D8B030D-6E8A-4147-A177-3AD203B41FA5}">
                          <a16:colId xmlns:a16="http://schemas.microsoft.com/office/drawing/2014/main" val="3566815256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Between Endpoints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70842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𝐿𝐶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834955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𝐿𝑊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042061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941336E-6B56-B341-B756-294172BB2C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7737177"/>
                  </p:ext>
                </p:extLst>
              </p:nvPr>
            </p:nvGraphicFramePr>
            <p:xfrm>
              <a:off x="1119996" y="4292599"/>
              <a:ext cx="8194692" cy="19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50396">
                      <a:extLst>
                        <a:ext uri="{9D8B030D-6E8A-4147-A177-3AD203B41FA5}">
                          <a16:colId xmlns:a16="http://schemas.microsoft.com/office/drawing/2014/main" val="2250854973"/>
                        </a:ext>
                      </a:extLst>
                    </a:gridCol>
                    <a:gridCol w="4744296">
                      <a:extLst>
                        <a:ext uri="{9D8B030D-6E8A-4147-A177-3AD203B41FA5}">
                          <a16:colId xmlns:a16="http://schemas.microsoft.com/office/drawing/2014/main" val="3566815256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Between Endpoints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70842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8" t="-65517" r="-138235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834955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8" t="-168421" r="-138235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042061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22178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73250"/>
                <a:ext cx="11065362" cy="2068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expressions you found for the lengths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complete the equation that can be used to 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applying the Pythagorean Theorem.</a:t>
                </a:r>
              </a:p>
              <a:p>
                <a:pPr lvl="0"/>
                <a:endParaRPr lang="en-US" sz="2400" i="1" dirty="0"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𝑊𝐶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             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             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3250"/>
                <a:ext cx="11065362" cy="2068771"/>
              </a:xfrm>
              <a:prstGeom prst="rect">
                <a:avLst/>
              </a:prstGeom>
              <a:blipFill>
                <a:blip r:embed="rId4"/>
                <a:stretch>
                  <a:fillRect t="-2439" r="-1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6F79C4E-B94D-F64A-A5C9-C5B655024D30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6863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8589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1976" y="393889"/>
                <a:ext cx="10846609" cy="5899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with the equation you found that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used to determine the length of the radius of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circle.</a:t>
                </a: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location of the point on the circle was in a different location, but the equations that can be used to determine the length of the radius of the circles are the same. </a:t>
                </a:r>
              </a:p>
              <a:p>
                <a:pPr>
                  <a:spcAft>
                    <a:spcPts val="1000"/>
                  </a:spcAft>
                </a:pPr>
                <a:endParaRPr lang="en-US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76" y="393889"/>
                <a:ext cx="10846609" cy="5899051"/>
              </a:xfrm>
              <a:prstGeom prst="rect">
                <a:avLst/>
              </a:prstGeom>
              <a:blipFill>
                <a:blip r:embed="rId4"/>
                <a:stretch>
                  <a:fillRect l="-618" t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C2D1098-B5F8-5C42-B681-A4EE823A20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3260140"/>
                  </p:ext>
                </p:extLst>
              </p:nvPr>
            </p:nvGraphicFramePr>
            <p:xfrm>
              <a:off x="1547877" y="1526970"/>
              <a:ext cx="8906307" cy="29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50024">
                      <a:extLst>
                        <a:ext uri="{9D8B030D-6E8A-4147-A177-3AD203B41FA5}">
                          <a16:colId xmlns:a16="http://schemas.microsoft.com/office/drawing/2014/main" val="3429176731"/>
                        </a:ext>
                      </a:extLst>
                    </a:gridCol>
                    <a:gridCol w="5156283">
                      <a:extLst>
                        <a:ext uri="{9D8B030D-6E8A-4147-A177-3AD203B41FA5}">
                          <a16:colId xmlns:a16="http://schemas.microsoft.com/office/drawing/2014/main" val="12367620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650713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𝑀𝑃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radius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𝑀𝑃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7397299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𝑊𝐶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radius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𝑊𝐶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6744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C2D1098-B5F8-5C42-B681-A4EE823A20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3260140"/>
                  </p:ext>
                </p:extLst>
              </p:nvPr>
            </p:nvGraphicFramePr>
            <p:xfrm>
              <a:off x="1547877" y="1526970"/>
              <a:ext cx="8906307" cy="29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50024">
                      <a:extLst>
                        <a:ext uri="{9D8B030D-6E8A-4147-A177-3AD203B41FA5}">
                          <a16:colId xmlns:a16="http://schemas.microsoft.com/office/drawing/2014/main" val="3429176731"/>
                        </a:ext>
                      </a:extLst>
                    </a:gridCol>
                    <a:gridCol w="5156283">
                      <a:extLst>
                        <a:ext uri="{9D8B030D-6E8A-4147-A177-3AD203B41FA5}">
                          <a16:colId xmlns:a16="http://schemas.microsoft.com/office/drawing/2014/main" val="12367620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650713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2" t="-38164" r="-137987" b="-1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931" t="-38164" r="-473" b="-10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7397299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2" t="-138164" r="-137987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931" t="-138164" r="-473" b="-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67448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35164DB-E611-0443-88D2-F38010E311B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3330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A6DBAB-8A92-9F40-AF00-A5946BBCC6C0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0216" y="383758"/>
            <a:ext cx="3451219" cy="309444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83759"/>
                <a:ext cx="7443375" cy="2402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The center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 is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(3,1)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.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 lies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.  Right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𝑅𝑍𝑉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 is drawn inside the circle, such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 is a circle’s radius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,1)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, lies on radius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 startAt="4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expression that represents the length of each side. 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3759"/>
                <a:ext cx="7443375" cy="2402261"/>
              </a:xfrm>
              <a:prstGeom prst="rect">
                <a:avLst/>
              </a:prstGeom>
              <a:blipFill>
                <a:blip r:embed="rId5"/>
                <a:stretch>
                  <a:fillRect l="-852" t="-1579" r="-1363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07DE6E1-D946-474D-9A06-367E1667160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9573D58-47F8-2842-9671-8726F2DE71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3115159"/>
                  </p:ext>
                </p:extLst>
              </p:nvPr>
            </p:nvGraphicFramePr>
            <p:xfrm>
              <a:off x="1575596" y="3810337"/>
              <a:ext cx="7787860" cy="190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79099">
                      <a:extLst>
                        <a:ext uri="{9D8B030D-6E8A-4147-A177-3AD203B41FA5}">
                          <a16:colId xmlns:a16="http://schemas.microsoft.com/office/drawing/2014/main" val="2030898275"/>
                        </a:ext>
                      </a:extLst>
                    </a:gridCol>
                    <a:gridCol w="4508761">
                      <a:extLst>
                        <a:ext uri="{9D8B030D-6E8A-4147-A177-3AD203B41FA5}">
                          <a16:colId xmlns:a16="http://schemas.microsoft.com/office/drawing/2014/main" val="23155467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Between Endpoints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022793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𝑅𝑍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702814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𝑍𝑉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8065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9573D58-47F8-2842-9671-8726F2DE71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3115159"/>
                  </p:ext>
                </p:extLst>
              </p:nvPr>
            </p:nvGraphicFramePr>
            <p:xfrm>
              <a:off x="1575596" y="3810337"/>
              <a:ext cx="7787860" cy="190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79099">
                      <a:extLst>
                        <a:ext uri="{9D8B030D-6E8A-4147-A177-3AD203B41FA5}">
                          <a16:colId xmlns:a16="http://schemas.microsoft.com/office/drawing/2014/main" val="2030898275"/>
                        </a:ext>
                      </a:extLst>
                    </a:gridCol>
                    <a:gridCol w="4508761">
                      <a:extLst>
                        <a:ext uri="{9D8B030D-6E8A-4147-A177-3AD203B41FA5}">
                          <a16:colId xmlns:a16="http://schemas.microsoft.com/office/drawing/2014/main" val="23155467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Between Endpoints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022793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72" t="-66667" r="-137838" b="-1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702814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72" t="-166667" r="-137838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8065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1211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83759"/>
                <a:ext cx="11065362" cy="1697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equation that can be used to determine the length of the radius of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400" i="1" dirty="0"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             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             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3759"/>
                <a:ext cx="11065362" cy="1697901"/>
              </a:xfrm>
              <a:prstGeom prst="rect">
                <a:avLst/>
              </a:prstGeom>
              <a:blipFill>
                <a:blip r:embed="rId4"/>
                <a:stretch>
                  <a:fillRect t="-2878" r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1F33BCAE-B43D-3942-B510-440FB530395D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201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9B3BA-C46B-B949-8082-4977A5E4E93B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904" r="18630"/>
          <a:stretch/>
        </p:blipFill>
        <p:spPr>
          <a:xfrm>
            <a:off x="8597541" y="271341"/>
            <a:ext cx="3474720" cy="3153484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-959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841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0975" y="373248"/>
                <a:ext cx="8066566" cy="3299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center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lies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Right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drawn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inside the circle such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circle’s radius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lies on radius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determine the ordered pair for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Fill out the table by using the ordered pairs to complete each equation.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75" y="373248"/>
                <a:ext cx="8066566" cy="3299045"/>
              </a:xfrm>
              <a:prstGeom prst="rect">
                <a:avLst/>
              </a:prstGeom>
              <a:blipFill>
                <a:blip r:embed="rId5"/>
                <a:stretch>
                  <a:fillRect l="-786" t="-1154" r="-786" b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4D07EE9-D12B-3645-A714-32FAB37AB811}"/>
              </a:ext>
            </a:extLst>
          </p:cNvPr>
          <p:cNvSpPr txBox="1"/>
          <p:nvPr/>
        </p:nvSpPr>
        <p:spPr>
          <a:xfrm>
            <a:off x="877018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ED10726-2CE8-5547-91CE-872BC2A9AB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8540556"/>
                  </p:ext>
                </p:extLst>
              </p:nvPr>
            </p:nvGraphicFramePr>
            <p:xfrm>
              <a:off x="1547878" y="4595622"/>
              <a:ext cx="6840000" cy="190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55800668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1839833868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400439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𝐴𝐶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798358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𝐵𝐶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840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ED10726-2CE8-5547-91CE-872BC2A9AB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8540556"/>
                  </p:ext>
                </p:extLst>
              </p:nvPr>
            </p:nvGraphicFramePr>
            <p:xfrm>
              <a:off x="1547878" y="4595622"/>
              <a:ext cx="6840000" cy="190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55800668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1839833868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400439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1" t="-65546" r="-138266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2923" t="-65546" r="-615" b="-1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798358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1" t="-166949" r="-138266" b="-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2923" t="-166949" r="-615" b="-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406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8128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8791" y="618744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81473"/>
                <a:ext cx="10914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Pythagorean theorem can be used to write the equation, </a:t>
                </a:r>
                <a:endParaRPr lang="en-US" sz="24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equations in the table to substitute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1473"/>
                <a:ext cx="10914000" cy="1938992"/>
              </a:xfrm>
              <a:prstGeom prst="rect">
                <a:avLst/>
              </a:prstGeom>
              <a:blipFill>
                <a:blip r:embed="rId4"/>
                <a:stretch>
                  <a:fillRect l="-894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90B0941-6582-F745-AED3-6EC0F83C190B}"/>
              </a:ext>
            </a:extLst>
          </p:cNvPr>
          <p:cNvGrpSpPr/>
          <p:nvPr/>
        </p:nvGrpSpPr>
        <p:grpSpPr>
          <a:xfrm>
            <a:off x="540565" y="4488220"/>
            <a:ext cx="8280000" cy="1421799"/>
            <a:chOff x="0" y="0"/>
            <a:chExt cx="8280000" cy="133224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59657F2-8FE5-4A43-BEC7-A3FE110127C0}"/>
                </a:ext>
              </a:extLst>
            </p:cNvPr>
            <p:cNvGrpSpPr/>
            <p:nvPr/>
          </p:nvGrpSpPr>
          <p:grpSpPr>
            <a:xfrm>
              <a:off x="0" y="0"/>
              <a:ext cx="8280000" cy="1332244"/>
              <a:chOff x="2031300" y="3386808"/>
              <a:chExt cx="8280000" cy="133224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B76A495-5ABD-8549-8079-A65AEA92F2FD}"/>
                  </a:ext>
                </a:extLst>
              </p:cNvPr>
              <p:cNvGrpSpPr/>
              <p:nvPr/>
            </p:nvGrpSpPr>
            <p:grpSpPr>
              <a:xfrm>
                <a:off x="2031300" y="3386808"/>
                <a:ext cx="8280000" cy="1332244"/>
                <a:chOff x="0" y="0"/>
                <a:chExt cx="8280000" cy="1332244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ABED4C7-0A33-4E40-ADC1-96688B194F8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28A67EF-A12D-BE44-B3DB-74AE837EFB9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Rounded Rectangle 12">
                      <a:extLst>
                        <a:ext uri="{FF2B5EF4-FFF2-40B4-BE49-F238E27FC236}">
                          <a16:creationId xmlns:a16="http://schemas.microsoft.com/office/drawing/2014/main" id="{4AD5B9C0-6AD3-4B47-80C2-02E2A6D8DE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485786"/>
                      <a:ext cx="8280000" cy="846458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72000" rIns="91425" bIns="0" anchor="ctr" anchorCtr="0">
                      <a:spAutoFit/>
                    </a:bodyPr>
                    <a:lstStyle/>
                    <a:p>
                      <a:pPr marL="630238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</a:t>
                      </a:r>
                      <a:r>
                        <a:rPr lang="en-US" sz="2000" b="1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center-radius form</a:t>
                      </a:r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of an equation of a circle with center,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(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h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, 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)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and radius,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𝑟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is 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75BF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75BF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solidFill>
                                        <a:srgbClr val="0075BF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0075BF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75BF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75BF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𝑦</m:t>
                                  </m:r>
                                  <m:r>
                                    <a:rPr lang="en-US" sz="2000" i="1">
                                      <a:solidFill>
                                        <a:srgbClr val="0075BF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0075BF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Rounded Rectangle 12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4AD5B9C0-6AD3-4B47-80C2-02E2A6D8DEE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485786"/>
                      <a:ext cx="8280000" cy="846458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8" name="image15.png" descr="Icon&#10;&#10;Description automatically generated">
              <a:extLst>
                <a:ext uri="{FF2B5EF4-FFF2-40B4-BE49-F238E27FC236}">
                  <a16:creationId xmlns:a16="http://schemas.microsoft.com/office/drawing/2014/main" id="{02DB7AAD-00FC-F74D-AF8B-6C53C987492B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9045" y="639139"/>
              <a:ext cx="576072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693407B7-417C-8042-9909-6A5F33D6814E}"/>
              </a:ext>
            </a:extLst>
          </p:cNvPr>
          <p:cNvSpPr txBox="1"/>
          <p:nvPr/>
        </p:nvSpPr>
        <p:spPr>
          <a:xfrm>
            <a:off x="8820565" y="644451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130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D4FF3BE-82A8-9C44-A8C8-BE44D24223A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10530"/>
            <a:ext cx="7837274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12.7.3 Guided Instruction: Key Features of a Circle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2816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272248"/>
                <a:ext cx="1103490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Circles have two key features: the center and the radius. The key features can be used to write the equation,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of the circle.</a:t>
                </a:r>
              </a:p>
              <a:p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 with center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(3, 4)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(3, 9)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272248"/>
                <a:ext cx="11034902" cy="1323439"/>
              </a:xfrm>
              <a:prstGeom prst="rect">
                <a:avLst/>
              </a:prstGeom>
              <a:blipFill>
                <a:blip r:embed="rId5"/>
                <a:stretch>
                  <a:fillRect l="-607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4B2281B0-9327-C844-993A-9022E6F82526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0703" y="3303396"/>
            <a:ext cx="5404552" cy="3354379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994C376-C715-7148-A803-EDEA8F7F340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81475"/>
                <a:ext cx="6088299" cy="4190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length of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’s radius. </a:t>
                </a: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that represents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1475"/>
                <a:ext cx="6088299" cy="4190891"/>
              </a:xfrm>
              <a:prstGeom prst="rect">
                <a:avLst/>
              </a:prstGeom>
              <a:blipFill>
                <a:blip r:embed="rId4"/>
                <a:stretch>
                  <a:fillRect t="-1164" b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78E9C602-9640-594B-8242-94FEE8BA3166}"/>
              </a:ext>
            </a:extLst>
          </p:cNvPr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E6882ED-CCA1-4F16-8FCF-2C894E015D1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8864" y="381475"/>
            <a:ext cx="5404552" cy="335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72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83759"/>
                <a:ext cx="8327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on the circle.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3759"/>
                <a:ext cx="8327136" cy="461665"/>
              </a:xfrm>
              <a:prstGeom prst="rect">
                <a:avLst/>
              </a:prstGeom>
              <a:blipFill>
                <a:blip r:embed="rId4"/>
                <a:stretch>
                  <a:fillRect l="-117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32430454-2DB6-D349-9C0A-D82260AA3CE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8250" y="1073896"/>
            <a:ext cx="6771765" cy="4701858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13F16C3-A2DB-434C-9F6D-6B3A11BB97C6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7403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0922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00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19643" y="383758"/>
                <a:ext cx="8327136" cy="3447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key features of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that represents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43" y="383758"/>
                <a:ext cx="8327136" cy="3447098"/>
              </a:xfrm>
              <a:prstGeom prst="rect">
                <a:avLst/>
              </a:prstGeom>
              <a:blipFill>
                <a:blip r:embed="rId4"/>
                <a:stretch>
                  <a:fillRect t="-1593" b="-3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59C5E6B-A059-0546-A035-86D90C77E626}"/>
              </a:ext>
            </a:extLst>
          </p:cNvPr>
          <p:cNvSpPr txBox="1"/>
          <p:nvPr/>
        </p:nvSpPr>
        <p:spPr>
          <a:xfrm>
            <a:off x="884677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8E884B-F2EB-F64D-B53D-BAE3CED87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721105"/>
              </p:ext>
            </p:extLst>
          </p:nvPr>
        </p:nvGraphicFramePr>
        <p:xfrm>
          <a:off x="1547878" y="943035"/>
          <a:ext cx="6120000" cy="1872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2889164767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285145547"/>
                    </a:ext>
                  </a:extLst>
                </a:gridCol>
              </a:tblGrid>
              <a:tr h="432000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80605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Radius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42313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2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740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845E698-1C52-1E4E-A6B7-67B639EBBFB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52650" y="349473"/>
            <a:ext cx="10015684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12.7.4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2712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8327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on the circle.</a:t>
                </a: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8327136" cy="461665"/>
              </a:xfrm>
              <a:prstGeom prst="rect">
                <a:avLst/>
              </a:prstGeom>
              <a:blipFill>
                <a:blip r:embed="rId5"/>
                <a:stretch>
                  <a:fillRect l="-109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C6C75A71-B774-3D46-A89C-8EA0785A5A0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CB4D1314-7A5F-DC4D-9D86-F8DE68CF2C92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7977" y="2096090"/>
            <a:ext cx="5917678" cy="410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73249"/>
                <a:ext cx="8327136" cy="3447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  <a:defRPr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key features of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  <a:defRPr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  <a:defRPr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  <a:defRPr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  <a:defRPr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  <a:defRPr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  <a:defRPr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that represents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3249"/>
                <a:ext cx="8327136" cy="3447098"/>
              </a:xfrm>
              <a:prstGeom prst="rect">
                <a:avLst/>
              </a:prstGeom>
              <a:blipFill>
                <a:blip r:embed="rId4"/>
                <a:stretch>
                  <a:fillRect t="-1590" b="-2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8E884B-F2EB-F64D-B53D-BAE3CED87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967565"/>
              </p:ext>
            </p:extLst>
          </p:nvPr>
        </p:nvGraphicFramePr>
        <p:xfrm>
          <a:off x="1600332" y="995587"/>
          <a:ext cx="6120000" cy="1872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2889164767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285145547"/>
                    </a:ext>
                  </a:extLst>
                </a:gridCol>
              </a:tblGrid>
              <a:tr h="432000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80605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Radius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42313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24349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B23C574-D14F-1846-899F-0328E18A369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95726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1304</Words>
  <Application>Microsoft Macintosh PowerPoint</Application>
  <PresentationFormat>Widescreen</PresentationFormat>
  <Paragraphs>213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Calibri</vt:lpstr>
      <vt:lpstr>Arial Black</vt:lpstr>
      <vt:lpstr>Cambria Math</vt:lpstr>
      <vt:lpstr>Wingdings</vt:lpstr>
      <vt:lpstr>Verdana</vt:lpstr>
      <vt:lpstr>Arial</vt:lpstr>
      <vt:lpstr>Cambria</vt:lpstr>
      <vt:lpstr>Century Gothic</vt:lpstr>
      <vt:lpstr>1_Office Theme</vt:lpstr>
      <vt:lpstr>Geometry  Unit 12, Lesson 7  Deriving the Equation of a Circle  Volume 2 pg. 260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31</cp:revision>
  <dcterms:created xsi:type="dcterms:W3CDTF">2015-03-17T18:51:18Z</dcterms:created>
  <dcterms:modified xsi:type="dcterms:W3CDTF">2023-03-03T21:23:23Z</dcterms:modified>
</cp:coreProperties>
</file>