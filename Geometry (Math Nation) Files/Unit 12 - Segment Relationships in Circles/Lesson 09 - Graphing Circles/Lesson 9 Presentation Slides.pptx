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323" r:id="rId8"/>
    <p:sldId id="324" r:id="rId9"/>
    <p:sldId id="367" r:id="rId10"/>
    <p:sldId id="372" r:id="rId11"/>
    <p:sldId id="374" r:id="rId12"/>
    <p:sldId id="373" r:id="rId13"/>
    <p:sldId id="375" r:id="rId14"/>
    <p:sldId id="302" r:id="rId15"/>
    <p:sldId id="303" r:id="rId16"/>
    <p:sldId id="370" r:id="rId17"/>
    <p:sldId id="376" r:id="rId18"/>
    <p:sldId id="377" r:id="rId19"/>
    <p:sldId id="378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4707" autoAdjust="0"/>
  </p:normalViewPr>
  <p:slideViewPr>
    <p:cSldViewPr snapToGrid="0">
      <p:cViewPr varScale="1">
        <p:scale>
          <a:sx n="83" d="100"/>
          <a:sy n="83" d="100"/>
        </p:scale>
        <p:origin x="864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35492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304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328189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492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24955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66757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90649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67579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50570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Graphing Circles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272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MA.912.GR.7.3</a:t>
            </a:r>
          </a:p>
          <a:p>
            <a:pPr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35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Graph and solve mathematical and real-world problems that are modeled with an equation of a circle. Determine and interpret key features in terms of context. </a:t>
            </a:r>
            <a:endParaRPr lang="en-US" sz="35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958829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2366D90C-090E-2244-B327-E46D5D8F6C7E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498651"/>
            <a:ext cx="11161806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graph a circle and determine its key features when given an equation of a circle.   </a:t>
            </a:r>
          </a:p>
          <a:p>
            <a:pPr marL="536575" indent="-536575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36575" indent="-536575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mathematical and real-world problems that are modeled with an equation of a circle.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2DFB6B2-650E-1348-8855-F22778C347E1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D2A461D8-2E55-4F4B-84B7-B2B565FF2DEF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65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100" y="354159"/>
            <a:ext cx="10208359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12.9.1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801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550699" y="1386025"/>
                <a:ext cx="7201229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dome of the U.S. Capitol Building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288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(ft) in height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ft in diameter. The dome covers the Rotunda, a room with a circular plan. The architect created an orchestration of architecture, sculpture, and painting in the U.S. Capitol Rotunda.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99" y="1386025"/>
                <a:ext cx="7201229" cy="1631216"/>
              </a:xfrm>
              <a:prstGeom prst="rect">
                <a:avLst/>
              </a:prstGeom>
              <a:blipFill>
                <a:blip r:embed="rId5"/>
                <a:stretch>
                  <a:fillRect l="-846" t="-1866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6B32CC7-6470-8946-A461-D4D30E130FB7}"/>
              </a:ext>
            </a:extLst>
          </p:cNvPr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82846" y="1362352"/>
            <a:ext cx="3859143" cy="3011440"/>
          </a:xfrm>
          <a:prstGeom prst="rect">
            <a:avLst/>
          </a:prstGeom>
        </p:spPr>
      </p:pic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70319B40-8B5B-7D42-AA4C-49E648B4F37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50699" y="3235966"/>
            <a:ext cx="8327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E065591-7DA5-EE46-9C0D-68BD82A18A4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211"/>
            <a:ext cx="1073901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12.9.2 Guided Practice: Graphing Circles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73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386026"/>
                <a:ext cx="1093067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  <a:p>
                <a:pPr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+10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+13=0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the equation in center-radius form.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6"/>
                <a:ext cx="10930676" cy="3477875"/>
              </a:xfrm>
              <a:prstGeom prst="rect">
                <a:avLst/>
              </a:prstGeom>
              <a:blipFill>
                <a:blip r:embed="rId5"/>
                <a:stretch>
                  <a:fillRect l="-613" t="-1051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5E5B52-997B-A949-A03E-BC53C0A0E2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490300"/>
              </p:ext>
            </p:extLst>
          </p:nvPr>
        </p:nvGraphicFramePr>
        <p:xfrm>
          <a:off x="1669065" y="4945924"/>
          <a:ext cx="7329692" cy="1511749"/>
        </p:xfrm>
        <a:graphic>
          <a:graphicData uri="http://schemas.openxmlformats.org/drawingml/2006/table">
            <a:tbl>
              <a:tblPr firstRow="1" firstCol="1" bandRow="1"/>
              <a:tblGrid>
                <a:gridCol w="3664846">
                  <a:extLst>
                    <a:ext uri="{9D8B030D-6E8A-4147-A177-3AD203B41FA5}">
                      <a16:colId xmlns:a16="http://schemas.microsoft.com/office/drawing/2014/main" val="3872999009"/>
                    </a:ext>
                  </a:extLst>
                </a:gridCol>
                <a:gridCol w="3664846">
                  <a:extLst>
                    <a:ext uri="{9D8B030D-6E8A-4147-A177-3AD203B41FA5}">
                      <a16:colId xmlns:a16="http://schemas.microsoft.com/office/drawing/2014/main" val="1669370427"/>
                    </a:ext>
                  </a:extLst>
                </a:gridCol>
              </a:tblGrid>
              <a:tr h="59553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Center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359" marR="116359" marT="58179" marB="5817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b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Radius</a:t>
                      </a:r>
                      <a:endParaRPr lang="en-US" sz="25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359" marR="116359" marT="58179" marB="5817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779427"/>
                  </a:ext>
                </a:extLst>
              </a:tr>
              <a:tr h="91621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359" marR="116359" marT="58179" marB="5817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5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5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16359" marR="116359" marT="58179" marB="58179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0826256"/>
                  </a:ext>
                </a:extLst>
              </a:tr>
            </a:tbl>
          </a:graphicData>
        </a:graphic>
      </p:graphicFrame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7127D9DE-6DFD-E847-B8E7-D1C50F5E5515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041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87352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1606" y="380477"/>
                <a:ext cx="8327136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shown.</a:t>
                </a:r>
              </a:p>
              <a:p>
                <a:pPr algn="ctr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−4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+10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+13=0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the circle.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06" y="380477"/>
                <a:ext cx="8327136" cy="1631216"/>
              </a:xfrm>
              <a:prstGeom prst="rect">
                <a:avLst/>
              </a:prstGeom>
              <a:blipFill>
                <a:blip r:embed="rId4"/>
                <a:stretch>
                  <a:fillRect l="-805" t="-2239" b="-5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F1E9E16-DDE0-BA47-BC5D-8D4E453EE39A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74133" y="2051097"/>
            <a:ext cx="8108234" cy="458171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E89D13A-CA63-BD45-A6A1-F12E669C4757}"/>
              </a:ext>
            </a:extLst>
          </p:cNvPr>
          <p:cNvSpPr txBox="1"/>
          <p:nvPr/>
        </p:nvSpPr>
        <p:spPr>
          <a:xfrm>
            <a:off x="8849126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373247"/>
                <a:ext cx="10983359" cy="31700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+13=0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Write it as an inequality.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+13=0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Write it as an inequality.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73247"/>
                <a:ext cx="10983359" cy="3170099"/>
              </a:xfrm>
              <a:prstGeom prst="rect">
                <a:avLst/>
              </a:prstGeom>
              <a:blipFill>
                <a:blip r:embed="rId4"/>
                <a:stretch>
                  <a:fillRect t="-1346" b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4C43DB43-600A-C74B-8C7F-D184982124C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0726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83760"/>
                <a:ext cx="832713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Marcus wanted to order from a food delivery service and used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to find food within his radius, in miles.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Graph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center represent in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context?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c.	What does the radius represent in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the context?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83760"/>
                <a:ext cx="8327136" cy="4708981"/>
              </a:xfrm>
              <a:prstGeom prst="rect">
                <a:avLst/>
              </a:prstGeom>
              <a:blipFill>
                <a:blip r:embed="rId4"/>
                <a:stretch>
                  <a:fillRect l="-761" t="-809" b="-1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B581BE82-E7A1-B94E-A446-8B53B527CEE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75603" y="1344978"/>
            <a:ext cx="4975832" cy="443023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A44D1A00-66A6-F44D-AE56-DE1AC13CA57A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1907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250"/>
                <a:ext cx="8327136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If the service charges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$3.25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delivery for every four miles driven, what is the most that Marcus could be charged for the delivery? 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domain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Write the domain in set-builder notation. </a:t>
                </a: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the range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=64.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Write the range in set-builder notation.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250"/>
                <a:ext cx="8327136" cy="4708981"/>
              </a:xfrm>
              <a:prstGeom prst="rect">
                <a:avLst/>
              </a:prstGeom>
              <a:blipFill>
                <a:blip r:embed="rId4"/>
                <a:stretch>
                  <a:fillRect t="-906" r="-878" b="-12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402912A4-676B-5B41-AC91-8C1653FEF971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72426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81472"/>
            <a:ext cx="1108758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spcBef>
                <a:spcPts val="900"/>
              </a:spcBef>
              <a:spcAft>
                <a:spcPts val="900"/>
              </a:spcAft>
              <a:buFont typeface="+mj-lt"/>
              <a:buAutoNum type="alphaLcPeriod" startAt="7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grid shows Marcus’ location in green. The blue dots are the locations of restaurants that deliver using </a:t>
            </a:r>
            <a:r>
              <a:rPr lang="en-US" sz="2000" dirty="0" err="1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UberEats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Use the grid to demonstrate how Marcus could use the domain and range to determine which restaurants he can order from.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36C55C-8E42-4748-B9BB-4731E7DD13AE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6370" y="1826926"/>
            <a:ext cx="7738699" cy="4387174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258585B-5340-9E43-BDC9-B4C2F03C50E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117947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3C028C1-9FA4-A24D-A510-110E3DE30F7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39609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998379" y="6124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12.9.3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079" y="612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624729" y="1082145"/>
                <a:ext cx="83271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29" y="1082145"/>
                <a:ext cx="8327136" cy="1200329"/>
              </a:xfrm>
              <a:prstGeom prst="rect">
                <a:avLst/>
              </a:prstGeom>
              <a:blipFill>
                <a:blip r:embed="rId5"/>
                <a:stretch>
                  <a:fillRect l="-1098" t="-4592" b="-1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7C6DE13-D99C-E645-88B7-10C03849D0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1133910"/>
                  </p:ext>
                </p:extLst>
              </p:nvPr>
            </p:nvGraphicFramePr>
            <p:xfrm>
              <a:off x="1673438" y="2418397"/>
              <a:ext cx="6750499" cy="360026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200">
                      <a:extLst>
                        <a:ext uri="{9D8B030D-6E8A-4147-A177-3AD203B41FA5}">
                          <a16:colId xmlns:a16="http://schemas.microsoft.com/office/drawing/2014/main" val="2820968650"/>
                        </a:ext>
                      </a:extLst>
                    </a:gridCol>
                    <a:gridCol w="4050299">
                      <a:extLst>
                        <a:ext uri="{9D8B030D-6E8A-4147-A177-3AD203B41FA5}">
                          <a16:colId xmlns:a16="http://schemas.microsoft.com/office/drawing/2014/main" val="144542187"/>
                        </a:ext>
                      </a:extLst>
                    </a:gridCol>
                  </a:tblGrid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Center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29244137"/>
                      </a:ext>
                    </a:extLst>
                  </a:tr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081184"/>
                      </a:ext>
                    </a:extLst>
                  </a:tr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Domain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______≤</m:t>
                                </m:r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≤______</m:t>
                                </m:r>
                              </m:oMath>
                            </m:oMathPara>
                          </a14:m>
                          <a:endParaRPr lang="en-US" sz="250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46824294"/>
                      </a:ext>
                    </a:extLst>
                  </a:tr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Range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______≤</m:t>
                                </m:r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5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≤______</m:t>
                                </m:r>
                              </m:oMath>
                            </m:oMathPara>
                          </a14:m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5736529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7C6DE13-D99C-E645-88B7-10C03849D0F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31133910"/>
                  </p:ext>
                </p:extLst>
              </p:nvPr>
            </p:nvGraphicFramePr>
            <p:xfrm>
              <a:off x="1673438" y="2418397"/>
              <a:ext cx="6750499" cy="360026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700200">
                      <a:extLst>
                        <a:ext uri="{9D8B030D-6E8A-4147-A177-3AD203B41FA5}">
                          <a16:colId xmlns:a16="http://schemas.microsoft.com/office/drawing/2014/main" val="2820968650"/>
                        </a:ext>
                      </a:extLst>
                    </a:gridCol>
                    <a:gridCol w="4050299">
                      <a:extLst>
                        <a:ext uri="{9D8B030D-6E8A-4147-A177-3AD203B41FA5}">
                          <a16:colId xmlns:a16="http://schemas.microsoft.com/office/drawing/2014/main" val="144542187"/>
                        </a:ext>
                      </a:extLst>
                    </a:gridCol>
                  </a:tblGrid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Center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29244137"/>
                      </a:ext>
                    </a:extLst>
                  </a:tr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Radius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 </a:t>
                          </a: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51081184"/>
                      </a:ext>
                    </a:extLst>
                  </a:tr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Domain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917" t="-200676" r="-602" b="-10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6824294"/>
                      </a:ext>
                    </a:extLst>
                  </a:tr>
                  <a:tr h="90006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5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Times New Roman" panose="02020603050405020304" pitchFamily="18" charset="0"/>
                            </a:rPr>
                            <a:t>Range</a:t>
                          </a:r>
                          <a:endParaRPr lang="en-US" sz="25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4308" marR="114308" marT="57154" marB="57154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66917" t="-300676" r="-602" b="-20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736529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3BC56E5-5985-BF46-B21D-4274835F063A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644"/>
                <a:ext cx="832713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400" dirty="0"/>
                  <a:t>. 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644"/>
                <a:ext cx="8327136" cy="1200329"/>
              </a:xfrm>
              <a:prstGeom prst="rect">
                <a:avLst/>
              </a:prstGeom>
              <a:blipFill>
                <a:blip r:embed="rId4"/>
                <a:stretch>
                  <a:fillRect t="-4569" b="-11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665D942-A14E-4049-843B-7864C8D9B3ED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4132" y="973808"/>
            <a:ext cx="6132189" cy="54752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5D9B8559-C718-554E-AC19-C4CACA19EF49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571964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248"/>
                <a:ext cx="110653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Alyona used the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determine how far she could sit, in meters, from her Xbox and still use her wireless controller. </a:t>
                </a:r>
              </a:p>
              <a:p>
                <a:pPr marL="457200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248"/>
                <a:ext cx="11065362" cy="1938992"/>
              </a:xfrm>
              <a:prstGeom prst="rect">
                <a:avLst/>
              </a:prstGeom>
              <a:blipFill>
                <a:blip r:embed="rId4"/>
                <a:stretch>
                  <a:fillRect l="-882" t="-2830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42E0B3E-B3A9-244D-8698-84169DBB5F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007759"/>
                  </p:ext>
                </p:extLst>
              </p:nvPr>
            </p:nvGraphicFramePr>
            <p:xfrm>
              <a:off x="1617873" y="2435916"/>
              <a:ext cx="6564113" cy="3500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25645">
                      <a:extLst>
                        <a:ext uri="{9D8B030D-6E8A-4147-A177-3AD203B41FA5}">
                          <a16:colId xmlns:a16="http://schemas.microsoft.com/office/drawing/2014/main" val="980028393"/>
                        </a:ext>
                      </a:extLst>
                    </a:gridCol>
                    <a:gridCol w="3938468">
                      <a:extLst>
                        <a:ext uri="{9D8B030D-6E8A-4147-A177-3AD203B41FA5}">
                          <a16:colId xmlns:a16="http://schemas.microsoft.com/office/drawing/2014/main" val="3653845545"/>
                        </a:ext>
                      </a:extLst>
                    </a:gridCol>
                  </a:tblGrid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Center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1980777"/>
                      </a:ext>
                    </a:extLst>
                  </a:tr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2852680"/>
                      </a:ext>
                    </a:extLst>
                  </a:tr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______≤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≤______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4782422"/>
                      </a:ext>
                    </a:extLst>
                  </a:tr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______≤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≤______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079052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742E0B3E-B3A9-244D-8698-84169DBB5F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78007759"/>
                  </p:ext>
                </p:extLst>
              </p:nvPr>
            </p:nvGraphicFramePr>
            <p:xfrm>
              <a:off x="1617873" y="2435916"/>
              <a:ext cx="6564113" cy="35008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625645">
                      <a:extLst>
                        <a:ext uri="{9D8B030D-6E8A-4147-A177-3AD203B41FA5}">
                          <a16:colId xmlns:a16="http://schemas.microsoft.com/office/drawing/2014/main" val="980028393"/>
                        </a:ext>
                      </a:extLst>
                    </a:gridCol>
                    <a:gridCol w="3938468">
                      <a:extLst>
                        <a:ext uri="{9D8B030D-6E8A-4147-A177-3AD203B41FA5}">
                          <a16:colId xmlns:a16="http://schemas.microsoft.com/office/drawing/2014/main" val="3653845545"/>
                        </a:ext>
                      </a:extLst>
                    </a:gridCol>
                  </a:tblGrid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Center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1980777"/>
                      </a:ext>
                    </a:extLst>
                  </a:tr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Radius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92852680"/>
                      </a:ext>
                    </a:extLst>
                  </a:tr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Domain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924" t="-202098" r="-464" b="-1034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4782422"/>
                      </a:ext>
                    </a:extLst>
                  </a:tr>
                  <a:tr h="87521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Range</a:t>
                          </a:r>
                          <a:endParaRPr lang="en-US" sz="24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11152" marR="111152" marT="55576" marB="55576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6924" t="-300000" r="-464" b="-2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079052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7675023-A84D-C045-AE1A-6ECC7D47CE89}"/>
              </a:ext>
            </a:extLst>
          </p:cNvPr>
          <p:cNvSpPr txBox="1"/>
          <p:nvPr/>
        </p:nvSpPr>
        <p:spPr>
          <a:xfrm>
            <a:off x="8867701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07001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373250"/>
                <a:ext cx="832713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=81</m:t>
                    </m:r>
                  </m:oMath>
                </a14:m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endParaRPr lang="en-PH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center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 in the context?</a:t>
                </a: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does the radius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represent in the context?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3250"/>
                <a:ext cx="8327136" cy="3477875"/>
              </a:xfrm>
              <a:prstGeom prst="rect">
                <a:avLst/>
              </a:prstGeom>
              <a:blipFill>
                <a:blip r:embed="rId4"/>
                <a:stretch>
                  <a:fillRect t="-1226" b="-21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FC994E0-F8C4-4F46-9B58-CE6859BB5003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36526" y="373250"/>
            <a:ext cx="5969402" cy="572909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2F3834D8-3735-6C4C-8E7B-F5A97F498936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740864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373248"/>
            <a:ext cx="109833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8838" indent="-401638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e.	The grid shows the location of Alyona’s Xbox. Use the domain and range to show all of the locations at which Alyona can sit.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2C4A12-11DD-914F-9868-B40CEE20109C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1694143" y="1567649"/>
            <a:ext cx="6019981" cy="4632951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26275305-2449-ED44-A4D7-6B0D34F2F408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4242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73A75FA1-22C7-AE4B-B8DE-7E8F1628B5DF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1845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52650" y="174455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12.9.4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914777"/>
                <a:ext cx="10748042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 err="1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Ziquan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Amber both graphed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−3)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−5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but their circles looked different. 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Who correctly graphed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note to the person who graphed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incorrectly explaining their mistake.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914777"/>
                <a:ext cx="10748042" cy="5632311"/>
              </a:xfrm>
              <a:prstGeom prst="rect">
                <a:avLst/>
              </a:prstGeom>
              <a:blipFill>
                <a:blip r:embed="rId5"/>
                <a:stretch>
                  <a:fillRect l="-624" t="-758" r="-908" b="-9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87E896A4-2C09-3E49-B9E0-1217AA3BA00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1988" y="2420569"/>
            <a:ext cx="2648024" cy="2520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874F891-8BA1-F64B-91CF-A277249FDD10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1323" y="2431883"/>
            <a:ext cx="2826602" cy="252000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13B2AD-65D0-BC42-B90C-81434F3A2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1295246"/>
              </p:ext>
            </p:extLst>
          </p:nvPr>
        </p:nvGraphicFramePr>
        <p:xfrm>
          <a:off x="1625713" y="1738030"/>
          <a:ext cx="5868000" cy="3348000"/>
        </p:xfrm>
        <a:graphic>
          <a:graphicData uri="http://schemas.openxmlformats.org/drawingml/2006/table">
            <a:tbl>
              <a:tblPr firstRow="1" firstCol="1" bandRow="1"/>
              <a:tblGrid>
                <a:gridCol w="2988000">
                  <a:extLst>
                    <a:ext uri="{9D8B030D-6E8A-4147-A177-3AD203B41FA5}">
                      <a16:colId xmlns:a16="http://schemas.microsoft.com/office/drawing/2014/main" val="3824493046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156501498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 err="1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Ziquan’s</a:t>
                      </a: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Circle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Amber’s Circle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8937808"/>
                  </a:ext>
                </a:extLst>
              </a:tr>
              <a:tr h="288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291686"/>
                  </a:ext>
                </a:extLst>
              </a:tr>
            </a:tbl>
          </a:graphicData>
        </a:graphic>
      </p:graphicFrame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DF17C946-9EEE-F14F-94DC-C7240F462D92}"/>
              </a:ext>
            </a:extLst>
          </p:cNvPr>
          <p:cNvSpPr txBox="1"/>
          <p:nvPr/>
        </p:nvSpPr>
        <p:spPr>
          <a:xfrm>
            <a:off x="8889924" y="64755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277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1332</TotalTime>
  <Words>830</Words>
  <Application>Microsoft Office PowerPoint</Application>
  <PresentationFormat>Widescreen</PresentationFormat>
  <Paragraphs>176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Geometry  Unit 12, Lesson 9  Graphing Circles  Volume 2, pg. 272  </vt:lpstr>
      <vt:lpstr>Benchmark</vt:lpstr>
      <vt:lpstr>PowerPoint Presentation</vt:lpstr>
      <vt:lpstr>PowerPoint Presentation</vt:lpstr>
      <vt:lpstr>Warm-Up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27</cp:revision>
  <dcterms:created xsi:type="dcterms:W3CDTF">2015-03-17T18:51:18Z</dcterms:created>
  <dcterms:modified xsi:type="dcterms:W3CDTF">2022-07-04T06:29:35Z</dcterms:modified>
</cp:coreProperties>
</file>