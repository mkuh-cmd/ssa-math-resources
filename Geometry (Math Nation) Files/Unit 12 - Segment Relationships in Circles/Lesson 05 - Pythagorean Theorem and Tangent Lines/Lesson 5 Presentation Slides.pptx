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288" r:id="rId10"/>
    <p:sldId id="363" r:id="rId11"/>
    <p:sldId id="372" r:id="rId12"/>
    <p:sldId id="323" r:id="rId13"/>
    <p:sldId id="324" r:id="rId14"/>
    <p:sldId id="367" r:id="rId15"/>
    <p:sldId id="373" r:id="rId16"/>
    <p:sldId id="302" r:id="rId17"/>
    <p:sldId id="303" r:id="rId18"/>
    <p:sldId id="370" r:id="rId19"/>
    <p:sldId id="374" r:id="rId20"/>
    <p:sldId id="306" r:id="rId21"/>
    <p:sldId id="307" r:id="rId22"/>
  </p:sldIdLst>
  <p:sldSz cx="12192000" cy="6858000"/>
  <p:notesSz cx="6858000" cy="9144000"/>
  <p:embeddedFontLst>
    <p:embeddedFont>
      <p:font typeface="Arial Black" panose="020B0A04020102020204" pitchFamily="34" charset="0"/>
      <p:bold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mbria" panose="02040503050406030204" pitchFamily="18" charset="0"/>
      <p:regular r:id="rId29"/>
      <p:bold r:id="rId30"/>
      <p:italic r:id="rId31"/>
      <p:boldItalic r:id="rId32"/>
    </p:embeddedFont>
    <p:embeddedFont>
      <p:font typeface="Cambria Math" panose="02040503050406030204" pitchFamily="18" charset="0"/>
      <p:regular r:id="rId33"/>
    </p:embeddedFont>
    <p:embeddedFont>
      <p:font typeface="Century Gothic" panose="020B0502020202020204" pitchFamily="34" charset="0"/>
      <p:regular r:id="rId34"/>
      <p:bold r:id="rId35"/>
      <p:italic r:id="rId36"/>
      <p:boldItalic r:id="rId37"/>
    </p:embeddedFont>
    <p:embeddedFont>
      <p:font typeface="Verdana" panose="020B0604030504040204" pitchFamily="3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2574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00"/>
    <p:restoredTop sz="94589"/>
  </p:normalViewPr>
  <p:slideViewPr>
    <p:cSldViewPr snapToGrid="0">
      <p:cViewPr varScale="1">
        <p:scale>
          <a:sx n="81" d="100"/>
          <a:sy n="81" d="100"/>
        </p:scale>
        <p:origin x="1104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0710761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24062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20755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96705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49625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66757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14086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worldbuilding.stackexchange.com/questions/56606/building-materials-on-europa" TargetMode="Externa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0.png"/><Relationship Id="rId5" Type="http://schemas.openxmlformats.org/officeDocument/2006/relationships/image" Target="../media/image22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7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12, Lesson 5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Pythagorean Theorem and Tangent Lines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251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5010" y="1606146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MA.912.GR.6.1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mathematical and real-world problems involving the length of a secant, tangent, segment, or chord in a given circle. 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199" y="129667"/>
            <a:ext cx="918392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596390"/>
            <a:ext cx="104221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035977B4-ED3F-6545-AA01-05276564D50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65719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557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66344" y="1498651"/>
            <a:ext cx="1105758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85800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 can use the Pythagorean Theorem to solve mathematical and real-world problems involving the length of a tangent segment to a circle.   </a:t>
            </a:r>
            <a:endParaRPr lang="en-US" sz="35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795EE81-F1FD-E24B-B99D-E98E0A3CFCE2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235A294C-2B5A-044B-A7D3-44925A149B5D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10466" y="275690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12.5.1 Warm-Up: Ice Problem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166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51064" y="1166951"/>
            <a:ext cx="1107708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 igloo, also known as a snow house or snow hut,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 a type of shelter built out of snow. </a:t>
            </a: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first question that comes to your mind? </a:t>
            </a:r>
          </a:p>
          <a:p>
            <a:pPr marL="914400"/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/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 question that would require someone to use geometry to solve.</a:t>
            </a:r>
            <a:endParaRPr lang="en-US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space colonization - Building materials on Europa ...">
            <a:extLst>
              <a:ext uri="{FF2B5EF4-FFF2-40B4-BE49-F238E27FC236}">
                <a16:creationId xmlns:a16="http://schemas.microsoft.com/office/drawing/2014/main" id="{2E81D778-4DBA-4340-BF34-AB9429BCE208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178844" y="1166951"/>
            <a:ext cx="3873735" cy="2564584"/>
          </a:xfrm>
          <a:prstGeom prst="rect">
            <a:avLst/>
          </a:prstGeom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FC8C61FD-2F74-354C-B3C2-B5DECE3735FC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7374"/>
            <a:ext cx="2731200" cy="6898631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7A8E6F85-9C80-8740-952D-B491AA35424D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16FC4C2-505F-3342-9ECE-85C7EB3ABC1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905145" y="1584585"/>
            <a:ext cx="3723005" cy="28797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639293" y="1747176"/>
                <a:ext cx="7265852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complete the following.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has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 the circle.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𝑊𝐾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tangent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𝐾𝐻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intersect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outside the circle.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Discuss with your partner what can be concluded from the given information. Justify your conclusions. Give at least two conclusions.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93" y="1747176"/>
                <a:ext cx="7265852" cy="2554545"/>
              </a:xfrm>
              <a:prstGeom prst="rect">
                <a:avLst/>
              </a:prstGeom>
              <a:blipFill>
                <a:blip r:embed="rId4"/>
                <a:stretch>
                  <a:fillRect l="-923" t="-1432" b="-3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1547" y="180844"/>
            <a:ext cx="1026046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12.5.2 Exploration: Pythagorean Theorem and Tangent Lines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3166" y="316675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847E0345-ACDF-A843-B714-ECB85174E593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863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25896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39702" y="520393"/>
            <a:ext cx="1098422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spcAft>
                <a:spcPts val="1000"/>
              </a:spcAft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Ask a classmate for two conclusions they drew. Record their conclusions and write your summary of their reason. </a:t>
            </a:r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 are the only person who should write in the first two columns of the table.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Have the person initial next to your summary stating that your summary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was correct.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E00C46A-94AF-D440-9DDA-AC7E1889D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558795"/>
              </p:ext>
            </p:extLst>
          </p:nvPr>
        </p:nvGraphicFramePr>
        <p:xfrm>
          <a:off x="1545676" y="2287967"/>
          <a:ext cx="7760555" cy="4234130"/>
        </p:xfrm>
        <a:graphic>
          <a:graphicData uri="http://schemas.openxmlformats.org/drawingml/2006/table">
            <a:tbl>
              <a:tblPr bandRow="1"/>
              <a:tblGrid>
                <a:gridCol w="2172955">
                  <a:extLst>
                    <a:ext uri="{9D8B030D-6E8A-4147-A177-3AD203B41FA5}">
                      <a16:colId xmlns:a16="http://schemas.microsoft.com/office/drawing/2014/main" val="2091841341"/>
                    </a:ext>
                  </a:extLst>
                </a:gridCol>
                <a:gridCol w="4035489">
                  <a:extLst>
                    <a:ext uri="{9D8B030D-6E8A-4147-A177-3AD203B41FA5}">
                      <a16:colId xmlns:a16="http://schemas.microsoft.com/office/drawing/2014/main" val="4195259236"/>
                    </a:ext>
                  </a:extLst>
                </a:gridCol>
                <a:gridCol w="1552111">
                  <a:extLst>
                    <a:ext uri="{9D8B030D-6E8A-4147-A177-3AD203B41FA5}">
                      <a16:colId xmlns:a16="http://schemas.microsoft.com/office/drawing/2014/main" val="1455260684"/>
                    </a:ext>
                  </a:extLst>
                </a:gridCol>
              </a:tblGrid>
              <a:tr h="96575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Conclusion</a:t>
                      </a:r>
                      <a:endParaRPr lang="en-US" sz="25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474" marR="103474" marT="103474" marB="103474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My Summary of </a:t>
                      </a:r>
                      <a:br>
                        <a:rPr lang="en-US" sz="25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5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Their Reason</a:t>
                      </a:r>
                      <a:endParaRPr lang="en-US" sz="25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474" marR="103474" marT="103474" marB="103474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Initials</a:t>
                      </a:r>
                      <a:endParaRPr lang="en-US" sz="25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474" marR="103474" marT="103474" marB="103474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722951"/>
                  </a:ext>
                </a:extLst>
              </a:tr>
              <a:tr h="163259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5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US" sz="25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5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US" sz="25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5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US" sz="25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474" marR="103474" marT="103474" marB="103474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5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US" sz="25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474" marR="103474" marT="103474" marB="103474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5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US" sz="25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474" marR="103474" marT="103474" marB="103474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3012000"/>
                  </a:ext>
                </a:extLst>
              </a:tr>
              <a:tr h="163259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5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US" sz="25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5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US" sz="25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5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US" sz="25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474" marR="103474" marT="103474" marB="103474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5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US" sz="25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474" marR="103474" marT="103474" marB="103474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5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US" sz="25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474" marR="103474" marT="103474" marB="103474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8041578"/>
                  </a:ext>
                </a:extLst>
              </a:tr>
            </a:tbl>
          </a:graphicData>
        </a:graphic>
      </p:graphicFrame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8AAF160F-129D-0848-9C26-6C7112CB6C5A}"/>
              </a:ext>
            </a:extLst>
          </p:cNvPr>
          <p:cNvSpPr txBox="1"/>
          <p:nvPr/>
        </p:nvSpPr>
        <p:spPr>
          <a:xfrm>
            <a:off x="8889924" y="648297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4" y="520393"/>
                <a:ext cx="10983359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what information is needed to determine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𝑊𝐾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why any triangle drawn, where the radius and a tangent are the legs, will result in a right triangle.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520393"/>
                <a:ext cx="10983359" cy="2862322"/>
              </a:xfrm>
              <a:prstGeom prst="rect">
                <a:avLst/>
              </a:prstGeom>
              <a:blipFill>
                <a:blip r:embed="rId4"/>
                <a:stretch>
                  <a:fillRect t="-1277" b="-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FEAD00B4-1976-7E4E-82E1-3385A74B4AD9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1604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E82E7D5-9DA0-9041-B770-65F8955DEDD3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646" t="11730" r="6463" b="1561"/>
          <a:stretch/>
        </p:blipFill>
        <p:spPr>
          <a:xfrm>
            <a:off x="8827892" y="292346"/>
            <a:ext cx="2886075" cy="23406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292346"/>
                <a:ext cx="8287327" cy="41224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 with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outside the circle, where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on the circle.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𝐷𝑁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=4</m:t>
                    </m:r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Pythagorean Theorem to determine if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𝐷𝑁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tangent to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  <a:tabLst>
                    <a:tab pos="32004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statements.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𝐷𝑅𝑁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a right triangle. Therefore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𝐷𝑁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>
                  <a:tabLst>
                    <a:tab pos="25146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a tangent line to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292346"/>
                <a:ext cx="8287327" cy="4122411"/>
              </a:xfrm>
              <a:prstGeom prst="rect">
                <a:avLst/>
              </a:prstGeom>
              <a:blipFill>
                <a:blip r:embed="rId4"/>
                <a:stretch>
                  <a:fillRect l="-809" t="-1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9349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947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Rectangle: Rounded Corners 6">
            <a:extLst>
              <a:ext uri="{FF2B5EF4-FFF2-40B4-BE49-F238E27FC236}">
                <a16:creationId xmlns:a16="http://schemas.microsoft.com/office/drawing/2014/main" id="{1CB229D4-21D9-8A4C-B2A8-8D1CAD484BC5}"/>
              </a:ext>
            </a:extLst>
          </p:cNvPr>
          <p:cNvSpPr/>
          <p:nvPr/>
        </p:nvSpPr>
        <p:spPr>
          <a:xfrm>
            <a:off x="2346525" y="2645807"/>
            <a:ext cx="1371600" cy="783193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34290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 not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C8EBEAC2-6309-D741-810E-79B409390532}"/>
              </a:ext>
            </a:extLst>
          </p:cNvPr>
          <p:cNvSpPr txBox="1"/>
          <p:nvPr/>
        </p:nvSpPr>
        <p:spPr>
          <a:xfrm>
            <a:off x="8889924" y="645655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Rectangle: Rounded Corners 6">
            <a:extLst>
              <a:ext uri="{FF2B5EF4-FFF2-40B4-BE49-F238E27FC236}">
                <a16:creationId xmlns:a16="http://schemas.microsoft.com/office/drawing/2014/main" id="{1CB229D4-21D9-8A4C-B2A8-8D1CAD484BC5}"/>
              </a:ext>
            </a:extLst>
          </p:cNvPr>
          <p:cNvSpPr/>
          <p:nvPr/>
        </p:nvSpPr>
        <p:spPr>
          <a:xfrm>
            <a:off x="1564205" y="3565287"/>
            <a:ext cx="1371600" cy="783193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34290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 not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634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07C01581-FF5A-F64C-830E-0342829F06E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A487D2-800F-B645-8896-29B89BBB9FB4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548" t="1920" r="3930"/>
          <a:stretch/>
        </p:blipFill>
        <p:spPr>
          <a:xfrm>
            <a:off x="8439301" y="1722909"/>
            <a:ext cx="3490800" cy="2471309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68691" y="183345"/>
            <a:ext cx="1043300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12.5.3 Guided Practice: Pythagorean Theorem and Tangent Lines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12881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540565" y="1722909"/>
                <a:ext cx="7898736" cy="2863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has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on the circle and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outside the circle.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𝑆𝐻𝐵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=90°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.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What is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𝑆𝐻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What is the area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𝑆𝐵𝐻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?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1722909"/>
                <a:ext cx="7898736" cy="2863028"/>
              </a:xfrm>
              <a:prstGeom prst="rect">
                <a:avLst/>
              </a:prstGeom>
              <a:blipFill>
                <a:blip r:embed="rId6"/>
                <a:stretch>
                  <a:fillRect l="-849" t="-1493" r="-1236"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EEDD10B2-FBBF-E342-9503-5A793530740C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0AB0B90-923F-4541-BFF2-FB597417F763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212" t="9795"/>
          <a:stretch/>
        </p:blipFill>
        <p:spPr bwMode="auto">
          <a:xfrm>
            <a:off x="7992762" y="520394"/>
            <a:ext cx="3895090" cy="28797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520394"/>
                <a:ext cx="7217087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has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on the circle and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outside the circle, where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𝑃𝑌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tangent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𝐻𝑌</m:t>
                        </m:r>
                      </m:e>
                    </m:acc>
                    <m:r>
                      <a:rPr lang="en-US" sz="2000" b="0" i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intersect.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𝐻𝑌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𝑃𝑌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520394"/>
                <a:ext cx="7217087" cy="1938992"/>
              </a:xfrm>
              <a:prstGeom prst="rect">
                <a:avLst/>
              </a:prstGeom>
              <a:blipFill>
                <a:blip r:embed="rId5"/>
                <a:stretch>
                  <a:fillRect l="-929" t="-1887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32E8957F-6F59-E549-9A48-0ED81669B8CA}"/>
              </a:ext>
            </a:extLst>
          </p:cNvPr>
          <p:cNvSpPr txBox="1"/>
          <p:nvPr/>
        </p:nvSpPr>
        <p:spPr>
          <a:xfrm>
            <a:off x="88677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2223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9617346-3AC0-B043-9B71-775D90259F1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90259" y="414697"/>
            <a:ext cx="3689985" cy="28797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520394"/>
                <a:ext cx="7549694" cy="4095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has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on the circle and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outside the circle, where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𝑉𝐶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tangent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𝑉𝑋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intersect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𝑉𝑋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𝐶𝑋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𝑉𝐶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 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perimeter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𝑉𝐶𝑋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  <a:endParaRPr lang="en-US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520394"/>
                <a:ext cx="7549694" cy="4095545"/>
              </a:xfrm>
              <a:prstGeom prst="rect">
                <a:avLst/>
              </a:prstGeom>
              <a:blipFill>
                <a:blip r:embed="rId4"/>
                <a:stretch>
                  <a:fillRect l="-889" t="-893" r="-404" b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4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3107335C-366E-044B-AA7E-D471D1C11E3D}"/>
              </a:ext>
            </a:extLst>
          </p:cNvPr>
          <p:cNvSpPr txBox="1"/>
          <p:nvPr/>
        </p:nvSpPr>
        <p:spPr>
          <a:xfrm>
            <a:off x="888992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8617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8FCE374D-7725-4D42-978D-F6DF5A157E1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25903" y="952890"/>
                <a:ext cx="6700807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has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on the circle and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b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has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on the circle.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𝐻𝐾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tangent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𝐸𝐵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b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intersect outside the circles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𝐻𝐵𝑀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𝑀𝐸𝐾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=90°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𝐵𝑀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𝐻𝑀𝐵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~∆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𝐾𝑀𝐸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/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𝐻𝐾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9144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perimeter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𝐾𝑀𝐸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9144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area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𝐾𝑀𝐸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903" y="952890"/>
                <a:ext cx="6700807" cy="5016758"/>
              </a:xfrm>
              <a:prstGeom prst="rect">
                <a:avLst/>
              </a:prstGeom>
              <a:blipFill>
                <a:blip r:embed="rId3"/>
                <a:stretch>
                  <a:fillRect l="-1001" t="-729" b="-1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9144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968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037988" y="6032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12.5.4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0688" y="603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B1C8BD77-BE25-BC44-82C6-BC6083C8A80E}"/>
              </a:ext>
            </a:extLst>
          </p:cNvPr>
          <p:cNvSpPr txBox="1"/>
          <p:nvPr/>
        </p:nvSpPr>
        <p:spPr>
          <a:xfrm>
            <a:off x="8889924" y="645675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C6644B-A76C-964E-B1BD-6D6E8693B892}"/>
              </a:ext>
            </a:extLst>
          </p:cNvPr>
          <p:cNvPicPr/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86" t="3475" r="8588" b="14493"/>
          <a:stretch/>
        </p:blipFill>
        <p:spPr>
          <a:xfrm>
            <a:off x="7347600" y="952890"/>
            <a:ext cx="4562475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4F09FE2-9DE7-2843-B6E1-B18F330D3DB0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442" t="8657" r="4170" b="9246"/>
          <a:stretch/>
        </p:blipFill>
        <p:spPr>
          <a:xfrm>
            <a:off x="7804523" y="339419"/>
            <a:ext cx="4105552" cy="2545111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339419"/>
                <a:ext cx="7263958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Grace and Zackary are finding the length of tangent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𝑇𝐾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of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a point on the circle.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tangent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𝑇𝐾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intersect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outside the circle.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𝑇𝑊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𝐾𝑊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Grace’s and Zackary’s </a:t>
                </a:r>
                <a:b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work is shown.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39419"/>
                <a:ext cx="7263958" cy="2246769"/>
              </a:xfrm>
              <a:prstGeom prst="rect">
                <a:avLst/>
              </a:prstGeom>
              <a:blipFill>
                <a:blip r:embed="rId5"/>
                <a:stretch>
                  <a:fillRect l="-924" t="-1902" b="-40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9792B62D-8F7D-F044-835E-D301C7F612D6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DA6BA689-3DEF-6649-BEBD-223CE18788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1543261"/>
                  </p:ext>
                </p:extLst>
              </p:nvPr>
            </p:nvGraphicFramePr>
            <p:xfrm>
              <a:off x="548919" y="3406877"/>
              <a:ext cx="7459455" cy="215242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723459">
                      <a:extLst>
                        <a:ext uri="{9D8B030D-6E8A-4147-A177-3AD203B41FA5}">
                          <a16:colId xmlns:a16="http://schemas.microsoft.com/office/drawing/2014/main" val="26693144"/>
                        </a:ext>
                      </a:extLst>
                    </a:gridCol>
                    <a:gridCol w="3735996">
                      <a:extLst>
                        <a:ext uri="{9D8B030D-6E8A-4147-A177-3AD203B41FA5}">
                          <a16:colId xmlns:a16="http://schemas.microsoft.com/office/drawing/2014/main" val="1678387106"/>
                        </a:ext>
                      </a:extLst>
                    </a:gridCol>
                  </a:tblGrid>
                  <a:tr h="53490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Grace’s Work</a:t>
                          </a:r>
                          <a:endParaRPr lang="en-US" sz="2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0295" marR="100295" marT="100295" marB="10029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Zackary’s Work</a:t>
                          </a:r>
                          <a:endParaRPr lang="en-US" sz="2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0295" marR="100295" marT="100295" marB="10029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4746222"/>
                      </a:ext>
                    </a:extLst>
                  </a:tr>
                  <a:tr h="161655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7</m:t>
                                    </m:r>
                                  </m:e>
                                  <m:sup>
                                    <m: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18</m:t>
                                    </m:r>
                                  </m:e>
                                  <m:sup>
                                    <m: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49+</m:t>
                                </m:r>
                                <m:sSup>
                                  <m:sSupPr>
                                    <m:ctrlP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=324</m:t>
                                </m:r>
                              </m:oMath>
                            </m:oMathPara>
                          </a14:m>
                          <a:endParaRPr lang="en-US" sz="2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=275</m:t>
                                </m:r>
                              </m:oMath>
                            </m:oMathPara>
                          </a14:m>
                          <a:endParaRPr lang="en-US" sz="2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=5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0295" marR="100295" marT="100295" marB="10029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7</m:t>
                                    </m:r>
                                  </m:e>
                                  <m:sup>
                                    <m: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18</m:t>
                                    </m:r>
                                  </m:e>
                                  <m:sup>
                                    <m: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49+324=</m:t>
                                </m:r>
                                <m:sSup>
                                  <m:sSupPr>
                                    <m:ctrlP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=373</m:t>
                                </m:r>
                              </m:oMath>
                            </m:oMathPara>
                          </a14:m>
                          <a:endParaRPr lang="en-US" sz="2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373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0295" marR="100295" marT="100295" marB="10029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626599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DA6BA689-3DEF-6649-BEBD-223CE18788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1543261"/>
                  </p:ext>
                </p:extLst>
              </p:nvPr>
            </p:nvGraphicFramePr>
            <p:xfrm>
              <a:off x="548919" y="3406877"/>
              <a:ext cx="7459455" cy="215242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723459">
                      <a:extLst>
                        <a:ext uri="{9D8B030D-6E8A-4147-A177-3AD203B41FA5}">
                          <a16:colId xmlns:a16="http://schemas.microsoft.com/office/drawing/2014/main" val="26693144"/>
                        </a:ext>
                      </a:extLst>
                    </a:gridCol>
                    <a:gridCol w="3735996">
                      <a:extLst>
                        <a:ext uri="{9D8B030D-6E8A-4147-A177-3AD203B41FA5}">
                          <a16:colId xmlns:a16="http://schemas.microsoft.com/office/drawing/2014/main" val="1678387106"/>
                        </a:ext>
                      </a:extLst>
                    </a:gridCol>
                  </a:tblGrid>
                  <a:tr h="53587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Grace’s Work</a:t>
                          </a:r>
                          <a:endParaRPr lang="en-US" sz="2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0295" marR="100295" marT="100295" marB="10029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Zackary’s Work</a:t>
                          </a:r>
                          <a:endParaRPr lang="en-US" sz="2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0295" marR="100295" marT="100295" marB="10029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4746222"/>
                      </a:ext>
                    </a:extLst>
                  </a:tr>
                  <a:tr h="16165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295" marR="100295" marT="100295" marB="10029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27" t="-33459" r="-100818" b="-15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295" marR="100295" marT="100295" marB="10029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000" t="-33459" r="-489" b="-15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265991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57196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5" y="413112"/>
            <a:ext cx="10961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spcAft>
                <a:spcPts val="1000"/>
              </a:spcAft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 note to the person whose work is incorrect explaining their mistake. 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2AF0050-307F-7B4E-8BCB-81E97C159499}"/>
              </a:ext>
            </a:extLst>
          </p:cNvPr>
          <p:cNvSpPr/>
          <p:nvPr/>
        </p:nvSpPr>
        <p:spPr>
          <a:xfrm>
            <a:off x="4049876" y="1345168"/>
            <a:ext cx="6377234" cy="5112507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 i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lang="en-US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728FBC5-AB0C-114E-8495-F5398B63716E}"/>
              </a:ext>
            </a:extLst>
          </p:cNvPr>
          <p:cNvSpPr/>
          <p:nvPr/>
        </p:nvSpPr>
        <p:spPr>
          <a:xfrm>
            <a:off x="1090167" y="2379169"/>
            <a:ext cx="2662815" cy="3044503"/>
          </a:xfrm>
          <a:prstGeom prst="roundRect">
            <a:avLst>
              <a:gd name="adj" fmla="val 16667"/>
            </a:avLst>
          </a:prstGeom>
          <a:solidFill>
            <a:srgbClr val="DAE5F1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sz="2200" b="1" dirty="0">
                <a:solidFill>
                  <a:srgbClr val="DB2B2A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</a:t>
            </a:r>
            <a:r>
              <a:rPr lang="en-US" sz="2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eans</a:t>
            </a:r>
            <a:endParaRPr lang="en-US" sz="22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rgbClr val="F2575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</a:t>
            </a:r>
            <a:endParaRPr lang="en-US" sz="22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rgbClr val="E9923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en-US" sz="2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tart</a:t>
            </a:r>
            <a:endParaRPr lang="en-US" sz="22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rgbClr val="FACD1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</a:t>
            </a:r>
            <a:r>
              <a:rPr lang="en-US" sz="2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</a:t>
            </a:r>
            <a:endParaRPr lang="en-US" sz="22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rgbClr val="7BA43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lang="en-US" sz="2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cquire</a:t>
            </a:r>
            <a:endParaRPr lang="en-US" sz="22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rgbClr val="24B7D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  <a:r>
              <a:rPr lang="en-US" sz="2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nowledge</a:t>
            </a:r>
            <a:endParaRPr lang="en-US" sz="22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rgbClr val="1B74B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</a:t>
            </a:r>
            <a:r>
              <a:rPr lang="en-US" sz="2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xperience </a:t>
            </a:r>
            <a:endParaRPr lang="en-US" sz="22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rgbClr val="4A2B7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en-US" sz="2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kills</a:t>
            </a:r>
            <a:r>
              <a:rPr lang="en-US" sz="12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15FDE3FE-8933-0B45-B8CA-B346A020E21D}"/>
              </a:ext>
            </a:extLst>
          </p:cNvPr>
          <p:cNvSpPr txBox="1"/>
          <p:nvPr/>
        </p:nvSpPr>
        <p:spPr>
          <a:xfrm>
            <a:off x="8867701" y="645767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23674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8639C51A-3FBA-4D4F-BF7C-E5134A9DD47C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495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665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6294" y="284834"/>
            <a:ext cx="9998737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12.5.5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6845" y="19367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594743" y="1386025"/>
                <a:ext cx="10927686" cy="3760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1000"/>
                  </a:spcAft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has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on the circle and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outside the circle at the intersection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𝐷𝑁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tangent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𝐷𝑃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𝑁𝑃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𝐷𝑃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spcAft>
                    <a:spcPts val="1000"/>
                  </a:spcAft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spcAft>
                    <a:spcPts val="10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>
                  <a:spcAft>
                    <a:spcPts val="10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𝑁𝐷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743" y="1386025"/>
                <a:ext cx="10927686" cy="3760004"/>
              </a:xfrm>
              <a:prstGeom prst="rect">
                <a:avLst/>
              </a:prstGeom>
              <a:blipFill>
                <a:blip r:embed="rId5"/>
                <a:stretch>
                  <a:fillRect l="-614" t="-972" b="-1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07AAF51A-DF20-6840-AEFF-0E23C2D683C4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81454" y="2187370"/>
            <a:ext cx="5006975" cy="2519680"/>
          </a:xfrm>
          <a:prstGeom prst="rect">
            <a:avLst/>
          </a:prstGeom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9109C750-354D-0446-982E-AB67EEC0D53A}"/>
              </a:ext>
            </a:extLst>
          </p:cNvPr>
          <p:cNvSpPr txBox="1"/>
          <p:nvPr/>
        </p:nvSpPr>
        <p:spPr>
          <a:xfrm>
            <a:off x="888842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1325</TotalTime>
  <Words>996</Words>
  <Application>Microsoft Office PowerPoint</Application>
  <PresentationFormat>Widescreen</PresentationFormat>
  <Paragraphs>177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Calibri</vt:lpstr>
      <vt:lpstr>Cambria</vt:lpstr>
      <vt:lpstr>Verdana</vt:lpstr>
      <vt:lpstr>Wingdings</vt:lpstr>
      <vt:lpstr>Century Gothic</vt:lpstr>
      <vt:lpstr>Arial</vt:lpstr>
      <vt:lpstr>Arial Black</vt:lpstr>
      <vt:lpstr>Cambria Math</vt:lpstr>
      <vt:lpstr>Courier New</vt:lpstr>
      <vt:lpstr>1_Office Theme</vt:lpstr>
      <vt:lpstr>Geometry  Unit 12, Lesson 5  Pythagorean Theorem and Tangent Lines  Volume 2, pg. 251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28</cp:revision>
  <dcterms:created xsi:type="dcterms:W3CDTF">2015-03-17T18:51:18Z</dcterms:created>
  <dcterms:modified xsi:type="dcterms:W3CDTF">2022-09-17T16:24:08Z</dcterms:modified>
</cp:coreProperties>
</file>