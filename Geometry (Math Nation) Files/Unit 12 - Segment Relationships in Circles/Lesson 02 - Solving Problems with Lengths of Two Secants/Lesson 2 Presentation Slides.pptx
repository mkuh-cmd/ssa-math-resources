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85" r:id="rId4"/>
    <p:sldId id="286" r:id="rId5"/>
    <p:sldId id="261" r:id="rId6"/>
    <p:sldId id="287" r:id="rId7"/>
    <p:sldId id="311" r:id="rId8"/>
    <p:sldId id="312" r:id="rId9"/>
    <p:sldId id="288" r:id="rId10"/>
    <p:sldId id="363" r:id="rId11"/>
    <p:sldId id="374" r:id="rId12"/>
    <p:sldId id="323" r:id="rId13"/>
    <p:sldId id="324" r:id="rId14"/>
    <p:sldId id="367" r:id="rId15"/>
    <p:sldId id="373" r:id="rId16"/>
    <p:sldId id="302" r:id="rId17"/>
    <p:sldId id="303" r:id="rId18"/>
    <p:sldId id="375" r:id="rId19"/>
    <p:sldId id="306" r:id="rId20"/>
    <p:sldId id="307" r:id="rId21"/>
  </p:sldIdLst>
  <p:sldSz cx="12192000" cy="6858000"/>
  <p:notesSz cx="6858000" cy="9144000"/>
  <p:embeddedFontLst>
    <p:embeddedFont>
      <p:font typeface="Arial Black" panose="020B0A04020102020204" pitchFamily="34" charset="0"/>
      <p:bold r:id="rId23"/>
    </p:embeddedFont>
    <p:embeddedFont>
      <p:font typeface="Calibri" panose="020F0502020204030204" pitchFamily="34" charset="0"/>
      <p:regular r:id="rId24"/>
      <p:bold r:id="rId25"/>
      <p:italic r:id="rId26"/>
      <p:boldItalic r:id="rId27"/>
    </p:embeddedFont>
    <p:embeddedFont>
      <p:font typeface="Cambria" panose="02040503050406030204" pitchFamily="18" charset="0"/>
      <p:regular r:id="rId28"/>
      <p:bold r:id="rId29"/>
      <p:italic r:id="rId30"/>
      <p:boldItalic r:id="rId31"/>
    </p:embeddedFont>
    <p:embeddedFont>
      <p:font typeface="Cambria Math" panose="02040503050406030204" pitchFamily="18" charset="0"/>
      <p:regular r:id="rId32"/>
    </p:embeddedFont>
    <p:embeddedFont>
      <p:font typeface="Century Gothic" panose="020B0502020202020204" pitchFamily="34" charset="0"/>
      <p:regular r:id="rId33"/>
      <p:bold r:id="rId34"/>
      <p:italic r:id="rId35"/>
      <p:boldItalic r:id="rId36"/>
    </p:embeddedFont>
    <p:embeddedFont>
      <p:font typeface="Verdana" panose="020B0604030504040204" pitchFamily="34" charset="0"/>
      <p:regular r:id="rId37"/>
      <p:bold r:id="rId38"/>
      <p:italic r:id="rId39"/>
      <p:boldItalic r:id="rId4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http://customooxmlschemas.google.com/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55" roundtripDataSignature="AMtx7miXGu+iP6Z2M0kNO/4dLqrShsAMT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22574"/>
    <a:srgbClr val="3465B0"/>
    <a:srgbClr val="DA4487"/>
    <a:srgbClr val="276C46"/>
    <a:srgbClr val="C9DF6F"/>
    <a:srgbClr val="417DBF"/>
    <a:srgbClr val="3F2A67"/>
    <a:srgbClr val="E24E5F"/>
    <a:srgbClr val="26B7D4"/>
    <a:srgbClr val="54B5D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91F0D33-8C57-4600-99A7-42BC86742BE1}">
  <a:tblStyle styleId="{A91F0D33-8C57-4600-99A7-42BC86742B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9700"/>
    <p:restoredTop sz="94589"/>
  </p:normalViewPr>
  <p:slideViewPr>
    <p:cSldViewPr snapToGrid="0">
      <p:cViewPr varScale="1">
        <p:scale>
          <a:sx n="78" d="100"/>
          <a:sy n="78" d="100"/>
        </p:scale>
        <p:origin x="1123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55" Type="http://customschemas.google.com/relationships/presentationmetadata" Target="meta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58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57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56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59" Type="http://schemas.openxmlformats.org/officeDocument/2006/relationships/tableStyles" Target="tableStyles.xml"/><Relationship Id="rId20" Type="http://schemas.openxmlformats.org/officeDocument/2006/relationships/slide" Target="slides/slide1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06744117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g104476d1465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8" name="Google Shape;258;g104476d1465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32868339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74684046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58337895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50524138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205093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06399360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69240629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12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22880882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539210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14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859670506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824363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16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401656324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17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33611023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18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146824363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5" name="Google Shape;305;g104476d1465_1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6" name="Google Shape;306;g104476d1465_1_3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7" name="Google Shape;307;g104476d1465_1_3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19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716688106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104476d1465_1_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5" name="Google Shape;275;g104476d1465_1_1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6" name="Google Shape;276;g104476d1465_1_1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937328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a:blip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56"/>
          <p:cNvSpPr txBox="1">
            <a:spLocks noGrp="1"/>
          </p:cNvSpPr>
          <p:nvPr>
            <p:ph type="ctrTitle"/>
          </p:nvPr>
        </p:nvSpPr>
        <p:spPr>
          <a:xfrm>
            <a:off x="5299677" y="1070919"/>
            <a:ext cx="6526000" cy="361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Arial Black"/>
              <a:buNone/>
              <a:defRPr sz="3000">
                <a:solidFill>
                  <a:srgbClr val="FFFFFF"/>
                </a:solidFill>
                <a:latin typeface="Arial Black"/>
                <a:ea typeface="Arial Black"/>
                <a:cs typeface="Arial Black"/>
                <a:sym typeface="Arial Black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7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77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77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>
            <a:endParaRPr/>
          </a:p>
        </p:txBody>
      </p:sp>
      <p:sp>
        <p:nvSpPr>
          <p:cNvPr id="20" name="Google Shape;20;p7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7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7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78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7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" name="Google Shape;26;p78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78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" name="Google Shape;28;p78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9"/>
          <p:cNvSpPr txBox="1">
            <a:spLocks noGrp="1"/>
          </p:cNvSpPr>
          <p:nvPr>
            <p:ph type="title"/>
          </p:nvPr>
        </p:nvSpPr>
        <p:spPr>
          <a:xfrm>
            <a:off x="831851" y="1709739"/>
            <a:ext cx="10515600" cy="28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79"/>
          <p:cNvSpPr txBox="1">
            <a:spLocks noGrp="1"/>
          </p:cNvSpPr>
          <p:nvPr>
            <p:ph type="body" idx="1"/>
          </p:nvPr>
        </p:nvSpPr>
        <p:spPr>
          <a:xfrm>
            <a:off x="831851" y="4589464"/>
            <a:ext cx="10515600" cy="15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2" name="Google Shape;32;p79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79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4" name="Google Shape;34;p79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80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80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8" name="Google Shape;38;p80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9" name="Google Shape;39;p80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" name="Google Shape;40;p80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80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1"/>
          <p:cNvSpPr txBox="1">
            <a:spLocks noGrp="1"/>
          </p:cNvSpPr>
          <p:nvPr>
            <p:ph type="title"/>
          </p:nvPr>
        </p:nvSpPr>
        <p:spPr>
          <a:xfrm>
            <a:off x="839788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81"/>
          <p:cNvSpPr txBox="1">
            <a:spLocks noGrp="1"/>
          </p:cNvSpPr>
          <p:nvPr>
            <p:ph type="body" idx="1"/>
          </p:nvPr>
        </p:nvSpPr>
        <p:spPr>
          <a:xfrm>
            <a:off x="839789" y="1681163"/>
            <a:ext cx="51576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5" name="Google Shape;45;p81"/>
          <p:cNvSpPr txBox="1">
            <a:spLocks noGrp="1"/>
          </p:cNvSpPr>
          <p:nvPr>
            <p:ph type="body" idx="2"/>
          </p:nvPr>
        </p:nvSpPr>
        <p:spPr>
          <a:xfrm>
            <a:off x="839789" y="2505075"/>
            <a:ext cx="51576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6" name="Google Shape;46;p81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2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 b="1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>
            <a:endParaRPr/>
          </a:p>
        </p:txBody>
      </p:sp>
      <p:sp>
        <p:nvSpPr>
          <p:cNvPr id="47" name="Google Shape;47;p81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2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8" name="Google Shape;48;p81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9" name="Google Shape;49;p81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0" name="Google Shape;50;p81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82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2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4" name="Google Shape;54;p82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2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83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8" name="Google Shape;58;p83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83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84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2" name="Google Shape;62;p84"/>
          <p:cNvSpPr txBox="1">
            <a:spLocks noGrp="1"/>
          </p:cNvSpPr>
          <p:nvPr>
            <p:ph type="body" idx="1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>
            <a:endParaRPr/>
          </a:p>
        </p:txBody>
      </p:sp>
      <p:sp>
        <p:nvSpPr>
          <p:cNvPr id="63" name="Google Shape;63;p84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64" name="Google Shape;64;p84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5" name="Google Shape;65;p84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84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85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400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9" name="Google Shape;69;p85"/>
          <p:cNvSpPr>
            <a:spLocks noGrp="1"/>
          </p:cNvSpPr>
          <p:nvPr>
            <p:ph type="pic" idx="2"/>
          </p:nvPr>
        </p:nvSpPr>
        <p:spPr>
          <a:xfrm>
            <a:off x="5183188" y="987426"/>
            <a:ext cx="6172400" cy="48735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85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400" cy="381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marL="1371600" lvl="2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marL="2286000" lvl="4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marL="2743200" lvl="5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marL="3200400" lvl="6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marL="3657600" lvl="7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marL="4114800" lvl="8" indent="-2286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>
            <a:endParaRPr/>
          </a:p>
        </p:txBody>
      </p:sp>
      <p:sp>
        <p:nvSpPr>
          <p:cNvPr id="71" name="Google Shape;71;p8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8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8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86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86"/>
          <p:cNvSpPr txBox="1">
            <a:spLocks noGrp="1"/>
          </p:cNvSpPr>
          <p:nvPr>
            <p:ph type="body" idx="1"/>
          </p:nvPr>
        </p:nvSpPr>
        <p:spPr>
          <a:xfrm rot="5400000">
            <a:off x="3920400" y="-1256575"/>
            <a:ext cx="4351200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86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86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86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87"/>
          <p:cNvSpPr txBox="1">
            <a:spLocks noGrp="1"/>
          </p:cNvSpPr>
          <p:nvPr>
            <p:ph type="title"/>
          </p:nvPr>
        </p:nvSpPr>
        <p:spPr>
          <a:xfrm rot="5400000">
            <a:off x="7133450" y="1956675"/>
            <a:ext cx="5811900" cy="262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87"/>
          <p:cNvSpPr txBox="1">
            <a:spLocks noGrp="1"/>
          </p:cNvSpPr>
          <p:nvPr>
            <p:ph type="body" idx="1"/>
          </p:nvPr>
        </p:nvSpPr>
        <p:spPr>
          <a:xfrm rot="5400000">
            <a:off x="1799350" y="-596125"/>
            <a:ext cx="5811900" cy="7734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87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4" name="Google Shape;84;p87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5" name="Google Shape;85;p87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marL="0" lvl="1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marL="0" lvl="2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marL="0" lvl="3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marL="0" lvl="4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marL="0" lvl="5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marL="0" lvl="6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marL="0" lvl="7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marL="0" lvl="8" indent="0" algn="r" rtl="0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ext Slide">
  <p:cSld name="Text Slide">
    <p:bg>
      <p:bgPr>
        <a:solidFill>
          <a:schemeClr val="lt1"/>
        </a:solid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88" descr="A picture containing text, sign, seat&#10;&#10;Description automatically generated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76869" y="5603082"/>
            <a:ext cx="3413760" cy="1828800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88"/>
          <p:cNvSpPr/>
          <p:nvPr/>
        </p:nvSpPr>
        <p:spPr>
          <a:xfrm>
            <a:off x="0" y="0"/>
            <a:ext cx="198000" cy="6858000"/>
          </a:xfrm>
          <a:prstGeom prst="rect">
            <a:avLst/>
          </a:prstGeom>
          <a:solidFill>
            <a:srgbClr val="2776B6"/>
          </a:solidFill>
          <a:ln w="12700" cap="flat" cmpd="sng">
            <a:solidFill>
              <a:srgbClr val="42719B"/>
            </a:solidFill>
            <a:prstDash val="solid"/>
            <a:miter lim="800000"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2">
  <p:cSld name="Divider 2"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0" name="Google Shape;90;p89" descr="ANation-PPT22_5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89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89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3" name="Google Shape;93;p89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3">
  <p:cSld name="Divider 3"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5" name="Google Shape;95;p90" descr="ANation-PPT22_6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90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7" name="Google Shape;97;p90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8" name="Google Shape;98;p90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1">
  <p:cSld name="Divider 1"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0" name="Google Shape;100;p91" descr="ANation-PPT22_2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1" name="Google Shape;101;p91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91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91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Divider 4">
  <p:cSld name="Divider 4"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" name="Google Shape;105;p92" descr="ANation-PPT2_7.jpg"/>
          <p:cNvPicPr preferRelativeResize="0"/>
          <p:nvPr/>
        </p:nvPicPr>
        <p:blipFill rotWithShape="1">
          <a:blip r:embed="rId2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" y="1"/>
            <a:ext cx="12191999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92"/>
          <p:cNvSpPr/>
          <p:nvPr/>
        </p:nvSpPr>
        <p:spPr>
          <a:xfrm>
            <a:off x="1" y="0"/>
            <a:ext cx="2012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92"/>
          <p:cNvSpPr/>
          <p:nvPr/>
        </p:nvSpPr>
        <p:spPr>
          <a:xfrm>
            <a:off x="4851172" y="0"/>
            <a:ext cx="7340800" cy="6858000"/>
          </a:xfrm>
          <a:prstGeom prst="rect">
            <a:avLst/>
          </a:prstGeom>
          <a:solidFill>
            <a:srgbClr val="296CA4">
              <a:alpha val="86670"/>
            </a:srgbClr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FFFFF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8" name="Google Shape;108;p92" descr="Text&#10;&#10;Description automatically generated with low confidence"/>
          <p:cNvPicPr preferRelativeResize="0"/>
          <p:nvPr/>
        </p:nvPicPr>
        <p:blipFill rotWithShape="1"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8549640" y="5553348"/>
            <a:ext cx="3474723" cy="186145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55"/>
          <p:cNvSpPr txBox="1">
            <a:spLocks noGrp="1"/>
          </p:cNvSpPr>
          <p:nvPr>
            <p:ph type="title"/>
          </p:nvPr>
        </p:nvSpPr>
        <p:spPr>
          <a:xfrm>
            <a:off x="838200" y="365126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sz="33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55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55"/>
          <p:cNvSpPr txBox="1">
            <a:spLocks noGrp="1"/>
          </p:cNvSpPr>
          <p:nvPr>
            <p:ph type="dt" idx="10"/>
          </p:nvPr>
        </p:nvSpPr>
        <p:spPr>
          <a:xfrm>
            <a:off x="8382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55"/>
          <p:cNvSpPr txBox="1">
            <a:spLocks noGrp="1"/>
          </p:cNvSpPr>
          <p:nvPr>
            <p:ph type="ftr" idx="11"/>
          </p:nvPr>
        </p:nvSpPr>
        <p:spPr>
          <a:xfrm>
            <a:off x="4038600" y="6356351"/>
            <a:ext cx="41148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55"/>
          <p:cNvSpPr txBox="1">
            <a:spLocks noGrp="1"/>
          </p:cNvSpPr>
          <p:nvPr>
            <p:ph type="sldNum" idx="12"/>
          </p:nvPr>
        </p:nvSpPr>
        <p:spPr>
          <a:xfrm>
            <a:off x="8610600" y="6356351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fld id="{00000000-1234-1234-1234-123412341234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17.png"/><Relationship Id="rId5" Type="http://schemas.openxmlformats.org/officeDocument/2006/relationships/image" Target="../media/image160.png"/><Relationship Id="rId4" Type="http://schemas.openxmlformats.org/officeDocument/2006/relationships/image" Target="../media/image1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4.png"/><Relationship Id="rId5" Type="http://schemas.openxmlformats.org/officeDocument/2006/relationships/image" Target="../media/image230.png"/><Relationship Id="rId4" Type="http://schemas.openxmlformats.org/officeDocument/2006/relationships/image" Target="../media/image23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26.png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7" Type="http://schemas.openxmlformats.org/officeDocument/2006/relationships/image" Target="../media/image29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8.xml"/><Relationship Id="rId6" Type="http://schemas.openxmlformats.org/officeDocument/2006/relationships/hyperlink" Target="http://wikitravel.org/en/Apalachicola_National_Forest" TargetMode="External"/><Relationship Id="rId5" Type="http://schemas.openxmlformats.org/officeDocument/2006/relationships/image" Target="../media/image28.jpg"/><Relationship Id="rId4" Type="http://schemas.openxmlformats.org/officeDocument/2006/relationships/image" Target="../media/image27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0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8.xml"/><Relationship Id="rId5" Type="http://schemas.openxmlformats.org/officeDocument/2006/relationships/image" Target="../media/image32.png"/><Relationship Id="rId4" Type="http://schemas.openxmlformats.org/officeDocument/2006/relationships/image" Target="../media/image300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8.xml"/><Relationship Id="rId4" Type="http://schemas.openxmlformats.org/officeDocument/2006/relationships/image" Target="../media/image33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7" Type="http://schemas.openxmlformats.org/officeDocument/2006/relationships/image" Target="../media/image37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35.png"/><Relationship Id="rId5" Type="http://schemas.openxmlformats.org/officeDocument/2006/relationships/image" Target="../media/image33.png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g104476d1465_0_0"/>
          <p:cNvSpPr txBox="1">
            <a:spLocks noGrp="1"/>
          </p:cNvSpPr>
          <p:nvPr>
            <p:ph type="ctrTitle" idx="4294967295"/>
          </p:nvPr>
        </p:nvSpPr>
        <p:spPr>
          <a:xfrm>
            <a:off x="5590352" y="2054277"/>
            <a:ext cx="5077649" cy="3194455"/>
          </a:xfrm>
          <a:prstGeom prst="rect">
            <a:avLst/>
          </a:prstGeom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Geometry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endParaRPr lang="en-US" sz="38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Unit 12, Lesson 2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Solving Problems with Lengths of Two Secants</a:t>
            </a: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br>
              <a:rPr lang="en-US" sz="3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</a:br>
            <a:r>
              <a:rPr lang="en-US" sz="2800" b="1" dirty="0">
                <a:solidFill>
                  <a:srgbClr val="417DBF"/>
                </a:solidFill>
                <a:latin typeface="Verdana"/>
                <a:ea typeface="Verdana"/>
                <a:cs typeface="Verdana"/>
                <a:sym typeface="Verdana"/>
              </a:rPr>
              <a:t>Volume 2, pg. 237</a:t>
            </a:r>
          </a:p>
          <a:p>
            <a:pPr algn="ctr">
              <a:lnSpc>
                <a:spcPct val="100000"/>
              </a:lnSpc>
              <a:buClr>
                <a:srgbClr val="000000"/>
              </a:buClr>
            </a:pPr>
            <a:endParaRPr lang="en-US" sz="3400" b="1" dirty="0">
              <a:solidFill>
                <a:srgbClr val="417DBF"/>
              </a:solidFill>
              <a:latin typeface="Verdana"/>
              <a:ea typeface="Verdana"/>
              <a:cs typeface="Verdana"/>
              <a:sym typeface="Verdana"/>
            </a:endParaRPr>
          </a:p>
          <a:p>
            <a:pPr algn="ctr">
              <a:lnSpc>
                <a:spcPct val="75000"/>
              </a:lnSpc>
            </a:pPr>
            <a:endParaRPr sz="3100" dirty="0">
              <a:solidFill>
                <a:srgbClr val="417DBF"/>
              </a:solidFill>
            </a:endParaRPr>
          </a:p>
        </p:txBody>
      </p:sp>
      <p:cxnSp>
        <p:nvCxnSpPr>
          <p:cNvPr id="262" name="Google Shape;262;g104476d1465_0_0"/>
          <p:cNvCxnSpPr/>
          <p:nvPr/>
        </p:nvCxnSpPr>
        <p:spPr>
          <a:xfrm>
            <a:off x="-1573225" y="3938167"/>
            <a:ext cx="1152600" cy="0"/>
          </a:xfrm>
          <a:prstGeom prst="straightConnector1">
            <a:avLst/>
          </a:prstGeom>
          <a:noFill/>
          <a:ln w="9525" cap="flat" cmpd="sng">
            <a:solidFill>
              <a:schemeClr val="lt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0" name="Google Shape;309;g104476d1465_1_39">
            <a:extLst>
              <a:ext uri="{FF2B5EF4-FFF2-40B4-BE49-F238E27FC236}">
                <a16:creationId xmlns:a16="http://schemas.microsoft.com/office/drawing/2014/main" id="{566F1422-A32C-7745-9E85-5AF7B9DBC697}"/>
              </a:ext>
            </a:extLst>
          </p:cNvPr>
          <p:cNvSpPr/>
          <p:nvPr/>
        </p:nvSpPr>
        <p:spPr>
          <a:xfrm>
            <a:off x="0" y="-8100"/>
            <a:ext cx="4094106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52C00464-EFA3-6346-BE43-A03DFF537B32}"/>
              </a:ext>
            </a:extLst>
          </p:cNvPr>
          <p:cNvPicPr>
            <a:picLocks noChangeAspect="1"/>
          </p:cNvPicPr>
          <p:nvPr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05010" y="1598046"/>
            <a:ext cx="2973100" cy="3465785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sp>
        <p:nvSpPr>
          <p:cNvPr id="279" name="Google Shape;279;g104476d1465_1_17"/>
          <p:cNvSpPr txBox="1">
            <a:spLocks noGrp="1"/>
          </p:cNvSpPr>
          <p:nvPr>
            <p:ph type="title" idx="4294967295"/>
          </p:nvPr>
        </p:nvSpPr>
        <p:spPr>
          <a:xfrm>
            <a:off x="1124050" y="144750"/>
            <a:ext cx="75099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>
              <a:buSzPts val="5400"/>
            </a:pPr>
            <a:r>
              <a:rPr lang="en-US" sz="47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Benchmark</a:t>
            </a:r>
            <a:endParaRPr sz="37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8052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282" name="Google Shape;282;g104476d1465_1_17"/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80;g104476d1465_1_17">
            <a:extLst>
              <a:ext uri="{FF2B5EF4-FFF2-40B4-BE49-F238E27FC236}">
                <a16:creationId xmlns:a16="http://schemas.microsoft.com/office/drawing/2014/main" id="{527A9F9F-07B8-ED47-B967-E5507C67DBC5}"/>
              </a:ext>
            </a:extLst>
          </p:cNvPr>
          <p:cNvSpPr txBox="1">
            <a:spLocks/>
          </p:cNvSpPr>
          <p:nvPr/>
        </p:nvSpPr>
        <p:spPr>
          <a:xfrm>
            <a:off x="514000" y="1334375"/>
            <a:ext cx="1111415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61950" algn="l" rtl="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sz="21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sz="15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14325" algn="l" rtl="0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sz="135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indent="0">
              <a:buSzPts val="1100"/>
              <a:buNone/>
            </a:pPr>
            <a:r>
              <a:rPr lang="en-US" sz="35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MA.912.GR.6.1</a:t>
            </a:r>
          </a:p>
          <a:p>
            <a:pPr indent="0">
              <a:buNone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Solve mathematical and real-world problems involving the length of a secant, tangent, segment, or chord in a given circle. </a:t>
            </a:r>
            <a:endParaRPr lang="en-US" sz="35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Century Gothic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1" name="Google Shape;281;g104476d1465_1_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0550" y="372300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295;g103996e1364_0_10">
            <a:extLst>
              <a:ext uri="{FF2B5EF4-FFF2-40B4-BE49-F238E27FC236}">
                <a16:creationId xmlns:a16="http://schemas.microsoft.com/office/drawing/2014/main" id="{08B3C7FF-E6D0-2145-9A84-003D15672764}"/>
              </a:ext>
            </a:extLst>
          </p:cNvPr>
          <p:cNvSpPr txBox="1">
            <a:spLocks/>
          </p:cNvSpPr>
          <p:nvPr/>
        </p:nvSpPr>
        <p:spPr>
          <a:xfrm>
            <a:off x="1125199" y="129667"/>
            <a:ext cx="9213419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0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Integrated Mathematical Thinking and Reasoning Standards</a:t>
            </a:r>
          </a:p>
        </p:txBody>
      </p:sp>
      <p:sp>
        <p:nvSpPr>
          <p:cNvPr id="11" name="Google Shape;296;g103996e1364_0_10">
            <a:extLst>
              <a:ext uri="{FF2B5EF4-FFF2-40B4-BE49-F238E27FC236}">
                <a16:creationId xmlns:a16="http://schemas.microsoft.com/office/drawing/2014/main" id="{A6E18E39-B007-D647-9935-55A748533A45}"/>
              </a:ext>
            </a:extLst>
          </p:cNvPr>
          <p:cNvSpPr txBox="1">
            <a:spLocks/>
          </p:cNvSpPr>
          <p:nvPr/>
        </p:nvSpPr>
        <p:spPr>
          <a:xfrm>
            <a:off x="1101760" y="1516180"/>
            <a:ext cx="10422164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MA.K12.MTR.1.1 Actively participate in effortful learning both individually and collectively.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MA.K12.MTR.2.1 Demonstrate understanding by representing problems in multiple ways.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MA.K12.MTR.4.1 Engage in discussions that reflect on the mathematical thinking of self and others.</a:t>
            </a:r>
          </a:p>
          <a:p>
            <a:pPr marL="457200"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MA.K12.MTR.5.1 Use patterns and structure to help understand and connect mathematical concepts.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MA.K12.MTR.6.1 Assess the reasonableness of solutions.</a:t>
            </a:r>
          </a:p>
          <a:p>
            <a:pPr>
              <a:buSzPts val="523"/>
            </a:pP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  <a:p>
            <a:pPr>
              <a:buSzPts val="523"/>
            </a:pP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  <a:sym typeface="Verdana"/>
              </a:rPr>
              <a:t>MA.K12.MTR.7.1 </a:t>
            </a:r>
            <a:r>
              <a:rPr lang="en-US" sz="2000" dirty="0">
                <a:solidFill>
                  <a:schemeClr val="tx1"/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Apply mathematics to real-world contexts.</a:t>
            </a:r>
            <a:endParaRPr lang="en-US" sz="2000" dirty="0">
              <a:solidFill>
                <a:schemeClr val="tx1"/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  <a:sym typeface="Verdana"/>
            </a:endParaRPr>
          </a:p>
        </p:txBody>
      </p:sp>
      <p:sp>
        <p:nvSpPr>
          <p:cNvPr id="9" name="Google Shape;282;g104476d1465_1_17">
            <a:extLst>
              <a:ext uri="{FF2B5EF4-FFF2-40B4-BE49-F238E27FC236}">
                <a16:creationId xmlns:a16="http://schemas.microsoft.com/office/drawing/2014/main" id="{4B35EFD5-93A5-4844-9138-6D5B45E0395C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80842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 dirty="0">
              <a:highlight>
                <a:srgbClr val="FFFF00"/>
              </a:highlight>
            </a:endParaRPr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88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0" name="Google Shape;301;g103996e1364_0_16">
            <a:extLst>
              <a:ext uri="{FF2B5EF4-FFF2-40B4-BE49-F238E27FC236}">
                <a16:creationId xmlns:a16="http://schemas.microsoft.com/office/drawing/2014/main" id="{5771FBFA-7311-BB45-8AFF-04B380531EE6}"/>
              </a:ext>
            </a:extLst>
          </p:cNvPr>
          <p:cNvSpPr txBox="1">
            <a:spLocks/>
          </p:cNvSpPr>
          <p:nvPr/>
        </p:nvSpPr>
        <p:spPr>
          <a:xfrm>
            <a:off x="1065719" y="38885"/>
            <a:ext cx="79584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700" b="1" dirty="0">
                <a:solidFill>
                  <a:srgbClr val="52BDA6"/>
                </a:solidFill>
                <a:latin typeface="Verdana"/>
                <a:ea typeface="Verdana"/>
                <a:cs typeface="Verdana"/>
                <a:sym typeface="Verdana"/>
              </a:rPr>
              <a:t>Learning Target</a:t>
            </a:r>
          </a:p>
        </p:txBody>
      </p:sp>
      <p:pic>
        <p:nvPicPr>
          <p:cNvPr id="12" name="Google Shape;303;g103996e1364_0_16">
            <a:extLst>
              <a:ext uri="{FF2B5EF4-FFF2-40B4-BE49-F238E27FC236}">
                <a16:creationId xmlns:a16="http://schemas.microsoft.com/office/drawing/2014/main" id="{81DC7EB0-4FED-FC45-BAEC-D699ED5C2169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3557" y="32808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14" name="Google Shape;302;g103996e1364_0_16">
            <a:extLst>
              <a:ext uri="{FF2B5EF4-FFF2-40B4-BE49-F238E27FC236}">
                <a16:creationId xmlns:a16="http://schemas.microsoft.com/office/drawing/2014/main" id="{9B7C98EC-F13C-9146-B728-D7044DB4247D}"/>
              </a:ext>
            </a:extLst>
          </p:cNvPr>
          <p:cNvSpPr txBox="1">
            <a:spLocks/>
          </p:cNvSpPr>
          <p:nvPr/>
        </p:nvSpPr>
        <p:spPr>
          <a:xfrm>
            <a:off x="466344" y="1506876"/>
            <a:ext cx="11057580" cy="42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685800" indent="-685800">
              <a:buFont typeface="Wingdings" pitchFamily="2" charset="2"/>
              <a:buChar char="q"/>
            </a:pPr>
            <a:r>
              <a:rPr lang="en-US" sz="35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I can solve mathematical and real-world problems that involve the lengths formed by the intersection of two secants.</a:t>
            </a: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1E28378-6A82-BE4D-81C2-1D2341DE2BEB}"/>
              </a:ext>
            </a:extLst>
          </p:cNvPr>
          <p:cNvSpPr txBox="1"/>
          <p:nvPr/>
        </p:nvSpPr>
        <p:spPr>
          <a:xfrm>
            <a:off x="8889924" y="64658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237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071420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pic>
        <p:nvPicPr>
          <p:cNvPr id="312" name="Google Shape;312;g104476d1465_1_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35550" y="2879325"/>
            <a:ext cx="1031750" cy="10317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04820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Warm-Up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A1681B40-B7AB-CB48-A171-49AEC193F197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11964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6426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0465" y="56586"/>
            <a:ext cx="9785353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12.2.1 Warm-Up: Would You Rather?</a:t>
            </a:r>
          </a:p>
        </p:txBody>
      </p:sp>
      <p:pic>
        <p:nvPicPr>
          <p:cNvPr id="13" name="Google Shape;326;g103996e1364_0_25">
            <a:extLst>
              <a:ext uri="{FF2B5EF4-FFF2-40B4-BE49-F238E27FC236}">
                <a16:creationId xmlns:a16="http://schemas.microsoft.com/office/drawing/2014/main" id="{0B25478F-1F7B-DF44-A9BD-898178E878B3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63166" y="193746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1D7562E-134F-D14B-AF1A-DF40E11EF758}"/>
              </a:ext>
            </a:extLst>
          </p:cNvPr>
          <p:cNvSpPr txBox="1"/>
          <p:nvPr/>
        </p:nvSpPr>
        <p:spPr>
          <a:xfrm>
            <a:off x="551064" y="1382286"/>
            <a:ext cx="8327136" cy="44012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SzPct val="100000"/>
              <a:buFont typeface="+mj-lt"/>
              <a:buAutoNum type="arabi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Would you rather have …</a:t>
            </a: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SzPct val="100000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endParaRPr lang="en-US" sz="2000" dirty="0">
              <a:latin typeface="Verdana" panose="020B060403050404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457200" indent="-457200">
              <a:buSzPct val="100000"/>
              <a:buFont typeface="+mj-lt"/>
              <a:buAutoNum type="arabicPeriod" startAt="2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Explain your choice. 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35BE618B-376C-4A4D-A427-CE80A7C04EE0}"/>
              </a:ext>
            </a:extLst>
          </p:cNvPr>
          <p:cNvPicPr/>
          <p:nvPr/>
        </p:nvPicPr>
        <p:blipFill rotWithShape="1">
          <a:blip r:embed="rId5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978" t="8724" r="1901" b="10625"/>
          <a:stretch/>
        </p:blipFill>
        <p:spPr>
          <a:xfrm>
            <a:off x="3356953" y="2856936"/>
            <a:ext cx="5125720" cy="1887220"/>
          </a:xfrm>
          <a:prstGeom prst="rect">
            <a:avLst/>
          </a:prstGeom>
        </p:spPr>
      </p:pic>
      <p:sp>
        <p:nvSpPr>
          <p:cNvPr id="18" name="Google Shape;282;g104476d1465_1_17">
            <a:extLst>
              <a:ext uri="{FF2B5EF4-FFF2-40B4-BE49-F238E27FC236}">
                <a16:creationId xmlns:a16="http://schemas.microsoft.com/office/drawing/2014/main" id="{BB8DCCC9-6830-B94B-8407-79C2F0A54A31}"/>
              </a:ext>
            </a:extLst>
          </p:cNvPr>
          <p:cNvSpPr txBox="1"/>
          <p:nvPr/>
        </p:nvSpPr>
        <p:spPr>
          <a:xfrm>
            <a:off x="8878200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1980870"/>
                  </p:ext>
                </p:extLst>
              </p:nvPr>
            </p:nvGraphicFramePr>
            <p:xfrm>
              <a:off x="1042046" y="1851096"/>
              <a:ext cx="10470154" cy="10058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270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76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21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370840">
                    <a:tc>
                      <a:txBody>
                        <a:bodyPr/>
                        <a:lstStyle/>
                        <a:p>
                          <a:pPr marL="0" marR="0" indent="0" algn="ctr" defTabSz="914400" rtl="0" eaLnBrk="1" fontAlgn="auto" latinLnBrk="0" hangingPunct="1">
                            <a:lnSpc>
                              <a:spcPct val="100000"/>
                            </a:lnSpc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  <a:buClr>
                              <a:srgbClr val="000000"/>
                            </a:buClr>
                            <a:buSzTx/>
                            <a:buFont typeface="Arial"/>
                            <a:buNone/>
                            <a:tabLst/>
                            <a:defRPr/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A cube of gold, </a:t>
                          </a:r>
                          <a:b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</a:b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25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Times New Roman" panose="02020603050405020304" pitchFamily="18" charset="0"/>
                              <a:cs typeface="Times New Roman" panose="02020603050405020304" pitchFamily="18" charset="0"/>
                            </a:rPr>
                            <a:t> millimeters (mm) on each side …</a:t>
                          </a:r>
                          <a:endParaRPr lang="en-US" sz="2000" dirty="0">
                            <a:effectLst/>
                            <a:latin typeface="Cambria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endParaRP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OR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Two cubes of gold,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24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mm per side,</a:t>
                          </a: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</a:pPr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one is </a:t>
                          </a:r>
                          <a14:m>
                            <m:oMath xmlns:m="http://schemas.openxmlformats.org/officeDocument/2006/math">
                              <m:r>
                                <a:rPr lang="en-US" sz="2000" i="1">
                                  <a:effectLst/>
                                  <a:latin typeface="Cambria Math" panose="02040503050406030204" pitchFamily="18" charset="0"/>
                                  <a:ea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1</m:t>
                              </m:r>
                            </m:oMath>
                          </a14:m>
                          <a:r>
                            <a:rPr lang="en-US" sz="2000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 mm per side …</a:t>
                          </a:r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/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1980870"/>
                  </p:ext>
                </p:extLst>
              </p:nvPr>
            </p:nvGraphicFramePr>
            <p:xfrm>
              <a:off x="1042046" y="1851096"/>
              <a:ext cx="10470154" cy="1005840"/>
            </p:xfrm>
            <a:graphic>
              <a:graphicData uri="http://schemas.openxmlformats.org/drawingml/2006/table">
                <a:tbl>
                  <a:tblPr firstRow="1" bandRow="1">
                    <a:tableStyleId>{A91F0D33-8C57-4600-99A7-42BC86742BE1}</a:tableStyleId>
                  </a:tblPr>
                  <a:tblGrid>
                    <a:gridCol w="4270721">
                      <a:extLst>
                        <a:ext uri="{9D8B030D-6E8A-4147-A177-3AD203B41FA5}">
                          <a16:colId xmlns:a16="http://schemas.microsoft.com/office/drawing/2014/main" val="20000"/>
                        </a:ext>
                      </a:extLst>
                    </a:gridCol>
                    <a:gridCol w="1377652">
                      <a:extLst>
                        <a:ext uri="{9D8B030D-6E8A-4147-A177-3AD203B41FA5}">
                          <a16:colId xmlns:a16="http://schemas.microsoft.com/office/drawing/2014/main" val="20001"/>
                        </a:ext>
                      </a:extLst>
                    </a:gridCol>
                    <a:gridCol w="4821781">
                      <a:extLst>
                        <a:ext uri="{9D8B030D-6E8A-4147-A177-3AD203B41FA5}">
                          <a16:colId xmlns:a16="http://schemas.microsoft.com/office/drawing/2014/main" val="20002"/>
                        </a:ext>
                      </a:extLst>
                    </a:gridCol>
                  </a:tblGrid>
                  <a:tr h="100584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t="-3012" r="-145221" b="-10843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algn="ctr"/>
                          <a:r>
                            <a:rPr lang="en-PH" sz="2000" dirty="0">
                              <a:latin typeface="Verdana" pitchFamily="34" charset="0"/>
                              <a:ea typeface="Verdana" pitchFamily="34" charset="0"/>
                            </a:rPr>
                            <a:t>OR</a:t>
                          </a:r>
                          <a:endParaRPr lang="en-US" sz="2000" dirty="0">
                            <a:latin typeface="Verdana" pitchFamily="34" charset="0"/>
                            <a:ea typeface="Verdana" pitchFamily="34" charset="0"/>
                          </a:endParaRPr>
                        </a:p>
                      </a:txBody>
                      <a:tcPr anchor="ctr"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</a:tcPr>
                    </a:tc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>
                        <a:lnL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L>
                        <a:lnR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R>
                        <a:lnT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T>
                        <a:lnB w="9525" cap="flat" cmpd="sng">
                          <a:noFill/>
                          <a:prstDash val="solid"/>
                          <a:round/>
                          <a:headEnd type="none" w="sm" len="sm"/>
                          <a:tailEnd type="none" w="sm" len="sm"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6"/>
                          <a:stretch>
                            <a:fillRect l="-117045" t="-3012" b="-10843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10000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490299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98631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844350" y="2766145"/>
            <a:ext cx="439693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Exploration</a:t>
            </a:r>
            <a:endParaRPr sz="5100" b="1" dirty="0">
              <a:solidFill>
                <a:srgbClr val="33BEA6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1026" name="Picture 2" descr="Icon&#10;&#10;Description automatically generated">
            <a:extLst>
              <a:ext uri="{FF2B5EF4-FFF2-40B4-BE49-F238E27FC236}">
                <a16:creationId xmlns:a16="http://schemas.microsoft.com/office/drawing/2014/main" id="{467567E5-BEAF-E24A-A492-D25759172D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630950" y="2814305"/>
            <a:ext cx="1156228" cy="115622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44EEE3E6-A0FA-984F-A905-E607D1B59110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1969715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6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8" name="Google Shape;324;g103996e1364_0_25">
            <a:extLst>
              <a:ext uri="{FF2B5EF4-FFF2-40B4-BE49-F238E27FC236}">
                <a16:creationId xmlns:a16="http://schemas.microsoft.com/office/drawing/2014/main" id="{DB5796CA-12EB-BB4C-8338-B127D750A026}"/>
              </a:ext>
            </a:extLst>
          </p:cNvPr>
          <p:cNvSpPr txBox="1">
            <a:spLocks/>
          </p:cNvSpPr>
          <p:nvPr/>
        </p:nvSpPr>
        <p:spPr>
          <a:xfrm>
            <a:off x="1019464" y="321203"/>
            <a:ext cx="10504460" cy="480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2800" b="1" dirty="0">
                <a:solidFill>
                  <a:srgbClr val="33BEA6"/>
                </a:solidFill>
                <a:latin typeface="Verdana"/>
                <a:ea typeface="Verdana"/>
                <a:cs typeface="Verdana"/>
                <a:sym typeface="Verdana"/>
              </a:rPr>
              <a:t>12.2.2 Exploration: Intersecting Secant Lengths</a:t>
            </a:r>
          </a:p>
        </p:txBody>
      </p:sp>
      <p:pic>
        <p:nvPicPr>
          <p:cNvPr id="7" name="Picture 2" descr="Icon&#10;&#10;Description automatically generated">
            <a:extLst>
              <a:ext uri="{FF2B5EF4-FFF2-40B4-BE49-F238E27FC236}">
                <a16:creationId xmlns:a16="http://schemas.microsoft.com/office/drawing/2014/main" id="{A741EC39-D81C-A945-833B-CFC11AA40AE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63166" y="146524"/>
            <a:ext cx="752254" cy="75225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/>
              <p:nvPr/>
            </p:nvSpPr>
            <p:spPr>
              <a:xfrm>
                <a:off x="639292" y="2546184"/>
                <a:ext cx="10988857" cy="7085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is shown with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on the circle.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𝐴𝑇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𝐷𝑇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outside the circle.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𝑁𝑇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𝐶𝑇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52D1D4D-DCB8-A246-B186-D40316579D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39292" y="2546184"/>
                <a:ext cx="10988857" cy="708592"/>
              </a:xfrm>
              <a:prstGeom prst="rect">
                <a:avLst/>
              </a:prstGeom>
              <a:blipFill>
                <a:blip r:embed="rId5"/>
                <a:stretch>
                  <a:fillRect l="-610" t="-6034" b="-14655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0FF5538-CED4-6D48-8B3B-11627B654AA5}"/>
              </a:ext>
            </a:extLst>
          </p:cNvPr>
          <p:cNvSpPr/>
          <p:nvPr/>
        </p:nvSpPr>
        <p:spPr>
          <a:xfrm>
            <a:off x="2174082" y="1341800"/>
            <a:ext cx="8195223" cy="925059"/>
          </a:xfrm>
          <a:prstGeom prst="roundRect">
            <a:avLst>
              <a:gd name="adj" fmla="val 16667"/>
            </a:avLst>
          </a:prstGeom>
          <a:solidFill>
            <a:srgbClr val="D9EAD3"/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0" anchor="ctr" anchorCtr="0">
            <a:spAutoFit/>
          </a:bodyPr>
          <a:lstStyle/>
          <a:p>
            <a:pPr>
              <a:spcAft>
                <a:spcPts val="1000"/>
              </a:spcAft>
            </a:pPr>
            <a:r>
              <a:rPr lang="en-US" sz="2000" dirty="0">
                <a:solidFill>
                  <a:srgbClr val="6D983E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 i="1" dirty="0">
                <a:solidFill>
                  <a:srgbClr val="6D983E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secant</a:t>
            </a:r>
            <a:r>
              <a:rPr lang="en-US" sz="2000" dirty="0">
                <a:solidFill>
                  <a:srgbClr val="6D983E"/>
                </a:solidFill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is a line that passes through two points on a circle. In the interior of the circle, a secant line forms a chord.</a:t>
            </a:r>
            <a:endParaRPr lang="en-US" sz="2000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Google Shape;282;g104476d1465_1_17">
            <a:extLst>
              <a:ext uri="{FF2B5EF4-FFF2-40B4-BE49-F238E27FC236}">
                <a16:creationId xmlns:a16="http://schemas.microsoft.com/office/drawing/2014/main" id="{7CA8A421-F388-3147-BB91-ED8CFA961D69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4" name="Picture 13"/>
          <p:cNvPicPr/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57400" y="3429000"/>
            <a:ext cx="4805283" cy="31617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52480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1294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521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53505" y="520393"/>
            <a:ext cx="832713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/>
            </a:pPr>
            <a:r>
              <a:rPr lang="en-US" sz="2000" dirty="0">
                <a:latin typeface="Verdana" panose="020B060403050404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Complete the table.</a:t>
            </a:r>
            <a:endParaRPr lang="en-US" dirty="0">
              <a:latin typeface="Cambria" panose="020405030504060302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B11ACB9-A2C9-CE48-A83B-1F6AA4D396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8872344"/>
                  </p:ext>
                </p:extLst>
              </p:nvPr>
            </p:nvGraphicFramePr>
            <p:xfrm>
              <a:off x="1575173" y="1100341"/>
              <a:ext cx="8050815" cy="42975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46884">
                      <a:extLst>
                        <a:ext uri="{9D8B030D-6E8A-4147-A177-3AD203B41FA5}">
                          <a16:colId xmlns:a16="http://schemas.microsoft.com/office/drawing/2014/main" val="3763501344"/>
                        </a:ext>
                      </a:extLst>
                    </a:gridCol>
                    <a:gridCol w="3757047">
                      <a:extLst>
                        <a:ext uri="{9D8B030D-6E8A-4147-A177-3AD203B41FA5}">
                          <a16:colId xmlns:a16="http://schemas.microsoft.com/office/drawing/2014/main" val="305900884"/>
                        </a:ext>
                      </a:extLst>
                    </a:gridCol>
                    <a:gridCol w="2146884">
                      <a:extLst>
                        <a:ext uri="{9D8B030D-6E8A-4147-A177-3AD203B41FA5}">
                          <a16:colId xmlns:a16="http://schemas.microsoft.com/office/drawing/2014/main" val="562488236"/>
                        </a:ext>
                      </a:extLst>
                    </a:gridCol>
                  </a:tblGrid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3333141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𝐴𝑁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∙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𝑁𝑇</m:t>
                                </m:r>
                              </m:oMath>
                            </m:oMathPara>
                          </a14:m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1841620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𝐴𝑁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∙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𝐴𝑇</m:t>
                                </m:r>
                              </m:oMath>
                            </m:oMathPara>
                          </a14:m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30375833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𝐴𝑇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∙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𝑁𝑇</m:t>
                                </m:r>
                              </m:oMath>
                            </m:oMathPara>
                          </a14:m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3237444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𝐷𝐶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∙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𝐶𝑇</m:t>
                                </m:r>
                              </m:oMath>
                            </m:oMathPara>
                          </a14:m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755574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𝐷𝐶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∙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𝐷𝑇</m:t>
                                </m:r>
                              </m:oMath>
                            </m:oMathPara>
                          </a14:m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465707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𝐷𝑇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∙</m:t>
                                </m:r>
                                <m:r>
                                  <a:rPr lang="en-US" sz="2600" i="1">
                                    <a:solidFill>
                                      <a:srgbClr val="000000"/>
                                    </a:solidFill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Arial" panose="020B0604020202020204" pitchFamily="34" charset="0"/>
                                  </a:rPr>
                                  <m:t>𝐶𝑇</m:t>
                                </m:r>
                              </m:oMath>
                            </m:oMathPara>
                          </a14:m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0015559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2B11ACB9-A2C9-CE48-A83B-1F6AA4D3964B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198872344"/>
                  </p:ext>
                </p:extLst>
              </p:nvPr>
            </p:nvGraphicFramePr>
            <p:xfrm>
              <a:off x="1575173" y="1100341"/>
              <a:ext cx="8050815" cy="4297566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2146884">
                      <a:extLst>
                        <a:ext uri="{9D8B030D-6E8A-4147-A177-3AD203B41FA5}">
                          <a16:colId xmlns:a16="http://schemas.microsoft.com/office/drawing/2014/main" val="3763501344"/>
                        </a:ext>
                      </a:extLst>
                    </a:gridCol>
                    <a:gridCol w="3757047">
                      <a:extLst>
                        <a:ext uri="{9D8B030D-6E8A-4147-A177-3AD203B41FA5}">
                          <a16:colId xmlns:a16="http://schemas.microsoft.com/office/drawing/2014/main" val="305900884"/>
                        </a:ext>
                      </a:extLst>
                    </a:gridCol>
                    <a:gridCol w="2146884">
                      <a:extLst>
                        <a:ext uri="{9D8B030D-6E8A-4147-A177-3AD203B41FA5}">
                          <a16:colId xmlns:a16="http://schemas.microsoft.com/office/drawing/2014/main" val="562488236"/>
                        </a:ext>
                      </a:extLst>
                    </a:gridCol>
                  </a:tblGrid>
                  <a:tr h="613938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Product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Work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b="1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Answer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2853333141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7" t="-101980" r="-275354" b="-5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3851841620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7" t="-201980" r="-275354" b="-40198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130375833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7" t="-305000" r="-275354" b="-30600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413237444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7" t="-400990" r="-275354" b="-20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89755574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7" t="-500990" r="-275354" b="-10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108465707"/>
                      </a:ext>
                    </a:extLst>
                  </a:tr>
                  <a:tr h="613938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4"/>
                          <a:stretch>
                            <a:fillRect l="-567" t="-600990" r="-275354" b="-2970"/>
                          </a:stretch>
                        </a:blipFill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600" dirty="0">
                              <a:solidFill>
                                <a:srgbClr val="000000"/>
                              </a:solidFill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 </a:t>
                          </a:r>
                          <a:endParaRPr lang="en-US" sz="26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L="106840" marR="106840" marT="106840" marB="106840" anchor="ctr">
                        <a:lnL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9050" cap="flat" cmpd="sng" algn="ctr">
                          <a:solidFill>
                            <a:schemeClr val="tx1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810015559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3476A2F6-15CF-5542-AEDA-15E6F799F045}"/>
              </a:ext>
            </a:extLst>
          </p:cNvPr>
          <p:cNvSpPr txBox="1"/>
          <p:nvPr/>
        </p:nvSpPr>
        <p:spPr>
          <a:xfrm>
            <a:off x="887698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238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9823303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0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2FA392D8-3ED3-7940-83A8-1451AA8A08D4}"/>
              </a:ext>
            </a:extLst>
          </p:cNvPr>
          <p:cNvSpPr txBox="1"/>
          <p:nvPr/>
        </p:nvSpPr>
        <p:spPr>
          <a:xfrm>
            <a:off x="540564" y="528618"/>
            <a:ext cx="11087585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914400" indent="-457200">
              <a:buFont typeface="+mj-lt"/>
              <a:buAutoNum type="alphaLcPeriod" startAt="2"/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Discuss the following with your partner.</a:t>
            </a:r>
          </a:p>
          <a:p>
            <a:pPr marL="685800"/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 </a:t>
            </a:r>
          </a:p>
          <a:p>
            <a:pPr marL="1188720" lvl="1" indent="-285750">
              <a:buFont typeface="Symbol" pitchFamily="2" charset="2"/>
              <a:buChar char=""/>
              <a:tabLst>
                <a:tab pos="6858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your answers?</a:t>
            </a:r>
          </a:p>
          <a:p>
            <a:pPr marL="1188720">
              <a:tabLst>
                <a:tab pos="685800" algn="l"/>
              </a:tabLst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88720">
              <a:tabLst>
                <a:tab pos="685800" algn="l"/>
              </a:tabLst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88720">
              <a:tabLst>
                <a:tab pos="685800" algn="l"/>
              </a:tabLst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88720">
              <a:tabLst>
                <a:tab pos="685800" algn="l"/>
              </a:tabLst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88720">
              <a:tabLst>
                <a:tab pos="685800" algn="l"/>
              </a:tabLst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88720">
              <a:tabLst>
                <a:tab pos="685800" algn="l"/>
              </a:tabLst>
            </a:pPr>
            <a:endParaRPr lang="en-PH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88720">
              <a:tabLst>
                <a:tab pos="685800" algn="l"/>
              </a:tabLst>
            </a:pPr>
            <a:endParaRPr lang="en-US" sz="20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1188720" lvl="1" indent="-285750">
              <a:buFont typeface="Symbol" pitchFamily="2" charset="2"/>
              <a:buChar char=""/>
              <a:tabLst>
                <a:tab pos="685800" algn="l"/>
              </a:tabLst>
            </a:pPr>
            <a:r>
              <a:rPr lang="en-US" sz="20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What do you notice about the secant segments for the rows that have the same answer?</a:t>
            </a:r>
          </a:p>
        </p:txBody>
      </p:sp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241916F-E64F-CB4A-8517-342A156EE5A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09160420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iagram, engineering drawing&#10;&#10;Description automatically generated">
            <a:extLst>
              <a:ext uri="{FF2B5EF4-FFF2-40B4-BE49-F238E27FC236}">
                <a16:creationId xmlns:a16="http://schemas.microsoft.com/office/drawing/2014/main" id="{2E9DA443-53B1-3743-90EC-2D7242B983D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42977" y="453011"/>
            <a:ext cx="4185173" cy="3641559"/>
          </a:xfrm>
          <a:prstGeom prst="rect">
            <a:avLst/>
          </a:prstGeom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6" y="520392"/>
                <a:ext cx="7099099" cy="101566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914400" indent="-457200">
                  <a:buFont typeface="+mj-lt"/>
                  <a:buAutoNum type="alphaL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With your partner, use the diagram of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write a formula that can be used to find the segment lengths of intersecting secants.</a:t>
                </a: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6" y="520392"/>
                <a:ext cx="7099099" cy="1015663"/>
              </a:xfrm>
              <a:prstGeom prst="rect">
                <a:avLst/>
              </a:prstGeom>
              <a:blipFill>
                <a:blip r:embed="rId5"/>
                <a:stretch>
                  <a:fillRect t="-3593" r="-1031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1241916F-E64F-CB4A-8517-342A156EE5A3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F789696-44F5-E84F-9494-D973A370418B}"/>
              </a:ext>
            </a:extLst>
          </p:cNvPr>
          <p:cNvGrpSpPr/>
          <p:nvPr/>
        </p:nvGrpSpPr>
        <p:grpSpPr>
          <a:xfrm>
            <a:off x="1204243" y="4600256"/>
            <a:ext cx="7940985" cy="1804733"/>
            <a:chOff x="-1" y="207043"/>
            <a:chExt cx="7941573" cy="2090728"/>
          </a:xfrm>
        </p:grpSpPr>
        <p:sp>
          <p:nvSpPr>
            <p:cNvPr id="8" name="Rounded Rectangle 7">
              <a:extLst>
                <a:ext uri="{FF2B5EF4-FFF2-40B4-BE49-F238E27FC236}">
                  <a16:creationId xmlns:a16="http://schemas.microsoft.com/office/drawing/2014/main" id="{72BD7488-F472-3D4C-B4FD-1B769EF15059}"/>
                </a:ext>
              </a:extLst>
            </p:cNvPr>
            <p:cNvSpPr/>
            <p:nvPr/>
          </p:nvSpPr>
          <p:spPr>
            <a:xfrm>
              <a:off x="-1" y="207043"/>
              <a:ext cx="7941573" cy="2090728"/>
            </a:xfrm>
            <a:prstGeom prst="roundRect">
              <a:avLst>
                <a:gd name="adj" fmla="val 16667"/>
              </a:avLst>
            </a:prstGeom>
            <a:solidFill>
              <a:srgbClr val="AEDBF1"/>
            </a:solidFill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spcFirstLastPara="1" wrap="square" lIns="91425" tIns="91425" rIns="91425" bIns="0" anchor="ctr" anchorCtr="0">
              <a:spAutoFit/>
            </a:bodyPr>
            <a:lstStyle/>
            <a:p>
              <a:pPr marL="685800"/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If two secants intersect outside a circle, then the product of the lengths of one secant segment and its external secant segment equals the product</a:t>
              </a:r>
              <a:r>
                <a:rPr lang="en-US" sz="2000" b="1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 </a:t>
              </a:r>
              <a:r>
                <a:rPr lang="en-US" sz="2000" dirty="0">
                  <a:solidFill>
                    <a:srgbClr val="00619E"/>
                  </a:solidFill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rPr>
                <a:t>of the lengths of the other secant segment and its external secant segment.</a:t>
              </a:r>
              <a:endParaRPr lang="en-US" sz="2000" dirty="0">
                <a:latin typeface="Cambria" panose="02040503050406030204" pitchFamily="18" charset="0"/>
                <a:ea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pic>
          <p:nvPicPr>
            <p:cNvPr id="9" name="Shape 6" descr="Icon&#10;&#10;Description automatically generated">
              <a:extLst>
                <a:ext uri="{FF2B5EF4-FFF2-40B4-BE49-F238E27FC236}">
                  <a16:creationId xmlns:a16="http://schemas.microsoft.com/office/drawing/2014/main" id="{A6871409-D0D4-3344-B6A3-F8847D879AD8}"/>
                </a:ext>
              </a:extLst>
            </p:cNvPr>
            <p:cNvPicPr/>
            <p:nvPr/>
          </p:nvPicPr>
          <p:blipFill>
            <a:blip r:embed="rId6">
              <a:alphaModFix/>
            </a:blip>
            <a:stretch>
              <a:fillRect/>
            </a:stretch>
          </p:blipFill>
          <p:spPr>
            <a:xfrm>
              <a:off x="174491" y="429000"/>
              <a:ext cx="548681" cy="635583"/>
            </a:xfrm>
            <a:prstGeom prst="rect">
              <a:avLst/>
            </a:prstGeom>
            <a:noFill/>
            <a:ln>
              <a:noFill/>
            </a:ln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</p:spTree>
    <p:extLst>
      <p:ext uri="{BB962C8B-B14F-4D97-AF65-F5344CB8AC3E}">
        <p14:creationId xmlns:p14="http://schemas.microsoft.com/office/powerpoint/2010/main" val="30619834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0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25955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Guided Practice</a:t>
            </a:r>
            <a:endParaRPr sz="5100" b="1" dirty="0">
              <a:solidFill>
                <a:srgbClr val="54B5D1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9218" name="Picture 2" descr="Icon&#10;&#10;Description automatically generated">
            <a:extLst>
              <a:ext uri="{FF2B5EF4-FFF2-40B4-BE49-F238E27FC236}">
                <a16:creationId xmlns:a16="http://schemas.microsoft.com/office/drawing/2014/main" id="{B02E8C6A-53AD-AA4E-A4ED-406F3B0E370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4512723" y="2852923"/>
            <a:ext cx="1152144" cy="1152144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010C63E1-A709-B140-9C29-3DA2C9E76BB2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6930146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-13605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343;g103996e1364_0_321">
            <a:extLst>
              <a:ext uri="{FF2B5EF4-FFF2-40B4-BE49-F238E27FC236}">
                <a16:creationId xmlns:a16="http://schemas.microsoft.com/office/drawing/2014/main" id="{21B1DF8E-16A0-FA4E-8CEB-434668DFA68D}"/>
              </a:ext>
            </a:extLst>
          </p:cNvPr>
          <p:cNvSpPr txBox="1">
            <a:spLocks/>
          </p:cNvSpPr>
          <p:nvPr/>
        </p:nvSpPr>
        <p:spPr>
          <a:xfrm>
            <a:off x="1017557" y="-8225"/>
            <a:ext cx="10863718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54B5D1"/>
                </a:solidFill>
                <a:latin typeface="Verdana"/>
                <a:ea typeface="Verdana"/>
                <a:cs typeface="Verdana"/>
                <a:sym typeface="Verdana"/>
              </a:rPr>
              <a:t>12.2.3 Guided Practice: Solving Problems Involving Intersecting Secant Lengths</a:t>
            </a:r>
          </a:p>
        </p:txBody>
      </p:sp>
      <p:pic>
        <p:nvPicPr>
          <p:cNvPr id="8" name="Picture 2" descr="Icon&#10;&#10;Description automatically generated">
            <a:extLst>
              <a:ext uri="{FF2B5EF4-FFF2-40B4-BE49-F238E27FC236}">
                <a16:creationId xmlns:a16="http://schemas.microsoft.com/office/drawing/2014/main" id="{B3C42596-1BDF-794D-A82A-7C54635CB8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289237" y="128815"/>
            <a:ext cx="749808" cy="749808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/>
              <p:nvPr/>
            </p:nvSpPr>
            <p:spPr>
              <a:xfrm>
                <a:off x="664140" y="1807741"/>
                <a:ext cx="7948917" cy="1016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𝐴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with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𝑆𝐷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is shown.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𝑆𝐷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outside the circle so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𝐷𝐺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Solve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31D40250-DEDD-2C41-8538-3D4DD18CCC4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4140" y="1807741"/>
                <a:ext cx="7948917" cy="1016368"/>
              </a:xfrm>
              <a:prstGeom prst="rect">
                <a:avLst/>
              </a:prstGeom>
              <a:blipFill>
                <a:blip r:embed="rId5"/>
                <a:stretch>
                  <a:fillRect l="-844" t="-4217" b="-1024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F27B91D0-9754-5C42-BE1F-AAD593AB809C}"/>
              </a:ext>
            </a:extLst>
          </p:cNvPr>
          <p:cNvPicPr/>
          <p:nvPr/>
        </p:nvPicPr>
        <p:blipFill rotWithShape="1">
          <a:blip r:embed="rId6"/>
          <a:srcRect l="6718" r="12565" b="2731"/>
          <a:stretch/>
        </p:blipFill>
        <p:spPr>
          <a:xfrm>
            <a:off x="8889924" y="1807741"/>
            <a:ext cx="2595537" cy="4064739"/>
          </a:xfrm>
          <a:prstGeom prst="rect">
            <a:avLst/>
          </a:prstGeom>
        </p:spPr>
      </p:pic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52F830B1-C10B-2C4F-8B25-99F35BF8FDA0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239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745523323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2974" t="9700"/>
          <a:stretch/>
        </p:blipFill>
        <p:spPr bwMode="auto">
          <a:xfrm>
            <a:off x="2650775" y="1521778"/>
            <a:ext cx="3956050" cy="287972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05927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5" y="520394"/>
                <a:ext cx="11065362" cy="101636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is shown, where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𝑁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are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𝑇𝐷</m:t>
                        </m:r>
                      </m:e>
                    </m:acc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𝐶𝐷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𝐷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 outside the circle such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𝑇𝐹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=7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=9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𝐶𝑁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=5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, and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𝑁𝐷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=4</m:t>
                    </m:r>
                    <m:r>
                      <a:rPr lang="en-US" sz="2000" b="0" i="1" smtClean="0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Determine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Arial" panose="020B0604020202020204" pitchFamily="34" charset="0"/>
                  </a:rPr>
                  <a:t>. </a:t>
                </a:r>
                <a:endParaRPr lang="en-US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5" y="520394"/>
                <a:ext cx="11065362" cy="1016368"/>
              </a:xfrm>
              <a:prstGeom prst="rect">
                <a:avLst/>
              </a:prstGeom>
              <a:blipFill>
                <a:blip r:embed="rId5"/>
                <a:stretch>
                  <a:fillRect l="-606" t="-3593" b="-958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34A5F175-CD4B-3841-BD42-EFD326D95325}"/>
              </a:ext>
            </a:extLst>
          </p:cNvPr>
          <p:cNvSpPr txBox="1"/>
          <p:nvPr/>
        </p:nvSpPr>
        <p:spPr>
          <a:xfrm>
            <a:off x="8867701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42222322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4" y="520394"/>
                <a:ext cx="7689035" cy="286232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3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Leon Sinks Geologic Area is located in Apalachicola National Forest. The area has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18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sinkholes, many of which create a cave system. A park ranger mapped a circular sinkhole. His diagram is shown, where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𝑉𝐾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𝑉𝑊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such that points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on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𝑆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outside the circle.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</m:t>
                    </m:r>
                    <m:d>
                      <m:dPr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d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4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𝑥</m:t>
                        </m:r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+4.25</m:t>
                        </m:r>
                      </m:e>
                    </m:d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meters (m),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𝑉𝐵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=12.75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m, </a:t>
                </a:r>
              </a:p>
              <a:p>
                <a:pPr marL="457200"/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=(3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+5.5)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=14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m. Find the distance, in meters, from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𝐾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to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4" y="520394"/>
                <a:ext cx="7689035" cy="2862322"/>
              </a:xfrm>
              <a:prstGeom prst="rect">
                <a:avLst/>
              </a:prstGeom>
              <a:blipFill>
                <a:blip r:embed="rId4"/>
                <a:stretch>
                  <a:fillRect l="-872" t="-1277" r="-1348" b="-276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Apalachicola National Forest - Wikitravel">
            <a:extLst>
              <a:ext uri="{FF2B5EF4-FFF2-40B4-BE49-F238E27FC236}">
                <a16:creationId xmlns:a16="http://schemas.microsoft.com/office/drawing/2014/main" id="{B297EA01-F912-BF41-899E-55DBFAAE5913}"/>
              </a:ext>
            </a:extLst>
          </p:cNvPr>
          <p:cNvPicPr/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  <a:ext uri="{837473B0-CC2E-450A-ABE3-18F120FF3D39}">
                <a1611:picAttrSrcUrl xmlns:a1611="http://schemas.microsoft.com/office/drawing/2016/11/main" r:id="rId6"/>
              </a:ext>
            </a:extLst>
          </a:blip>
          <a:stretch>
            <a:fillRect/>
          </a:stretch>
        </p:blipFill>
        <p:spPr>
          <a:xfrm>
            <a:off x="8510943" y="520394"/>
            <a:ext cx="3232785" cy="21596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6DB6EAE4-825D-4A40-99FF-2731261EE789}"/>
              </a:ext>
            </a:extLst>
          </p:cNvPr>
          <p:cNvPicPr/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9551" t="7831"/>
          <a:stretch/>
        </p:blipFill>
        <p:spPr bwMode="auto">
          <a:xfrm>
            <a:off x="8889924" y="2792583"/>
            <a:ext cx="2621280" cy="303339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081DC84-651A-E14A-BDFA-670C66819AD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240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14760850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664867" y="2766145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Your Turn</a:t>
            </a:r>
            <a:endParaRPr sz="5100" b="1" dirty="0">
              <a:solidFill>
                <a:srgbClr val="E24E5F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8" name="Google Shape;423;g103996e1364_0_416">
            <a:extLst>
              <a:ext uri="{FF2B5EF4-FFF2-40B4-BE49-F238E27FC236}">
                <a16:creationId xmlns:a16="http://schemas.microsoft.com/office/drawing/2014/main" id="{93D338D9-F4F3-AC46-BAB5-0DC7D391667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12728" y="2897929"/>
            <a:ext cx="1122440" cy="106214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7" name="Google Shape;282;g104476d1465_1_17">
            <a:extLst>
              <a:ext uri="{FF2B5EF4-FFF2-40B4-BE49-F238E27FC236}">
                <a16:creationId xmlns:a16="http://schemas.microsoft.com/office/drawing/2014/main" id="{9F7756F2-9E87-0E4D-8CEB-73C753C8B023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79083965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6" name="Google Shape;428;g103996e1364_0_428">
            <a:extLst>
              <a:ext uri="{FF2B5EF4-FFF2-40B4-BE49-F238E27FC236}">
                <a16:creationId xmlns:a16="http://schemas.microsoft.com/office/drawing/2014/main" id="{07112538-C7A8-8B4A-B739-C3032B04086A}"/>
              </a:ext>
            </a:extLst>
          </p:cNvPr>
          <p:cNvSpPr txBox="1">
            <a:spLocks/>
          </p:cNvSpPr>
          <p:nvPr/>
        </p:nvSpPr>
        <p:spPr>
          <a:xfrm>
            <a:off x="1037988" y="61244"/>
            <a:ext cx="8019300" cy="74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4300" b="1" dirty="0">
                <a:solidFill>
                  <a:srgbClr val="E24E5F"/>
                </a:solidFill>
                <a:latin typeface="Verdana"/>
                <a:ea typeface="Verdana"/>
                <a:cs typeface="Verdana"/>
                <a:sym typeface="Verdana"/>
              </a:rPr>
              <a:t>12.2.4 Your Turn!</a:t>
            </a:r>
          </a:p>
        </p:txBody>
      </p:sp>
      <p:pic>
        <p:nvPicPr>
          <p:cNvPr id="9" name="Google Shape;430;g103996e1364_0_428">
            <a:extLst>
              <a:ext uri="{FF2B5EF4-FFF2-40B4-BE49-F238E27FC236}">
                <a16:creationId xmlns:a16="http://schemas.microsoft.com/office/drawing/2014/main" id="{032D5487-B5A9-DE4B-AE87-33198BE16145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90688" y="61244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/>
              <p:nvPr/>
            </p:nvSpPr>
            <p:spPr>
              <a:xfrm>
                <a:off x="578586" y="1077251"/>
                <a:ext cx="11049564" cy="156966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/>
                </a:pP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Circle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𝐸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has points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on the circle. Secants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𝑅𝑍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 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𝑀𝑍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intersect at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𝑍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outside the circle.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𝑀𝑍</m:t>
                        </m:r>
                      </m:e>
                    </m:acc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point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is on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4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Arial" panose="020B0604020202020204" pitchFamily="34" charset="0"/>
                          </a:rPr>
                          <m:t>𝑅𝑍</m:t>
                        </m:r>
                      </m:e>
                    </m:acc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.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𝑀𝐺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=10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𝐺𝑍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=8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𝑅𝐹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=2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−17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𝐹𝑍</m:t>
                    </m:r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=9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</a:t>
                </a:r>
                <a:b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Solve for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Arial" panose="020B0604020202020204" pitchFamily="34" charset="0"/>
                      </a:rPr>
                      <m:t>𝑥</m:t>
                    </m:r>
                  </m:oMath>
                </a14:m>
                <a:r>
                  <a:rPr lang="en-US" sz="24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</a:t>
                </a: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759C3E41-93EC-B84D-963F-86A3B15AC1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586" y="1077251"/>
                <a:ext cx="11049564" cy="1569660"/>
              </a:xfrm>
              <a:prstGeom prst="rect">
                <a:avLst/>
              </a:prstGeom>
              <a:blipFill>
                <a:blip r:embed="rId5"/>
                <a:stretch>
                  <a:fillRect l="-883" t="-3502" b="-778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Google Shape;282;g104476d1465_1_17">
            <a:extLst>
              <a:ext uri="{FF2B5EF4-FFF2-40B4-BE49-F238E27FC236}">
                <a16:creationId xmlns:a16="http://schemas.microsoft.com/office/drawing/2014/main" id="{95CAD208-AB9B-6341-8D8A-FE492AF2BCBD}"/>
              </a:ext>
            </a:extLst>
          </p:cNvPr>
          <p:cNvSpPr txBox="1"/>
          <p:nvPr/>
        </p:nvSpPr>
        <p:spPr>
          <a:xfrm>
            <a:off x="8889924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1012998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8" name="Google Shape;278;g104476d1465_1_17"/>
          <p:cNvSpPr/>
          <p:nvPr/>
        </p:nvSpPr>
        <p:spPr>
          <a:xfrm>
            <a:off x="0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/>
              <p:nvPr/>
            </p:nvSpPr>
            <p:spPr>
              <a:xfrm>
                <a:off x="540563" y="520393"/>
                <a:ext cx="8928377" cy="193899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Font typeface="+mj-lt"/>
                  <a:buAutoNum type="arabicPeriod" startAt="2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T</a:t>
                </a: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ammie was calculating the distance between her favorite places to visit in Epcot.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𝐸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represents the World Showcase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𝑀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are on the circle and point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is outside the circle at Spaceship Earth. Tammie knows that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𝑅𝐵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=975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feet (ft),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𝐵𝑉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=1425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ft,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𝑉𝑀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=1250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 ft. What is the length of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𝑀𝑇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</a:b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in feet?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2FA392D8-3ED3-7940-83A8-1451AA8A08D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563" y="520393"/>
                <a:ext cx="8928377" cy="1938992"/>
              </a:xfrm>
              <a:prstGeom prst="rect">
                <a:avLst/>
              </a:prstGeom>
              <a:blipFill>
                <a:blip r:embed="rId4"/>
                <a:stretch>
                  <a:fillRect l="-751" t="-1887" r="-888" b="-471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F081DC84-651A-E14A-BDFA-670C66819ADD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" name="Picture 8" descr="Diagram&#10;&#10;Description automatically generated"/>
          <p:cNvPicPr/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3237" t="2192" r="2929" b="2578"/>
          <a:stretch/>
        </p:blipFill>
        <p:spPr bwMode="auto">
          <a:xfrm>
            <a:off x="9468941" y="520393"/>
            <a:ext cx="2182495" cy="32702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77348527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104476d1465_1_39"/>
          <p:cNvSpPr/>
          <p:nvPr/>
        </p:nvSpPr>
        <p:spPr>
          <a:xfrm>
            <a:off x="0" y="-8225"/>
            <a:ext cx="2731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311" name="Google Shape;311;g104476d1465_1_39"/>
          <p:cNvPicPr preferRelativeResize="0"/>
          <p:nvPr/>
        </p:nvPicPr>
        <p:blipFill>
          <a:blip r:embed="rId3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28150" y="6200599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313" name="Google Shape;313;g104476d1465_1_39"/>
          <p:cNvSpPr txBox="1">
            <a:spLocks noGrp="1"/>
          </p:cNvSpPr>
          <p:nvPr>
            <p:ph type="title" idx="4294967295"/>
          </p:nvPr>
        </p:nvSpPr>
        <p:spPr>
          <a:xfrm>
            <a:off x="5250339" y="2779100"/>
            <a:ext cx="4480750" cy="13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algn="ctr">
              <a:buClr>
                <a:schemeClr val="lt1"/>
              </a:buClr>
              <a:buSzPts val="4800"/>
            </a:pPr>
            <a:r>
              <a:rPr lang="en-US" sz="55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Wrap-Up</a:t>
            </a:r>
            <a:endParaRPr sz="5100" b="1" dirty="0">
              <a:solidFill>
                <a:srgbClr val="3F2A67"/>
              </a:solidFill>
              <a:latin typeface="Verdana"/>
              <a:ea typeface="Verdana"/>
              <a:cs typeface="Verdana"/>
              <a:sym typeface="Verdana"/>
            </a:endParaRPr>
          </a:p>
        </p:txBody>
      </p:sp>
      <p:pic>
        <p:nvPicPr>
          <p:cNvPr id="7" name="Google Shape;450;g103996e1364_0_457">
            <a:extLst>
              <a:ext uri="{FF2B5EF4-FFF2-40B4-BE49-F238E27FC236}">
                <a16:creationId xmlns:a16="http://schemas.microsoft.com/office/drawing/2014/main" id="{DE95225C-59B5-E847-AFA2-B83DCFFA10D8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429333" y="2933695"/>
            <a:ext cx="1008299" cy="101651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8" name="Google Shape;282;g104476d1465_1_17">
            <a:extLst>
              <a:ext uri="{FF2B5EF4-FFF2-40B4-BE49-F238E27FC236}">
                <a16:creationId xmlns:a16="http://schemas.microsoft.com/office/drawing/2014/main" id="{50B5F894-4CB3-4B46-A8B5-B5D02EDD1BE7}"/>
              </a:ext>
            </a:extLst>
          </p:cNvPr>
          <p:cNvSpPr txBox="1"/>
          <p:nvPr/>
        </p:nvSpPr>
        <p:spPr>
          <a:xfrm>
            <a:off x="8889924" y="6457674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6769087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>
            <a:extLst>
              <a:ext uri="{FF2B5EF4-FFF2-40B4-BE49-F238E27FC236}">
                <a16:creationId xmlns:a16="http://schemas.microsoft.com/office/drawing/2014/main" id="{E0102A5B-6873-BD4A-AA51-F8119B1FD2D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4089" t="6659" r="6246" b="8428"/>
          <a:stretch/>
        </p:blipFill>
        <p:spPr bwMode="auto">
          <a:xfrm>
            <a:off x="4710760" y="2272300"/>
            <a:ext cx="3538220" cy="23050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78" name="Google Shape;278;g104476d1465_1_17"/>
          <p:cNvSpPr/>
          <p:nvPr/>
        </p:nvSpPr>
        <p:spPr>
          <a:xfrm>
            <a:off x="-46056" y="-8225"/>
            <a:ext cx="223200" cy="6866100"/>
          </a:xfrm>
          <a:prstGeom prst="rect">
            <a:avLst/>
          </a:prstGeom>
          <a:solidFill>
            <a:srgbClr val="822574"/>
          </a:solidFill>
          <a:ln w="9525" cap="flat" cmpd="sng">
            <a:solidFill>
              <a:srgbClr val="822574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/>
          </a:p>
        </p:txBody>
      </p:sp>
      <p:pic>
        <p:nvPicPr>
          <p:cNvPr id="283" name="Google Shape;283;g104476d1465_1_17"/>
          <p:cNvPicPr preferRelativeResize="0"/>
          <p:nvPr/>
        </p:nvPicPr>
        <p:blipFill>
          <a:blip r:embed="rId4" cstate="screen">
            <a:alphaModFix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612554" y="6200724"/>
            <a:ext cx="563850" cy="657276"/>
          </a:xfrm>
          <a:prstGeom prst="rect">
            <a:avLst/>
          </a:prstGeom>
          <a:noFill/>
          <a:ln>
            <a:noFill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</p:pic>
      <p:sp>
        <p:nvSpPr>
          <p:cNvPr id="7" name="Google Shape;456;g103996e1364_0_463">
            <a:extLst>
              <a:ext uri="{FF2B5EF4-FFF2-40B4-BE49-F238E27FC236}">
                <a16:creationId xmlns:a16="http://schemas.microsoft.com/office/drawing/2014/main" id="{68C03D65-F0BF-3F41-B52A-024F47388982}"/>
              </a:ext>
            </a:extLst>
          </p:cNvPr>
          <p:cNvSpPr txBox="1">
            <a:spLocks/>
          </p:cNvSpPr>
          <p:nvPr/>
        </p:nvSpPr>
        <p:spPr>
          <a:xfrm>
            <a:off x="1088744" y="284834"/>
            <a:ext cx="9338366" cy="5908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lnSpc>
                <a:spcPct val="90000"/>
              </a:lnSpc>
              <a:buClr>
                <a:schemeClr val="dk1"/>
              </a:buClr>
              <a:buSzPts val="5400"/>
              <a:buFont typeface="Century Gothic"/>
              <a:buNone/>
            </a:pPr>
            <a:r>
              <a:rPr lang="en-US" sz="3600" b="1" dirty="0">
                <a:solidFill>
                  <a:srgbClr val="3F2A67"/>
                </a:solidFill>
                <a:latin typeface="Verdana"/>
                <a:ea typeface="Verdana"/>
                <a:cs typeface="Verdana"/>
                <a:sym typeface="Verdana"/>
              </a:rPr>
              <a:t>12.2.5 Wrap-Up: Error Analysis</a:t>
            </a:r>
          </a:p>
        </p:txBody>
      </p:sp>
      <p:pic>
        <p:nvPicPr>
          <p:cNvPr id="9" name="Google Shape;458;g103996e1364_0_463">
            <a:extLst>
              <a:ext uri="{FF2B5EF4-FFF2-40B4-BE49-F238E27FC236}">
                <a16:creationId xmlns:a16="http://schemas.microsoft.com/office/drawing/2014/main" id="{EEA44D6C-2366-AC41-B1B5-EDDC34786A66}"/>
              </a:ext>
            </a:extLst>
          </p:cNvPr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259294" y="155575"/>
            <a:ext cx="747300" cy="74730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/>
              <p:nvPr/>
            </p:nvSpPr>
            <p:spPr>
              <a:xfrm>
                <a:off x="547192" y="1186001"/>
                <a:ext cx="11065362" cy="378635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457200" indent="-457200">
                  <a:buSzPct val="100000"/>
                  <a:buFont typeface="+mj-lt"/>
                  <a:buAutoNum type="arabicPeriod"/>
                </a:pPr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Donald was finding the value of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in circle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𝑇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𝑃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𝑊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points on the circle. He knows that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𝐶𝑃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and </a:t>
                </a:r>
                <a14:m>
                  <m:oMath xmlns:m="http://schemas.openxmlformats.org/officeDocument/2006/math">
                    <m:acc>
                      <m:accPr>
                        <m:chr m:val="̅"/>
                        <m:ctrlP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</m:ctrlPr>
                      </m:accPr>
                      <m:e>
                        <m:r>
                          <a:rPr lang="en-US" sz="2000" i="1">
                            <a:latin typeface="Cambria Math" panose="02040503050406030204" pitchFamily="18" charset="0"/>
                            <a:ea typeface="Times New Roman" panose="02020603050405020304" pitchFamily="18" charset="0"/>
                            <a:cs typeface="Times New Roman" panose="02020603050405020304" pitchFamily="18" charset="0"/>
                          </a:rPr>
                          <m:t>𝐶𝑊</m:t>
                        </m:r>
                      </m:e>
                    </m:acc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 are secants of the circle, where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𝐶𝑌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=4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:b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</a:b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𝑌𝑃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−3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𝐶𝐻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=5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, and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𝐻𝑊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=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−6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Verdana" panose="020B0604030504040204" pitchFamily="34" charset="0"/>
                    <a:cs typeface="Verdana" panose="020B0604030504040204" pitchFamily="34" charset="0"/>
                  </a:rPr>
                  <a:t>. His work is shown.</a:t>
                </a:r>
              </a:p>
              <a:p>
                <a:pPr marL="457200" indent="-457200">
                  <a:buSzPct val="100000"/>
                  <a:buFont typeface="+mj-lt"/>
                  <a:buAutoNum type="arabicPeriod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buSzPct val="1000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buSzPct val="1000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buSzPct val="1000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buSzPct val="1000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buSzPct val="1000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buSzPct val="1000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lvl="0">
                  <a:buSzPct val="100000"/>
                </a:pPr>
                <a:endParaRPr lang="en-US" sz="2000" dirty="0">
                  <a:latin typeface="Verdana" panose="020B0604030504040204" pitchFamily="34" charset="0"/>
                  <a:ea typeface="Verdana" panose="020B0604030504040204" pitchFamily="34" charset="0"/>
                  <a:cs typeface="Verdana" panose="020B0604030504040204" pitchFamily="34" charset="0"/>
                </a:endParaRPr>
              </a:p>
              <a:p>
                <a:pPr marL="457200">
                  <a:spcAft>
                    <a:spcPts val="1000"/>
                  </a:spcAft>
                </a:pPr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Write a note to Donald explaining the mistake he made when solving for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  <a:ea typeface="Times New Roman" panose="02020603050405020304" pitchFamily="18" charset="0"/>
                        <a:cs typeface="Times New Roman" panose="02020603050405020304" pitchFamily="18" charset="0"/>
                      </a:rPr>
                      <m:t>𝑥</m:t>
                    </m:r>
                  </m:oMath>
                </a14:m>
                <a:r>
                  <a:rPr lang="en-US" sz="2000" dirty="0">
                    <a:latin typeface="Verdana" panose="020B0604030504040204" pitchFamily="34" charset="0"/>
                    <a:ea typeface="Times New Roman" panose="02020603050405020304" pitchFamily="18" charset="0"/>
                    <a:cs typeface="Times New Roman" panose="02020603050405020304" pitchFamily="18" charset="0"/>
                  </a:rPr>
                  <a:t>. </a:t>
                </a:r>
                <a:endParaRPr lang="en-US" sz="2000" dirty="0">
                  <a:latin typeface="Cambria" panose="020405030504060302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70EDB7-6994-3D43-ABF9-E04CBAFB9CD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7192" y="1186001"/>
                <a:ext cx="11065362" cy="3786358"/>
              </a:xfrm>
              <a:prstGeom prst="rect">
                <a:avLst/>
              </a:prstGeom>
              <a:blipFill>
                <a:blip r:embed="rId6"/>
                <a:stretch>
                  <a:fillRect l="-606" t="-1127" b="-1932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673F3A0-21AD-5546-B5BB-5EF895F8D9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4370880"/>
                  </p:ext>
                </p:extLst>
              </p:nvPr>
            </p:nvGraphicFramePr>
            <p:xfrm>
              <a:off x="1088744" y="2482710"/>
              <a:ext cx="3334736" cy="1584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34736">
                      <a:extLst>
                        <a:ext uri="{9D8B030D-6E8A-4147-A177-3AD203B41FA5}">
                          <a16:colId xmlns:a16="http://schemas.microsoft.com/office/drawing/2014/main" val="4121345462"/>
                        </a:ext>
                      </a:extLst>
                    </a:gridCol>
                  </a:tblGrid>
                  <a:tr h="457199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Donald’s Work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18613"/>
                      </a:ext>
                    </a:extLst>
                  </a:tr>
                  <a:tr h="45720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−3</m:t>
                                    </m:r>
                                  </m:e>
                                </m:d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=5</m:t>
                                </m:r>
                                <m:d>
                                  <m:dPr>
                                    <m:ctrlP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𝑥</m:t>
                                    </m:r>
                                    <m:r>
                                      <a:rPr lang="en-US" sz="2000" i="1">
                                        <a:effectLst/>
                                        <a:latin typeface="Cambria Math" panose="02040503050406030204" pitchFamily="18" charset="0"/>
                                        <a:ea typeface="Times New Roman" panose="02020603050405020304" pitchFamily="18" charset="0"/>
                                        <a:cs typeface="Times New Roman" panose="02020603050405020304" pitchFamily="18" charset="0"/>
                                      </a:rPr>
                                      <m:t>−6</m:t>
                                    </m:r>
                                  </m:e>
                                </m:d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4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−12=5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−30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𝑥</m:t>
                                </m:r>
                                <m:r>
                                  <a:rPr lang="en-US" sz="2000" i="1">
                                    <a:effectLst/>
                                    <a:latin typeface="Cambria Math" panose="02040503050406030204" pitchFamily="18" charset="0"/>
                                    <a:ea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=18</m:t>
                                </m:r>
                              </m:oMath>
                            </m:oMathPara>
                          </a14:m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</a:tcPr>
                    </a:tc>
                    <a:extLst>
                      <a:ext uri="{0D108BD9-81ED-4DB2-BD59-A6C34878D82A}">
                        <a16:rowId xmlns:a16="http://schemas.microsoft.com/office/drawing/2014/main" val="2182517673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3" name="Table 2">
                <a:extLst>
                  <a:ext uri="{FF2B5EF4-FFF2-40B4-BE49-F238E27FC236}">
                    <a16:creationId xmlns:a16="http://schemas.microsoft.com/office/drawing/2014/main" id="{E673F3A0-21AD-5546-B5BB-5EF895F8D906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84370880"/>
                  </p:ext>
                </p:extLst>
              </p:nvPr>
            </p:nvGraphicFramePr>
            <p:xfrm>
              <a:off x="1088744" y="2482710"/>
              <a:ext cx="3334736" cy="1584960"/>
            </p:xfrm>
            <a:graphic>
              <a:graphicData uri="http://schemas.openxmlformats.org/drawingml/2006/table">
                <a:tbl>
                  <a:tblPr firstRow="1" firstCol="1" bandRow="1"/>
                  <a:tblGrid>
                    <a:gridCol w="3334736">
                      <a:extLst>
                        <a:ext uri="{9D8B030D-6E8A-4147-A177-3AD203B41FA5}">
                          <a16:colId xmlns:a16="http://schemas.microsoft.com/office/drawing/2014/main" val="4121345462"/>
                        </a:ext>
                      </a:extLst>
                    </a:gridCol>
                  </a:tblGrid>
                  <a:tr h="487680">
                    <a:tc>
                      <a:txBody>
                        <a:bodyPr/>
                        <a:lstStyle/>
                        <a:p>
                          <a:pPr marL="0" marR="0" algn="ctr">
                            <a:spcBef>
                              <a:spcPts val="0"/>
                            </a:spcBef>
                            <a:spcAft>
                              <a:spcPts val="0"/>
                            </a:spcAft>
                          </a:pPr>
                          <a:r>
                            <a:rPr lang="en-US" sz="2000" b="1" dirty="0">
                              <a:effectLst/>
                              <a:latin typeface="Verdana" panose="020B0604030504040204" pitchFamily="34" charset="0"/>
                              <a:ea typeface="Verdana" panose="020B0604030504040204" pitchFamily="34" charset="0"/>
                              <a:cs typeface="Verdana" panose="020B0604030504040204" pitchFamily="34" charset="0"/>
                            </a:rPr>
                            <a:t>Donald’s Work</a:t>
                          </a:r>
                          <a:endParaRPr lang="en-US" sz="2000" dirty="0">
                            <a:effectLst/>
                            <a:latin typeface="Verdana" panose="020B0604030504040204" pitchFamily="34" charset="0"/>
                            <a:ea typeface="Verdana" panose="020B0604030504040204" pitchFamily="34" charset="0"/>
                            <a:cs typeface="Verdana" panose="020B0604030504040204" pitchFamily="34" charset="0"/>
                          </a:endParaRPr>
                        </a:p>
                      </a:txBody>
                      <a:tcPr marT="91440" marB="91440" anchor="ctr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solidFill>
                          <a:srgbClr val="BFBFBF"/>
                        </a:solidFill>
                      </a:tcPr>
                    </a:tc>
                    <a:extLst>
                      <a:ext uri="{0D108BD9-81ED-4DB2-BD59-A6C34878D82A}">
                        <a16:rowId xmlns:a16="http://schemas.microsoft.com/office/drawing/2014/main" val="352518613"/>
                      </a:ext>
                    </a:extLst>
                  </a:tr>
                  <a:tr h="1097280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marT="91440" marB="91440">
                        <a:lnL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L>
                        <a:lnR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R>
                        <a:lnT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T>
                        <a:lnB w="12700" cap="flat" cmpd="sng" algn="ctr">
                          <a:solidFill>
                            <a:srgbClr val="000000"/>
                          </a:solidFill>
                          <a:prstDash val="solid"/>
                          <a:round/>
                          <a:headEnd type="none" w="med" len="med"/>
                          <a:tailEnd type="none" w="med" len="med"/>
                        </a:lnB>
                        <a:blipFill>
                          <a:blip r:embed="rId7"/>
                          <a:stretch>
                            <a:fillRect l="-182" t="-44751" r="-365" b="-1105"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2182517673"/>
                      </a:ext>
                    </a:extLst>
                  </a:tr>
                </a:tbl>
              </a:graphicData>
            </a:graphic>
          </p:graphicFrame>
        </mc:Fallback>
      </mc:AlternateContent>
      <p:sp>
        <p:nvSpPr>
          <p:cNvPr id="11" name="Google Shape;282;g104476d1465_1_17">
            <a:extLst>
              <a:ext uri="{FF2B5EF4-FFF2-40B4-BE49-F238E27FC236}">
                <a16:creationId xmlns:a16="http://schemas.microsoft.com/office/drawing/2014/main" id="{53C2DDB8-8CD8-8A47-8792-EE05CF89D81B}"/>
              </a:ext>
            </a:extLst>
          </p:cNvPr>
          <p:cNvSpPr txBox="1"/>
          <p:nvPr/>
        </p:nvSpPr>
        <p:spPr>
          <a:xfrm>
            <a:off x="8874328" y="6457799"/>
            <a:ext cx="26340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algn="r"/>
            <a:r>
              <a:rPr lang="en-US" i="1" dirty="0">
                <a:latin typeface="Calibri"/>
                <a:ea typeface="Calibri"/>
                <a:cs typeface="Calibri"/>
                <a:sym typeface="Calibri"/>
              </a:rPr>
              <a:t>volume 2, pg. 241</a:t>
            </a:r>
            <a:endParaRPr i="1" dirty="0"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553995615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1322</TotalTime>
  <Words>1056</Words>
  <Application>Microsoft Office PowerPoint</Application>
  <PresentationFormat>Widescreen</PresentationFormat>
  <Paragraphs>143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Arial</vt:lpstr>
      <vt:lpstr>Cambria Math</vt:lpstr>
      <vt:lpstr>Century Gothic</vt:lpstr>
      <vt:lpstr>Cambria</vt:lpstr>
      <vt:lpstr>Wingdings</vt:lpstr>
      <vt:lpstr>Verdana</vt:lpstr>
      <vt:lpstr>Symbol</vt:lpstr>
      <vt:lpstr>Arial Black</vt:lpstr>
      <vt:lpstr>Calibri</vt:lpstr>
      <vt:lpstr>1_Office Theme</vt:lpstr>
      <vt:lpstr>Geometry  Unit 12, Lesson 2  Solving Problems with Lengths of Two Secants  Volume 2, pg. 237  </vt:lpstr>
      <vt:lpstr>Benchmark</vt:lpstr>
      <vt:lpstr>PowerPoint Presentation</vt:lpstr>
      <vt:lpstr>PowerPoint Presentation</vt:lpstr>
      <vt:lpstr>Warm-Up</vt:lpstr>
      <vt:lpstr>PowerPoint Presentation</vt:lpstr>
      <vt:lpstr>Exploration</vt:lpstr>
      <vt:lpstr>PowerPoint Presentation</vt:lpstr>
      <vt:lpstr>PowerPoint Presentation</vt:lpstr>
      <vt:lpstr>PowerPoint Presentation</vt:lpstr>
      <vt:lpstr>PowerPoint Presentation</vt:lpstr>
      <vt:lpstr>Guided Practice</vt:lpstr>
      <vt:lpstr>PowerPoint Presentation</vt:lpstr>
      <vt:lpstr>PowerPoint Presentation</vt:lpstr>
      <vt:lpstr>PowerPoint Presentation</vt:lpstr>
      <vt:lpstr>Your Turn</vt:lpstr>
      <vt:lpstr>PowerPoint Presentation</vt:lpstr>
      <vt:lpstr>PowerPoint Presentation</vt:lpstr>
      <vt:lpstr>Wrap-Up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Algebra 2 Unit 4 Lesson 4</dc:title>
  <dc:creator>Karen McKenzie</dc:creator>
  <cp:lastModifiedBy>Morgan Palomino</cp:lastModifiedBy>
  <cp:revision>27</cp:revision>
  <dcterms:created xsi:type="dcterms:W3CDTF">2015-03-17T18:51:18Z</dcterms:created>
  <dcterms:modified xsi:type="dcterms:W3CDTF">2023-03-02T21:12:48Z</dcterms:modified>
</cp:coreProperties>
</file>