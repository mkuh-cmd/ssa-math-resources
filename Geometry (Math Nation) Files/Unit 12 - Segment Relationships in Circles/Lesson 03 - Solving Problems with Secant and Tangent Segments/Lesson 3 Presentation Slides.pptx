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1"/>
  </p:notesMasterIdLst>
  <p:sldIdLst>
    <p:sldId id="256" r:id="rId2"/>
    <p:sldId id="257" r:id="rId3"/>
    <p:sldId id="285" r:id="rId4"/>
    <p:sldId id="286" r:id="rId5"/>
    <p:sldId id="261" r:id="rId6"/>
    <p:sldId id="287" r:id="rId7"/>
    <p:sldId id="311" r:id="rId8"/>
    <p:sldId id="312" r:id="rId9"/>
    <p:sldId id="363" r:id="rId10"/>
    <p:sldId id="323" r:id="rId11"/>
    <p:sldId id="324" r:id="rId12"/>
    <p:sldId id="367" r:id="rId13"/>
    <p:sldId id="372" r:id="rId14"/>
    <p:sldId id="302" r:id="rId15"/>
    <p:sldId id="303" r:id="rId16"/>
    <p:sldId id="370" r:id="rId17"/>
    <p:sldId id="373" r:id="rId18"/>
    <p:sldId id="306" r:id="rId19"/>
    <p:sldId id="307" r:id="rId20"/>
  </p:sldIdLst>
  <p:sldSz cx="12192000" cy="6858000"/>
  <p:notesSz cx="6858000" cy="9144000"/>
  <p:embeddedFontLst>
    <p:embeddedFont>
      <p:font typeface="Arial Black" panose="020B0A04020102020204" pitchFamily="34" charset="0"/>
      <p:bold r:id="rId22"/>
    </p:embeddedFont>
    <p:embeddedFont>
      <p:font typeface="Calibri" panose="020F0502020204030204" pitchFamily="34" charset="0"/>
      <p:regular r:id="rId23"/>
      <p:bold r:id="rId24"/>
      <p:italic r:id="rId25"/>
      <p:boldItalic r:id="rId26"/>
    </p:embeddedFont>
    <p:embeddedFont>
      <p:font typeface="Cambria" panose="02040503050406030204" pitchFamily="18" charset="0"/>
      <p:regular r:id="rId27"/>
      <p:bold r:id="rId28"/>
      <p:italic r:id="rId29"/>
      <p:boldItalic r:id="rId30"/>
    </p:embeddedFont>
    <p:embeddedFont>
      <p:font typeface="Cambria Math" panose="02040503050406030204" pitchFamily="18" charset="0"/>
      <p:regular r:id="rId31"/>
    </p:embeddedFont>
    <p:embeddedFont>
      <p:font typeface="Century Gothic" panose="020B0502020202020204" pitchFamily="34" charset="0"/>
      <p:regular r:id="rId32"/>
      <p:bold r:id="rId33"/>
      <p:italic r:id="rId34"/>
      <p:boldItalic r:id="rId35"/>
    </p:embeddedFont>
    <p:embeddedFont>
      <p:font typeface="Verdana" panose="020B0604030504040204" pitchFamily="34"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22574"/>
    <a:srgbClr val="3465B0"/>
    <a:srgbClr val="DA4487"/>
    <a:srgbClr val="276C46"/>
    <a:srgbClr val="C9DF6F"/>
    <a:srgbClr val="417DBF"/>
    <a:srgbClr val="3F2A67"/>
    <a:srgbClr val="E24E5F"/>
    <a:srgbClr val="26B7D4"/>
    <a:srgbClr val="54B5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233" autoAdjust="0"/>
    <p:restoredTop sz="94589"/>
  </p:normalViewPr>
  <p:slideViewPr>
    <p:cSldViewPr snapToGrid="0">
      <p:cViewPr varScale="1">
        <p:scale>
          <a:sx n="86" d="100"/>
          <a:sy n="86" d="100"/>
        </p:scale>
        <p:origin x="834" y="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9" Type="http://schemas.openxmlformats.org/officeDocument/2006/relationships/font" Target="fonts/font18.fntdata"/><Relationship Id="rId3" Type="http://schemas.openxmlformats.org/officeDocument/2006/relationships/slide" Target="slides/slide2.xml"/><Relationship Id="rId21" Type="http://schemas.openxmlformats.org/officeDocument/2006/relationships/notesMaster" Target="notesMasters/notesMaster1.xml"/><Relationship Id="rId34" Type="http://schemas.openxmlformats.org/officeDocument/2006/relationships/font" Target="fonts/font13.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font" Target="fonts/font12.fntdata"/><Relationship Id="rId38" Type="http://schemas.openxmlformats.org/officeDocument/2006/relationships/font" Target="fonts/font17.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font" Target="fonts/font11.fntdata"/><Relationship Id="rId37" Type="http://schemas.openxmlformats.org/officeDocument/2006/relationships/font" Target="fonts/font16.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36" Type="http://schemas.openxmlformats.org/officeDocument/2006/relationships/font" Target="fonts/font15.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font" Target="fonts/font14.fntdata"/><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77969995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052413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1205093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16924062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12288088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9353921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8596705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6936643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02667577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8603384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7166881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jpe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60.png"/><Relationship Id="rId5" Type="http://schemas.openxmlformats.org/officeDocument/2006/relationships/image" Target="../media/image16.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220.png"/><Relationship Id="rId5" Type="http://schemas.openxmlformats.org/officeDocument/2006/relationships/image" Target="../media/image22.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25.jpeg"/><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8.xml"/><Relationship Id="rId6" Type="http://schemas.openxmlformats.org/officeDocument/2006/relationships/image" Target="../media/image29.png"/><Relationship Id="rId5" Type="http://schemas.openxmlformats.org/officeDocument/2006/relationships/image" Target="../media/image26.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32.png"/><Relationship Id="rId5" Type="http://schemas.openxmlformats.org/officeDocument/2006/relationships/image" Target="../media/image28.png"/><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Geometry</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12, Lesson 3</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Solving Problems with Secant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and Tangent Segments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242</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8100"/>
            <a:ext cx="4094106" cy="6866100"/>
          </a:xfrm>
          <a:prstGeom prst="rect">
            <a:avLst/>
          </a:prstGeom>
          <a:solidFill>
            <a:srgbClr val="822574"/>
          </a:solidFill>
          <a:ln w="9525" cap="flat" cmpd="sng">
            <a:solidFill>
              <a:srgbClr val="82257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4" name="Picture 3" descr="Logo&#10;&#10;Description automatically generated">
            <a:extLst>
              <a:ext uri="{FF2B5EF4-FFF2-40B4-BE49-F238E27FC236}">
                <a16:creationId xmlns:a16="http://schemas.microsoft.com/office/drawing/2014/main" id="{52C00464-EFA3-6346-BE43-A03DFF537B3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05010" y="1598046"/>
            <a:ext cx="2973100" cy="3465785"/>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24050" y="14475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00550" y="380525"/>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242</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514000" y="1608425"/>
            <a:ext cx="11009924"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MA.912.GR.6.1</a:t>
            </a:r>
          </a:p>
          <a:p>
            <a:pPr indent="0">
              <a:buNone/>
            </a:pPr>
            <a:r>
              <a:rPr lang="en-US" sz="3500" dirty="0">
                <a:latin typeface="Verdana" panose="020B0604030504040204" pitchFamily="34" charset="0"/>
                <a:ea typeface="Verdana" panose="020B0604030504040204" pitchFamily="34" charset="0"/>
                <a:cs typeface="Verdana" panose="020B0604030504040204" pitchFamily="34" charset="0"/>
              </a:rPr>
              <a:t>Solve mathematical and real-world problems involving the length of a secant, tangent, segment, or chord in a given circle. </a:t>
            </a:r>
            <a:endPar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25199" y="129667"/>
            <a:ext cx="876942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101760" y="1596390"/>
            <a:ext cx="1042216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a:p>
            <a:pPr>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MA.K12.MTR.7.1 </a:t>
            </a: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rPr>
              <a:t>Apply mathematics to real-world contexts.</a:t>
            </a: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p:txBody>
      </p:sp>
      <p:sp>
        <p:nvSpPr>
          <p:cNvPr id="9" name="Google Shape;282;g104476d1465_1_17">
            <a:extLst>
              <a:ext uri="{FF2B5EF4-FFF2-40B4-BE49-F238E27FC236}">
                <a16:creationId xmlns:a16="http://schemas.microsoft.com/office/drawing/2014/main" id="{C3E33E44-0528-0746-B375-172DF32E2746}"/>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242</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065719"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283557" y="319860"/>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466344" y="1498651"/>
            <a:ext cx="1105758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85800" indent="-685800">
              <a:buFont typeface="Wingdings" pitchFamily="2" charset="2"/>
              <a:buChar char="q"/>
            </a:pPr>
            <a:r>
              <a:rPr lang="en-US" sz="3500" dirty="0">
                <a:latin typeface="Verdana" panose="020B0604030504040204" pitchFamily="34" charset="0"/>
                <a:ea typeface="Times New Roman" panose="02020603050405020304" pitchFamily="18" charset="0"/>
                <a:cs typeface="Times New Roman" panose="02020603050405020304" pitchFamily="18" charset="0"/>
              </a:rPr>
              <a:t>I can solve mathematical and real-world problems that involve lengths formed by the intersection of a secant and a tangent segment.   </a:t>
            </a:r>
            <a:endParaRPr lang="en-US" sz="3500"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8" name="Google Shape;282;g104476d1465_1_17">
            <a:extLst>
              <a:ext uri="{FF2B5EF4-FFF2-40B4-BE49-F238E27FC236}">
                <a16:creationId xmlns:a16="http://schemas.microsoft.com/office/drawing/2014/main" id="{AF5DB082-CA74-F146-98F3-F8E929D2DF32}"/>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242</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5F28EAD0-6023-0D40-B051-02D677603419}"/>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242</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10466" y="81791"/>
            <a:ext cx="8019300" cy="978689"/>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F2A67"/>
                </a:solidFill>
                <a:latin typeface="Verdana"/>
                <a:ea typeface="Verdana"/>
                <a:cs typeface="Verdana"/>
                <a:sym typeface="Verdana"/>
              </a:rPr>
              <a:t>12.3.1 Warm-Up: Notice and Wonder</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263166" y="197485"/>
            <a:ext cx="747300" cy="747300"/>
          </a:xfrm>
          <a:prstGeom prst="rect">
            <a:avLst/>
          </a:prstGeom>
          <a:noFill/>
          <a:ln>
            <a:noFill/>
          </a:ln>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id="{E1D7562E-134F-D14B-AF1A-DF40E11EF758}"/>
              </a:ext>
            </a:extLst>
          </p:cNvPr>
          <p:cNvSpPr txBox="1"/>
          <p:nvPr/>
        </p:nvSpPr>
        <p:spPr>
          <a:xfrm>
            <a:off x="551064" y="1156791"/>
            <a:ext cx="10972860" cy="3477875"/>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The Seminole Native American tribe is known for their novel and colorful dress consisting of patchwork. The decorative technique of patchwork was developed by Seminole women before 1920. Patchwork was rapidly adopted to further embellish the already colorful clothing. As time went on, the designs became more intricate as the seamstresses became more skilled.</a:t>
            </a:r>
          </a:p>
          <a:p>
            <a:pPr marL="457200" indent="-457200">
              <a:buFont typeface="+mj-lt"/>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do you notice about the patchwork?</a:t>
            </a:r>
          </a:p>
          <a:p>
            <a:pPr marL="914400" indent="-45720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What do you wonder? </a:t>
            </a:r>
            <a:r>
              <a:rPr lang="en-US" sz="2000" dirty="0">
                <a:latin typeface="Verdana" panose="020B0604030504040204" pitchFamily="34" charset="0"/>
                <a:ea typeface="Times New Roman" panose="02020603050405020304" pitchFamily="18" charset="0"/>
                <a:cs typeface="Times New Roman" panose="02020603050405020304" pitchFamily="18" charset="0"/>
              </a:rPr>
              <a:t> </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p:pic>
        <p:nvPicPr>
          <p:cNvPr id="11" name="Picture 10">
            <a:extLst>
              <a:ext uri="{FF2B5EF4-FFF2-40B4-BE49-F238E27FC236}">
                <a16:creationId xmlns:a16="http://schemas.microsoft.com/office/drawing/2014/main" id="{A36A098A-4644-A445-AA98-68B80DE4F789}"/>
              </a:ext>
            </a:extLst>
          </p:cNvPr>
          <p:cNvPicPr/>
          <p:nvPr/>
        </p:nvPicPr>
        <p:blipFill>
          <a:blip r:embed="rId5" cstate="screen">
            <a:extLst>
              <a:ext uri="{28A0092B-C50C-407E-A947-70E740481C1C}">
                <a14:useLocalDpi xmlns:a14="http://schemas.microsoft.com/office/drawing/2010/main"/>
              </a:ext>
            </a:extLst>
          </a:blip>
          <a:stretch>
            <a:fillRect/>
          </a:stretch>
        </p:blipFill>
        <p:spPr>
          <a:xfrm>
            <a:off x="7938272" y="3049617"/>
            <a:ext cx="3326180" cy="2823647"/>
          </a:xfrm>
          <a:prstGeom prst="rect">
            <a:avLst/>
          </a:prstGeom>
        </p:spPr>
      </p:pic>
      <p:sp>
        <p:nvSpPr>
          <p:cNvPr id="12" name="Google Shape;282;g104476d1465_1_17">
            <a:extLst>
              <a:ext uri="{FF2B5EF4-FFF2-40B4-BE49-F238E27FC236}">
                <a16:creationId xmlns:a16="http://schemas.microsoft.com/office/drawing/2014/main" id="{6899ECCB-A56D-5B48-95E5-76AB56D4267B}"/>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242</a:t>
            </a:r>
            <a:endParaRPr i="1" dirty="0">
              <a:latin typeface="Calibri"/>
              <a:ea typeface="Calibri"/>
              <a:cs typeface="Calibri"/>
              <a:sym typeface="Calibri"/>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98631"/>
          </a:xfrm>
          <a:prstGeom prst="rect">
            <a:avLst/>
          </a:prstGeom>
          <a:solidFill>
            <a:srgbClr val="822574"/>
          </a:solidFill>
          <a:ln w="9525" cap="flat" cmpd="sng">
            <a:solidFill>
              <a:srgbClr val="82257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pic>
        <p:nvPicPr>
          <p:cNvPr id="1026" name="Picture 2" descr="Icon&#10;&#10;Description automatically generated">
            <a:extLst>
              <a:ext uri="{FF2B5EF4-FFF2-40B4-BE49-F238E27FC236}">
                <a16:creationId xmlns:a16="http://schemas.microsoft.com/office/drawing/2014/main" id="{467567E5-BEAF-E24A-A492-D25759172D7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630950" y="2814305"/>
            <a:ext cx="1156228" cy="115622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a:extLst>
              <a:ext uri="{FF2B5EF4-FFF2-40B4-BE49-F238E27FC236}">
                <a16:creationId xmlns:a16="http://schemas.microsoft.com/office/drawing/2014/main" id="{B283C09B-081D-8649-975D-ADB326903EA8}"/>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243</a:t>
            </a:r>
            <a:endParaRPr i="1" dirty="0">
              <a:latin typeface="Calibri"/>
              <a:ea typeface="Calibri"/>
              <a:cs typeface="Calibri"/>
              <a:sym typeface="Calibri"/>
            </a:endParaRPr>
          </a:p>
        </p:txBody>
      </p:sp>
    </p:spTree>
    <p:extLst>
      <p:ext uri="{BB962C8B-B14F-4D97-AF65-F5344CB8AC3E}">
        <p14:creationId xmlns:p14="http://schemas.microsoft.com/office/powerpoint/2010/main" val="41969715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9" name="Picture 8">
            <a:extLst>
              <a:ext uri="{FF2B5EF4-FFF2-40B4-BE49-F238E27FC236}">
                <a16:creationId xmlns:a16="http://schemas.microsoft.com/office/drawing/2014/main" id="{118EA5D3-EDB6-1C43-9630-B35D790C9A8D}"/>
              </a:ext>
            </a:extLst>
          </p:cNvPr>
          <p:cNvPicPr/>
          <p:nvPr/>
        </p:nvPicPr>
        <p:blipFill rotWithShape="1">
          <a:blip r:embed="rId3"/>
          <a:srcRect t="7430"/>
          <a:stretch/>
        </p:blipFill>
        <p:spPr bwMode="auto">
          <a:xfrm>
            <a:off x="7452364" y="2953838"/>
            <a:ext cx="4071560" cy="2724129"/>
          </a:xfrm>
          <a:prstGeom prst="rect">
            <a:avLst/>
          </a:prstGeom>
          <a:ln>
            <a:noFill/>
          </a:ln>
          <a:extLst>
            <a:ext uri="{53640926-AAD7-44D8-BBD7-CCE9431645EC}">
              <a14:shadowObscured xmlns:a14="http://schemas.microsoft.com/office/drawing/2010/main"/>
            </a:ext>
          </a:extLst>
        </p:spPr>
      </p:pic>
      <p:sp>
        <p:nvSpPr>
          <p:cNvPr id="278" name="Google Shape;278;g104476d1465_1_17"/>
          <p:cNvSpPr/>
          <p:nvPr/>
        </p:nvSpPr>
        <p:spPr>
          <a:xfrm>
            <a:off x="0" y="-8225"/>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55386" y="79236"/>
            <a:ext cx="1057276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12.3.2 Exploration: Lengths of Intersecting </a:t>
            </a:r>
            <a:br>
              <a:rPr lang="en-US" sz="3200" b="1" dirty="0">
                <a:solidFill>
                  <a:srgbClr val="33BEA6"/>
                </a:solidFill>
                <a:latin typeface="Verdana"/>
                <a:ea typeface="Verdana"/>
                <a:cs typeface="Verdana"/>
                <a:sym typeface="Verdana"/>
              </a:rPr>
            </a:br>
            <a:r>
              <a:rPr lang="en-US" sz="3200" b="1" dirty="0">
                <a:solidFill>
                  <a:srgbClr val="33BEA6"/>
                </a:solidFill>
                <a:latin typeface="Verdana"/>
                <a:ea typeface="Verdana"/>
                <a:cs typeface="Verdana"/>
                <a:sym typeface="Verdana"/>
              </a:rPr>
              <a:t>Secant and Tangent Segments</a:t>
            </a:r>
          </a:p>
        </p:txBody>
      </p:sp>
      <p:pic>
        <p:nvPicPr>
          <p:cNvPr id="7" name="Picture 2" descr="Icon&#10;&#10;Description automatically generated">
            <a:extLst>
              <a:ext uri="{FF2B5EF4-FFF2-40B4-BE49-F238E27FC236}">
                <a16:creationId xmlns:a16="http://schemas.microsoft.com/office/drawing/2014/main" id="{A741EC39-D81C-A945-833B-CFC11AA40AE2}"/>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11292" y="323629"/>
            <a:ext cx="752254" cy="75225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52D1D4D-DCB8-A246-B186-D40316579D77}"/>
                  </a:ext>
                </a:extLst>
              </p:cNvPr>
              <p:cNvSpPr txBox="1"/>
              <p:nvPr/>
            </p:nvSpPr>
            <p:spPr>
              <a:xfrm>
                <a:off x="507378" y="1487856"/>
                <a:ext cx="11120771" cy="2554545"/>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Work with your partner to complete the following. </a:t>
                </a:r>
              </a:p>
              <a:p>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Circle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𝐻</m:t>
                    </m:r>
                  </m:oMath>
                </a14:m>
                <a:r>
                  <a:rPr lang="en-US" sz="2000" dirty="0">
                    <a:latin typeface="Verdana" panose="020B0604030504040204" pitchFamily="34" charset="0"/>
                    <a:ea typeface="Verdana" panose="020B0604030504040204" pitchFamily="34" charset="0"/>
                    <a:cs typeface="Verdana" panose="020B0604030504040204" pitchFamily="34" charset="0"/>
                  </a:rPr>
                  <a:t> has points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𝑋</m:t>
                    </m:r>
                  </m:oMath>
                </a14:m>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𝑅</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𝑊</m:t>
                    </m:r>
                  </m:oMath>
                </a14:m>
                <a:r>
                  <a:rPr lang="en-US" sz="2000" dirty="0">
                    <a:latin typeface="Verdana" panose="020B0604030504040204" pitchFamily="34" charset="0"/>
                    <a:ea typeface="Verdana" panose="020B0604030504040204" pitchFamily="34" charset="0"/>
                    <a:cs typeface="Verdana" panose="020B0604030504040204" pitchFamily="34" charset="0"/>
                  </a:rPr>
                  <a:t> on the circle. Secant </a:t>
                </a:r>
                <a14:m>
                  <m:oMath xmlns:m="http://schemas.openxmlformats.org/officeDocument/2006/math">
                    <m:acc>
                      <m:accPr>
                        <m:chr m:val="̅"/>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accPr>
                      <m:e>
                        <m:r>
                          <a:rPr lang="en-US" sz="2000" i="1">
                            <a:latin typeface="Cambria Math" panose="02040503050406030204" pitchFamily="18" charset="0"/>
                            <a:ea typeface="Times New Roman" panose="02020603050405020304" pitchFamily="18" charset="0"/>
                            <a:cs typeface="Times New Roman" panose="02020603050405020304" pitchFamily="18" charset="0"/>
                          </a:rPr>
                          <m:t>𝑊𝐷</m:t>
                        </m:r>
                      </m:e>
                    </m:acc>
                  </m:oMath>
                </a14:m>
                <a:r>
                  <a:rPr lang="en-US" sz="2000" dirty="0">
                    <a:latin typeface="Verdana" panose="020B0604030504040204" pitchFamily="34" charset="0"/>
                    <a:ea typeface="Verdana" panose="020B0604030504040204" pitchFamily="34" charset="0"/>
                    <a:cs typeface="Verdana" panose="020B0604030504040204" pitchFamily="34" charset="0"/>
                  </a:rPr>
                  <a:t> and tangent </a:t>
                </a:r>
                <a14:m>
                  <m:oMath xmlns:m="http://schemas.openxmlformats.org/officeDocument/2006/math">
                    <m:acc>
                      <m:accPr>
                        <m:chr m:val="̅"/>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accPr>
                      <m:e>
                        <m:r>
                          <a:rPr lang="en-US" sz="2000" i="1">
                            <a:latin typeface="Cambria Math" panose="02040503050406030204" pitchFamily="18" charset="0"/>
                            <a:ea typeface="Times New Roman" panose="02020603050405020304" pitchFamily="18" charset="0"/>
                            <a:cs typeface="Times New Roman" panose="02020603050405020304" pitchFamily="18" charset="0"/>
                          </a:rPr>
                          <m:t>𝑋𝐷</m:t>
                        </m:r>
                      </m:e>
                    </m:acc>
                  </m:oMath>
                </a14:m>
                <a:r>
                  <a:rPr lang="en-US" sz="2000" dirty="0">
                    <a:latin typeface="Verdana" panose="020B0604030504040204" pitchFamily="34" charset="0"/>
                    <a:ea typeface="Verdana" panose="020B0604030504040204" pitchFamily="34" charset="0"/>
                    <a:cs typeface="Verdana" panose="020B0604030504040204" pitchFamily="34" charset="0"/>
                  </a:rPr>
                  <a:t> intersect at point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𝐷</m:t>
                    </m:r>
                  </m:oMath>
                </a14:m>
                <a:r>
                  <a:rPr lang="en-US" sz="2000" dirty="0">
                    <a:latin typeface="Verdana" panose="020B0604030504040204" pitchFamily="34" charset="0"/>
                    <a:ea typeface="Verdana" panose="020B0604030504040204" pitchFamily="34" charset="0"/>
                    <a:cs typeface="Verdana" panose="020B0604030504040204" pitchFamily="34" charset="0"/>
                  </a:rPr>
                  <a:t> outside the circle. Given that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m:t>
                    </m:r>
                    <m:r>
                      <a:rPr lang="en-US" sz="2000" i="1">
                        <a:latin typeface="Cambria Math" panose="02040503050406030204" pitchFamily="18" charset="0"/>
                        <a:ea typeface="Times New Roman" panose="02020603050405020304" pitchFamily="18" charset="0"/>
                        <a:cs typeface="Times New Roman" panose="02020603050405020304" pitchFamily="18" charset="0"/>
                      </a:rPr>
                      <m:t>𝐷𝑊𝑋</m:t>
                    </m:r>
                    <m:r>
                      <a:rPr lang="en-US" sz="2000" i="1">
                        <a:latin typeface="Cambria Math" panose="02040503050406030204" pitchFamily="18" charset="0"/>
                        <a:ea typeface="Times New Roman" panose="02020603050405020304" pitchFamily="18" charset="0"/>
                        <a:cs typeface="Times New Roman" panose="02020603050405020304" pitchFamily="18" charset="0"/>
                      </a:rPr>
                      <m:t>~∆</m:t>
                    </m:r>
                    <m:r>
                      <a:rPr lang="en-US" sz="2000" i="1">
                        <a:latin typeface="Cambria Math" panose="02040503050406030204" pitchFamily="18" charset="0"/>
                        <a:ea typeface="Times New Roman" panose="02020603050405020304" pitchFamily="18" charset="0"/>
                        <a:cs typeface="Times New Roman" panose="02020603050405020304" pitchFamily="18" charset="0"/>
                      </a:rPr>
                      <m:t>𝐷𝑋𝑅</m:t>
                    </m:r>
                  </m:oMath>
                </a14:m>
                <a:r>
                  <a:rPr lang="en-US"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𝑋𝐷</m:t>
                    </m:r>
                    <m:r>
                      <a:rPr lang="en-US" sz="2000" i="1">
                        <a:latin typeface="Cambria Math" panose="02040503050406030204" pitchFamily="18" charset="0"/>
                        <a:ea typeface="Times New Roman" panose="02020603050405020304" pitchFamily="18" charset="0"/>
                        <a:cs typeface="Times New Roman" panose="02020603050405020304" pitchFamily="18" charset="0"/>
                      </a:rPr>
                      <m:t>=15</m:t>
                    </m:r>
                  </m:oMath>
                </a14:m>
                <a:r>
                  <a:rPr lang="en-US" sz="2000" dirty="0">
                    <a:latin typeface="Verdana" panose="020B0604030504040204" pitchFamily="34" charset="0"/>
                    <a:ea typeface="Verdana" panose="020B0604030504040204" pitchFamily="34" charset="0"/>
                    <a:cs typeface="Verdana" panose="020B0604030504040204" pitchFamily="34" charset="0"/>
                  </a:rPr>
                  <a:t>, and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𝑅𝐷</m:t>
                    </m:r>
                    <m:r>
                      <a:rPr lang="en-US" sz="2000" i="1">
                        <a:latin typeface="Cambria Math" panose="02040503050406030204" pitchFamily="18" charset="0"/>
                        <a:ea typeface="Times New Roman" panose="02020603050405020304" pitchFamily="18" charset="0"/>
                        <a:cs typeface="Times New Roman" panose="02020603050405020304" pitchFamily="18" charset="0"/>
                      </a:rPr>
                      <m:t>=9</m:t>
                    </m:r>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Use the similar triangles to write a proportional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relationship that can be used to determine the </a:t>
                </a:r>
              </a:p>
              <a:p>
                <a:pPr marL="914400"/>
                <a:r>
                  <a:rPr lang="en-US" sz="2000" dirty="0">
                    <a:latin typeface="Verdana" panose="020B0604030504040204" pitchFamily="34" charset="0"/>
                    <a:ea typeface="Verdana" panose="020B0604030504040204" pitchFamily="34" charset="0"/>
                    <a:cs typeface="Verdana" panose="020B0604030504040204" pitchFamily="34" charset="0"/>
                  </a:rPr>
                  <a:t>length of </a:t>
                </a:r>
                <a14:m>
                  <m:oMath xmlns:m="http://schemas.openxmlformats.org/officeDocument/2006/math">
                    <m:acc>
                      <m:accPr>
                        <m:chr m:val="̅"/>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accPr>
                      <m:e>
                        <m:r>
                          <a:rPr lang="en-US" sz="2000" i="1">
                            <a:latin typeface="Cambria Math" panose="02040503050406030204" pitchFamily="18" charset="0"/>
                            <a:ea typeface="Times New Roman" panose="02020603050405020304" pitchFamily="18" charset="0"/>
                            <a:cs typeface="Times New Roman" panose="02020603050405020304" pitchFamily="18" charset="0"/>
                          </a:rPr>
                          <m:t>𝑅𝑊</m:t>
                        </m:r>
                      </m:e>
                    </m:acc>
                  </m:oMath>
                </a14:m>
                <a:r>
                  <a:rPr lang="en-US" sz="2000" dirty="0">
                    <a:latin typeface="Verdana" panose="020B0604030504040204" pitchFamily="34" charset="0"/>
                    <a:ea typeface="Verdana" panose="020B0604030504040204" pitchFamily="34" charset="0"/>
                    <a:cs typeface="Verdana" panose="020B0604030504040204" pitchFamily="34" charset="0"/>
                  </a:rPr>
                  <a:t>.</a:t>
                </a:r>
              </a:p>
            </p:txBody>
          </p:sp>
        </mc:Choice>
        <mc:Fallback xmlns="">
          <p:sp>
            <p:nvSpPr>
              <p:cNvPr id="10" name="TextBox 9">
                <a:extLst>
                  <a:ext uri="{FF2B5EF4-FFF2-40B4-BE49-F238E27FC236}">
                    <a16:creationId xmlns:a16="http://schemas.microsoft.com/office/drawing/2014/main" id="{152D1D4D-DCB8-A246-B186-D40316579D77}"/>
                  </a:ext>
                </a:extLst>
              </p:cNvPr>
              <p:cNvSpPr txBox="1">
                <a:spLocks noRot="1" noChangeAspect="1" noMove="1" noResize="1" noEditPoints="1" noAdjustHandles="1" noChangeArrowheads="1" noChangeShapeType="1" noTextEdit="1"/>
              </p:cNvSpPr>
              <p:nvPr/>
            </p:nvSpPr>
            <p:spPr>
              <a:xfrm>
                <a:off x="507378" y="1487856"/>
                <a:ext cx="11120771" cy="2554545"/>
              </a:xfrm>
              <a:prstGeom prst="rect">
                <a:avLst/>
              </a:prstGeom>
              <a:blipFill>
                <a:blip r:embed="rId6"/>
                <a:stretch>
                  <a:fillRect l="-603" t="-1193" r="-1151" b="-3341"/>
                </a:stretch>
              </a:blipFill>
            </p:spPr>
            <p:txBody>
              <a:bodyPr/>
              <a:lstStyle/>
              <a:p>
                <a:r>
                  <a:rPr lang="en-US">
                    <a:noFill/>
                  </a:rPr>
                  <a:t> </a:t>
                </a:r>
              </a:p>
            </p:txBody>
          </p:sp>
        </mc:Fallback>
      </mc:AlternateContent>
      <p:sp>
        <p:nvSpPr>
          <p:cNvPr id="11" name="Google Shape;282;g104476d1465_1_17">
            <a:extLst>
              <a:ext uri="{FF2B5EF4-FFF2-40B4-BE49-F238E27FC236}">
                <a16:creationId xmlns:a16="http://schemas.microsoft.com/office/drawing/2014/main" id="{FC77AC08-9520-A646-9049-5268C5B5D97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243</a:t>
            </a:r>
            <a:endParaRPr i="1" dirty="0">
              <a:latin typeface="Calibri"/>
              <a:ea typeface="Calibri"/>
              <a:cs typeface="Calibri"/>
              <a:sym typeface="Calibri"/>
            </a:endParaRPr>
          </a:p>
        </p:txBody>
      </p:sp>
    </p:spTree>
    <p:extLst>
      <p:ext uri="{BB962C8B-B14F-4D97-AF65-F5344CB8AC3E}">
        <p14:creationId xmlns:p14="http://schemas.microsoft.com/office/powerpoint/2010/main" val="22352480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3" name="Picture 2" descr="Diagram&#10;&#10;Description automatically generated">
            <a:extLst>
              <a:ext uri="{FF2B5EF4-FFF2-40B4-BE49-F238E27FC236}">
                <a16:creationId xmlns:a16="http://schemas.microsoft.com/office/drawing/2014/main" id="{38603E77-ED84-7249-8786-CEB8AB8C6E37}"/>
              </a:ext>
            </a:extLst>
          </p:cNvPr>
          <p:cNvPicPr>
            <a:picLocks noChangeAspect="1"/>
          </p:cNvPicPr>
          <p:nvPr/>
        </p:nvPicPr>
        <p:blipFill rotWithShape="1">
          <a:blip r:embed="rId3"/>
          <a:srcRect t="11776" r="49035" b="4618"/>
          <a:stretch/>
        </p:blipFill>
        <p:spPr>
          <a:xfrm>
            <a:off x="1237158" y="1227792"/>
            <a:ext cx="3670997" cy="2903621"/>
          </a:xfrm>
          <a:prstGeom prst="rect">
            <a:avLst/>
          </a:prstGeom>
        </p:spPr>
      </p:pic>
      <p:pic>
        <p:nvPicPr>
          <p:cNvPr id="8" name="Picture 7" descr="Diagram&#10;&#10;Description automatically generated">
            <a:extLst>
              <a:ext uri="{FF2B5EF4-FFF2-40B4-BE49-F238E27FC236}">
                <a16:creationId xmlns:a16="http://schemas.microsoft.com/office/drawing/2014/main" id="{EC48CF50-D3F0-2E40-BD4D-F348F618678C}"/>
              </a:ext>
            </a:extLst>
          </p:cNvPr>
          <p:cNvPicPr>
            <a:picLocks noChangeAspect="1"/>
          </p:cNvPicPr>
          <p:nvPr/>
        </p:nvPicPr>
        <p:blipFill rotWithShape="1">
          <a:blip r:embed="rId3"/>
          <a:srcRect l="50917" b="22181"/>
          <a:stretch/>
        </p:blipFill>
        <p:spPr>
          <a:xfrm>
            <a:off x="5050392" y="1227792"/>
            <a:ext cx="3535385" cy="2702619"/>
          </a:xfrm>
          <a:prstGeom prst="rect">
            <a:avLst/>
          </a:prstGeom>
        </p:spPr>
      </p:pic>
      <p:sp>
        <p:nvSpPr>
          <p:cNvPr id="278" name="Google Shape;278;g104476d1465_1_17"/>
          <p:cNvSpPr/>
          <p:nvPr/>
        </p:nvSpPr>
        <p:spPr>
          <a:xfrm>
            <a:off x="0" y="-8713"/>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05927" y="6200724"/>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40565" y="519906"/>
                <a:ext cx="10961136" cy="707886"/>
              </a:xfrm>
              <a:prstGeom prst="rect">
                <a:avLst/>
              </a:prstGeom>
              <a:noFill/>
            </p:spPr>
            <p:txBody>
              <a:bodyPr wrap="square" rtlCol="0">
                <a:spAutoFit/>
              </a:bodyPr>
              <a:lstStyle/>
              <a:p>
                <a:pPr marL="914400" indent="-457200">
                  <a:buFont typeface="+mj-lt"/>
                  <a:buAutoNum type="alphaLcPeriod" startAt="2"/>
                </a:pPr>
                <a:r>
                  <a:rPr lang="en-US" sz="2000" dirty="0">
                    <a:latin typeface="Verdana" panose="020B0604030504040204" pitchFamily="34" charset="0"/>
                    <a:ea typeface="Verdana" panose="020B0604030504040204" pitchFamily="34" charset="0"/>
                    <a:cs typeface="Verdana" panose="020B0604030504040204" pitchFamily="34" charset="0"/>
                  </a:rPr>
                  <a:t>Use the diagrams of circle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𝑅</m:t>
                    </m:r>
                  </m:oMath>
                </a14:m>
                <a:r>
                  <a:rPr lang="en-US" sz="2000" dirty="0">
                    <a:latin typeface="Verdana" panose="020B0604030504040204" pitchFamily="34" charset="0"/>
                    <a:ea typeface="Verdana" panose="020B0604030504040204" pitchFamily="34" charset="0"/>
                    <a:cs typeface="Verdana" panose="020B0604030504040204" pitchFamily="34" charset="0"/>
                  </a:rPr>
                  <a:t> to write a formula that can be used to find the segment lengths of the intersecting secant and tangent lines. </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40565" y="519906"/>
                <a:ext cx="10961136" cy="707886"/>
              </a:xfrm>
              <a:prstGeom prst="rect">
                <a:avLst/>
              </a:prstGeom>
              <a:blipFill>
                <a:blip r:embed="rId5"/>
                <a:stretch>
                  <a:fillRect t="-5172" b="-14655"/>
                </a:stretch>
              </a:blipFill>
            </p:spPr>
            <p:txBody>
              <a:bodyPr/>
              <a:lstStyle/>
              <a:p>
                <a:r>
                  <a:rPr lang="en-US">
                    <a:noFill/>
                  </a:rPr>
                  <a:t> </a:t>
                </a:r>
              </a:p>
            </p:txBody>
          </p:sp>
        </mc:Fallback>
      </mc:AlternateContent>
      <p:grpSp>
        <p:nvGrpSpPr>
          <p:cNvPr id="9" name="Group 8">
            <a:extLst>
              <a:ext uri="{FF2B5EF4-FFF2-40B4-BE49-F238E27FC236}">
                <a16:creationId xmlns:a16="http://schemas.microsoft.com/office/drawing/2014/main" id="{94D15288-CE1F-8A4D-98B2-24E0447A2AAA}"/>
              </a:ext>
            </a:extLst>
          </p:cNvPr>
          <p:cNvGrpSpPr/>
          <p:nvPr/>
        </p:nvGrpSpPr>
        <p:grpSpPr>
          <a:xfrm>
            <a:off x="540565" y="4652942"/>
            <a:ext cx="7940985" cy="1804733"/>
            <a:chOff x="114231" y="2238046"/>
            <a:chExt cx="7941573" cy="1805372"/>
          </a:xfrm>
        </p:grpSpPr>
        <p:sp>
          <p:nvSpPr>
            <p:cNvPr id="10" name="Rounded Rectangle 9">
              <a:extLst>
                <a:ext uri="{FF2B5EF4-FFF2-40B4-BE49-F238E27FC236}">
                  <a16:creationId xmlns:a16="http://schemas.microsoft.com/office/drawing/2014/main" id="{B6A91B25-5CC0-F044-8339-7DD59EF01F92}"/>
                </a:ext>
              </a:extLst>
            </p:cNvPr>
            <p:cNvSpPr/>
            <p:nvPr/>
          </p:nvSpPr>
          <p:spPr>
            <a:xfrm>
              <a:off x="114231" y="2238046"/>
              <a:ext cx="7941573" cy="1805372"/>
            </a:xfrm>
            <a:prstGeom prst="roundRect">
              <a:avLst>
                <a:gd name="adj" fmla="val 16667"/>
              </a:avLst>
            </a:prstGeom>
            <a:solidFill>
              <a:srgbClr val="B8E6F4"/>
            </a:solidFill>
            <a:ln>
              <a:noFill/>
            </a:ln>
            <a:effectLst>
              <a:outerShdw blurRad="50800" dist="38100" dir="2700000" algn="tl" rotWithShape="0">
                <a:prstClr val="black">
                  <a:alpha val="40000"/>
                </a:prstClr>
              </a:outerShdw>
            </a:effectLst>
          </p:spPr>
          <p:txBody>
            <a:bodyPr spcFirstLastPara="1" wrap="square" lIns="91425" tIns="91425" rIns="91425" bIns="0" anchor="ctr" anchorCtr="0">
              <a:spAutoFit/>
            </a:bodyPr>
            <a:lstStyle/>
            <a:p>
              <a:pPr marL="685800"/>
              <a:r>
                <a:rPr lang="en-US" sz="2000" dirty="0">
                  <a:solidFill>
                    <a:srgbClr val="00619E"/>
                  </a:solidFill>
                  <a:latin typeface="Verdana" panose="020B0604030504040204" pitchFamily="34" charset="0"/>
                  <a:ea typeface="Verdana" panose="020B0604030504040204" pitchFamily="34" charset="0"/>
                  <a:cs typeface="Verdana" panose="020B0604030504040204" pitchFamily="34" charset="0"/>
                </a:rPr>
                <a:t>If a secant and tangent segment are drawn to a circle from the same external point, then the square of the measure of the tangent segment is equal to the product of the measures of the secant segment and its external secant segment. </a:t>
              </a:r>
              <a:endParaRPr lang="en-US" sz="2000" dirty="0">
                <a:latin typeface="Cambria" panose="02040503050406030204" pitchFamily="18" charset="0"/>
                <a:ea typeface="Times New Roman" panose="02020603050405020304" pitchFamily="18" charset="0"/>
                <a:cs typeface="Times New Roman" panose="02020603050405020304" pitchFamily="18" charset="0"/>
              </a:endParaRPr>
            </a:p>
          </p:txBody>
        </p:sp>
        <p:pic>
          <p:nvPicPr>
            <p:cNvPr id="11" name="Shape 6" descr="Icon&#10;&#10;Description automatically generated">
              <a:extLst>
                <a:ext uri="{FF2B5EF4-FFF2-40B4-BE49-F238E27FC236}">
                  <a16:creationId xmlns:a16="http://schemas.microsoft.com/office/drawing/2014/main" id="{B2428B08-DF4A-1140-88D6-8CA11CA1F6E8}"/>
                </a:ext>
              </a:extLst>
            </p:cNvPr>
            <p:cNvPicPr/>
            <p:nvPr/>
          </p:nvPicPr>
          <p:blipFill>
            <a:blip r:embed="rId6">
              <a:alphaModFix/>
            </a:blip>
            <a:stretch>
              <a:fillRect/>
            </a:stretch>
          </p:blipFill>
          <p:spPr>
            <a:xfrm>
              <a:off x="262195" y="2446566"/>
              <a:ext cx="548681" cy="548834"/>
            </a:xfrm>
            <a:prstGeom prst="rect">
              <a:avLst/>
            </a:prstGeom>
            <a:noFill/>
            <a:ln>
              <a:noFill/>
            </a:ln>
            <a:effectLst>
              <a:outerShdw blurRad="50800" dist="38100" dir="2700000" algn="tl" rotWithShape="0">
                <a:prstClr val="black">
                  <a:alpha val="40000"/>
                </a:prstClr>
              </a:outerShdw>
            </a:effectLst>
          </p:spPr>
        </p:pic>
      </p:grpSp>
      <p:sp>
        <p:nvSpPr>
          <p:cNvPr id="13" name="Google Shape;282;g104476d1465_1_17">
            <a:extLst>
              <a:ext uri="{FF2B5EF4-FFF2-40B4-BE49-F238E27FC236}">
                <a16:creationId xmlns:a16="http://schemas.microsoft.com/office/drawing/2014/main" id="{B07935B0-67BF-474B-96A6-4AB0FF4ED89C}"/>
              </a:ext>
            </a:extLst>
          </p:cNvPr>
          <p:cNvSpPr txBox="1"/>
          <p:nvPr/>
        </p:nvSpPr>
        <p:spPr>
          <a:xfrm>
            <a:off x="886770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243</a:t>
            </a:r>
            <a:endParaRPr i="1" dirty="0">
              <a:latin typeface="Calibri"/>
              <a:ea typeface="Calibri"/>
              <a:cs typeface="Calibri"/>
              <a:sym typeface="Calibri"/>
            </a:endParaRPr>
          </a:p>
        </p:txBody>
      </p:sp>
    </p:spTree>
    <p:extLst>
      <p:ext uri="{BB962C8B-B14F-4D97-AF65-F5344CB8AC3E}">
        <p14:creationId xmlns:p14="http://schemas.microsoft.com/office/powerpoint/2010/main" val="10916042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pic>
        <p:nvPicPr>
          <p:cNvPr id="9218"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a:extLst>
              <a:ext uri="{FF2B5EF4-FFF2-40B4-BE49-F238E27FC236}">
                <a16:creationId xmlns:a16="http://schemas.microsoft.com/office/drawing/2014/main" id="{36F17FF9-870D-8747-800A-584597D87161}"/>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244</a:t>
            </a:r>
            <a:endParaRPr i="1" dirty="0">
              <a:latin typeface="Calibri"/>
              <a:ea typeface="Calibri"/>
              <a:cs typeface="Calibri"/>
              <a:sym typeface="Calibri"/>
            </a:endParaRPr>
          </a:p>
        </p:txBody>
      </p:sp>
    </p:spTree>
    <p:extLst>
      <p:ext uri="{BB962C8B-B14F-4D97-AF65-F5344CB8AC3E}">
        <p14:creationId xmlns:p14="http://schemas.microsoft.com/office/powerpoint/2010/main" val="16930146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9" name="Picture 8">
            <a:extLst>
              <a:ext uri="{FF2B5EF4-FFF2-40B4-BE49-F238E27FC236}">
                <a16:creationId xmlns:a16="http://schemas.microsoft.com/office/drawing/2014/main" id="{FCC61731-2796-3E4D-A244-BEC85DD8A5D6}"/>
              </a:ext>
            </a:extLst>
          </p:cNvPr>
          <p:cNvPicPr/>
          <p:nvPr/>
        </p:nvPicPr>
        <p:blipFill rotWithShape="1">
          <a:blip r:embed="rId3"/>
          <a:srcRect l="3799" t="2093" r="8689" b="3435"/>
          <a:stretch/>
        </p:blipFill>
        <p:spPr>
          <a:xfrm>
            <a:off x="8889924" y="1835204"/>
            <a:ext cx="2305050" cy="3832171"/>
          </a:xfrm>
          <a:prstGeom prst="rect">
            <a:avLst/>
          </a:prstGeom>
        </p:spPr>
      </p:pic>
      <p:sp>
        <p:nvSpPr>
          <p:cNvPr id="278" name="Google Shape;278;g104476d1465_1_17"/>
          <p:cNvSpPr/>
          <p:nvPr/>
        </p:nvSpPr>
        <p:spPr>
          <a:xfrm>
            <a:off x="0" y="-8225"/>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052650" y="215773"/>
            <a:ext cx="105755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12.3.3 Guided Practice: Solving Problems Involving Intersecting Secant and Tangent Segments</a:t>
            </a:r>
          </a:p>
        </p:txBody>
      </p:sp>
      <p:pic>
        <p:nvPicPr>
          <p:cNvPr id="8"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02842" y="503719"/>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1D40250-DEDD-2C41-8538-3D4DD18CCC4A}"/>
                  </a:ext>
                </a:extLst>
              </p:cNvPr>
              <p:cNvSpPr txBox="1"/>
              <p:nvPr/>
            </p:nvSpPr>
            <p:spPr>
              <a:xfrm>
                <a:off x="677745" y="1835204"/>
                <a:ext cx="8084117" cy="1325556"/>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Circle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𝑀</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has points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𝐶</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𝑉</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𝑃</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on the circle. Secant </a:t>
                </a:r>
                <a14:m>
                  <m:oMath xmlns:m="http://schemas.openxmlformats.org/officeDocument/2006/math">
                    <m:acc>
                      <m:accPr>
                        <m:chr m:val="̅"/>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accPr>
                      <m:e>
                        <m:r>
                          <a:rPr lang="en-US" sz="2000" i="1">
                            <a:latin typeface="Cambria Math" panose="02040503050406030204" pitchFamily="18" charset="0"/>
                            <a:ea typeface="Times New Roman" panose="02020603050405020304" pitchFamily="18" charset="0"/>
                            <a:cs typeface="Times New Roman" panose="02020603050405020304" pitchFamily="18" charset="0"/>
                          </a:rPr>
                          <m:t>𝐶𝑆</m:t>
                        </m:r>
                      </m:e>
                    </m:acc>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and tangent </a:t>
                </a:r>
                <a14:m>
                  <m:oMath xmlns:m="http://schemas.openxmlformats.org/officeDocument/2006/math">
                    <m:acc>
                      <m:accPr>
                        <m:chr m:val="̅"/>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accPr>
                      <m:e>
                        <m:r>
                          <a:rPr lang="en-US" sz="2000" i="1">
                            <a:latin typeface="Cambria Math" panose="02040503050406030204" pitchFamily="18" charset="0"/>
                            <a:ea typeface="Times New Roman" panose="02020603050405020304" pitchFamily="18" charset="0"/>
                            <a:cs typeface="Times New Roman" panose="02020603050405020304" pitchFamily="18" charset="0"/>
                          </a:rPr>
                          <m:t>𝑉𝑆</m:t>
                        </m:r>
                      </m:e>
                    </m:acc>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intersect at point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𝑆</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outside the circle. </a:t>
                </a:r>
                <a:endParaRPr lang="en-US" sz="2000" i="1" dirty="0">
                  <a:latin typeface="Cambria Math" panose="02040503050406030204" pitchFamily="18" charset="0"/>
                  <a:ea typeface="Times New Roman" panose="02020603050405020304" pitchFamily="18" charset="0"/>
                  <a:cs typeface="Times New Roman" panose="02020603050405020304" pitchFamily="18" charset="0"/>
                </a:endParaRPr>
              </a:p>
              <a:p>
                <a:pPr marL="457200"/>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𝐶𝑃</m:t>
                    </m:r>
                    <m:r>
                      <a:rPr lang="en-US" sz="2000" i="1">
                        <a:latin typeface="Cambria Math" panose="02040503050406030204" pitchFamily="18" charset="0"/>
                        <a:ea typeface="Times New Roman" panose="02020603050405020304" pitchFamily="18" charset="0"/>
                        <a:cs typeface="Times New Roman" panose="02020603050405020304" pitchFamily="18" charset="0"/>
                      </a:rPr>
                      <m:t>=4</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𝑆𝑃</m:t>
                    </m:r>
                    <m:r>
                      <a:rPr lang="en-US" sz="2000" i="1">
                        <a:latin typeface="Cambria Math" panose="02040503050406030204" pitchFamily="18" charset="0"/>
                        <a:ea typeface="Times New Roman" panose="02020603050405020304" pitchFamily="18" charset="0"/>
                        <a:cs typeface="Times New Roman" panose="02020603050405020304" pitchFamily="18" charset="0"/>
                      </a:rPr>
                      <m:t>=3</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What is the length of </a:t>
                </a:r>
                <a14:m>
                  <m:oMath xmlns:m="http://schemas.openxmlformats.org/officeDocument/2006/math">
                    <m:acc>
                      <m:accPr>
                        <m:chr m:val="̅"/>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accPr>
                      <m:e>
                        <m:r>
                          <a:rPr lang="en-US" sz="2000" i="1">
                            <a:latin typeface="Cambria Math" panose="02040503050406030204" pitchFamily="18" charset="0"/>
                            <a:ea typeface="Times New Roman" panose="02020603050405020304" pitchFamily="18" charset="0"/>
                            <a:cs typeface="Times New Roman" panose="02020603050405020304" pitchFamily="18" charset="0"/>
                          </a:rPr>
                          <m:t>𝑆𝑉</m:t>
                        </m:r>
                      </m:e>
                    </m:acc>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Round to the nearest thousandth. </a:t>
                </a:r>
                <a:endParaRPr lang="en-US"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0" name="TextBox 9">
                <a:extLst>
                  <a:ext uri="{FF2B5EF4-FFF2-40B4-BE49-F238E27FC236}">
                    <a16:creationId xmlns:a16="http://schemas.microsoft.com/office/drawing/2014/main" id="{31D40250-DEDD-2C41-8538-3D4DD18CCC4A}"/>
                  </a:ext>
                </a:extLst>
              </p:cNvPr>
              <p:cNvSpPr txBox="1">
                <a:spLocks noRot="1" noChangeAspect="1" noMove="1" noResize="1" noEditPoints="1" noAdjustHandles="1" noChangeArrowheads="1" noChangeShapeType="1" noTextEdit="1"/>
              </p:cNvSpPr>
              <p:nvPr/>
            </p:nvSpPr>
            <p:spPr>
              <a:xfrm>
                <a:off x="677745" y="1835204"/>
                <a:ext cx="8084117" cy="1325556"/>
              </a:xfrm>
              <a:prstGeom prst="rect">
                <a:avLst/>
              </a:prstGeom>
              <a:blipFill>
                <a:blip r:embed="rId6"/>
                <a:stretch>
                  <a:fillRect l="-830" t="-3226" r="-603" b="-7373"/>
                </a:stretch>
              </a:blipFill>
            </p:spPr>
            <p:txBody>
              <a:bodyPr/>
              <a:lstStyle/>
              <a:p>
                <a:r>
                  <a:rPr lang="en-US">
                    <a:noFill/>
                  </a:rPr>
                  <a:t> </a:t>
                </a:r>
              </a:p>
            </p:txBody>
          </p:sp>
        </mc:Fallback>
      </mc:AlternateContent>
      <p:sp>
        <p:nvSpPr>
          <p:cNvPr id="11" name="Google Shape;282;g104476d1465_1_17">
            <a:extLst>
              <a:ext uri="{FF2B5EF4-FFF2-40B4-BE49-F238E27FC236}">
                <a16:creationId xmlns:a16="http://schemas.microsoft.com/office/drawing/2014/main" id="{6DA3847A-40AB-BF49-A770-CE67185F9055}"/>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244</a:t>
            </a:r>
            <a:endParaRPr i="1" dirty="0">
              <a:latin typeface="Calibri"/>
              <a:ea typeface="Calibri"/>
              <a:cs typeface="Calibri"/>
              <a:sym typeface="Calibri"/>
            </a:endParaRPr>
          </a:p>
        </p:txBody>
      </p:sp>
    </p:spTree>
    <p:extLst>
      <p:ext uri="{BB962C8B-B14F-4D97-AF65-F5344CB8AC3E}">
        <p14:creationId xmlns:p14="http://schemas.microsoft.com/office/powerpoint/2010/main" val="7455233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0777" y="6200724"/>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40565" y="528619"/>
                <a:ext cx="7143125" cy="1324850"/>
              </a:xfrm>
              <a:prstGeom prst="rect">
                <a:avLst/>
              </a:prstGeom>
              <a:noFill/>
            </p:spPr>
            <p:txBody>
              <a:bodyPr wrap="square" rtlCol="0">
                <a:spAutoFit/>
              </a:bodyPr>
              <a:lstStyle/>
              <a:p>
                <a:pPr marL="457200" indent="-457200">
                  <a:spcAft>
                    <a:spcPts val="1000"/>
                  </a:spcAft>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Circle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𝐷</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is shown with points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𝑍</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𝐴</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𝑀</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on the circle. Secant </a:t>
                </a:r>
                <a14:m>
                  <m:oMath xmlns:m="http://schemas.openxmlformats.org/officeDocument/2006/math">
                    <m:acc>
                      <m:accPr>
                        <m:chr m:val="̅"/>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accPr>
                      <m:e>
                        <m:r>
                          <a:rPr lang="en-US" sz="2000" i="1">
                            <a:latin typeface="Cambria Math" panose="02040503050406030204" pitchFamily="18" charset="0"/>
                            <a:ea typeface="Times New Roman" panose="02020603050405020304" pitchFamily="18" charset="0"/>
                            <a:cs typeface="Times New Roman" panose="02020603050405020304" pitchFamily="18" charset="0"/>
                          </a:rPr>
                          <m:t>𝐶𝑍</m:t>
                        </m:r>
                      </m:e>
                    </m:acc>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and tangent </a:t>
                </a:r>
                <a14:m>
                  <m:oMath xmlns:m="http://schemas.openxmlformats.org/officeDocument/2006/math">
                    <m:acc>
                      <m:accPr>
                        <m:chr m:val="̅"/>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accPr>
                      <m:e>
                        <m:r>
                          <a:rPr lang="en-US" sz="2000" i="1">
                            <a:latin typeface="Cambria Math" panose="02040503050406030204" pitchFamily="18" charset="0"/>
                            <a:ea typeface="Times New Roman" panose="02020603050405020304" pitchFamily="18" charset="0"/>
                            <a:cs typeface="Times New Roman" panose="02020603050405020304" pitchFamily="18" charset="0"/>
                          </a:rPr>
                          <m:t>𝐶𝑀</m:t>
                        </m:r>
                      </m:e>
                    </m:acc>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intersect at point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𝐶</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outside the circle.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𝐴𝑍</m:t>
                    </m:r>
                    <m:r>
                      <a:rPr lang="en-US" sz="2000" i="1">
                        <a:latin typeface="Cambria Math" panose="02040503050406030204" pitchFamily="18" charset="0"/>
                        <a:ea typeface="Times New Roman" panose="02020603050405020304" pitchFamily="18" charset="0"/>
                        <a:cs typeface="Times New Roman" panose="02020603050405020304" pitchFamily="18" charset="0"/>
                      </a:rPr>
                      <m:t>=16</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𝐴𝐶</m:t>
                    </m:r>
                    <m:r>
                      <a:rPr lang="en-US" sz="2000" i="1">
                        <a:latin typeface="Cambria Math" panose="02040503050406030204" pitchFamily="18" charset="0"/>
                        <a:ea typeface="Times New Roman" panose="02020603050405020304" pitchFamily="18" charset="0"/>
                        <a:cs typeface="Times New Roman" panose="02020603050405020304" pitchFamily="18" charset="0"/>
                      </a:rPr>
                      <m:t>=(</m:t>
                    </m:r>
                    <m:r>
                      <a:rPr lang="en-US" sz="2000" i="1">
                        <a:latin typeface="Cambria Math" panose="02040503050406030204" pitchFamily="18" charset="0"/>
                        <a:ea typeface="Times New Roman" panose="02020603050405020304" pitchFamily="18" charset="0"/>
                        <a:cs typeface="Times New Roman" panose="02020603050405020304" pitchFamily="18" charset="0"/>
                      </a:rPr>
                      <m:t>𝑥</m:t>
                    </m:r>
                    <m:r>
                      <a:rPr lang="en-US" sz="2000" i="1">
                        <a:latin typeface="Cambria Math" panose="02040503050406030204" pitchFamily="18" charset="0"/>
                        <a:ea typeface="Times New Roman" panose="02020603050405020304" pitchFamily="18" charset="0"/>
                        <a:cs typeface="Times New Roman" panose="02020603050405020304" pitchFamily="18" charset="0"/>
                      </a:rPr>
                      <m:t>−3)</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𝑀𝐶</m:t>
                    </m:r>
                    <m:r>
                      <a:rPr lang="en-US" sz="2000" i="1">
                        <a:latin typeface="Cambria Math" panose="02040503050406030204" pitchFamily="18" charset="0"/>
                        <a:ea typeface="Times New Roman" panose="02020603050405020304" pitchFamily="18" charset="0"/>
                        <a:cs typeface="Times New Roman" panose="02020603050405020304" pitchFamily="18" charset="0"/>
                      </a:rPr>
                      <m:t>=(</m:t>
                    </m:r>
                    <m:r>
                      <a:rPr lang="en-US" sz="2000" i="1">
                        <a:latin typeface="Cambria Math" panose="02040503050406030204" pitchFamily="18" charset="0"/>
                        <a:ea typeface="Times New Roman" panose="02020603050405020304" pitchFamily="18" charset="0"/>
                        <a:cs typeface="Times New Roman" panose="02020603050405020304" pitchFamily="18" charset="0"/>
                      </a:rPr>
                      <m:t>𝑥</m:t>
                    </m:r>
                    <m:r>
                      <a:rPr lang="en-US" sz="2000" i="1">
                        <a:latin typeface="Cambria Math" panose="02040503050406030204" pitchFamily="18" charset="0"/>
                        <a:ea typeface="Times New Roman" panose="02020603050405020304" pitchFamily="18" charset="0"/>
                        <a:cs typeface="Times New Roman" panose="02020603050405020304" pitchFamily="18" charset="0"/>
                      </a:rPr>
                      <m:t>+3)</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What is the length of </a:t>
                </a:r>
                <a14:m>
                  <m:oMath xmlns:m="http://schemas.openxmlformats.org/officeDocument/2006/math">
                    <m:acc>
                      <m:accPr>
                        <m:chr m:val="̅"/>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accPr>
                      <m:e>
                        <m:r>
                          <a:rPr lang="en-US" sz="2000" i="1">
                            <a:latin typeface="Cambria Math" panose="02040503050406030204" pitchFamily="18" charset="0"/>
                            <a:ea typeface="Times New Roman" panose="02020603050405020304" pitchFamily="18" charset="0"/>
                            <a:cs typeface="Times New Roman" panose="02020603050405020304" pitchFamily="18" charset="0"/>
                          </a:rPr>
                          <m:t>𝐶𝑀</m:t>
                        </m:r>
                      </m:e>
                    </m:acc>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a:t>
                </a:r>
                <a:endParaRPr lang="en-US"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40565" y="528619"/>
                <a:ext cx="7143125" cy="1324850"/>
              </a:xfrm>
              <a:prstGeom prst="rect">
                <a:avLst/>
              </a:prstGeom>
              <a:blipFill>
                <a:blip r:embed="rId4"/>
                <a:stretch>
                  <a:fillRect l="-939" t="-3226" r="-1708" b="-7373"/>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8EF6A31A-B64B-1B47-ADC6-7177B4127477}"/>
              </a:ext>
            </a:extLst>
          </p:cNvPr>
          <p:cNvPicPr/>
          <p:nvPr/>
        </p:nvPicPr>
        <p:blipFill rotWithShape="1">
          <a:blip r:embed="rId5">
            <a:extLst>
              <a:ext uri="{28A0092B-C50C-407E-A947-70E740481C1C}">
                <a14:useLocalDpi xmlns:a14="http://schemas.microsoft.com/office/drawing/2010/main"/>
              </a:ext>
            </a:extLst>
          </a:blip>
          <a:srcRect l="8443" t="3909" r="3760" b="3808"/>
          <a:stretch/>
        </p:blipFill>
        <p:spPr>
          <a:xfrm>
            <a:off x="8063914" y="528619"/>
            <a:ext cx="3309825" cy="3495675"/>
          </a:xfrm>
          <a:prstGeom prst="rect">
            <a:avLst/>
          </a:prstGeom>
        </p:spPr>
      </p:pic>
      <p:sp>
        <p:nvSpPr>
          <p:cNvPr id="7" name="Google Shape;282;g104476d1465_1_17">
            <a:extLst>
              <a:ext uri="{FF2B5EF4-FFF2-40B4-BE49-F238E27FC236}">
                <a16:creationId xmlns:a16="http://schemas.microsoft.com/office/drawing/2014/main" id="{E0C92AFF-08DC-E249-853D-4B7D7174E5AF}"/>
              </a:ext>
            </a:extLst>
          </p:cNvPr>
          <p:cNvSpPr txBox="1"/>
          <p:nvPr/>
        </p:nvSpPr>
        <p:spPr>
          <a:xfrm>
            <a:off x="8862551"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244</a:t>
            </a:r>
            <a:endParaRPr i="1" dirty="0">
              <a:latin typeface="Calibri"/>
              <a:ea typeface="Calibri"/>
              <a:cs typeface="Calibri"/>
              <a:sym typeface="Calibri"/>
            </a:endParaRPr>
          </a:p>
        </p:txBody>
      </p:sp>
    </p:spTree>
    <p:extLst>
      <p:ext uri="{BB962C8B-B14F-4D97-AF65-F5344CB8AC3E}">
        <p14:creationId xmlns:p14="http://schemas.microsoft.com/office/powerpoint/2010/main" val="24222232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40564" y="520393"/>
                <a:ext cx="11087585" cy="1323439"/>
              </a:xfrm>
              <a:prstGeom prst="rect">
                <a:avLst/>
              </a:prstGeom>
              <a:noFill/>
            </p:spPr>
            <p:txBody>
              <a:bodyPr wrap="square" rtlCol="0">
                <a:spAutoFit/>
              </a:bodyPr>
              <a:lstStyle/>
              <a:p>
                <a:pPr marL="457200" indent="-457200">
                  <a:buFont typeface="+mj-lt"/>
                  <a:buAutoNum type="arabicPeriod" startAt="3"/>
                </a:pPr>
                <a:r>
                  <a:rPr lang="en-US" sz="2000" dirty="0">
                    <a:latin typeface="Verdana" panose="020B0604030504040204" pitchFamily="34" charset="0"/>
                    <a:ea typeface="Times New Roman" panose="02020603050405020304" pitchFamily="18" charset="0"/>
                    <a:cs typeface="Times New Roman" panose="02020603050405020304" pitchFamily="18" charset="0"/>
                  </a:rPr>
                  <a:t>A drone flew over the Laguna Garzon Bridge in Uruguay and took pictures at three points on the bridge: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𝑁</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𝑅</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𝐻</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Tangent </a:t>
                </a:r>
                <a14:m>
                  <m:oMath xmlns:m="http://schemas.openxmlformats.org/officeDocument/2006/math">
                    <m:acc>
                      <m:accPr>
                        <m:chr m:val="̅"/>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accPr>
                      <m:e>
                        <m:r>
                          <a:rPr lang="en-US" sz="2000" i="1">
                            <a:latin typeface="Cambria Math" panose="02040503050406030204" pitchFamily="18" charset="0"/>
                            <a:ea typeface="Times New Roman" panose="02020603050405020304" pitchFamily="18" charset="0"/>
                            <a:cs typeface="Times New Roman" panose="02020603050405020304" pitchFamily="18" charset="0"/>
                          </a:rPr>
                          <m:t>𝐻𝑊</m:t>
                        </m:r>
                      </m:e>
                    </m:acc>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and secant </a:t>
                </a:r>
                <a14:m>
                  <m:oMath xmlns:m="http://schemas.openxmlformats.org/officeDocument/2006/math">
                    <m:acc>
                      <m:accPr>
                        <m:chr m:val="̅"/>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accPr>
                      <m:e>
                        <m:r>
                          <a:rPr lang="en-US" sz="2000" i="1">
                            <a:latin typeface="Cambria Math" panose="02040503050406030204" pitchFamily="18" charset="0"/>
                            <a:ea typeface="Times New Roman" panose="02020603050405020304" pitchFamily="18" charset="0"/>
                            <a:cs typeface="Times New Roman" panose="02020603050405020304" pitchFamily="18" charset="0"/>
                          </a:rPr>
                          <m:t>𝑁𝑊</m:t>
                        </m:r>
                      </m:e>
                    </m:acc>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intersect at point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𝑊</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off the bridge. If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𝐻𝑊</m:t>
                    </m:r>
                    <m:r>
                      <a:rPr lang="en-US" sz="2000" i="1">
                        <a:latin typeface="Cambria Math" panose="02040503050406030204" pitchFamily="18" charset="0"/>
                        <a:ea typeface="Times New Roman" panose="02020603050405020304" pitchFamily="18" charset="0"/>
                        <a:cs typeface="Times New Roman" panose="02020603050405020304" pitchFamily="18" charset="0"/>
                      </a:rPr>
                      <m:t>=280</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feet (ft) and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𝑅𝑊</m:t>
                    </m:r>
                    <m:r>
                      <a:rPr lang="en-US" sz="2000" i="1">
                        <a:latin typeface="Cambria Math" panose="02040503050406030204" pitchFamily="18" charset="0"/>
                        <a:ea typeface="Times New Roman" panose="02020603050405020304" pitchFamily="18" charset="0"/>
                        <a:cs typeface="Times New Roman" panose="02020603050405020304" pitchFamily="18" charset="0"/>
                      </a:rPr>
                      <m:t>=160</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ft, what is the length of </a:t>
                </a:r>
                <a14:m>
                  <m:oMath xmlns:m="http://schemas.openxmlformats.org/officeDocument/2006/math">
                    <m:acc>
                      <m:accPr>
                        <m:chr m:val="̅"/>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accPr>
                      <m:e>
                        <m:r>
                          <a:rPr lang="en-US" sz="2000" i="1">
                            <a:latin typeface="Cambria Math" panose="02040503050406030204" pitchFamily="18" charset="0"/>
                            <a:ea typeface="Times New Roman" panose="02020603050405020304" pitchFamily="18" charset="0"/>
                            <a:cs typeface="Times New Roman" panose="02020603050405020304" pitchFamily="18" charset="0"/>
                          </a:rPr>
                          <m:t>𝑁𝑊</m:t>
                        </m:r>
                      </m:e>
                    </m:acc>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a:t>
                </a:r>
                <a:endParaRPr lang="en-US"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40564" y="520393"/>
                <a:ext cx="11087585" cy="1323439"/>
              </a:xfrm>
              <a:prstGeom prst="rect">
                <a:avLst/>
              </a:prstGeom>
              <a:blipFill>
                <a:blip r:embed="rId4"/>
                <a:stretch>
                  <a:fillRect l="-605" t="-2765" b="-7373"/>
                </a:stretch>
              </a:blipFill>
            </p:spPr>
            <p:txBody>
              <a:bodyPr/>
              <a:lstStyle/>
              <a:p>
                <a:r>
                  <a:rPr lang="en-US">
                    <a:noFill/>
                  </a:rPr>
                  <a:t> </a:t>
                </a:r>
              </a:p>
            </p:txBody>
          </p:sp>
        </mc:Fallback>
      </mc:AlternateContent>
      <p:sp>
        <p:nvSpPr>
          <p:cNvPr id="7" name="Google Shape;282;g104476d1465_1_17">
            <a:extLst>
              <a:ext uri="{FF2B5EF4-FFF2-40B4-BE49-F238E27FC236}">
                <a16:creationId xmlns:a16="http://schemas.microsoft.com/office/drawing/2014/main" id="{4A16440C-E0E2-5A4C-AEA6-7E39BD9696D2}"/>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244</a:t>
            </a:r>
            <a:endParaRPr i="1" dirty="0">
              <a:latin typeface="Calibri"/>
              <a:ea typeface="Calibri"/>
              <a:cs typeface="Calibri"/>
              <a:sym typeface="Calibri"/>
            </a:endParaRPr>
          </a:p>
        </p:txBody>
      </p:sp>
      <p:pic>
        <p:nvPicPr>
          <p:cNvPr id="8" name="Picture 7"/>
          <p:cNvPicPr/>
          <p:nvPr/>
        </p:nvPicPr>
        <p:blipFill>
          <a:blip r:embed="rId5" cstate="screen">
            <a:extLst>
              <a:ext uri="{28A0092B-C50C-407E-A947-70E740481C1C}">
                <a14:useLocalDpi xmlns:a14="http://schemas.microsoft.com/office/drawing/2010/main"/>
              </a:ext>
            </a:extLst>
          </a:blip>
          <a:stretch>
            <a:fillRect/>
          </a:stretch>
        </p:blipFill>
        <p:spPr>
          <a:xfrm>
            <a:off x="2264767" y="1843832"/>
            <a:ext cx="4960620" cy="2572226"/>
          </a:xfrm>
          <a:prstGeom prst="rect">
            <a:avLst/>
          </a:prstGeom>
        </p:spPr>
      </p:pic>
    </p:spTree>
    <p:extLst>
      <p:ext uri="{BB962C8B-B14F-4D97-AF65-F5344CB8AC3E}">
        <p14:creationId xmlns:p14="http://schemas.microsoft.com/office/powerpoint/2010/main" val="3437117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4">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7" name="Google Shape;282;g104476d1465_1_17">
            <a:extLst>
              <a:ext uri="{FF2B5EF4-FFF2-40B4-BE49-F238E27FC236}">
                <a16:creationId xmlns:a16="http://schemas.microsoft.com/office/drawing/2014/main" id="{E9891885-AC10-BB4B-98E6-C1EBC67AAC14}"/>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245</a:t>
            </a:r>
            <a:endParaRPr i="1" dirty="0">
              <a:latin typeface="Calibri"/>
              <a:ea typeface="Calibri"/>
              <a:cs typeface="Calibri"/>
              <a:sym typeface="Calibri"/>
            </a:endParaRPr>
          </a:p>
        </p:txBody>
      </p:sp>
    </p:spTree>
    <p:extLst>
      <p:ext uri="{BB962C8B-B14F-4D97-AF65-F5344CB8AC3E}">
        <p14:creationId xmlns:p14="http://schemas.microsoft.com/office/powerpoint/2010/main" val="17908396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8" name="Picture 7">
            <a:extLst>
              <a:ext uri="{FF2B5EF4-FFF2-40B4-BE49-F238E27FC236}">
                <a16:creationId xmlns:a16="http://schemas.microsoft.com/office/drawing/2014/main" id="{9F4BB7A3-C7EC-3A49-AC20-5D069CF58671}"/>
              </a:ext>
            </a:extLst>
          </p:cNvPr>
          <p:cNvPicPr/>
          <p:nvPr/>
        </p:nvPicPr>
        <p:blipFill>
          <a:blip r:embed="rId3"/>
          <a:stretch>
            <a:fillRect/>
          </a:stretch>
        </p:blipFill>
        <p:spPr>
          <a:xfrm>
            <a:off x="7718936" y="948518"/>
            <a:ext cx="3947160" cy="3759200"/>
          </a:xfrm>
          <a:prstGeom prst="rect">
            <a:avLst/>
          </a:prstGeom>
        </p:spPr>
      </p:pic>
      <p:sp>
        <p:nvSpPr>
          <p:cNvPr id="278" name="Google Shape;278;g104476d1465_1_17"/>
          <p:cNvSpPr/>
          <p:nvPr/>
        </p:nvSpPr>
        <p:spPr>
          <a:xfrm>
            <a:off x="0" y="-8225"/>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037988" y="61244"/>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12.3.4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5">
            <a:alphaModFix/>
          </a:blip>
          <a:srcRect/>
          <a:stretch/>
        </p:blipFill>
        <p:spPr>
          <a:xfrm>
            <a:off x="290688" y="61244"/>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59C3E41-93EC-B84D-963F-86A3B15AC1C6}"/>
                  </a:ext>
                </a:extLst>
              </p:cNvPr>
              <p:cNvSpPr txBox="1"/>
              <p:nvPr/>
            </p:nvSpPr>
            <p:spPr>
              <a:xfrm>
                <a:off x="525905" y="1018062"/>
                <a:ext cx="7193032" cy="1324145"/>
              </a:xfrm>
              <a:prstGeom prst="rect">
                <a:avLst/>
              </a:prstGeom>
              <a:noFill/>
            </p:spPr>
            <p:txBody>
              <a:bodyPr wrap="square" rtlCol="0">
                <a:spAutoFit/>
              </a:bodyPr>
              <a:lstStyle/>
              <a:p>
                <a:pPr marL="457200" indent="-457200">
                  <a:spcAft>
                    <a:spcPts val="1000"/>
                  </a:spcAft>
                  <a:buSzPct val="1000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Circle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𝑍</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is shown with points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𝐶</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𝑁</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and</a:t>
                </a:r>
                <a14:m>
                  <m:oMath xmlns:m="http://schemas.openxmlformats.org/officeDocument/2006/math">
                    <m:r>
                      <a:rPr lang="en-US" sz="2000" b="0" i="0" smtClean="0">
                        <a:latin typeface="Cambria Math" panose="02040503050406030204" pitchFamily="18" charset="0"/>
                        <a:ea typeface="Times New Roman" panose="02020603050405020304" pitchFamily="18" charset="0"/>
                        <a:cs typeface="Times New Roman" panose="02020603050405020304" pitchFamily="18" charset="0"/>
                      </a:rPr>
                      <m:t> </m:t>
                    </m:r>
                    <m:r>
                      <a:rPr lang="en-US" sz="2000" i="1">
                        <a:latin typeface="Cambria Math" panose="02040503050406030204" pitchFamily="18" charset="0"/>
                        <a:ea typeface="Times New Roman" panose="02020603050405020304" pitchFamily="18" charset="0"/>
                        <a:cs typeface="Times New Roman" panose="02020603050405020304" pitchFamily="18" charset="0"/>
                      </a:rPr>
                      <m:t>𝐵</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on the circle. Secant </a:t>
                </a:r>
                <a14:m>
                  <m:oMath xmlns:m="http://schemas.openxmlformats.org/officeDocument/2006/math">
                    <m:acc>
                      <m:accPr>
                        <m:chr m:val="̅"/>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accPr>
                      <m:e>
                        <m:r>
                          <a:rPr lang="en-US" sz="2000" i="1">
                            <a:latin typeface="Cambria Math" panose="02040503050406030204" pitchFamily="18" charset="0"/>
                            <a:ea typeface="Times New Roman" panose="02020603050405020304" pitchFamily="18" charset="0"/>
                            <a:cs typeface="Times New Roman" panose="02020603050405020304" pitchFamily="18" charset="0"/>
                          </a:rPr>
                          <m:t>𝐶𝐻</m:t>
                        </m:r>
                      </m:e>
                    </m:acc>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and tangent </a:t>
                </a:r>
                <a14:m>
                  <m:oMath xmlns:m="http://schemas.openxmlformats.org/officeDocument/2006/math">
                    <m:acc>
                      <m:accPr>
                        <m:chr m:val="̅"/>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accPr>
                      <m:e>
                        <m:r>
                          <a:rPr lang="en-US" sz="2000" i="1">
                            <a:latin typeface="Cambria Math" panose="02040503050406030204" pitchFamily="18" charset="0"/>
                            <a:ea typeface="Times New Roman" panose="02020603050405020304" pitchFamily="18" charset="0"/>
                            <a:cs typeface="Times New Roman" panose="02020603050405020304" pitchFamily="18" charset="0"/>
                          </a:rPr>
                          <m:t>𝐵𝐻</m:t>
                        </m:r>
                      </m:e>
                    </m:acc>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intersect at point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𝐻</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outside the circle.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𝐶𝑁</m:t>
                    </m:r>
                    <m:r>
                      <a:rPr lang="en-US" sz="2000" i="1">
                        <a:latin typeface="Cambria Math" panose="02040503050406030204" pitchFamily="18" charset="0"/>
                        <a:ea typeface="Times New Roman" panose="02020603050405020304" pitchFamily="18" charset="0"/>
                        <a:cs typeface="Times New Roman" panose="02020603050405020304" pitchFamily="18" charset="0"/>
                      </a:rPr>
                      <m:t>=(7</m:t>
                    </m:r>
                    <m:r>
                      <a:rPr lang="en-US" sz="2000" i="1">
                        <a:latin typeface="Cambria Math" panose="02040503050406030204" pitchFamily="18" charset="0"/>
                        <a:ea typeface="Times New Roman" panose="02020603050405020304" pitchFamily="18" charset="0"/>
                        <a:cs typeface="Times New Roman" panose="02020603050405020304" pitchFamily="18" charset="0"/>
                      </a:rPr>
                      <m:t>𝑥</m:t>
                    </m:r>
                    <m:r>
                      <a:rPr lang="en-US" sz="2000" i="1">
                        <a:latin typeface="Cambria Math" panose="02040503050406030204" pitchFamily="18" charset="0"/>
                        <a:ea typeface="Times New Roman" panose="02020603050405020304" pitchFamily="18" charset="0"/>
                        <a:cs typeface="Times New Roman" panose="02020603050405020304" pitchFamily="18" charset="0"/>
                      </a:rPr>
                      <m:t>−6)</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𝑁𝐻</m:t>
                    </m:r>
                    <m:r>
                      <a:rPr lang="en-US" sz="2000" i="1">
                        <a:latin typeface="Cambria Math" panose="02040503050406030204" pitchFamily="18" charset="0"/>
                        <a:ea typeface="Times New Roman" panose="02020603050405020304" pitchFamily="18" charset="0"/>
                        <a:cs typeface="Times New Roman" panose="02020603050405020304" pitchFamily="18" charset="0"/>
                      </a:rPr>
                      <m:t>=12</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𝐻𝐵</m:t>
                    </m:r>
                    <m:r>
                      <a:rPr lang="en-US" sz="2000" i="1">
                        <a:latin typeface="Cambria Math" panose="02040503050406030204" pitchFamily="18" charset="0"/>
                        <a:ea typeface="Times New Roman" panose="02020603050405020304" pitchFamily="18" charset="0"/>
                        <a:cs typeface="Times New Roman" panose="02020603050405020304" pitchFamily="18" charset="0"/>
                      </a:rPr>
                      <m:t>=18</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Find the value of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𝑥</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a:t>
                </a:r>
                <a:endParaRPr lang="en-US" dirty="0">
                  <a:latin typeface="Cambria"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12" name="TextBox 11">
                <a:extLst>
                  <a:ext uri="{FF2B5EF4-FFF2-40B4-BE49-F238E27FC236}">
                    <a16:creationId xmlns:a16="http://schemas.microsoft.com/office/drawing/2014/main" id="{759C3E41-93EC-B84D-963F-86A3B15AC1C6}"/>
                  </a:ext>
                </a:extLst>
              </p:cNvPr>
              <p:cNvSpPr txBox="1">
                <a:spLocks noRot="1" noChangeAspect="1" noMove="1" noResize="1" noEditPoints="1" noAdjustHandles="1" noChangeArrowheads="1" noChangeShapeType="1" noTextEdit="1"/>
              </p:cNvSpPr>
              <p:nvPr/>
            </p:nvSpPr>
            <p:spPr>
              <a:xfrm>
                <a:off x="525905" y="1018062"/>
                <a:ext cx="7193032" cy="1324145"/>
              </a:xfrm>
              <a:prstGeom prst="rect">
                <a:avLst/>
              </a:prstGeom>
              <a:blipFill>
                <a:blip r:embed="rId6"/>
                <a:stretch>
                  <a:fillRect l="-932" t="-3226" r="-1271" b="-7373"/>
                </a:stretch>
              </a:blipFill>
            </p:spPr>
            <p:txBody>
              <a:bodyPr/>
              <a:lstStyle/>
              <a:p>
                <a:r>
                  <a:rPr lang="en-US">
                    <a:noFill/>
                  </a:rPr>
                  <a:t> </a:t>
                </a:r>
              </a:p>
            </p:txBody>
          </p:sp>
        </mc:Fallback>
      </mc:AlternateContent>
      <p:sp>
        <p:nvSpPr>
          <p:cNvPr id="10" name="Google Shape;282;g104476d1465_1_17">
            <a:extLst>
              <a:ext uri="{FF2B5EF4-FFF2-40B4-BE49-F238E27FC236}">
                <a16:creationId xmlns:a16="http://schemas.microsoft.com/office/drawing/2014/main" id="{D0F596B8-40D6-F246-AA5F-EC3ED9858EA8}"/>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245</a:t>
            </a:r>
            <a:endParaRPr i="1" dirty="0">
              <a:latin typeface="Calibri"/>
              <a:ea typeface="Calibri"/>
              <a:cs typeface="Calibri"/>
              <a:sym typeface="Calibri"/>
            </a:endParaRPr>
          </a:p>
        </p:txBody>
      </p:sp>
    </p:spTree>
    <p:extLst>
      <p:ext uri="{BB962C8B-B14F-4D97-AF65-F5344CB8AC3E}">
        <p14:creationId xmlns:p14="http://schemas.microsoft.com/office/powerpoint/2010/main" val="31012998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40566" y="520393"/>
                <a:ext cx="7634443" cy="2555251"/>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Times New Roman" panose="02020603050405020304" pitchFamily="18" charset="0"/>
                    <a:cs typeface="Times New Roman" panose="02020603050405020304" pitchFamily="18" charset="0"/>
                  </a:rPr>
                  <a:t>Isabella and Gregory were working on finding the length of </a:t>
                </a:r>
                <a14:m>
                  <m:oMath xmlns:m="http://schemas.openxmlformats.org/officeDocument/2006/math">
                    <m:acc>
                      <m:accPr>
                        <m:chr m:val="̅"/>
                        <m:ctrlPr>
                          <a:rPr lang="en-US" sz="2000" i="1">
                            <a:latin typeface="Cambria Math" panose="02040503050406030204" pitchFamily="18" charset="0"/>
                          </a:rPr>
                        </m:ctrlPr>
                      </m:accPr>
                      <m:e>
                        <m:r>
                          <a:rPr lang="en-US" sz="2000" i="1">
                            <a:latin typeface="Cambria Math" panose="02040503050406030204" pitchFamily="18" charset="0"/>
                            <a:ea typeface="Times New Roman" panose="02020603050405020304" pitchFamily="18" charset="0"/>
                            <a:cs typeface="Times New Roman" panose="02020603050405020304" pitchFamily="18" charset="0"/>
                          </a:rPr>
                          <m:t>𝐵𝑃</m:t>
                        </m:r>
                      </m:e>
                    </m:acc>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Circle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𝑌</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is given, where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𝐵</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𝑉</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𝐶</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are points on the circle. Secant </a:t>
                </a:r>
                <a14:m>
                  <m:oMath xmlns:m="http://schemas.openxmlformats.org/officeDocument/2006/math">
                    <m:acc>
                      <m:accPr>
                        <m:chr m:val="̅"/>
                        <m:ctrlPr>
                          <a:rPr lang="en-US" sz="2000" i="1">
                            <a:latin typeface="Cambria Math" panose="02040503050406030204" pitchFamily="18" charset="0"/>
                          </a:rPr>
                        </m:ctrlPr>
                      </m:accPr>
                      <m:e>
                        <m:r>
                          <a:rPr lang="en-US" sz="2000" i="1">
                            <a:latin typeface="Cambria Math" panose="02040503050406030204" pitchFamily="18" charset="0"/>
                            <a:ea typeface="Times New Roman" panose="02020603050405020304" pitchFamily="18" charset="0"/>
                            <a:cs typeface="Times New Roman" panose="02020603050405020304" pitchFamily="18" charset="0"/>
                          </a:rPr>
                          <m:t>𝐶𝑃</m:t>
                        </m:r>
                      </m:e>
                    </m:acc>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and tangent </a:t>
                </a:r>
                <a14:m>
                  <m:oMath xmlns:m="http://schemas.openxmlformats.org/officeDocument/2006/math">
                    <m:acc>
                      <m:accPr>
                        <m:chr m:val="̅"/>
                        <m:ctrlPr>
                          <a:rPr lang="en-US" sz="2000" i="1">
                            <a:latin typeface="Cambria Math" panose="02040503050406030204" pitchFamily="18" charset="0"/>
                          </a:rPr>
                        </m:ctrlPr>
                      </m:accPr>
                      <m:e>
                        <m:r>
                          <a:rPr lang="en-US" sz="2000" i="1">
                            <a:latin typeface="Cambria Math" panose="02040503050406030204" pitchFamily="18" charset="0"/>
                            <a:ea typeface="Times New Roman" panose="02020603050405020304" pitchFamily="18" charset="0"/>
                            <a:cs typeface="Times New Roman" panose="02020603050405020304" pitchFamily="18" charset="0"/>
                          </a:rPr>
                          <m:t>𝐵𝑃</m:t>
                        </m:r>
                      </m:e>
                    </m:acc>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intersect at point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𝑃</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outside the circle.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𝐶𝑉</m:t>
                    </m:r>
                    <m:r>
                      <a:rPr lang="en-US" sz="2000" i="1">
                        <a:latin typeface="Cambria Math" panose="02040503050406030204" pitchFamily="18" charset="0"/>
                        <a:ea typeface="Times New Roman" panose="02020603050405020304" pitchFamily="18" charset="0"/>
                        <a:cs typeface="Times New Roman" panose="02020603050405020304" pitchFamily="18" charset="0"/>
                      </a:rPr>
                      <m:t>=12</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𝑉𝑃</m:t>
                    </m:r>
                    <m:r>
                      <a:rPr lang="en-US" sz="2000" i="1">
                        <a:latin typeface="Cambria Math" panose="02040503050406030204" pitchFamily="18" charset="0"/>
                        <a:ea typeface="Times New Roman" panose="02020603050405020304" pitchFamily="18" charset="0"/>
                        <a:cs typeface="Times New Roman" panose="02020603050405020304" pitchFamily="18" charset="0"/>
                      </a:rPr>
                      <m:t>=4. </m:t>
                    </m:r>
                  </m:oMath>
                </a14:m>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Isabella’s and Gregory’s work to find the length of </a:t>
                </a:r>
                <a14:m>
                  <m:oMath xmlns:m="http://schemas.openxmlformats.org/officeDocument/2006/math">
                    <m:acc>
                      <m:accPr>
                        <m:chr m:val="̅"/>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accPr>
                      <m:e>
                        <m:r>
                          <a:rPr lang="en-US" sz="2000" i="1">
                            <a:latin typeface="Cambria Math" panose="02040503050406030204" pitchFamily="18" charset="0"/>
                            <a:ea typeface="Times New Roman" panose="02020603050405020304" pitchFamily="18" charset="0"/>
                            <a:cs typeface="Times New Roman" panose="02020603050405020304" pitchFamily="18" charset="0"/>
                          </a:rPr>
                          <m:t>𝐵𝑃</m:t>
                        </m:r>
                      </m:e>
                    </m:acc>
                  </m:oMath>
                </a14:m>
                <a:r>
                  <a:rPr lang="en-US" sz="2000" dirty="0">
                    <a:latin typeface="Verdana" panose="020B0604030504040204" pitchFamily="34" charset="0"/>
                    <a:ea typeface="Verdana" panose="020B0604030504040204" pitchFamily="34" charset="0"/>
                    <a:cs typeface="Verdana" panose="020B0604030504040204" pitchFamily="34" charset="0"/>
                  </a:rPr>
                  <a:t> is shown.</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40566" y="520393"/>
                <a:ext cx="7634443" cy="2555251"/>
              </a:xfrm>
              <a:prstGeom prst="rect">
                <a:avLst/>
              </a:prstGeom>
              <a:blipFill>
                <a:blip r:embed="rId4"/>
                <a:stretch>
                  <a:fillRect l="-879" t="-1429" b="-3095"/>
                </a:stretch>
              </a:blipFill>
            </p:spPr>
            <p:txBody>
              <a:bodyPr/>
              <a:lstStyle/>
              <a:p>
                <a:r>
                  <a:rPr lang="en-US">
                    <a:noFill/>
                  </a:rPr>
                  <a:t> </a:t>
                </a:r>
              </a:p>
            </p:txBody>
          </p:sp>
        </mc:Fallback>
      </mc:AlternateContent>
      <p:sp>
        <p:nvSpPr>
          <p:cNvPr id="7" name="Google Shape;282;g104476d1465_1_17">
            <a:extLst>
              <a:ext uri="{FF2B5EF4-FFF2-40B4-BE49-F238E27FC236}">
                <a16:creationId xmlns:a16="http://schemas.microsoft.com/office/drawing/2014/main" id="{E09C198E-47BF-5C4E-9668-9AAB1478FDD4}"/>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245</a:t>
            </a:r>
            <a:endParaRPr i="1" dirty="0">
              <a:latin typeface="Calibri"/>
              <a:ea typeface="Calibri"/>
              <a:cs typeface="Calibri"/>
              <a:sym typeface="Calibri"/>
            </a:endParaRPr>
          </a:p>
        </p:txBody>
      </p:sp>
      <p:pic>
        <p:nvPicPr>
          <p:cNvPr id="8" name="Picture 7"/>
          <p:cNvPicPr/>
          <p:nvPr/>
        </p:nvPicPr>
        <p:blipFill rotWithShape="1">
          <a:blip r:embed="rId5">
            <a:extLst>
              <a:ext uri="{28A0092B-C50C-407E-A947-70E740481C1C}">
                <a14:useLocalDpi xmlns:a14="http://schemas.microsoft.com/office/drawing/2010/main"/>
              </a:ext>
            </a:extLst>
          </a:blip>
          <a:srcRect l="5617" t="3089"/>
          <a:stretch/>
        </p:blipFill>
        <p:spPr>
          <a:xfrm>
            <a:off x="8318874" y="520393"/>
            <a:ext cx="3591201" cy="2798773"/>
          </a:xfrm>
          <a:prstGeom prst="rect">
            <a:avLst/>
          </a:prstGeom>
        </p:spPr>
      </p:pic>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88A2CE96-D238-E544-8CAC-169B0AC4583A}"/>
                  </a:ext>
                </a:extLst>
              </p:cNvPr>
              <p:cNvGraphicFramePr>
                <a:graphicFrameLocks noGrp="1"/>
              </p:cNvGraphicFramePr>
              <p:nvPr>
                <p:extLst>
                  <p:ext uri="{D42A27DB-BD31-4B8C-83A1-F6EECF244321}">
                    <p14:modId xmlns:p14="http://schemas.microsoft.com/office/powerpoint/2010/main" val="3941810337"/>
                  </p:ext>
                </p:extLst>
              </p:nvPr>
            </p:nvGraphicFramePr>
            <p:xfrm>
              <a:off x="961807" y="3075644"/>
              <a:ext cx="6791960" cy="1889760"/>
            </p:xfrm>
            <a:graphic>
              <a:graphicData uri="http://schemas.openxmlformats.org/drawingml/2006/table">
                <a:tbl>
                  <a:tblPr firstRow="1" firstCol="1" bandRow="1"/>
                  <a:tblGrid>
                    <a:gridCol w="3411855">
                      <a:extLst>
                        <a:ext uri="{9D8B030D-6E8A-4147-A177-3AD203B41FA5}">
                          <a16:colId xmlns:a16="http://schemas.microsoft.com/office/drawing/2014/main" val="2469907072"/>
                        </a:ext>
                      </a:extLst>
                    </a:gridCol>
                    <a:gridCol w="3380105">
                      <a:extLst>
                        <a:ext uri="{9D8B030D-6E8A-4147-A177-3AD203B41FA5}">
                          <a16:colId xmlns:a16="http://schemas.microsoft.com/office/drawing/2014/main" val="285518904"/>
                        </a:ext>
                      </a:extLst>
                    </a:gridCol>
                  </a:tblGrid>
                  <a:tr h="4572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Isabella’s Work</a:t>
                          </a: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Gregory’s Work</a:t>
                          </a:r>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872188777"/>
                      </a:ext>
                    </a:extLst>
                  </a:tr>
                  <a:tr h="457200">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=4(4+12)</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=4(16)</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=64</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𝑥</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=8</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=12(4+12)</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=12(16)</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𝑥</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=192</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𝑥</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=13.9</m:t>
                                </m:r>
                              </m:oMath>
                            </m:oMathPara>
                          </a14:m>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3416932"/>
                      </a:ext>
                    </a:extLst>
                  </a:tr>
                </a:tbl>
              </a:graphicData>
            </a:graphic>
          </p:graphicFrame>
        </mc:Choice>
        <mc:Fallback xmlns="">
          <p:graphicFrame>
            <p:nvGraphicFramePr>
              <p:cNvPr id="11" name="Table 10">
                <a:extLst>
                  <a:ext uri="{FF2B5EF4-FFF2-40B4-BE49-F238E27FC236}">
                    <a16:creationId xmlns:a16="http://schemas.microsoft.com/office/drawing/2014/main" id="{88A2CE96-D238-E544-8CAC-169B0AC4583A}"/>
                  </a:ext>
                </a:extLst>
              </p:cNvPr>
              <p:cNvGraphicFramePr>
                <a:graphicFrameLocks noGrp="1"/>
              </p:cNvGraphicFramePr>
              <p:nvPr>
                <p:extLst>
                  <p:ext uri="{D42A27DB-BD31-4B8C-83A1-F6EECF244321}">
                    <p14:modId xmlns:p14="http://schemas.microsoft.com/office/powerpoint/2010/main" val="3941810337"/>
                  </p:ext>
                </p:extLst>
              </p:nvPr>
            </p:nvGraphicFramePr>
            <p:xfrm>
              <a:off x="961807" y="3075644"/>
              <a:ext cx="6791960" cy="1889760"/>
            </p:xfrm>
            <a:graphic>
              <a:graphicData uri="http://schemas.openxmlformats.org/drawingml/2006/table">
                <a:tbl>
                  <a:tblPr firstRow="1" firstCol="1" bandRow="1"/>
                  <a:tblGrid>
                    <a:gridCol w="3411855">
                      <a:extLst>
                        <a:ext uri="{9D8B030D-6E8A-4147-A177-3AD203B41FA5}">
                          <a16:colId xmlns:a16="http://schemas.microsoft.com/office/drawing/2014/main" val="2469907072"/>
                        </a:ext>
                      </a:extLst>
                    </a:gridCol>
                    <a:gridCol w="3380105">
                      <a:extLst>
                        <a:ext uri="{9D8B030D-6E8A-4147-A177-3AD203B41FA5}">
                          <a16:colId xmlns:a16="http://schemas.microsoft.com/office/drawing/2014/main" val="285518904"/>
                        </a:ext>
                      </a:extLst>
                    </a:gridCol>
                  </a:tblGrid>
                  <a:tr h="48768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Isabella’s Work</a:t>
                          </a:r>
                          <a:endParaRPr lang="en-US" sz="2000" dirty="0">
                            <a:effectLst/>
                            <a:latin typeface="Verdana" panose="020B0604030504040204" pitchFamily="34" charset="0"/>
                            <a:ea typeface="Verdana" panose="020B0604030504040204" pitchFamily="34" charset="0"/>
                            <a:cs typeface="Verdana" panose="020B0604030504040204" pitchFamily="34"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Gregory’s Work</a:t>
                          </a:r>
                          <a:endParaRPr lang="en-US" sz="2000">
                            <a:effectLst/>
                            <a:latin typeface="Verdana" panose="020B0604030504040204" pitchFamily="34" charset="0"/>
                            <a:ea typeface="Verdana" panose="020B0604030504040204" pitchFamily="34" charset="0"/>
                            <a:cs typeface="Verdana" panose="020B0604030504040204" pitchFamily="34" charset="0"/>
                          </a:endParaRPr>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872188777"/>
                      </a:ext>
                    </a:extLst>
                  </a:tr>
                  <a:tr h="1402080">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6"/>
                          <a:stretch>
                            <a:fillRect l="-179" t="-35498" r="-99821" b="-1299"/>
                          </a:stretch>
                        </a:blipFill>
                      </a:tcPr>
                    </a:tc>
                    <a:tc>
                      <a:txBody>
                        <a:bodyPr/>
                        <a:lstStyle/>
                        <a:p>
                          <a:endParaRPr lang="en-US"/>
                        </a:p>
                      </a:txBody>
                      <a:tcPr marT="91440" marB="9144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6"/>
                          <a:stretch>
                            <a:fillRect l="-101081" t="-35498" r="-721" b="-1299"/>
                          </a:stretch>
                        </a:blipFill>
                      </a:tcPr>
                    </a:tc>
                    <a:extLst>
                      <a:ext uri="{0D108BD9-81ED-4DB2-BD59-A6C34878D82A}">
                        <a16:rowId xmlns:a16="http://schemas.microsoft.com/office/drawing/2014/main" val="1383416932"/>
                      </a:ext>
                    </a:extLst>
                  </a:tr>
                </a:tbl>
              </a:graphicData>
            </a:graphic>
          </p:graphicFrame>
        </mc:Fallback>
      </mc:AlternateContent>
    </p:spTree>
    <p:extLst>
      <p:ext uri="{BB962C8B-B14F-4D97-AF65-F5344CB8AC3E}">
        <p14:creationId xmlns:p14="http://schemas.microsoft.com/office/powerpoint/2010/main" val="31571964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0599"/>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540565" y="520393"/>
            <a:ext cx="8327136" cy="2308324"/>
          </a:xfrm>
          <a:prstGeom prst="rect">
            <a:avLst/>
          </a:prstGeom>
          <a:noFill/>
        </p:spPr>
        <p:txBody>
          <a:bodyPr wrap="square" rtlCol="0">
            <a:spAutoFit/>
          </a:bodyPr>
          <a:lstStyle/>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Whose work do you agree with?</a:t>
            </a:r>
          </a:p>
          <a:p>
            <a:pPr marL="914400" indent="-457200">
              <a:buFont typeface="+mj-lt"/>
              <a:buAutoNum type="alphaLcPeriod"/>
            </a:pPr>
            <a:endParaRPr lang="en-PH"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PH"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Write a note to the person whose work is incorrect explaining their mistake.</a:t>
            </a:r>
          </a:p>
        </p:txBody>
      </p:sp>
      <p:sp>
        <p:nvSpPr>
          <p:cNvPr id="10" name="Google Shape;282;g104476d1465_1_17">
            <a:extLst>
              <a:ext uri="{FF2B5EF4-FFF2-40B4-BE49-F238E27FC236}">
                <a16:creationId xmlns:a16="http://schemas.microsoft.com/office/drawing/2014/main" id="{7B9CE462-1EB5-D247-8B18-2F6E5331AD59}"/>
              </a:ext>
            </a:extLst>
          </p:cNvPr>
          <p:cNvSpPr txBox="1"/>
          <p:nvPr/>
        </p:nvSpPr>
        <p:spPr>
          <a:xfrm>
            <a:off x="8867701"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245</a:t>
            </a:r>
            <a:endParaRPr i="1" dirty="0">
              <a:latin typeface="Calibri"/>
              <a:ea typeface="Calibri"/>
              <a:cs typeface="Calibri"/>
              <a:sym typeface="Calibri"/>
            </a:endParaRPr>
          </a:p>
        </p:txBody>
      </p:sp>
    </p:spTree>
    <p:extLst>
      <p:ext uri="{BB962C8B-B14F-4D97-AF65-F5344CB8AC3E}">
        <p14:creationId xmlns:p14="http://schemas.microsoft.com/office/powerpoint/2010/main" val="2163751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44F5CA7D-0B85-6C41-9C16-E805AFA44C54}"/>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246</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822574"/>
          </a:solidFill>
          <a:ln w="9525" cap="flat" cmpd="sng">
            <a:solidFill>
              <a:srgbClr val="822574"/>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34800" y="195680"/>
            <a:ext cx="8019300"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12.3.5 Wrap-Up: Cool Down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05350" y="117475"/>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593248" y="1166951"/>
            <a:ext cx="10930676" cy="461665"/>
          </a:xfrm>
          <a:prstGeom prst="rect">
            <a:avLst/>
          </a:prstGeom>
          <a:noFill/>
        </p:spPr>
        <p:txBody>
          <a:bodyPr wrap="square" rtlCol="0">
            <a:spAutoFit/>
          </a:bodyPr>
          <a:lstStyle/>
          <a:p>
            <a:pPr marL="457200" indent="-457200">
              <a:buSzPct val="1000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Write a summary of what you learned in this lesson.</a:t>
            </a:r>
            <a:endParaRPr lang="en-US" sz="1600" dirty="0">
              <a:latin typeface="Cambria" panose="02040503050406030204" pitchFamily="18" charset="0"/>
              <a:ea typeface="Times New Roman" panose="02020603050405020304" pitchFamily="18" charset="0"/>
              <a:cs typeface="Times New Roman" panose="02020603050405020304" pitchFamily="18" charset="0"/>
            </a:endParaRPr>
          </a:p>
        </p:txBody>
      </p:sp>
      <p:sp>
        <p:nvSpPr>
          <p:cNvPr id="10" name="Google Shape;282;g104476d1465_1_17">
            <a:extLst>
              <a:ext uri="{FF2B5EF4-FFF2-40B4-BE49-F238E27FC236}">
                <a16:creationId xmlns:a16="http://schemas.microsoft.com/office/drawing/2014/main" id="{D2EB75A2-EB47-AA45-925F-A250198C87E1}"/>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246</a:t>
            </a:r>
            <a:endParaRPr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1336</TotalTime>
  <Words>902</Words>
  <Application>Microsoft Office PowerPoint</Application>
  <PresentationFormat>Widescreen</PresentationFormat>
  <Paragraphs>102</Paragraphs>
  <Slides>19</Slides>
  <Notes>19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19</vt:i4>
      </vt:variant>
    </vt:vector>
  </HeadingPairs>
  <TitlesOfParts>
    <vt:vector size="28" baseType="lpstr">
      <vt:lpstr>Cambria Math</vt:lpstr>
      <vt:lpstr>Calibri</vt:lpstr>
      <vt:lpstr>Cambria</vt:lpstr>
      <vt:lpstr>Verdana</vt:lpstr>
      <vt:lpstr>Wingdings</vt:lpstr>
      <vt:lpstr>Century Gothic</vt:lpstr>
      <vt:lpstr>Arial</vt:lpstr>
      <vt:lpstr>Arial Black</vt:lpstr>
      <vt:lpstr>1_Office Theme</vt:lpstr>
      <vt:lpstr>Geometry  Unit 12, Lesson 3  Solving Problems with Secant  and Tangent Segments  Volume 2, pg. 242  </vt:lpstr>
      <vt:lpstr>Benchmark</vt:lpstr>
      <vt:lpstr>PowerPoint Presentation</vt:lpstr>
      <vt:lpstr>PowerPoint Presentation</vt:lpstr>
      <vt:lpstr>Warm-Up</vt:lpstr>
      <vt:lpstr>PowerPoint Presentation</vt:lpstr>
      <vt:lpstr>Exploration</vt:lpstr>
      <vt:lpstr>PowerPoint Presentation</vt:lpstr>
      <vt:lpstr>PowerPoint Presentation</vt:lpstr>
      <vt:lpstr>Guided Practice</vt:lpstr>
      <vt:lpstr>PowerPoint Presentation</vt:lpstr>
      <vt:lpstr>PowerPoint Presentation</vt:lpstr>
      <vt:lpstr>PowerPoint Presentation</vt:lpstr>
      <vt:lpstr>Your Turn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Natasha Dease</cp:lastModifiedBy>
  <cp:revision>31</cp:revision>
  <dcterms:created xsi:type="dcterms:W3CDTF">2015-03-17T18:51:18Z</dcterms:created>
  <dcterms:modified xsi:type="dcterms:W3CDTF">2022-09-17T14:57:59Z</dcterms:modified>
</cp:coreProperties>
</file>