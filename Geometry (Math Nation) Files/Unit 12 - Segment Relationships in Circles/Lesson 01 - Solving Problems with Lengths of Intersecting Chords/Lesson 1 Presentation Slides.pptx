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3" r:id="rId10"/>
    <p:sldId id="369" r:id="rId11"/>
    <p:sldId id="373" r:id="rId12"/>
    <p:sldId id="374" r:id="rId13"/>
    <p:sldId id="375" r:id="rId14"/>
    <p:sldId id="329" r:id="rId15"/>
    <p:sldId id="330" r:id="rId16"/>
    <p:sldId id="372" r:id="rId17"/>
    <p:sldId id="367" r:id="rId18"/>
    <p:sldId id="323" r:id="rId19"/>
    <p:sldId id="324" r:id="rId20"/>
    <p:sldId id="376" r:id="rId21"/>
    <p:sldId id="306" r:id="rId22"/>
    <p:sldId id="307" r:id="rId23"/>
    <p:sldId id="371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589"/>
  </p:normalViewPr>
  <p:slideViewPr>
    <p:cSldViewPr snapToGrid="0">
      <p:cViewPr varScale="1">
        <p:scale>
          <a:sx n="78" d="100"/>
          <a:sy n="78" d="100"/>
        </p:scale>
        <p:origin x="65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57749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563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3361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5111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4724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2592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195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96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0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tiff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with Lengths of Intersecting Chords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6061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MA.912.GR.6.1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length of a secant, tangent, segment, or chord in a given circle.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86529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DB9242A-E2DC-2A43-9A93-4306573A5B5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506876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8325" indent="-56832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solve mathematical and real-world problems involving lengths formed by the intersection of two chords.  </a:t>
            </a:r>
            <a:endParaRPr lang="en-US" sz="35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4863F7C-8079-A845-A634-5946907AE4D3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D1CD1B-4A63-474B-B0FE-860F77CA0ED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60325"/>
            <a:ext cx="106176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386026"/>
            <a:ext cx="627724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picture of a bowling ball pyramid is shown.</a:t>
            </a:r>
          </a:p>
          <a:p>
            <a:pPr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question about the pyramid that a 5</a:t>
            </a:r>
            <a:r>
              <a:rPr lang="en-US" sz="24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grader could answer.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1A8E246-430B-4F46-A528-62CB892F4711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4E07E-BF36-45AE-941D-A48C89272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578" y="1386025"/>
            <a:ext cx="27241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6C915D-3E12-0D4E-9DCB-15D47603128F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/>
          <p:nvPr/>
        </p:nvPicPr>
        <p:blipFill rotWithShape="1">
          <a:blip r:embed="rId3"/>
          <a:srcRect l="16649" r="6801"/>
          <a:stretch/>
        </p:blipFill>
        <p:spPr>
          <a:xfrm>
            <a:off x="7586749" y="1032365"/>
            <a:ext cx="3574759" cy="5425309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6223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25687" y="225503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12.1.2 Exploration: Chords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9389" y="14482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66284" y="1163091"/>
                <a:ext cx="6664271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 Each circle has a chord. Use patty paper to copy the circles. Use the patty paper copy to construct a perpendicular bisector for each chord by folding.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conjecture about the perpendicular bisector of a chord of a circle.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84" y="1163091"/>
                <a:ext cx="6664271" cy="2554545"/>
              </a:xfrm>
              <a:prstGeom prst="rect">
                <a:avLst/>
              </a:prstGeom>
              <a:blipFill>
                <a:blip r:embed="rId6"/>
                <a:stretch>
                  <a:fillRect l="-1006" t="-1671" r="-1098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56663BA-8D72-BF48-A7C1-75CC07C0FE00}"/>
              </a:ext>
            </a:extLst>
          </p:cNvPr>
          <p:cNvSpPr txBox="1"/>
          <p:nvPr/>
        </p:nvSpPr>
        <p:spPr>
          <a:xfrm>
            <a:off x="8883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4"/>
            <a:ext cx="110875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 your conjecture with your partner. Listen to your partner’s conjecture and write a summary. Have your partner initial that it is summarized correctly. 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your conjecture and make any revisions,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needed.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B79AF9-4EFE-1A4F-AB98-8182FB28F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182024"/>
              </p:ext>
            </p:extLst>
          </p:nvPr>
        </p:nvGraphicFramePr>
        <p:xfrm>
          <a:off x="1572326" y="1717220"/>
          <a:ext cx="9252990" cy="3535680"/>
        </p:xfrm>
        <a:graphic>
          <a:graphicData uri="http://schemas.openxmlformats.org/drawingml/2006/table">
            <a:tbl>
              <a:tblPr firstRow="1" firstCol="1" bandRow="1"/>
              <a:tblGrid>
                <a:gridCol w="7127303">
                  <a:extLst>
                    <a:ext uri="{9D8B030D-6E8A-4147-A177-3AD203B41FA5}">
                      <a16:colId xmlns:a16="http://schemas.microsoft.com/office/drawing/2014/main" val="3400268683"/>
                    </a:ext>
                  </a:extLst>
                </a:gridCol>
                <a:gridCol w="2125687">
                  <a:extLst>
                    <a:ext uri="{9D8B030D-6E8A-4147-A177-3AD203B41FA5}">
                      <a16:colId xmlns:a16="http://schemas.microsoft.com/office/drawing/2014/main" val="207085306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Summary of Partner’s Conjecture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Initials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656391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522502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C34AE94-E2D6-FA4D-B97A-41A65922FB9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86AB49-9F0B-D04E-8A55-0F3BBAF81E29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9378" y="981769"/>
            <a:ext cx="3322749" cy="2815044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8618"/>
                <a:ext cx="11065362" cy="440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radii of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chords of the circle equidistant from the center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Therefore,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your conjecture about perpendicular bisectors,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congruence statement.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𝐷𝐿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𝑃𝑅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 segment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a line segment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Justify why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congruent.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8618"/>
                <a:ext cx="11065362" cy="4402615"/>
              </a:xfrm>
              <a:prstGeom prst="rect">
                <a:avLst/>
              </a:prstGeom>
              <a:blipFill>
                <a:blip r:embed="rId5"/>
                <a:stretch>
                  <a:fillRect l="-606" t="-970" r="-3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B849385-F076-9149-AB22-DAF510EDE4CC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43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11065362" cy="4403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triangle congruence theorem justifies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𝐷𝐿𝐻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𝑆𝑅𝐻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congruent?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𝐷𝐿𝐻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𝑆𝑅𝐻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what is true about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true about chords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11065362" cy="4403321"/>
              </a:xfrm>
              <a:prstGeom prst="rect">
                <a:avLst/>
              </a:prstGeom>
              <a:blipFill>
                <a:blip r:embed="rId4"/>
                <a:stretch>
                  <a:fillRect t="-830" b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61827520-1B68-334A-869F-CB5865C3CE3D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23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4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3"/>
                <a:ext cx="109833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Chords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3"/>
                <a:ext cx="10983359" cy="707886"/>
              </a:xfrm>
              <a:prstGeom prst="rect">
                <a:avLst/>
              </a:prstGeom>
              <a:blipFill>
                <a:blip r:embed="rId4"/>
                <a:stretch>
                  <a:fillRect l="-611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F10E720-86F6-F643-B28C-4CD4055BEC5D}"/>
              </a:ext>
            </a:extLst>
          </p:cNvPr>
          <p:cNvSpPr txBox="1"/>
          <p:nvPr/>
        </p:nvSpPr>
        <p:spPr>
          <a:xfrm>
            <a:off x="8889924" y="64534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86" t="9261" r="13853" b="5593"/>
          <a:stretch/>
        </p:blipFill>
        <p:spPr bwMode="auto">
          <a:xfrm>
            <a:off x="3023923" y="1471295"/>
            <a:ext cx="3360420" cy="33439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441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B70EA5-93C0-DF4B-B0C1-D2255323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387531"/>
              </p:ext>
            </p:extLst>
          </p:nvPr>
        </p:nvGraphicFramePr>
        <p:xfrm>
          <a:off x="873625" y="449338"/>
          <a:ext cx="9818956" cy="5958840"/>
        </p:xfrm>
        <a:graphic>
          <a:graphicData uri="http://schemas.openxmlformats.org/drawingml/2006/table">
            <a:tbl>
              <a:tblPr firstRow="1" firstCol="1" bandRow="1"/>
              <a:tblGrid>
                <a:gridCol w="4655540">
                  <a:extLst>
                    <a:ext uri="{9D8B030D-6E8A-4147-A177-3AD203B41FA5}">
                      <a16:colId xmlns:a16="http://schemas.microsoft.com/office/drawing/2014/main" val="772066730"/>
                    </a:ext>
                  </a:extLst>
                </a:gridCol>
                <a:gridCol w="5163416">
                  <a:extLst>
                    <a:ext uri="{9D8B030D-6E8A-4147-A177-3AD203B41FA5}">
                      <a16:colId xmlns:a16="http://schemas.microsoft.com/office/drawing/2014/main" val="466889517"/>
                    </a:ext>
                  </a:extLst>
                </a:gridCol>
              </a:tblGrid>
              <a:tr h="3300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Observations of the Blue Chord Measures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Observations of the </a:t>
                      </a:r>
                      <a:b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Green Chord Measures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33039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16917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Commonalities in the Blue and Green Chords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686848"/>
                  </a:ext>
                </a:extLst>
              </a:tr>
              <a:tr h="1143000"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402006"/>
                  </a:ext>
                </a:extLst>
              </a:tr>
              <a:tr h="330046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1630" algn="l"/>
                        </a:tabLs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What do you wonder about the relationship between the blue chord and the green chord?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909911"/>
                  </a:ext>
                </a:extLst>
              </a:tr>
              <a:tr h="1143000"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143827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1CEF922-B2F4-B048-877B-46EA90AF4C1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891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9"/>
            <a:ext cx="2731200" cy="6871074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D5FF111-DD2F-8349-8215-72D2A0D565F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EB7D4B7-0CDD-C445-97E5-990EDA83CAA6}"/>
              </a:ext>
            </a:extLst>
          </p:cNvPr>
          <p:cNvPicPr/>
          <p:nvPr/>
        </p:nvPicPr>
        <p:blipFill rotWithShape="1">
          <a:blip r:embed="rId3"/>
          <a:srcRect l="8316" t="7981" r="4947" b="5090"/>
          <a:stretch/>
        </p:blipFill>
        <p:spPr>
          <a:xfrm>
            <a:off x="8017577" y="1306369"/>
            <a:ext cx="3581175" cy="249555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12827"/>
            <a:ext cx="102888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12.1.3 Bring It Together: Chord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93247" y="1386025"/>
                <a:ext cx="7424329" cy="2013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with chord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secant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𝑋𝐵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𝑋𝐵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𝑋𝐵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diameter of the circle.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information is known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chord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angles formed by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𝑋𝐵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025"/>
                <a:ext cx="7424329" cy="2013756"/>
              </a:xfrm>
              <a:prstGeom prst="rect">
                <a:avLst/>
              </a:prstGeom>
              <a:blipFill>
                <a:blip r:embed="rId5"/>
                <a:stretch>
                  <a:fillRect l="-903" t="-1813" r="-1724" b="-4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C83A8687-31CC-0249-9695-539B96DF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10007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9B0DA23-DA6C-2344-83AB-60FE34BACEB5}"/>
              </a:ext>
            </a:extLst>
          </p:cNvPr>
          <p:cNvGrpSpPr/>
          <p:nvPr/>
        </p:nvGrpSpPr>
        <p:grpSpPr>
          <a:xfrm>
            <a:off x="1050736" y="5029308"/>
            <a:ext cx="8786438" cy="885332"/>
            <a:chOff x="-1" y="216014"/>
            <a:chExt cx="8803571" cy="843877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4F57A9B-C47D-D045-B2B1-A1FD2D306D4D}"/>
                </a:ext>
              </a:extLst>
            </p:cNvPr>
            <p:cNvSpPr/>
            <p:nvPr/>
          </p:nvSpPr>
          <p:spPr>
            <a:xfrm>
              <a:off x="-1" y="216014"/>
              <a:ext cx="8803571" cy="843877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0" anchor="ctr" anchorCtr="0">
              <a:spAutoFit/>
            </a:bodyPr>
            <a:lstStyle/>
            <a:p>
              <a:pPr marL="685800">
                <a:lnSpc>
                  <a:spcPct val="115000"/>
                </a:lnSpc>
              </a:pP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If a diameter of a circle is perpendicular to a chord, then the diameter bisects the chord and its arc. 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Shape 6" descr="Icon&#10;&#10;Description automatically generated">
              <a:extLst>
                <a:ext uri="{FF2B5EF4-FFF2-40B4-BE49-F238E27FC236}">
                  <a16:creationId xmlns:a16="http://schemas.microsoft.com/office/drawing/2014/main" id="{FCB346B3-1DE8-784B-B3A8-9FB6A9C178F3}"/>
                </a:ext>
              </a:extLst>
            </p:cNvPr>
            <p:cNvPicPr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35686" y="363632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FEA0BCB7-CC47-8742-8FD7-693650B4CF45}"/>
              </a:ext>
            </a:extLst>
          </p:cNvPr>
          <p:cNvSpPr txBox="1"/>
          <p:nvPr/>
        </p:nvSpPr>
        <p:spPr>
          <a:xfrm>
            <a:off x="886770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8327136" cy="1979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is shown with chords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𝑋𝐾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𝑃𝑇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𝐶𝑌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Arial" panose="020B060402020202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What information is known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chords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𝑋𝐾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𝑃𝑇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and the angles formed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?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8327136" cy="1979068"/>
              </a:xfrm>
              <a:prstGeom prst="rect">
                <a:avLst/>
              </a:prstGeom>
              <a:blipFill>
                <a:blip r:embed="rId4"/>
                <a:stretch>
                  <a:fillRect l="-805" t="-1846" b="-4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BCE6E34-3328-BC45-B7F9-68CD221C2F3D}"/>
              </a:ext>
            </a:extLst>
          </p:cNvPr>
          <p:cNvGrpSpPr/>
          <p:nvPr/>
        </p:nvGrpSpPr>
        <p:grpSpPr>
          <a:xfrm>
            <a:off x="1110265" y="5249801"/>
            <a:ext cx="7371285" cy="885315"/>
            <a:chOff x="-1" y="316720"/>
            <a:chExt cx="7555737" cy="92648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8EAD536-E71A-BB4A-92CB-44919CB3F7CB}"/>
                </a:ext>
              </a:extLst>
            </p:cNvPr>
            <p:cNvSpPr/>
            <p:nvPr/>
          </p:nvSpPr>
          <p:spPr>
            <a:xfrm>
              <a:off x="-1" y="316720"/>
              <a:ext cx="7555737" cy="926489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685800"/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If two chords are equidistant from the center of a circle, then the chords are congruent. 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Shape 6" descr="Icon&#10;&#10;Description automatically generated">
              <a:extLst>
                <a:ext uri="{FF2B5EF4-FFF2-40B4-BE49-F238E27FC236}">
                  <a16:creationId xmlns:a16="http://schemas.microsoft.com/office/drawing/2014/main" id="{9FB0EBB3-E257-E74E-B079-CF58D221349D}"/>
                </a:ext>
              </a:extLst>
            </p:cNvPr>
            <p:cNvPicPr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0464" y="485708"/>
              <a:ext cx="548641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F7E2EF8-F689-DC49-8772-8EDBE601F70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/>
          <p:cNvPicPr/>
          <p:nvPr/>
        </p:nvPicPr>
        <p:blipFill rotWithShape="1">
          <a:blip r:embed="rId6"/>
          <a:srcRect l="13250" t="3620" r="4417"/>
          <a:stretch/>
        </p:blipFill>
        <p:spPr>
          <a:xfrm>
            <a:off x="7400883" y="520393"/>
            <a:ext cx="3915051" cy="413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47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9832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733" y="520394"/>
                <a:ext cx="748186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is shown with chords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𝐻𝐵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𝐿𝑁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that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 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What information is known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chords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𝐻𝐵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𝐿𝑁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and the angles formed?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33" y="520394"/>
                <a:ext cx="7481861" cy="1631216"/>
              </a:xfrm>
              <a:prstGeom prst="rect">
                <a:avLst/>
              </a:prstGeom>
              <a:blipFill>
                <a:blip r:embed="rId4"/>
                <a:stretch>
                  <a:fillRect l="-896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15ADDDB-FE60-3D46-9FA4-94906CAAC0C8}"/>
              </a:ext>
            </a:extLst>
          </p:cNvPr>
          <p:cNvPicPr/>
          <p:nvPr/>
        </p:nvPicPr>
        <p:blipFill rotWithShape="1">
          <a:blip r:embed="rId5"/>
          <a:srcRect l="2590" t="4843" r="15718" b="2797"/>
          <a:stretch/>
        </p:blipFill>
        <p:spPr>
          <a:xfrm>
            <a:off x="8020243" y="520394"/>
            <a:ext cx="3138375" cy="31242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4CF5D8E-AEDB-C049-8F35-B953478C9CD0}"/>
              </a:ext>
            </a:extLst>
          </p:cNvPr>
          <p:cNvGrpSpPr/>
          <p:nvPr/>
        </p:nvGrpSpPr>
        <p:grpSpPr>
          <a:xfrm>
            <a:off x="1094083" y="5074908"/>
            <a:ext cx="7481861" cy="987471"/>
            <a:chOff x="-1" y="291770"/>
            <a:chExt cx="7482415" cy="98747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9DEECC8-13F8-F94D-8391-B7686C921AA7}"/>
                </a:ext>
              </a:extLst>
            </p:cNvPr>
            <p:cNvSpPr/>
            <p:nvPr/>
          </p:nvSpPr>
          <p:spPr>
            <a:xfrm>
              <a:off x="-1" y="291770"/>
              <a:ext cx="7482415" cy="987471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685800">
                <a:lnSpc>
                  <a:spcPct val="115000"/>
                </a:lnSpc>
              </a:pP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When two chords intersect each other inside a circle, the products of their segments are equal.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Shape 6" descr="Icon&#10;&#10;Description automatically generated">
              <a:extLst>
                <a:ext uri="{FF2B5EF4-FFF2-40B4-BE49-F238E27FC236}">
                  <a16:creationId xmlns:a16="http://schemas.microsoft.com/office/drawing/2014/main" id="{0D31063F-A7D0-9B46-A562-247CF55DC62A}"/>
                </a:ext>
              </a:extLst>
            </p:cNvPr>
            <p:cNvPicPr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0464" y="484386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41B17A6A-34CD-CD46-A3DC-6E58A8C87AB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AE45D4E-F7F0-7644-B559-DECD3793AE4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306793"/>
            <a:ext cx="10303608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12.1.4 Guided Practice: Solving Problems Involving Intersecting Chords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0565" y="1511857"/>
                <a:ext cx="1108758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with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on the circle are shown with chords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equidistant from the center.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𝐻𝑅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𝐶𝑍𝑅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𝐾𝐻𝑅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511857"/>
                <a:ext cx="11087585" cy="1015663"/>
              </a:xfrm>
              <a:prstGeom prst="rect">
                <a:avLst/>
              </a:prstGeom>
              <a:blipFill>
                <a:blip r:embed="rId5"/>
                <a:stretch>
                  <a:fillRect l="-605" t="-4192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AAA9598-7634-C84D-8AA3-3E280D16D5E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050026" y="2650267"/>
            <a:ext cx="4466037" cy="3807409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6A79903-CD85-4D48-B214-DED3E458282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520393"/>
                <a:ext cx="6828171" cy="4170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chords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𝑃𝑀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=12,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𝑉𝐷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solve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  <a:tabLst>
                    <a:tab pos="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on the circle. The diameter,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a perpendicular bisector of chord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is the length of the chord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520393"/>
                <a:ext cx="6828171" cy="4170372"/>
              </a:xfrm>
              <a:prstGeom prst="rect">
                <a:avLst/>
              </a:prstGeom>
              <a:blipFill>
                <a:blip r:embed="rId4"/>
                <a:stretch>
                  <a:fillRect l="-982" t="-877" r="-1964" b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BDA33BB-D1D2-6246-B337-BE38054D9F17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30"/>
          <a:stretch/>
        </p:blipFill>
        <p:spPr bwMode="auto">
          <a:xfrm>
            <a:off x="7573112" y="3276263"/>
            <a:ext cx="3042374" cy="31815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B687D33F-AF3F-5348-B88A-8AFB70996DFC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8737" y="322670"/>
            <a:ext cx="3042374" cy="2914256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E2654C2-5774-A943-B449-BF4BE2312E6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2034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F24A177-DAA6-EE4A-BD34-1A7A79A26BD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9180" y="-8227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5620" y="214728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170" y="1365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1384" y="1243127"/>
            <a:ext cx="109925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each line to indicate how you feel about solving problems involving chords.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proportional relationship between the measures of segments formed by intersecting chords to solve problems.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3D71C54E-46B0-8C48-98DE-7E2F403C7D66}"/>
              </a:ext>
            </a:extLst>
          </p:cNvPr>
          <p:cNvSpPr txBox="1"/>
          <p:nvPr/>
        </p:nvSpPr>
        <p:spPr>
          <a:xfrm>
            <a:off x="8889924" y="64576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874665"/>
              </p:ext>
            </p:extLst>
          </p:nvPr>
        </p:nvGraphicFramePr>
        <p:xfrm>
          <a:off x="1052995" y="3318035"/>
          <a:ext cx="10470927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901582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4541607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3027738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there,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but I need more practice.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understand this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and I feel confident.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>
            <a:cxnSpLocks/>
          </p:cNvCxnSpPr>
          <p:nvPr/>
        </p:nvCxnSpPr>
        <p:spPr>
          <a:xfrm>
            <a:off x="1078395" y="4485481"/>
            <a:ext cx="1049583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106536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demonstrate that chords are congruent, if the two chords are equidistant from the center of a circle.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show that if a diameter of a circle is perpendicular to a chord, then the diameter bisects the chord.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56BDB8D-E868-9943-AFE4-8791CACE4096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81286"/>
              </p:ext>
            </p:extLst>
          </p:nvPr>
        </p:nvGraphicFramePr>
        <p:xfrm>
          <a:off x="1020899" y="1435898"/>
          <a:ext cx="10085195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794693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4374301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916201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there,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but I need more practice.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understand this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and I feel confident.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>
            <a:cxnSpLocks/>
          </p:cNvCxnSpPr>
          <p:nvPr/>
        </p:nvCxnSpPr>
        <p:spPr>
          <a:xfrm>
            <a:off x="1046300" y="2603344"/>
            <a:ext cx="1010918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47588"/>
              </p:ext>
            </p:extLst>
          </p:nvPr>
        </p:nvGraphicFramePr>
        <p:xfrm>
          <a:off x="1020899" y="3826673"/>
          <a:ext cx="10085195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794693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4374301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916201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there,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b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but I need more practice.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understand this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and I feel confident.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>
            <a:cxnSpLocks/>
          </p:cNvCxnSpPr>
          <p:nvPr/>
        </p:nvCxnSpPr>
        <p:spPr>
          <a:xfrm>
            <a:off x="1046300" y="4994119"/>
            <a:ext cx="1010918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7640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1207</Words>
  <Application>Microsoft Office PowerPoint</Application>
  <PresentationFormat>Widescreen</PresentationFormat>
  <Paragraphs>182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Century Gothic</vt:lpstr>
      <vt:lpstr>Wingdings</vt:lpstr>
      <vt:lpstr>Cambria</vt:lpstr>
      <vt:lpstr>Verdana</vt:lpstr>
      <vt:lpstr>Arial Black</vt:lpstr>
      <vt:lpstr>Calibri</vt:lpstr>
      <vt:lpstr>Arial</vt:lpstr>
      <vt:lpstr>Cambria Math</vt:lpstr>
      <vt:lpstr>1_Office Theme</vt:lpstr>
      <vt:lpstr>Geometry  Unit 12, Lesson 1  Solving Problems with Lengths of Intersecting Chords  Volume 2, pg. 231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37</cp:revision>
  <dcterms:created xsi:type="dcterms:W3CDTF">2015-03-17T18:51:18Z</dcterms:created>
  <dcterms:modified xsi:type="dcterms:W3CDTF">2023-03-02T20:52:35Z</dcterms:modified>
</cp:coreProperties>
</file>