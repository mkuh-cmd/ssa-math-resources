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288" r:id="rId10"/>
    <p:sldId id="320" r:id="rId11"/>
    <p:sldId id="321" r:id="rId12"/>
    <p:sldId id="365" r:id="rId13"/>
    <p:sldId id="306" r:id="rId14"/>
    <p:sldId id="307" r:id="rId15"/>
  </p:sldIdLst>
  <p:sldSz cx="12192000" cy="6858000"/>
  <p:notesSz cx="6858000" cy="9144000"/>
  <p:embeddedFontLst>
    <p:embeddedFont>
      <p:font typeface="Arial Black" panose="020B0A04020102020204" pitchFamily="34" charset="0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Cambria Math" panose="02040503050406030204" pitchFamily="18" charset="0"/>
      <p:regular r:id="rId26"/>
    </p:embeddedFont>
    <p:embeddedFont>
      <p:font typeface="Century Gothic" panose="020B0502020202020204" pitchFamily="34" charset="0"/>
      <p:regular r:id="rId27"/>
      <p:bold r:id="rId28"/>
      <p:italic r:id="rId29"/>
      <p:boldItalic r:id="rId30"/>
    </p:embeddedFont>
    <p:embeddedFont>
      <p:font typeface="Verdana" panose="020B060403050404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68" autoAdjust="0"/>
    <p:restoredTop sz="94707" autoAdjust="0"/>
  </p:normalViewPr>
  <p:slideViewPr>
    <p:cSldViewPr snapToGrid="0">
      <p:cViewPr varScale="1">
        <p:scale>
          <a:sx n="82" d="100"/>
          <a:sy n="82" d="100"/>
        </p:scale>
        <p:origin x="116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47774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9782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0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606394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6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Lengths of Secants, Tangents, Segments, and Chords in Circles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257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598046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MA.912.GR.6.1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5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Solve mathematical and real-world problems involving the length of a secant, tangent, segment, or chord in a given circle.</a:t>
            </a:r>
            <a:endParaRPr lang="en-US" sz="35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37892"/>
            <a:ext cx="876942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3FFBD4B-4C30-3E43-A4B6-B10F8D4FEFA1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498651"/>
            <a:ext cx="1116180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itchFamily="2" charset="2"/>
              <a:buChar char="q"/>
            </a:pPr>
            <a:r>
              <a:rPr lang="en-US" sz="3500" dirty="0">
                <a:solidFill>
                  <a:srgbClr val="2A2B2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mathematical and real-world problems involving the lengths of secants, tangents, segments, or chords of a circle.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5CDA1BE-173A-2048-A51F-0B2DB362C1A9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7EF5AF3-94AE-7E43-968B-85E5F4D4CC2C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259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6" y="303390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12.6.1 Warm-Up: Critical Thinking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1064" y="1386025"/>
            <a:ext cx="110770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math could be considered a language used for communication.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Suppose you were taking Geometry in another country. How do you think the problems would differ?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DA544172-D125-604A-9616-47D041B858DB}"/>
              </a:ext>
            </a:extLst>
          </p:cNvPr>
          <p:cNvSpPr txBox="1"/>
          <p:nvPr/>
        </p:nvSpPr>
        <p:spPr>
          <a:xfrm>
            <a:off x="8889924" y="648304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EFFDFA0-F1C9-BB4C-BC4A-0C54E3C70CB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0406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820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32244" y="60325"/>
            <a:ext cx="1087732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12.6.2 Activity: Line Segments of Circles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2436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572842" y="1386025"/>
            <a:ext cx="108773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Match each image, type of segment, and answer to the description of circles. Record your answers in the table. </a:t>
            </a:r>
            <a:endParaRPr lang="en-US" sz="2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223D4E3-F221-EB48-87A9-F90E2D5631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4074708"/>
                  </p:ext>
                </p:extLst>
              </p:nvPr>
            </p:nvGraphicFramePr>
            <p:xfrm>
              <a:off x="677068" y="2228854"/>
              <a:ext cx="10132902" cy="394087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953863">
                      <a:extLst>
                        <a:ext uri="{9D8B030D-6E8A-4147-A177-3AD203B41FA5}">
                          <a16:colId xmlns:a16="http://schemas.microsoft.com/office/drawing/2014/main" val="4272932623"/>
                        </a:ext>
                      </a:extLst>
                    </a:gridCol>
                    <a:gridCol w="2251756">
                      <a:extLst>
                        <a:ext uri="{9D8B030D-6E8A-4147-A177-3AD203B41FA5}">
                          <a16:colId xmlns:a16="http://schemas.microsoft.com/office/drawing/2014/main" val="977267445"/>
                        </a:ext>
                      </a:extLst>
                    </a:gridCol>
                    <a:gridCol w="2927283">
                      <a:extLst>
                        <a:ext uri="{9D8B030D-6E8A-4147-A177-3AD203B41FA5}">
                          <a16:colId xmlns:a16="http://schemas.microsoft.com/office/drawing/2014/main" val="512120156"/>
                        </a:ext>
                      </a:extLst>
                    </a:gridCol>
                  </a:tblGrid>
                  <a:tr h="58545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Circle</a:t>
                          </a: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Cards’ Letter</a:t>
                          </a: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918933"/>
                      </a:ext>
                    </a:extLst>
                  </a:tr>
                  <a:tr h="186835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has points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𝐺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𝐸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on the circle, where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𝐺𝑀</m:t>
                              </m:r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=2</m:t>
                              </m:r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+2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𝑀𝐷</m:t>
                              </m:r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=14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:b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𝐸𝑀</m:t>
                              </m:r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=12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𝑀𝑁</m:t>
                              </m:r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=2</m:t>
                              </m:r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+5</m:t>
                              </m:r>
                            </m:oMath>
                          </a14:m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71584" marR="171584" marT="171584" marB="17158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Image: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Answer: ____</a:t>
                          </a: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3860892"/>
                      </a:ext>
                    </a:extLst>
                  </a:tr>
                  <a:tr h="14870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𝐻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has points 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on the circle, where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𝐵𝑅</m:t>
                              </m:r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=15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𝑅𝑇</m:t>
                              </m:r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=9</m:t>
                              </m:r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𝐶𝑇</m:t>
                              </m:r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500">
                                  <a:effectLst/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71584" marR="171584" marT="171584" marB="17158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Image: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Answer: ____</a:t>
                          </a: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092619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223D4E3-F221-EB48-87A9-F90E2D5631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4074708"/>
                  </p:ext>
                </p:extLst>
              </p:nvPr>
            </p:nvGraphicFramePr>
            <p:xfrm>
              <a:off x="677068" y="2228854"/>
              <a:ext cx="10132902" cy="394087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953863">
                      <a:extLst>
                        <a:ext uri="{9D8B030D-6E8A-4147-A177-3AD203B41FA5}">
                          <a16:colId xmlns:a16="http://schemas.microsoft.com/office/drawing/2014/main" val="4272932623"/>
                        </a:ext>
                      </a:extLst>
                    </a:gridCol>
                    <a:gridCol w="2251756">
                      <a:extLst>
                        <a:ext uri="{9D8B030D-6E8A-4147-A177-3AD203B41FA5}">
                          <a16:colId xmlns:a16="http://schemas.microsoft.com/office/drawing/2014/main" val="977267445"/>
                        </a:ext>
                      </a:extLst>
                    </a:gridCol>
                    <a:gridCol w="2927283">
                      <a:extLst>
                        <a:ext uri="{9D8B030D-6E8A-4147-A177-3AD203B41FA5}">
                          <a16:colId xmlns:a16="http://schemas.microsoft.com/office/drawing/2014/main" val="512120156"/>
                        </a:ext>
                      </a:extLst>
                    </a:gridCol>
                  </a:tblGrid>
                  <a:tr h="58545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Circle</a:t>
                          </a: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Cards’ Letter</a:t>
                          </a: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918933"/>
                      </a:ext>
                    </a:extLst>
                  </a:tr>
                  <a:tr h="18683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1584" marR="171584" marT="171584" marB="17158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6" t="-31596" r="-104920" b="-807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Image: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Answer: ____</a:t>
                          </a: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3860892"/>
                      </a:ext>
                    </a:extLst>
                  </a:tr>
                  <a:tr h="14870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1584" marR="171584" marT="171584" marB="17158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6" t="-164898" r="-104920" b="-1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Image: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Answer: ____</a:t>
                          </a:r>
                        </a:p>
                      </a:txBody>
                      <a:tcPr marL="114389" marR="114389" marT="57195" marB="571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092619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A4D1AECD-956F-4C47-AF21-2666546CAC53}"/>
              </a:ext>
            </a:extLst>
          </p:cNvPr>
          <p:cNvSpPr txBox="1"/>
          <p:nvPr/>
        </p:nvSpPr>
        <p:spPr>
          <a:xfrm>
            <a:off x="889997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5927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368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2" name="Google Shape;282;g104476d1465_1_17">
            <a:extLst>
              <a:ext uri="{FF2B5EF4-FFF2-40B4-BE49-F238E27FC236}">
                <a16:creationId xmlns:a16="http://schemas.microsoft.com/office/drawing/2014/main" id="{8270FBBB-496C-F648-93AE-2DB996427DB2}"/>
              </a:ext>
            </a:extLst>
          </p:cNvPr>
          <p:cNvSpPr txBox="1"/>
          <p:nvPr/>
        </p:nvSpPr>
        <p:spPr>
          <a:xfrm>
            <a:off x="8889924" y="64607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0B452B0-F6DD-744C-8526-952F7F5CBA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6746501"/>
                  </p:ext>
                </p:extLst>
              </p:nvPr>
            </p:nvGraphicFramePr>
            <p:xfrm>
              <a:off x="660574" y="399651"/>
              <a:ext cx="10284930" cy="588956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028188">
                      <a:extLst>
                        <a:ext uri="{9D8B030D-6E8A-4147-A177-3AD203B41FA5}">
                          <a16:colId xmlns:a16="http://schemas.microsoft.com/office/drawing/2014/main" val="539282737"/>
                        </a:ext>
                      </a:extLst>
                    </a:gridCol>
                    <a:gridCol w="2285540">
                      <a:extLst>
                        <a:ext uri="{9D8B030D-6E8A-4147-A177-3AD203B41FA5}">
                          <a16:colId xmlns:a16="http://schemas.microsoft.com/office/drawing/2014/main" val="4131612395"/>
                        </a:ext>
                      </a:extLst>
                    </a:gridCol>
                    <a:gridCol w="2971202">
                      <a:extLst>
                        <a:ext uri="{9D8B030D-6E8A-4147-A177-3AD203B41FA5}">
                          <a16:colId xmlns:a16="http://schemas.microsoft.com/office/drawing/2014/main" val="117453555"/>
                        </a:ext>
                      </a:extLst>
                    </a:gridCol>
                  </a:tblGrid>
                  <a:tr h="49646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Circle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Cards’ Letter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9034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has points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on the circle, where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𝑇𝑆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−8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𝑆𝑃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=4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:b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𝑉𝑃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𝑉𝑊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−5</m:t>
                              </m:r>
                            </m:oMath>
                          </a14:m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Image: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Answer: ____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83964370"/>
                      </a:ext>
                    </a:extLst>
                  </a:tr>
                  <a:tr h="139034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has points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on the circle, where </a:t>
                          </a:r>
                          <a:b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𝐸𝑌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=7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:br>
                            <a:rPr lang="en-PH" sz="2100" i="1" dirty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𝐵𝑌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=5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Image: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Answer: ____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4841233"/>
                      </a:ext>
                    </a:extLst>
                  </a:tr>
                  <a:tr h="12220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has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on the circle, where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𝑉𝐵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=4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𝐵𝐴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=8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𝑉𝐴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Image: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Answer: ____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39034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has points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on the circle, where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𝑀𝐴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𝑊𝐴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:b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𝐺𝑅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=35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𝑆𝐻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=6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−7</m:t>
                              </m:r>
                            </m:oMath>
                          </a14:m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Image: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Answer: ____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0B452B0-F6DD-744C-8526-952F7F5CBA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6746501"/>
                  </p:ext>
                </p:extLst>
              </p:nvPr>
            </p:nvGraphicFramePr>
            <p:xfrm>
              <a:off x="660574" y="399651"/>
              <a:ext cx="10284930" cy="588956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028188">
                      <a:extLst>
                        <a:ext uri="{9D8B030D-6E8A-4147-A177-3AD203B41FA5}">
                          <a16:colId xmlns:a16="http://schemas.microsoft.com/office/drawing/2014/main" val="539282737"/>
                        </a:ext>
                      </a:extLst>
                    </a:gridCol>
                    <a:gridCol w="2285540">
                      <a:extLst>
                        <a:ext uri="{9D8B030D-6E8A-4147-A177-3AD203B41FA5}">
                          <a16:colId xmlns:a16="http://schemas.microsoft.com/office/drawing/2014/main" val="4131612395"/>
                        </a:ext>
                      </a:extLst>
                    </a:gridCol>
                    <a:gridCol w="2971202">
                      <a:extLst>
                        <a:ext uri="{9D8B030D-6E8A-4147-A177-3AD203B41FA5}">
                          <a16:colId xmlns:a16="http://schemas.microsoft.com/office/drawing/2014/main" val="117453555"/>
                        </a:ext>
                      </a:extLst>
                    </a:gridCol>
                  </a:tblGrid>
                  <a:tr h="49646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Circle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Cards’ Letter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903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2" t="-36842" r="-104970" b="-2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Image: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Answer: ____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83964370"/>
                      </a:ext>
                    </a:extLst>
                  </a:tr>
                  <a:tr h="13903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2" t="-136842" r="-104970" b="-1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Image: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Answer: ____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4841233"/>
                      </a:ext>
                    </a:extLst>
                  </a:tr>
                  <a:tr h="12220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2" t="-268657" r="-104970" b="-114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Image: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Answer: ____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3903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2" t="-325000" r="-104970" b="-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Image: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Segment: 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Answer: ____</a:t>
                          </a:r>
                        </a:p>
                      </a:txBody>
                      <a:tcPr marL="97001" marR="97001" marT="48500" marB="48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5AC693E-B4B2-154C-B905-FD95D7A56D5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853400E-B98C-104F-8BD2-B3EC6FD05648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2298" y="2463182"/>
            <a:ext cx="3505852" cy="3295531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194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0325"/>
            <a:ext cx="1066037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12.6.3 Try It: Solving for Length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752905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Doug’s pizza was delivered, he realized the pizza was not cut evenly. The pizza,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is cut by chords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>
                  <a:tabLst>
                    <a:tab pos="0" algn="l"/>
                  </a:tabLst>
                </a:pPr>
                <a:r>
                  <a:rPr lang="en-US" sz="24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4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Given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𝑁𝐶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=(5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inches (in),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𝐶𝑋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𝐺𝐶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=(2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in, 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𝑁𝑋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en-US" sz="24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7529050" cy="2677656"/>
              </a:xfrm>
              <a:prstGeom prst="rect">
                <a:avLst/>
              </a:prstGeom>
              <a:blipFill>
                <a:blip r:embed="rId6"/>
                <a:stretch>
                  <a:fillRect l="-1215" t="-1818" b="-3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3A2FC68A-6016-A748-96F0-2DE2D6E26051}"/>
              </a:ext>
            </a:extLst>
          </p:cNvPr>
          <p:cNvSpPr txBox="1"/>
          <p:nvPr/>
        </p:nvSpPr>
        <p:spPr>
          <a:xfrm>
            <a:off x="8889924" y="646902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7402" y="543589"/>
                <a:ext cx="8320299" cy="2216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3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belt guard is used on stationary bikes to cover some of the inner mechanics. Circle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shown, where points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on the circle. Tangents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𝐻𝐺</m:t>
                        </m:r>
                      </m:e>
                    </m:acc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𝑇𝐺</m:t>
                        </m:r>
                      </m:e>
                    </m:acc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intersect outside the circle at point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sz="23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3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3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57200"/>
                <a:r>
                  <a:rPr lang="en-US" sz="23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𝐻𝐺</m:t>
                    </m:r>
                    <m:r>
                      <a:rPr lang="en-US" sz="23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=15</m:t>
                    </m:r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𝑇𝐺</m:t>
                    </m:r>
                    <m:r>
                      <a:rPr lang="en-US" sz="23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  <m:r>
                      <a:rPr lang="en-US" sz="23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3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−9</m:t>
                    </m:r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what is the value of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en-US" sz="23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02" y="543589"/>
                <a:ext cx="8320299" cy="2216825"/>
              </a:xfrm>
              <a:prstGeom prst="rect">
                <a:avLst/>
              </a:prstGeom>
              <a:blipFill>
                <a:blip r:embed="rId4"/>
                <a:stretch>
                  <a:fillRect l="-1099" t="-1923" b="-4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5CEE491-990D-4542-BEF8-87B03E2D9FFA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6015" y="1897125"/>
            <a:ext cx="3615985" cy="3207138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DBEE1E7-A769-474C-B6BD-1CAA140AA948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9249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697392E-4D1C-E047-8A64-E8BD52B4E45D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52650" y="13853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12.6.4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7" y="1102246"/>
            <a:ext cx="10553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Write one question you still have about solving mathematical and real-world problems involving the lengths of secants, tangents, or chords of a circle.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64B67A-3AEE-DA40-975C-5EC8CFE5E70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745</Words>
  <Application>Microsoft Office PowerPoint</Application>
  <PresentationFormat>Widescreen</PresentationFormat>
  <Paragraphs>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Cambria</vt:lpstr>
      <vt:lpstr>Wingdings</vt:lpstr>
      <vt:lpstr>Century Gothic</vt:lpstr>
      <vt:lpstr>Verdana</vt:lpstr>
      <vt:lpstr>Arial Black</vt:lpstr>
      <vt:lpstr>Calibri</vt:lpstr>
      <vt:lpstr>Arial</vt:lpstr>
      <vt:lpstr>Cambria Math</vt:lpstr>
      <vt:lpstr>1_Office Theme</vt:lpstr>
      <vt:lpstr>Geometry  Unit 12, Lesson 6  Lengths of Secants, Tangents, Segments, and Chords in Circles  Volume 2, pg. 257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Try It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26</cp:revision>
  <dcterms:created xsi:type="dcterms:W3CDTF">2015-03-17T18:51:18Z</dcterms:created>
  <dcterms:modified xsi:type="dcterms:W3CDTF">2023-03-02T21:24:25Z</dcterms:modified>
</cp:coreProperties>
</file>