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62" r:id="rId11"/>
    <p:sldId id="326" r:id="rId12"/>
    <p:sldId id="327" r:id="rId13"/>
    <p:sldId id="368" r:id="rId14"/>
    <p:sldId id="372" r:id="rId15"/>
    <p:sldId id="289" r:id="rId16"/>
    <p:sldId id="290" r:id="rId17"/>
    <p:sldId id="366" r:id="rId18"/>
    <p:sldId id="373" r:id="rId19"/>
    <p:sldId id="323" r:id="rId20"/>
    <p:sldId id="324" r:id="rId21"/>
    <p:sldId id="367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6040202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73" autoAdjust="0"/>
    <p:restoredTop sz="94694" autoAdjust="0"/>
  </p:normalViewPr>
  <p:slideViewPr>
    <p:cSldViewPr snapToGrid="0">
      <p:cViewPr varScale="1">
        <p:scale>
          <a:sx n="117" d="100"/>
          <a:sy n="117" d="100"/>
        </p:scale>
        <p:origin x="1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67424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8937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359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562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457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math.stackexchange.com/questions/623/why-is-the-volume-of-a-cone-one-third-of-the-volume-of-a-cylinder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general Form of a Circle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266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6061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MA.912.GR.7.2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derive and create the equation of a circle using key features. 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MA.912.GR.7.3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and solve mathematical and real-world problems that are modeled with an equation of a circle. Determine and interpret key features in terms of context.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417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CBFAD68-BF05-AF42-8B68-D55B431B325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the equation of a circle from general form to center-radius form.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key features of a circle given the equation in general form.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the domain and range using inequality notation, interval notation, or set-builder notation.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314136D-AD2D-5441-91F5-12539DAE5A0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C55DA5-8BB0-3C4F-ACAB-714DF958E8C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3033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12.8.1 Warm-Up: Conic Sections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102246"/>
            <a:ext cx="8019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Conic sections are the family of curves created when a plane slices through a cone. A circle is best known as a conic section. A diagram of five conic sections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According to Greek philosopher Proclus,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Menaechmus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 member of Plato’s Academy, discovered conic sections  around 350 B.C. Approximately 100 years later, Apollonius, a Greek geometer and astronomer, developed and published the theory of conic sections. His work earned him the title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Great Geometer.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E9A68-16E5-3B49-B433-808C6F6CD64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1676" y="2273849"/>
            <a:ext cx="2969260" cy="3552825"/>
          </a:xfrm>
          <a:prstGeom prst="rect">
            <a:avLst/>
          </a:prstGeom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797D140C-4E0C-0A41-8392-17883E42A44E}"/>
              </a:ext>
            </a:extLst>
          </p:cNvPr>
          <p:cNvSpPr txBox="1"/>
          <p:nvPr/>
        </p:nvSpPr>
        <p:spPr>
          <a:xfrm>
            <a:off x="88782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65232" y="2678592"/>
            <a:ext cx="10891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diagram to explain why when a cone is sliced horizontally the result is a circle.</a:t>
            </a:r>
            <a:r>
              <a:rPr lang="en-US" sz="2400" dirty="0"/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E23A0-6909-8946-9A6F-A7A3EDA41105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6506"/>
          <a:stretch/>
        </p:blipFill>
        <p:spPr>
          <a:xfrm>
            <a:off x="1728718" y="378373"/>
            <a:ext cx="5800164" cy="2300218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1B53657-22D9-6040-8377-2C6DB93B075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95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92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E7122A7-9D34-2747-BEA9-6BFD65AFBC41}"/>
              </a:ext>
            </a:extLst>
          </p:cNvPr>
          <p:cNvSpPr txBox="1"/>
          <p:nvPr/>
        </p:nvSpPr>
        <p:spPr>
          <a:xfrm>
            <a:off x="8889924" y="6436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9" y="11248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01" y="7979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12.8.2 Collaboration: Standard Form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793" y="36774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08986" y="1405498"/>
                <a:ext cx="6803523" cy="1759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center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located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(−7,5)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lies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(−4.25, 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circle in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center-radius form,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86" y="1405498"/>
                <a:ext cx="6803523" cy="1759456"/>
              </a:xfrm>
              <a:prstGeom prst="rect">
                <a:avLst/>
              </a:prstGeom>
              <a:blipFill>
                <a:blip r:embed="rId5"/>
                <a:stretch>
                  <a:fillRect l="-985" t="-243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13965C5-6EBC-FE48-8D10-F48EA79A57D8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2509" y="1405498"/>
            <a:ext cx="4546841" cy="3155992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7D98D0DF-1036-7B4C-ADC8-FB3450E9A2D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51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046" y="373248"/>
                <a:ext cx="10991877" cy="4939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Expand each term of the center-radius form to write an equivalent expression.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equivalent expressions of the center-radius form to rewrite the center-radius form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general form.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46" y="373248"/>
                <a:ext cx="10991877" cy="4939814"/>
              </a:xfrm>
              <a:prstGeom prst="rect">
                <a:avLst/>
              </a:prstGeom>
              <a:blipFill>
                <a:blip r:embed="rId4"/>
                <a:stretch>
                  <a:fillRect t="-769"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5D711B-5C55-E841-B393-9F34410DC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45387"/>
                  </p:ext>
                </p:extLst>
              </p:nvPr>
            </p:nvGraphicFramePr>
            <p:xfrm>
              <a:off x="1545678" y="1168756"/>
              <a:ext cx="6800850" cy="20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039968988"/>
                        </a:ext>
                      </a:extLst>
                    </a:gridCol>
                    <a:gridCol w="4972050">
                      <a:extLst>
                        <a:ext uri="{9D8B030D-6E8A-4147-A177-3AD203B41FA5}">
                          <a16:colId xmlns:a16="http://schemas.microsoft.com/office/drawing/2014/main" val="397051400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025668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+7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37338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−5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75192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2.75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678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5D711B-5C55-E841-B393-9F34410DC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45387"/>
                  </p:ext>
                </p:extLst>
              </p:nvPr>
            </p:nvGraphicFramePr>
            <p:xfrm>
              <a:off x="1545678" y="1168756"/>
              <a:ext cx="6800850" cy="20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3039968988"/>
                        </a:ext>
                      </a:extLst>
                    </a:gridCol>
                    <a:gridCol w="4972050">
                      <a:extLst>
                        <a:ext uri="{9D8B030D-6E8A-4147-A177-3AD203B41FA5}">
                          <a16:colId xmlns:a16="http://schemas.microsoft.com/office/drawing/2014/main" val="397051400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025668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87640" r="-273333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373381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187640" r="-273333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751926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287640" r="-273333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7678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A128DC6-3984-F041-B6DB-D0A2AE9E30DB}"/>
              </a:ext>
            </a:extLst>
          </p:cNvPr>
          <p:cNvGrpSpPr/>
          <p:nvPr/>
        </p:nvGrpSpPr>
        <p:grpSpPr>
          <a:xfrm>
            <a:off x="1261853" y="3578592"/>
            <a:ext cx="6867525" cy="903358"/>
            <a:chOff x="0" y="-62312"/>
            <a:chExt cx="6629400" cy="91099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D1A42A0-F788-6346-804B-69AAEFB2795D}"/>
                </a:ext>
              </a:extLst>
            </p:cNvPr>
            <p:cNvGrpSpPr/>
            <p:nvPr/>
          </p:nvGrpSpPr>
          <p:grpSpPr>
            <a:xfrm>
              <a:off x="0" y="-62312"/>
              <a:ext cx="6629400" cy="910998"/>
              <a:chOff x="2031300" y="3324496"/>
              <a:chExt cx="6629400" cy="91099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2DD71D8-12A4-4648-B8AB-BDFEC4D14CCB}"/>
                  </a:ext>
                </a:extLst>
              </p:cNvPr>
              <p:cNvGrpSpPr/>
              <p:nvPr/>
            </p:nvGrpSpPr>
            <p:grpSpPr>
              <a:xfrm>
                <a:off x="2031300" y="3324496"/>
                <a:ext cx="6629400" cy="910998"/>
                <a:chOff x="0" y="-62312"/>
                <a:chExt cx="6629400" cy="910998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FD05819-321B-B549-8D8F-E693CF5D4E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B5AE088-BCB7-F24B-A329-883418A36DB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1" name="Rounded Rectangle 30">
                      <a:extLst>
                        <a:ext uri="{FF2B5EF4-FFF2-40B4-BE49-F238E27FC236}">
                          <a16:creationId xmlns:a16="http://schemas.microsoft.com/office/drawing/2014/main" id="{3FD5E98D-63AA-C747-87A1-595DD6D4E0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651" y="-62312"/>
                      <a:ext cx="5560277" cy="91099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72000" rIns="91425" bIns="0" anchor="ctr" anchorCtr="0">
                      <a:spAutoFit/>
                    </a:bodyPr>
                    <a:lstStyle/>
                    <a:p>
                      <a:pPr marL="627063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The </a:t>
                      </a:r>
                      <a:r>
                        <a:rPr lang="en-US" sz="2000" b="1" dirty="0">
                          <a:solidFill>
                            <a:srgbClr val="0075B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general form</a:t>
                      </a: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of an equation of a circle is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𝑎𝑥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𝑐𝑥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𝑑𝑦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𝑒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=0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31" name="Rounded Rectangle 30">
                      <a:extLst>
                        <a:ext uri="{FF2B5EF4-FFF2-40B4-BE49-F238E27FC236}">
                          <a16:creationId xmlns:a16="http://schemas.microsoft.com/office/drawing/2014/main" id="{3FD5E98D-63AA-C747-87A1-595DD6D4E0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0651" y="-62312"/>
                      <a:ext cx="5560277" cy="910998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7" name="image15.png" descr="Icon&#10;&#10;Description automatically generated">
              <a:extLst>
                <a:ext uri="{FF2B5EF4-FFF2-40B4-BE49-F238E27FC236}">
                  <a16:creationId xmlns:a16="http://schemas.microsoft.com/office/drawing/2014/main" id="{51D6E1BC-53CD-7647-A9EC-A89FB18C9444}"/>
                </a:ext>
              </a:extLst>
            </p:cNvPr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2828" y="105101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CA92D472-3B3C-8145-B555-BD2DEB519B7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34C25BB-35B4-B849-8F41-C7A68623532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358215"/>
            <a:ext cx="1100550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12.8.3 Refresher: Completing the Square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021" y="27875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00550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The binomial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can be rewritten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which is a perfect square trinomial. The algebra tiles represent 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005504" cy="707886"/>
              </a:xfrm>
              <a:prstGeom prst="rect">
                <a:avLst/>
              </a:prstGeom>
              <a:blipFill>
                <a:blip r:embed="rId5"/>
                <a:stretch>
                  <a:fillRect l="-554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3AD7A52-DE6D-5246-B04B-DFA80A8A738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0416" y="2401689"/>
            <a:ext cx="3588336" cy="3455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7BB142-A7F2-E94A-9E64-2A9DE284B987}"/>
                  </a:ext>
                </a:extLst>
              </p:cNvPr>
              <p:cNvSpPr txBox="1"/>
              <p:nvPr/>
            </p:nvSpPr>
            <p:spPr>
              <a:xfrm>
                <a:off x="593248" y="2586427"/>
                <a:ext cx="7417168" cy="2195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SzPct val="100000"/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Discuss with your partner how the diagram shows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perfect square trinomial. Summarize your discussion.</a:t>
                </a:r>
              </a:p>
              <a:p>
                <a:pPr marL="457200" indent="-457200">
                  <a:spcAft>
                    <a:spcPts val="1000"/>
                  </a:spcAft>
                  <a:buSzPct val="100000"/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diagram shows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+16=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7BB142-A7F2-E94A-9E64-2A9DE284B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2586427"/>
                <a:ext cx="7417168" cy="2195473"/>
              </a:xfrm>
              <a:prstGeom prst="rect">
                <a:avLst/>
              </a:prstGeom>
              <a:blipFill>
                <a:blip r:embed="rId7"/>
                <a:stretch>
                  <a:fillRect l="-904" t="-166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A30C2A75-7EFA-C749-8EBB-F4B3C6686101}"/>
              </a:ext>
            </a:extLst>
          </p:cNvPr>
          <p:cNvSpPr txBox="1"/>
          <p:nvPr/>
        </p:nvSpPr>
        <p:spPr>
          <a:xfrm>
            <a:off x="88605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38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289" y="620263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927" y="381552"/>
                <a:ext cx="832713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ct val="100000"/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Write the perfect square trinomial and the binomial squared that are represented by the diagram. </a:t>
                </a:r>
              </a:p>
              <a:p>
                <a:pPr marL="457200" indent="-457200">
                  <a:buSzPct val="100000"/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SzPct val="100000"/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−10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+8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 is shown.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indent="-3429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How many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 tiles have to be added to complete the square?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27" y="381552"/>
                <a:ext cx="8327136" cy="4093428"/>
              </a:xfrm>
              <a:prstGeom prst="rect">
                <a:avLst/>
              </a:prstGeom>
              <a:blipFill>
                <a:blip r:embed="rId4"/>
                <a:stretch>
                  <a:fillRect l="-805" t="-1043" r="-168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1AE3C44-0D43-3B48-8F6C-D4A3AA1E3BD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5944" y="381552"/>
            <a:ext cx="2743128" cy="2634001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BFA60592-5897-994C-BD45-E3B3285EFA83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5072" y="3535070"/>
            <a:ext cx="2634001" cy="263400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4E449D8-5055-2849-9236-8582F111181A}"/>
              </a:ext>
            </a:extLst>
          </p:cNvPr>
          <p:cNvSpPr txBox="1"/>
          <p:nvPr/>
        </p:nvSpPr>
        <p:spPr>
          <a:xfrm>
            <a:off x="8860063" y="645970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91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844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77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4409" y="201418"/>
                <a:ext cx="1096113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Completing the square by adding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tiles will change the value of the original trinomial unless the same number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tiles are also added.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09" y="201418"/>
                <a:ext cx="10961136" cy="1323439"/>
              </a:xfrm>
              <a:prstGeom prst="rect">
                <a:avLst/>
              </a:prstGeom>
              <a:blipFill>
                <a:blip r:embed="rId4"/>
                <a:stretch>
                  <a:fillRect l="-556" t="-2304" b="-7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97C91B58-372E-D547-B36F-821183CBC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851" y="1584848"/>
            <a:ext cx="7221393" cy="4944389"/>
          </a:xfrm>
          <a:prstGeom prst="rect">
            <a:avLst/>
          </a:prstGeom>
        </p:spPr>
      </p:pic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91D79175-E9BA-E24B-ABCC-F4F1572DA052}"/>
              </a:ext>
            </a:extLst>
          </p:cNvPr>
          <p:cNvSpPr txBox="1"/>
          <p:nvPr/>
        </p:nvSpPr>
        <p:spPr>
          <a:xfrm>
            <a:off x="887154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954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AA857B6-2C5C-874E-850A-605A0CA55BB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404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52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32245" y="106303"/>
            <a:ext cx="104490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12.8.4 Guided Instruction: Rewriting the General Form of the Equation of a Circle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946" y="3955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20161" y="1534709"/>
            <a:ext cx="10225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several ways to mathematically represent the domain and range.</a:t>
            </a:r>
            <a:endParaRPr lang="en-US" sz="16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96DE53-6F87-D34F-821D-2CEDD5C2A5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3564837"/>
                  </p:ext>
                </p:extLst>
              </p:nvPr>
            </p:nvGraphicFramePr>
            <p:xfrm>
              <a:off x="658595" y="2437739"/>
              <a:ext cx="10181181" cy="34701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2811">
                      <a:extLst>
                        <a:ext uri="{9D8B030D-6E8A-4147-A177-3AD203B41FA5}">
                          <a16:colId xmlns:a16="http://schemas.microsoft.com/office/drawing/2014/main" val="2389310661"/>
                        </a:ext>
                      </a:extLst>
                    </a:gridCol>
                    <a:gridCol w="2431743">
                      <a:extLst>
                        <a:ext uri="{9D8B030D-6E8A-4147-A177-3AD203B41FA5}">
                          <a16:colId xmlns:a16="http://schemas.microsoft.com/office/drawing/2014/main" val="435583171"/>
                        </a:ext>
                      </a:extLst>
                    </a:gridCol>
                    <a:gridCol w="3094946">
                      <a:extLst>
                        <a:ext uri="{9D8B030D-6E8A-4147-A177-3AD203B41FA5}">
                          <a16:colId xmlns:a16="http://schemas.microsoft.com/office/drawing/2014/main" val="126350830"/>
                        </a:ext>
                      </a:extLst>
                    </a:gridCol>
                    <a:gridCol w="2001681">
                      <a:extLst>
                        <a:ext uri="{9D8B030D-6E8A-4147-A177-3AD203B41FA5}">
                          <a16:colId xmlns:a16="http://schemas.microsoft.com/office/drawing/2014/main" val="3268535405"/>
                        </a:ext>
                      </a:extLst>
                    </a:gridCol>
                  </a:tblGrid>
                  <a:tr h="8820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Inequalities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Set-Builder Notation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Interval Notation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678642"/>
                      </a:ext>
                    </a:extLst>
                  </a:tr>
                  <a:tr h="23583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All real numbers greater than or equal to </a:t>
                          </a:r>
                          <a14:m>
                            <m:oMath xmlns:m="http://schemas.openxmlformats.org/officeDocument/2006/math">
                              <m:r>
                                <a:rPr lang="en-US" sz="25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oMath>
                          </a14:m>
                          <a:r>
                            <a:rPr lang="en-US" sz="25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less than or equal to </a:t>
                          </a:r>
                          <a14:m>
                            <m:oMath xmlns:m="http://schemas.openxmlformats.org/officeDocument/2006/math">
                              <m:r>
                                <a:rPr lang="en-US" sz="25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oMath>
                          </a14:m>
                          <a:endParaRPr lang="en-US" sz="25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−5≤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≤5</m:t>
                                </m:r>
                              </m:oMath>
                            </m:oMathPara>
                          </a14:m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500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:−5≤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≤5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−5≤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≤5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5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≥−5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5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and</m:t>
                                      </m:r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5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≤5</m:t>
                                      </m:r>
                                    </m:e>
                                  </m:eqArr>
                                </m:e>
                              </m:d>
                            </m:oMath>
                          </a14:m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 or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5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≥−5 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5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and</m:t>
                                        </m:r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5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≤5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5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−5,5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25795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96DE53-6F87-D34F-821D-2CEDD5C2A5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3564837"/>
                  </p:ext>
                </p:extLst>
              </p:nvPr>
            </p:nvGraphicFramePr>
            <p:xfrm>
              <a:off x="658595" y="2437739"/>
              <a:ext cx="10181181" cy="34743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2811">
                      <a:extLst>
                        <a:ext uri="{9D8B030D-6E8A-4147-A177-3AD203B41FA5}">
                          <a16:colId xmlns:a16="http://schemas.microsoft.com/office/drawing/2014/main" val="2389310661"/>
                        </a:ext>
                      </a:extLst>
                    </a:gridCol>
                    <a:gridCol w="2431743">
                      <a:extLst>
                        <a:ext uri="{9D8B030D-6E8A-4147-A177-3AD203B41FA5}">
                          <a16:colId xmlns:a16="http://schemas.microsoft.com/office/drawing/2014/main" val="435583171"/>
                        </a:ext>
                      </a:extLst>
                    </a:gridCol>
                    <a:gridCol w="3094946">
                      <a:extLst>
                        <a:ext uri="{9D8B030D-6E8A-4147-A177-3AD203B41FA5}">
                          <a16:colId xmlns:a16="http://schemas.microsoft.com/office/drawing/2014/main" val="126350830"/>
                        </a:ext>
                      </a:extLst>
                    </a:gridCol>
                    <a:gridCol w="2001681">
                      <a:extLst>
                        <a:ext uri="{9D8B030D-6E8A-4147-A177-3AD203B41FA5}">
                          <a16:colId xmlns:a16="http://schemas.microsoft.com/office/drawing/2014/main" val="3268535405"/>
                        </a:ext>
                      </a:extLst>
                    </a:gridCol>
                  </a:tblGrid>
                  <a:tr h="8820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Written Description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Inequalities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Set-Builder Notation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Interval Notation</a:t>
                          </a:r>
                          <a:endParaRPr lang="en-US" sz="2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678642"/>
                      </a:ext>
                    </a:extLst>
                  </a:tr>
                  <a:tr h="25922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0" t="-34977" r="-284828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9250" t="-34977" r="-209750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5089" t="-34977" r="-65483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2302" marR="112302" marT="56151" marB="5615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8511" t="-34977" r="-912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5795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B11AE422-7657-1B40-BDDE-31471BFCC5B2}"/>
              </a:ext>
            </a:extLst>
          </p:cNvPr>
          <p:cNvSpPr txBox="1"/>
          <p:nvPr/>
        </p:nvSpPr>
        <p:spPr>
          <a:xfrm>
            <a:off x="884729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48"/>
                <a:ext cx="11065362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Rewrite each general form equation of a circle to 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center-radius form of a circle. Then, give the key features of the circle. Write the domain and range using interval notation and set-builder notation.</a:t>
                </a:r>
              </a:p>
              <a:p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−14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+6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+26=0</m:t>
                    </m:r>
                  </m:oMath>
                </a14:m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48"/>
                <a:ext cx="11065362" cy="2185214"/>
              </a:xfrm>
              <a:prstGeom prst="rect">
                <a:avLst/>
              </a:prstGeom>
              <a:blipFill>
                <a:blip r:embed="rId4"/>
                <a:stretch>
                  <a:fillRect l="-803" t="-2890" b="-5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63379F-3ED9-C04D-ABD3-41ED67073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159125"/>
              </p:ext>
            </p:extLst>
          </p:nvPr>
        </p:nvGraphicFramePr>
        <p:xfrm>
          <a:off x="1112760" y="2675947"/>
          <a:ext cx="9771550" cy="3524652"/>
        </p:xfrm>
        <a:graphic>
          <a:graphicData uri="http://schemas.openxmlformats.org/drawingml/2006/table">
            <a:tbl>
              <a:tblPr firstRow="1" firstCol="1" bandRow="1"/>
              <a:tblGrid>
                <a:gridCol w="4885776">
                  <a:extLst>
                    <a:ext uri="{9D8B030D-6E8A-4147-A177-3AD203B41FA5}">
                      <a16:colId xmlns:a16="http://schemas.microsoft.com/office/drawing/2014/main" val="3552818727"/>
                    </a:ext>
                  </a:extLst>
                </a:gridCol>
                <a:gridCol w="2442887">
                  <a:extLst>
                    <a:ext uri="{9D8B030D-6E8A-4147-A177-3AD203B41FA5}">
                      <a16:colId xmlns:a16="http://schemas.microsoft.com/office/drawing/2014/main" val="2146928462"/>
                    </a:ext>
                  </a:extLst>
                </a:gridCol>
                <a:gridCol w="2442887">
                  <a:extLst>
                    <a:ext uri="{9D8B030D-6E8A-4147-A177-3AD203B41FA5}">
                      <a16:colId xmlns:a16="http://schemas.microsoft.com/office/drawing/2014/main" val="3865367448"/>
                    </a:ext>
                  </a:extLst>
                </a:gridCol>
              </a:tblGrid>
              <a:tr h="5327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r>
                        <a:rPr lang="en-US" sz="23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enter-Radius Form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</a:t>
                      </a:r>
                      <a:endParaRPr lang="en-US" sz="23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Radius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6080"/>
                  </a:ext>
                </a:extLst>
              </a:tr>
              <a:tr h="819687">
                <a:tc rowSpan="3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039073"/>
                  </a:ext>
                </a:extLst>
              </a:tr>
              <a:tr h="5327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Domain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Range</a:t>
                      </a:r>
                      <a:endParaRPr lang="en-US" sz="23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98733"/>
                  </a:ext>
                </a:extLst>
              </a:tr>
              <a:tr h="16393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100" marR="104100" marT="52050" marB="5205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367606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B2FF206-A1A3-6A4D-B89C-9AD19B285BAD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172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1475"/>
                <a:ext cx="8327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spcAft>
                    <a:spcPts val="10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−18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−10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=−52</m:t>
                    </m:r>
                  </m:oMath>
                </a14:m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1475"/>
                <a:ext cx="8327136" cy="461665"/>
              </a:xfrm>
              <a:prstGeom prst="rect">
                <a:avLst/>
              </a:prstGeom>
              <a:blipFill>
                <a:blip r:embed="rId4"/>
                <a:stretch>
                  <a:fillRect l="-1171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91CF1CD-571B-1249-9F77-6B7547A93F03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63379F-3ED9-C04D-ABD3-41ED67073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163979"/>
              </p:ext>
            </p:extLst>
          </p:nvPr>
        </p:nvGraphicFramePr>
        <p:xfrm>
          <a:off x="1112760" y="949964"/>
          <a:ext cx="8650672" cy="3719789"/>
        </p:xfrm>
        <a:graphic>
          <a:graphicData uri="http://schemas.openxmlformats.org/drawingml/2006/table">
            <a:tbl>
              <a:tblPr firstRow="1" firstCol="1" bandRow="1"/>
              <a:tblGrid>
                <a:gridCol w="4325336">
                  <a:extLst>
                    <a:ext uri="{9D8B030D-6E8A-4147-A177-3AD203B41FA5}">
                      <a16:colId xmlns:a16="http://schemas.microsoft.com/office/drawing/2014/main" val="3552818727"/>
                    </a:ext>
                  </a:extLst>
                </a:gridCol>
                <a:gridCol w="2162668">
                  <a:extLst>
                    <a:ext uri="{9D8B030D-6E8A-4147-A177-3AD203B41FA5}">
                      <a16:colId xmlns:a16="http://schemas.microsoft.com/office/drawing/2014/main" val="2146928462"/>
                    </a:ext>
                  </a:extLst>
                </a:gridCol>
                <a:gridCol w="2162668">
                  <a:extLst>
                    <a:ext uri="{9D8B030D-6E8A-4147-A177-3AD203B41FA5}">
                      <a16:colId xmlns:a16="http://schemas.microsoft.com/office/drawing/2014/main" val="3865367448"/>
                    </a:ext>
                  </a:extLst>
                </a:gridCol>
              </a:tblGrid>
              <a:tr h="5622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enter-Radius Form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</a:t>
                      </a:r>
                      <a:endParaRPr lang="en-US" sz="2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Radius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6080"/>
                  </a:ext>
                </a:extLst>
              </a:tr>
              <a:tr h="865067">
                <a:tc rowSpan="3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039073"/>
                  </a:ext>
                </a:extLst>
              </a:tr>
              <a:tr h="5622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Domain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Range</a:t>
                      </a:r>
                      <a:endParaRPr lang="en-US" sz="2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998733"/>
                  </a:ext>
                </a:extLst>
              </a:tr>
              <a:tr h="1730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864" marR="109864" marT="54932" marB="54932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367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37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75BA3DA5-E920-5340-A0E3-6667B3E3755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9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211"/>
            <a:ext cx="91089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12.8.5 Guided Practice: Converting Forms of a Circle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19544" y="1267470"/>
                <a:ext cx="1061980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of the circle represented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+8)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+11)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14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+8)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+11)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14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general form.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 the key features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+8)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+11)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14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44" y="1267470"/>
                <a:ext cx="10619805" cy="2246769"/>
              </a:xfrm>
              <a:prstGeom prst="rect">
                <a:avLst/>
              </a:prstGeom>
              <a:blipFill>
                <a:blip r:embed="rId5"/>
                <a:stretch>
                  <a:fillRect l="-478" t="-1685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85F711-FF67-1B43-9120-3B48A583A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28583"/>
              </p:ext>
            </p:extLst>
          </p:nvPr>
        </p:nvGraphicFramePr>
        <p:xfrm>
          <a:off x="1656013" y="3901675"/>
          <a:ext cx="8122167" cy="2556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707389">
                  <a:extLst>
                    <a:ext uri="{9D8B030D-6E8A-4147-A177-3AD203B41FA5}">
                      <a16:colId xmlns:a16="http://schemas.microsoft.com/office/drawing/2014/main" val="443595625"/>
                    </a:ext>
                  </a:extLst>
                </a:gridCol>
                <a:gridCol w="2707389">
                  <a:extLst>
                    <a:ext uri="{9D8B030D-6E8A-4147-A177-3AD203B41FA5}">
                      <a16:colId xmlns:a16="http://schemas.microsoft.com/office/drawing/2014/main" val="237477007"/>
                    </a:ext>
                  </a:extLst>
                </a:gridCol>
                <a:gridCol w="2707389">
                  <a:extLst>
                    <a:ext uri="{9D8B030D-6E8A-4147-A177-3AD203B41FA5}">
                      <a16:colId xmlns:a16="http://schemas.microsoft.com/office/drawing/2014/main" val="230030554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209550" marR="0" indent="-20955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Diameter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Radius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9185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5040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Domain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Range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547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496538"/>
                  </a:ext>
                </a:extLst>
              </a:tr>
            </a:tbl>
          </a:graphicData>
        </a:graphic>
      </p:graphicFrame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EAFAE83E-AC8F-4849-8AE1-382352E4E51F}"/>
              </a:ext>
            </a:extLst>
          </p:cNvPr>
          <p:cNvSpPr txBox="1"/>
          <p:nvPr/>
        </p:nvSpPr>
        <p:spPr>
          <a:xfrm>
            <a:off x="88466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9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19545" y="373248"/>
                <a:ext cx="1079246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Helvetica Neue" panose="02000503000000020004" pitchFamily="2" charset="0"/>
                  </a:rPr>
                  <a:t>Consider the equation of the circle represented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−20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=−36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Helvetica Neue" panose="02000503000000020004" pitchFamily="2" charset="0"/>
                  </a:rPr>
                  <a:t> 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−20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=−36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center-radius form. 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 the key features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−20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=−36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45" y="373248"/>
                <a:ext cx="10792468" cy="3170099"/>
              </a:xfrm>
              <a:prstGeom prst="rect">
                <a:avLst/>
              </a:prstGeom>
              <a:blipFill>
                <a:blip r:embed="rId4"/>
                <a:stretch>
                  <a:fillRect l="-621" t="-1346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86F8216-01A7-1848-9E18-97E4112CE272}"/>
              </a:ext>
            </a:extLst>
          </p:cNvPr>
          <p:cNvSpPr txBox="1"/>
          <p:nvPr/>
        </p:nvSpPr>
        <p:spPr>
          <a:xfrm>
            <a:off x="88466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85F711-FF67-1B43-9120-3B48A583A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13465"/>
              </p:ext>
            </p:extLst>
          </p:nvPr>
        </p:nvGraphicFramePr>
        <p:xfrm>
          <a:off x="1656013" y="3901675"/>
          <a:ext cx="8077923" cy="2556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692641">
                  <a:extLst>
                    <a:ext uri="{9D8B030D-6E8A-4147-A177-3AD203B41FA5}">
                      <a16:colId xmlns:a16="http://schemas.microsoft.com/office/drawing/2014/main" val="443595625"/>
                    </a:ext>
                  </a:extLst>
                </a:gridCol>
                <a:gridCol w="2692641">
                  <a:extLst>
                    <a:ext uri="{9D8B030D-6E8A-4147-A177-3AD203B41FA5}">
                      <a16:colId xmlns:a16="http://schemas.microsoft.com/office/drawing/2014/main" val="237477007"/>
                    </a:ext>
                  </a:extLst>
                </a:gridCol>
                <a:gridCol w="2692641">
                  <a:extLst>
                    <a:ext uri="{9D8B030D-6E8A-4147-A177-3AD203B41FA5}">
                      <a16:colId xmlns:a16="http://schemas.microsoft.com/office/drawing/2014/main" val="230030554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209550" marR="0" indent="-20955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Diameter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Radius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9185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5040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Domain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Range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547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49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F29079E-0C5F-934C-8112-4AF31D74AEA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52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3853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21634" y="1013597"/>
            <a:ext cx="8327136" cy="769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concept. 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CC88CFD0-925B-1747-949C-D779F6AF854A}"/>
              </a:ext>
            </a:extLst>
          </p:cNvPr>
          <p:cNvSpPr txBox="1"/>
          <p:nvPr/>
        </p:nvSpPr>
        <p:spPr>
          <a:xfrm>
            <a:off x="8889924" y="64386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003227"/>
              </p:ext>
            </p:extLst>
          </p:nvPr>
        </p:nvGraphicFramePr>
        <p:xfrm>
          <a:off x="1052650" y="2448034"/>
          <a:ext cx="5760000" cy="4320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solidFill>
                            <a:srgbClr val="2A2B2D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Rewriting center-radius form to general form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rgbClr val="2A2B2D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Key features of a circle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PH" sz="2000" b="0" i="0" dirty="0">
                          <a:solidFill>
                            <a:srgbClr val="2A2B2D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Completing the square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PH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Rewriting general form to center-radius form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PH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Set-builder notation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PH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Interval notation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4781574" y="2571742"/>
            <a:ext cx="1893728" cy="476250"/>
            <a:chOff x="4905698" y="2626438"/>
            <a:chExt cx="1893728" cy="476250"/>
          </a:xfrm>
        </p:grpSpPr>
        <p:pic>
          <p:nvPicPr>
            <p:cNvPr id="13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1052651" y="1839100"/>
            <a:ext cx="7922615" cy="476250"/>
            <a:chOff x="995850" y="1932755"/>
            <a:chExt cx="7922615" cy="476250"/>
          </a:xfrm>
        </p:grpSpPr>
        <p:grpSp>
          <p:nvGrpSpPr>
            <p:cNvPr id="6" name="Group 5"/>
            <p:cNvGrpSpPr/>
            <p:nvPr/>
          </p:nvGrpSpPr>
          <p:grpSpPr>
            <a:xfrm>
              <a:off x="995850" y="1970854"/>
              <a:ext cx="2212623" cy="438151"/>
              <a:chOff x="995850" y="1970854"/>
              <a:chExt cx="2212623" cy="438151"/>
            </a:xfrm>
          </p:grpSpPr>
          <p:pic>
            <p:nvPicPr>
              <p:cNvPr id="4098" name="Picture 2" descr="https://s3.amazonaws.com/algebranation/digitaltextbook_uploads/18130B2C545CBD6106D258421D42C8AE.pn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5850" y="1970854"/>
                <a:ext cx="476250" cy="4381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1472100" y="1989078"/>
                <a:ext cx="17363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dirty="0">
                    <a:latin typeface="Verdana" pitchFamily="34" charset="0"/>
                    <a:ea typeface="Verdana" pitchFamily="34" charset="0"/>
                  </a:rPr>
                  <a:t>I need help.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514693" y="1989078"/>
              <a:ext cx="1629130" cy="400110"/>
              <a:chOff x="3903188" y="1989078"/>
              <a:chExt cx="1629130" cy="400110"/>
            </a:xfrm>
          </p:grpSpPr>
          <p:pic>
            <p:nvPicPr>
              <p:cNvPr id="4100" name="Picture 4" descr="https://s3.amazonaws.com/algebranation/digitaltextbook_uploads/D6414C7A9179182632431D76EA3287FF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3188" y="1989138"/>
                <a:ext cx="476250" cy="4000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4379438" y="1989078"/>
                <a:ext cx="11528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dirty="0">
                    <a:latin typeface="Verdana" pitchFamily="34" charset="0"/>
                    <a:ea typeface="Verdana" pitchFamily="34" charset="0"/>
                  </a:rPr>
                  <a:t>I got it.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381948" y="1932755"/>
              <a:ext cx="3536517" cy="476250"/>
              <a:chOff x="7024761" y="1932755"/>
              <a:chExt cx="3536517" cy="476250"/>
            </a:xfrm>
          </p:grpSpPr>
          <p:pic>
            <p:nvPicPr>
              <p:cNvPr id="4102" name="Picture 6" descr="https://s3.amazonaws.com/algebranation/digitaltextbook_uploads/86E694F6F2EC38B1714A72218313DF8F.pn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24761" y="1932755"/>
                <a:ext cx="495300" cy="476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7520061" y="1989078"/>
                <a:ext cx="30412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2000" dirty="0">
                    <a:latin typeface="Verdana" pitchFamily="34" charset="0"/>
                    <a:ea typeface="Verdana" pitchFamily="34" charset="0"/>
                  </a:rPr>
                  <a:t>I could help someone.</a:t>
                </a: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4781574" y="3307466"/>
            <a:ext cx="1893728" cy="476250"/>
            <a:chOff x="4905698" y="2626438"/>
            <a:chExt cx="1893728" cy="476250"/>
          </a:xfrm>
        </p:grpSpPr>
        <p:pic>
          <p:nvPicPr>
            <p:cNvPr id="25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/>
          <p:cNvGrpSpPr/>
          <p:nvPr/>
        </p:nvGrpSpPr>
        <p:grpSpPr>
          <a:xfrm>
            <a:off x="4781574" y="4032680"/>
            <a:ext cx="1893728" cy="476250"/>
            <a:chOff x="4905698" y="2626438"/>
            <a:chExt cx="1893728" cy="476250"/>
          </a:xfrm>
        </p:grpSpPr>
        <p:pic>
          <p:nvPicPr>
            <p:cNvPr id="29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/>
          <p:cNvGrpSpPr/>
          <p:nvPr/>
        </p:nvGrpSpPr>
        <p:grpSpPr>
          <a:xfrm>
            <a:off x="4781574" y="4736873"/>
            <a:ext cx="1893728" cy="476250"/>
            <a:chOff x="4905698" y="2626438"/>
            <a:chExt cx="1893728" cy="476250"/>
          </a:xfrm>
        </p:grpSpPr>
        <p:pic>
          <p:nvPicPr>
            <p:cNvPr id="33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/>
          <p:cNvGrpSpPr/>
          <p:nvPr/>
        </p:nvGrpSpPr>
        <p:grpSpPr>
          <a:xfrm>
            <a:off x="4781574" y="5441066"/>
            <a:ext cx="1893728" cy="476250"/>
            <a:chOff x="4905698" y="2626438"/>
            <a:chExt cx="1893728" cy="476250"/>
          </a:xfrm>
        </p:grpSpPr>
        <p:pic>
          <p:nvPicPr>
            <p:cNvPr id="37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oup 39"/>
          <p:cNvGrpSpPr/>
          <p:nvPr/>
        </p:nvGrpSpPr>
        <p:grpSpPr>
          <a:xfrm>
            <a:off x="4781574" y="6181525"/>
            <a:ext cx="1893728" cy="476250"/>
            <a:chOff x="4905698" y="2626438"/>
            <a:chExt cx="1893728" cy="476250"/>
          </a:xfrm>
        </p:grpSpPr>
        <p:pic>
          <p:nvPicPr>
            <p:cNvPr id="41" name="Picture 2" descr="https://s3.amazonaws.com/algebranation/digitaltextbook_uploads/18130B2C545CBD6106D258421D42C8A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5698" y="2664537"/>
              <a:ext cx="476250" cy="43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https://s3.amazonaws.com/algebranation/digitaltextbook_uploads/D6414C7A9179182632431D76EA3287FF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8912" y="2682821"/>
              <a:ext cx="47625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6" descr="https://s3.amazonaws.com/algebranation/digitaltextbook_uploads/86E694F6F2EC38B1714A72218313DF8F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4126" y="2626438"/>
              <a:ext cx="49530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1074</Words>
  <Application>Microsoft Macintosh PowerPoint</Application>
  <PresentationFormat>Widescreen</PresentationFormat>
  <Paragraphs>210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Verdana</vt:lpstr>
      <vt:lpstr>Arial</vt:lpstr>
      <vt:lpstr>Cambria</vt:lpstr>
      <vt:lpstr>Century Gothic</vt:lpstr>
      <vt:lpstr>Calibri</vt:lpstr>
      <vt:lpstr>Arial Black</vt:lpstr>
      <vt:lpstr>Cambria Math</vt:lpstr>
      <vt:lpstr>Wingdings</vt:lpstr>
      <vt:lpstr>1_Office Theme</vt:lpstr>
      <vt:lpstr>Geometry  Unit 12, Lesson 8  general Form of a Circle  Volume 2, pg. 266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Mary Ellen Freeman</cp:lastModifiedBy>
  <cp:revision>27</cp:revision>
  <dcterms:created xsi:type="dcterms:W3CDTF">2015-03-17T18:51:18Z</dcterms:created>
  <dcterms:modified xsi:type="dcterms:W3CDTF">2023-04-06T13:56:46Z</dcterms:modified>
</cp:coreProperties>
</file>