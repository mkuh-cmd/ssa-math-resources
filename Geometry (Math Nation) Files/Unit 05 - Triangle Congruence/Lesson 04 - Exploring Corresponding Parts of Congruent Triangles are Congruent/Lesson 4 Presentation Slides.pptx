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14" r:id="rId9"/>
    <p:sldId id="315" r:id="rId10"/>
    <p:sldId id="352" r:id="rId11"/>
    <p:sldId id="377" r:id="rId12"/>
    <p:sldId id="371" r:id="rId13"/>
    <p:sldId id="372" r:id="rId14"/>
    <p:sldId id="373" r:id="rId15"/>
    <p:sldId id="378" r:id="rId16"/>
    <p:sldId id="379" r:id="rId17"/>
    <p:sldId id="380" r:id="rId18"/>
    <p:sldId id="381" r:id="rId19"/>
    <p:sldId id="383" r:id="rId20"/>
    <p:sldId id="374" r:id="rId21"/>
    <p:sldId id="375" r:id="rId22"/>
    <p:sldId id="376" r:id="rId23"/>
    <p:sldId id="306" r:id="rId24"/>
    <p:sldId id="307" r:id="rId25"/>
    <p:sldId id="370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9C058"/>
    <a:srgbClr val="3465B0"/>
    <a:srgbClr val="DA4487"/>
    <a:srgbClr val="276C46"/>
    <a:srgbClr val="C9DF6F"/>
    <a:srgbClr val="417DBF"/>
    <a:srgbClr val="3F2A67"/>
    <a:srgbClr val="E24E5F"/>
    <a:srgbClr val="26B7D4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119"/>
    <p:restoredTop sz="94622"/>
  </p:normalViewPr>
  <p:slideViewPr>
    <p:cSldViewPr snapToGrid="0">
      <p:cViewPr varScale="1">
        <p:scale>
          <a:sx n="85" d="100"/>
          <a:sy n="85" d="100"/>
        </p:scale>
        <p:origin x="634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93168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04635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38494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94567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22103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1171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871908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13188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89163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777311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870716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51425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4679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59685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8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9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0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3.png"/><Relationship Id="rId5" Type="http://schemas.openxmlformats.org/officeDocument/2006/relationships/image" Target="../media/image420.png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5, Lesson 4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Exploring Corresponding Parts of Congruent Triangles That Are Congruent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241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-14875" y="0"/>
            <a:ext cx="4094106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29141D4E-DA2B-B445-945E-1FC65102392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887" y="1850136"/>
            <a:ext cx="3090582" cy="36027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02200" y="-71136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900" y="21806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354899" y="1600200"/>
            <a:ext cx="11598401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MA.912.GR.1.6 Solve mathematical and real-world problems involving congruence or similarity in two-dimensional figures.</a:t>
            </a:r>
          </a:p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MA.912.GR.2.3 Specify a sequence of transformations that will map a given figure onto itself, or onto another congruent or similar figure.</a:t>
            </a:r>
          </a:p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MA.912.GR.2.6 Apply rigid transformations to map one figure onto another to justify that the two figures are congruent.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105" y="20704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070405" y="-61215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994150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241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323105" y="1596390"/>
            <a:ext cx="11868895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7196" y="620251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02200" y="-5172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900" y="18765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973196" y="645834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241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354900" y="1600200"/>
            <a:ext cx="115323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charset="2"/>
              <a:buChar char="q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I can relate the definition of congruence in terms of rigid motions to corresponding parts of congruent triangles.</a:t>
            </a:r>
          </a:p>
          <a:p>
            <a:pPr marL="342900" indent="-342900">
              <a:buFont typeface="Wingdings" charset="2"/>
              <a:buChar char="q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I can use corresponding parts of congruent triangles to write congruence statements. 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241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066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1824" y="-3515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5.4.1 Warm-Up: Art in Geometry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524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97666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241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394524" y="1537662"/>
            <a:ext cx="74085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Verdana" charset="0"/>
                <a:ea typeface="Verdana" charset="0"/>
                <a:cs typeface="Verdana" charset="0"/>
              </a:rPr>
              <a:t>Salih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is taking an art class that looks at the different patterns in tiles from across the world. </a:t>
            </a:r>
            <a:r>
              <a:rPr lang="en-US" sz="2000" dirty="0" err="1">
                <a:latin typeface="Verdana" charset="0"/>
                <a:ea typeface="Verdana" charset="0"/>
                <a:cs typeface="Verdana" charset="0"/>
              </a:rPr>
              <a:t>Salih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used a compass to create this first step in a 12-fold pattern.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03057" y="1386026"/>
            <a:ext cx="2403493" cy="205459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94524" y="3440624"/>
            <a:ext cx="981202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do you notice about the design?</a:t>
            </a: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241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694063" y="520393"/>
            <a:ext cx="9640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The last step of the 12-fold pattern and the final design are shown.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47083" y="1723326"/>
            <a:ext cx="7048500" cy="2946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12140" y="5041662"/>
            <a:ext cx="964083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charset="0"/>
                <a:ea typeface="Times New Roman" charset="0"/>
                <a:cs typeface="Times New Roman" charset="0"/>
              </a:rPr>
              <a:t>What do you wonder about the pattern or the final design?</a:t>
            </a:r>
            <a:endParaRPr lang="en-US" sz="2000" dirty="0">
              <a:latin typeface="Cambria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1061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242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26853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129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84358" y="-68213"/>
            <a:ext cx="949023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5.4.2 Collaboration: Congruence </a:t>
            </a:r>
            <a:r>
              <a:rPr lang="en-US" sz="36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in Terms of Rigid Motions</a:t>
            </a:r>
            <a:endParaRPr lang="en-US" sz="36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967297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244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4551" y="18301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418641" y="1386025"/>
                <a:ext cx="4934409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Work with your partner on the following.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diagram shows a sequence of transformations that, when applied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𝑇𝑀𝑊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,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show that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𝑇𝑀𝑊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maps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𝐺𝑋𝑁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.</m:t>
                    </m:r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641" y="1386025"/>
                <a:ext cx="4934409" cy="2246769"/>
              </a:xfrm>
              <a:prstGeom prst="rect">
                <a:avLst/>
              </a:prstGeom>
              <a:blipFill>
                <a:blip r:embed="rId5"/>
                <a:stretch>
                  <a:fillRect l="-1360" t="-1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02551" y="1471865"/>
            <a:ext cx="4832350" cy="35765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418641" y="5512544"/>
                <a:ext cx="9916261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are the transformations used to map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𝑇𝑀𝑊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𝐺𝑋𝑁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641" y="5512544"/>
                <a:ext cx="9916261" cy="400110"/>
              </a:xfrm>
              <a:prstGeom prst="rect">
                <a:avLst/>
              </a:prstGeom>
              <a:blipFill>
                <a:blip r:embed="rId7"/>
                <a:stretch>
                  <a:fillRect l="-768" t="-606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957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28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242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18641" y="520394"/>
                <a:ext cx="991626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Complete the table by determining which parts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𝐺𝑋𝑁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correspond with the given part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𝑇𝑀𝑊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after mapping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𝑇𝑀𝑊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𝐺𝑋𝑁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.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641" y="520394"/>
                <a:ext cx="9916260" cy="707886"/>
              </a:xfrm>
              <a:prstGeom prst="rect">
                <a:avLst/>
              </a:prstGeom>
              <a:blipFill>
                <a:blip r:embed="rId4"/>
                <a:stretch>
                  <a:fillRect l="-768" t="-3509" r="-1152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72758955"/>
                  </p:ext>
                </p:extLst>
              </p:nvPr>
            </p:nvGraphicFramePr>
            <p:xfrm>
              <a:off x="4177750" y="1714499"/>
              <a:ext cx="3987166" cy="243840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99358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9358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4408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∆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𝑻𝑴𝑾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∆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𝑮𝑿𝑵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4408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𝑀𝑇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5899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𝑀𝑊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4408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𝑊𝑇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5899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𝑇𝑀𝑊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4408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𝑇𝑊𝑀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4408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𝑊𝑇𝑀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72758955"/>
                  </p:ext>
                </p:extLst>
              </p:nvPr>
            </p:nvGraphicFramePr>
            <p:xfrm>
              <a:off x="4177750" y="1714499"/>
              <a:ext cx="3987166" cy="243840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99358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9358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440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r="-100633" b="-6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637" r="-1274" b="-6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440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96429" r="-100633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589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196429" r="-100633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440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296429" r="-100633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589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396429" r="-10063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440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496429" r="-100633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440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618519" r="-100633" b="-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 Box 24"/>
          <p:cNvSpPr txBox="1"/>
          <p:nvPr/>
        </p:nvSpPr>
        <p:spPr>
          <a:xfrm>
            <a:off x="2856633" y="4361485"/>
            <a:ext cx="6629400" cy="1887608"/>
          </a:xfrm>
          <a:prstGeom prst="roundRect">
            <a:avLst/>
          </a:prstGeom>
          <a:solidFill>
            <a:srgbClr val="B6E6F5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42950">
              <a:spcAft>
                <a:spcPts val="1000"/>
              </a:spcAft>
            </a:pPr>
            <a:r>
              <a:rPr lang="en-US" sz="2000" b="1" dirty="0">
                <a:solidFill>
                  <a:srgbClr val="3465B0"/>
                </a:solidFill>
                <a:latin typeface="Verdana" panose="020B0604030504040204" pitchFamily="34" charset="0"/>
                <a:ea typeface="Times New Roman"/>
                <a:cs typeface="Times New Roman"/>
              </a:rPr>
              <a:t>Definition of Congruence in Terms of Rigid Motions</a:t>
            </a:r>
            <a:endParaRPr lang="en-US" sz="2000" dirty="0">
              <a:solidFill>
                <a:srgbClr val="3465B0"/>
              </a:solidFill>
              <a:ea typeface="Times New Roman"/>
              <a:cs typeface="Times New Roman"/>
            </a:endParaRPr>
          </a:p>
          <a:p>
            <a:r>
              <a:rPr lang="en-US" sz="2000" dirty="0">
                <a:solidFill>
                  <a:srgbClr val="3465B0"/>
                </a:solidFill>
              </a:rPr>
              <a:t>	Two figures are congruent if and only if there 	exists one or more rigid motions, which will 	map one figure onto the other.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1397" y="4579538"/>
            <a:ext cx="542544" cy="530352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41022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242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40675" y="520393"/>
                <a:ext cx="9894226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/>
                  <a:t>Discuss with your partner how to determine if the transformations that were used to map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∆</m:t>
                    </m:r>
                    <m:r>
                      <a:rPr lang="en-US" sz="2400" i="1">
                        <a:latin typeface="Cambria Math" charset="0"/>
                      </a:rPr>
                      <m:t>𝑇𝑀𝑊</m:t>
                    </m:r>
                  </m:oMath>
                </a14:m>
                <a:r>
                  <a:rPr lang="en-US" sz="2400" dirty="0"/>
                  <a:t> to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∆</m:t>
                    </m:r>
                    <m:r>
                      <a:rPr lang="en-US" sz="2400" i="1">
                        <a:latin typeface="Cambria Math" charset="0"/>
                      </a:rPr>
                      <m:t>𝐺𝑋𝑁</m:t>
                    </m:r>
                  </m:oMath>
                </a14:m>
                <a:r>
                  <a:rPr lang="en-US" sz="2400" dirty="0"/>
                  <a:t> are rigid motions.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/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/>
                  <a:t>Complete the statement.</a:t>
                </a:r>
              </a:p>
              <a:p>
                <a:r>
                  <a:rPr lang="en-US" sz="2400" dirty="0"/>
                  <a:t> </a:t>
                </a:r>
              </a:p>
              <a:p>
                <a:r>
                  <a:rPr lang="en-US" sz="2400" dirty="0"/>
                  <a:t>    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∆</m:t>
                    </m:r>
                    <m:r>
                      <a:rPr lang="en-US" sz="2400" i="1">
                        <a:latin typeface="Cambria Math" charset="0"/>
                      </a:rPr>
                      <m:t>𝑇𝑀𝑊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∆</m:t>
                    </m:r>
                    <m:r>
                      <a:rPr lang="en-US" sz="2400" i="1">
                        <a:latin typeface="Cambria Math" charset="0"/>
                      </a:rPr>
                      <m:t>𝐺𝑋𝑁</m:t>
                    </m:r>
                  </m:oMath>
                </a14:m>
                <a:r>
                  <a:rPr lang="en-US" sz="2400" dirty="0"/>
                  <a:t> are congruent because there exists </a:t>
                </a:r>
              </a:p>
              <a:p>
                <a:r>
                  <a:rPr lang="en-US" sz="2400" dirty="0"/>
                  <a:t>               </a:t>
                </a:r>
              </a:p>
              <a:p>
                <a:r>
                  <a:rPr lang="en-US" sz="2400" dirty="0"/>
                  <a:t>                  rigid motion(s) which map(s)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∆</m:t>
                    </m:r>
                    <m:r>
                      <a:rPr lang="en-US" sz="2400" i="1">
                        <a:latin typeface="Cambria Math" charset="0"/>
                      </a:rPr>
                      <m:t>𝑇𝑀𝑊</m:t>
                    </m:r>
                  </m:oMath>
                </a14:m>
                <a:r>
                  <a:rPr lang="en-US" sz="2400" dirty="0"/>
                  <a:t> to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∆</m:t>
                    </m:r>
                    <m:r>
                      <a:rPr lang="en-US" sz="2400" i="1">
                        <a:latin typeface="Cambria Math" charset="0"/>
                      </a:rPr>
                      <m:t>𝐺𝑋𝑁</m:t>
                    </m:r>
                  </m:oMath>
                </a14:m>
                <a:r>
                  <a:rPr lang="en-US" sz="2400" dirty="0"/>
                  <a:t>.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675" y="520393"/>
                <a:ext cx="9894226" cy="3046988"/>
              </a:xfrm>
              <a:prstGeom prst="rect">
                <a:avLst/>
              </a:prstGeom>
              <a:blipFill>
                <a:blip r:embed="rId4"/>
                <a:stretch>
                  <a:fillRect l="-769" t="-1660" b="-37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3786" y="2722662"/>
            <a:ext cx="1060025" cy="1211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576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418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960181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243</a:t>
            </a:r>
          </a:p>
        </p:txBody>
      </p:sp>
    </p:spTree>
    <p:extLst>
      <p:ext uri="{BB962C8B-B14F-4D97-AF65-F5344CB8AC3E}">
        <p14:creationId xmlns:p14="http://schemas.microsoft.com/office/powerpoint/2010/main" val="7596065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7577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251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1824" y="-62579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5.4.3 Guided Instruction: CPCTC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524" y="20322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994150" y="6448323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243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394524" y="1386025"/>
                <a:ext cx="11233626" cy="13241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Another way to show that triangles are congruent is with congruence postulates and theorems.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m:rPr>
                        <m:sty m:val="p"/>
                      </m:rP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TMW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m:rPr>
                        <m:sty m:val="p"/>
                      </m:rP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GXN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shown where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m:rPr>
                        <m:sty m:val="p"/>
                      </m:rP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GNX</m:t>
                    </m:r>
                    <m: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≅∠</m:t>
                    </m:r>
                    <m:r>
                      <m:rPr>
                        <m:sty m:val="p"/>
                      </m:rP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MWT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,  </m:t>
                    </m:r>
                    <m: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m:rPr>
                        <m:sty m:val="p"/>
                      </m:rP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NXG</m:t>
                    </m:r>
                    <m: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≅∠</m:t>
                    </m:r>
                    <m:r>
                      <m:rPr>
                        <m:sty m:val="p"/>
                      </m:rP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TMW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charset="0"/>
                            <a:ea typeface="Verdana" charset="0"/>
                            <a:cs typeface="Verdana" charset="0"/>
                          </a:rPr>
                          <m:t>XG</m:t>
                        </m:r>
                      </m:e>
                    </m:acc>
                    <m: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≅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charset="0"/>
                            <a:ea typeface="Verdana" charset="0"/>
                            <a:cs typeface="Verdana" charset="0"/>
                          </a:rPr>
                          <m:t>MT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24" y="1386025"/>
                <a:ext cx="11233626" cy="1324145"/>
              </a:xfrm>
              <a:prstGeom prst="rect">
                <a:avLst/>
              </a:prstGeom>
              <a:blipFill>
                <a:blip r:embed="rId5"/>
                <a:stretch>
                  <a:fillRect l="-678" t="-1887" b="-6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68116" y="3415473"/>
            <a:ext cx="5511800" cy="238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894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584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9001844" y="650014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243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07624" y="520394"/>
                <a:ext cx="9927277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From the given information, what congruence postulate or theorem can be used to show that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𝑇𝑀𝑊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≅∆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𝐺𝑋𝑁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 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Discuss with your partner what could be concluded about the corresponding parts of the triangles if the congruence postulate or theorem is used to show the triangles are congruent.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624" y="520394"/>
                <a:ext cx="9927277" cy="1938992"/>
              </a:xfrm>
              <a:prstGeom prst="rect">
                <a:avLst/>
              </a:prstGeom>
              <a:blipFill>
                <a:blip r:embed="rId4"/>
                <a:stretch>
                  <a:fillRect l="-767" t="-1299" r="-256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24"/>
          <p:cNvSpPr txBox="1"/>
          <p:nvPr/>
        </p:nvSpPr>
        <p:spPr>
          <a:xfrm>
            <a:off x="2891139" y="2839422"/>
            <a:ext cx="6629400" cy="1729963"/>
          </a:xfrm>
          <a:prstGeom prst="roundRect">
            <a:avLst/>
          </a:prstGeom>
          <a:solidFill>
            <a:srgbClr val="B6E6F5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42950">
              <a:spcAft>
                <a:spcPts val="1000"/>
              </a:spcAft>
            </a:pPr>
            <a:r>
              <a:rPr lang="en-US" sz="2000" b="1" dirty="0">
                <a:solidFill>
                  <a:srgbClr val="3465B0"/>
                </a:solidFill>
                <a:latin typeface="Verdana" panose="020B0604030504040204" pitchFamily="34" charset="0"/>
                <a:ea typeface="Times New Roman"/>
                <a:cs typeface="Times New Roman"/>
              </a:rPr>
              <a:t>Corresponding Parts of Congruent Triangles </a:t>
            </a:r>
            <a:r>
              <a:rPr lang="en-US" sz="2000" b="1">
                <a:solidFill>
                  <a:srgbClr val="3465B0"/>
                </a:solidFill>
                <a:latin typeface="Verdana" panose="020B0604030504040204" pitchFamily="34" charset="0"/>
                <a:ea typeface="Times New Roman"/>
                <a:cs typeface="Times New Roman"/>
              </a:rPr>
              <a:t>are Congruent (CPCTC)</a:t>
            </a:r>
            <a:endParaRPr lang="en-US" sz="2000" dirty="0">
              <a:solidFill>
                <a:srgbClr val="3465B0"/>
              </a:solidFill>
              <a:ea typeface="Times New Roman"/>
              <a:cs typeface="Times New Roman"/>
            </a:endParaRPr>
          </a:p>
          <a:p>
            <a:r>
              <a:rPr lang="en-US" sz="2000" dirty="0">
                <a:solidFill>
                  <a:srgbClr val="3465B0"/>
                </a:solidFill>
              </a:rPr>
              <a:t>	Two figures are congruent if and only if there 	exists one or more rigid motions, which will 	map one figure onto the other.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95904" y="2938767"/>
            <a:ext cx="542544" cy="486059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Rectangle 1"/>
          <p:cNvSpPr/>
          <p:nvPr/>
        </p:nvSpPr>
        <p:spPr>
          <a:xfrm>
            <a:off x="442130" y="4898022"/>
            <a:ext cx="9927277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Verdana" charset="0"/>
                <a:ea typeface="Times New Roman" charset="0"/>
                <a:cs typeface="Times New Roman" charset="0"/>
              </a:rPr>
              <a:t>There is a difference between naming two triangles and stating that two triangles are congruent. Order is important in a congruence statement, but is not necessary when only naming two triangles. The order used for congruence statements communicates which parts of the triangles correspond.</a:t>
            </a:r>
            <a:endParaRPr lang="en-US" sz="2000" dirty="0">
              <a:latin typeface="Cambria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73492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719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73196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244</a:t>
            </a:r>
          </a:p>
        </p:txBody>
      </p:sp>
      <p:sp>
        <p:nvSpPr>
          <p:cNvPr id="3" name="Rectangle 2"/>
          <p:cNvSpPr/>
          <p:nvPr/>
        </p:nvSpPr>
        <p:spPr>
          <a:xfrm>
            <a:off x="418642" y="514659"/>
            <a:ext cx="710219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charset="0"/>
                <a:ea typeface="Times New Roman" charset="0"/>
                <a:cs typeface="Times New Roman" charset="0"/>
              </a:rPr>
              <a:t>A diagram of two triangles is shown.</a:t>
            </a:r>
            <a:endParaRPr lang="en-US" sz="2000" dirty="0">
              <a:latin typeface="Cambria" charset="0"/>
              <a:ea typeface="Times New Roman" charset="0"/>
              <a:cs typeface="Times New Roman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23150" y="1184322"/>
            <a:ext cx="5308600" cy="25019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72496379"/>
                  </p:ext>
                </p:extLst>
              </p:nvPr>
            </p:nvGraphicFramePr>
            <p:xfrm>
              <a:off x="3036130" y="4369638"/>
              <a:ext cx="5882640" cy="70231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9413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94132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5115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Naming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Congruence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5115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∆</m:t>
                              </m: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𝑀𝐹𝐵</m:t>
                              </m:r>
                            </m:oMath>
                          </a14:m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∆</m:t>
                              </m: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𝐻𝑅𝑊</m:t>
                              </m:r>
                            </m:oMath>
                          </a14:m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∆</m:t>
                                </m:r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𝑀𝐹𝐵</m:t>
                                </m:r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≅∆</m:t>
                                </m:r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𝑊𝑅𝐻</m:t>
                                </m:r>
                              </m:oMath>
                            </m:oMathPara>
                          </a14:m>
                          <a:endParaRPr lang="en-US" sz="1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72496379"/>
                  </p:ext>
                </p:extLst>
              </p:nvPr>
            </p:nvGraphicFramePr>
            <p:xfrm>
              <a:off x="3036130" y="4369638"/>
              <a:ext cx="5882640" cy="70231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9413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94132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5115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Naming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Congruence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5115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31" t="-121429" r="-100431" b="-2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431" t="-121429" r="-431" b="-2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421305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244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380123"/>
            <a:ext cx="12192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/>
            <a:r>
              <a:rPr lang="en-US" sz="2000" dirty="0">
                <a:latin typeface="Verdana" charset="0"/>
                <a:ea typeface="Times New Roman" charset="0"/>
                <a:cs typeface="Times New Roman" charset="0"/>
              </a:rPr>
              <a:t>Use the congruence statement to name all of the corresponding parts of the triangles.</a:t>
            </a:r>
            <a:endParaRPr lang="en-US" sz="2000" dirty="0">
              <a:latin typeface="Cambria" charset="0"/>
              <a:ea typeface="Times New Roman" charset="0"/>
              <a:cs typeface="Times New Roman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0005199"/>
                  </p:ext>
                </p:extLst>
              </p:nvPr>
            </p:nvGraphicFramePr>
            <p:xfrm>
              <a:off x="4306702" y="1570490"/>
              <a:ext cx="3569970" cy="261874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78498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8498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957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∆</m:t>
                                </m:r>
                                <m:r>
                                  <a:rPr lang="en-US" sz="18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𝑴𝑭𝑩</m:t>
                                </m:r>
                              </m:oMath>
                            </m:oMathPara>
                          </a14:m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∆</m:t>
                                </m:r>
                                <m:r>
                                  <a:rPr lang="en-US" sz="18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𝑾𝑹𝑯</m:t>
                                </m:r>
                              </m:oMath>
                            </m:oMathPara>
                          </a14:m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957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8544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957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8544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957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6957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0005199"/>
                  </p:ext>
                </p:extLst>
              </p:nvPr>
            </p:nvGraphicFramePr>
            <p:xfrm>
              <a:off x="4306702" y="1570490"/>
              <a:ext cx="3569970" cy="261874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78498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8498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95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09" t="-3448" r="-100709" b="-6206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709" t="-3448" r="-709" b="-6206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957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8544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957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8544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957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6957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260015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719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5236" y="641814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244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385591" y="480154"/>
                <a:ext cx="6571024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Consider triangles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𝐵𝐾𝑅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𝐶𝑇𝑌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591" y="480154"/>
                <a:ext cx="6571024" cy="400110"/>
              </a:xfrm>
              <a:prstGeom prst="rect">
                <a:avLst/>
              </a:prstGeom>
              <a:blipFill>
                <a:blip r:embed="rId4"/>
                <a:stretch>
                  <a:fillRect l="-965" t="-606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78898" y="480155"/>
            <a:ext cx="2909540" cy="20732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881348" y="1229981"/>
                <a:ext cx="6249821" cy="16312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𝐵𝐾𝑅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≅∆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𝐶𝑇𝑌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mark the corresponding congruent sides and the corresponding congruent angles on the diagram.</a:t>
                </a:r>
              </a:p>
              <a:p>
                <a:pPr marL="342900" indent="-3429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Complete each congruence statement.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348" y="1229981"/>
                <a:ext cx="6249821" cy="1631216"/>
              </a:xfrm>
              <a:prstGeom prst="rect">
                <a:avLst/>
              </a:prstGeom>
              <a:blipFill>
                <a:blip r:embed="rId6"/>
                <a:stretch>
                  <a:fillRect l="-1014" t="-1538" b="-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5604" y="3826465"/>
            <a:ext cx="5207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3175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9229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522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244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429659" y="494459"/>
                <a:ext cx="10653310" cy="25545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buFont typeface="+mj-lt"/>
                  <a:buAutoNum type="arabicPeriod" startAt="4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Consider two congruent triangles,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𝐺𝑅𝐷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𝐹𝐻𝑊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742950" lvl="1" indent="-28575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Write the congruence statement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𝐺𝑅𝐷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≅∆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𝐹𝐻𝑊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in two other ways.</a:t>
                </a:r>
              </a:p>
              <a:p>
                <a:pPr marL="742950" lvl="1" indent="-28575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742950" lvl="1" indent="-28575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Name the congruent sides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𝐺𝑅𝐷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≅∆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𝐹𝐻𝑊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 </a:t>
                </a:r>
              </a:p>
              <a:p>
                <a:pPr marL="742950" lvl="1" indent="-28575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742950" lvl="1" indent="-28575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Name the congruent angles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𝐺𝑅𝐷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≅∆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𝐹𝐻𝑊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659" y="494459"/>
                <a:ext cx="10653310" cy="2554545"/>
              </a:xfrm>
              <a:prstGeom prst="rect">
                <a:avLst/>
              </a:prstGeom>
              <a:blipFill>
                <a:blip r:embed="rId4"/>
                <a:stretch>
                  <a:fillRect l="-595" b="-29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76787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7203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73203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245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352541" y="495845"/>
                <a:ext cx="5608932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5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Triangle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𝑀𝐵𝐶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shown. 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541" y="495845"/>
                <a:ext cx="5608932" cy="400110"/>
              </a:xfrm>
              <a:prstGeom prst="rect">
                <a:avLst/>
              </a:prstGeom>
              <a:blipFill>
                <a:blip r:embed="rId4"/>
                <a:stretch>
                  <a:fillRect l="-1129" t="-606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75091" y="480154"/>
            <a:ext cx="3403600" cy="32385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881349" y="1043824"/>
                <a:ext cx="6433401" cy="34778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How many different triangles are in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𝑀𝐵𝐶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  <a:p>
                <a:pPr marL="342900" indent="-3429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𝐵𝑅𝑌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≅∆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𝐶𝑅𝑋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then complete the congruence statement.</a:t>
                </a:r>
              </a:p>
              <a:p>
                <a:pPr marL="342900" indent="-3429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𝐵𝑋𝑀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≅∆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𝐶𝑌𝑀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then complete the congruence statement.</a:t>
                </a:r>
              </a:p>
              <a:p>
                <a:pPr marL="342900" indent="-3429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349" y="1043824"/>
                <a:ext cx="6433401" cy="3477875"/>
              </a:xfrm>
              <a:prstGeom prst="rect">
                <a:avLst/>
              </a:prstGeom>
              <a:blipFill>
                <a:blip r:embed="rId6"/>
                <a:stretch>
                  <a:fillRect l="-986" t="-1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92487" y="2936651"/>
            <a:ext cx="4152418" cy="67928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92488" y="4630428"/>
            <a:ext cx="6533551" cy="764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3289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5114" y="6224548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981114" y="648162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245</a:t>
            </a: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99000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5836" y="-37211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832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9742" y="-3721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5.4.4 Guided Practice: Using CPCTC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97432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245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9934" y="16186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399934" y="1386025"/>
                <a:ext cx="998765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Quadrilateral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𝑌𝐷𝑊𝑇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 where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𝑌𝐻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a perpendicular bisector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𝑇𝐷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934" y="1386025"/>
                <a:ext cx="9987650" cy="400110"/>
              </a:xfrm>
              <a:prstGeom prst="rect">
                <a:avLst/>
              </a:prstGeom>
              <a:blipFill>
                <a:blip r:embed="rId5"/>
                <a:stretch>
                  <a:fillRect l="-635" t="-606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31489" y="2191447"/>
            <a:ext cx="4191000" cy="2921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958467" y="5261841"/>
                <a:ext cx="9094509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How many different triangles are in Quadrilateral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𝑌𝐷𝑊𝑇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 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467" y="5261841"/>
                <a:ext cx="9094509" cy="400110"/>
              </a:xfrm>
              <a:prstGeom prst="rect">
                <a:avLst/>
              </a:prstGeom>
              <a:blipFill>
                <a:blip r:embed="rId7"/>
                <a:stretch>
                  <a:fillRect l="-697"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19613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245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385590" y="520393"/>
                <a:ext cx="9949311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𝐷𝐻𝑌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≅∆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𝑇𝐻𝑌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then complete each congruence statement.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𝐷𝐻𝑊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≅∆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𝑇𝐻𝑊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then complete each congruence statement.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𝑌𝑇𝑊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≅∆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𝑌𝐷𝑊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then complete each congruence statement.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590" y="520393"/>
                <a:ext cx="9949311" cy="3170099"/>
              </a:xfrm>
              <a:prstGeom prst="rect">
                <a:avLst/>
              </a:prstGeom>
              <a:blipFill>
                <a:blip r:embed="rId4"/>
                <a:stretch>
                  <a:fillRect l="-638" t="-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32616" y="937643"/>
            <a:ext cx="5803900" cy="6223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9033" y="2585091"/>
            <a:ext cx="6324600" cy="4699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28083" y="4084926"/>
            <a:ext cx="6286500" cy="52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3896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994150" y="649443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246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3736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7185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989244" y="646215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246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324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24075" y="-8257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5.4.5 Wrap-Up: Cool Down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6775" y="20662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376775" y="1243129"/>
                <a:ext cx="9958126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diagram shows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𝐻𝐾𝐶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𝑇𝐷𝑅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𝐻𝐾𝐶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≅∆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𝐷𝑇𝑅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Complete each congruence statement.</a:t>
                </a: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775" y="1243129"/>
                <a:ext cx="9958126" cy="4093428"/>
              </a:xfrm>
              <a:prstGeom prst="rect">
                <a:avLst/>
              </a:prstGeom>
              <a:blipFill>
                <a:blip r:embed="rId5"/>
                <a:stretch>
                  <a:fillRect l="-637" t="-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71178" y="1678634"/>
            <a:ext cx="3201020" cy="282711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03088" y="5167764"/>
            <a:ext cx="5537200" cy="11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3287" y="622709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89287" y="648416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72877" y="520394"/>
            <a:ext cx="1113805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Becky told her teacher that there was a typo in the first sentence. She circled the typo. </a:t>
            </a:r>
          </a:p>
          <a:p>
            <a:pPr lvl="0"/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lvl="0"/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lvl="0"/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lvl="0"/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    Write a note to Becky explaining why this is NOT a typo.</a:t>
            </a:r>
          </a:p>
          <a:p>
            <a:pPr lvl="0"/>
            <a:endParaRPr lang="en-US" sz="2000" dirty="0"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29683" y="1315065"/>
            <a:ext cx="6083300" cy="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20342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1335</TotalTime>
  <Words>1138</Words>
  <Application>Microsoft Office PowerPoint</Application>
  <PresentationFormat>Widescreen</PresentationFormat>
  <Paragraphs>190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Arial</vt:lpstr>
      <vt:lpstr>Arial Black</vt:lpstr>
      <vt:lpstr>Calibri</vt:lpstr>
      <vt:lpstr>Cambria</vt:lpstr>
      <vt:lpstr>Cambria Math</vt:lpstr>
      <vt:lpstr>Century Gothic</vt:lpstr>
      <vt:lpstr>Verdana</vt:lpstr>
      <vt:lpstr>Wingdings</vt:lpstr>
      <vt:lpstr>1_Office Theme</vt:lpstr>
      <vt:lpstr>Geometry  Unit 5, Lesson 4  Exploring Corresponding Parts of Congruent Triangles That Are Congruent  Volume 1, pg. 241  </vt:lpstr>
      <vt:lpstr>Benchmarks</vt:lpstr>
      <vt:lpstr>PowerPoint Presentation</vt:lpstr>
      <vt:lpstr>PowerPoint Presentation</vt:lpstr>
      <vt:lpstr>Warm-Up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  </dc:title>
  <dc:creator>Karen McKenzie</dc:creator>
  <cp:lastModifiedBy>Morgan Palomino</cp:lastModifiedBy>
  <cp:revision>27</cp:revision>
  <dcterms:created xsi:type="dcterms:W3CDTF">2015-03-17T18:51:18Z</dcterms:created>
  <dcterms:modified xsi:type="dcterms:W3CDTF">2023-02-27T21:19:39Z</dcterms:modified>
</cp:coreProperties>
</file>