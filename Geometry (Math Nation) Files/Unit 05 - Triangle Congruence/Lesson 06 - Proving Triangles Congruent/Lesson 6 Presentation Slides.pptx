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71" r:id="rId8"/>
    <p:sldId id="372" r:id="rId9"/>
    <p:sldId id="373" r:id="rId10"/>
    <p:sldId id="377" r:id="rId11"/>
    <p:sldId id="378" r:id="rId12"/>
    <p:sldId id="379" r:id="rId13"/>
    <p:sldId id="380" r:id="rId14"/>
    <p:sldId id="381" r:id="rId15"/>
    <p:sldId id="374" r:id="rId16"/>
    <p:sldId id="375" r:id="rId17"/>
    <p:sldId id="376" r:id="rId18"/>
    <p:sldId id="302" r:id="rId19"/>
    <p:sldId id="303" r:id="rId20"/>
    <p:sldId id="369" r:id="rId21"/>
    <p:sldId id="306" r:id="rId22"/>
    <p:sldId id="307" r:id="rId23"/>
    <p:sldId id="370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8"/>
    <p:restoredTop sz="94694"/>
  </p:normalViewPr>
  <p:slideViewPr>
    <p:cSldViewPr snapToGrid="0">
      <p:cViewPr varScale="1">
        <p:scale>
          <a:sx n="77" d="100"/>
          <a:sy n="77" d="100"/>
        </p:scale>
        <p:origin x="57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7047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8705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56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1197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0173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5917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362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7997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355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27725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3406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685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Proving Triangles Congruent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252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4875" y="0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87" y="1627632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351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6367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767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40657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MA.912.GR.1.2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triangle congruence or similarity using Side-Side-Side, Side-Angle-Side, Angle-Side-Angle, Angle-Angle-Side, Angle-Angle, and Hypotenuse-Leg.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290" y="21228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0590" y="-822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946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73290" y="1596390"/>
            <a:ext cx="116396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28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67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99560" y="-9507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60" y="1941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75672" y="64271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2260" y="1600200"/>
            <a:ext cx="116263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 can prove two triangles are congruent using SSS, SAS, ASA, AAS, or HL congruence.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05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058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52" y="-6416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5.6.1 Warm-Up: Cheese Balls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952" y="1746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6658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34340" y="1386025"/>
            <a:ext cx="1143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image shows cheese balls arranged on a baking sheet with a white plate on top. There are thirteen cheese balls on the plate.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Estimate how many cheese balls will fit on the plate.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how you determined your estimate.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6929" y="2313477"/>
            <a:ext cx="4054175" cy="269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0487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</p:spTree>
    <p:extLst>
      <p:ext uri="{BB962C8B-B14F-4D97-AF65-F5344CB8AC3E}">
        <p14:creationId xmlns:p14="http://schemas.microsoft.com/office/powerpoint/2010/main" val="42199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836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7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1004" y="-82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5.6.2 Guided Instruction: Proving Triangles Congruent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70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7579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403704" y="1386026"/>
                <a:ext cx="726230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completing a proof to show two triangles are congruent, it is helpful to start by considering conclusions that can be drawn from the given information.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𝐾𝐿𝐽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some given information.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𝐿𝐽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𝐾𝐽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conclusion can be drawn from the given statement, “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𝐿𝐽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”?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04" y="1386026"/>
                <a:ext cx="7262304" cy="4093428"/>
              </a:xfrm>
              <a:prstGeom prst="rect">
                <a:avLst/>
              </a:prstGeom>
              <a:blipFill>
                <a:blip r:embed="rId5"/>
                <a:stretch>
                  <a:fillRect l="-873"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0745" y="1609581"/>
            <a:ext cx="2545305" cy="339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5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13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71134" y="647181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8640" y="520393"/>
            <a:ext cx="97862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why this conclusion can be drawn.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Mark the figure based on the given information.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other conclusion(s) can be drawn from the information given?</a:t>
            </a:r>
          </a:p>
        </p:txBody>
      </p:sp>
    </p:spTree>
    <p:extLst>
      <p:ext uri="{BB962C8B-B14F-4D97-AF65-F5344CB8AC3E}">
        <p14:creationId xmlns:p14="http://schemas.microsoft.com/office/powerpoint/2010/main" val="459841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085" y="2467156"/>
            <a:ext cx="5567477" cy="439084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4572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00050" y="520393"/>
                <a:ext cx="1136142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this conclusion can be drawn.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conclusions drawn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𝐾𝐿𝐽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information given, along with the figure, to complete the flow chart proof. 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𝐿𝐽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𝐾𝐽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𝐾𝑀𝐽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𝐾𝑀𝐿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20393"/>
                <a:ext cx="11361420" cy="3477875"/>
              </a:xfrm>
              <a:prstGeom prst="rect">
                <a:avLst/>
              </a:prstGeom>
              <a:blipFill>
                <a:blip r:embed="rId5"/>
                <a:stretch>
                  <a:fillRect l="-559" t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09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34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22910" y="462901"/>
                <a:ext cx="11292839" cy="5324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Polygon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𝐻𝑃𝑌𝑁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Mark the diagram to show the following given information.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𝐻𝑃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𝐻𝑃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𝑌𝑁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how you determined which markings to make with your partner.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congruence theorem or postulate should be used to prove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𝑃𝐻𝑁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𝑁𝑌𝑃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" y="462901"/>
                <a:ext cx="11292839" cy="5324535"/>
              </a:xfrm>
              <a:prstGeom prst="rect">
                <a:avLst/>
              </a:prstGeom>
              <a:blipFill>
                <a:blip r:embed="rId4"/>
                <a:stretch>
                  <a:fillRect l="-562" t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0084" y="978380"/>
            <a:ext cx="6776139" cy="20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6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889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716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254</a:t>
            </a:r>
          </a:p>
        </p:txBody>
      </p:sp>
      <p:sp>
        <p:nvSpPr>
          <p:cNvPr id="2" name="Rectangle 1"/>
          <p:cNvSpPr/>
          <p:nvPr/>
        </p:nvSpPr>
        <p:spPr>
          <a:xfrm>
            <a:off x="445770" y="531912"/>
            <a:ext cx="66517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000" dirty="0">
                <a:latin typeface="Verdana" charset="0"/>
                <a:ea typeface="Times New Roman" charset="0"/>
                <a:cs typeface="Arial" charset="0"/>
              </a:rPr>
              <a:t>Complete the two-column proof. 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614498"/>
                  </p:ext>
                </p:extLst>
              </p:nvPr>
            </p:nvGraphicFramePr>
            <p:xfrm>
              <a:off x="2836030" y="1447714"/>
              <a:ext cx="6761480" cy="26917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807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807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Statement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Reason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𝐻𝑃</m:t>
                                  </m:r>
                                </m:e>
                              </m:ac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≅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𝑌𝑁</m:t>
                                  </m:r>
                                </m:e>
                              </m:acc>
                            </m:oMath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Given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𝐻𝑃</m:t>
                                  </m:r>
                                </m:e>
                              </m:acc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𝑌𝑁</m:t>
                                  </m:r>
                                </m:e>
                              </m:acc>
                            </m:oMath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∆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𝑃𝐻𝑁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≅∆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𝑁𝑌𝑃</m:t>
                              </m:r>
                            </m:oMath>
                          </a14:m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5. 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614498"/>
                  </p:ext>
                </p:extLst>
              </p:nvPr>
            </p:nvGraphicFramePr>
            <p:xfrm>
              <a:off x="2836030" y="1447714"/>
              <a:ext cx="6761480" cy="26917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807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807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Statement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Reason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" t="-83784" r="-100000" b="-4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Given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" t="-183784" r="-100000" b="-3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41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5" t="-481081" r="-100000" b="-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5. </a:t>
                          </a:r>
                          <a:endParaRPr lang="en-US" sz="1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0497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01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4609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00051" y="480153"/>
                <a:ext cx="692011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𝑀𝑆𝑃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𝑄𝑃𝑅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1" y="480153"/>
                <a:ext cx="6920112" cy="400110"/>
              </a:xfrm>
              <a:prstGeom prst="rect">
                <a:avLst/>
              </a:prstGeom>
              <a:blipFill>
                <a:blip r:embed="rId4"/>
                <a:stretch>
                  <a:fillRect l="-916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2950" y="1342025"/>
            <a:ext cx="3657600" cy="4165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00100" y="1342025"/>
                <a:ext cx="6519346" cy="25559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𝑄𝑅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𝑀𝑃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𝑆𝑀𝑃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𝑃𝑄𝑅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𝑆𝑅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indent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𝑆𝑃𝑀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𝑃𝑅𝑄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Mark the diagram to show the given information.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1342025"/>
                <a:ext cx="6519346" cy="2555956"/>
              </a:xfrm>
              <a:prstGeom prst="rect">
                <a:avLst/>
              </a:prstGeom>
              <a:blipFill>
                <a:blip r:embed="rId6"/>
                <a:stretch>
                  <a:fillRect l="-777" t="-990" b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554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7293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9038932" y="648853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sp>
        <p:nvSpPr>
          <p:cNvPr id="2" name="Rectangle 1"/>
          <p:cNvSpPr/>
          <p:nvPr/>
        </p:nvSpPr>
        <p:spPr>
          <a:xfrm>
            <a:off x="491490" y="437770"/>
            <a:ext cx="95614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paragraph proof.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40130" y="1145657"/>
                <a:ext cx="9351139" cy="28637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 is 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____________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by _________________________. It is given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𝑄𝑅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 ≅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 by ___________________________.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 is also given that ___________________. Therefore,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𝑆𝑃𝑀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𝑃𝑅𝑄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by _______.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130" y="1145657"/>
                <a:ext cx="9351139" cy="2863733"/>
              </a:xfrm>
              <a:prstGeom prst="rect">
                <a:avLst/>
              </a:prstGeom>
              <a:blipFill>
                <a:blip r:embed="rId4"/>
                <a:stretch>
                  <a:fillRect l="-814" t="-1327" b="-3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1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4232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459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6265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652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829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03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31047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5.6.3 Guided Practice: Proving Triangles Congruent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7703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239" y="17072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81239" y="1386025"/>
                <a:ext cx="100063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𝑉𝑅𝑈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39" y="1386025"/>
                <a:ext cx="10006345" cy="400110"/>
              </a:xfrm>
              <a:prstGeom prst="rect">
                <a:avLst/>
              </a:prstGeom>
              <a:blipFill>
                <a:blip r:embed="rId5"/>
                <a:stretch>
                  <a:fillRect l="-761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9731" y="1586081"/>
            <a:ext cx="2749369" cy="28824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60448" y="2011619"/>
                <a:ext cx="4572000" cy="10156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𝑈𝑅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𝑉𝑅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𝑅𝑇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𝑈𝑉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Prove: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𝑅𝑇𝑉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𝑅𝑇𝑈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48" y="2011619"/>
                <a:ext cx="4572000" cy="1015663"/>
              </a:xfrm>
              <a:prstGeom prst="rect">
                <a:avLst/>
              </a:prstGeom>
              <a:blipFill>
                <a:blip r:embed="rId7"/>
                <a:stretch>
                  <a:fillRect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026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901790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flow chart proof.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8248" y="1049705"/>
            <a:ext cx="6892055" cy="527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21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03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7103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3340" y="-8224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16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2020" y="24960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5.6.4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720" y="2089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973168" y="646467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354720" y="1386025"/>
                <a:ext cx="10032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Polygon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𝑀𝐿𝑊𝑃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20" y="1386025"/>
                <a:ext cx="10032864" cy="400110"/>
              </a:xfrm>
              <a:prstGeom prst="rect">
                <a:avLst/>
              </a:prstGeom>
              <a:blipFill>
                <a:blip r:embed="rId5"/>
                <a:stretch>
                  <a:fillRect l="-506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957500" y="2008210"/>
                <a:ext cx="4572000" cy="132343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𝑀𝐿𝑊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𝐿𝑃𝑀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𝐿𝑃𝑊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Prove: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𝑊𝑃𝐿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𝑀𝑃𝐿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500" y="2008210"/>
                <a:ext cx="4572000" cy="1323439"/>
              </a:xfrm>
              <a:prstGeom prst="rect">
                <a:avLst/>
              </a:prstGeom>
              <a:blipFill>
                <a:blip r:embed="rId6"/>
                <a:stretch>
                  <a:fillRect t="-188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4120" y="1234296"/>
            <a:ext cx="33909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22910" y="520394"/>
                <a:ext cx="1120524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paragraph proof.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It is given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𝐿𝑃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bisects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𝑀𝐿𝑊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_____________ by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definition of ________________________. Also, it is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 that ____________________. _____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_____ by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________________________. Therefore,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𝑊𝑃𝐿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𝑀𝑃𝐿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by _______.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" y="520394"/>
                <a:ext cx="11205240" cy="3477875"/>
              </a:xfrm>
              <a:prstGeom prst="rect">
                <a:avLst/>
              </a:prstGeom>
              <a:blipFill>
                <a:blip r:embed="rId4"/>
                <a:stretch>
                  <a:fillRect l="-566" t="-727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125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7034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6895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187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2947" y="-5613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5.6.5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647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55647" y="1106759"/>
            <a:ext cx="10011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flow chart proof has two errors. Find the errors and correct them.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8467" y="2331321"/>
            <a:ext cx="4794510" cy="3615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82695" y="1895817"/>
                <a:ext cx="5039761" cy="7764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midpoint of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𝑊𝐿</m:t>
                        </m:r>
                      </m:e>
                    </m:ba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1371600" indent="457200"/>
                <a:r>
                  <a:rPr lang="en-US" sz="2000" dirty="0"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𝐷𝑌</m:t>
                        </m:r>
                      </m:e>
                    </m:ba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𝑌𝐵</m:t>
                        </m:r>
                      </m:e>
                    </m:ba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695" y="1895817"/>
                <a:ext cx="5039761" cy="776495"/>
              </a:xfrm>
              <a:prstGeom prst="rect">
                <a:avLst/>
              </a:prstGeom>
              <a:blipFill>
                <a:blip r:embed="rId6"/>
                <a:stretch>
                  <a:fillRect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448082" y="2838460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𝐷𝑊𝑌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𝐵𝐿𝑌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082" y="2838460"/>
                <a:ext cx="8327136" cy="400110"/>
              </a:xfrm>
              <a:prstGeom prst="rect">
                <a:avLst/>
              </a:prstGeom>
              <a:blipFill>
                <a:blip r:embed="rId7"/>
                <a:stretch>
                  <a:fillRect l="-761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0583" y="834025"/>
            <a:ext cx="69215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034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856</Words>
  <Application>Microsoft Office PowerPoint</Application>
  <PresentationFormat>Widescreen</PresentationFormat>
  <Paragraphs>179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5, Lesson 6  Proving Triangles Congruent  Volume 1, pg. 252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2022-07-03T19:14:18Z</dcterms:modified>
</cp:coreProperties>
</file>