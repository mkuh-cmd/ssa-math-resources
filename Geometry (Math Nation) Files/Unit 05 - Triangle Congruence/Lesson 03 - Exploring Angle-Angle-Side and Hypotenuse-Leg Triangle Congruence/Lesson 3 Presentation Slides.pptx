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371" r:id="rId9"/>
    <p:sldId id="372" r:id="rId10"/>
    <p:sldId id="373" r:id="rId11"/>
    <p:sldId id="374" r:id="rId12"/>
    <p:sldId id="375" r:id="rId13"/>
    <p:sldId id="376" r:id="rId14"/>
    <p:sldId id="377" r:id="rId15"/>
    <p:sldId id="384" r:id="rId16"/>
    <p:sldId id="385" r:id="rId17"/>
    <p:sldId id="386" r:id="rId18"/>
    <p:sldId id="387" r:id="rId19"/>
    <p:sldId id="388" r:id="rId20"/>
    <p:sldId id="378" r:id="rId21"/>
    <p:sldId id="379" r:id="rId22"/>
    <p:sldId id="380" r:id="rId23"/>
    <p:sldId id="389" r:id="rId24"/>
    <p:sldId id="381" r:id="rId25"/>
    <p:sldId id="382" r:id="rId26"/>
    <p:sldId id="383"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79C058"/>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35"/>
    <p:restoredTop sz="94622"/>
  </p:normalViewPr>
  <p:slideViewPr>
    <p:cSldViewPr snapToGrid="0">
      <p:cViewPr varScale="1">
        <p:scale>
          <a:sx n="85" d="100"/>
          <a:sy n="85" d="100"/>
        </p:scale>
        <p:origin x="98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9381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98331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93021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56415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65969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897811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876627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116785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39707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31873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041409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378163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703264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83907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43227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12839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502738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452983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856385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40.png"/><Relationship Id="rId5" Type="http://schemas.openxmlformats.org/officeDocument/2006/relationships/image" Target="../media/image35.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5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Exploring Angle-Angle-Side and Hypotenuse-Leg Triangle Congruence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234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1762"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9171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974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900" y="1600200"/>
            <a:ext cx="1094011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MA.912.GR.1.2 </a:t>
            </a:r>
          </a:p>
          <a:p>
            <a:pPr marL="95250" indent="0">
              <a:buNone/>
            </a:pPr>
            <a:r>
              <a:rPr lang="en-US" sz="2400" dirty="0">
                <a:latin typeface="Verdana" charset="0"/>
                <a:ea typeface="Verdana" charset="0"/>
                <a:cs typeface="Verdana" charset="0"/>
              </a:rPr>
              <a:t>Prove triangle congruence or similarity using Side-Side-Side, Side-Angle-Side, Angle-Side-Angle, Angle-Angle-Side, Angle-Angle, and Hypotenuse-Leg.</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MA.912.GR.5.1 </a:t>
            </a:r>
          </a:p>
          <a:p>
            <a:pPr marL="95250" indent="0">
              <a:buNone/>
            </a:pPr>
            <a:r>
              <a:rPr lang="en-US" sz="2400" dirty="0">
                <a:latin typeface="Verdana" charset="0"/>
                <a:ea typeface="Verdana" charset="0"/>
                <a:cs typeface="Verdana" charset="0"/>
              </a:rPr>
              <a:t>Construct a copy of a segment or an angle.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5700" y="198129"/>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14056"/>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03000" y="-8225"/>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234</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55700" y="1596390"/>
            <a:ext cx="118363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8923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4806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234</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899" y="1600200"/>
            <a:ext cx="1139296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constructions to determine if AAS congruence can be used to show that two triangles are congruent.</a:t>
            </a:r>
          </a:p>
          <a:p>
            <a:pPr marL="342900" indent="-342900">
              <a:buFont typeface="Wingdings" charset="2"/>
              <a:buChar char="q"/>
            </a:pPr>
            <a:r>
              <a:rPr lang="en-US" sz="2400" dirty="0">
                <a:latin typeface="Verdana" charset="0"/>
                <a:ea typeface="Verdana" charset="0"/>
                <a:cs typeface="Verdana" charset="0"/>
              </a:rPr>
              <a:t>I can determine if HL congruence can be used to show that two triangles are congruent using deduction.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2156"/>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1772"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52710" y="-9039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5.3.1 Warm-Up: Giving Back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05410" y="198809"/>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234</a:t>
            </a:r>
          </a:p>
        </p:txBody>
      </p:sp>
      <p:sp>
        <p:nvSpPr>
          <p:cNvPr id="2" name="TextBox 1">
            <a:extLst>
              <a:ext uri="{FF2B5EF4-FFF2-40B4-BE49-F238E27FC236}">
                <a16:creationId xmlns:a16="http://schemas.microsoft.com/office/drawing/2014/main" id="{E1D7562E-134F-D14B-AF1A-DF40E11EF758}"/>
              </a:ext>
            </a:extLst>
          </p:cNvPr>
          <p:cNvSpPr txBox="1"/>
          <p:nvPr/>
        </p:nvSpPr>
        <p:spPr>
          <a:xfrm>
            <a:off x="405410" y="1386025"/>
            <a:ext cx="11699504"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t>
            </a:r>
            <a:r>
              <a:rPr lang="en-US" sz="2400" dirty="0"/>
              <a:t>organ State University is a historically black, public research university in Baltimore, Maryland. In the early 1960s, Calvin E. Tyler Jr., a young African American man who was the first in his family to go to college, attended Morgan State. However, in 1963 he was forced to drop out when he was unable to pay his tuition. </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025" name="Picture 6" descr="Morgan State University - Wikipedia"/>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875493" y="4018559"/>
            <a:ext cx="1922463" cy="19367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3" descr="Calvin &amp; Tina Tyler with President Wilson"/>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800682" y="4018559"/>
            <a:ext cx="3935412" cy="19700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1676401" y="22711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4"/>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8283"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74283"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78970" y="520394"/>
            <a:ext cx="11495315" cy="4893647"/>
          </a:xfrm>
          <a:prstGeom prst="rect">
            <a:avLst/>
          </a:prstGeom>
          <a:noFill/>
        </p:spPr>
        <p:txBody>
          <a:bodyPr wrap="square" rtlCol="0">
            <a:spAutoFit/>
          </a:bodyPr>
          <a:lstStyle/>
          <a:p>
            <a:r>
              <a:rPr lang="en-US" sz="2400" dirty="0">
                <a:latin typeface="Verdana" charset="0"/>
                <a:ea typeface="Verdana" charset="0"/>
                <a:cs typeface="Verdana" charset="0"/>
              </a:rPr>
              <a:t>He began working as a truck driver for the United Parcel Service (UPS). Throughout his career at UPS, he continued to be promoted and ultimately served as both the senior vice president for U.S. operations and as a director within the company. On February 23, 2021, he and his wife Tina pledged $20 million to Morgan State University’s endowment to go toward scholarships for students in financial need. </a:t>
            </a:r>
          </a:p>
          <a:p>
            <a:r>
              <a:rPr lang="en-US" sz="2400" dirty="0">
                <a:latin typeface="Verdana" charset="0"/>
                <a:ea typeface="Verdana" charset="0"/>
                <a:cs typeface="Verdana" charset="0"/>
              </a:rPr>
              <a:t>Choose one of the following questions to answer.</a:t>
            </a:r>
          </a:p>
          <a:p>
            <a:r>
              <a:rPr lang="en-US" sz="2400" dirty="0">
                <a:latin typeface="Verdana" charset="0"/>
                <a:ea typeface="Verdana" charset="0"/>
                <a:cs typeface="Verdana" charset="0"/>
              </a:rPr>
              <a:t> </a:t>
            </a:r>
          </a:p>
          <a:p>
            <a:pPr marL="457200" indent="-457200">
              <a:buFont typeface="+mj-lt"/>
              <a:buAutoNum type="arabicPeriod"/>
            </a:pPr>
            <a:r>
              <a:rPr lang="en-US" sz="2400" dirty="0">
                <a:latin typeface="Verdana" charset="0"/>
                <a:ea typeface="Verdana" charset="0"/>
                <a:cs typeface="Verdana" charset="0"/>
              </a:rPr>
              <a:t>How do you think having a growth mindset likely played a role in Mr. Tyler’s career?</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Why do you think it was important to Mr. Tyler to pledge this endowment?</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235</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077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693" y="6214056"/>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8729" y="-2436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5.3.2 Exploration: Which Other Criteria Is Enough?</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88693" y="647113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235</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6475" y="19523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430186" y="1338709"/>
                <a:ext cx="11004168" cy="461665"/>
              </a:xfrm>
              <a:prstGeom prst="rect">
                <a:avLst/>
              </a:prstGeom>
              <a:noFill/>
            </p:spPr>
            <p:txBody>
              <a:bodyPr wrap="square" rtlCol="0">
                <a:spAutoFit/>
              </a:bodyPr>
              <a:lstStyle/>
              <a:p>
                <a:r>
                  <a:rPr lang="en-US" sz="2400" dirty="0"/>
                  <a:t>Five angles labeled 1-5 and three line segments labeled </a:t>
                </a:r>
                <a14:m>
                  <m:oMath xmlns:m="http://schemas.openxmlformats.org/officeDocument/2006/math">
                    <m:r>
                      <a:rPr lang="en-US" sz="2400" i="1">
                        <a:latin typeface="Cambria Math" charset="0"/>
                      </a:rPr>
                      <m:t>𝑎</m:t>
                    </m:r>
                    <m:r>
                      <a:rPr lang="en-US" sz="2400" i="1">
                        <a:latin typeface="Cambria Math" charset="0"/>
                      </a:rPr>
                      <m:t>, </m:t>
                    </m:r>
                    <m:r>
                      <a:rPr lang="en-US" sz="2400" i="1">
                        <a:latin typeface="Cambria Math" charset="0"/>
                      </a:rPr>
                      <m:t>𝑏</m:t>
                    </m:r>
                    <m:r>
                      <a:rPr lang="en-US" sz="2400" i="1">
                        <a:latin typeface="Cambria Math" charset="0"/>
                      </a:rPr>
                      <m:t>,</m:t>
                    </m:r>
                  </m:oMath>
                </a14:m>
                <a:r>
                  <a:rPr lang="en-US" sz="2400" dirty="0"/>
                  <a:t> and </a:t>
                </a:r>
                <a14:m>
                  <m:oMath xmlns:m="http://schemas.openxmlformats.org/officeDocument/2006/math">
                    <m:r>
                      <a:rPr lang="en-US" sz="2400" i="1">
                        <a:latin typeface="Cambria Math" charset="0"/>
                      </a:rPr>
                      <m:t>𝑐</m:t>
                    </m:r>
                  </m:oMath>
                </a14:m>
                <a:r>
                  <a:rPr lang="en-US" sz="2400" dirty="0"/>
                  <a:t> are given.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430186" y="1338709"/>
                <a:ext cx="11004168" cy="461665"/>
              </a:xfrm>
              <a:prstGeom prst="rect">
                <a:avLst/>
              </a:prstGeom>
              <a:blipFill>
                <a:blip r:embed="rId5"/>
                <a:stretch>
                  <a:fillRect l="-923" t="-10811" b="-27027"/>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549877" y="2400272"/>
            <a:ext cx="4818890" cy="3424796"/>
          </a:xfrm>
          <a:prstGeom prst="rect">
            <a:avLst/>
          </a:prstGeom>
        </p:spPr>
      </p:pic>
      <p:sp>
        <p:nvSpPr>
          <p:cNvPr id="3" name="Rectangle 2"/>
          <p:cNvSpPr/>
          <p:nvPr/>
        </p:nvSpPr>
        <p:spPr>
          <a:xfrm>
            <a:off x="682602" y="2242927"/>
            <a:ext cx="4655752" cy="2862322"/>
          </a:xfrm>
          <a:prstGeom prst="rect">
            <a:avLst/>
          </a:prstGeom>
        </p:spPr>
        <p:txBody>
          <a:bodyPr wrap="square">
            <a:spAutoFit/>
          </a:bodyPr>
          <a:lstStyle/>
          <a:p>
            <a:r>
              <a:rPr lang="en-US" sz="2000" dirty="0">
                <a:latin typeface="Verdana" charset="0"/>
                <a:ea typeface="Verdana" charset="0"/>
                <a:cs typeface="Verdana" charset="0"/>
              </a:rPr>
              <a:t>Use the given parts to create triangles by copying the parts needed onto patty paper using the given criteria.</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Helpful Hint: When copying an angle, include some (or all) of the dotted lines so that angles and line segments can be connected.</a:t>
            </a:r>
          </a:p>
        </p:txBody>
      </p:sp>
    </p:spTree>
    <p:extLst>
      <p:ext uri="{BB962C8B-B14F-4D97-AF65-F5344CB8AC3E}">
        <p14:creationId xmlns:p14="http://schemas.microsoft.com/office/powerpoint/2010/main" val="144449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4192"/>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48343" y="520393"/>
            <a:ext cx="11338560"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Construct two different triangles using each set of criteria. Use the provided steps in each criteria.</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22223578"/>
                  </p:ext>
                </p:extLst>
              </p:nvPr>
            </p:nvGraphicFramePr>
            <p:xfrm>
              <a:off x="2806278" y="1630923"/>
              <a:ext cx="6784975" cy="2346717"/>
            </p:xfrm>
            <a:graphic>
              <a:graphicData uri="http://schemas.openxmlformats.org/drawingml/2006/table">
                <a:tbl>
                  <a:tblPr firstRow="1" firstCol="1" bandRow="1"/>
                  <a:tblGrid>
                    <a:gridCol w="6784975">
                      <a:extLst>
                        <a:ext uri="{9D8B030D-6E8A-4147-A177-3AD203B41FA5}">
                          <a16:colId xmlns:a16="http://schemas.microsoft.com/office/drawing/2014/main" val="20000"/>
                        </a:ext>
                      </a:extLst>
                    </a:gridCol>
                  </a:tblGrid>
                  <a:tr h="562610">
                    <a:tc>
                      <a:txBody>
                        <a:bodyPr/>
                        <a:lstStyle/>
                        <a:p>
                          <a:pPr marL="0" marR="0" algn="ctr">
                            <a:spcBef>
                              <a:spcPts val="0"/>
                            </a:spcBef>
                            <a:spcAft>
                              <a:spcPts val="0"/>
                            </a:spcAft>
                          </a:pPr>
                          <a:r>
                            <a:rPr lang="en-US" sz="1800" b="1">
                              <a:effectLst/>
                              <a:latin typeface="Verdana" charset="0"/>
                              <a:ea typeface="Times New Roman" charset="0"/>
                              <a:cs typeface="Times New Roman" charset="0"/>
                            </a:rPr>
                            <a:t>Criteria 1:</a:t>
                          </a:r>
                          <a:endParaRPr lang="en-US" sz="1200">
                            <a:effectLst/>
                            <a:latin typeface="Cambria" charset="0"/>
                            <a:ea typeface="Times New Roman" charset="0"/>
                            <a:cs typeface="Times New Roman" charset="0"/>
                          </a:endParaRPr>
                        </a:p>
                        <a:p>
                          <a:pPr marL="0" marR="0" algn="ctr">
                            <a:spcBef>
                              <a:spcPts val="0"/>
                            </a:spcBef>
                            <a:spcAft>
                              <a:spcPts val="0"/>
                            </a:spcAft>
                          </a:pPr>
                          <a:r>
                            <a:rPr lang="en-US" sz="1800" b="1">
                              <a:effectLst/>
                              <a:latin typeface="Verdana" charset="0"/>
                              <a:ea typeface="Times New Roman" charset="0"/>
                              <a:cs typeface="Times New Roman" charset="0"/>
                            </a:rPr>
                            <a:t>Given two angles (AA)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84107">
                    <a:tc>
                      <a:txBody>
                        <a:bodyPr/>
                        <a:lstStyle/>
                        <a:p>
                          <a:pPr marL="0" marR="0">
                            <a:spcBef>
                              <a:spcPts val="0"/>
                            </a:spcBef>
                            <a:spcAft>
                              <a:spcPts val="0"/>
                            </a:spcAft>
                          </a:pPr>
                          <a:r>
                            <a:rPr lang="en-US" sz="1800" dirty="0">
                              <a:effectLst/>
                              <a:latin typeface="Verdana" charset="0"/>
                              <a:ea typeface="Times New Roman" charset="0"/>
                              <a:cs typeface="Times New Roman" charset="0"/>
                            </a:rPr>
                            <a:t>Step 1: Copy </a:t>
                          </a:r>
                          <a14:m>
                            <m:oMath xmlns:m="http://schemas.openxmlformats.org/officeDocument/2006/math">
                              <m:r>
                                <a:rPr lang="en-US" sz="1800" i="1">
                                  <a:effectLst/>
                                  <a:latin typeface="Cambria Math" charset="0"/>
                                  <a:ea typeface="Times New Roman" charset="0"/>
                                  <a:cs typeface="Times New Roman" charset="0"/>
                                </a:rPr>
                                <m:t>∠1</m:t>
                              </m:r>
                            </m:oMath>
                          </a14:m>
                          <a:r>
                            <a:rPr lang="en-US" sz="1800" dirty="0">
                              <a:effectLst/>
                              <a:latin typeface="Verdana" charset="0"/>
                              <a:ea typeface="Times New Roman" charset="0"/>
                              <a:cs typeface="Times New Roman" charset="0"/>
                            </a:rPr>
                            <a:t> onto a piece of patty paper. </a:t>
                          </a:r>
                          <a:endParaRPr lang="en-US" sz="1200" dirty="0">
                            <a:effectLst/>
                            <a:latin typeface="Cambria" charset="0"/>
                            <a:ea typeface="Times New Roman" charset="0"/>
                            <a:cs typeface="Times New Roman" charset="0"/>
                          </a:endParaRPr>
                        </a:p>
                        <a:p>
                          <a:pPr marL="0" marR="0">
                            <a:spcBef>
                              <a:spcPts val="0"/>
                            </a:spcBef>
                            <a:spcAft>
                              <a:spcPts val="0"/>
                            </a:spcAft>
                          </a:pPr>
                          <a:r>
                            <a:rPr lang="en-US" sz="1800" dirty="0">
                              <a:effectLst/>
                              <a:latin typeface="Verdana" charset="0"/>
                              <a:ea typeface="Times New Roman" charset="0"/>
                              <a:cs typeface="Times New Roman" charset="0"/>
                            </a:rPr>
                            <a:t>Step 2: Close the triangle using </a:t>
                          </a:r>
                          <a14:m>
                            <m:oMath xmlns:m="http://schemas.openxmlformats.org/officeDocument/2006/math">
                              <m:r>
                                <a:rPr lang="en-US" sz="1800" i="1">
                                  <a:effectLst/>
                                  <a:latin typeface="Cambria Math" charset="0"/>
                                  <a:ea typeface="Times New Roman" charset="0"/>
                                  <a:cs typeface="Times New Roman" charset="0"/>
                                </a:rPr>
                                <m:t>∠2</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p>
                          <a:pPr marL="959485" marR="0" indent="-959485">
                            <a:spcBef>
                              <a:spcPts val="0"/>
                            </a:spcBef>
                            <a:spcAft>
                              <a:spcPts val="0"/>
                            </a:spcAft>
                          </a:pPr>
                          <a:r>
                            <a:rPr lang="en-US" sz="1800" dirty="0">
                              <a:effectLst/>
                              <a:latin typeface="Verdana" charset="0"/>
                              <a:ea typeface="Times New Roman" charset="0"/>
                              <a:cs typeface="Times New Roman" charset="0"/>
                            </a:rPr>
                            <a:t>Step 3: Trace the completed triangle. Label </a:t>
                          </a:r>
                          <a14:m>
                            <m:oMath xmlns:m="http://schemas.openxmlformats.org/officeDocument/2006/math">
                              <m:r>
                                <a:rPr lang="en-US" sz="1800" i="1">
                                  <a:effectLst/>
                                  <a:latin typeface="Cambria Math" charset="0"/>
                                  <a:ea typeface="Times New Roman" charset="0"/>
                                  <a:cs typeface="Times New Roman" charset="0"/>
                                </a:rPr>
                                <m:t>∠1</m:t>
                              </m:r>
                            </m:oMath>
                          </a14:m>
                          <a:r>
                            <a:rPr lang="en-US" sz="1800" dirty="0">
                              <a:effectLst/>
                              <a:latin typeface="Verdana" charset="0"/>
                              <a:ea typeface="Times New Roman" charset="0"/>
                              <a:cs typeface="Times New Roman" charset="0"/>
                            </a:rPr>
                            <a:t> and </a:t>
                          </a:r>
                          <a14:m>
                            <m:oMath xmlns:m="http://schemas.openxmlformats.org/officeDocument/2006/math">
                              <m:r>
                                <a:rPr lang="en-US" sz="1800" i="1">
                                  <a:effectLst/>
                                  <a:latin typeface="Cambria Math" charset="0"/>
                                  <a:ea typeface="Times New Roman" charset="0"/>
                                  <a:cs typeface="Times New Roman" charset="0"/>
                                </a:rPr>
                                <m:t>∠2</m:t>
                              </m:r>
                            </m:oMath>
                          </a14:m>
                          <a:r>
                            <a:rPr lang="en-US" sz="1800" dirty="0">
                              <a:effectLst/>
                              <a:latin typeface="Verdana" charset="0"/>
                              <a:ea typeface="Times New Roman" charset="0"/>
                              <a:cs typeface="Times New Roman" charset="0"/>
                            </a:rPr>
                            <a:t> in the completed triangle.</a:t>
                          </a:r>
                          <a:endParaRPr lang="en-US" sz="1200" dirty="0">
                            <a:effectLst/>
                            <a:latin typeface="Cambria" charset="0"/>
                            <a:ea typeface="Times New Roman" charset="0"/>
                            <a:cs typeface="Times New Roman" charset="0"/>
                          </a:endParaRPr>
                        </a:p>
                        <a:p>
                          <a:pPr marL="959485" marR="0" indent="-959485">
                            <a:spcBef>
                              <a:spcPts val="0"/>
                            </a:spcBef>
                            <a:spcAft>
                              <a:spcPts val="0"/>
                            </a:spcAft>
                          </a:pPr>
                          <a:r>
                            <a:rPr lang="en-US" sz="1800" dirty="0">
                              <a:effectLst/>
                              <a:latin typeface="Verdana" charset="0"/>
                              <a:ea typeface="Times New Roman" charset="0"/>
                              <a:cs typeface="Times New Roman" charset="0"/>
                            </a:rPr>
                            <a:t>Step 4: Label your triangle “Criteria 1 (AA).”</a:t>
                          </a:r>
                          <a:endParaRPr lang="en-US" sz="1200" dirty="0">
                            <a:effectLst/>
                            <a:latin typeface="Cambria" charset="0"/>
                            <a:ea typeface="Times New Roman" charset="0"/>
                            <a:cs typeface="Times New Roman" charset="0"/>
                          </a:endParaRPr>
                        </a:p>
                        <a:p>
                          <a:pPr marL="959485" marR="0" indent="-959485">
                            <a:spcBef>
                              <a:spcPts val="0"/>
                            </a:spcBef>
                            <a:spcAft>
                              <a:spcPts val="0"/>
                            </a:spcAft>
                          </a:pPr>
                          <a:r>
                            <a:rPr lang="en-US" sz="1800" dirty="0">
                              <a:effectLst/>
                              <a:latin typeface="Verdana" charset="0"/>
                              <a:ea typeface="Times New Roman" charset="0"/>
                              <a:cs typeface="Times New Roman" charset="0"/>
                            </a:rPr>
                            <a:t>Step 5: Repeat these steps with </a:t>
                          </a:r>
                          <a14:m>
                            <m:oMath xmlns:m="http://schemas.openxmlformats.org/officeDocument/2006/math">
                              <m:r>
                                <a:rPr lang="en-US" sz="1800" i="1">
                                  <a:effectLst/>
                                  <a:latin typeface="Cambria Math" charset="0"/>
                                  <a:ea typeface="Times New Roman" charset="0"/>
                                  <a:cs typeface="Times New Roman" charset="0"/>
                                </a:rPr>
                                <m:t>∠3</m:t>
                              </m:r>
                            </m:oMath>
                          </a14:m>
                          <a:r>
                            <a:rPr lang="en-US" sz="1800" dirty="0">
                              <a:effectLst/>
                              <a:latin typeface="Verdana" charset="0"/>
                              <a:ea typeface="Times New Roman" charset="0"/>
                              <a:cs typeface="Times New Roman" charset="0"/>
                            </a:rPr>
                            <a:t> and </a:t>
                          </a:r>
                          <a14:m>
                            <m:oMath xmlns:m="http://schemas.openxmlformats.org/officeDocument/2006/math">
                              <m:r>
                                <a:rPr lang="en-US" sz="1800" i="1">
                                  <a:effectLst/>
                                  <a:latin typeface="Cambria Math" charset="0"/>
                                  <a:ea typeface="Times New Roman" charset="0"/>
                                  <a:cs typeface="Times New Roman" charset="0"/>
                                </a:rPr>
                                <m:t>∠5</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22223578"/>
                  </p:ext>
                </p:extLst>
              </p:nvPr>
            </p:nvGraphicFramePr>
            <p:xfrm>
              <a:off x="2806278" y="1630923"/>
              <a:ext cx="6784975" cy="2346717"/>
            </p:xfrm>
            <a:graphic>
              <a:graphicData uri="http://schemas.openxmlformats.org/drawingml/2006/table">
                <a:tbl>
                  <a:tblPr firstRow="1" firstCol="1" bandRow="1"/>
                  <a:tblGrid>
                    <a:gridCol w="6784975">
                      <a:extLst>
                        <a:ext uri="{9D8B030D-6E8A-4147-A177-3AD203B41FA5}">
                          <a16:colId xmlns:a16="http://schemas.microsoft.com/office/drawing/2014/main" val="20000"/>
                        </a:ext>
                      </a:extLst>
                    </a:gridCol>
                  </a:tblGrid>
                  <a:tr h="562610">
                    <a:tc>
                      <a:txBody>
                        <a:bodyPr/>
                        <a:lstStyle/>
                        <a:p>
                          <a:pPr marL="0" marR="0" algn="ctr">
                            <a:spcBef>
                              <a:spcPts val="0"/>
                            </a:spcBef>
                            <a:spcAft>
                              <a:spcPts val="0"/>
                            </a:spcAft>
                          </a:pPr>
                          <a:r>
                            <a:rPr lang="en-US" sz="1800" b="1">
                              <a:effectLst/>
                              <a:latin typeface="Verdana" charset="0"/>
                              <a:ea typeface="Times New Roman" charset="0"/>
                              <a:cs typeface="Times New Roman" charset="0"/>
                            </a:rPr>
                            <a:t>Criteria 1:</a:t>
                          </a:r>
                          <a:endParaRPr lang="en-US" sz="1200">
                            <a:effectLst/>
                            <a:latin typeface="Cambria" charset="0"/>
                            <a:ea typeface="Times New Roman" charset="0"/>
                            <a:cs typeface="Times New Roman" charset="0"/>
                          </a:endParaRPr>
                        </a:p>
                        <a:p>
                          <a:pPr marL="0" marR="0" algn="ctr">
                            <a:spcBef>
                              <a:spcPts val="0"/>
                            </a:spcBef>
                            <a:spcAft>
                              <a:spcPts val="0"/>
                            </a:spcAft>
                          </a:pPr>
                          <a:r>
                            <a:rPr lang="en-US" sz="1800" b="1">
                              <a:effectLst/>
                              <a:latin typeface="Verdana" charset="0"/>
                              <a:ea typeface="Times New Roman" charset="0"/>
                              <a:cs typeface="Times New Roman" charset="0"/>
                            </a:rPr>
                            <a:t>Given two angles (AA)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84107">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0" t="-35495" r="-180" b="-683"/>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429991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236</a:t>
            </a:r>
          </a:p>
        </p:txBody>
      </p:sp>
      <p:pic>
        <p:nvPicPr>
          <p:cNvPr id="3" name="Picture 2">
            <a:extLst>
              <a:ext uri="{FF2B5EF4-FFF2-40B4-BE49-F238E27FC236}">
                <a16:creationId xmlns:a16="http://schemas.microsoft.com/office/drawing/2014/main" id="{C94043B6-90DA-A79B-D2D6-7D9FDBDD9379}"/>
              </a:ext>
            </a:extLst>
          </p:cNvPr>
          <p:cNvPicPr>
            <a:picLocks noChangeAspect="1"/>
          </p:cNvPicPr>
          <p:nvPr/>
        </p:nvPicPr>
        <p:blipFill>
          <a:blip r:embed="rId4"/>
          <a:stretch>
            <a:fillRect/>
          </a:stretch>
        </p:blipFill>
        <p:spPr>
          <a:xfrm>
            <a:off x="3062977" y="696442"/>
            <a:ext cx="6066046" cy="5121084"/>
          </a:xfrm>
          <a:prstGeom prst="rect">
            <a:avLst/>
          </a:prstGeom>
        </p:spPr>
      </p:pic>
    </p:spTree>
    <p:extLst>
      <p:ext uri="{BB962C8B-B14F-4D97-AF65-F5344CB8AC3E}">
        <p14:creationId xmlns:p14="http://schemas.microsoft.com/office/powerpoint/2010/main" val="1370593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0866"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56866"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65760" y="520393"/>
            <a:ext cx="11582400"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Compare your four triangles with your partner’s.</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Write your partner’s name on the line in the table. Then, state “true” or “false” to indicate if your triangle is congruent to your partner’s triangle for each criteria.</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35670656"/>
                  </p:ext>
                </p:extLst>
              </p:nvPr>
            </p:nvGraphicFramePr>
            <p:xfrm>
              <a:off x="2634343" y="2462146"/>
              <a:ext cx="6962134" cy="2719070"/>
            </p:xfrm>
            <a:graphic>
              <a:graphicData uri="http://schemas.openxmlformats.org/drawingml/2006/table">
                <a:tbl>
                  <a:tblPr firstRow="1" firstCol="1" bandRow="1"/>
                  <a:tblGrid>
                    <a:gridCol w="2192014">
                      <a:extLst>
                        <a:ext uri="{9D8B030D-6E8A-4147-A177-3AD203B41FA5}">
                          <a16:colId xmlns:a16="http://schemas.microsoft.com/office/drawing/2014/main" val="20000"/>
                        </a:ext>
                      </a:extLst>
                    </a:gridCol>
                    <a:gridCol w="1192530">
                      <a:extLst>
                        <a:ext uri="{9D8B030D-6E8A-4147-A177-3AD203B41FA5}">
                          <a16:colId xmlns:a16="http://schemas.microsoft.com/office/drawing/2014/main" val="20001"/>
                        </a:ext>
                      </a:extLst>
                    </a:gridCol>
                    <a:gridCol w="1192530">
                      <a:extLst>
                        <a:ext uri="{9D8B030D-6E8A-4147-A177-3AD203B41FA5}">
                          <a16:colId xmlns:a16="http://schemas.microsoft.com/office/drawing/2014/main" val="20002"/>
                        </a:ext>
                      </a:extLst>
                    </a:gridCol>
                    <a:gridCol w="1192530">
                      <a:extLst>
                        <a:ext uri="{9D8B030D-6E8A-4147-A177-3AD203B41FA5}">
                          <a16:colId xmlns:a16="http://schemas.microsoft.com/office/drawing/2014/main" val="20003"/>
                        </a:ext>
                      </a:extLst>
                    </a:gridCol>
                    <a:gridCol w="1192530">
                      <a:extLst>
                        <a:ext uri="{9D8B030D-6E8A-4147-A177-3AD203B41FA5}">
                          <a16:colId xmlns:a16="http://schemas.microsoft.com/office/drawing/2014/main" val="20004"/>
                        </a:ext>
                      </a:extLst>
                    </a:gridCol>
                  </a:tblGrid>
                  <a:tr h="275590">
                    <a:tc rowSpan="2">
                      <a:txBody>
                        <a:bodyPr/>
                        <a:lstStyle/>
                        <a:p>
                          <a:pPr marL="0" marR="0" algn="ctr">
                            <a:spcBef>
                              <a:spcPts val="0"/>
                            </a:spcBef>
                            <a:spcAft>
                              <a:spcPts val="0"/>
                            </a:spcAft>
                          </a:pPr>
                          <a:r>
                            <a:rPr lang="en-US" sz="1800" b="1">
                              <a:effectLst/>
                              <a:latin typeface="Verdana" charset="0"/>
                              <a:ea typeface="Times New Roman" charset="0"/>
                              <a:cs typeface="Times New Roman" charset="0"/>
                            </a:rPr>
                            <a:t>Criteria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756920">
                    <a:tc vMerge="1">
                      <a:txBody>
                        <a:bodyPr/>
                        <a:lstStyle/>
                        <a:p>
                          <a:endParaRPr lang="en-US"/>
                        </a:p>
                      </a:txBody>
                      <a:tcPr/>
                    </a:tc>
                    <a:tc>
                      <a:txBody>
                        <a:bodyPr/>
                        <a:lstStyle/>
                        <a:p>
                          <a:pPr marL="0" marR="0" algn="ctr">
                            <a:spcBef>
                              <a:spcPts val="0"/>
                            </a:spcBef>
                            <a:spcAft>
                              <a:spcPts val="0"/>
                            </a:spcAft>
                          </a:pP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𝟏</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𝟐</m:t>
                              </m:r>
                            </m:oMath>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𝟑</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𝟓</m:t>
                              </m:r>
                            </m:oMath>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Times New Roman" charset="0"/>
                              <a:cs typeface="Times New Roman" charset="0"/>
                            </a:rPr>
                            <a:t>side </a:t>
                          </a:r>
                          <a14:m>
                            <m:oMath xmlns:m="http://schemas.openxmlformats.org/officeDocument/2006/math">
                              <m:r>
                                <a:rPr lang="en-US" sz="1600" b="1" i="1">
                                  <a:effectLst/>
                                  <a:latin typeface="Cambria Math" charset="0"/>
                                  <a:ea typeface="Times New Roman" charset="0"/>
                                  <a:cs typeface="Times New Roman" charset="0"/>
                                </a:rPr>
                                <m:t>𝒃</m:t>
                              </m:r>
                            </m:oMath>
                          </a14:m>
                          <a:r>
                            <a:rPr lang="en-US" sz="1600" b="1">
                              <a:effectLst/>
                              <a:latin typeface="Verdana" charset="0"/>
                              <a:ea typeface="Times New Roman" charset="0"/>
                              <a:cs typeface="Times New Roman" charset="0"/>
                            </a:rPr>
                            <a:t>,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𝟑</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𝟒</m:t>
                              </m:r>
                            </m:oMath>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Times New Roman" charset="0"/>
                              <a:cs typeface="Times New Roman" charset="0"/>
                            </a:rPr>
                            <a:t>side </a:t>
                          </a:r>
                          <a14:m>
                            <m:oMath xmlns:m="http://schemas.openxmlformats.org/officeDocument/2006/math">
                              <m:r>
                                <a:rPr lang="en-US" sz="1600" b="1" i="1">
                                  <a:effectLst/>
                                  <a:latin typeface="Cambria Math" charset="0"/>
                                  <a:ea typeface="Times New Roman" charset="0"/>
                                  <a:cs typeface="Times New Roman" charset="0"/>
                                </a:rPr>
                                <m:t>𝒄</m:t>
                              </m:r>
                            </m:oMath>
                          </a14:m>
                          <a:r>
                            <a:rPr lang="en-US" sz="1600" b="1">
                              <a:effectLst/>
                              <a:latin typeface="Verdana" charset="0"/>
                              <a:ea typeface="Times New Roman" charset="0"/>
                              <a:cs typeface="Times New Roman" charset="0"/>
                            </a:rPr>
                            <a:t>,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𝟏</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𝟐</m:t>
                              </m:r>
                            </m:oMath>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68656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35670656"/>
                  </p:ext>
                </p:extLst>
              </p:nvPr>
            </p:nvGraphicFramePr>
            <p:xfrm>
              <a:off x="2634343" y="2462146"/>
              <a:ext cx="6962134" cy="2719070"/>
            </p:xfrm>
            <a:graphic>
              <a:graphicData uri="http://schemas.openxmlformats.org/drawingml/2006/table">
                <a:tbl>
                  <a:tblPr firstRow="1" firstCol="1" bandRow="1"/>
                  <a:tblGrid>
                    <a:gridCol w="2192014">
                      <a:extLst>
                        <a:ext uri="{9D8B030D-6E8A-4147-A177-3AD203B41FA5}">
                          <a16:colId xmlns:a16="http://schemas.microsoft.com/office/drawing/2014/main" val="20000"/>
                        </a:ext>
                      </a:extLst>
                    </a:gridCol>
                    <a:gridCol w="1192530">
                      <a:extLst>
                        <a:ext uri="{9D8B030D-6E8A-4147-A177-3AD203B41FA5}">
                          <a16:colId xmlns:a16="http://schemas.microsoft.com/office/drawing/2014/main" val="20001"/>
                        </a:ext>
                      </a:extLst>
                    </a:gridCol>
                    <a:gridCol w="1192530">
                      <a:extLst>
                        <a:ext uri="{9D8B030D-6E8A-4147-A177-3AD203B41FA5}">
                          <a16:colId xmlns:a16="http://schemas.microsoft.com/office/drawing/2014/main" val="20002"/>
                        </a:ext>
                      </a:extLst>
                    </a:gridCol>
                    <a:gridCol w="1192530">
                      <a:extLst>
                        <a:ext uri="{9D8B030D-6E8A-4147-A177-3AD203B41FA5}">
                          <a16:colId xmlns:a16="http://schemas.microsoft.com/office/drawing/2014/main" val="20003"/>
                        </a:ext>
                      </a:extLst>
                    </a:gridCol>
                    <a:gridCol w="1192530">
                      <a:extLst>
                        <a:ext uri="{9D8B030D-6E8A-4147-A177-3AD203B41FA5}">
                          <a16:colId xmlns:a16="http://schemas.microsoft.com/office/drawing/2014/main" val="20004"/>
                        </a:ext>
                      </a:extLst>
                    </a:gridCol>
                  </a:tblGrid>
                  <a:tr h="275590">
                    <a:tc rowSpan="2">
                      <a:txBody>
                        <a:bodyPr/>
                        <a:lstStyle/>
                        <a:p>
                          <a:pPr marL="0" marR="0" algn="ctr">
                            <a:spcBef>
                              <a:spcPts val="0"/>
                            </a:spcBef>
                            <a:spcAft>
                              <a:spcPts val="0"/>
                            </a:spcAft>
                          </a:pPr>
                          <a:r>
                            <a:rPr lang="en-US" sz="1800" b="1">
                              <a:effectLst/>
                              <a:latin typeface="Verdana" charset="0"/>
                              <a:ea typeface="Times New Roman" charset="0"/>
                              <a:cs typeface="Times New Roman" charset="0"/>
                            </a:rPr>
                            <a:t>Criteria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756920">
                    <a:tc vMerge="1">
                      <a:txBody>
                        <a:bodyPr/>
                        <a:lstStyle/>
                        <a:p>
                          <a:endParaRPr lang="en-US"/>
                        </a:p>
                      </a:txBody>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5106" t="-45000" r="-301064" b="-236667"/>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85106" t="-45000" r="-201064" b="-23666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85106" t="-45000" r="-101064" b="-236667"/>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85106" t="-45000" r="-1064" b="-236667"/>
                          </a:stretch>
                        </a:blipFill>
                      </a:tcPr>
                    </a:tc>
                    <a:extLst>
                      <a:ext uri="{0D108BD9-81ED-4DB2-BD59-A6C34878D82A}">
                        <a16:rowId xmlns:a16="http://schemas.microsoft.com/office/drawing/2014/main" val="10001"/>
                      </a:ext>
                    </a:extLst>
                  </a:tr>
                  <a:tr h="168656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830099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684"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9083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00594" y="520393"/>
            <a:ext cx="11477897" cy="1015663"/>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With your partner, find another pair of students to form a group of four. Write the two new students’ names in the table below. Then, state “true” or “false” to indicate if your triangle is congruent to your partner’s triangle for each criteria.</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42752749"/>
                  </p:ext>
                </p:extLst>
              </p:nvPr>
            </p:nvGraphicFramePr>
            <p:xfrm>
              <a:off x="2671239" y="2153763"/>
              <a:ext cx="7000189" cy="4326890"/>
            </p:xfrm>
            <a:graphic>
              <a:graphicData uri="http://schemas.openxmlformats.org/drawingml/2006/table">
                <a:tbl>
                  <a:tblPr firstRow="1" firstCol="1" bandRow="1"/>
                  <a:tblGrid>
                    <a:gridCol w="2222449">
                      <a:extLst>
                        <a:ext uri="{9D8B030D-6E8A-4147-A177-3AD203B41FA5}">
                          <a16:colId xmlns:a16="http://schemas.microsoft.com/office/drawing/2014/main" val="20000"/>
                        </a:ext>
                      </a:extLst>
                    </a:gridCol>
                    <a:gridCol w="1194435">
                      <a:extLst>
                        <a:ext uri="{9D8B030D-6E8A-4147-A177-3AD203B41FA5}">
                          <a16:colId xmlns:a16="http://schemas.microsoft.com/office/drawing/2014/main" val="20001"/>
                        </a:ext>
                      </a:extLst>
                    </a:gridCol>
                    <a:gridCol w="11944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gridCol w="1194435">
                      <a:extLst>
                        <a:ext uri="{9D8B030D-6E8A-4147-A177-3AD203B41FA5}">
                          <a16:colId xmlns:a16="http://schemas.microsoft.com/office/drawing/2014/main" val="20004"/>
                        </a:ext>
                      </a:extLst>
                    </a:gridCol>
                  </a:tblGrid>
                  <a:tr h="269875">
                    <a:tc rowSpan="2">
                      <a:txBody>
                        <a:bodyPr/>
                        <a:lstStyle/>
                        <a:p>
                          <a:pPr marL="0" marR="0" algn="ctr">
                            <a:spcBef>
                              <a:spcPts val="0"/>
                            </a:spcBef>
                            <a:spcAft>
                              <a:spcPts val="0"/>
                            </a:spcAft>
                          </a:pPr>
                          <a:r>
                            <a:rPr lang="en-US" sz="1800" b="1">
                              <a:effectLst/>
                              <a:latin typeface="Verdana" charset="0"/>
                              <a:ea typeface="Times New Roman" charset="0"/>
                              <a:cs typeface="Times New Roman" charset="0"/>
                            </a:rPr>
                            <a:t>Criteria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742950">
                    <a:tc vMerge="1">
                      <a:txBody>
                        <a:bodyPr/>
                        <a:lstStyle/>
                        <a:p>
                          <a:endParaRPr lang="en-US"/>
                        </a:p>
                      </a:txBody>
                      <a:tcPr/>
                    </a:tc>
                    <a:tc>
                      <a:txBody>
                        <a:bodyPr/>
                        <a:lstStyle/>
                        <a:p>
                          <a:pPr marL="0" marR="0" algn="ctr">
                            <a:spcBef>
                              <a:spcPts val="0"/>
                            </a:spcBef>
                            <a:spcAft>
                              <a:spcPts val="0"/>
                            </a:spcAft>
                          </a:pP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𝟏</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𝟐</m:t>
                              </m:r>
                            </m:oMath>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𝟑</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𝟓</m:t>
                              </m:r>
                            </m:oMath>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Times New Roman" charset="0"/>
                              <a:cs typeface="Times New Roman" charset="0"/>
                            </a:rPr>
                            <a:t>side </a:t>
                          </a:r>
                          <a14:m>
                            <m:oMath xmlns:m="http://schemas.openxmlformats.org/officeDocument/2006/math">
                              <m:r>
                                <a:rPr lang="en-US" sz="1600" b="1" i="1">
                                  <a:effectLst/>
                                  <a:latin typeface="Cambria Math" charset="0"/>
                                  <a:ea typeface="Times New Roman" charset="0"/>
                                  <a:cs typeface="Times New Roman" charset="0"/>
                                </a:rPr>
                                <m:t>𝒃</m:t>
                              </m:r>
                            </m:oMath>
                          </a14:m>
                          <a:r>
                            <a:rPr lang="en-US" sz="1600" b="1">
                              <a:effectLst/>
                              <a:latin typeface="Verdana" charset="0"/>
                              <a:ea typeface="Times New Roman" charset="0"/>
                              <a:cs typeface="Times New Roman" charset="0"/>
                            </a:rPr>
                            <a:t>,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𝟑</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𝟒</m:t>
                              </m:r>
                            </m:oMath>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effectLst/>
                              <a:latin typeface="Verdana" charset="0"/>
                              <a:ea typeface="Times New Roman" charset="0"/>
                              <a:cs typeface="Times New Roman" charset="0"/>
                            </a:rPr>
                            <a:t>side </a:t>
                          </a:r>
                          <a14:m>
                            <m:oMath xmlns:m="http://schemas.openxmlformats.org/officeDocument/2006/math">
                              <m:r>
                                <a:rPr lang="en-US" sz="1600" b="1" i="1">
                                  <a:effectLst/>
                                  <a:latin typeface="Cambria Math" charset="0"/>
                                  <a:ea typeface="Times New Roman" charset="0"/>
                                  <a:cs typeface="Times New Roman" charset="0"/>
                                </a:rPr>
                                <m:t>𝒄</m:t>
                              </m:r>
                            </m:oMath>
                          </a14:m>
                          <a:r>
                            <a:rPr lang="en-US" sz="1600" b="1">
                              <a:effectLst/>
                              <a:latin typeface="Verdana" charset="0"/>
                              <a:ea typeface="Times New Roman" charset="0"/>
                              <a:cs typeface="Times New Roman" charset="0"/>
                            </a:rPr>
                            <a:t>,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𝟏</m:t>
                              </m:r>
                            </m:oMath>
                          </a14:m>
                          <a:r>
                            <a:rPr lang="en-US" sz="1600" b="1">
                              <a:effectLst/>
                              <a:latin typeface="Verdana" charset="0"/>
                              <a:ea typeface="Times New Roman" charset="0"/>
                              <a:cs typeface="Times New Roman" charset="0"/>
                            </a:rPr>
                            <a:t>, and </a:t>
                          </a:r>
                          <a14:m>
                            <m:oMath xmlns:m="http://schemas.openxmlformats.org/officeDocument/2006/math">
                              <m:r>
                                <a:rPr lang="en-US" sz="1600" b="1" i="1">
                                  <a:effectLst/>
                                  <a:latin typeface="Cambria Math" charset="0"/>
                                  <a:ea typeface="Times New Roman" charset="0"/>
                                  <a:cs typeface="Times New Roman" charset="0"/>
                                </a:rPr>
                                <m:t>∠</m:t>
                              </m:r>
                              <m:r>
                                <a:rPr lang="en-US" sz="1600" b="1" i="1">
                                  <a:effectLst/>
                                  <a:latin typeface="Cambria Math" charset="0"/>
                                  <a:ea typeface="Times New Roman" charset="0"/>
                                  <a:cs typeface="Times New Roman" charset="0"/>
                                </a:rPr>
                                <m:t>𝟐</m:t>
                              </m:r>
                            </m:oMath>
                          </a14:m>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65481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5481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42752749"/>
                  </p:ext>
                </p:extLst>
              </p:nvPr>
            </p:nvGraphicFramePr>
            <p:xfrm>
              <a:off x="2671239" y="2153763"/>
              <a:ext cx="7000189" cy="4326890"/>
            </p:xfrm>
            <a:graphic>
              <a:graphicData uri="http://schemas.openxmlformats.org/drawingml/2006/table">
                <a:tbl>
                  <a:tblPr firstRow="1" firstCol="1" bandRow="1"/>
                  <a:tblGrid>
                    <a:gridCol w="2222449">
                      <a:extLst>
                        <a:ext uri="{9D8B030D-6E8A-4147-A177-3AD203B41FA5}">
                          <a16:colId xmlns:a16="http://schemas.microsoft.com/office/drawing/2014/main" val="20000"/>
                        </a:ext>
                      </a:extLst>
                    </a:gridCol>
                    <a:gridCol w="1194435">
                      <a:extLst>
                        <a:ext uri="{9D8B030D-6E8A-4147-A177-3AD203B41FA5}">
                          <a16:colId xmlns:a16="http://schemas.microsoft.com/office/drawing/2014/main" val="20001"/>
                        </a:ext>
                      </a:extLst>
                    </a:gridCol>
                    <a:gridCol w="11944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gridCol w="1194435">
                      <a:extLst>
                        <a:ext uri="{9D8B030D-6E8A-4147-A177-3AD203B41FA5}">
                          <a16:colId xmlns:a16="http://schemas.microsoft.com/office/drawing/2014/main" val="20004"/>
                        </a:ext>
                      </a:extLst>
                    </a:gridCol>
                  </a:tblGrid>
                  <a:tr h="274320">
                    <a:tc rowSpan="2">
                      <a:txBody>
                        <a:bodyPr/>
                        <a:lstStyle/>
                        <a:p>
                          <a:pPr marL="0" marR="0" algn="ctr">
                            <a:spcBef>
                              <a:spcPts val="0"/>
                            </a:spcBef>
                            <a:spcAft>
                              <a:spcPts val="0"/>
                            </a:spcAft>
                          </a:pPr>
                          <a:r>
                            <a:rPr lang="en-US" sz="1800" b="1">
                              <a:effectLst/>
                              <a:latin typeface="Verdana" charset="0"/>
                              <a:ea typeface="Times New Roman" charset="0"/>
                              <a:cs typeface="Times New Roman" charset="0"/>
                            </a:rPr>
                            <a:t>Criteria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spcBef>
                              <a:spcPts val="0"/>
                            </a:spcBef>
                            <a:spcAft>
                              <a:spcPts val="0"/>
                            </a:spcAft>
                          </a:pPr>
                          <a:r>
                            <a:rPr lang="en-US" sz="1800" b="1">
                              <a:effectLst/>
                              <a:latin typeface="Verdana" charset="0"/>
                              <a:ea typeface="Times New Roman" charset="0"/>
                              <a:cs typeface="Times New Roman" charset="0"/>
                            </a:rPr>
                            <a:t>AAS</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742950">
                    <a:tc vMerge="1">
                      <a:txBody>
                        <a:bodyPr/>
                        <a:lstStyle/>
                        <a:p>
                          <a:endParaRPr lang="en-US"/>
                        </a:p>
                      </a:txBody>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87234" t="-48276" r="-302128" b="-46724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84211" t="-48276" r="-198947" b="-4672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88298" t="-48276" r="-101064" b="-46724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88298" t="-48276" r="-1064" b="-467241"/>
                          </a:stretch>
                        </a:blipFill>
                      </a:tcPr>
                    </a:tc>
                    <a:extLst>
                      <a:ext uri="{0D108BD9-81ED-4DB2-BD59-A6C34878D82A}">
                        <a16:rowId xmlns:a16="http://schemas.microsoft.com/office/drawing/2014/main" val="10001"/>
                      </a:ext>
                    </a:extLst>
                  </a:tr>
                  <a:tr h="165481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654810">
                    <a:tc>
                      <a:txBody>
                        <a:bodyPr/>
                        <a:lstStyle/>
                        <a:p>
                          <a:pPr marL="0" marR="0">
                            <a:lnSpc>
                              <a:spcPct val="150000"/>
                            </a:lnSpc>
                            <a:spcBef>
                              <a:spcPts val="0"/>
                            </a:spcBef>
                            <a:spcAft>
                              <a:spcPts val="0"/>
                            </a:spcAft>
                          </a:pPr>
                          <a:r>
                            <a:rPr lang="en-US" sz="1800">
                              <a:effectLst/>
                              <a:latin typeface="Verdana" charset="0"/>
                              <a:ea typeface="Times New Roman" charset="0"/>
                              <a:cs typeface="Times New Roman" charset="0"/>
                            </a:rPr>
                            <a:t>My triangle is congruent to ____________’s triangle.</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47372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156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7560" y="643106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44137" y="520394"/>
            <a:ext cx="11390812" cy="707886"/>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Discuss with your group: If given either set of criteria, does that mean all of the parts of the triangles are congruent? Then, write your explanation in the table.</a:t>
            </a:r>
          </a:p>
        </p:txBody>
      </p:sp>
      <p:graphicFrame>
        <p:nvGraphicFramePr>
          <p:cNvPr id="2" name="Table 1"/>
          <p:cNvGraphicFramePr>
            <a:graphicFrameLocks noGrp="1"/>
          </p:cNvGraphicFramePr>
          <p:nvPr>
            <p:extLst>
              <p:ext uri="{D42A27DB-BD31-4B8C-83A1-F6EECF244321}">
                <p14:modId xmlns:p14="http://schemas.microsoft.com/office/powerpoint/2010/main" val="1488228694"/>
              </p:ext>
            </p:extLst>
          </p:nvPr>
        </p:nvGraphicFramePr>
        <p:xfrm>
          <a:off x="2503714" y="1706736"/>
          <a:ext cx="7119257" cy="4514069"/>
        </p:xfrm>
        <a:graphic>
          <a:graphicData uri="http://schemas.openxmlformats.org/drawingml/2006/table">
            <a:tbl>
              <a:tblPr firstRow="1" firstCol="1" bandRow="1"/>
              <a:tblGrid>
                <a:gridCol w="3086101">
                  <a:extLst>
                    <a:ext uri="{9D8B030D-6E8A-4147-A177-3AD203B41FA5}">
                      <a16:colId xmlns:a16="http://schemas.microsoft.com/office/drawing/2014/main" val="20000"/>
                    </a:ext>
                  </a:extLst>
                </a:gridCol>
                <a:gridCol w="4033156">
                  <a:extLst>
                    <a:ext uri="{9D8B030D-6E8A-4147-A177-3AD203B41FA5}">
                      <a16:colId xmlns:a16="http://schemas.microsoft.com/office/drawing/2014/main" val="20001"/>
                    </a:ext>
                  </a:extLst>
                </a:gridCol>
              </a:tblGrid>
              <a:tr h="199999">
                <a:tc>
                  <a:txBody>
                    <a:bodyPr/>
                    <a:lstStyle/>
                    <a:p>
                      <a:pPr marL="0" marR="0" algn="ctr">
                        <a:spcBef>
                          <a:spcPts val="0"/>
                        </a:spcBef>
                        <a:spcAft>
                          <a:spcPts val="0"/>
                        </a:spcAft>
                      </a:pPr>
                      <a:r>
                        <a:rPr lang="en-US" sz="2000" b="1">
                          <a:effectLst/>
                          <a:latin typeface="Verdana" charset="0"/>
                          <a:ea typeface="Verdana" charset="0"/>
                          <a:cs typeface="Verdana" charset="0"/>
                        </a:rPr>
                        <a:t>Criteria</a:t>
                      </a:r>
                      <a:endParaRPr lang="en-US" sz="2000">
                        <a:effectLst/>
                        <a:latin typeface="Verdana" charset="0"/>
                        <a:ea typeface="Verdana" charset="0"/>
                        <a:cs typeface="Verdana" charset="0"/>
                      </a:endParaRPr>
                    </a:p>
                  </a:txBody>
                  <a:tcPr marL="32432" marR="324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Explanation </a:t>
                      </a:r>
                      <a:endParaRPr lang="en-US" sz="2000">
                        <a:effectLst/>
                        <a:latin typeface="Verdana" charset="0"/>
                        <a:ea typeface="Verdana" charset="0"/>
                        <a:cs typeface="Verdana" charset="0"/>
                      </a:endParaRPr>
                    </a:p>
                  </a:txBody>
                  <a:tcPr marL="32432" marR="324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075669">
                <a:tc>
                  <a:txBody>
                    <a:bodyPr/>
                    <a:lstStyle/>
                    <a:p>
                      <a:pPr marL="0" marR="0">
                        <a:spcBef>
                          <a:spcPts val="0"/>
                        </a:spcBef>
                        <a:spcAft>
                          <a:spcPts val="0"/>
                        </a:spcAft>
                      </a:pPr>
                      <a:r>
                        <a:rPr lang="en-US" sz="2000" b="1" dirty="0">
                          <a:effectLst/>
                          <a:latin typeface="Verdana" charset="0"/>
                          <a:ea typeface="Verdana" charset="0"/>
                          <a:cs typeface="Verdana" charset="0"/>
                        </a:rPr>
                        <a:t>Given two angles (AA)</a:t>
                      </a:r>
                      <a:endParaRPr lang="en-US" sz="2000" dirty="0">
                        <a:effectLst/>
                        <a:latin typeface="Verdana" charset="0"/>
                        <a:ea typeface="Verdana" charset="0"/>
                        <a:cs typeface="Verdana" charset="0"/>
                      </a:endParaRPr>
                    </a:p>
                  </a:txBody>
                  <a:tcPr marL="32432" marR="324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32432" marR="324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75669">
                <a:tc>
                  <a:txBody>
                    <a:bodyPr/>
                    <a:lstStyle/>
                    <a:p>
                      <a:pPr marL="0" marR="0">
                        <a:spcBef>
                          <a:spcPts val="0"/>
                        </a:spcBef>
                        <a:spcAft>
                          <a:spcPts val="0"/>
                        </a:spcAft>
                      </a:pPr>
                      <a:r>
                        <a:rPr lang="en-US" sz="2000" b="1" dirty="0">
                          <a:effectLst/>
                          <a:latin typeface="Verdana" charset="0"/>
                          <a:ea typeface="Verdana" charset="0"/>
                          <a:cs typeface="Verdana" charset="0"/>
                        </a:rPr>
                        <a:t>Given two angles and non-included side (AAS)</a:t>
                      </a:r>
                      <a:endParaRPr lang="en-US" sz="2000" dirty="0">
                        <a:effectLst/>
                        <a:latin typeface="Verdana" charset="0"/>
                        <a:ea typeface="Verdana" charset="0"/>
                        <a:cs typeface="Verdana" charset="0"/>
                      </a:endParaRPr>
                    </a:p>
                  </a:txBody>
                  <a:tcPr marL="32432" marR="324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32432" marR="324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5352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237</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14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4277" y="-5365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5.3.3 Collaboration: Making Connections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237</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74469" y="19151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374469" y="1386025"/>
                <a:ext cx="10013115" cy="400815"/>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QWF</m:t>
                    </m:r>
                  </m:oMath>
                </a14:m>
                <a:r>
                  <a:rPr lang="en-US" sz="2000" dirty="0">
                    <a:latin typeface="Verdana" charset="0"/>
                    <a:ea typeface="Verdana" charset="0"/>
                    <a:cs typeface="Verdana" charset="0"/>
                  </a:rPr>
                  <a:t> and </a:t>
                </a: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NTX</m:t>
                    </m:r>
                  </m:oMath>
                </a14:m>
                <a:r>
                  <a:rPr lang="en-US" sz="2000" dirty="0">
                    <a:latin typeface="Verdana" charset="0"/>
                    <a:ea typeface="Verdana" charset="0"/>
                    <a:cs typeface="Verdana" charset="0"/>
                  </a:rPr>
                  <a:t> are shown.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FQ</m:t>
                        </m:r>
                      </m:e>
                    </m:acc>
                    <m:r>
                      <a:rPr lang="en-US" sz="2000">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m:rPr>
                            <m:sty m:val="p"/>
                          </m:rPr>
                          <a:rPr lang="en-US" sz="2000">
                            <a:latin typeface="Cambria Math" charset="0"/>
                            <a:ea typeface="Verdana" charset="0"/>
                            <a:cs typeface="Verdana" charset="0"/>
                          </a:rPr>
                          <m:t>XN</m:t>
                        </m:r>
                      </m:e>
                    </m:acc>
                  </m:oMath>
                </a14:m>
                <a:r>
                  <a:rPr lang="en-US" sz="2000" dirty="0">
                    <a:latin typeface="Verdana" charset="0"/>
                    <a:ea typeface="Verdana" charset="0"/>
                    <a:cs typeface="Verdana" charset="0"/>
                  </a:rPr>
                  <a:t>, </a:t>
                </a: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FQW</m:t>
                    </m:r>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XNT</m:t>
                    </m:r>
                  </m:oMath>
                </a14:m>
                <a:r>
                  <a:rPr lang="en-US" sz="2000" dirty="0">
                    <a:latin typeface="Verdana" charset="0"/>
                    <a:ea typeface="Verdana" charset="0"/>
                    <a:cs typeface="Verdana" charset="0"/>
                  </a:rPr>
                  <a:t>, and </a:t>
                </a:r>
                <a14:m>
                  <m:oMath xmlns:m="http://schemas.openxmlformats.org/officeDocument/2006/math">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QWF</m:t>
                    </m:r>
                    <m:r>
                      <a:rPr lang="en-US" sz="2000">
                        <a:latin typeface="Cambria Math" charset="0"/>
                        <a:ea typeface="Verdana" charset="0"/>
                        <a:cs typeface="Verdana" charset="0"/>
                      </a:rPr>
                      <m:t>≅∠</m:t>
                    </m:r>
                    <m:r>
                      <m:rPr>
                        <m:sty m:val="p"/>
                      </m:rPr>
                      <a:rPr lang="en-US" sz="2000">
                        <a:latin typeface="Cambria Math" charset="0"/>
                        <a:ea typeface="Verdana" charset="0"/>
                        <a:cs typeface="Verdana" charset="0"/>
                      </a:rPr>
                      <m:t>NTX</m:t>
                    </m:r>
                  </m:oMath>
                </a14:m>
                <a:r>
                  <a:rPr lang="en-US" sz="2000" dirty="0">
                    <a:latin typeface="Verdana" charset="0"/>
                    <a:ea typeface="Verdana" charset="0"/>
                    <a:cs typeface="Verdana" charset="0"/>
                  </a:rPr>
                  <a:t>.</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374469" y="1386025"/>
                <a:ext cx="10013115" cy="400815"/>
              </a:xfrm>
              <a:prstGeom prst="rect">
                <a:avLst/>
              </a:prstGeom>
              <a:blipFill>
                <a:blip r:embed="rId5"/>
                <a:stretch>
                  <a:fillRect l="-380" t="-6061" b="-24242"/>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641600" y="2334759"/>
            <a:ext cx="6908800" cy="3251200"/>
          </a:xfrm>
          <a:prstGeom prst="rect">
            <a:avLst/>
          </a:prstGeom>
        </p:spPr>
      </p:pic>
    </p:spTree>
    <p:extLst>
      <p:ext uri="{BB962C8B-B14F-4D97-AF65-F5344CB8AC3E}">
        <p14:creationId xmlns:p14="http://schemas.microsoft.com/office/powerpoint/2010/main" val="805502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237/238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83177" y="520393"/>
            <a:ext cx="9951724" cy="400110"/>
          </a:xfrm>
          <a:prstGeom prst="rect">
            <a:avLst/>
          </a:prstGeom>
          <a:noFill/>
        </p:spPr>
        <p:txBody>
          <a:bodyPr wrap="square" rtlCol="0">
            <a:spAutoFit/>
          </a:bodyPr>
          <a:lstStyle/>
          <a:p>
            <a:r>
              <a:rPr lang="en-US" sz="2000" dirty="0">
                <a:latin typeface="Verdana" charset="0"/>
                <a:ea typeface="Verdana" charset="0"/>
                <a:cs typeface="Verdana" charset="0"/>
              </a:rPr>
              <a:t>Two students discussed the information given.</a:t>
            </a:r>
          </a:p>
        </p:txBody>
      </p:sp>
      <p:graphicFrame>
        <p:nvGraphicFramePr>
          <p:cNvPr id="2" name="Table 1"/>
          <p:cNvGraphicFramePr>
            <a:graphicFrameLocks noGrp="1"/>
          </p:cNvGraphicFramePr>
          <p:nvPr>
            <p:extLst>
              <p:ext uri="{D42A27DB-BD31-4B8C-83A1-F6EECF244321}">
                <p14:modId xmlns:p14="http://schemas.microsoft.com/office/powerpoint/2010/main" val="78123881"/>
              </p:ext>
            </p:extLst>
          </p:nvPr>
        </p:nvGraphicFramePr>
        <p:xfrm>
          <a:off x="2942358" y="1245031"/>
          <a:ext cx="6457950" cy="1920240"/>
        </p:xfrm>
        <a:graphic>
          <a:graphicData uri="http://schemas.openxmlformats.org/drawingml/2006/table">
            <a:tbl>
              <a:tblPr firstRow="1" firstCol="1" bandRow="1"/>
              <a:tblGrid>
                <a:gridCol w="3228975">
                  <a:extLst>
                    <a:ext uri="{9D8B030D-6E8A-4147-A177-3AD203B41FA5}">
                      <a16:colId xmlns:a16="http://schemas.microsoft.com/office/drawing/2014/main" val="20000"/>
                    </a:ext>
                  </a:extLst>
                </a:gridCol>
                <a:gridCol w="3228975">
                  <a:extLst>
                    <a:ext uri="{9D8B030D-6E8A-4147-A177-3AD203B41FA5}">
                      <a16:colId xmlns:a16="http://schemas.microsoft.com/office/drawing/2014/main" val="20001"/>
                    </a:ext>
                  </a:extLst>
                </a:gridCol>
              </a:tblGrid>
              <a:tr h="0">
                <a:tc>
                  <a:txBody>
                    <a:bodyPr/>
                    <a:lstStyle/>
                    <a:p>
                      <a:pPr marL="0" marR="0">
                        <a:spcBef>
                          <a:spcPts val="0"/>
                        </a:spcBef>
                        <a:spcAft>
                          <a:spcPts val="0"/>
                        </a:spcAft>
                      </a:pPr>
                      <a:r>
                        <a:rPr lang="en-US" sz="1800">
                          <a:effectLst/>
                          <a:latin typeface="Verdana" charset="0"/>
                          <a:ea typeface="Times New Roman" charset="0"/>
                          <a:cs typeface="Times New Roman" charset="0"/>
                        </a:rPr>
                        <a:t>Mabel thinks there is not enough information to determine congruence, because the side given is not between the two angles given.</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Xavier thinks the triangles are congruent because he knows that the third angles in the triangles have to be congruent, and then there would be a side between two angles.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 name="Rectangle 2"/>
          <p:cNvSpPr/>
          <p:nvPr/>
        </p:nvSpPr>
        <p:spPr>
          <a:xfrm>
            <a:off x="461554" y="3424825"/>
            <a:ext cx="11564983" cy="2246769"/>
          </a:xfrm>
          <a:prstGeom prst="rect">
            <a:avLst/>
          </a:prstGeom>
        </p:spPr>
        <p:txBody>
          <a:bodyPr wrap="square">
            <a:spAutoFit/>
          </a:bodyPr>
          <a:lstStyle/>
          <a:p>
            <a:pPr marL="457200"/>
            <a:r>
              <a:rPr lang="en-US" sz="2000" dirty="0">
                <a:latin typeface="Verdana" charset="0"/>
                <a:ea typeface="Verdana" charset="0"/>
                <a:cs typeface="Verdana" charset="0"/>
              </a:rPr>
              <a:t>With your partner, discuss both students’ reasoning. Then, answer the following.</a:t>
            </a:r>
          </a:p>
          <a:p>
            <a:pPr marL="457200"/>
            <a:r>
              <a:rPr lang="en-US" sz="2000" dirty="0">
                <a:latin typeface="Verdana" charset="0"/>
                <a:ea typeface="Verdana" charset="0"/>
                <a:cs typeface="Verdana" charset="0"/>
              </a:rPr>
              <a:t> </a:t>
            </a:r>
          </a:p>
          <a:p>
            <a:pPr marL="342900" indent="-342900">
              <a:buFont typeface="+mj-lt"/>
              <a:buAutoNum type="alphaLcPeriod"/>
            </a:pPr>
            <a:r>
              <a:rPr lang="en-US" sz="2000" dirty="0">
                <a:latin typeface="Verdana" charset="0"/>
                <a:ea typeface="Verdana" charset="0"/>
                <a:cs typeface="Verdana" charset="0"/>
              </a:rPr>
              <a:t>Explain whether you agree with Mabel or Xavier. </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What additional information could be added to the argument you agree with to make it more convincing?</a:t>
            </a:r>
          </a:p>
          <a:p>
            <a:pPr marL="342900" indent="-342900">
              <a:buFont typeface="+mj-lt"/>
              <a:buAutoNum type="alphaLcPeriod"/>
            </a:pPr>
            <a:endParaRPr lang="en-US" sz="2000" dirty="0">
              <a:latin typeface="Verdana" charset="0"/>
              <a:ea typeface="Verdana" charset="0"/>
              <a:cs typeface="Verdana" charset="0"/>
            </a:endParaRPr>
          </a:p>
        </p:txBody>
      </p:sp>
    </p:spTree>
    <p:extLst>
      <p:ext uri="{BB962C8B-B14F-4D97-AF65-F5344CB8AC3E}">
        <p14:creationId xmlns:p14="http://schemas.microsoft.com/office/powerpoint/2010/main" val="873792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9017901" y="645359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91886" y="520394"/>
                <a:ext cx="11669485" cy="2863028"/>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𝐼𝐻𝐺</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𝐿𝐾𝐽</m:t>
                    </m:r>
                  </m:oMath>
                </a14:m>
                <a:r>
                  <a:rPr lang="en-US" sz="2000" dirty="0">
                    <a:latin typeface="Verdana" charset="0"/>
                    <a:ea typeface="Verdana" charset="0"/>
                    <a:cs typeface="Verdana" charset="0"/>
                  </a:rPr>
                  <a:t> are shown.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𝐼𝐻</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𝐿𝐾</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𝐻𝐺</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𝐾𝐽</m:t>
                        </m:r>
                      </m:e>
                    </m:acc>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𝐼𝐺𝐻</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𝐿𝐽𝐾</m:t>
                    </m:r>
                  </m:oMath>
                </a14:m>
                <a:r>
                  <a:rPr lang="en-US" sz="2000" dirty="0">
                    <a:latin typeface="Verdana" charset="0"/>
                    <a:ea typeface="Verdana" charset="0"/>
                    <a:cs typeface="Verdana" charset="0"/>
                  </a:rPr>
                  <a:t> are right angles.</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Eli and Kaylah had the following discussion.</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Eli said, “In a situation where you have two sides without the angle in between them, you can’t tell if the triangles are congruent.”</a:t>
                </a:r>
              </a:p>
              <a:p>
                <a:r>
                  <a:rPr lang="en-US" sz="2000" dirty="0">
                    <a:latin typeface="Verdana" charset="0"/>
                    <a:ea typeface="Verdana" charset="0"/>
                    <a:cs typeface="Verdana" charset="0"/>
                  </a:rPr>
                  <a:t>Kaylah said, “Normally I would agree with you, except these are right triangles.”</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91886" y="520394"/>
                <a:ext cx="11669485" cy="2863028"/>
              </a:xfrm>
              <a:prstGeom prst="rect">
                <a:avLst/>
              </a:prstGeom>
              <a:blipFill>
                <a:blip r:embed="rId4"/>
                <a:stretch>
                  <a:fillRect l="-543" t="-881"/>
                </a:stretch>
              </a:blipFill>
            </p:spPr>
            <p:txBody>
              <a:bodyPr/>
              <a:lstStyle/>
              <a:p>
                <a:r>
                  <a:rPr lang="en-US">
                    <a:noFill/>
                  </a:rPr>
                  <a:t> </a:t>
                </a:r>
              </a:p>
            </p:txBody>
          </p:sp>
        </mc:Fallback>
      </mc:AlternateContent>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862503" y="3364319"/>
            <a:ext cx="4031791" cy="3093357"/>
          </a:xfrm>
          <a:prstGeom prst="rect">
            <a:avLst/>
          </a:prstGeom>
        </p:spPr>
      </p:pic>
      <p:sp>
        <p:nvSpPr>
          <p:cNvPr id="5" name="Rectangle 4"/>
          <p:cNvSpPr/>
          <p:nvPr/>
        </p:nvSpPr>
        <p:spPr>
          <a:xfrm>
            <a:off x="696686" y="3768610"/>
            <a:ext cx="5415643" cy="1938992"/>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Discuss with your partner what Kaylah might be thinking.</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When given two sides of a right triangle, how can the length of the third side be determined?</a:t>
            </a:r>
          </a:p>
        </p:txBody>
      </p:sp>
    </p:spTree>
    <p:extLst>
      <p:ext uri="{BB962C8B-B14F-4D97-AF65-F5344CB8AC3E}">
        <p14:creationId xmlns:p14="http://schemas.microsoft.com/office/powerpoint/2010/main" val="1969744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00594" y="520393"/>
            <a:ext cx="11469189" cy="3170099"/>
          </a:xfrm>
          <a:prstGeom prst="rect">
            <a:avLst/>
          </a:prstGeom>
          <a:noFill/>
        </p:spPr>
        <p:txBody>
          <a:bodyPr wrap="square" rtlCol="0">
            <a:spAutoFit/>
          </a:bodyPr>
          <a:lstStyle/>
          <a:p>
            <a:r>
              <a:rPr lang="en-US" sz="2000" dirty="0">
                <a:latin typeface="Verdana" charset="0"/>
                <a:ea typeface="Verdana" charset="0"/>
                <a:cs typeface="Verdana" charset="0"/>
              </a:rPr>
              <a:t>Kaylah continued, “For a right triangle, as long as I have two of the sides, I can find the length of the third side. Then I can use SSS since all three corresponding sides would be congruent.”</a:t>
            </a:r>
          </a:p>
          <a:p>
            <a:r>
              <a:rPr lang="en-US" sz="2000" dirty="0">
                <a:latin typeface="Verdana" charset="0"/>
                <a:ea typeface="Verdana" charset="0"/>
                <a:cs typeface="Verdana" charset="0"/>
              </a:rPr>
              <a:t> </a:t>
            </a:r>
          </a:p>
          <a:p>
            <a:pPr marL="457200" indent="-457200">
              <a:buFont typeface="+mj-lt"/>
              <a:buAutoNum type="alphaLcPeriod" startAt="3"/>
            </a:pPr>
            <a:r>
              <a:rPr lang="en-US" sz="2000" dirty="0">
                <a:latin typeface="Verdana" charset="0"/>
                <a:ea typeface="Verdana" charset="0"/>
                <a:cs typeface="Verdana" charset="0"/>
              </a:rPr>
              <a:t>Work with your partner to explain why Kaylah’s argument could work to show congruence for any pair of right triangles where the hypotenuse and one leg are identified as congruent.</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Explain whether Kaylah’s argument would be needed to show congruence between right triangles where both legs of the triangles are identified as congruent.</a:t>
            </a:r>
          </a:p>
        </p:txBody>
      </p:sp>
    </p:spTree>
    <p:extLst>
      <p:ext uri="{BB962C8B-B14F-4D97-AF65-F5344CB8AC3E}">
        <p14:creationId xmlns:p14="http://schemas.microsoft.com/office/powerpoint/2010/main" val="1090697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7193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239</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5372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27945" y="4249891"/>
            <a:ext cx="4306956" cy="2062369"/>
          </a:xfrm>
          <a:prstGeom prst="rect">
            <a:avLst/>
          </a:prstGeom>
        </p:spPr>
      </p:pic>
      <p:sp>
        <p:nvSpPr>
          <p:cNvPr id="278" name="Google Shape;278;g104476d1465_1_17"/>
          <p:cNvSpPr/>
          <p:nvPr/>
        </p:nvSpPr>
        <p:spPr>
          <a:xfrm>
            <a:off x="0" y="-12827"/>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3410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7588" y="-128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5.3.4 Bring It Together: Triangle Congruence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239</a:t>
            </a:r>
          </a:p>
        </p:txBody>
      </p:sp>
      <p:sp>
        <p:nvSpPr>
          <p:cNvPr id="10" name="Text Box 24"/>
          <p:cNvSpPr txBox="1"/>
          <p:nvPr/>
        </p:nvSpPr>
        <p:spPr>
          <a:xfrm>
            <a:off x="2856633" y="1582513"/>
            <a:ext cx="6629400" cy="2397739"/>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2074BF"/>
                </a:solidFill>
                <a:latin typeface="Verdana" panose="020B0604030504040204" pitchFamily="34" charset="0"/>
                <a:ea typeface="Times New Roman"/>
                <a:cs typeface="Times New Roman"/>
              </a:rPr>
              <a:t>Angle-Angle-Side (AAS) Congruence Theorem</a:t>
            </a:r>
            <a:endParaRPr lang="en-US" sz="2000" dirty="0">
              <a:solidFill>
                <a:srgbClr val="2074BF"/>
              </a:solidFill>
              <a:ea typeface="Times New Roman"/>
              <a:cs typeface="Times New Roman"/>
            </a:endParaRPr>
          </a:p>
          <a:p>
            <a:r>
              <a:rPr lang="en-US" sz="2000" dirty="0">
                <a:solidFill>
                  <a:srgbClr val="3465B0"/>
                </a:solidFill>
              </a:rPr>
              <a:t>	If two angles and a side opposite one of them 	are congruent to two angles and the 	corresponding side of the other, respectively, 	then the triangles are congruent. </a:t>
            </a:r>
          </a:p>
        </p:txBody>
      </p:sp>
      <p:pic>
        <p:nvPicPr>
          <p:cNvPr id="11" name="Picture 10"/>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045356" y="1862229"/>
            <a:ext cx="542544" cy="530352"/>
          </a:xfrm>
          <a:prstGeom prst="rect">
            <a:avLst/>
          </a:prstGeom>
          <a:effectLst>
            <a:outerShdw blurRad="50800" dist="76200" dir="2700000" algn="tl" rotWithShape="0">
              <a:prstClr val="black">
                <a:alpha val="40000"/>
              </a:prstClr>
            </a:outerShdw>
          </a:effectLst>
        </p:spPr>
      </p:pic>
      <p:sp>
        <p:nvSpPr>
          <p:cNvPr id="2" name="Rectangle 1"/>
          <p:cNvSpPr/>
          <p:nvPr/>
        </p:nvSpPr>
        <p:spPr>
          <a:xfrm>
            <a:off x="383007" y="4436890"/>
            <a:ext cx="5794637" cy="1323439"/>
          </a:xfrm>
          <a:prstGeom prst="rect">
            <a:avLst/>
          </a:prstGeom>
        </p:spPr>
        <p:txBody>
          <a:bodyPr wrap="square">
            <a:spAutoFit/>
          </a:bodyPr>
          <a:lstStyle/>
          <a:p>
            <a:pPr marL="342900" indent="-342900">
              <a:buFont typeface="+mj-lt"/>
              <a:buAutoNum type="arabicPeriod"/>
            </a:pPr>
            <a:r>
              <a:rPr lang="en-US" sz="2000" dirty="0">
                <a:latin typeface="Verdana" charset="0"/>
                <a:ea typeface="Times New Roman" charset="0"/>
                <a:cs typeface="Times New Roman" charset="0"/>
              </a:rPr>
              <a:t>Work with your partner to explain how Angle-Angle-Side Congruence Theorem is true. Use the triangles shown to provide an example if desired.</a:t>
            </a:r>
            <a:endParaRPr lang="en-US" sz="2000" dirty="0">
              <a:latin typeface="Cambria" charset="0"/>
              <a:ea typeface="Times New Roman" charset="0"/>
              <a:cs typeface="Times New Roman" charset="0"/>
            </a:endParaRPr>
          </a:p>
        </p:txBody>
      </p:sp>
      <p:pic>
        <p:nvPicPr>
          <p:cNvPr id="13" name="Picture 2" descr="Icon&#10;&#10;Description automatically generated">
            <a:extLst>
              <a:ext uri="{FF2B5EF4-FFF2-40B4-BE49-F238E27FC236}">
                <a16:creationId xmlns:a16="http://schemas.microsoft.com/office/drawing/2014/main" id="{1FF21670-9800-B249-A7CE-4BF7AF5B4DE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83007" y="18579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844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793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8239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52846" y="520393"/>
            <a:ext cx="9882055" cy="4093428"/>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Complete the statements.</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If two angles of one triangle are congruent to two angles of another triangle, then the third pair of angles </a:t>
            </a:r>
          </a:p>
          <a:p>
            <a:r>
              <a:rPr lang="en-US" sz="2000" dirty="0">
                <a:latin typeface="Verdana" charset="0"/>
                <a:ea typeface="Verdana" charset="0"/>
                <a:cs typeface="Verdana" charset="0"/>
              </a:rPr>
              <a:t>Are                       If a congruent side opposite one of the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given angles is congruent to the corresponding side of the other triangle, then              also applies. Thus, AAS is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enough to show congruence.  </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73233" y="1793750"/>
            <a:ext cx="1834243" cy="773357"/>
          </a:xfrm>
          <a:prstGeom prst="rect">
            <a:avLst/>
          </a:prstGeom>
        </p:spPr>
      </p:pic>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34209" y="3065861"/>
            <a:ext cx="1039116" cy="1049205"/>
          </a:xfrm>
          <a:prstGeom prst="rect">
            <a:avLst/>
          </a:prstGeom>
        </p:spPr>
      </p:pic>
    </p:spTree>
    <p:extLst>
      <p:ext uri="{BB962C8B-B14F-4D97-AF65-F5344CB8AC3E}">
        <p14:creationId xmlns:p14="http://schemas.microsoft.com/office/powerpoint/2010/main" val="488684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4150" y="6516443"/>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239</a:t>
            </a:r>
          </a:p>
        </p:txBody>
      </p:sp>
      <p:sp>
        <p:nvSpPr>
          <p:cNvPr id="10" name="Text Box 24"/>
          <p:cNvSpPr txBox="1"/>
          <p:nvPr/>
        </p:nvSpPr>
        <p:spPr>
          <a:xfrm>
            <a:off x="2856633" y="488498"/>
            <a:ext cx="6629400" cy="2397739"/>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3465B0"/>
                </a:solidFill>
                <a:latin typeface="Verdana" panose="020B0604030504040204" pitchFamily="34" charset="0"/>
                <a:ea typeface="Times New Roman"/>
                <a:cs typeface="Times New Roman"/>
              </a:rPr>
              <a:t>The Hypotenuse-Leg (HL) Theorem</a:t>
            </a:r>
            <a:endParaRPr lang="en-US" sz="2000" dirty="0">
              <a:solidFill>
                <a:srgbClr val="3465B0"/>
              </a:solidFill>
              <a:ea typeface="Times New Roman"/>
              <a:cs typeface="Times New Roman"/>
            </a:endParaRPr>
          </a:p>
          <a:p>
            <a:r>
              <a:rPr lang="en-US" sz="2000" dirty="0">
                <a:solidFill>
                  <a:srgbClr val="3465B0"/>
                </a:solidFill>
              </a:rPr>
              <a:t>	Two right triangles are congruent if the 	hypotenuse and a leg of one are congruent to 	the hypotenuse and a leg of the other, 	respectively.    </a:t>
            </a:r>
          </a:p>
        </p:txBody>
      </p:sp>
      <p:pic>
        <p:nvPicPr>
          <p:cNvPr id="11" name="Picture 10"/>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96828" y="801705"/>
            <a:ext cx="542544" cy="530352"/>
          </a:xfrm>
          <a:prstGeom prst="rect">
            <a:avLst/>
          </a:prstGeom>
          <a:effectLst>
            <a:outerShdw blurRad="50800" dist="76200" dir="2700000" algn="tl" rotWithShape="0">
              <a:prstClr val="black">
                <a:alpha val="40000"/>
              </a:prstClr>
            </a:outerShdw>
          </a:effectLst>
        </p:spPr>
      </p:pic>
      <p:sp>
        <p:nvSpPr>
          <p:cNvPr id="2" name="Rectangle 1"/>
          <p:cNvSpPr/>
          <p:nvPr/>
        </p:nvSpPr>
        <p:spPr>
          <a:xfrm>
            <a:off x="461554" y="3399218"/>
            <a:ext cx="9591422" cy="1015663"/>
          </a:xfrm>
          <a:prstGeom prst="rect">
            <a:avLst/>
          </a:prstGeom>
        </p:spPr>
        <p:txBody>
          <a:bodyPr wrap="square">
            <a:spAutoFit/>
          </a:bodyPr>
          <a:lstStyle/>
          <a:p>
            <a:pPr marL="457200" indent="-457200">
              <a:buFont typeface="+mj-lt"/>
              <a:buAutoNum type="arabicPeriod" startAt="3"/>
            </a:pPr>
            <a:r>
              <a:rPr lang="en-US" sz="2000" dirty="0">
                <a:latin typeface="Verdana" charset="0"/>
                <a:ea typeface="Verdana" charset="0"/>
                <a:cs typeface="Verdana" charset="0"/>
              </a:rPr>
              <a:t>The previous lesson’s exploration showed that SSA is not sufficient to prove congruence. Explain why HL is sufficient to prove congruence for right triangles, despite being two sides with a non-included angle.</a:t>
            </a:r>
          </a:p>
        </p:txBody>
      </p:sp>
    </p:spTree>
    <p:extLst>
      <p:ext uri="{BB962C8B-B14F-4D97-AF65-F5344CB8AC3E}">
        <p14:creationId xmlns:p14="http://schemas.microsoft.com/office/powerpoint/2010/main" val="2102264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240</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57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27791" y="1098079"/>
            <a:ext cx="3542227" cy="3420604"/>
          </a:xfrm>
          <a:prstGeom prst="rect">
            <a:avLst/>
          </a:prstGeom>
        </p:spPr>
      </p:pic>
      <p:sp>
        <p:nvSpPr>
          <p:cNvPr id="278" name="Google Shape;278;g104476d1465_1_17"/>
          <p:cNvSpPr/>
          <p:nvPr/>
        </p:nvSpPr>
        <p:spPr>
          <a:xfrm>
            <a:off x="1298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517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8315" y="-10513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5.3.5 Try It: Which Criteria?</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8117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240</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8507" y="18280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398508" y="1386026"/>
                <a:ext cx="6229284" cy="163121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𝐻𝐾𝐶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𝐷𝑇𝑅</m:t>
                    </m:r>
                  </m:oMath>
                </a14:m>
                <a:r>
                  <a:rPr lang="en-US" sz="2000" dirty="0">
                    <a:latin typeface="Verdana" charset="0"/>
                    <a:ea typeface="Verdana" charset="0"/>
                    <a:cs typeface="Verdana" charset="0"/>
                  </a:rPr>
                  <a:t> are shown. Determine if the given information is sufficient to determine the triangles are congruent. If so, name the congruence theorem or postulate that shows that.</a:t>
                </a: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398508" y="1386026"/>
                <a:ext cx="6229284" cy="1631216"/>
              </a:xfrm>
              <a:prstGeom prst="rect">
                <a:avLst/>
              </a:prstGeom>
              <a:blipFill>
                <a:blip r:embed="rId6"/>
                <a:stretch>
                  <a:fillRect l="-1018" t="-1538" b="-5385"/>
                </a:stretch>
              </a:blipFill>
            </p:spPr>
            <p:txBody>
              <a:bodyPr/>
              <a:lstStyle/>
              <a:p>
                <a:r>
                  <a:rPr lang="en-US">
                    <a:noFill/>
                  </a:rPr>
                  <a:t> </a:t>
                </a:r>
              </a:p>
            </p:txBody>
          </p:sp>
        </mc:Fallback>
      </mc:AlternateContent>
    </p:spTree>
    <p:extLst>
      <p:ext uri="{BB962C8B-B14F-4D97-AF65-F5344CB8AC3E}">
        <p14:creationId xmlns:p14="http://schemas.microsoft.com/office/powerpoint/2010/main" val="1984088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3448"/>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85266"/>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240</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63616453"/>
                  </p:ext>
                </p:extLst>
              </p:nvPr>
            </p:nvGraphicFramePr>
            <p:xfrm>
              <a:off x="2240158" y="653143"/>
              <a:ext cx="7708593" cy="5262864"/>
            </p:xfrm>
            <a:graphic>
              <a:graphicData uri="http://schemas.openxmlformats.org/drawingml/2006/table">
                <a:tbl>
                  <a:tblPr firstRow="1" firstCol="1" bandRow="1"/>
                  <a:tblGrid>
                    <a:gridCol w="4184997">
                      <a:extLst>
                        <a:ext uri="{9D8B030D-6E8A-4147-A177-3AD203B41FA5}">
                          <a16:colId xmlns:a16="http://schemas.microsoft.com/office/drawing/2014/main" val="20000"/>
                        </a:ext>
                      </a:extLst>
                    </a:gridCol>
                    <a:gridCol w="1966759">
                      <a:extLst>
                        <a:ext uri="{9D8B030D-6E8A-4147-A177-3AD203B41FA5}">
                          <a16:colId xmlns:a16="http://schemas.microsoft.com/office/drawing/2014/main" val="20001"/>
                        </a:ext>
                      </a:extLst>
                    </a:gridCol>
                    <a:gridCol w="1556837">
                      <a:extLst>
                        <a:ext uri="{9D8B030D-6E8A-4147-A177-3AD203B41FA5}">
                          <a16:colId xmlns:a16="http://schemas.microsoft.com/office/drawing/2014/main" val="20002"/>
                        </a:ext>
                      </a:extLst>
                    </a:gridCol>
                  </a:tblGrid>
                  <a:tr h="1502691">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Theorem or Postulate Used</a:t>
                          </a:r>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52207">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𝐻𝐾</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𝐷𝑇</m:t>
                                  </m:r>
                                </m:e>
                              </m:acc>
                            </m:oMath>
                          </a14:m>
                          <a:r>
                            <a:rPr lang="en-US" sz="2000" i="1" dirty="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𝑇𝑅</m:t>
                                  </m:r>
                                </m:e>
                              </m:acc>
                            </m:oMath>
                          </a14:m>
                          <a:r>
                            <a:rPr lang="en-US" sz="2000" i="1" dirty="0">
                              <a:effectLst/>
                              <a:latin typeface="Verdana" charset="0"/>
                              <a:ea typeface="Verdana" charset="0"/>
                              <a:cs typeface="Verdana" charset="0"/>
                            </a:rPr>
                            <a:t> , </a:t>
                          </a:r>
                          <a:endParaRPr lang="en-US" sz="2000" i="0" dirty="0">
                            <a:effectLst/>
                            <a:latin typeface="Verdana" charset="0"/>
                            <a:ea typeface="Verdana" charset="0"/>
                            <a:cs typeface="Verdana" charset="0"/>
                          </a:endParaRPr>
                        </a:p>
                        <a:p>
                          <a:pPr marL="0" marR="0">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𝐾𝐶𝐻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𝑇𝑅𝐷</m:t>
                                </m:r>
                              </m:oMath>
                            </m:oMathPara>
                          </a14:m>
                          <a:endParaRPr lang="en-US" sz="2000" dirty="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51345">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𝐾𝐶𝐻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𝑇𝑅𝐷</m:t>
                              </m:r>
                            </m:oMath>
                          </a14:m>
                          <a:r>
                            <a:rPr lang="en-US" sz="2000" i="1" dirty="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𝐻𝐾𝐶</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𝐷𝑇𝑅</m:t>
                              </m:r>
                            </m:oMath>
                          </a14:m>
                          <a:r>
                            <a:rPr lang="en-US" sz="2000" i="1" dirty="0">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𝐶𝐻𝐾</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𝑅𝐷𝑇</m:t>
                              </m:r>
                            </m:oMath>
                          </a14:m>
                          <a:endParaRPr lang="en-US" sz="2000" dirty="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2207">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𝐾𝐶𝐻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𝑇𝑅𝐷</m:t>
                              </m:r>
                            </m:oMath>
                          </a14:m>
                          <a:r>
                            <a:rPr lang="en-US" sz="2000" i="1">
                              <a:effectLst/>
                              <a:latin typeface="Verdana" charset="0"/>
                              <a:ea typeface="Verdana" charset="0"/>
                              <a:cs typeface="Verdana" charset="0"/>
                            </a:rPr>
                            <a:t>, </a:t>
                          </a:r>
                          <a14:m>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𝐻𝐾𝐶</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𝐷𝑇𝑅</m:t>
                              </m:r>
                            </m:oMath>
                          </a14:m>
                          <a:r>
                            <a:rPr lang="en-US" sz="2000" i="1">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𝐷𝑅</m:t>
                                  </m:r>
                                </m:e>
                              </m:acc>
                            </m:oMath>
                          </a14:m>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2207">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𝐻𝐾</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𝐷𝑇</m:t>
                                  </m:r>
                                </m:e>
                              </m:acc>
                            </m:oMath>
                          </a14:m>
                          <a:r>
                            <a:rPr lang="en-US" sz="2000" i="1">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𝐾𝐶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𝑇𝑅</m:t>
                                  </m:r>
                                </m:e>
                              </m:acc>
                            </m:oMath>
                          </a14:m>
                          <a:r>
                            <a:rPr lang="en-US" sz="2000" i="1">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𝐻𝐾</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𝐻𝐶</m:t>
                                  </m:r>
                                </m:e>
                              </m:acc>
                            </m:oMath>
                          </a14:m>
                          <a:r>
                            <a:rPr lang="en-US" sz="2000" i="1">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𝐷𝑇</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𝐷𝑅</m:t>
                                  </m:r>
                                </m:e>
                              </m:acc>
                            </m:oMath>
                          </a14:m>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52207">
                    <a:tc>
                      <a:txBody>
                        <a:bodyPr/>
                        <a:lstStyle/>
                        <a:p>
                          <a:pPr marL="0" marR="0">
                            <a:spcBef>
                              <a:spcPts val="0"/>
                            </a:spcBef>
                            <a:spcAft>
                              <a:spcPts val="0"/>
                            </a:spcAft>
                          </a:pP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𝐻𝐾</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𝐷𝑇</m:t>
                                  </m:r>
                                </m:e>
                              </m:acc>
                            </m:oMath>
                          </a14:m>
                          <a:r>
                            <a:rPr lang="en-US" sz="2000" i="1" dirty="0">
                              <a:effectLst/>
                              <a:latin typeface="Verdana" charset="0"/>
                              <a:ea typeface="Verdana" charset="0"/>
                              <a:cs typeface="Verdana" charset="0"/>
                            </a:rPr>
                            <a:t>, </a:t>
                          </a:r>
                          <a14:m>
                            <m:oMath xmlns:m="http://schemas.openxmlformats.org/officeDocument/2006/math">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𝐻𝐶</m:t>
                                  </m:r>
                                </m:e>
                              </m:acc>
                              <m:r>
                                <a:rPr lang="en-US" sz="2000" i="1">
                                  <a:effectLst/>
                                  <a:latin typeface="Cambria Math" charset="0"/>
                                  <a:ea typeface="Verdana" charset="0"/>
                                  <a:cs typeface="Verdana" charset="0"/>
                                </a:rPr>
                                <m:t>≅</m:t>
                              </m:r>
                              <m:acc>
                                <m:accPr>
                                  <m:chr m:val="̅"/>
                                  <m:ctrlPr>
                                    <a:rPr lang="en-US" sz="2000" i="1">
                                      <a:effectLst/>
                                      <a:latin typeface="Cambria Math" panose="02040503050406030204" pitchFamily="18" charset="0"/>
                                      <a:ea typeface="Verdana" charset="0"/>
                                      <a:cs typeface="Verdana" charset="0"/>
                                    </a:rPr>
                                  </m:ctrlPr>
                                </m:accPr>
                                <m:e>
                                  <m:r>
                                    <a:rPr lang="en-US" sz="2000" i="1">
                                      <a:effectLst/>
                                      <a:latin typeface="Cambria Math" charset="0"/>
                                      <a:ea typeface="Verdana" charset="0"/>
                                      <a:cs typeface="Verdana" charset="0"/>
                                    </a:rPr>
                                    <m:t>𝐷𝑅</m:t>
                                  </m:r>
                                </m:e>
                              </m:acc>
                            </m:oMath>
                          </a14:m>
                          <a:r>
                            <a:rPr lang="en-US" sz="2000" i="1" dirty="0">
                              <a:effectLst/>
                              <a:latin typeface="Verdana" charset="0"/>
                              <a:ea typeface="Verdana" charset="0"/>
                              <a:cs typeface="Verdana" charset="0"/>
                            </a:rPr>
                            <a:t>, </a:t>
                          </a:r>
                          <a:endParaRPr lang="en-US" sz="2000" i="0" dirty="0">
                            <a:effectLst/>
                            <a:latin typeface="Verdana" charset="0"/>
                            <a:ea typeface="Verdana" charset="0"/>
                            <a:cs typeface="Verdana" charset="0"/>
                          </a:endParaRPr>
                        </a:p>
                        <a:p>
                          <a:pPr marL="0" marR="0">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𝐾𝐻𝐶</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𝑇𝐷𝑅</m:t>
                                </m:r>
                              </m:oMath>
                            </m:oMathPara>
                          </a14:m>
                          <a:endParaRPr lang="en-US" sz="2000" dirty="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63616453"/>
                  </p:ext>
                </p:extLst>
              </p:nvPr>
            </p:nvGraphicFramePr>
            <p:xfrm>
              <a:off x="2240158" y="653143"/>
              <a:ext cx="7708593" cy="5262864"/>
            </p:xfrm>
            <a:graphic>
              <a:graphicData uri="http://schemas.openxmlformats.org/drawingml/2006/table">
                <a:tbl>
                  <a:tblPr firstRow="1" firstCol="1" bandRow="1"/>
                  <a:tblGrid>
                    <a:gridCol w="4184997">
                      <a:extLst>
                        <a:ext uri="{9D8B030D-6E8A-4147-A177-3AD203B41FA5}">
                          <a16:colId xmlns:a16="http://schemas.microsoft.com/office/drawing/2014/main" val="20000"/>
                        </a:ext>
                      </a:extLst>
                    </a:gridCol>
                    <a:gridCol w="1966759">
                      <a:extLst>
                        <a:ext uri="{9D8B030D-6E8A-4147-A177-3AD203B41FA5}">
                          <a16:colId xmlns:a16="http://schemas.microsoft.com/office/drawing/2014/main" val="20001"/>
                        </a:ext>
                      </a:extLst>
                    </a:gridCol>
                    <a:gridCol w="1556837">
                      <a:extLst>
                        <a:ext uri="{9D8B030D-6E8A-4147-A177-3AD203B41FA5}">
                          <a16:colId xmlns:a16="http://schemas.microsoft.com/office/drawing/2014/main" val="20002"/>
                        </a:ext>
                      </a:extLst>
                    </a:gridCol>
                  </a:tblGrid>
                  <a:tr h="1502691">
                    <a:tc>
                      <a:txBody>
                        <a:bodyPr/>
                        <a:lstStyle/>
                        <a:p>
                          <a:pPr marL="0" marR="0" algn="ctr">
                            <a:spcBef>
                              <a:spcPts val="0"/>
                            </a:spcBef>
                            <a:spcAft>
                              <a:spcPts val="0"/>
                            </a:spcAft>
                          </a:pPr>
                          <a:r>
                            <a:rPr lang="en-US" sz="2000" b="1" dirty="0">
                              <a:effectLst/>
                              <a:latin typeface="Verdana" charset="0"/>
                              <a:ea typeface="Verdana" charset="0"/>
                              <a:cs typeface="Verdana" charset="0"/>
                            </a:rPr>
                            <a:t>Given Information</a:t>
                          </a:r>
                          <a:endParaRPr lang="en-US" sz="2000" dirty="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 They Congruent?</a:t>
                          </a:r>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Theorem or Postulate Used</a:t>
                          </a:r>
                          <a:endParaRPr lang="en-US" sz="2000">
                            <a:effectLst/>
                            <a:latin typeface="Verdana" charset="0"/>
                            <a:ea typeface="Verdana" charset="0"/>
                            <a:cs typeface="Verdana" charset="0"/>
                          </a:endParaRP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52207">
                    <a:tc>
                      <a:txBody>
                        <a:bodyPr/>
                        <a:lstStyle/>
                        <a:p>
                          <a:endParaRPr lang="en-US"/>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3" t="-198333" r="-84545" b="-398333"/>
                          </a:stretch>
                        </a:blipFill>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51345">
                    <a:tc>
                      <a:txBody>
                        <a:bodyPr/>
                        <a:lstStyle/>
                        <a:p>
                          <a:endParaRPr lang="en-US"/>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3" t="-303390" r="-84545" b="-305085"/>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2207">
                    <a:tc>
                      <a:txBody>
                        <a:bodyPr/>
                        <a:lstStyle/>
                        <a:p>
                          <a:endParaRPr lang="en-US"/>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3" t="-403390" r="-84545" b="-205085"/>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2207">
                    <a:tc>
                      <a:txBody>
                        <a:bodyPr/>
                        <a:lstStyle/>
                        <a:p>
                          <a:endParaRPr lang="en-US"/>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3" t="-495000" r="-84545" b="-101667"/>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52207">
                    <a:tc>
                      <a:txBody>
                        <a:bodyPr/>
                        <a:lstStyle/>
                        <a:p>
                          <a:endParaRPr lang="en-US"/>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3" t="-605085" r="-84545" b="-3390"/>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50734" marR="507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1259255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240</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2408"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240</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408" y="6215826"/>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1824"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5.3.6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394523" y="1386025"/>
            <a:ext cx="11449133"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Circle the icon that best describes your understanding of each congruence postulate or theorem. </a:t>
            </a:r>
          </a:p>
        </p:txBody>
      </p:sp>
      <p:pic>
        <p:nvPicPr>
          <p:cNvPr id="8" name="Picture 7"/>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64223" y="2236807"/>
            <a:ext cx="6119586" cy="4144862"/>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1343</TotalTime>
  <Words>1671</Words>
  <Application>Microsoft Office PowerPoint</Application>
  <PresentationFormat>Widescreen</PresentationFormat>
  <Paragraphs>211</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Geometry  Unit 5, Lesson 3  Exploring Angle-Angle-Side and Hypotenuse-Leg Triangle Congruence  Volume 1, pg. 234  </vt:lpstr>
      <vt:lpstr>Benchmarks</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Morgan Palomino</cp:lastModifiedBy>
  <cp:revision>31</cp:revision>
  <dcterms:created xsi:type="dcterms:W3CDTF">2015-03-17T18:51:18Z</dcterms:created>
  <dcterms:modified xsi:type="dcterms:W3CDTF">2023-02-27T20:42:47Z</dcterms:modified>
</cp:coreProperties>
</file>