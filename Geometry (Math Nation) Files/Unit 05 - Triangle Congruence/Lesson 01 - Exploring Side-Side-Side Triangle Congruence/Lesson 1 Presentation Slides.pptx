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56" r:id="rId2"/>
    <p:sldId id="257" r:id="rId3"/>
    <p:sldId id="285" r:id="rId4"/>
    <p:sldId id="286" r:id="rId5"/>
    <p:sldId id="261" r:id="rId6"/>
    <p:sldId id="287" r:id="rId7"/>
    <p:sldId id="371" r:id="rId8"/>
    <p:sldId id="288" r:id="rId9"/>
    <p:sldId id="372" r:id="rId10"/>
    <p:sldId id="373" r:id="rId11"/>
    <p:sldId id="374" r:id="rId12"/>
    <p:sldId id="378" r:id="rId13"/>
    <p:sldId id="379" r:id="rId14"/>
    <p:sldId id="380" r:id="rId15"/>
    <p:sldId id="381" r:id="rId16"/>
    <p:sldId id="383" r:id="rId17"/>
    <p:sldId id="384" r:id="rId18"/>
    <p:sldId id="382" r:id="rId19"/>
    <p:sldId id="385" r:id="rId20"/>
    <p:sldId id="386" r:id="rId21"/>
    <p:sldId id="375" r:id="rId22"/>
    <p:sldId id="376" r:id="rId23"/>
    <p:sldId id="306" r:id="rId24"/>
    <p:sldId id="307"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74BF"/>
    <a:srgbClr val="B6E6F5"/>
    <a:srgbClr val="26B7D4"/>
    <a:srgbClr val="276C46"/>
    <a:srgbClr val="79C058"/>
    <a:srgbClr val="3465B0"/>
    <a:srgbClr val="DA4487"/>
    <a:srgbClr val="C9DF6F"/>
    <a:srgbClr val="417DBF"/>
    <a:srgbClr val="3F2A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60"/>
    <p:restoredTop sz="94674"/>
  </p:normalViewPr>
  <p:slideViewPr>
    <p:cSldViewPr snapToGrid="0">
      <p:cViewPr varScale="1">
        <p:scale>
          <a:sx n="105" d="100"/>
          <a:sy n="105" d="100"/>
        </p:scale>
        <p:origin x="1044"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6219456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16013468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8438917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9550649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9282508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7075857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411220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0555234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4888774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8852055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1010937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4327664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9081905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8069805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8044956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0.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9.png"/><Relationship Id="rId5"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43.png"/><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440.pn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Geometry</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5, Lesson 1</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Exploring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Side-Side-Side Triangle Congruence</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223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14875" y="0"/>
            <a:ext cx="4094106"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29141D4E-DA2B-B445-945E-1FC65102392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6887" y="1850136"/>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02200" y="-8149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4900" y="20770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994150" y="645109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16189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354900" y="1600200"/>
            <a:ext cx="1166031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MA.912.GR.1.2 </a:t>
            </a:r>
          </a:p>
          <a:p>
            <a:pPr marL="95250" indent="0">
              <a:buNone/>
            </a:pPr>
            <a:r>
              <a:rPr lang="en-US" sz="2400" dirty="0">
                <a:latin typeface="Verdana" charset="0"/>
                <a:ea typeface="Verdana" charset="0"/>
                <a:cs typeface="Verdana" charset="0"/>
              </a:rPr>
              <a:t>Prove triangle congruence or similarity using Side-Side-Side, Side-Angle-Side, Angle-Side-Angle, Angle-Angle-Side, Angle-Angle, and Hypotenuse-Leg.</a:t>
            </a:r>
          </a:p>
          <a:p>
            <a:pPr marL="95250" indent="0">
              <a:buNone/>
            </a:pPr>
            <a:r>
              <a:rPr lang="en-US" sz="2400" dirty="0">
                <a:latin typeface="Verdana" charset="0"/>
                <a:ea typeface="Verdana" charset="0"/>
                <a:cs typeface="Verdana" charset="0"/>
              </a:rPr>
              <a:t>MA.912.GR.2.1 </a:t>
            </a:r>
          </a:p>
          <a:p>
            <a:pPr marL="95250" indent="0">
              <a:buNone/>
            </a:pPr>
            <a:r>
              <a:rPr lang="en-US" sz="2400" dirty="0">
                <a:latin typeface="Verdana" charset="0"/>
                <a:ea typeface="Verdana" charset="0"/>
                <a:cs typeface="Verdana" charset="0"/>
              </a:rPr>
              <a:t>Given a preimage and image, describe the transformation and represent the transformation algebraically using coordinates.</a:t>
            </a:r>
          </a:p>
          <a:p>
            <a:pPr marL="95250" indent="0">
              <a:buNone/>
            </a:pPr>
            <a:r>
              <a:rPr lang="en-US" sz="2400" dirty="0">
                <a:latin typeface="Verdana" charset="0"/>
                <a:ea typeface="Verdana" charset="0"/>
                <a:cs typeface="Verdana" charset="0"/>
              </a:rPr>
              <a:t>MA.912.GR.5.1 </a:t>
            </a:r>
          </a:p>
          <a:p>
            <a:pPr marL="95250" indent="0">
              <a:buNone/>
            </a:pPr>
            <a:r>
              <a:rPr lang="en-US" sz="2400" dirty="0">
                <a:latin typeface="Verdana" charset="0"/>
                <a:ea typeface="Verdana" charset="0"/>
                <a:cs typeface="Verdana" charset="0"/>
              </a:rPr>
              <a:t>Construct a copy of a segment or an angle.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416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9574" y="193675"/>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1544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06874" y="-57165"/>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98144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223</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359574" y="1596390"/>
            <a:ext cx="1151848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02200" y="-51387"/>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4900" y="191844"/>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223</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354900" y="1600200"/>
            <a:ext cx="1127325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use constructions and transformations to determine if SSS congruence can be used to show that two triangles are congruent.</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994150" y="64659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8520" y="621187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1824" y="-8750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5.1.1 Warm-Up: STEM</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94524" y="188341"/>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984520" y="6507543"/>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223</a:t>
            </a:r>
          </a:p>
        </p:txBody>
      </p:sp>
      <p:sp>
        <p:nvSpPr>
          <p:cNvPr id="2" name="TextBox 1">
            <a:extLst>
              <a:ext uri="{FF2B5EF4-FFF2-40B4-BE49-F238E27FC236}">
                <a16:creationId xmlns:a16="http://schemas.microsoft.com/office/drawing/2014/main" id="{E1D7562E-134F-D14B-AF1A-DF40E11EF758}"/>
              </a:ext>
            </a:extLst>
          </p:cNvPr>
          <p:cNvSpPr txBox="1"/>
          <p:nvPr/>
        </p:nvSpPr>
        <p:spPr>
          <a:xfrm>
            <a:off x="394524" y="1386026"/>
            <a:ext cx="11328084" cy="707886"/>
          </a:xfrm>
          <a:prstGeom prst="rect">
            <a:avLst/>
          </a:prstGeom>
          <a:noFill/>
        </p:spPr>
        <p:txBody>
          <a:bodyPr wrap="square" rtlCol="0">
            <a:spAutoFit/>
          </a:bodyPr>
          <a:lstStyle/>
          <a:p>
            <a:pPr eaLnBrk="0" fontAlgn="base" hangingPunct="0">
              <a:spcBef>
                <a:spcPct val="0"/>
              </a:spcBef>
              <a:spcAft>
                <a:spcPct val="0"/>
              </a:spcAft>
              <a:buClrTx/>
            </a:pPr>
            <a:r>
              <a:rPr lang="en-US" sz="2000" dirty="0">
                <a:latin typeface="Verdana" charset="0"/>
                <a:ea typeface="Verdana" charset="0"/>
                <a:cs typeface="Verdana" charset="0"/>
              </a:rPr>
              <a:t>Triangles are effective tools for architecture used in the design of buildings and other structures, as they provide strength and stability. </a:t>
            </a:r>
          </a:p>
        </p:txBody>
      </p:sp>
      <p:pic>
        <p:nvPicPr>
          <p:cNvPr id="5" name="Picture 4"/>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702734" y="2617766"/>
            <a:ext cx="4882107" cy="3623833"/>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994150" y="6494672"/>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223</a:t>
            </a:r>
          </a:p>
        </p:txBody>
      </p:sp>
      <p:pic>
        <p:nvPicPr>
          <p:cNvPr id="1025" name="Picture 11"/>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419975" y="427909"/>
            <a:ext cx="2825750" cy="191611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15"/>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429781" y="2729513"/>
            <a:ext cx="2815944" cy="190780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56616" y="294030"/>
            <a:ext cx="6958134" cy="4093428"/>
          </a:xfrm>
          <a:prstGeom prst="rect">
            <a:avLst/>
          </a:prstGeom>
        </p:spPr>
        <p:txBody>
          <a:bodyPr wrap="square">
            <a:spAutoFit/>
          </a:bodyPr>
          <a:lstStyle/>
          <a:p>
            <a:pPr lvl="0" eaLnBrk="0" fontAlgn="base" hangingPunct="0">
              <a:spcBef>
                <a:spcPct val="0"/>
              </a:spcBef>
              <a:spcAft>
                <a:spcPct val="0"/>
              </a:spcAft>
              <a:buClrTx/>
            </a:pPr>
            <a:r>
              <a:rPr lang="x-none" altLang="x-none" sz="2000" dirty="0">
                <a:solidFill>
                  <a:schemeClr val="tx1"/>
                </a:solidFill>
                <a:latin typeface="Verdana" charset="0"/>
                <a:ea typeface="Verdana" charset="0"/>
                <a:cs typeface="Verdana" charset="0"/>
              </a:rPr>
              <a:t>When building materials are used to form a triangle, the design has a heavy base and the pinnacle on the top is capable of handling weight because of how the energy is distributed throughout the triangle. The triangle's use in architecture dates back longer than other common architectural shapes such as the dome, arch, and cylinder. It even predates the wheel. </a:t>
            </a:r>
          </a:p>
          <a:p>
            <a:pPr lvl="0" eaLnBrk="0" fontAlgn="base" hangingPunct="0">
              <a:spcBef>
                <a:spcPct val="0"/>
              </a:spcBef>
              <a:spcAft>
                <a:spcPct val="0"/>
              </a:spcAft>
              <a:buClrTx/>
            </a:pPr>
            <a:endParaRPr lang="en-US" altLang="x-none" sz="2000" dirty="0">
              <a:solidFill>
                <a:schemeClr val="tx1"/>
              </a:solidFill>
              <a:latin typeface="Verdana" charset="0"/>
              <a:ea typeface="Verdana" charset="0"/>
              <a:cs typeface="Verdana" charset="0"/>
            </a:endParaRPr>
          </a:p>
          <a:p>
            <a:pPr marL="457200" indent="-444500" eaLnBrk="0" fontAlgn="base" hangingPunct="0">
              <a:spcBef>
                <a:spcPct val="0"/>
              </a:spcBef>
              <a:spcAft>
                <a:spcPct val="0"/>
              </a:spcAft>
              <a:buClrTx/>
            </a:pPr>
            <a:r>
              <a:rPr lang="en-US" altLang="x-none" sz="2000" dirty="0">
                <a:solidFill>
                  <a:schemeClr val="tx1"/>
                </a:solidFill>
                <a:latin typeface="Verdana" charset="0"/>
                <a:ea typeface="Verdana" charset="0"/>
                <a:cs typeface="Verdana" charset="0"/>
              </a:rPr>
              <a:t>1.  </a:t>
            </a:r>
            <a:r>
              <a:rPr lang="x-none" altLang="x-none" sz="2000">
                <a:solidFill>
                  <a:schemeClr val="tx1"/>
                </a:solidFill>
                <a:latin typeface="Verdana" charset="0"/>
                <a:ea typeface="Verdana" charset="0"/>
                <a:cs typeface="Verdana" charset="0"/>
              </a:rPr>
              <a:t>Imagine </a:t>
            </a:r>
            <a:r>
              <a:rPr lang="x-none" altLang="x-none" sz="2000" dirty="0">
                <a:solidFill>
                  <a:schemeClr val="tx1"/>
                </a:solidFill>
                <a:latin typeface="Verdana" charset="0"/>
                <a:ea typeface="Verdana" charset="0"/>
                <a:cs typeface="Verdana" charset="0"/>
              </a:rPr>
              <a:t>using straws or toothpicks to make a square or rectangle. What do you think will happen when the engineer puts pressure on the side of the rectangle?</a:t>
            </a:r>
          </a:p>
        </p:txBody>
      </p:sp>
    </p:spTree>
    <p:extLst>
      <p:ext uri="{BB962C8B-B14F-4D97-AF65-F5344CB8AC3E}">
        <p14:creationId xmlns:p14="http://schemas.microsoft.com/office/powerpoint/2010/main" val="52168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224</a:t>
            </a:r>
          </a:p>
        </p:txBody>
      </p:sp>
      <p:sp>
        <p:nvSpPr>
          <p:cNvPr id="14" name="TextBox 13">
            <a:extLst>
              <a:ext uri="{FF2B5EF4-FFF2-40B4-BE49-F238E27FC236}">
                <a16:creationId xmlns:a16="http://schemas.microsoft.com/office/drawing/2014/main" id="{2FA392D8-3ED3-7940-83A8-1451AA8A08D4}"/>
              </a:ext>
            </a:extLst>
          </p:cNvPr>
          <p:cNvSpPr txBox="1"/>
          <p:nvPr/>
        </p:nvSpPr>
        <p:spPr>
          <a:xfrm>
            <a:off x="356616" y="520394"/>
            <a:ext cx="11271534" cy="1472775"/>
          </a:xfrm>
          <a:prstGeom prst="rect">
            <a:avLst/>
          </a:prstGeom>
          <a:noFill/>
        </p:spPr>
        <p:txBody>
          <a:bodyPr wrap="square" rtlCol="0">
            <a:spAutoFit/>
          </a:bodyPr>
          <a:lstStyle/>
          <a:p>
            <a:pPr marL="457200" indent="-444500">
              <a:lnSpc>
                <a:spcPct val="115000"/>
              </a:lnSpc>
            </a:pPr>
            <a:r>
              <a:rPr lang="en-US" sz="2000" dirty="0">
                <a:latin typeface="Verdana" charset="0"/>
                <a:ea typeface="Verdana" charset="0"/>
                <a:cs typeface="Verdana" charset="0"/>
              </a:rPr>
              <a:t>2.  Now imagine you made a triangle using straws or toothpicks. What do you think will happen when the engineer puts pressure on the side of the triangle? </a:t>
            </a:r>
          </a:p>
          <a:p>
            <a:pPr marL="342900" indent="-342900">
              <a:lnSpc>
                <a:spcPct val="115000"/>
              </a:lnSpc>
              <a:buFont typeface="+mj-lt"/>
              <a:buAutoNum type="arabicPeriod"/>
            </a:pPr>
            <a:endParaRPr lang="en-US" sz="2000" dirty="0">
              <a:latin typeface="Verdana" charset="0"/>
              <a:ea typeface="Verdana" charset="0"/>
              <a:cs typeface="Verdana" charset="0"/>
            </a:endParaRPr>
          </a:p>
          <a:p>
            <a:pPr marL="342900" indent="-342900">
              <a:lnSpc>
                <a:spcPct val="115000"/>
              </a:lnSpc>
              <a:buFont typeface="+mj-lt"/>
              <a:buAutoNum type="arabicPeriod"/>
            </a:pPr>
            <a:endParaRPr lang="en-US" sz="2000" dirty="0">
              <a:latin typeface="Verdana" charset="0"/>
              <a:ea typeface="Verdana" charset="0"/>
              <a:cs typeface="Verdana" charset="0"/>
            </a:endParaRPr>
          </a:p>
        </p:txBody>
      </p:sp>
      <p:sp>
        <p:nvSpPr>
          <p:cNvPr id="4" name="Rectangle 5"/>
          <p:cNvSpPr>
            <a:spLocks noChangeArrowheads="1"/>
          </p:cNvSpPr>
          <p:nvPr/>
        </p:nvSpPr>
        <p:spPr bwMode="auto">
          <a:xfrm>
            <a:off x="2209801" y="3503712"/>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3076" name="Picture 16"/>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500276" y="3424826"/>
            <a:ext cx="2552700" cy="2517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8233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2753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994150" y="648461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224</a:t>
            </a: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0606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7776"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5712" y="528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5.1.2 Exploration: Are Three Sides Enough?</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224</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93458" y="198722"/>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393458" y="1386026"/>
                <a:ext cx="11118838" cy="709297"/>
              </a:xfrm>
              <a:prstGeom prst="rect">
                <a:avLst/>
              </a:prstGeom>
              <a:noFill/>
            </p:spPr>
            <p:txBody>
              <a:bodyPr wrap="square" rtlCol="0">
                <a:spAutoFit/>
              </a:bodyPr>
              <a:lstStyle/>
              <a:p>
                <a:pPr marL="457200" indent="-457200">
                  <a:buFont typeface="+mj-lt"/>
                  <a:buAutoNum type="arabicPeriod"/>
                </a:pP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m:rPr>
                            <m:sty m:val="p"/>
                          </m:rPr>
                          <a:rPr lang="en-US" sz="2000">
                            <a:latin typeface="Cambria Math" charset="0"/>
                            <a:ea typeface="Verdana" charset="0"/>
                            <a:cs typeface="Verdana" charset="0"/>
                          </a:rPr>
                          <m:t>DW</m:t>
                        </m:r>
                      </m:e>
                    </m:acc>
                  </m:oMath>
                </a14:m>
                <a:r>
                  <a:rPr lang="en-US" sz="2000" dirty="0">
                    <a:latin typeface="Verdana" charset="0"/>
                    <a:ea typeface="Verdana" charset="0"/>
                    <a:cs typeface="Verdana" charset="0"/>
                  </a:rPr>
                  <a:t>,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m:rPr>
                            <m:sty m:val="p"/>
                          </m:rPr>
                          <a:rPr lang="en-US" sz="2000">
                            <a:latin typeface="Cambria Math" charset="0"/>
                            <a:ea typeface="Verdana" charset="0"/>
                            <a:cs typeface="Verdana" charset="0"/>
                          </a:rPr>
                          <m:t>CK</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m:rPr>
                            <m:sty m:val="p"/>
                          </m:rPr>
                          <a:rPr lang="en-US" sz="2000">
                            <a:latin typeface="Cambria Math" charset="0"/>
                            <a:ea typeface="Verdana" charset="0"/>
                            <a:cs typeface="Verdana" charset="0"/>
                          </a:rPr>
                          <m:t>HN</m:t>
                        </m:r>
                      </m:e>
                    </m:acc>
                  </m:oMath>
                </a14:m>
                <a:r>
                  <a:rPr lang="en-US" sz="2000" dirty="0">
                    <a:latin typeface="Verdana" charset="0"/>
                    <a:ea typeface="Verdana" charset="0"/>
                    <a:cs typeface="Verdana" charset="0"/>
                  </a:rPr>
                  <a:t> are given. Use the given steps to construct </a:t>
                </a:r>
                <a14:m>
                  <m:oMath xmlns:m="http://schemas.openxmlformats.org/officeDocument/2006/math">
                    <m:r>
                      <a:rPr lang="en-US" sz="2000">
                        <a:latin typeface="Cambria Math" charset="0"/>
                        <a:ea typeface="Verdana" charset="0"/>
                        <a:cs typeface="Verdana" charset="0"/>
                      </a:rPr>
                      <m:t>∆</m:t>
                    </m:r>
                    <m:r>
                      <m:rPr>
                        <m:sty m:val="p"/>
                      </m:rPr>
                      <a:rPr lang="en-US" sz="2000">
                        <a:latin typeface="Cambria Math" charset="0"/>
                        <a:ea typeface="Verdana" charset="0"/>
                        <a:cs typeface="Verdana" charset="0"/>
                      </a:rPr>
                      <m:t>BYT</m:t>
                    </m:r>
                  </m:oMath>
                </a14:m>
                <a:r>
                  <a:rPr lang="en-US" sz="2000" dirty="0">
                    <a:latin typeface="Verdana" charset="0"/>
                    <a:ea typeface="Verdana" charset="0"/>
                    <a:cs typeface="Verdana" charset="0"/>
                  </a:rPr>
                  <a:t> so that its sides are congruent to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m:rPr>
                            <m:sty m:val="p"/>
                          </m:rPr>
                          <a:rPr lang="en-US" sz="2000">
                            <a:latin typeface="Cambria Math" charset="0"/>
                            <a:ea typeface="Verdana" charset="0"/>
                            <a:cs typeface="Verdana" charset="0"/>
                          </a:rPr>
                          <m:t>DW</m:t>
                        </m:r>
                      </m:e>
                    </m:acc>
                  </m:oMath>
                </a14:m>
                <a:r>
                  <a:rPr lang="en-US" sz="2000" dirty="0">
                    <a:latin typeface="Verdana" charset="0"/>
                    <a:ea typeface="Verdana" charset="0"/>
                    <a:cs typeface="Verdana" charset="0"/>
                  </a:rPr>
                  <a:t>,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m:rPr>
                            <m:sty m:val="p"/>
                          </m:rPr>
                          <a:rPr lang="en-US" sz="2000">
                            <a:latin typeface="Cambria Math" charset="0"/>
                            <a:ea typeface="Verdana" charset="0"/>
                            <a:cs typeface="Verdana" charset="0"/>
                          </a:rPr>
                          <m:t>CK</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m:rPr>
                            <m:sty m:val="p"/>
                          </m:rPr>
                          <a:rPr lang="en-US" sz="2000">
                            <a:latin typeface="Cambria Math" charset="0"/>
                            <a:ea typeface="Verdana" charset="0"/>
                            <a:cs typeface="Verdana" charset="0"/>
                          </a:rPr>
                          <m:t>HN</m:t>
                        </m:r>
                      </m:e>
                    </m:acc>
                  </m:oMath>
                </a14:m>
                <a:r>
                  <a:rPr lang="en-US" sz="2000" dirty="0">
                    <a:latin typeface="Verdana" charset="0"/>
                    <a:ea typeface="Verdana" charset="0"/>
                    <a:cs typeface="Verdana" charset="0"/>
                  </a:rPr>
                  <a:t>.</a:t>
                </a: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393458" y="1386026"/>
                <a:ext cx="11118838" cy="709297"/>
              </a:xfrm>
              <a:prstGeom prst="rect">
                <a:avLst/>
              </a:prstGeom>
              <a:blipFill>
                <a:blip r:embed="rId5"/>
                <a:stretch>
                  <a:fillRect l="-457" t="-3448" r="-114" b="-12069"/>
                </a:stretch>
              </a:blipFill>
            </p:spPr>
            <p:txBody>
              <a:bodyPr/>
              <a:lstStyle/>
              <a:p>
                <a:r>
                  <a:rPr lang="en-US">
                    <a:noFill/>
                  </a:rPr>
                  <a:t> </a:t>
                </a:r>
              </a:p>
            </p:txBody>
          </p:sp>
        </mc:Fallback>
      </mc:AlternateContent>
      <p:pic>
        <p:nvPicPr>
          <p:cNvPr id="2" name="Picture 1"/>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4224528" y="4375460"/>
            <a:ext cx="3998976" cy="2029968"/>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393458" y="2382812"/>
                <a:ext cx="11374870" cy="1632626"/>
              </a:xfrm>
              <a:prstGeom prst="rect">
                <a:avLst/>
              </a:prstGeom>
            </p:spPr>
            <p:txBody>
              <a:bodyPr wrap="square">
                <a:spAutoFit/>
              </a:bodyPr>
              <a:lstStyle/>
              <a:p>
                <a:pPr marL="457200"/>
                <a:r>
                  <a:rPr lang="en-US" sz="2000" dirty="0">
                    <a:latin typeface="Verdana" charset="0"/>
                    <a:ea typeface="Verdana" charset="0"/>
                    <a:cs typeface="Verdana" charset="0"/>
                  </a:rPr>
                  <a:t>Step 1: Copy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𝐷𝑊</m:t>
                        </m:r>
                      </m:e>
                    </m:acc>
                  </m:oMath>
                </a14:m>
                <a:r>
                  <a:rPr lang="en-US" sz="2000" dirty="0">
                    <a:latin typeface="Verdana" charset="0"/>
                    <a:ea typeface="Verdana" charset="0"/>
                    <a:cs typeface="Verdana" charset="0"/>
                  </a:rPr>
                  <a:t>. Construct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𝐵𝑌</m:t>
                        </m:r>
                      </m:e>
                    </m:acc>
                  </m:oMath>
                </a14:m>
                <a:r>
                  <a:rPr lang="en-US" sz="2000" dirty="0">
                    <a:latin typeface="Verdana" charset="0"/>
                    <a:ea typeface="Verdana" charset="0"/>
                    <a:cs typeface="Verdana" charset="0"/>
                  </a:rPr>
                  <a:t> so that it is congruent to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𝐷𝑊</m:t>
                        </m:r>
                      </m:e>
                    </m:acc>
                  </m:oMath>
                </a14:m>
                <a:r>
                  <a:rPr lang="en-US" sz="2000" dirty="0">
                    <a:latin typeface="Verdana" charset="0"/>
                    <a:ea typeface="Verdana" charset="0"/>
                    <a:cs typeface="Verdana" charset="0"/>
                  </a:rPr>
                  <a:t>.  </a:t>
                </a:r>
              </a:p>
              <a:p>
                <a:pPr marL="457200"/>
                <a:r>
                  <a:rPr lang="en-US" sz="2000" dirty="0">
                    <a:latin typeface="Verdana" charset="0"/>
                    <a:ea typeface="Verdana" charset="0"/>
                    <a:cs typeface="Verdana" charset="0"/>
                  </a:rPr>
                  <a:t> </a:t>
                </a:r>
              </a:p>
              <a:p>
                <a:pPr marL="457200"/>
                <a:r>
                  <a:rPr lang="en-US" sz="2000" dirty="0">
                    <a:latin typeface="Verdana" charset="0"/>
                    <a:ea typeface="Verdana" charset="0"/>
                    <a:cs typeface="Verdana" charset="0"/>
                  </a:rPr>
                  <a:t>Step 2: Copy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𝐶𝐾</m:t>
                        </m:r>
                      </m:e>
                    </m:acc>
                  </m:oMath>
                </a14:m>
                <a:r>
                  <a:rPr lang="en-US" sz="2000" dirty="0">
                    <a:latin typeface="Verdana" charset="0"/>
                    <a:ea typeface="Verdana" charset="0"/>
                    <a:cs typeface="Verdana" charset="0"/>
                  </a:rPr>
                  <a:t>. Place the compass on point </a:t>
                </a:r>
                <a14:m>
                  <m:oMath xmlns:m="http://schemas.openxmlformats.org/officeDocument/2006/math">
                    <m:r>
                      <a:rPr lang="en-US" sz="2000" i="1">
                        <a:latin typeface="Cambria Math" charset="0"/>
                        <a:ea typeface="Verdana" charset="0"/>
                        <a:cs typeface="Verdana" charset="0"/>
                      </a:rPr>
                      <m:t>𝐵</m:t>
                    </m:r>
                  </m:oMath>
                </a14:m>
                <a:r>
                  <a:rPr lang="en-US" sz="2000" dirty="0">
                    <a:latin typeface="Verdana" charset="0"/>
                    <a:ea typeface="Verdana" charset="0"/>
                    <a:cs typeface="Verdana" charset="0"/>
                  </a:rPr>
                  <a:t> to create an arc that is the length of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𝐶𝐾</m:t>
                        </m:r>
                      </m:e>
                    </m:acc>
                  </m:oMath>
                </a14:m>
                <a:r>
                  <a:rPr lang="en-US" sz="2000" dirty="0">
                    <a:latin typeface="Verdana" charset="0"/>
                    <a:ea typeface="Verdana" charset="0"/>
                    <a:cs typeface="Verdana" charset="0"/>
                  </a:rPr>
                  <a:t>.</a:t>
                </a:r>
              </a:p>
              <a:p>
                <a:pPr marL="457200"/>
                <a:r>
                  <a:rPr lang="en-US" sz="2000" dirty="0">
                    <a:latin typeface="Verdana" charset="0"/>
                    <a:ea typeface="Verdana" charset="0"/>
                    <a:cs typeface="Verdana" charset="0"/>
                  </a:rPr>
                  <a:t> </a:t>
                </a:r>
              </a:p>
            </p:txBody>
          </p:sp>
        </mc:Choice>
        <mc:Fallback xmlns="">
          <p:sp>
            <p:nvSpPr>
              <p:cNvPr id="3" name="Rectangle 2"/>
              <p:cNvSpPr>
                <a:spLocks noRot="1" noChangeAspect="1" noMove="1" noResize="1" noEditPoints="1" noAdjustHandles="1" noChangeArrowheads="1" noChangeShapeType="1" noTextEdit="1"/>
              </p:cNvSpPr>
              <p:nvPr/>
            </p:nvSpPr>
            <p:spPr>
              <a:xfrm>
                <a:off x="393458" y="2382812"/>
                <a:ext cx="11374870" cy="1632626"/>
              </a:xfrm>
              <a:prstGeom prst="rect">
                <a:avLst/>
              </a:prstGeom>
              <a:blipFill>
                <a:blip r:embed="rId7"/>
                <a:stretch>
                  <a:fillRect t="-2308"/>
                </a:stretch>
              </a:blipFill>
            </p:spPr>
            <p:txBody>
              <a:bodyPr/>
              <a:lstStyle/>
              <a:p>
                <a:r>
                  <a:rPr lang="en-US">
                    <a:noFill/>
                  </a:rPr>
                  <a:t> </a:t>
                </a:r>
              </a:p>
            </p:txBody>
          </p:sp>
        </mc:Fallback>
      </mc:AlternateContent>
    </p:spTree>
    <p:extLst>
      <p:ext uri="{BB962C8B-B14F-4D97-AF65-F5344CB8AC3E}">
        <p14:creationId xmlns:p14="http://schemas.microsoft.com/office/powerpoint/2010/main" val="1361788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6564"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82564" y="64659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224</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20624" y="520394"/>
                <a:ext cx="9914277" cy="2246769"/>
              </a:xfrm>
              <a:prstGeom prst="rect">
                <a:avLst/>
              </a:prstGeom>
              <a:noFill/>
            </p:spPr>
            <p:txBody>
              <a:bodyPr wrap="square" rtlCol="0">
                <a:spAutoFit/>
              </a:bodyPr>
              <a:lstStyle/>
              <a:p>
                <a:pPr marL="457200"/>
                <a:r>
                  <a:rPr lang="en-US" sz="2000" dirty="0">
                    <a:latin typeface="Verdana" charset="0"/>
                    <a:ea typeface="Verdana" charset="0"/>
                    <a:cs typeface="Verdana" charset="0"/>
                  </a:rPr>
                  <a:t>Step 3: Copy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𝐻𝑁</m:t>
                        </m:r>
                      </m:e>
                    </m:acc>
                  </m:oMath>
                </a14:m>
                <a:r>
                  <a:rPr lang="en-US" sz="2000" dirty="0">
                    <a:latin typeface="Verdana" charset="0"/>
                    <a:ea typeface="Verdana" charset="0"/>
                    <a:cs typeface="Verdana" charset="0"/>
                  </a:rPr>
                  <a:t>. Place the compass on point </a:t>
                </a:r>
                <a14:m>
                  <m:oMath xmlns:m="http://schemas.openxmlformats.org/officeDocument/2006/math">
                    <m:r>
                      <a:rPr lang="en-US" sz="2000" i="1">
                        <a:latin typeface="Cambria Math" charset="0"/>
                        <a:ea typeface="Verdana" charset="0"/>
                        <a:cs typeface="Verdana" charset="0"/>
                      </a:rPr>
                      <m:t>𝑌</m:t>
                    </m:r>
                  </m:oMath>
                </a14:m>
                <a:r>
                  <a:rPr lang="en-US" sz="2000" dirty="0">
                    <a:latin typeface="Verdana" charset="0"/>
                    <a:ea typeface="Verdana" charset="0"/>
                    <a:cs typeface="Verdana" charset="0"/>
                  </a:rPr>
                  <a:t> to create an arc that is the length of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𝐻𝑁</m:t>
                        </m:r>
                      </m:e>
                    </m:acc>
                  </m:oMath>
                </a14:m>
                <a:r>
                  <a:rPr lang="en-US" sz="2000" dirty="0">
                    <a:latin typeface="Verdana" charset="0"/>
                    <a:ea typeface="Verdana" charset="0"/>
                    <a:cs typeface="Verdana" charset="0"/>
                  </a:rPr>
                  <a:t>.  </a:t>
                </a:r>
              </a:p>
              <a:p>
                <a:pPr marL="457200"/>
                <a:r>
                  <a:rPr lang="en-US" sz="2000" dirty="0">
                    <a:latin typeface="Verdana" charset="0"/>
                    <a:ea typeface="Verdana" charset="0"/>
                    <a:cs typeface="Verdana" charset="0"/>
                  </a:rPr>
                  <a:t> </a:t>
                </a:r>
              </a:p>
              <a:p>
                <a:pPr marL="457200"/>
                <a:r>
                  <a:rPr lang="en-US" sz="2000" dirty="0">
                    <a:latin typeface="Verdana" charset="0"/>
                    <a:ea typeface="Verdana" charset="0"/>
                    <a:cs typeface="Verdana" charset="0"/>
                  </a:rPr>
                  <a:t>Step 4: Mark the intersection of the two arcs using a point. Label the point </a:t>
                </a:r>
                <a14:m>
                  <m:oMath xmlns:m="http://schemas.openxmlformats.org/officeDocument/2006/math">
                    <m:r>
                      <a:rPr lang="en-US" sz="2000" i="1">
                        <a:latin typeface="Cambria Math" charset="0"/>
                        <a:ea typeface="Verdana" charset="0"/>
                        <a:cs typeface="Verdana" charset="0"/>
                      </a:rPr>
                      <m:t>𝑇</m:t>
                    </m:r>
                  </m:oMath>
                </a14:m>
                <a:r>
                  <a:rPr lang="en-US" sz="2000" dirty="0">
                    <a:latin typeface="Verdana" charset="0"/>
                    <a:ea typeface="Verdana" charset="0"/>
                    <a:cs typeface="Verdana" charset="0"/>
                  </a:rPr>
                  <a:t>.</a:t>
                </a:r>
              </a:p>
              <a:p>
                <a:pPr marL="457200"/>
                <a:r>
                  <a:rPr lang="en-US" sz="2000" dirty="0">
                    <a:latin typeface="Verdana" charset="0"/>
                    <a:ea typeface="Verdana" charset="0"/>
                    <a:cs typeface="Verdana" charset="0"/>
                  </a:rPr>
                  <a:t> </a:t>
                </a:r>
              </a:p>
              <a:p>
                <a:pPr marL="457200"/>
                <a:r>
                  <a:rPr lang="en-US" sz="2000" dirty="0">
                    <a:latin typeface="Verdana" charset="0"/>
                    <a:ea typeface="Verdana" charset="0"/>
                    <a:cs typeface="Verdana" charset="0"/>
                  </a:rPr>
                  <a:t>Step 5: Draw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𝐵𝑇</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𝑌𝑇</m:t>
                        </m:r>
                      </m:e>
                    </m:acc>
                  </m:oMath>
                </a14:m>
                <a:r>
                  <a:rPr lang="en-US" sz="2000" dirty="0">
                    <a:latin typeface="Verdana" charset="0"/>
                    <a:ea typeface="Verdana" charset="0"/>
                    <a:cs typeface="Verdana"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20624" y="520394"/>
                <a:ext cx="9914277" cy="2246769"/>
              </a:xfrm>
              <a:prstGeom prst="rect">
                <a:avLst/>
              </a:prstGeom>
              <a:blipFill>
                <a:blip r:embed="rId4"/>
                <a:stretch>
                  <a:fillRect t="-1124" b="-3933"/>
                </a:stretch>
              </a:blipFill>
            </p:spPr>
            <p:txBody>
              <a:bodyPr/>
              <a:lstStyle/>
              <a:p>
                <a:r>
                  <a:rPr lang="en-US">
                    <a:noFill/>
                  </a:rPr>
                  <a:t> </a:t>
                </a:r>
              </a:p>
            </p:txBody>
          </p:sp>
        </mc:Fallback>
      </mc:AlternateContent>
      <p:pic>
        <p:nvPicPr>
          <p:cNvPr id="6" name="Picture 5"/>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4171845" y="3424825"/>
            <a:ext cx="3998976" cy="2029968"/>
          </a:xfrm>
          <a:prstGeom prst="rect">
            <a:avLst/>
          </a:prstGeom>
        </p:spPr>
      </p:pic>
    </p:spTree>
    <p:extLst>
      <p:ext uri="{BB962C8B-B14F-4D97-AF65-F5344CB8AC3E}">
        <p14:creationId xmlns:p14="http://schemas.microsoft.com/office/powerpoint/2010/main" val="210243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225</a:t>
            </a:r>
          </a:p>
        </p:txBody>
      </p:sp>
      <p:sp>
        <p:nvSpPr>
          <p:cNvPr id="14" name="TextBox 13">
            <a:extLst>
              <a:ext uri="{FF2B5EF4-FFF2-40B4-BE49-F238E27FC236}">
                <a16:creationId xmlns:a16="http://schemas.microsoft.com/office/drawing/2014/main" id="{2FA392D8-3ED3-7940-83A8-1451AA8A08D4}"/>
              </a:ext>
            </a:extLst>
          </p:cNvPr>
          <p:cNvSpPr txBox="1"/>
          <p:nvPr/>
        </p:nvSpPr>
        <p:spPr>
          <a:xfrm>
            <a:off x="429768" y="520393"/>
            <a:ext cx="9905133" cy="400110"/>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The triangle below was created using the three given line segments.   </a:t>
            </a:r>
          </a:p>
        </p:txBody>
      </p:sp>
      <p:pic>
        <p:nvPicPr>
          <p:cNvPr id="2" name="Picture 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546390" y="1419325"/>
            <a:ext cx="7249886" cy="2005501"/>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429769" y="3833254"/>
                <a:ext cx="10296144" cy="707886"/>
              </a:xfrm>
              <a:prstGeom prst="rect">
                <a:avLst/>
              </a:prstGeom>
            </p:spPr>
            <p:txBody>
              <a:bodyPr wrap="square">
                <a:spAutoFit/>
              </a:bodyPr>
              <a:lstStyle/>
              <a:p>
                <a:pPr marL="457200"/>
                <a:r>
                  <a:rPr lang="en-US" sz="2000" dirty="0">
                    <a:latin typeface="Verdana" charset="0"/>
                    <a:ea typeface="Verdana" charset="0"/>
                    <a:cs typeface="Verdana" charset="0"/>
                  </a:rPr>
                  <a:t>Compare the triangle you constructed with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𝐶𝐷𝑊</m:t>
                    </m:r>
                  </m:oMath>
                </a14:m>
                <a:r>
                  <a:rPr lang="en-US" sz="2000" dirty="0">
                    <a:latin typeface="Verdana" charset="0"/>
                    <a:ea typeface="Verdana" charset="0"/>
                    <a:cs typeface="Verdana" charset="0"/>
                  </a:rPr>
                  <a:t>. Describe any similarities or differences.</a:t>
                </a:r>
              </a:p>
            </p:txBody>
          </p:sp>
        </mc:Choice>
        <mc:Fallback xmlns="">
          <p:sp>
            <p:nvSpPr>
              <p:cNvPr id="3" name="Rectangle 2"/>
              <p:cNvSpPr>
                <a:spLocks noRot="1" noChangeAspect="1" noMove="1" noResize="1" noEditPoints="1" noAdjustHandles="1" noChangeArrowheads="1" noChangeShapeType="1" noTextEdit="1"/>
              </p:cNvSpPr>
              <p:nvPr/>
            </p:nvSpPr>
            <p:spPr>
              <a:xfrm>
                <a:off x="429769" y="3833254"/>
                <a:ext cx="10296144" cy="707886"/>
              </a:xfrm>
              <a:prstGeom prst="rect">
                <a:avLst/>
              </a:prstGeom>
              <a:blipFill>
                <a:blip r:embed="rId5"/>
                <a:stretch>
                  <a:fillRect t="-3509" r="-740" b="-14035"/>
                </a:stretch>
              </a:blipFill>
            </p:spPr>
            <p:txBody>
              <a:bodyPr/>
              <a:lstStyle/>
              <a:p>
                <a:r>
                  <a:rPr lang="en-US">
                    <a:noFill/>
                  </a:rPr>
                  <a:t> </a:t>
                </a:r>
              </a:p>
            </p:txBody>
          </p:sp>
        </mc:Fallback>
      </mc:AlternateContent>
    </p:spTree>
    <p:extLst>
      <p:ext uri="{BB962C8B-B14F-4D97-AF65-F5344CB8AC3E}">
        <p14:creationId xmlns:p14="http://schemas.microsoft.com/office/powerpoint/2010/main" val="2063523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225</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365760" y="520393"/>
                <a:ext cx="9969141" cy="1940403"/>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Maria used a computer program to create line segments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𝐷𝑊</m:t>
                        </m:r>
                      </m:e>
                    </m:acc>
                  </m:oMath>
                </a14:m>
                <a:r>
                  <a:rPr lang="en-US" sz="2000" dirty="0">
                    <a:latin typeface="Verdana" charset="0"/>
                    <a:ea typeface="Verdana" charset="0"/>
                    <a:cs typeface="Verdana" charset="0"/>
                  </a:rPr>
                  <a:t>,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𝐶𝐾</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𝐻𝑁</m:t>
                        </m:r>
                      </m:e>
                    </m:acc>
                  </m:oMath>
                </a14:m>
                <a:r>
                  <a:rPr lang="en-US" sz="2000" dirty="0">
                    <a:latin typeface="Verdana" charset="0"/>
                    <a:ea typeface="Verdana" charset="0"/>
                    <a:cs typeface="Verdana" charset="0"/>
                  </a:rPr>
                  <a:t>. She then moved the line segments to construct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𝐷𝐾𝑊</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Because the vertices of the line segments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𝐶𝐾</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𝐻𝑁</m:t>
                        </m:r>
                      </m:e>
                    </m:acc>
                    <m:r>
                      <a:rPr lang="en-US" sz="2000" i="1">
                        <a:latin typeface="Cambria Math" charset="0"/>
                        <a:ea typeface="Verdana" charset="0"/>
                        <a:cs typeface="Verdana" charset="0"/>
                      </a:rPr>
                      <m:t> </m:t>
                    </m:r>
                  </m:oMath>
                </a14:m>
                <a:r>
                  <a:rPr lang="en-US" sz="2000" dirty="0">
                    <a:latin typeface="Verdana" charset="0"/>
                    <a:ea typeface="Verdana" charset="0"/>
                    <a:cs typeface="Verdana" charset="0"/>
                  </a:rPr>
                  <a:t>coincided with other vertices, she only used the letters </a:t>
                </a:r>
                <a:r>
                  <a:rPr lang="en-US" sz="2000" i="1" dirty="0">
                    <a:latin typeface="Verdana" charset="0"/>
                    <a:ea typeface="Verdana" charset="0"/>
                    <a:cs typeface="Verdana" charset="0"/>
                  </a:rPr>
                  <a:t>D,</a:t>
                </a:r>
                <a:r>
                  <a:rPr lang="en-US" sz="2000" dirty="0">
                    <a:latin typeface="Verdana" charset="0"/>
                    <a:ea typeface="Verdana" charset="0"/>
                    <a:cs typeface="Verdana" charset="0"/>
                  </a:rPr>
                  <a:t> </a:t>
                </a:r>
                <a:r>
                  <a:rPr lang="en-US" sz="2000" i="1" dirty="0">
                    <a:latin typeface="Verdana" charset="0"/>
                    <a:ea typeface="Verdana" charset="0"/>
                    <a:cs typeface="Verdana" charset="0"/>
                  </a:rPr>
                  <a:t>K</a:t>
                </a:r>
                <a:r>
                  <a:rPr lang="en-US" sz="2000" dirty="0">
                    <a:latin typeface="Verdana" charset="0"/>
                    <a:ea typeface="Verdana" charset="0"/>
                    <a:cs typeface="Verdana" charset="0"/>
                  </a:rPr>
                  <a:t>, and </a:t>
                </a:r>
                <a:r>
                  <a:rPr lang="en-US" sz="2000" i="1" dirty="0">
                    <a:latin typeface="Verdana" charset="0"/>
                    <a:ea typeface="Verdana" charset="0"/>
                    <a:cs typeface="Verdana" charset="0"/>
                  </a:rPr>
                  <a:t>W.</a:t>
                </a:r>
                <a:endParaRPr lang="en-US" sz="2000" dirty="0">
                  <a:latin typeface="Verdana" charset="0"/>
                  <a:ea typeface="Verdana" charset="0"/>
                  <a:cs typeface="Verdana" charset="0"/>
                </a:endParaRPr>
              </a:p>
              <a:p>
                <a:r>
                  <a:rPr lang="en-US" sz="2000" dirty="0">
                    <a:latin typeface="Verdana" charset="0"/>
                    <a:ea typeface="Verdana" charset="0"/>
                    <a:cs typeface="Verdana" charset="0"/>
                  </a:rPr>
                  <a:t> </a:t>
                </a:r>
              </a:p>
              <a:p>
                <a:pPr marL="915988" indent="-446088">
                  <a:buFont typeface="+mj-lt"/>
                  <a:buAutoNum type="alphaLcPeriod"/>
                </a:pPr>
                <a:r>
                  <a:rPr lang="en-US" sz="2000" dirty="0">
                    <a:latin typeface="Verdana" charset="0"/>
                    <a:ea typeface="Verdana" charset="0"/>
                    <a:cs typeface="Verdana" charset="0"/>
                  </a:rPr>
                  <a:t>What do you notice about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𝐵𝑌𝑇</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𝐷𝐾𝑊</m:t>
                    </m:r>
                  </m:oMath>
                </a14:m>
                <a:r>
                  <a:rPr lang="en-US" sz="2000" dirty="0">
                    <a:latin typeface="Verdana" charset="0"/>
                    <a:ea typeface="Verdana" charset="0"/>
                    <a:cs typeface="Verdana"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65760" y="520393"/>
                <a:ext cx="9969141" cy="1940403"/>
              </a:xfrm>
              <a:prstGeom prst="rect">
                <a:avLst/>
              </a:prstGeom>
              <a:blipFill>
                <a:blip r:embed="rId4"/>
                <a:stretch>
                  <a:fillRect l="-509" t="-1299" b="-4545"/>
                </a:stretch>
              </a:blipFill>
            </p:spPr>
            <p:txBody>
              <a:bodyPr/>
              <a:lstStyle/>
              <a:p>
                <a:r>
                  <a:rPr lang="en-US">
                    <a:noFill/>
                  </a:rPr>
                  <a:t> </a:t>
                </a:r>
              </a:p>
            </p:txBody>
          </p:sp>
        </mc:Fallback>
      </mc:AlternateContent>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193183" y="3081236"/>
            <a:ext cx="5956300" cy="2806700"/>
          </a:xfrm>
          <a:prstGeom prst="rect">
            <a:avLst/>
          </a:prstGeom>
        </p:spPr>
      </p:pic>
    </p:spTree>
    <p:extLst>
      <p:ext uri="{BB962C8B-B14F-4D97-AF65-F5344CB8AC3E}">
        <p14:creationId xmlns:p14="http://schemas.microsoft.com/office/powerpoint/2010/main" val="2066006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7420" y="6202735"/>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73420" y="6505952"/>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225</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02336" y="520393"/>
                <a:ext cx="11539728" cy="2555251"/>
              </a:xfrm>
              <a:prstGeom prst="rect">
                <a:avLst/>
              </a:prstGeom>
              <a:noFill/>
            </p:spPr>
            <p:txBody>
              <a:bodyPr wrap="square" rtlCol="0">
                <a:spAutoFit/>
              </a:bodyPr>
              <a:lstStyle/>
              <a:p>
                <a:pPr marL="457200" indent="-457200">
                  <a:buFont typeface="+mj-lt"/>
                  <a:buAutoNum type="alphaLcPeriod" startAt="2"/>
                </a:pPr>
                <a:r>
                  <a:rPr lang="en-US" sz="2000" dirty="0">
                    <a:latin typeface="Verdana" charset="0"/>
                    <a:ea typeface="Verdana" charset="0"/>
                    <a:cs typeface="Verdana" charset="0"/>
                  </a:rPr>
                  <a:t>The line segments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𝐷𝑊</m:t>
                        </m:r>
                      </m:e>
                    </m:acc>
                  </m:oMath>
                </a14:m>
                <a:r>
                  <a:rPr lang="en-US" sz="2000" dirty="0">
                    <a:latin typeface="Verdana" charset="0"/>
                    <a:ea typeface="Verdana" charset="0"/>
                    <a:cs typeface="Verdana" charset="0"/>
                  </a:rPr>
                  <a:t>,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𝐶𝐾</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𝐻𝑁</m:t>
                        </m:r>
                      </m:e>
                    </m:acc>
                  </m:oMath>
                </a14:m>
                <a:r>
                  <a:rPr lang="en-US" sz="2000" dirty="0">
                    <a:latin typeface="Verdana" charset="0"/>
                    <a:ea typeface="Verdana" charset="0"/>
                    <a:cs typeface="Verdana" charset="0"/>
                  </a:rPr>
                  <a:t> were used to construct three different triangles. Work with your partner to write a conjecture about creating triangles whose sides are congruent. </a:t>
                </a: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r>
                  <a:rPr lang="en-US" sz="2000" dirty="0">
                    <a:latin typeface="Verdana" charset="0"/>
                    <a:ea typeface="Verdana" charset="0"/>
                    <a:cs typeface="Verdana" charset="0"/>
                  </a:rPr>
                  <a:t>Ask two classmates about their conjectures. Record their conjectures and write your summary of their reason. </a:t>
                </a:r>
                <a:r>
                  <a:rPr lang="en-US" sz="2000" i="1" dirty="0">
                    <a:latin typeface="Verdana" charset="0"/>
                    <a:ea typeface="Verdana" charset="0"/>
                    <a:cs typeface="Verdana" charset="0"/>
                  </a:rPr>
                  <a:t>You are the only person who should write in the first two columns of the table.</a:t>
                </a:r>
                <a:r>
                  <a:rPr lang="en-US" sz="2000" dirty="0">
                    <a:latin typeface="Verdana" charset="0"/>
                    <a:ea typeface="Verdana" charset="0"/>
                    <a:cs typeface="Verdana" charset="0"/>
                  </a:rPr>
                  <a:t> Have the person initial next to your summary stating that your summary was correct.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02336" y="520393"/>
                <a:ext cx="11539728" cy="2555251"/>
              </a:xfrm>
              <a:prstGeom prst="rect">
                <a:avLst/>
              </a:prstGeom>
              <a:blipFill>
                <a:blip r:embed="rId4"/>
                <a:stretch>
                  <a:fillRect l="-549" t="-985" r="-769" b="-2956"/>
                </a:stretch>
              </a:blipFill>
            </p:spPr>
            <p:txBody>
              <a:bodyPr/>
              <a:lstStyle/>
              <a:p>
                <a:r>
                  <a:rPr lang="en-US">
                    <a:noFill/>
                  </a:rPr>
                  <a:t> </a:t>
                </a:r>
              </a:p>
            </p:txBody>
          </p:sp>
        </mc:Fallback>
      </mc:AlternateContent>
      <p:graphicFrame>
        <p:nvGraphicFramePr>
          <p:cNvPr id="2" name="Table 1"/>
          <p:cNvGraphicFramePr>
            <a:graphicFrameLocks noGrp="1"/>
          </p:cNvGraphicFramePr>
          <p:nvPr>
            <p:extLst>
              <p:ext uri="{D42A27DB-BD31-4B8C-83A1-F6EECF244321}">
                <p14:modId xmlns:p14="http://schemas.microsoft.com/office/powerpoint/2010/main" val="1152908952"/>
              </p:ext>
            </p:extLst>
          </p:nvPr>
        </p:nvGraphicFramePr>
        <p:xfrm>
          <a:off x="2166276" y="3831410"/>
          <a:ext cx="7886700" cy="1795814"/>
        </p:xfrm>
        <a:graphic>
          <a:graphicData uri="http://schemas.openxmlformats.org/drawingml/2006/table">
            <a:tbl>
              <a:tblPr bandRow="1"/>
              <a:tblGrid>
                <a:gridCol w="2860200">
                  <a:extLst>
                    <a:ext uri="{9D8B030D-6E8A-4147-A177-3AD203B41FA5}">
                      <a16:colId xmlns:a16="http://schemas.microsoft.com/office/drawing/2014/main" val="20000"/>
                    </a:ext>
                  </a:extLst>
                </a:gridCol>
                <a:gridCol w="3690652">
                  <a:extLst>
                    <a:ext uri="{9D8B030D-6E8A-4147-A177-3AD203B41FA5}">
                      <a16:colId xmlns:a16="http://schemas.microsoft.com/office/drawing/2014/main" val="20001"/>
                    </a:ext>
                  </a:extLst>
                </a:gridCol>
                <a:gridCol w="1335848">
                  <a:extLst>
                    <a:ext uri="{9D8B030D-6E8A-4147-A177-3AD203B41FA5}">
                      <a16:colId xmlns:a16="http://schemas.microsoft.com/office/drawing/2014/main" val="20002"/>
                    </a:ext>
                  </a:extLst>
                </a:gridCol>
              </a:tblGrid>
              <a:tr h="443738">
                <a:tc>
                  <a:txBody>
                    <a:bodyPr/>
                    <a:lstStyle/>
                    <a:p>
                      <a:pPr marL="0" marR="0" algn="ctr">
                        <a:spcBef>
                          <a:spcPts val="0"/>
                        </a:spcBef>
                        <a:spcAft>
                          <a:spcPts val="1000"/>
                        </a:spcAft>
                      </a:pPr>
                      <a:r>
                        <a:rPr lang="en-US" sz="1600" b="1" dirty="0">
                          <a:effectLst/>
                          <a:latin typeface="Verdana" charset="0"/>
                          <a:ea typeface="Verdana" charset="0"/>
                          <a:cs typeface="Verdana" charset="0"/>
                        </a:rPr>
                        <a:t>Conjecture for Creating Triangles Whose Sides are Congruent</a:t>
                      </a:r>
                      <a:endParaRPr lang="en-US" sz="1100" dirty="0">
                        <a:effectLst/>
                        <a:latin typeface="Verdana" charset="0"/>
                        <a:ea typeface="Verdana" charset="0"/>
                        <a:cs typeface="Verdana" charset="0"/>
                      </a:endParaRPr>
                    </a:p>
                  </a:txBody>
                  <a:tcPr marL="60153" marR="6015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1600" b="1">
                          <a:effectLst/>
                          <a:latin typeface="Verdana" charset="0"/>
                          <a:ea typeface="Verdana" charset="0"/>
                          <a:cs typeface="Verdana" charset="0"/>
                        </a:rPr>
                        <a:t>My Summary of Their Reason</a:t>
                      </a:r>
                      <a:endParaRPr lang="en-US" sz="1100">
                        <a:effectLst/>
                        <a:latin typeface="Verdana" charset="0"/>
                        <a:ea typeface="Verdana" charset="0"/>
                        <a:cs typeface="Verdana" charset="0"/>
                      </a:endParaRPr>
                    </a:p>
                  </a:txBody>
                  <a:tcPr marL="60153" marR="6015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1600" b="1">
                          <a:effectLst/>
                          <a:latin typeface="Verdana" charset="0"/>
                          <a:ea typeface="Verdana" charset="0"/>
                          <a:cs typeface="Verdana" charset="0"/>
                        </a:rPr>
                        <a:t>Initials</a:t>
                      </a:r>
                      <a:endParaRPr lang="en-US" sz="1100">
                        <a:effectLst/>
                        <a:latin typeface="Verdana" charset="0"/>
                        <a:ea typeface="Verdana" charset="0"/>
                        <a:cs typeface="Verdana" charset="0"/>
                      </a:endParaRPr>
                    </a:p>
                  </a:txBody>
                  <a:tcPr marL="60153" marR="6015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32147">
                <a:tc>
                  <a:txBody>
                    <a:bodyPr/>
                    <a:lstStyle/>
                    <a:p>
                      <a:pPr marL="0" marR="0">
                        <a:spcBef>
                          <a:spcPts val="0"/>
                        </a:spcBef>
                        <a:spcAft>
                          <a:spcPts val="1000"/>
                        </a:spcAft>
                      </a:pPr>
                      <a:r>
                        <a:rPr lang="en-US" sz="1600" dirty="0">
                          <a:effectLst/>
                          <a:latin typeface="Verdana" charset="0"/>
                          <a:ea typeface="Verdana" charset="0"/>
                          <a:cs typeface="Verdana" charset="0"/>
                        </a:rPr>
                        <a:t> </a:t>
                      </a:r>
                      <a:endParaRPr lang="en-US" sz="1100" dirty="0">
                        <a:effectLst/>
                        <a:latin typeface="Verdana" charset="0"/>
                        <a:ea typeface="Verdana" charset="0"/>
                        <a:cs typeface="Verdana" charset="0"/>
                      </a:endParaRPr>
                    </a:p>
                  </a:txBody>
                  <a:tcPr marL="60153" marR="60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1600" dirty="0">
                          <a:effectLst/>
                          <a:latin typeface="Verdana" charset="0"/>
                          <a:ea typeface="Verdana" charset="0"/>
                          <a:cs typeface="Verdana" charset="0"/>
                        </a:rPr>
                        <a:t> </a:t>
                      </a:r>
                      <a:endParaRPr lang="en-US" sz="1100" dirty="0">
                        <a:effectLst/>
                        <a:latin typeface="Verdana" charset="0"/>
                        <a:ea typeface="Verdana" charset="0"/>
                        <a:cs typeface="Verdana" charset="0"/>
                      </a:endParaRPr>
                    </a:p>
                  </a:txBody>
                  <a:tcPr marL="60153" marR="60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1600" dirty="0">
                          <a:effectLst/>
                          <a:latin typeface="Verdana" charset="0"/>
                          <a:ea typeface="Verdana" charset="0"/>
                          <a:cs typeface="Verdana" charset="0"/>
                        </a:rPr>
                        <a:t> </a:t>
                      </a:r>
                      <a:endParaRPr lang="en-US" sz="1100" dirty="0">
                        <a:effectLst/>
                        <a:latin typeface="Verdana" charset="0"/>
                        <a:ea typeface="Verdana" charset="0"/>
                        <a:cs typeface="Verdana" charset="0"/>
                      </a:endParaRPr>
                    </a:p>
                  </a:txBody>
                  <a:tcPr marL="60153" marR="60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32147">
                <a:tc>
                  <a:txBody>
                    <a:bodyPr/>
                    <a:lstStyle/>
                    <a:p>
                      <a:pPr marL="0" marR="0">
                        <a:spcBef>
                          <a:spcPts val="0"/>
                        </a:spcBef>
                        <a:spcAft>
                          <a:spcPts val="1000"/>
                        </a:spcAft>
                      </a:pPr>
                      <a:endParaRPr lang="en-US" sz="1100" dirty="0">
                        <a:effectLst/>
                        <a:latin typeface="Verdana" charset="0"/>
                        <a:ea typeface="Verdana" charset="0"/>
                        <a:cs typeface="Verdana" charset="0"/>
                      </a:endParaRPr>
                    </a:p>
                  </a:txBody>
                  <a:tcPr marL="60153" marR="60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1600" dirty="0">
                          <a:effectLst/>
                          <a:latin typeface="Verdana" charset="0"/>
                          <a:ea typeface="Verdana" charset="0"/>
                          <a:cs typeface="Verdana" charset="0"/>
                        </a:rPr>
                        <a:t> </a:t>
                      </a:r>
                      <a:endParaRPr lang="en-US" sz="1100" dirty="0">
                        <a:effectLst/>
                        <a:latin typeface="Verdana" charset="0"/>
                        <a:ea typeface="Verdana" charset="0"/>
                        <a:cs typeface="Verdana" charset="0"/>
                      </a:endParaRPr>
                    </a:p>
                  </a:txBody>
                  <a:tcPr marL="60153" marR="60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1600" dirty="0">
                          <a:effectLst/>
                          <a:latin typeface="Verdana" charset="0"/>
                          <a:ea typeface="Verdana" charset="0"/>
                          <a:cs typeface="Verdana" charset="0"/>
                        </a:rPr>
                        <a:t> </a:t>
                      </a:r>
                      <a:endParaRPr lang="en-US" sz="1100" dirty="0">
                        <a:effectLst/>
                        <a:latin typeface="Verdana" charset="0"/>
                        <a:ea typeface="Verdana" charset="0"/>
                        <a:cs typeface="Verdana" charset="0"/>
                      </a:endParaRPr>
                    </a:p>
                  </a:txBody>
                  <a:tcPr marL="60153" marR="60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43474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84447"/>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60481"/>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226</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63850" y="520393"/>
                <a:ext cx="11231910" cy="5632311"/>
              </a:xfrm>
              <a:prstGeom prst="rect">
                <a:avLst/>
              </a:prstGeom>
              <a:noFill/>
            </p:spPr>
            <p:txBody>
              <a:bodyPr wrap="square" rtlCol="0">
                <a:spAutoFit/>
              </a:bodyPr>
              <a:lstStyle/>
              <a:p>
                <a:pPr marL="457200" indent="-457200">
                  <a:buFont typeface="+mj-lt"/>
                  <a:buAutoNum type="arabicPeriod" startAt="4"/>
                </a:pPr>
                <a:r>
                  <a:rPr lang="en-US" sz="2000" dirty="0">
                    <a:latin typeface="Verdana" charset="0"/>
                    <a:ea typeface="Verdana" charset="0"/>
                    <a:cs typeface="Verdana" charset="0"/>
                  </a:rPr>
                  <a:t>Use patty paper to determine if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𝐶𝑇𝐿</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𝑅𝑁𝐾</m:t>
                    </m:r>
                  </m:oMath>
                </a14:m>
                <a:r>
                  <a:rPr lang="en-US" sz="2000" dirty="0">
                    <a:latin typeface="Verdana" charset="0"/>
                    <a:ea typeface="Verdana" charset="0"/>
                    <a:cs typeface="Verdana" charset="0"/>
                  </a:rPr>
                  <a:t> were created using the same three line segments.</a:t>
                </a:r>
              </a:p>
              <a:p>
                <a:pPr marL="457200" indent="-457200">
                  <a:buFont typeface="+mj-lt"/>
                  <a:buAutoNum type="arabicPeriod" startAt="4"/>
                </a:pPr>
                <a:endParaRPr lang="en-US" sz="2000" dirty="0">
                  <a:latin typeface="Verdana" charset="0"/>
                  <a:ea typeface="Verdana" charset="0"/>
                  <a:cs typeface="Verdana" charset="0"/>
                </a:endParaRPr>
              </a:p>
              <a:p>
                <a:pPr marL="457200" indent="-457200">
                  <a:buFont typeface="+mj-lt"/>
                  <a:buAutoNum type="arabicPeriod" startAt="4"/>
                </a:pPr>
                <a:endParaRPr lang="en-US" sz="2000" dirty="0">
                  <a:latin typeface="Verdana" charset="0"/>
                  <a:ea typeface="Verdana" charset="0"/>
                  <a:cs typeface="Verdana" charset="0"/>
                </a:endParaRPr>
              </a:p>
              <a:p>
                <a:pPr marL="457200" indent="-457200">
                  <a:buFont typeface="+mj-lt"/>
                  <a:buAutoNum type="arabicPeriod" startAt="4"/>
                </a:pPr>
                <a:endParaRPr lang="en-US" sz="2000" dirty="0">
                  <a:latin typeface="Verdana" charset="0"/>
                  <a:ea typeface="Verdana" charset="0"/>
                  <a:cs typeface="Verdana" charset="0"/>
                </a:endParaRPr>
              </a:p>
              <a:p>
                <a:pPr marL="457200" indent="-457200">
                  <a:buFont typeface="+mj-lt"/>
                  <a:buAutoNum type="arabicPeriod" startAt="4"/>
                </a:pPr>
                <a:endParaRPr lang="en-US" sz="2000" dirty="0">
                  <a:latin typeface="Verdana" charset="0"/>
                  <a:ea typeface="Verdana" charset="0"/>
                  <a:cs typeface="Verdana" charset="0"/>
                </a:endParaRPr>
              </a:p>
              <a:p>
                <a:pPr marL="457200" indent="-457200">
                  <a:buFont typeface="+mj-lt"/>
                  <a:buAutoNum type="arabicPeriod" startAt="4"/>
                </a:pPr>
                <a:endParaRPr lang="en-US" sz="2000" dirty="0">
                  <a:latin typeface="Verdana" charset="0"/>
                  <a:ea typeface="Verdana" charset="0"/>
                  <a:cs typeface="Verdana" charset="0"/>
                </a:endParaRPr>
              </a:p>
              <a:p>
                <a:pPr marL="457200" indent="-457200">
                  <a:buFont typeface="+mj-lt"/>
                  <a:buAutoNum type="arabicPeriod" startAt="4"/>
                </a:pPr>
                <a:endParaRPr lang="en-US" sz="2000" dirty="0">
                  <a:latin typeface="Verdana" charset="0"/>
                  <a:ea typeface="Verdana" charset="0"/>
                  <a:cs typeface="Verdana" charset="0"/>
                </a:endParaRPr>
              </a:p>
              <a:p>
                <a:pPr marL="457200" indent="-457200">
                  <a:buFont typeface="+mj-lt"/>
                  <a:buAutoNum type="arabicPeriod" startAt="4"/>
                </a:pPr>
                <a:endParaRPr lang="en-US" sz="2000" dirty="0">
                  <a:latin typeface="Verdana" charset="0"/>
                  <a:ea typeface="Verdana" charset="0"/>
                  <a:cs typeface="Verdana" charset="0"/>
                </a:endParaRPr>
              </a:p>
              <a:p>
                <a:pPr marL="457200" indent="-457200">
                  <a:buFont typeface="+mj-lt"/>
                  <a:buAutoNum type="arabicPeriod" startAt="4"/>
                </a:pPr>
                <a:endParaRPr lang="en-US" sz="2000" dirty="0">
                  <a:latin typeface="Verdana" charset="0"/>
                  <a:ea typeface="Verdana" charset="0"/>
                  <a:cs typeface="Verdana" charset="0"/>
                </a:endParaRPr>
              </a:p>
              <a:p>
                <a:pPr marL="457200" indent="-457200">
                  <a:buFont typeface="+mj-lt"/>
                  <a:buAutoNum type="arabicPeriod" startAt="4"/>
                </a:pPr>
                <a:endParaRPr lang="en-US" sz="2000" dirty="0">
                  <a:latin typeface="Verdana" charset="0"/>
                  <a:ea typeface="Verdana" charset="0"/>
                  <a:cs typeface="Verdana" charset="0"/>
                </a:endParaRPr>
              </a:p>
              <a:p>
                <a:pPr marL="457200" indent="-457200">
                  <a:buFont typeface="+mj-lt"/>
                  <a:buAutoNum type="arabicPeriod" startAt="4"/>
                </a:pPr>
                <a:endParaRPr lang="en-US" sz="2000" dirty="0">
                  <a:latin typeface="Verdana" charset="0"/>
                  <a:ea typeface="Verdana" charset="0"/>
                  <a:cs typeface="Verdana" charset="0"/>
                </a:endParaRPr>
              </a:p>
              <a:p>
                <a:pPr marL="457200" indent="-457200">
                  <a:buFont typeface="+mj-lt"/>
                  <a:buAutoNum type="arabicPeriod" startAt="4"/>
                </a:pPr>
                <a:endParaRPr lang="en-US" sz="2000" dirty="0">
                  <a:latin typeface="Verdana" charset="0"/>
                  <a:ea typeface="Verdana" charset="0"/>
                  <a:cs typeface="Verdana" charset="0"/>
                </a:endParaRPr>
              </a:p>
              <a:p>
                <a:pPr marL="457200" indent="-457200">
                  <a:buFont typeface="+mj-lt"/>
                  <a:buAutoNum type="arabicPeriod" startAt="4"/>
                </a:pPr>
                <a:endParaRPr lang="en-US" sz="2000" dirty="0">
                  <a:latin typeface="Verdana" charset="0"/>
                  <a:ea typeface="Verdana" charset="0"/>
                  <a:cs typeface="Verdana" charset="0"/>
                </a:endParaRPr>
              </a:p>
              <a:p>
                <a:pPr marL="457200" indent="-457200">
                  <a:buFont typeface="+mj-lt"/>
                  <a:buAutoNum type="arabicPeriod" startAt="4"/>
                </a:pPr>
                <a:r>
                  <a:rPr lang="en-US" sz="2000" dirty="0">
                    <a:latin typeface="Verdana" charset="0"/>
                    <a:ea typeface="Verdana" charset="0"/>
                    <a:cs typeface="Verdana" charset="0"/>
                  </a:rPr>
                  <a:t>Discuss the following with your partner: If three sides of a triangle are congruent, does that mean all of the angles of the triangles are congruent too? Explain your decision and state the evidence used for the decision.</a:t>
                </a:r>
              </a:p>
              <a:p>
                <a:pPr marL="457200" indent="-457200">
                  <a:buFont typeface="+mj-lt"/>
                  <a:buAutoNum type="arabicPeriod" startAt="4"/>
                </a:pPr>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63850" y="520393"/>
                <a:ext cx="11231910" cy="5632311"/>
              </a:xfrm>
              <a:prstGeom prst="rect">
                <a:avLst/>
              </a:prstGeom>
              <a:blipFill>
                <a:blip r:embed="rId4"/>
                <a:stretch>
                  <a:fillRect l="-565" t="-449" r="-1243"/>
                </a:stretch>
              </a:blipFill>
            </p:spPr>
            <p:txBody>
              <a:bodyPr/>
              <a:lstStyle/>
              <a:p>
                <a:r>
                  <a:rPr lang="en-US">
                    <a:noFill/>
                  </a:rPr>
                  <a:t> </a:t>
                </a:r>
              </a:p>
            </p:txBody>
          </p:sp>
        </mc:Fallback>
      </mc:AlternateContent>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256683" y="1456879"/>
            <a:ext cx="5829300" cy="3086100"/>
          </a:xfrm>
          <a:prstGeom prst="rect">
            <a:avLst/>
          </a:prstGeom>
        </p:spPr>
      </p:pic>
    </p:spTree>
    <p:extLst>
      <p:ext uri="{BB962C8B-B14F-4D97-AF65-F5344CB8AC3E}">
        <p14:creationId xmlns:p14="http://schemas.microsoft.com/office/powerpoint/2010/main" val="650811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226</a:t>
            </a:r>
          </a:p>
        </p:txBody>
      </p:sp>
      <p:sp>
        <p:nvSpPr>
          <p:cNvPr id="14" name="TextBox 13">
            <a:extLst>
              <a:ext uri="{FF2B5EF4-FFF2-40B4-BE49-F238E27FC236}">
                <a16:creationId xmlns:a16="http://schemas.microsoft.com/office/drawing/2014/main" id="{2FA392D8-3ED3-7940-83A8-1451AA8A08D4}"/>
              </a:ext>
            </a:extLst>
          </p:cNvPr>
          <p:cNvSpPr txBox="1"/>
          <p:nvPr/>
        </p:nvSpPr>
        <p:spPr>
          <a:xfrm>
            <a:off x="347472" y="520393"/>
            <a:ext cx="9987429" cy="400110"/>
          </a:xfrm>
          <a:prstGeom prst="rect">
            <a:avLst/>
          </a:prstGeom>
          <a:noFill/>
        </p:spPr>
        <p:txBody>
          <a:bodyPr wrap="square" rtlCol="0">
            <a:spAutoFit/>
          </a:bodyPr>
          <a:lstStyle/>
          <a:p>
            <a:pPr marL="457200" indent="-457200">
              <a:buFont typeface="+mj-lt"/>
              <a:buAutoNum type="arabicPeriod" startAt="6"/>
            </a:pPr>
            <a:r>
              <a:rPr lang="en-US" sz="2000" dirty="0">
                <a:latin typeface="Verdana" charset="0"/>
                <a:ea typeface="Verdana" charset="0"/>
                <a:cs typeface="Verdana" charset="0"/>
              </a:rPr>
              <a:t>Two sets of triangles are shown.</a:t>
            </a:r>
          </a:p>
        </p:txBody>
      </p:sp>
      <mc:AlternateContent xmlns:mc="http://schemas.openxmlformats.org/markup-compatibility/2006" xmlns:a14="http://schemas.microsoft.com/office/drawing/2010/main">
        <mc:Choice Requires="a14">
          <p:sp>
            <p:nvSpPr>
              <p:cNvPr id="3" name="Rectangle 2"/>
              <p:cNvSpPr/>
              <p:nvPr/>
            </p:nvSpPr>
            <p:spPr>
              <a:xfrm>
                <a:off x="877824" y="3445195"/>
                <a:ext cx="10607040" cy="2323713"/>
              </a:xfrm>
              <a:prstGeom prst="rect">
                <a:avLst/>
              </a:prstGeom>
            </p:spPr>
            <p:txBody>
              <a:bodyPr wrap="square">
                <a:spAutoFit/>
              </a:bodyPr>
              <a:lstStyle/>
              <a:p>
                <a:pPr marL="342900" indent="-342900">
                  <a:spcAft>
                    <a:spcPts val="1000"/>
                  </a:spcAft>
                  <a:buFont typeface="+mj-lt"/>
                  <a:buAutoNum type="alphaLcPeriod"/>
                </a:pPr>
                <a:r>
                  <a:rPr lang="en-US" sz="2000" dirty="0">
                    <a:latin typeface="Verdana" charset="0"/>
                    <a:ea typeface="Verdana" charset="0"/>
                    <a:cs typeface="Verdana" charset="0"/>
                  </a:rPr>
                  <a:t>Use patty paper to determine if the sides of the two triangles are congruent.</a:t>
                </a:r>
              </a:p>
              <a:p>
                <a:pPr marL="342900" indent="-342900">
                  <a:spcAft>
                    <a:spcPts val="1000"/>
                  </a:spcAft>
                  <a:buFont typeface="+mj-lt"/>
                  <a:buAutoNum type="alphaLcPeriod"/>
                </a:pPr>
                <a14:m>
                  <m:oMath xmlns:m="http://schemas.openxmlformats.org/officeDocument/2006/math">
                    <m:r>
                      <a:rPr lang="en-US" sz="2000" i="1">
                        <a:latin typeface="Cambria Math" charset="0"/>
                        <a:ea typeface="Verdana" charset="0"/>
                        <a:cs typeface="Verdana" charset="0"/>
                      </a:rPr>
                      <m:t>∆________</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∆_______</m:t>
                    </m:r>
                  </m:oMath>
                </a14:m>
                <a:r>
                  <a:rPr lang="en-US" sz="2000" dirty="0">
                    <a:latin typeface="Verdana" charset="0"/>
                    <a:ea typeface="Verdana" charset="0"/>
                    <a:cs typeface="Verdana" charset="0"/>
                  </a:rPr>
                  <a:t> are congruent because all of the sides are congruent.</a:t>
                </a:r>
              </a:p>
              <a:p>
                <a:pPr marL="342900" indent="-342900">
                  <a:spcAft>
                    <a:spcPts val="1000"/>
                  </a:spcAft>
                  <a:buFont typeface="+mj-lt"/>
                  <a:buAutoNum type="alphaLcPeriod"/>
                </a:pPr>
                <a:r>
                  <a:rPr lang="en-US" sz="2000" dirty="0">
                    <a:latin typeface="Verdana" charset="0"/>
                    <a:ea typeface="Verdana" charset="0"/>
                    <a:cs typeface="Verdana" charset="0"/>
                  </a:rPr>
                  <a:t>For the two triangles that are congruent, use patty paper to verify that the angles are congruent.</a:t>
                </a:r>
              </a:p>
              <a:p>
                <a:pPr marL="342900" indent="-342900">
                  <a:spcAft>
                    <a:spcPts val="1000"/>
                  </a:spcAft>
                  <a:buFont typeface="+mj-lt"/>
                  <a:buAutoNum type="alphaLcPeriod"/>
                </a:pPr>
                <a:r>
                  <a:rPr lang="en-US" sz="2000" dirty="0">
                    <a:latin typeface="Verdana" charset="0"/>
                    <a:ea typeface="Verdana" charset="0"/>
                    <a:cs typeface="Verdana" charset="0"/>
                  </a:rPr>
                  <a:t>For the two triangles that are congruent, list the sides on each triangle that are congruent to each other.</a:t>
                </a:r>
              </a:p>
            </p:txBody>
          </p:sp>
        </mc:Choice>
        <mc:Fallback xmlns="">
          <p:sp>
            <p:nvSpPr>
              <p:cNvPr id="3" name="Rectangle 2"/>
              <p:cNvSpPr>
                <a:spLocks noRot="1" noChangeAspect="1" noMove="1" noResize="1" noEditPoints="1" noAdjustHandles="1" noChangeArrowheads="1" noChangeShapeType="1" noTextEdit="1"/>
              </p:cNvSpPr>
              <p:nvPr/>
            </p:nvSpPr>
            <p:spPr>
              <a:xfrm>
                <a:off x="877824" y="3445195"/>
                <a:ext cx="10607040" cy="2323713"/>
              </a:xfrm>
              <a:prstGeom prst="rect">
                <a:avLst/>
              </a:prstGeom>
              <a:blipFill>
                <a:blip r:embed="rId5"/>
                <a:stretch>
                  <a:fillRect l="-598" t="-1630" b="-3804"/>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6476251A-8331-64B2-6C67-710B0EDCA184}"/>
              </a:ext>
            </a:extLst>
          </p:cNvPr>
          <p:cNvPicPr>
            <a:picLocks noChangeAspect="1"/>
          </p:cNvPicPr>
          <p:nvPr/>
        </p:nvPicPr>
        <p:blipFill>
          <a:blip r:embed="rId6"/>
          <a:stretch>
            <a:fillRect/>
          </a:stretch>
        </p:blipFill>
        <p:spPr>
          <a:xfrm>
            <a:off x="3543799" y="1032867"/>
            <a:ext cx="4914401" cy="2299964"/>
          </a:xfrm>
          <a:prstGeom prst="rect">
            <a:avLst/>
          </a:prstGeom>
        </p:spPr>
      </p:pic>
    </p:spTree>
    <p:extLst>
      <p:ext uri="{BB962C8B-B14F-4D97-AF65-F5344CB8AC3E}">
        <p14:creationId xmlns:p14="http://schemas.microsoft.com/office/powerpoint/2010/main" val="417464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227</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329184" y="520393"/>
                <a:ext cx="10005717" cy="400110"/>
              </a:xfrm>
              <a:prstGeom prst="rect">
                <a:avLst/>
              </a:prstGeom>
              <a:noFill/>
            </p:spPr>
            <p:txBody>
              <a:bodyPr wrap="square" rtlCol="0">
                <a:spAutoFit/>
              </a:bodyPr>
              <a:lstStyle/>
              <a:p>
                <a:pPr marL="457200" indent="-457200">
                  <a:buFont typeface="+mj-lt"/>
                  <a:buAutoNum type="arabicPeriod" startAt="7"/>
                </a:pP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𝐾𝑋𝐵</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𝐻𝐹𝑀</m:t>
                    </m:r>
                  </m:oMath>
                </a14:m>
                <a:r>
                  <a:rPr lang="en-US" sz="2000" dirty="0">
                    <a:latin typeface="Verdana" charset="0"/>
                    <a:ea typeface="Verdana" charset="0"/>
                    <a:cs typeface="Verdana" charset="0"/>
                  </a:rPr>
                  <a:t> are shown. </a:t>
                </a:r>
                <a14:m>
                  <m:oMath xmlns:m="http://schemas.openxmlformats.org/officeDocument/2006/math">
                    <m:r>
                      <a:rPr lang="en-US" sz="2000" i="1">
                        <a:latin typeface="Cambria Math" charset="0"/>
                        <a:ea typeface="Verdana" charset="0"/>
                        <a:cs typeface="Verdana" charset="0"/>
                      </a:rPr>
                      <m:t>𝐻𝑀</m:t>
                    </m:r>
                    <m:r>
                      <a:rPr lang="en-US" sz="2000" i="1">
                        <a:latin typeface="Cambria Math" charset="0"/>
                        <a:ea typeface="Verdana" charset="0"/>
                        <a:cs typeface="Verdana" charset="0"/>
                      </a:rPr>
                      <m:t>=4.2</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𝑋𝐵</m:t>
                    </m:r>
                    <m:r>
                      <a:rPr lang="en-US" sz="2000" i="1">
                        <a:latin typeface="Cambria Math" charset="0"/>
                        <a:ea typeface="Verdana" charset="0"/>
                        <a:cs typeface="Verdana" charset="0"/>
                      </a:rPr>
                      <m:t>=4.2</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𝑋𝐾</m:t>
                    </m:r>
                    <m:r>
                      <a:rPr lang="en-US" sz="2000" i="1">
                        <a:latin typeface="Cambria Math" charset="0"/>
                        <a:ea typeface="Verdana" charset="0"/>
                        <a:cs typeface="Verdana" charset="0"/>
                      </a:rPr>
                      <m:t>=5</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𝐾𝐵</m:t>
                    </m:r>
                    <m:r>
                      <a:rPr lang="en-US" sz="2000" i="1">
                        <a:latin typeface="Cambria Math" charset="0"/>
                        <a:ea typeface="Verdana" charset="0"/>
                        <a:cs typeface="Verdana" charset="0"/>
                      </a:rPr>
                      <m:t>=4.4</m:t>
                    </m:r>
                  </m:oMath>
                </a14:m>
                <a:r>
                  <a:rPr lang="en-US" sz="2000" dirty="0">
                    <a:latin typeface="Verdana" charset="0"/>
                    <a:ea typeface="Verdana" charset="0"/>
                    <a:cs typeface="Verdana"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29184" y="520393"/>
                <a:ext cx="10005717" cy="400110"/>
              </a:xfrm>
              <a:prstGeom prst="rect">
                <a:avLst/>
              </a:prstGeom>
              <a:blipFill>
                <a:blip r:embed="rId4"/>
                <a:stretch>
                  <a:fillRect l="-253" t="-6061" b="-24242"/>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897481" y="1228280"/>
            <a:ext cx="4547704" cy="2957935"/>
          </a:xfrm>
          <a:prstGeom prst="rect">
            <a:avLst/>
          </a:prstGeom>
        </p:spPr>
      </p:pic>
      <mc:AlternateContent xmlns:mc="http://schemas.openxmlformats.org/markup-compatibility/2006" xmlns:a14="http://schemas.microsoft.com/office/drawing/2010/main">
        <mc:Choice Requires="a14">
          <p:sp>
            <p:nvSpPr>
              <p:cNvPr id="5" name="Rectangle 4"/>
              <p:cNvSpPr/>
              <p:nvPr/>
            </p:nvSpPr>
            <p:spPr>
              <a:xfrm>
                <a:off x="987552" y="4557039"/>
                <a:ext cx="10378440" cy="707886"/>
              </a:xfrm>
              <a:prstGeom prst="rect">
                <a:avLst/>
              </a:prstGeom>
            </p:spPr>
            <p:txBody>
              <a:bodyPr wrap="square">
                <a:spAutoFit/>
              </a:bodyPr>
              <a:lstStyle/>
              <a:p>
                <a:pPr marL="342900" indent="-342900">
                  <a:spcAft>
                    <a:spcPts val="1000"/>
                  </a:spcAft>
                  <a:buFont typeface="+mj-lt"/>
                  <a:buAutoNum type="alphaLcPeriod"/>
                </a:pPr>
                <a:r>
                  <a:rPr lang="en-US" sz="2000" dirty="0">
                    <a:latin typeface="Verdana" charset="0"/>
                    <a:ea typeface="Verdana" charset="0"/>
                    <a:cs typeface="Verdana" charset="0"/>
                  </a:rPr>
                  <a:t>Discuss with your partner if the given measurements are sufficient to determine whether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𝐾𝑋𝐵</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𝐻𝐹𝑀</m:t>
                    </m:r>
                  </m:oMath>
                </a14:m>
                <a:r>
                  <a:rPr lang="en-US" sz="2000" dirty="0">
                    <a:latin typeface="Verdana" charset="0"/>
                    <a:ea typeface="Verdana" charset="0"/>
                    <a:cs typeface="Verdana" charset="0"/>
                  </a:rPr>
                  <a:t> are congruent. Explain your decision.</a:t>
                </a:r>
              </a:p>
            </p:txBody>
          </p:sp>
        </mc:Choice>
        <mc:Fallback xmlns="">
          <p:sp>
            <p:nvSpPr>
              <p:cNvPr id="5" name="Rectangle 4"/>
              <p:cNvSpPr>
                <a:spLocks noRot="1" noChangeAspect="1" noMove="1" noResize="1" noEditPoints="1" noAdjustHandles="1" noChangeArrowheads="1" noChangeShapeType="1" noTextEdit="1"/>
              </p:cNvSpPr>
              <p:nvPr/>
            </p:nvSpPr>
            <p:spPr>
              <a:xfrm>
                <a:off x="987552" y="4557039"/>
                <a:ext cx="10378440" cy="707886"/>
              </a:xfrm>
              <a:prstGeom prst="rect">
                <a:avLst/>
              </a:prstGeom>
              <a:blipFill>
                <a:blip r:embed="rId6"/>
                <a:stretch>
                  <a:fillRect l="-611" t="-5357" b="-14286"/>
                </a:stretch>
              </a:blipFill>
            </p:spPr>
            <p:txBody>
              <a:bodyPr/>
              <a:lstStyle/>
              <a:p>
                <a:r>
                  <a:rPr lang="en-US">
                    <a:noFill/>
                  </a:rPr>
                  <a:t> </a:t>
                </a:r>
              </a:p>
            </p:txBody>
          </p:sp>
        </mc:Fallback>
      </mc:AlternateContent>
    </p:spTree>
    <p:extLst>
      <p:ext uri="{BB962C8B-B14F-4D97-AF65-F5344CB8AC3E}">
        <p14:creationId xmlns:p14="http://schemas.microsoft.com/office/powerpoint/2010/main" val="2031833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4333"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381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79817"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227</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57784" y="520394"/>
                <a:ext cx="9777117" cy="3170099"/>
              </a:xfrm>
              <a:prstGeom prst="rect">
                <a:avLst/>
              </a:prstGeom>
              <a:noFill/>
            </p:spPr>
            <p:txBody>
              <a:bodyPr wrap="square" rtlCol="0">
                <a:spAutoFit/>
              </a:bodyPr>
              <a:lstStyle/>
              <a:p>
                <a:pPr marL="352425" indent="-339725"/>
                <a:r>
                  <a:rPr lang="en-US" sz="2000" dirty="0">
                    <a:latin typeface="Verdana" charset="0"/>
                    <a:ea typeface="Verdana" charset="0"/>
                    <a:cs typeface="Verdana" charset="0"/>
                  </a:rPr>
                  <a:t>b. Use patty paper, a protractor, a ruler, or a compass to measure all of the parts of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𝐾𝑋𝐵</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𝐻𝐹𝑀</m:t>
                    </m:r>
                  </m:oMath>
                </a14:m>
                <a:r>
                  <a:rPr lang="en-US" sz="2000" dirty="0">
                    <a:latin typeface="Verdana" charset="0"/>
                    <a:ea typeface="Verdana" charset="0"/>
                    <a:cs typeface="Verdana" charset="0"/>
                  </a:rPr>
                  <a:t>.  Then, complete the sentence.</a:t>
                </a:r>
              </a:p>
              <a:p>
                <a:pPr marL="352425" indent="-339725"/>
                <a:endParaRPr lang="en-US" sz="2000" dirty="0">
                  <a:latin typeface="Verdana" charset="0"/>
                  <a:ea typeface="Verdana" charset="0"/>
                  <a:cs typeface="Verdana" charset="0"/>
                </a:endParaRPr>
              </a:p>
              <a:p>
                <a:pPr marL="352425" indent="-339725"/>
                <a:endParaRPr lang="en-US" sz="2000" dirty="0">
                  <a:latin typeface="Verdana" charset="0"/>
                  <a:ea typeface="Verdana" charset="0"/>
                  <a:cs typeface="Verdana" charset="0"/>
                </a:endParaRPr>
              </a:p>
              <a:p>
                <a:pPr marL="287338"/>
                <a14:m>
                  <m:oMath xmlns:m="http://schemas.openxmlformats.org/officeDocument/2006/math">
                    <m:r>
                      <a:rPr lang="en-US" sz="2000" i="1">
                        <a:latin typeface="Cambria Math" charset="0"/>
                      </a:rPr>
                      <m:t>∆</m:t>
                    </m:r>
                    <m:r>
                      <a:rPr lang="en-US" sz="2000" i="1">
                        <a:latin typeface="Cambria Math" charset="0"/>
                      </a:rPr>
                      <m:t>𝐾𝑋𝐵</m:t>
                    </m:r>
                  </m:oMath>
                </a14:m>
                <a:r>
                  <a:rPr lang="en-US" sz="2000" dirty="0"/>
                  <a:t> and </a:t>
                </a:r>
                <a14:m>
                  <m:oMath xmlns:m="http://schemas.openxmlformats.org/officeDocument/2006/math">
                    <m:r>
                      <a:rPr lang="en-US" sz="2000" i="1">
                        <a:latin typeface="Cambria Math" charset="0"/>
                      </a:rPr>
                      <m:t>∆</m:t>
                    </m:r>
                    <m:r>
                      <a:rPr lang="en-US" sz="2000" i="1">
                        <a:latin typeface="Cambria Math" charset="0"/>
                      </a:rPr>
                      <m:t>𝐻𝐹𝑀</m:t>
                    </m:r>
                  </m:oMath>
                </a14:m>
                <a:r>
                  <a:rPr lang="en-US" sz="2000" dirty="0"/>
                  <a:t>                                             because</a:t>
                </a:r>
              </a:p>
              <a:p>
                <a:pPr marL="287338"/>
                <a:endParaRPr lang="en-US" sz="2000" dirty="0"/>
              </a:p>
              <a:p>
                <a:pPr marL="287338"/>
                <a:endParaRPr lang="en-US" sz="2000" dirty="0"/>
              </a:p>
              <a:p>
                <a:pPr marL="287338"/>
                <a:endParaRPr lang="en-US" sz="2000" dirty="0"/>
              </a:p>
              <a:p>
                <a:pPr marL="287338"/>
                <a:endParaRPr lang="en-US" sz="2000" dirty="0"/>
              </a:p>
              <a:p>
                <a:pPr marL="287338"/>
                <a:r>
                  <a:rPr lang="en-US" sz="2000" dirty="0"/>
                  <a:t>side(s) and                   angle(s) are congruent. </a:t>
                </a:r>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57784" y="520394"/>
                <a:ext cx="9777117" cy="3170099"/>
              </a:xfrm>
              <a:prstGeom prst="rect">
                <a:avLst/>
              </a:prstGeom>
              <a:blipFill>
                <a:blip r:embed="rId4"/>
                <a:stretch>
                  <a:fillRect l="-649" t="-797" b="-2789"/>
                </a:stretch>
              </a:blipFill>
            </p:spPr>
            <p:txBody>
              <a:bodyPr/>
              <a:lstStyle/>
              <a:p>
                <a:r>
                  <a:rPr lang="en-US">
                    <a:noFill/>
                  </a:rPr>
                  <a:t> </a:t>
                </a:r>
              </a:p>
            </p:txBody>
          </p:sp>
        </mc:Fallback>
      </mc:AlternateContent>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106275" y="1340999"/>
            <a:ext cx="2819400" cy="1257300"/>
          </a:xfrm>
          <a:prstGeom prst="rect">
            <a:avLst/>
          </a:prstGeom>
        </p:spPr>
      </p:pic>
      <p:pic>
        <p:nvPicPr>
          <p:cNvPr id="3" name="Picture 2"/>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984860" y="1196098"/>
            <a:ext cx="906001" cy="1630801"/>
          </a:xfrm>
          <a:prstGeom prst="rect">
            <a:avLst/>
          </a:prstGeom>
        </p:spPr>
      </p:pic>
      <p:pic>
        <p:nvPicPr>
          <p:cNvPr id="8" name="Picture 7"/>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2458071" y="2525466"/>
            <a:ext cx="952500" cy="1714500"/>
          </a:xfrm>
          <a:prstGeom prst="rect">
            <a:avLst/>
          </a:prstGeom>
        </p:spPr>
      </p:pic>
    </p:spTree>
    <p:extLst>
      <p:ext uri="{BB962C8B-B14F-4D97-AF65-F5344CB8AC3E}">
        <p14:creationId xmlns:p14="http://schemas.microsoft.com/office/powerpoint/2010/main" val="1191226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227</a:t>
            </a:r>
          </a:p>
        </p:txBody>
      </p:sp>
      <mc:AlternateContent xmlns:mc="http://schemas.openxmlformats.org/markup-compatibility/2006" xmlns:a14="http://schemas.microsoft.com/office/drawing/2010/main">
        <mc:Choice Requires="a14">
          <p:sp>
            <p:nvSpPr>
              <p:cNvPr id="4" name="Rectangle 3"/>
              <p:cNvSpPr/>
              <p:nvPr/>
            </p:nvSpPr>
            <p:spPr>
              <a:xfrm>
                <a:off x="411481" y="515027"/>
                <a:ext cx="9641496" cy="708592"/>
              </a:xfrm>
              <a:prstGeom prst="rect">
                <a:avLst/>
              </a:prstGeom>
            </p:spPr>
            <p:txBody>
              <a:bodyPr wrap="square">
                <a:spAutoFit/>
              </a:bodyPr>
              <a:lstStyle/>
              <a:p>
                <a:pPr marL="457200" indent="-457200">
                  <a:spcAft>
                    <a:spcPts val="1000"/>
                  </a:spcAft>
                  <a:buSzPts val="1800"/>
                  <a:buFont typeface="+mj-lt"/>
                  <a:buAutoNum type="arabicPeriod" startAt="8"/>
                </a:pPr>
                <a:r>
                  <a:rPr lang="en-US" sz="2000" dirty="0">
                    <a:latin typeface="Verdana" charset="0"/>
                    <a:ea typeface="Verdana" charset="0"/>
                    <a:cs typeface="Verdana" charset="0"/>
                  </a:rPr>
                  <a:t>A series oaf transformations shows how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𝐵𝑋</m:t>
                        </m:r>
                      </m:e>
                    </m:acc>
                  </m:oMath>
                </a14:m>
                <a:r>
                  <a:rPr lang="en-US" sz="2000" dirty="0">
                    <a:latin typeface="Verdana" charset="0"/>
                    <a:ea typeface="Verdana" charset="0"/>
                    <a:cs typeface="Verdana" charset="0"/>
                  </a:rPr>
                  <a:t>,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𝑋𝑁</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𝐵𝑁</m:t>
                        </m:r>
                      </m:e>
                    </m:acc>
                  </m:oMath>
                </a14:m>
                <a:r>
                  <a:rPr lang="en-US" sz="2000" dirty="0">
                    <a:latin typeface="Verdana" charset="0"/>
                    <a:ea typeface="Verdana" charset="0"/>
                    <a:cs typeface="Verdana" charset="0"/>
                  </a:rPr>
                  <a:t> were translated, then rotated </a:t>
                </a:r>
                <a14:m>
                  <m:oMath xmlns:m="http://schemas.openxmlformats.org/officeDocument/2006/math">
                    <m:r>
                      <a:rPr lang="en-US" sz="2000" i="1">
                        <a:latin typeface="Cambria Math" charset="0"/>
                        <a:ea typeface="Verdana" charset="0"/>
                        <a:cs typeface="Verdana" charset="0"/>
                      </a:rPr>
                      <m:t>90°</m:t>
                    </m:r>
                  </m:oMath>
                </a14:m>
                <a:r>
                  <a:rPr lang="en-US" sz="2000" dirty="0">
                    <a:latin typeface="Verdana" charset="0"/>
                    <a:ea typeface="Verdana" charset="0"/>
                    <a:cs typeface="Verdana" charset="0"/>
                  </a:rPr>
                  <a:t> about point </a:t>
                </a:r>
                <a14:m>
                  <m:oMath xmlns:m="http://schemas.openxmlformats.org/officeDocument/2006/math">
                    <m:r>
                      <a:rPr lang="en-US" sz="2000" i="1">
                        <a:latin typeface="Cambria Math" charset="0"/>
                        <a:ea typeface="Verdana" charset="0"/>
                        <a:cs typeface="Verdana" charset="0"/>
                      </a:rPr>
                      <m:t>𝑇</m:t>
                    </m:r>
                  </m:oMath>
                </a14:m>
                <a:r>
                  <a:rPr lang="en-US" sz="2000" dirty="0">
                    <a:latin typeface="Verdana" charset="0"/>
                    <a:ea typeface="Verdana" charset="0"/>
                    <a:cs typeface="Verdana" charset="0"/>
                  </a:rPr>
                  <a:t> to create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𝑆𝐷</m:t>
                        </m:r>
                      </m:e>
                    </m:acc>
                  </m:oMath>
                </a14:m>
                <a:r>
                  <a:rPr lang="en-US" sz="2000" dirty="0">
                    <a:latin typeface="Verdana" charset="0"/>
                    <a:ea typeface="Verdana" charset="0"/>
                    <a:cs typeface="Verdana" charset="0"/>
                  </a:rPr>
                  <a:t>,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𝐷𝑇</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𝑇𝑆</m:t>
                        </m:r>
                      </m:e>
                    </m:acc>
                  </m:oMath>
                </a14:m>
                <a:r>
                  <a:rPr lang="en-US" sz="2000" dirty="0">
                    <a:latin typeface="Verdana" charset="0"/>
                    <a:ea typeface="Verdana" charset="0"/>
                    <a:cs typeface="Verdana" charset="0"/>
                  </a:rPr>
                  <a:t>. </a:t>
                </a:r>
              </a:p>
            </p:txBody>
          </p:sp>
        </mc:Choice>
        <mc:Fallback xmlns="">
          <p:sp>
            <p:nvSpPr>
              <p:cNvPr id="4" name="Rectangle 3"/>
              <p:cNvSpPr>
                <a:spLocks noRot="1" noChangeAspect="1" noMove="1" noResize="1" noEditPoints="1" noAdjustHandles="1" noChangeArrowheads="1" noChangeShapeType="1" noTextEdit="1"/>
              </p:cNvSpPr>
              <p:nvPr/>
            </p:nvSpPr>
            <p:spPr>
              <a:xfrm>
                <a:off x="411481" y="515027"/>
                <a:ext cx="9641496" cy="708592"/>
              </a:xfrm>
              <a:prstGeom prst="rect">
                <a:avLst/>
              </a:prstGeom>
              <a:blipFill>
                <a:blip r:embed="rId4"/>
                <a:stretch>
                  <a:fillRect l="-526" t="-5263" b="-14035"/>
                </a:stretch>
              </a:blipFill>
            </p:spPr>
            <p:txBody>
              <a:bodyPr/>
              <a:lstStyle/>
              <a:p>
                <a:r>
                  <a:rPr lang="en-US">
                    <a:noFill/>
                  </a:rPr>
                  <a:t> </a:t>
                </a:r>
              </a:p>
            </p:txBody>
          </p:sp>
        </mc:Fallback>
      </mc:AlternateContent>
      <p:pic>
        <p:nvPicPr>
          <p:cNvPr id="5" name="Picture 4"/>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176759" y="1802588"/>
            <a:ext cx="3876216" cy="2781512"/>
          </a:xfrm>
          <a:prstGeom prst="rect">
            <a:avLst/>
          </a:prstGeom>
        </p:spPr>
      </p:pic>
      <mc:AlternateContent xmlns:mc="http://schemas.openxmlformats.org/markup-compatibility/2006" xmlns:a14="http://schemas.microsoft.com/office/drawing/2010/main">
        <mc:Choice Requires="a14">
          <p:sp>
            <p:nvSpPr>
              <p:cNvPr id="6" name="Rectangle 5"/>
              <p:cNvSpPr/>
              <p:nvPr/>
            </p:nvSpPr>
            <p:spPr>
              <a:xfrm>
                <a:off x="1014985" y="1802589"/>
                <a:ext cx="4981626" cy="2503249"/>
              </a:xfrm>
              <a:prstGeom prst="rect">
                <a:avLst/>
              </a:prstGeom>
            </p:spPr>
            <p:txBody>
              <a:bodyPr wrap="square">
                <a:spAutoFit/>
              </a:bodyPr>
              <a:lstStyle/>
              <a:p>
                <a:pPr marL="342900" indent="-342900">
                  <a:spcAft>
                    <a:spcPts val="1000"/>
                  </a:spcAft>
                  <a:buFont typeface="+mj-lt"/>
                  <a:buAutoNum type="alphaLcPeriod"/>
                </a:pPr>
                <a:r>
                  <a:rPr lang="en-US" sz="2000" dirty="0">
                    <a:latin typeface="Verdana" charset="0"/>
                    <a:ea typeface="Verdana" charset="0"/>
                    <a:cs typeface="Verdana" charset="0"/>
                  </a:rPr>
                  <a:t>Use the grid to determine if </a:t>
                </a:r>
                <a14:m>
                  <m:oMath xmlns:m="http://schemas.openxmlformats.org/officeDocument/2006/math">
                    <m:r>
                      <a:rPr lang="en-US" sz="2000" i="1">
                        <a:latin typeface="Cambria Math" charset="0"/>
                        <a:ea typeface="Verdana" charset="0"/>
                        <a:cs typeface="Verdana" charset="0"/>
                      </a:rPr>
                      <m:t>𝐵𝑁</m:t>
                    </m:r>
                    <m:r>
                      <a:rPr lang="en-US" sz="2000" i="1">
                        <a:latin typeface="Cambria Math" charset="0"/>
                        <a:ea typeface="Verdana" charset="0"/>
                        <a:cs typeface="Verdana" charset="0"/>
                      </a:rPr>
                      <m:t>=</m:t>
                    </m:r>
                    <m:r>
                      <a:rPr lang="en-US" sz="2000" i="1">
                        <a:latin typeface="Cambria Math" charset="0"/>
                        <a:ea typeface="Verdana" charset="0"/>
                        <a:cs typeface="Verdana" charset="0"/>
                      </a:rPr>
                      <m:t>𝑇𝑆</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𝐵𝑋</m:t>
                    </m:r>
                    <m:r>
                      <a:rPr lang="en-US" sz="2000" i="1">
                        <a:latin typeface="Cambria Math" charset="0"/>
                        <a:ea typeface="Verdana" charset="0"/>
                        <a:cs typeface="Verdana" charset="0"/>
                      </a:rPr>
                      <m:t>=</m:t>
                    </m:r>
                    <m:r>
                      <a:rPr lang="en-US" sz="2000" i="1">
                        <a:latin typeface="Cambria Math" charset="0"/>
                        <a:ea typeface="Verdana" charset="0"/>
                        <a:cs typeface="Verdana" charset="0"/>
                      </a:rPr>
                      <m:t>𝐷𝑆</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𝑋𝑁</m:t>
                    </m:r>
                    <m:r>
                      <a:rPr lang="en-US" sz="2000" i="1">
                        <a:latin typeface="Cambria Math" charset="0"/>
                        <a:ea typeface="Verdana" charset="0"/>
                        <a:cs typeface="Verdana" charset="0"/>
                      </a:rPr>
                      <m:t>=</m:t>
                    </m:r>
                    <m:r>
                      <a:rPr lang="en-US" sz="2000" i="1">
                        <a:latin typeface="Cambria Math" charset="0"/>
                        <a:ea typeface="Verdana" charset="0"/>
                        <a:cs typeface="Verdana" charset="0"/>
                      </a:rPr>
                      <m:t>𝑇𝐷</m:t>
                    </m:r>
                  </m:oMath>
                </a14:m>
                <a:r>
                  <a:rPr lang="en-US" sz="2000" dirty="0">
                    <a:latin typeface="Verdana" charset="0"/>
                    <a:ea typeface="Verdana" charset="0"/>
                    <a:cs typeface="Verdana" charset="0"/>
                  </a:rPr>
                  <a:t>.</a:t>
                </a:r>
              </a:p>
              <a:p>
                <a:pPr marL="342900" indent="-342900">
                  <a:spcAft>
                    <a:spcPts val="1000"/>
                  </a:spcAft>
                  <a:buFont typeface="+mj-lt"/>
                  <a:buAutoNum type="alphaLcPeriod"/>
                </a:pPr>
                <a:endParaRPr lang="en-US" sz="2000" dirty="0">
                  <a:latin typeface="Verdana" charset="0"/>
                  <a:ea typeface="Verdana" charset="0"/>
                  <a:cs typeface="Verdana" charset="0"/>
                </a:endParaRPr>
              </a:p>
              <a:p>
                <a:pPr marL="342900" indent="-342900">
                  <a:spcAft>
                    <a:spcPts val="1000"/>
                  </a:spcAft>
                  <a:buFont typeface="+mj-lt"/>
                  <a:buAutoNum type="alphaLcPeriod"/>
                </a:pPr>
                <a:r>
                  <a:rPr lang="en-US" sz="2000" dirty="0">
                    <a:latin typeface="Verdana" charset="0"/>
                    <a:ea typeface="Verdana" charset="0"/>
                    <a:cs typeface="Verdana" charset="0"/>
                  </a:rPr>
                  <a:t>Discuss with your partner how the transformations that were used ensure that the length of each line segment was preserved.</a:t>
                </a:r>
              </a:p>
            </p:txBody>
          </p:sp>
        </mc:Choice>
        <mc:Fallback xmlns="">
          <p:sp>
            <p:nvSpPr>
              <p:cNvPr id="6" name="Rectangle 5"/>
              <p:cNvSpPr>
                <a:spLocks noRot="1" noChangeAspect="1" noMove="1" noResize="1" noEditPoints="1" noAdjustHandles="1" noChangeArrowheads="1" noChangeShapeType="1" noTextEdit="1"/>
              </p:cNvSpPr>
              <p:nvPr/>
            </p:nvSpPr>
            <p:spPr>
              <a:xfrm>
                <a:off x="1014985" y="1802589"/>
                <a:ext cx="4981626" cy="2503249"/>
              </a:xfrm>
              <a:prstGeom prst="rect">
                <a:avLst/>
              </a:prstGeom>
              <a:blipFill>
                <a:blip r:embed="rId6"/>
                <a:stretch>
                  <a:fillRect l="-1527" t="-1523" r="-2036" b="-3553"/>
                </a:stretch>
              </a:blipFill>
            </p:spPr>
            <p:txBody>
              <a:bodyPr/>
              <a:lstStyle/>
              <a:p>
                <a:r>
                  <a:rPr lang="en-US">
                    <a:noFill/>
                  </a:rPr>
                  <a:t> </a:t>
                </a:r>
              </a:p>
            </p:txBody>
          </p:sp>
        </mc:Fallback>
      </mc:AlternateContent>
    </p:spTree>
    <p:extLst>
      <p:ext uri="{BB962C8B-B14F-4D97-AF65-F5344CB8AC3E}">
        <p14:creationId xmlns:p14="http://schemas.microsoft.com/office/powerpoint/2010/main" val="2149402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2899"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68899"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228</a:t>
            </a:r>
          </a:p>
        </p:txBody>
      </p:sp>
      <p:sp>
        <p:nvSpPr>
          <p:cNvPr id="2" name="Rectangle 1"/>
          <p:cNvSpPr/>
          <p:nvPr/>
        </p:nvSpPr>
        <p:spPr>
          <a:xfrm>
            <a:off x="384049" y="495372"/>
            <a:ext cx="11782700" cy="400110"/>
          </a:xfrm>
          <a:prstGeom prst="rect">
            <a:avLst/>
          </a:prstGeom>
        </p:spPr>
        <p:txBody>
          <a:bodyPr wrap="square">
            <a:spAutoFit/>
          </a:bodyPr>
          <a:lstStyle/>
          <a:p>
            <a:pPr marL="457200" indent="-457200">
              <a:spcAft>
                <a:spcPts val="1000"/>
              </a:spcAft>
              <a:buFont typeface="+mj-lt"/>
              <a:buAutoNum type="alphaLcPeriod" startAt="3"/>
            </a:pPr>
            <a:r>
              <a:rPr lang="en-US" sz="2000" dirty="0">
                <a:latin typeface="Verdana" charset="0"/>
                <a:ea typeface="Times New Roman" charset="0"/>
                <a:cs typeface="Times New Roman" charset="0"/>
              </a:rPr>
              <a:t>Use the word bank to complete the statements. Words may be used more than once.</a:t>
            </a:r>
            <a:endParaRPr lang="en-US" sz="2000" dirty="0">
              <a:latin typeface="Cambria" charset="0"/>
              <a:ea typeface="Times New Roman" charset="0"/>
              <a:cs typeface="Times New Roman"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467988190"/>
              </p:ext>
            </p:extLst>
          </p:nvPr>
        </p:nvGraphicFramePr>
        <p:xfrm>
          <a:off x="2698747" y="1558670"/>
          <a:ext cx="6767829" cy="750570"/>
        </p:xfrm>
        <a:graphic>
          <a:graphicData uri="http://schemas.openxmlformats.org/drawingml/2006/table">
            <a:tbl>
              <a:tblPr firstRow="1" firstCol="1" bandRow="1"/>
              <a:tblGrid>
                <a:gridCol w="1014920">
                  <a:extLst>
                    <a:ext uri="{9D8B030D-6E8A-4147-A177-3AD203B41FA5}">
                      <a16:colId xmlns:a16="http://schemas.microsoft.com/office/drawing/2014/main" val="20000"/>
                    </a:ext>
                  </a:extLst>
                </a:gridCol>
                <a:gridCol w="1466490">
                  <a:extLst>
                    <a:ext uri="{9D8B030D-6E8A-4147-A177-3AD203B41FA5}">
                      <a16:colId xmlns:a16="http://schemas.microsoft.com/office/drawing/2014/main" val="20001"/>
                    </a:ext>
                  </a:extLst>
                </a:gridCol>
                <a:gridCol w="1635432">
                  <a:extLst>
                    <a:ext uri="{9D8B030D-6E8A-4147-A177-3AD203B41FA5}">
                      <a16:colId xmlns:a16="http://schemas.microsoft.com/office/drawing/2014/main" val="20002"/>
                    </a:ext>
                  </a:extLst>
                </a:gridCol>
                <a:gridCol w="902504">
                  <a:extLst>
                    <a:ext uri="{9D8B030D-6E8A-4147-A177-3AD203B41FA5}">
                      <a16:colId xmlns:a16="http://schemas.microsoft.com/office/drawing/2014/main" val="20003"/>
                    </a:ext>
                  </a:extLst>
                </a:gridCol>
                <a:gridCol w="1748483">
                  <a:extLst>
                    <a:ext uri="{9D8B030D-6E8A-4147-A177-3AD203B41FA5}">
                      <a16:colId xmlns:a16="http://schemas.microsoft.com/office/drawing/2014/main" val="20004"/>
                    </a:ext>
                  </a:extLst>
                </a:gridCol>
              </a:tblGrid>
              <a:tr h="279400">
                <a:tc gridSpan="5">
                  <a:txBody>
                    <a:bodyPr/>
                    <a:lstStyle/>
                    <a:p>
                      <a:pPr marL="0" marR="0" algn="ctr">
                        <a:spcBef>
                          <a:spcPts val="0"/>
                        </a:spcBef>
                        <a:spcAft>
                          <a:spcPts val="0"/>
                        </a:spcAft>
                      </a:pPr>
                      <a:r>
                        <a:rPr lang="en-US" sz="1800" b="1">
                          <a:effectLst/>
                          <a:latin typeface="Verdana" charset="0"/>
                          <a:ea typeface="Times New Roman" charset="0"/>
                          <a:cs typeface="Times New Roman" charset="0"/>
                        </a:rPr>
                        <a:t>Word Bank</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71170">
                <a:tc>
                  <a:txBody>
                    <a:bodyPr/>
                    <a:lstStyle/>
                    <a:p>
                      <a:pPr marL="0" marR="0" algn="ctr">
                        <a:spcBef>
                          <a:spcPts val="0"/>
                        </a:spcBef>
                        <a:spcAft>
                          <a:spcPts val="0"/>
                        </a:spcAft>
                      </a:pPr>
                      <a:r>
                        <a:rPr lang="en-US" sz="1800">
                          <a:effectLst/>
                          <a:latin typeface="Verdana" charset="0"/>
                          <a:ea typeface="Times New Roman" charset="0"/>
                          <a:cs typeface="Times New Roman" charset="0"/>
                        </a:rPr>
                        <a:t>angles</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congruent</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congruence</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parts</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charset="0"/>
                          <a:ea typeface="Times New Roman" charset="0"/>
                          <a:cs typeface="Times New Roman" charset="0"/>
                        </a:rPr>
                        <a:t>rigid motions</a:t>
                      </a:r>
                      <a:endParaRPr lang="en-US" sz="12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4" name="Rectangle 3"/>
              <p:cNvSpPr/>
              <p:nvPr/>
            </p:nvSpPr>
            <p:spPr>
              <a:xfrm>
                <a:off x="384048" y="2558920"/>
                <a:ext cx="11649455" cy="2803203"/>
              </a:xfrm>
              <a:prstGeom prst="rect">
                <a:avLst/>
              </a:prstGeom>
            </p:spPr>
            <p:txBody>
              <a:bodyPr wrap="square">
                <a:spAutoFit/>
              </a:bodyPr>
              <a:lstStyle/>
              <a:p>
                <a:pPr marL="914400">
                  <a:lnSpc>
                    <a:spcPct val="150000"/>
                  </a:lnSpc>
                  <a:spcAft>
                    <a:spcPts val="1000"/>
                  </a:spcAft>
                </a:pPr>
                <a:r>
                  <a:rPr lang="en-US" sz="2000" dirty="0">
                    <a:latin typeface="Verdana" charset="0"/>
                    <a:ea typeface="Verdana" charset="0"/>
                    <a:cs typeface="Verdana" charset="0"/>
                  </a:rPr>
                  <a:t>Since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𝐵𝑋</m:t>
                        </m:r>
                      </m:e>
                    </m:acc>
                  </m:oMath>
                </a14:m>
                <a:r>
                  <a:rPr lang="en-US" sz="2000" dirty="0">
                    <a:latin typeface="Verdana" charset="0"/>
                    <a:ea typeface="Verdana" charset="0"/>
                    <a:cs typeface="Verdana" charset="0"/>
                  </a:rPr>
                  <a:t>,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𝑋𝑁</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𝐵𝑁</m:t>
                        </m:r>
                      </m:e>
                    </m:acc>
                  </m:oMath>
                </a14:m>
                <a:r>
                  <a:rPr lang="en-US" sz="2000" dirty="0">
                    <a:latin typeface="Verdana" charset="0"/>
                    <a:ea typeface="Verdana" charset="0"/>
                    <a:cs typeface="Verdana" charset="0"/>
                  </a:rPr>
                  <a:t> were translated then rotated </a:t>
                </a:r>
                <a14:m>
                  <m:oMath xmlns:m="http://schemas.openxmlformats.org/officeDocument/2006/math">
                    <m:r>
                      <a:rPr lang="en-US" sz="2000" i="1">
                        <a:latin typeface="Cambria Math" charset="0"/>
                        <a:ea typeface="Verdana" charset="0"/>
                        <a:cs typeface="Verdana" charset="0"/>
                      </a:rPr>
                      <m:t>90°</m:t>
                    </m:r>
                  </m:oMath>
                </a14:m>
                <a:r>
                  <a:rPr lang="en-US" sz="2000" dirty="0">
                    <a:latin typeface="Verdana" charset="0"/>
                    <a:ea typeface="Verdana" charset="0"/>
                    <a:cs typeface="Verdana" charset="0"/>
                  </a:rPr>
                  <a:t>, the length of each line segment was preserved because of the definition of congruence in terms of ___________________. The definition of congruence in terms of ___________________ also ensures that the _________ are congruent. Because all of the _________ of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𝑋𝑁𝐵</m:t>
                    </m:r>
                  </m:oMath>
                </a14:m>
                <a:r>
                  <a:rPr lang="en-US" sz="2000" dirty="0">
                    <a:latin typeface="Verdana" charset="0"/>
                    <a:ea typeface="Verdana" charset="0"/>
                    <a:cs typeface="Verdana" charset="0"/>
                  </a:rPr>
                  <a:t> are ___________ to all of the corresponding ___________ of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𝐷𝑇𝑆</m:t>
                    </m:r>
                  </m:oMath>
                </a14:m>
                <a:r>
                  <a:rPr lang="en-US" sz="2000" dirty="0">
                    <a:latin typeface="Verdana" charset="0"/>
                    <a:ea typeface="Verdana" charset="0"/>
                    <a:cs typeface="Verdana" charset="0"/>
                  </a:rPr>
                  <a:t>, the two triangles are _______.</a:t>
                </a:r>
              </a:p>
            </p:txBody>
          </p:sp>
        </mc:Choice>
        <mc:Fallback xmlns="">
          <p:sp>
            <p:nvSpPr>
              <p:cNvPr id="4" name="Rectangle 3"/>
              <p:cNvSpPr>
                <a:spLocks noRot="1" noChangeAspect="1" noMove="1" noResize="1" noEditPoints="1" noAdjustHandles="1" noChangeArrowheads="1" noChangeShapeType="1" noTextEdit="1"/>
              </p:cNvSpPr>
              <p:nvPr/>
            </p:nvSpPr>
            <p:spPr>
              <a:xfrm>
                <a:off x="384048" y="2558920"/>
                <a:ext cx="11649455" cy="2803203"/>
              </a:xfrm>
              <a:prstGeom prst="rect">
                <a:avLst/>
              </a:prstGeom>
              <a:blipFill>
                <a:blip r:embed="rId4"/>
                <a:stretch>
                  <a:fillRect r="-980" b="-2703"/>
                </a:stretch>
              </a:blipFill>
            </p:spPr>
            <p:txBody>
              <a:bodyPr/>
              <a:lstStyle/>
              <a:p>
                <a:r>
                  <a:rPr lang="en-US">
                    <a:noFill/>
                  </a:rPr>
                  <a:t> </a:t>
                </a:r>
              </a:p>
            </p:txBody>
          </p:sp>
        </mc:Fallback>
      </mc:AlternateContent>
    </p:spTree>
    <p:extLst>
      <p:ext uri="{BB962C8B-B14F-4D97-AF65-F5344CB8AC3E}">
        <p14:creationId xmlns:p14="http://schemas.microsoft.com/office/powerpoint/2010/main" val="13081957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6603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994150" y="642311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228</a:t>
            </a:r>
          </a:p>
        </p:txBody>
      </p:sp>
      <p:pic>
        <p:nvPicPr>
          <p:cNvPr id="13314"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70525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32494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2827"/>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44257" y="619599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15482" y="-38354"/>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54B5D1"/>
                </a:solidFill>
                <a:latin typeface="Verdana"/>
                <a:ea typeface="Verdana"/>
                <a:cs typeface="Verdana"/>
                <a:sym typeface="Verdana"/>
              </a:rPr>
              <a:t>5.1.3 Bring It Together: Triangle Congruence</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995674" y="6453073"/>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228</a:t>
            </a:r>
          </a:p>
        </p:txBody>
      </p:sp>
      <p:sp>
        <p:nvSpPr>
          <p:cNvPr id="8" name="TextBox 7">
            <a:extLst>
              <a:ext uri="{FF2B5EF4-FFF2-40B4-BE49-F238E27FC236}">
                <a16:creationId xmlns:a16="http://schemas.microsoft.com/office/drawing/2014/main" id="{669E00F9-F39F-5043-888E-B0A2D8C9AE0F}"/>
              </a:ext>
            </a:extLst>
          </p:cNvPr>
          <p:cNvSpPr txBox="1"/>
          <p:nvPr/>
        </p:nvSpPr>
        <p:spPr>
          <a:xfrm>
            <a:off x="365674" y="4368951"/>
            <a:ext cx="11264000" cy="70788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Work with your partner to explain how the exploration has shown that the Side-Side-Side (SSS) Congruence Postulate is true.</a:t>
            </a:r>
          </a:p>
        </p:txBody>
      </p:sp>
      <p:sp>
        <p:nvSpPr>
          <p:cNvPr id="10" name="Text Box 24"/>
          <p:cNvSpPr txBox="1"/>
          <p:nvPr/>
        </p:nvSpPr>
        <p:spPr>
          <a:xfrm>
            <a:off x="2856633" y="1754278"/>
            <a:ext cx="6629400" cy="1887608"/>
          </a:xfrm>
          <a:prstGeom prst="roundRect">
            <a:avLst/>
          </a:prstGeom>
          <a:solidFill>
            <a:srgbClr val="B6E6F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742950">
              <a:spcAft>
                <a:spcPts val="1000"/>
              </a:spcAft>
            </a:pPr>
            <a:r>
              <a:rPr lang="en-US" sz="2000" b="1" dirty="0">
                <a:solidFill>
                  <a:srgbClr val="2074BF"/>
                </a:solidFill>
                <a:latin typeface="Verdana" panose="020B0604030504040204" pitchFamily="34" charset="0"/>
                <a:ea typeface="Times New Roman"/>
                <a:cs typeface="Times New Roman"/>
              </a:rPr>
              <a:t>Side-Side-Side (SSS) Congruence Postulate</a:t>
            </a:r>
            <a:endParaRPr lang="en-US" sz="2000" dirty="0">
              <a:solidFill>
                <a:srgbClr val="2074BF"/>
              </a:solidFill>
              <a:ea typeface="Times New Roman"/>
              <a:cs typeface="Times New Roman"/>
            </a:endParaRPr>
          </a:p>
          <a:p>
            <a:pPr marL="742950">
              <a:spcAft>
                <a:spcPts val="1000"/>
              </a:spcAft>
            </a:pPr>
            <a:r>
              <a:rPr lang="en-US" sz="2000" dirty="0">
                <a:solidFill>
                  <a:srgbClr val="2074BF"/>
                </a:solidFill>
                <a:latin typeface="Verdana" panose="020B0604030504040204" pitchFamily="34" charset="0"/>
                <a:ea typeface="Times New Roman"/>
                <a:cs typeface="Times New Roman"/>
              </a:rPr>
              <a:t>Two triangles are congruent if the three sides of one are congruent to the three sides of the other, respectively.</a:t>
            </a:r>
            <a:endParaRPr lang="en-US" sz="2000" dirty="0">
              <a:solidFill>
                <a:srgbClr val="2074BF"/>
              </a:solidFill>
              <a:ea typeface="Times New Roman"/>
              <a:cs typeface="Times New Roman"/>
            </a:endParaRPr>
          </a:p>
        </p:txBody>
      </p:sp>
      <p:pic>
        <p:nvPicPr>
          <p:cNvPr id="3" name="Picture 2"/>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007139" y="1868015"/>
            <a:ext cx="542544" cy="530352"/>
          </a:xfrm>
          <a:prstGeom prst="rect">
            <a:avLst/>
          </a:prstGeom>
          <a:effectLst>
            <a:outerShdw blurRad="50800" dist="76200" dir="2700000" algn="tl" rotWithShape="0">
              <a:prstClr val="black">
                <a:alpha val="40000"/>
              </a:prstClr>
            </a:outerShdw>
          </a:effectLst>
        </p:spPr>
      </p:pic>
      <p:pic>
        <p:nvPicPr>
          <p:cNvPr id="11" name="Picture 2" descr="Icon&#10;&#10;Description automatically generated">
            <a:extLst>
              <a:ext uri="{FF2B5EF4-FFF2-40B4-BE49-F238E27FC236}">
                <a16:creationId xmlns:a16="http://schemas.microsoft.com/office/drawing/2014/main" id="{855809E3-CDD9-194E-9D1C-6C9DEB0F3BF3}"/>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65674" y="19014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3493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229</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994150" y="6495766"/>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229</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1943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1824" y="-8257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5.1.4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94524" y="206629"/>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394524" y="1386025"/>
                <a:ext cx="11556684" cy="2554545"/>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Maggie and Naomi both constructed a triangle using the side lengths shown.</a:t>
                </a:r>
              </a:p>
              <a:p>
                <a:r>
                  <a:rPr lang="en-US" sz="2000" dirty="0">
                    <a:latin typeface="Verdana" charset="0"/>
                    <a:ea typeface="Verdana" charset="0"/>
                    <a:cs typeface="Verdana" charset="0"/>
                  </a:rPr>
                  <a:t> </a:t>
                </a:r>
              </a:p>
              <a:p>
                <a:pPr marL="811213" indent="-341313">
                  <a:buFont typeface="Arial" charset="0"/>
                  <a:buChar char="•"/>
                </a:pPr>
                <a14:m>
                  <m:oMath xmlns:m="http://schemas.openxmlformats.org/officeDocument/2006/math">
                    <m:r>
                      <a:rPr lang="en-US" sz="2000" i="1">
                        <a:latin typeface="Cambria Math" charset="0"/>
                        <a:ea typeface="Verdana" charset="0"/>
                        <a:cs typeface="Verdana" charset="0"/>
                      </a:rPr>
                      <m:t>𝐶𝑁</m:t>
                    </m:r>
                    <m:r>
                      <a:rPr lang="en-US" sz="2000" i="1">
                        <a:latin typeface="Cambria Math" charset="0"/>
                        <a:ea typeface="Verdana" charset="0"/>
                        <a:cs typeface="Verdana" charset="0"/>
                      </a:rPr>
                      <m:t>=2.5</m:t>
                    </m:r>
                  </m:oMath>
                </a14:m>
                <a:r>
                  <a:rPr lang="en-US" sz="2000" dirty="0">
                    <a:latin typeface="Verdana" charset="0"/>
                    <a:ea typeface="Verdana" charset="0"/>
                    <a:cs typeface="Verdana" charset="0"/>
                  </a:rPr>
                  <a:t> inches (in.)</a:t>
                </a:r>
              </a:p>
              <a:p>
                <a:pPr marL="811213" indent="-341313">
                  <a:buFont typeface="Arial" charset="0"/>
                  <a:buChar char="•"/>
                </a:pPr>
                <a14:m>
                  <m:oMath xmlns:m="http://schemas.openxmlformats.org/officeDocument/2006/math">
                    <m:r>
                      <a:rPr lang="en-US" sz="2000" i="1">
                        <a:latin typeface="Cambria Math" charset="0"/>
                        <a:ea typeface="Verdana" charset="0"/>
                        <a:cs typeface="Verdana" charset="0"/>
                      </a:rPr>
                      <m:t>𝑁𝐾</m:t>
                    </m:r>
                    <m:r>
                      <a:rPr lang="en-US" sz="2000" i="1">
                        <a:latin typeface="Cambria Math" charset="0"/>
                        <a:ea typeface="Verdana" charset="0"/>
                        <a:cs typeface="Verdana" charset="0"/>
                      </a:rPr>
                      <m:t>=3.75</m:t>
                    </m:r>
                  </m:oMath>
                </a14:m>
                <a:r>
                  <a:rPr lang="en-US" sz="2000" dirty="0">
                    <a:latin typeface="Verdana" charset="0"/>
                    <a:ea typeface="Verdana" charset="0"/>
                    <a:cs typeface="Verdana" charset="0"/>
                  </a:rPr>
                  <a:t> in.</a:t>
                </a:r>
              </a:p>
              <a:p>
                <a:pPr marL="811213" indent="-341313">
                  <a:buFont typeface="Arial" charset="0"/>
                  <a:buChar char="•"/>
                </a:pPr>
                <a14:m>
                  <m:oMath xmlns:m="http://schemas.openxmlformats.org/officeDocument/2006/math">
                    <m:r>
                      <a:rPr lang="en-US" sz="2000" i="1">
                        <a:latin typeface="Cambria Math" charset="0"/>
                        <a:ea typeface="Verdana" charset="0"/>
                        <a:cs typeface="Verdana" charset="0"/>
                      </a:rPr>
                      <m:t>𝐶𝐾</m:t>
                    </m:r>
                    <m:r>
                      <a:rPr lang="en-US" sz="2000" i="1">
                        <a:latin typeface="Cambria Math" charset="0"/>
                        <a:ea typeface="Verdana" charset="0"/>
                        <a:cs typeface="Verdana" charset="0"/>
                      </a:rPr>
                      <m:t>=5.25</m:t>
                    </m:r>
                  </m:oMath>
                </a14:m>
                <a:r>
                  <a:rPr lang="en-US" sz="2000" dirty="0">
                    <a:latin typeface="Verdana" charset="0"/>
                    <a:ea typeface="Verdana" charset="0"/>
                    <a:cs typeface="Verdana" charset="0"/>
                  </a:rPr>
                  <a:t> in.</a:t>
                </a:r>
              </a:p>
              <a:p>
                <a:r>
                  <a:rPr lang="en-US" sz="2000" dirty="0">
                    <a:latin typeface="Verdana" charset="0"/>
                    <a:ea typeface="Verdana" charset="0"/>
                    <a:cs typeface="Verdana" charset="0"/>
                  </a:rPr>
                  <a:t> </a:t>
                </a:r>
              </a:p>
              <a:p>
                <a:pPr marL="457200"/>
                <a:r>
                  <a:rPr lang="en-US" sz="2000" dirty="0">
                    <a:latin typeface="Verdana" charset="0"/>
                    <a:ea typeface="Verdana" charset="0"/>
                    <a:cs typeface="Verdana" charset="0"/>
                  </a:rPr>
                  <a:t>Explain whether it is possible to find out if the two triangles Maggie and Naomi created will be congruent.</a:t>
                </a:r>
              </a:p>
            </p:txBody>
          </p:sp>
        </mc:Choice>
        <mc:Fallback xmlns="">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394524" y="1386025"/>
                <a:ext cx="11556684" cy="2554545"/>
              </a:xfrm>
              <a:prstGeom prst="rect">
                <a:avLst/>
              </a:prstGeom>
              <a:blipFill>
                <a:blip r:embed="rId5"/>
                <a:stretch>
                  <a:fillRect l="-659" t="-985" b="-2956"/>
                </a:stretch>
              </a:blipFill>
            </p:spPr>
            <p:txBody>
              <a:bodyPr/>
              <a:lstStyle/>
              <a:p>
                <a:r>
                  <a:rPr lang="en-US">
                    <a:noFill/>
                  </a:rPr>
                  <a:t> </a:t>
                </a:r>
              </a:p>
            </p:txBody>
          </p:sp>
        </mc:Fallback>
      </mc:AlternateContent>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1399</TotalTime>
  <Words>1332</Words>
  <Application>Microsoft Office PowerPoint</Application>
  <PresentationFormat>Widescreen</PresentationFormat>
  <Paragraphs>152</Paragraphs>
  <Slides>24</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Arial Black</vt:lpstr>
      <vt:lpstr>Calibri</vt:lpstr>
      <vt:lpstr>Cambria</vt:lpstr>
      <vt:lpstr>Cambria Math</vt:lpstr>
      <vt:lpstr>Century Gothic</vt:lpstr>
      <vt:lpstr>Verdana</vt:lpstr>
      <vt:lpstr>Wingdings</vt:lpstr>
      <vt:lpstr>1_Office Theme</vt:lpstr>
      <vt:lpstr>Geometry  Unit 5, Lesson 1  Exploring  Side-Side-Side Triangle Congruence  Volume 1, pg. 223  </vt:lpstr>
      <vt:lpstr>Benchmarks</vt:lpstr>
      <vt:lpstr>PowerPoint Presentation</vt:lpstr>
      <vt:lpstr>PowerPoint Presentation</vt:lpstr>
      <vt:lpstr>Warm-Up</vt:lpstr>
      <vt:lpstr>PowerPoint Presentation</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Morgan Palomino</cp:lastModifiedBy>
  <cp:revision>34</cp:revision>
  <dcterms:created xsi:type="dcterms:W3CDTF">2015-03-17T18:51:18Z</dcterms:created>
  <dcterms:modified xsi:type="dcterms:W3CDTF">2023-02-27T20:11:25Z</dcterms:modified>
</cp:coreProperties>
</file>