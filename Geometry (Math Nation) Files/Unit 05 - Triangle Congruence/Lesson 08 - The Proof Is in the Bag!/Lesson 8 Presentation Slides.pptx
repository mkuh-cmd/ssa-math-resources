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06" r:id="rId16"/>
    <p:sldId id="30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27" autoAdjust="0"/>
    <p:restoredTop sz="94622"/>
  </p:normalViewPr>
  <p:slideViewPr>
    <p:cSldViewPr snapToGrid="0">
      <p:cViewPr varScale="1">
        <p:scale>
          <a:sx n="91" d="100"/>
          <a:sy n="91" d="100"/>
        </p:scale>
        <p:origin x="224" y="5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84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179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1908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3432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57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3962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265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The Proof </a:t>
            </a:r>
            <a:r>
              <a:rPr lang="en-US" sz="36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Is 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 the Bag!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267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23582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098813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313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88762" y="1600324"/>
            <a:ext cx="1103516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MA.912.GR.1.2 Prove triangle congruence or similarity using Side-Side-Side, Side-Angle-Side, Angle-Side-Angle, Angle-Angle-Side, Angle-Angle, and Hypotenuse-Leg.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MA.912.GR.1.6 Solve mathematical and real-world problems involving congruence or similarity in two-dimensional figures.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MA.912.LT.4.10 Judge the validity of arguments and give counterexamples to disprove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7119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s-IS" i="1" dirty="0">
                <a:latin typeface="Calibri"/>
                <a:ea typeface="Calibri"/>
                <a:cs typeface="Calibri"/>
                <a:sym typeface="Calibri"/>
              </a:rPr>
              <a:t>volume 1, pg. 267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026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0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s-IS" i="1" dirty="0">
                <a:latin typeface="Calibri"/>
                <a:ea typeface="Calibri"/>
                <a:cs typeface="Calibri"/>
                <a:sym typeface="Calibri"/>
              </a:rPr>
              <a:t>volume 1, pg. 267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0890" y="1600324"/>
            <a:ext cx="110630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prove two triangles are congruent using SSS, SAS, ASA, AAS, or HL congruence.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prove parts of triangles are congruent using triangle congruence and corresponding parts of congruent triangles.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s-I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604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5.8.1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s-I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51064" y="1386150"/>
                <a:ext cx="10972860" cy="2007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Polygon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𝑅𝐹𝑋𝑊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diagonals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𝑅𝑋</m:t>
                        </m:r>
                      </m:e>
                    </m:ba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𝐹𝑊</m:t>
                        </m:r>
                      </m:e>
                    </m:ba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bisect each other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𝑅𝑋</m:t>
                        </m:r>
                      </m:e>
                    </m:ba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𝐹𝑊</m:t>
                        </m:r>
                      </m:e>
                    </m:ba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bisect each other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𝑅𝑃𝐹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𝑋𝑃𝑊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64" y="1386150"/>
                <a:ext cx="10972860" cy="2007601"/>
              </a:xfrm>
              <a:prstGeom prst="rect">
                <a:avLst/>
              </a:prstGeom>
              <a:blipFill>
                <a:blip r:embed="rId5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1517" y="3113630"/>
            <a:ext cx="53340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s-I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40565" y="528618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two-column proof.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5081716"/>
                  </p:ext>
                </p:extLst>
              </p:nvPr>
            </p:nvGraphicFramePr>
            <p:xfrm>
              <a:off x="1323393" y="1344224"/>
              <a:ext cx="7593492" cy="443714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5927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03422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080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Verdana" charset="0"/>
                            <a:buAutoNum type="arabicPeriod"/>
                          </a:pP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RX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FW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bisect each other at point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i="0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P</m:t>
                              </m:r>
                            </m:oMath>
                          </a14:m>
                          <a:endParaRPr lang="en-US" sz="1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 Given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2000" i="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 Definition of ___________   bisector</a:t>
                          </a:r>
                          <a:endParaRPr lang="en-US" sz="1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pPr marL="211455" marR="0" indent="-2857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r>
                            <a:rPr lang="en-US" sz="2000" i="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RP</m:t>
                                  </m:r>
                                </m:e>
                              </m:acc>
                              <m:r>
                                <a:rPr lang="en-US" sz="2000" i="0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≅________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:endParaRPr lang="en-US" sz="1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211455" marR="0" indent="-2857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________≅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i="0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WP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30200" marR="0" indent="-330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 Definition of ___________   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 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 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0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</m:t>
                              </m:r>
                              <m:r>
                                <m:rPr>
                                  <m:sty m:val="p"/>
                                </m:rPr>
                                <a:rPr lang="en-US" sz="2000" i="0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RPF</m:t>
                              </m:r>
                              <m:r>
                                <a:rPr lang="en-US" sz="2000" i="0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≅∆</m:t>
                              </m:r>
                              <m:r>
                                <m:rPr>
                                  <m:sty m:val="p"/>
                                </m:rPr>
                                <a:rPr lang="en-US" sz="2000" i="0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XPW</m:t>
                              </m:r>
                            </m:oMath>
                          </a14:m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 </a:t>
                          </a:r>
                          <a:endParaRPr lang="en-US" sz="1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5081716"/>
                  </p:ext>
                </p:extLst>
              </p:nvPr>
            </p:nvGraphicFramePr>
            <p:xfrm>
              <a:off x="1323393" y="1344224"/>
              <a:ext cx="7593492" cy="443714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592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342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80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1" t="-46667" r="-113699" b="-4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 Given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2000" i="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 Definition of ___________   bisector</a:t>
                          </a:r>
                          <a:endParaRPr lang="en-US" sz="1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1" t="-245588" r="-113699" b="-200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30200" marR="0" indent="-330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 Definition of ___________   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 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 </a:t>
                          </a:r>
                          <a:endParaRPr lang="en-US" sz="1300" i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8258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1" t="-444853" r="-113699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 </a:t>
                          </a:r>
                          <a:endParaRPr lang="en-US" sz="1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7019" marR="7701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s-I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461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5.8.2 Activity: It’s in the Bag!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s-IS" i="1" dirty="0">
                <a:latin typeface="Calibri"/>
                <a:ea typeface="Calibri"/>
                <a:cs typeface="Calibri"/>
                <a:sym typeface="Calibri"/>
              </a:rPr>
              <a:t>volume 1, pg. 268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547ABD-563B-A148-B65C-C7679A7B43D4}"/>
              </a:ext>
            </a:extLst>
          </p:cNvPr>
          <p:cNvSpPr txBox="1"/>
          <p:nvPr/>
        </p:nvSpPr>
        <p:spPr>
          <a:xfrm>
            <a:off x="593247" y="1394250"/>
            <a:ext cx="11338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With your group, complete each proof using the statement and reason cards provided.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7" t="1773" r="1959" b="32941"/>
          <a:stretch/>
        </p:blipFill>
        <p:spPr>
          <a:xfrm>
            <a:off x="1162577" y="2278394"/>
            <a:ext cx="7751571" cy="31853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4006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s-IS" i="1" dirty="0">
                <a:latin typeface="Calibri"/>
                <a:ea typeface="Calibri"/>
                <a:cs typeface="Calibri"/>
                <a:sym typeface="Calibri"/>
              </a:rPr>
              <a:t>volume 1, pg. 269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64" t="2130" r="1745" b="44474"/>
          <a:stretch/>
        </p:blipFill>
        <p:spPr>
          <a:xfrm>
            <a:off x="1105239" y="1024225"/>
            <a:ext cx="7891278" cy="316762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7438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s-IS" i="1" dirty="0">
                <a:latin typeface="Calibri"/>
                <a:ea typeface="Calibri"/>
                <a:cs typeface="Calibri"/>
                <a:sym typeface="Calibri"/>
              </a:rPr>
              <a:t>volume 1, pg. 269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39" t="2152" r="1439" b="44932"/>
          <a:stretch/>
        </p:blipFill>
        <p:spPr>
          <a:xfrm>
            <a:off x="915618" y="1169369"/>
            <a:ext cx="8184137" cy="32165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5587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7" t="1839" r="1474" b="44618"/>
          <a:stretch/>
        </p:blipFill>
        <p:spPr>
          <a:xfrm>
            <a:off x="783533" y="1082281"/>
            <a:ext cx="8125898" cy="32389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4674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04" t="1884" r="1505" b="45683"/>
          <a:stretch/>
        </p:blipFill>
        <p:spPr>
          <a:xfrm>
            <a:off x="709943" y="1009165"/>
            <a:ext cx="8373622" cy="32826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6987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5" t="1622" r="988" b="40383"/>
          <a:stretch/>
        </p:blipFill>
        <p:spPr>
          <a:xfrm>
            <a:off x="879864" y="957521"/>
            <a:ext cx="8154467" cy="32015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9345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271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271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5.8.3 Wrap-Up: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40564" y="1243253"/>
            <a:ext cx="101368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an explanation to a classmate who might have missed today’s lesson, in your own words, about writing proofs.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356</Words>
  <Application>Microsoft Macintosh PowerPoint</Application>
  <PresentationFormat>Widescreen</PresentationFormat>
  <Paragraphs>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Wingdings</vt:lpstr>
      <vt:lpstr>Arial</vt:lpstr>
      <vt:lpstr>1_Office Theme</vt:lpstr>
      <vt:lpstr>Geometry  Unit 5, Lesson 8  The Proof Is in the Bag!  Volume 1, pg. 267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23</cp:revision>
  <dcterms:created xsi:type="dcterms:W3CDTF">2015-03-17T18:51:18Z</dcterms:created>
  <dcterms:modified xsi:type="dcterms:W3CDTF">2022-07-27T22:25:41Z</dcterms:modified>
</cp:coreProperties>
</file>