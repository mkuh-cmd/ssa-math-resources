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314" r:id="rId9"/>
    <p:sldId id="315" r:id="rId10"/>
    <p:sldId id="371" r:id="rId11"/>
    <p:sldId id="372" r:id="rId12"/>
    <p:sldId id="373" r:id="rId13"/>
    <p:sldId id="377" r:id="rId14"/>
    <p:sldId id="378" r:id="rId15"/>
    <p:sldId id="379" r:id="rId16"/>
    <p:sldId id="380" r:id="rId17"/>
    <p:sldId id="381" r:id="rId18"/>
    <p:sldId id="374" r:id="rId19"/>
    <p:sldId id="375" r:id="rId20"/>
    <p:sldId id="376" r:id="rId21"/>
    <p:sldId id="382" r:id="rId22"/>
    <p:sldId id="306" r:id="rId23"/>
    <p:sldId id="307" r:id="rId24"/>
    <p:sldId id="370"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79C058"/>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2790"/>
    <p:restoredTop sz="94695"/>
  </p:normalViewPr>
  <p:slideViewPr>
    <p:cSldViewPr snapToGrid="0">
      <p:cViewPr varScale="1">
        <p:scale>
          <a:sx n="77" d="100"/>
          <a:sy n="77" d="100"/>
        </p:scale>
        <p:origin x="91" y="10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9211501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806776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640152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389368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873113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6516120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9968850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5253209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114073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0376094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707717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0196449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1596855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70.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0.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9</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Congruence in Two-Dimensional Figures – Part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272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91998" y="1631682"/>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098813" y="136649"/>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275313" y="372424"/>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272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488762" y="1600324"/>
            <a:ext cx="11139387"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MA.912.GR.1.6 Solve mathematical and real-world problems involving congruence or similarity in two-dimensional figures.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424"/>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29791"/>
            <a:ext cx="928716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272</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514"/>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60265" y="38885"/>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78103" y="328085"/>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272</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0890" y="1608425"/>
            <a:ext cx="1021694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solve mathematical problems involving congruence.</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10466" y="6855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5.9.1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3166" y="205710"/>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272</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51064" y="1394251"/>
                <a:ext cx="8327136" cy="4709687"/>
              </a:xfrm>
              <a:prstGeom prst="rect">
                <a:avLst/>
              </a:prstGeom>
              <a:noFill/>
            </p:spPr>
            <p:txBody>
              <a:bodyPr wrap="square" rtlCol="0">
                <a:spAutoFit/>
              </a:bodyPr>
              <a:lstStyle/>
              <a:p>
                <a:r>
                  <a:rPr lang="en-US" sz="2000" dirty="0">
                    <a:latin typeface="Verdana" charset="0"/>
                    <a:ea typeface="Verdana" charset="0"/>
                    <a:cs typeface="Verdana" charset="0"/>
                  </a:rPr>
                  <a:t>Triangles </a:t>
                </a:r>
                <a14:m>
                  <m:oMath xmlns:m="http://schemas.openxmlformats.org/officeDocument/2006/math">
                    <m:r>
                      <a:rPr lang="en-US" sz="2000" i="1">
                        <a:latin typeface="Cambria Math" charset="0"/>
                        <a:ea typeface="Verdana" charset="0"/>
                        <a:cs typeface="Verdana" charset="0"/>
                      </a:rPr>
                      <m:t>𝑅𝐶𝑊</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𝐾𝐻𝐶</m:t>
                    </m:r>
                  </m:oMath>
                </a14:m>
                <a:r>
                  <a:rPr lang="en-US" sz="2000" dirty="0">
                    <a:latin typeface="Verdana" charset="0"/>
                    <a:ea typeface="Verdana" charset="0"/>
                    <a:cs typeface="Verdana" charset="0"/>
                  </a:rPr>
                  <a:t> are shown.</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Given: </a:t>
                </a:r>
                <a14:m>
                  <m:oMath xmlns:m="http://schemas.openxmlformats.org/officeDocument/2006/math">
                    <m:r>
                      <a:rPr lang="en-US" sz="2000" i="1">
                        <a:latin typeface="Cambria Math" charset="0"/>
                        <a:ea typeface="Verdana" charset="0"/>
                        <a:cs typeface="Verdana" charset="0"/>
                      </a:rPr>
                      <m:t>𝑅𝑊</m:t>
                    </m:r>
                    <m:r>
                      <a:rPr lang="en-US" sz="2000" i="1">
                        <a:latin typeface="Cambria Math" charset="0"/>
                        <a:ea typeface="Verdana" charset="0"/>
                        <a:cs typeface="Verdana" charset="0"/>
                      </a:rPr>
                      <m:t>∥</m:t>
                    </m:r>
                    <m:r>
                      <a:rPr lang="en-US" sz="2000" i="1">
                        <a:latin typeface="Cambria Math" charset="0"/>
                        <a:ea typeface="Verdana" charset="0"/>
                        <a:cs typeface="Verdana" charset="0"/>
                      </a:rPr>
                      <m:t>𝐾𝐶</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𝐶</m:t>
                    </m:r>
                  </m:oMath>
                </a14:m>
                <a:r>
                  <a:rPr lang="en-US" sz="2000" dirty="0">
                    <a:latin typeface="Verdana" charset="0"/>
                    <a:ea typeface="Verdana" charset="0"/>
                    <a:cs typeface="Verdana" charset="0"/>
                  </a:rPr>
                  <a:t> is the midpoint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𝑊𝐻</m:t>
                        </m:r>
                      </m:e>
                    </m:acc>
                  </m:oMath>
                </a14:m>
                <a:r>
                  <a:rPr lang="en-US" sz="2000" dirty="0">
                    <a:latin typeface="Verdana" charset="0"/>
                    <a:ea typeface="Verdana" charset="0"/>
                    <a:cs typeface="Verdana" charset="0"/>
                  </a:rPr>
                  <a:t>,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𝑊𝑅</m:t>
                        </m:r>
                      </m:e>
                    </m:acc>
                    <m:r>
                      <a:rPr lang="en-US" sz="2000" i="1">
                        <a:latin typeface="Cambria Math" charset="0"/>
                        <a:ea typeface="Verdana" charset="0"/>
                        <a:cs typeface="Verdana" charset="0"/>
                      </a:rPr>
                      <m:t>≅</m:t>
                    </m:r>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𝐶𝐾</m:t>
                        </m:r>
                      </m:e>
                    </m:acc>
                  </m:oMath>
                </a14:m>
                <a:endParaRPr lang="en-US" sz="2000" dirty="0">
                  <a:latin typeface="Verdana" charset="0"/>
                  <a:ea typeface="Verdana" charset="0"/>
                  <a:cs typeface="Verdana" charset="0"/>
                </a:endParaRPr>
              </a:p>
              <a:p>
                <a:r>
                  <a:rPr lang="en-US" sz="2000" dirty="0">
                    <a:latin typeface="Verdana" charset="0"/>
                    <a:ea typeface="Verdana" charset="0"/>
                    <a:cs typeface="Verdana" charset="0"/>
                  </a:rPr>
                  <a:t>Prove:</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𝑊𝑅𝐶</m:t>
                    </m:r>
                    <m:r>
                      <a:rPr lang="en-US" sz="2000" i="1">
                        <a:latin typeface="Cambria Math" charset="0"/>
                        <a:ea typeface="Verdana" charset="0"/>
                        <a:cs typeface="Verdana" charset="0"/>
                      </a:rPr>
                      <m:t>≅∠</m:t>
                    </m:r>
                    <m:r>
                      <a:rPr lang="en-US" sz="2000" i="1">
                        <a:latin typeface="Cambria Math" charset="0"/>
                        <a:ea typeface="Verdana" charset="0"/>
                        <a:cs typeface="Verdana" charset="0"/>
                      </a:rPr>
                      <m:t>𝐶𝐾𝐻</m:t>
                    </m:r>
                  </m:oMath>
                </a14:m>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51064" y="1394251"/>
                <a:ext cx="8327136" cy="4709687"/>
              </a:xfrm>
              <a:prstGeom prst="rect">
                <a:avLst/>
              </a:prstGeom>
              <a:blipFill>
                <a:blip r:embed="rId5"/>
                <a:stretch>
                  <a:fillRect l="-732" t="-777"/>
                </a:stretch>
              </a:blipFill>
            </p:spPr>
            <p:txBody>
              <a:bodyPr/>
              <a:lstStyle/>
              <a:p>
                <a:r>
                  <a:rPr lang="en-US">
                    <a:noFill/>
                  </a:rPr>
                  <a:t> </a:t>
                </a:r>
              </a:p>
            </p:txBody>
          </p:sp>
        </mc:Fallback>
      </mc:AlternateContent>
      <p:pic>
        <p:nvPicPr>
          <p:cNvPr id="3" name="Picture 2"/>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958732" y="2086850"/>
            <a:ext cx="5511800" cy="269240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272</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10255254"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Complete the missing statements and reasons in the two-column proof.</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969947457"/>
                  </p:ext>
                </p:extLst>
              </p:nvPr>
            </p:nvGraphicFramePr>
            <p:xfrm>
              <a:off x="1047022" y="1647548"/>
              <a:ext cx="8024356" cy="4553176"/>
            </p:xfrm>
            <a:graphic>
              <a:graphicData uri="http://schemas.openxmlformats.org/drawingml/2006/table">
                <a:tbl>
                  <a:tblPr firstRow="1" firstCol="1" bandRow="1"/>
                  <a:tblGrid>
                    <a:gridCol w="4012178">
                      <a:extLst>
                        <a:ext uri="{9D8B030D-6E8A-4147-A177-3AD203B41FA5}">
                          <a16:colId xmlns:a16="http://schemas.microsoft.com/office/drawing/2014/main" val="20000"/>
                        </a:ext>
                      </a:extLst>
                    </a:gridCol>
                    <a:gridCol w="4012178">
                      <a:extLst>
                        <a:ext uri="{9D8B030D-6E8A-4147-A177-3AD203B41FA5}">
                          <a16:colId xmlns:a16="http://schemas.microsoft.com/office/drawing/2014/main" val="20001"/>
                        </a:ext>
                      </a:extLst>
                    </a:gridCol>
                  </a:tblGrid>
                  <a:tr h="557149">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1300">
                            <a:effectLst/>
                            <a:latin typeface="Cambria" charset="0"/>
                            <a:ea typeface="Times New Roman" charset="0"/>
                            <a:cs typeface="Times New Roman" charset="0"/>
                          </a:endParaRPr>
                        </a:p>
                      </a:txBody>
                      <a:tcPr marL="75238" marR="752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1300">
                            <a:effectLst/>
                            <a:latin typeface="Cambria" charset="0"/>
                            <a:ea typeface="Times New Roman" charset="0"/>
                            <a:cs typeface="Times New Roman" charset="0"/>
                          </a:endParaRPr>
                        </a:p>
                      </a:txBody>
                      <a:tcPr marL="75238" marR="752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81145">
                    <a:tc>
                      <a:txBody>
                        <a:bodyPr/>
                        <a:lstStyle/>
                        <a:p>
                          <a:pPr marL="0" marR="0">
                            <a:spcBef>
                              <a:spcPts val="0"/>
                            </a:spcBef>
                            <a:spcAft>
                              <a:spcPts val="0"/>
                            </a:spcAft>
                          </a:pPr>
                          <a:r>
                            <a:rPr lang="en-US" sz="2000">
                              <a:effectLst/>
                              <a:latin typeface="Verdana" charset="0"/>
                              <a:ea typeface="Times New Roman" charset="0"/>
                              <a:cs typeface="Times New Roman" charset="0"/>
                            </a:rPr>
                            <a:t>1. </a:t>
                          </a:r>
                          <a14:m>
                            <m:oMath xmlns:m="http://schemas.openxmlformats.org/officeDocument/2006/math">
                              <m:r>
                                <a:rPr lang="en-US" sz="2000" i="1">
                                  <a:effectLst/>
                                  <a:latin typeface="Cambria Math" charset="0"/>
                                  <a:ea typeface="Times New Roman" charset="0"/>
                                  <a:cs typeface="Times New Roman" charset="0"/>
                                </a:rPr>
                                <m:t>𝐶</m:t>
                              </m:r>
                            </m:oMath>
                          </a14:m>
                          <a:r>
                            <a:rPr lang="en-US" sz="2000">
                              <a:effectLst/>
                              <a:latin typeface="Verdana" charset="0"/>
                              <a:ea typeface="Times New Roman" charset="0"/>
                              <a:cs typeface="Times New Roman" charset="0"/>
                            </a:rPr>
                            <a:t> is the midpoint of </a:t>
                          </a:r>
                          <a14:m>
                            <m:oMath xmlns:m="http://schemas.openxmlformats.org/officeDocument/2006/math">
                              <m:acc>
                                <m:accPr>
                                  <m:chr m:val="̅"/>
                                  <m:ctrlPr>
                                    <a:rPr lang="en-US" sz="2000" i="1">
                                      <a:effectLst/>
                                      <a:latin typeface="Cambria Math" panose="02040503050406030204" pitchFamily="18" charset="0"/>
                                      <a:ea typeface="Times New Roman" charset="0"/>
                                      <a:cs typeface="Times New Roman" charset="0"/>
                                    </a:rPr>
                                  </m:ctrlPr>
                                </m:accPr>
                                <m:e>
                                  <m:r>
                                    <a:rPr lang="en-US" sz="2000" i="1">
                                      <a:effectLst/>
                                      <a:latin typeface="Cambria Math" charset="0"/>
                                      <a:ea typeface="Times New Roman" charset="0"/>
                                      <a:cs typeface="Times New Roman" charset="0"/>
                                    </a:rPr>
                                    <m:t>𝑊𝐻</m:t>
                                  </m:r>
                                </m:e>
                              </m:acc>
                            </m:oMath>
                          </a14:m>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Times New Roman" charset="0"/>
                              <a:cs typeface="Times New Roman" charset="0"/>
                            </a:rPr>
                            <a:t>1. Given</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81145">
                    <a:tc>
                      <a:txBody>
                        <a:bodyPr/>
                        <a:lstStyle/>
                        <a:p>
                          <a:pPr marL="0" marR="0">
                            <a:spcBef>
                              <a:spcPts val="0"/>
                            </a:spcBef>
                            <a:spcAft>
                              <a:spcPts val="0"/>
                            </a:spcAft>
                          </a:pPr>
                          <a:r>
                            <a:rPr lang="en-US" sz="2000" dirty="0">
                              <a:effectLst/>
                              <a:latin typeface="Verdana" charset="0"/>
                              <a:ea typeface="Times New Roman" charset="0"/>
                              <a:cs typeface="Times New Roman" charset="0"/>
                            </a:rPr>
                            <a:t>2.</a:t>
                          </a:r>
                          <a:endParaRPr lang="en-US" sz="1300" dirty="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Times New Roman" charset="0"/>
                              <a:cs typeface="Times New Roman" charset="0"/>
                            </a:rPr>
                            <a:t>2. Definition of midpoint</a:t>
                          </a:r>
                          <a:endParaRPr lang="en-US" sz="1300" dirty="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57149">
                    <a:tc>
                      <a:txBody>
                        <a:bodyPr/>
                        <a:lstStyle/>
                        <a:p>
                          <a:pPr marL="0" marR="0">
                            <a:spcBef>
                              <a:spcPts val="0"/>
                            </a:spcBef>
                            <a:spcAft>
                              <a:spcPts val="0"/>
                            </a:spcAft>
                          </a:pPr>
                          <a:r>
                            <a:rPr lang="en-US" sz="2000" dirty="0">
                              <a:effectLst/>
                              <a:latin typeface="Verdana" charset="0"/>
                              <a:ea typeface="Times New Roman" charset="0"/>
                              <a:cs typeface="Times New Roman" charset="0"/>
                            </a:rPr>
                            <a:t>3. </a:t>
                          </a:r>
                          <a14:m>
                            <m:oMath xmlns:m="http://schemas.openxmlformats.org/officeDocument/2006/math">
                              <m:r>
                                <a:rPr lang="en-US" sz="2000" i="1">
                                  <a:effectLst/>
                                  <a:latin typeface="Cambria Math" charset="0"/>
                                  <a:ea typeface="Times New Roman" charset="0"/>
                                  <a:cs typeface="Times New Roman" charset="0"/>
                                </a:rPr>
                                <m:t> </m:t>
                              </m:r>
                              <m:r>
                                <a:rPr lang="en-US" sz="2000" i="1">
                                  <a:effectLst/>
                                  <a:latin typeface="Cambria Math" charset="0"/>
                                  <a:ea typeface="Times New Roman" charset="0"/>
                                  <a:cs typeface="Times New Roman" charset="0"/>
                                </a:rPr>
                                <m:t>𝑅𝑊</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𝐾𝐶</m:t>
                              </m:r>
                            </m:oMath>
                          </a14:m>
                          <a:endParaRPr lang="en-US" sz="1300" dirty="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Times New Roman" charset="0"/>
                              <a:cs typeface="Times New Roman" charset="0"/>
                            </a:rPr>
                            <a:t>3. Given</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81145">
                    <a:tc>
                      <a:txBody>
                        <a:bodyPr/>
                        <a:lstStyle/>
                        <a:p>
                          <a:pPr marL="0" marR="0">
                            <a:spcBef>
                              <a:spcPts val="0"/>
                            </a:spcBef>
                            <a:spcAft>
                              <a:spcPts val="0"/>
                            </a:spcAft>
                          </a:pPr>
                          <a:r>
                            <a:rPr lang="en-US" sz="2000">
                              <a:effectLst/>
                              <a:latin typeface="Verdana" charset="0"/>
                              <a:ea typeface="Times New Roman" charset="0"/>
                              <a:cs typeface="Times New Roman" charset="0"/>
                            </a:rPr>
                            <a:t>4.</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Times New Roman" charset="0"/>
                              <a:cs typeface="Times New Roman" charset="0"/>
                            </a:rPr>
                            <a:t>4.</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57149">
                    <a:tc>
                      <a:txBody>
                        <a:bodyPr/>
                        <a:lstStyle/>
                        <a:p>
                          <a:pPr marL="0" marR="0">
                            <a:spcBef>
                              <a:spcPts val="0"/>
                            </a:spcBef>
                            <a:spcAft>
                              <a:spcPts val="0"/>
                            </a:spcAft>
                          </a:pPr>
                          <a:r>
                            <a:rPr lang="en-US" sz="2000">
                              <a:effectLst/>
                              <a:latin typeface="Verdana" charset="0"/>
                              <a:ea typeface="Times New Roman" charset="0"/>
                              <a:cs typeface="Times New Roman" charset="0"/>
                            </a:rPr>
                            <a:t>5.</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Times New Roman" charset="0"/>
                              <a:cs typeface="Times New Roman" charset="0"/>
                            </a:rPr>
                            <a:t>5. Given</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81145">
                    <a:tc>
                      <a:txBody>
                        <a:bodyPr/>
                        <a:lstStyle/>
                        <a:p>
                          <a:pPr marL="0" marR="0">
                            <a:spcBef>
                              <a:spcPts val="0"/>
                            </a:spcBef>
                            <a:spcAft>
                              <a:spcPts val="0"/>
                            </a:spcAft>
                          </a:pPr>
                          <a:r>
                            <a:rPr lang="en-US" sz="2000">
                              <a:effectLst/>
                              <a:latin typeface="Verdana" charset="0"/>
                              <a:ea typeface="Times New Roman" charset="0"/>
                              <a:cs typeface="Times New Roman" charset="0"/>
                            </a:rPr>
                            <a:t>6.</a:t>
                          </a:r>
                          <a14:m>
                            <m:oMath xmlns:m="http://schemas.openxmlformats.org/officeDocument/2006/math">
                              <m:r>
                                <a:rPr lang="en-US" sz="2000" i="1">
                                  <a:effectLst/>
                                  <a:latin typeface="Cambria Math" charset="0"/>
                                  <a:ea typeface="Times New Roman" charset="0"/>
                                  <a:cs typeface="Times New Roman" charset="0"/>
                                </a:rPr>
                                <m:t> </m:t>
                              </m:r>
                            </m:oMath>
                          </a14:m>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Times New Roman" charset="0"/>
                              <a:cs typeface="Times New Roman" charset="0"/>
                            </a:rPr>
                            <a:t>6.</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57149">
                    <a:tc>
                      <a:txBody>
                        <a:bodyPr/>
                        <a:lstStyle/>
                        <a:p>
                          <a:pPr marL="0" marR="0">
                            <a:spcBef>
                              <a:spcPts val="0"/>
                            </a:spcBef>
                            <a:spcAft>
                              <a:spcPts val="0"/>
                            </a:spcAft>
                          </a:pPr>
                          <a:r>
                            <a:rPr lang="en-US" sz="2000">
                              <a:effectLst/>
                              <a:latin typeface="Verdana" charset="0"/>
                              <a:ea typeface="Times New Roman" charset="0"/>
                              <a:cs typeface="Times New Roman" charset="0"/>
                            </a:rPr>
                            <a:t>7. </a:t>
                          </a:r>
                          <a14:m>
                            <m:oMath xmlns:m="http://schemas.openxmlformats.org/officeDocument/2006/math">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𝑊𝑅𝐶</m:t>
                              </m:r>
                              <m:r>
                                <a:rPr lang="en-US" sz="2000" i="1">
                                  <a:effectLst/>
                                  <a:latin typeface="Cambria Math" charset="0"/>
                                  <a:ea typeface="Times New Roman" charset="0"/>
                                  <a:cs typeface="Times New Roman" charset="0"/>
                                </a:rPr>
                                <m:t>≅∠</m:t>
                              </m:r>
                              <m:r>
                                <a:rPr lang="en-US" sz="2000" i="1">
                                  <a:effectLst/>
                                  <a:latin typeface="Cambria Math" charset="0"/>
                                  <a:ea typeface="Times New Roman" charset="0"/>
                                  <a:cs typeface="Times New Roman" charset="0"/>
                                </a:rPr>
                                <m:t>𝐶𝐾𝐻</m:t>
                              </m:r>
                            </m:oMath>
                          </a14:m>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Times New Roman" charset="0"/>
                              <a:cs typeface="Times New Roman" charset="0"/>
                            </a:rPr>
                            <a:t>7.</a:t>
                          </a:r>
                          <a:endParaRPr lang="en-US" sz="1300" dirty="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969947457"/>
                  </p:ext>
                </p:extLst>
              </p:nvPr>
            </p:nvGraphicFramePr>
            <p:xfrm>
              <a:off x="1047022" y="1647548"/>
              <a:ext cx="8024356" cy="4553176"/>
            </p:xfrm>
            <a:graphic>
              <a:graphicData uri="http://schemas.openxmlformats.org/drawingml/2006/table">
                <a:tbl>
                  <a:tblPr firstRow="1" firstCol="1" bandRow="1"/>
                  <a:tblGrid>
                    <a:gridCol w="4012178">
                      <a:extLst>
                        <a:ext uri="{9D8B030D-6E8A-4147-A177-3AD203B41FA5}">
                          <a16:colId xmlns:a16="http://schemas.microsoft.com/office/drawing/2014/main" val="20000"/>
                        </a:ext>
                      </a:extLst>
                    </a:gridCol>
                    <a:gridCol w="4012178">
                      <a:extLst>
                        <a:ext uri="{9D8B030D-6E8A-4147-A177-3AD203B41FA5}">
                          <a16:colId xmlns:a16="http://schemas.microsoft.com/office/drawing/2014/main" val="20001"/>
                        </a:ext>
                      </a:extLst>
                    </a:gridCol>
                  </a:tblGrid>
                  <a:tr h="557149">
                    <a:tc>
                      <a:txBody>
                        <a:bodyPr/>
                        <a:lstStyle/>
                        <a:p>
                          <a:pPr marL="0" marR="0" algn="ctr">
                            <a:spcBef>
                              <a:spcPts val="0"/>
                            </a:spcBef>
                            <a:spcAft>
                              <a:spcPts val="0"/>
                            </a:spcAft>
                          </a:pPr>
                          <a:r>
                            <a:rPr lang="en-US" sz="2000" b="1">
                              <a:effectLst/>
                              <a:latin typeface="Verdana" charset="0"/>
                              <a:ea typeface="Times New Roman" charset="0"/>
                              <a:cs typeface="Times New Roman" charset="0"/>
                            </a:rPr>
                            <a:t>Statement</a:t>
                          </a:r>
                          <a:endParaRPr lang="en-US" sz="1300">
                            <a:effectLst/>
                            <a:latin typeface="Cambria" charset="0"/>
                            <a:ea typeface="Times New Roman" charset="0"/>
                            <a:cs typeface="Times New Roman" charset="0"/>
                          </a:endParaRPr>
                        </a:p>
                      </a:txBody>
                      <a:tcPr marL="75238" marR="752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Times New Roman" charset="0"/>
                              <a:cs typeface="Times New Roman" charset="0"/>
                            </a:rPr>
                            <a:t>Reason</a:t>
                          </a:r>
                          <a:endParaRPr lang="en-US" sz="1300">
                            <a:effectLst/>
                            <a:latin typeface="Cambria" charset="0"/>
                            <a:ea typeface="Times New Roman" charset="0"/>
                            <a:cs typeface="Times New Roman" charset="0"/>
                          </a:endParaRPr>
                        </a:p>
                      </a:txBody>
                      <a:tcPr marL="75238" marR="7523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81145">
                    <a:tc>
                      <a:txBody>
                        <a:bodyPr/>
                        <a:lstStyle/>
                        <a:p>
                          <a:endParaRPr lang="en-US"/>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2" t="-97895" r="-100303" b="-592632"/>
                          </a:stretch>
                        </a:blipFill>
                      </a:tcPr>
                    </a:tc>
                    <a:tc>
                      <a:txBody>
                        <a:bodyPr/>
                        <a:lstStyle/>
                        <a:p>
                          <a:pPr marL="0" marR="0">
                            <a:spcBef>
                              <a:spcPts val="0"/>
                            </a:spcBef>
                            <a:spcAft>
                              <a:spcPts val="0"/>
                            </a:spcAft>
                          </a:pPr>
                          <a:r>
                            <a:rPr lang="en-US" sz="2000">
                              <a:effectLst/>
                              <a:latin typeface="Verdana" charset="0"/>
                              <a:ea typeface="Times New Roman" charset="0"/>
                              <a:cs typeface="Times New Roman" charset="0"/>
                            </a:rPr>
                            <a:t>1. Given</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81145">
                    <a:tc>
                      <a:txBody>
                        <a:bodyPr/>
                        <a:lstStyle/>
                        <a:p>
                          <a:pPr marL="0" marR="0">
                            <a:spcBef>
                              <a:spcPts val="0"/>
                            </a:spcBef>
                            <a:spcAft>
                              <a:spcPts val="0"/>
                            </a:spcAft>
                          </a:pPr>
                          <a:r>
                            <a:rPr lang="en-US" sz="2000" dirty="0">
                              <a:effectLst/>
                              <a:latin typeface="Verdana" charset="0"/>
                              <a:ea typeface="Times New Roman" charset="0"/>
                              <a:cs typeface="Times New Roman" charset="0"/>
                            </a:rPr>
                            <a:t>2.</a:t>
                          </a:r>
                          <a:endParaRPr lang="en-US" sz="1300" dirty="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Times New Roman" charset="0"/>
                              <a:cs typeface="Times New Roman" charset="0"/>
                            </a:rPr>
                            <a:t>2. Definition of midpoint</a:t>
                          </a:r>
                          <a:endParaRPr lang="en-US" sz="1300" dirty="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57149">
                    <a:tc>
                      <a:txBody>
                        <a:bodyPr/>
                        <a:lstStyle/>
                        <a:p>
                          <a:endParaRPr lang="en-US"/>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2" t="-307609" r="-100303" b="-408696"/>
                          </a:stretch>
                        </a:blipFill>
                      </a:tcPr>
                    </a:tc>
                    <a:tc>
                      <a:txBody>
                        <a:bodyPr/>
                        <a:lstStyle/>
                        <a:p>
                          <a:pPr marL="0" marR="0">
                            <a:spcBef>
                              <a:spcPts val="0"/>
                            </a:spcBef>
                            <a:spcAft>
                              <a:spcPts val="0"/>
                            </a:spcAft>
                          </a:pPr>
                          <a:r>
                            <a:rPr lang="en-US" sz="2000">
                              <a:effectLst/>
                              <a:latin typeface="Verdana" charset="0"/>
                              <a:ea typeface="Times New Roman" charset="0"/>
                              <a:cs typeface="Times New Roman" charset="0"/>
                            </a:rPr>
                            <a:t>3. Given</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81145">
                    <a:tc>
                      <a:txBody>
                        <a:bodyPr/>
                        <a:lstStyle/>
                        <a:p>
                          <a:pPr marL="0" marR="0">
                            <a:spcBef>
                              <a:spcPts val="0"/>
                            </a:spcBef>
                            <a:spcAft>
                              <a:spcPts val="0"/>
                            </a:spcAft>
                          </a:pPr>
                          <a:r>
                            <a:rPr lang="en-US" sz="2000">
                              <a:effectLst/>
                              <a:latin typeface="Verdana" charset="0"/>
                              <a:ea typeface="Times New Roman" charset="0"/>
                              <a:cs typeface="Times New Roman" charset="0"/>
                            </a:rPr>
                            <a:t>4.</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Times New Roman" charset="0"/>
                              <a:cs typeface="Times New Roman" charset="0"/>
                            </a:rPr>
                            <a:t>4.</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57149">
                    <a:tc>
                      <a:txBody>
                        <a:bodyPr/>
                        <a:lstStyle/>
                        <a:p>
                          <a:pPr marL="0" marR="0">
                            <a:spcBef>
                              <a:spcPts val="0"/>
                            </a:spcBef>
                            <a:spcAft>
                              <a:spcPts val="0"/>
                            </a:spcAft>
                          </a:pPr>
                          <a:r>
                            <a:rPr lang="en-US" sz="2000">
                              <a:effectLst/>
                              <a:latin typeface="Verdana" charset="0"/>
                              <a:ea typeface="Times New Roman" charset="0"/>
                              <a:cs typeface="Times New Roman" charset="0"/>
                            </a:rPr>
                            <a:t>5.</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Times New Roman" charset="0"/>
                              <a:cs typeface="Times New Roman" charset="0"/>
                            </a:rPr>
                            <a:t>5. Given</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581145">
                    <a:tc>
                      <a:txBody>
                        <a:bodyPr/>
                        <a:lstStyle/>
                        <a:p>
                          <a:endParaRPr lang="en-US"/>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2" t="-591579" r="-100303" b="-98947"/>
                          </a:stretch>
                        </a:blipFill>
                      </a:tcPr>
                    </a:tc>
                    <a:tc>
                      <a:txBody>
                        <a:bodyPr/>
                        <a:lstStyle/>
                        <a:p>
                          <a:pPr marL="0" marR="0">
                            <a:spcBef>
                              <a:spcPts val="0"/>
                            </a:spcBef>
                            <a:spcAft>
                              <a:spcPts val="0"/>
                            </a:spcAft>
                          </a:pPr>
                          <a:r>
                            <a:rPr lang="en-US" sz="2000">
                              <a:effectLst/>
                              <a:latin typeface="Verdana" charset="0"/>
                              <a:ea typeface="Times New Roman" charset="0"/>
                              <a:cs typeface="Times New Roman" charset="0"/>
                            </a:rPr>
                            <a:t>6.</a:t>
                          </a:r>
                          <a:endParaRPr lang="en-US" sz="130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557149">
                    <a:tc>
                      <a:txBody>
                        <a:bodyPr/>
                        <a:lstStyle/>
                        <a:p>
                          <a:endParaRPr lang="en-US"/>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52" t="-714130" r="-100303" b="-2174"/>
                          </a:stretch>
                        </a:blipFill>
                      </a:tcPr>
                    </a:tc>
                    <a:tc>
                      <a:txBody>
                        <a:bodyPr/>
                        <a:lstStyle/>
                        <a:p>
                          <a:pPr marL="0" marR="0">
                            <a:spcBef>
                              <a:spcPts val="0"/>
                            </a:spcBef>
                            <a:spcAft>
                              <a:spcPts val="0"/>
                            </a:spcAft>
                          </a:pPr>
                          <a:r>
                            <a:rPr lang="en-US" sz="2000" dirty="0">
                              <a:effectLst/>
                              <a:latin typeface="Verdana" charset="0"/>
                              <a:ea typeface="Times New Roman" charset="0"/>
                              <a:cs typeface="Times New Roman" charset="0"/>
                            </a:rPr>
                            <a:t>7.</a:t>
                          </a:r>
                          <a:endParaRPr lang="en-US" sz="1300" dirty="0">
                            <a:effectLst/>
                            <a:latin typeface="Cambria" charset="0"/>
                            <a:ea typeface="Times New Roman" charset="0"/>
                            <a:cs typeface="Times New Roman" charset="0"/>
                          </a:endParaRPr>
                        </a:p>
                      </a:txBody>
                      <a:tcPr marL="75238" marR="7523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Fallback>
      </mc:AlternateContent>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273</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49" y="60449"/>
            <a:ext cx="965467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5.9.2 Collaboration: Using CPCTC to Determine Measures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273</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4839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93248" y="1386150"/>
                <a:ext cx="8563960" cy="1631216"/>
              </a:xfrm>
              <a:prstGeom prst="rect">
                <a:avLst/>
              </a:prstGeom>
              <a:noFill/>
            </p:spPr>
            <p:txBody>
              <a:bodyPr wrap="square" rtlCol="0">
                <a:spAutoFit/>
              </a:bodyPr>
              <a:lstStyle/>
              <a:p>
                <a:r>
                  <a:rPr lang="en-US" sz="2000" dirty="0">
                    <a:latin typeface="Verdana" charset="0"/>
                    <a:ea typeface="Verdana" charset="0"/>
                    <a:cs typeface="Verdana" charset="0"/>
                  </a:rPr>
                  <a:t>Triangle </a:t>
                </a:r>
                <a14:m>
                  <m:oMath xmlns:m="http://schemas.openxmlformats.org/officeDocument/2006/math">
                    <m:r>
                      <a:rPr lang="en-US" sz="2000" i="1">
                        <a:latin typeface="Cambria Math" charset="0"/>
                        <a:ea typeface="Verdana" charset="0"/>
                        <a:cs typeface="Verdana" charset="0"/>
                      </a:rPr>
                      <m:t>𝑀𝐵𝐶</m:t>
                    </m:r>
                  </m:oMath>
                </a14:m>
                <a:r>
                  <a:rPr lang="en-US" sz="2000" dirty="0">
                    <a:latin typeface="Verdana" charset="0"/>
                    <a:ea typeface="Verdana" charset="0"/>
                    <a:cs typeface="Verdana" charset="0"/>
                  </a:rPr>
                  <a:t> is shown where </a:t>
                </a:r>
                <a14:m>
                  <m:oMath xmlns:m="http://schemas.openxmlformats.org/officeDocument/2006/math">
                    <m:r>
                      <a:rPr lang="en-US" sz="2000" i="1">
                        <a:latin typeface="Cambria Math" charset="0"/>
                        <a:ea typeface="Verdana" charset="0"/>
                        <a:cs typeface="Verdana" charset="0"/>
                      </a:rPr>
                      <m:t>𝑀𝑋</m:t>
                    </m:r>
                    <m:r>
                      <a:rPr lang="en-US" sz="2000" i="1">
                        <a:latin typeface="Cambria Math" charset="0"/>
                        <a:ea typeface="Verdana" charset="0"/>
                        <a:cs typeface="Verdana" charset="0"/>
                      </a:rPr>
                      <m:t>=3.6</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𝑀𝐵</m:t>
                    </m:r>
                    <m:r>
                      <a:rPr lang="en-US" sz="2000" i="1">
                        <a:latin typeface="Cambria Math" charset="0"/>
                        <a:ea typeface="Verdana" charset="0"/>
                        <a:cs typeface="Verdana" charset="0"/>
                      </a:rPr>
                      <m:t>=7.2</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𝑅𝑋</m:t>
                    </m:r>
                    <m:r>
                      <a:rPr lang="en-US" sz="2000" i="1">
                        <a:latin typeface="Cambria Math" charset="0"/>
                        <a:ea typeface="Verdana" charset="0"/>
                        <a:cs typeface="Verdana" charset="0"/>
                      </a:rPr>
                      <m:t>=2</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𝐵𝐶</m:t>
                    </m:r>
                    <m:r>
                      <a:rPr lang="en-US" sz="2000" i="1">
                        <a:latin typeface="Cambria Math" charset="0"/>
                        <a:ea typeface="Verdana" charset="0"/>
                        <a:cs typeface="Verdana" charset="0"/>
                      </a:rPr>
                      <m:t>=6.5</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𝑅𝐵</m:t>
                    </m:r>
                    <m:r>
                      <a:rPr lang="en-US" sz="2000" i="1">
                        <a:latin typeface="Cambria Math" charset="0"/>
                        <a:ea typeface="Verdana" charset="0"/>
                        <a:cs typeface="Verdana" charset="0"/>
                      </a:rPr>
                      <m:t>=3.9</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𝑌𝐵𝑅</m:t>
                    </m:r>
                    <m:r>
                      <a:rPr lang="en-US" sz="2000" i="1">
                        <a:latin typeface="Cambria Math" charset="0"/>
                        <a:ea typeface="Verdana" charset="0"/>
                        <a:cs typeface="Verdana" charset="0"/>
                      </a:rPr>
                      <m:t>=29°</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𝐶𝑋𝑅</m:t>
                    </m:r>
                    <m:r>
                      <a:rPr lang="en-US" sz="2000" i="1">
                        <a:latin typeface="Cambria Math" charset="0"/>
                        <a:ea typeface="Verdana" charset="0"/>
                        <a:cs typeface="Verdana" charset="0"/>
                      </a:rPr>
                      <m:t>=83°</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𝑀𝐶𝐵</m:t>
                    </m:r>
                    <m:r>
                      <a:rPr lang="en-US" sz="2000" i="1">
                        <a:latin typeface="Cambria Math" charset="0"/>
                        <a:ea typeface="Verdana" charset="0"/>
                        <a:cs typeface="Verdana" charset="0"/>
                      </a:rPr>
                      <m:t>=63°</m:t>
                    </m:r>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Work with your partner to complete </a:t>
                </a:r>
              </a:p>
              <a:p>
                <a:r>
                  <a:rPr lang="en-US" sz="2000" dirty="0">
                    <a:latin typeface="Verdana" charset="0"/>
                    <a:ea typeface="Verdana" charset="0"/>
                    <a:cs typeface="Verdana" charset="0"/>
                  </a:rPr>
                  <a:t>the following.</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93248" y="1386150"/>
                <a:ext cx="8563960" cy="1631216"/>
              </a:xfrm>
              <a:prstGeom prst="rect">
                <a:avLst/>
              </a:prstGeom>
              <a:blipFill>
                <a:blip r:embed="rId5"/>
                <a:stretch>
                  <a:fillRect l="-712" t="-1866" r="-1423" b="-5597"/>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157209" y="1386149"/>
            <a:ext cx="2379568" cy="2414952"/>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98256" y="3225081"/>
                <a:ext cx="8442506" cy="2246769"/>
              </a:xfrm>
              <a:prstGeom prst="rect">
                <a:avLst/>
              </a:prstGeom>
            </p:spPr>
            <p:txBody>
              <a:bodyPr wrap="square">
                <a:spAutoFit/>
              </a:bodyPr>
              <a:lstStyle/>
              <a:p>
                <a:pPr marL="342900" indent="-342900">
                  <a:buFont typeface="+mj-lt"/>
                  <a:buAutoNum type="arabicPeriod"/>
                </a:pPr>
                <a:r>
                  <a:rPr lang="en-US" sz="2000" dirty="0">
                    <a:latin typeface="Verdana" charset="0"/>
                    <a:ea typeface="Verdana" charset="0"/>
                    <a:cs typeface="Verdana" charset="0"/>
                  </a:rPr>
                  <a:t>How many different triangles are in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𝑀𝐵𝐶</m:t>
                    </m:r>
                  </m:oMath>
                </a14:m>
                <a:r>
                  <a:rPr lang="en-US" sz="2000" dirty="0">
                    <a:latin typeface="Verdana" charset="0"/>
                    <a:ea typeface="Verdana" charset="0"/>
                    <a:cs typeface="Verdana" charset="0"/>
                  </a:rPr>
                  <a:t>?</a:t>
                </a:r>
              </a:p>
              <a:p>
                <a:pPr marL="342900" indent="-342900">
                  <a:buFont typeface="+mj-lt"/>
                  <a:buAutoNum type="arabicPeriod"/>
                </a:pPr>
                <a:r>
                  <a:rPr lang="en-US" sz="2000" dirty="0">
                    <a:latin typeface="Verdana" charset="0"/>
                    <a:ea typeface="Verdana" charset="0"/>
                    <a:cs typeface="Verdana" charset="0"/>
                  </a:rPr>
                  <a:t>If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𝐵𝑅𝑌</m:t>
                    </m:r>
                    <m:r>
                      <a:rPr lang="en-US" sz="2000" i="1">
                        <a:latin typeface="Cambria Math" charset="0"/>
                        <a:ea typeface="Verdana" charset="0"/>
                        <a:cs typeface="Verdana" charset="0"/>
                      </a:rPr>
                      <m:t>≅∆</m:t>
                    </m:r>
                    <m:r>
                      <a:rPr lang="en-US" sz="2000" i="1">
                        <a:latin typeface="Cambria Math" charset="0"/>
                        <a:ea typeface="Verdana" charset="0"/>
                        <a:cs typeface="Verdana" charset="0"/>
                      </a:rPr>
                      <m:t>𝐶𝑅𝑋</m:t>
                    </m:r>
                  </m:oMath>
                </a14:m>
                <a:r>
                  <a:rPr lang="en-US" sz="2000" dirty="0">
                    <a:latin typeface="Verdana" charset="0"/>
                    <a:ea typeface="Verdana" charset="0"/>
                    <a:cs typeface="Verdana" charset="0"/>
                  </a:rPr>
                  <a:t>, then determine the measure of each.</a:t>
                </a:r>
              </a:p>
              <a:p>
                <a:pPr marL="457200"/>
                <a14:m>
                  <m:oMath xmlns:m="http://schemas.openxmlformats.org/officeDocument/2006/math">
                    <m:r>
                      <a:rPr lang="en-US" sz="2000" i="1">
                        <a:latin typeface="Cambria Math" charset="0"/>
                        <a:ea typeface="Verdana" charset="0"/>
                        <a:cs typeface="Verdana" charset="0"/>
                      </a:rPr>
                      <m:t>𝑅𝐶</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______	</a:t>
                </a:r>
                <a:endParaRPr lang="en-US" sz="2000" i="1" dirty="0">
                  <a:latin typeface="Verdana" charset="0"/>
                  <a:ea typeface="Verdana" charset="0"/>
                  <a:cs typeface="Verdana" charset="0"/>
                </a:endParaRPr>
              </a:p>
              <a:p>
                <a:pPr marL="457200"/>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𝑅𝑌𝐵</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_____	</a:t>
                </a:r>
              </a:p>
              <a:p>
                <a:pPr marL="457200"/>
                <a:r>
                  <a:rPr lang="en-US" sz="2000" dirty="0">
                    <a:latin typeface="Verdana" charset="0"/>
                    <a:ea typeface="Verdana" charset="0"/>
                    <a:cs typeface="Verdana" charset="0"/>
                  </a:rPr>
                  <a:t>	</a:t>
                </a:r>
              </a:p>
              <a:p>
                <a:pPr marL="457200" indent="-457200">
                  <a:buFont typeface="+mj-lt"/>
                  <a:buAutoNum type="arabicPeriod" startAt="3"/>
                </a:pPr>
                <a:r>
                  <a:rPr lang="en-US" sz="2000" dirty="0">
                    <a:latin typeface="Verdana" charset="0"/>
                    <a:ea typeface="Verdana" charset="0"/>
                    <a:cs typeface="Verdana" charset="0"/>
                  </a:rPr>
                  <a:t>If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𝐵𝑋𝑀</m:t>
                    </m:r>
                    <m:r>
                      <a:rPr lang="en-US" sz="2000" i="1">
                        <a:latin typeface="Cambria Math" charset="0"/>
                        <a:ea typeface="Verdana" charset="0"/>
                        <a:cs typeface="Verdana" charset="0"/>
                      </a:rPr>
                      <m:t>≅∆</m:t>
                    </m:r>
                    <m:r>
                      <a:rPr lang="en-US" sz="2000" i="1">
                        <a:latin typeface="Cambria Math" charset="0"/>
                        <a:ea typeface="Verdana" charset="0"/>
                        <a:cs typeface="Verdana" charset="0"/>
                      </a:rPr>
                      <m:t>𝐶𝑌𝑀</m:t>
                    </m:r>
                  </m:oMath>
                </a14:m>
                <a:r>
                  <a:rPr lang="en-US" sz="2000" dirty="0">
                    <a:latin typeface="Verdana" charset="0"/>
                    <a:ea typeface="Verdana" charset="0"/>
                    <a:cs typeface="Verdana" charset="0"/>
                  </a:rPr>
                  <a:t>, then determine the measure of each.</a:t>
                </a:r>
              </a:p>
              <a:p>
                <a:r>
                  <a:rPr lang="en-US" sz="2000" dirty="0">
                    <a:ea typeface="Verdana" charset="0"/>
                    <a:cs typeface="Verdana" charset="0"/>
                  </a:rPr>
                  <a:t>	</a:t>
                </a:r>
                <a14:m>
                  <m:oMath xmlns:m="http://schemas.openxmlformats.org/officeDocument/2006/math">
                    <m:r>
                      <a:rPr lang="en-US" sz="2000" i="1">
                        <a:latin typeface="Cambria Math" charset="0"/>
                        <a:ea typeface="Verdana" charset="0"/>
                        <a:cs typeface="Verdana" charset="0"/>
                      </a:rPr>
                      <m:t>𝐶𝑌</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______	</a:t>
                </a:r>
                <a14:m>
                  <m:oMath xmlns:m="http://schemas.openxmlformats.org/officeDocument/2006/math">
                    <m:r>
                      <a:rPr lang="en-US" sz="2000" i="1">
                        <a:latin typeface="Cambria Math" charset="0"/>
                        <a:ea typeface="Verdana" charset="0"/>
                        <a:cs typeface="Verdana" charset="0"/>
                      </a:rPr>
                      <m:t>𝐶𝑀</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______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𝑀𝐶𝑌</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_____	 </a:t>
                </a:r>
              </a:p>
            </p:txBody>
          </p:sp>
        </mc:Choice>
        <mc:Fallback xmlns="">
          <p:sp>
            <p:nvSpPr>
              <p:cNvPr id="3" name="Rectangle 2"/>
              <p:cNvSpPr>
                <a:spLocks noRot="1" noChangeAspect="1" noMove="1" noResize="1" noEditPoints="1" noAdjustHandles="1" noChangeArrowheads="1" noChangeShapeType="1" noTextEdit="1"/>
              </p:cNvSpPr>
              <p:nvPr/>
            </p:nvSpPr>
            <p:spPr>
              <a:xfrm>
                <a:off x="598256" y="3225081"/>
                <a:ext cx="8442506" cy="2246769"/>
              </a:xfrm>
              <a:prstGeom prst="rect">
                <a:avLst/>
              </a:prstGeom>
              <a:blipFill>
                <a:blip r:embed="rId7"/>
                <a:stretch>
                  <a:fillRect l="-794" t="-1897" b="-3794"/>
                </a:stretch>
              </a:blipFill>
            </p:spPr>
            <p:txBody>
              <a:bodyPr/>
              <a:lstStyle/>
              <a:p>
                <a:r>
                  <a:rPr lang="en-US">
                    <a:noFill/>
                  </a:rPr>
                  <a:t> </a:t>
                </a:r>
              </a:p>
            </p:txBody>
          </p:sp>
        </mc:Fallback>
      </mc:AlternateContent>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273</a:t>
            </a:r>
          </a:p>
        </p:txBody>
      </p:sp>
    </p:spTree>
    <p:extLst>
      <p:ext uri="{BB962C8B-B14F-4D97-AF65-F5344CB8AC3E}">
        <p14:creationId xmlns:p14="http://schemas.microsoft.com/office/powerpoint/2010/main" val="1610311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26405"/>
            <a:ext cx="105755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4B5D1"/>
                </a:solidFill>
                <a:latin typeface="Verdana"/>
                <a:ea typeface="Verdana"/>
                <a:cs typeface="Verdana"/>
                <a:sym typeface="Verdana"/>
              </a:rPr>
              <a:t>5.9.3 Guided Instruction: Corresponding Parts of Congruent Polygons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1409"/>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273</a:t>
            </a:r>
          </a:p>
        </p:txBody>
      </p:sp>
      <p:sp>
        <p:nvSpPr>
          <p:cNvPr id="13" name="TextBox 12">
            <a:extLst>
              <a:ext uri="{FF2B5EF4-FFF2-40B4-BE49-F238E27FC236}">
                <a16:creationId xmlns:a16="http://schemas.microsoft.com/office/drawing/2014/main" id="{C01B13E8-EC8D-E443-A329-C5E3593DD13A}"/>
              </a:ext>
            </a:extLst>
          </p:cNvPr>
          <p:cNvSpPr txBox="1"/>
          <p:nvPr/>
        </p:nvSpPr>
        <p:spPr>
          <a:xfrm>
            <a:off x="593248" y="1386150"/>
            <a:ext cx="10930676" cy="1015663"/>
          </a:xfrm>
          <a:prstGeom prst="rect">
            <a:avLst/>
          </a:prstGeom>
          <a:noFill/>
        </p:spPr>
        <p:txBody>
          <a:bodyPr wrap="square" rtlCol="0">
            <a:spAutoFit/>
          </a:bodyPr>
          <a:lstStyle/>
          <a:p>
            <a:r>
              <a:rPr lang="en-US" sz="2000" dirty="0">
                <a:latin typeface="Verdana" charset="0"/>
                <a:ea typeface="Verdana" charset="0"/>
                <a:cs typeface="Verdana" charset="0"/>
              </a:rPr>
              <a:t>Any polygon that can be mapped to another polygon using rigid transformations shows that all of the parts of the polygons are congruent. This understanding can then be applied to find measurements of the two congruent polygons. </a:t>
            </a:r>
          </a:p>
        </p:txBody>
      </p:sp>
      <p:sp>
        <p:nvSpPr>
          <p:cNvPr id="8" name="Text Box 24"/>
          <p:cNvSpPr txBox="1"/>
          <p:nvPr/>
        </p:nvSpPr>
        <p:spPr>
          <a:xfrm>
            <a:off x="1406058" y="3549951"/>
            <a:ext cx="6629400" cy="1887608"/>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742950">
              <a:spcAft>
                <a:spcPts val="1000"/>
              </a:spcAft>
            </a:pPr>
            <a:r>
              <a:rPr lang="en-US" sz="2000" b="1" dirty="0">
                <a:solidFill>
                  <a:srgbClr val="3465B0"/>
                </a:solidFill>
                <a:latin typeface="Verdana" panose="020B0604030504040204" pitchFamily="34" charset="0"/>
                <a:ea typeface="Times New Roman"/>
                <a:cs typeface="Times New Roman"/>
              </a:rPr>
              <a:t>Corresponding Parts of Congruent Polygons are Congruent</a:t>
            </a:r>
            <a:endParaRPr lang="en-US" sz="2000" dirty="0">
              <a:solidFill>
                <a:srgbClr val="3465B0"/>
              </a:solidFill>
              <a:ea typeface="Times New Roman"/>
              <a:cs typeface="Times New Roman"/>
            </a:endParaRPr>
          </a:p>
          <a:p>
            <a:r>
              <a:rPr lang="en-US" sz="2000" dirty="0">
                <a:solidFill>
                  <a:srgbClr val="3465B0"/>
                </a:solidFill>
              </a:rPr>
              <a:t>	If two polygons are congruent, then all 	corresponding parts of the polygons are 	congruent.</a:t>
            </a:r>
          </a:p>
        </p:txBody>
      </p:sp>
      <p:pic>
        <p:nvPicPr>
          <p:cNvPr id="10" name="Picture 9"/>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662581" y="4268336"/>
            <a:ext cx="542544"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5177166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517"/>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Congruent quadrilaterals </a:t>
                </a:r>
                <a14:m>
                  <m:oMath xmlns:m="http://schemas.openxmlformats.org/officeDocument/2006/math">
                    <m:r>
                      <a:rPr lang="en-US" sz="2000" i="1">
                        <a:latin typeface="Cambria Math" charset="0"/>
                        <a:ea typeface="Verdana" charset="0"/>
                        <a:cs typeface="Verdana" charset="0"/>
                      </a:rPr>
                      <m:t>𝑇𝑌𝑀𝐵</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𝐿𝐻𝐶𝑊</m:t>
                    </m:r>
                  </m:oMath>
                </a14:m>
                <a:r>
                  <a:rPr lang="en-US" sz="2000" dirty="0">
                    <a:latin typeface="Verdana" charset="0"/>
                    <a:ea typeface="Verdana" charset="0"/>
                    <a:cs typeface="Verdana" charset="0"/>
                  </a:rPr>
                  <a:t> are shown.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517"/>
                <a:ext cx="8327136" cy="400110"/>
              </a:xfrm>
              <a:prstGeom prst="rect">
                <a:avLst/>
              </a:prstGeom>
              <a:blipFill>
                <a:blip r:embed="rId4"/>
                <a:stretch>
                  <a:fillRect l="-805" t="-9091" b="-27273"/>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408483" y="1135504"/>
            <a:ext cx="6591300" cy="3111500"/>
          </a:xfrm>
          <a:prstGeom prst="rect">
            <a:avLst/>
          </a:prstGeom>
        </p:spPr>
      </p:pic>
      <mc:AlternateContent xmlns:mc="http://schemas.openxmlformats.org/markup-compatibility/2006" xmlns:a14="http://schemas.microsoft.com/office/drawing/2010/main">
        <mc:Choice Requires="a14">
          <p:sp>
            <p:nvSpPr>
              <p:cNvPr id="3" name="Rectangle 2"/>
              <p:cNvSpPr/>
              <p:nvPr/>
            </p:nvSpPr>
            <p:spPr>
              <a:xfrm>
                <a:off x="540566" y="4536793"/>
                <a:ext cx="11087584" cy="1323439"/>
              </a:xfrm>
              <a:prstGeom prst="rect">
                <a:avLst/>
              </a:prstGeom>
            </p:spPr>
            <p:txBody>
              <a:bodyPr wrap="square">
                <a:spAutoFit/>
              </a:bodyPr>
              <a:lstStyle/>
              <a:p>
                <a:pPr marL="457200"/>
                <a:r>
                  <a:rPr lang="en-US" sz="2000" dirty="0">
                    <a:latin typeface="Verdana" charset="0"/>
                    <a:ea typeface="Verdana" charset="0"/>
                    <a:cs typeface="Verdana" charset="0"/>
                  </a:rPr>
                  <a:t>Some measurements of the angles in quadrilaterals </a:t>
                </a:r>
                <a14:m>
                  <m:oMath xmlns:m="http://schemas.openxmlformats.org/officeDocument/2006/math">
                    <m:r>
                      <a:rPr lang="en-US" sz="2000" i="1">
                        <a:latin typeface="Cambria Math" charset="0"/>
                        <a:ea typeface="Verdana" charset="0"/>
                        <a:cs typeface="Verdana" charset="0"/>
                      </a:rPr>
                      <m:t>𝑇𝑌𝑀𝐵</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𝐿𝐻𝐶𝑊</m:t>
                    </m:r>
                  </m:oMath>
                </a14:m>
                <a:r>
                  <a:rPr lang="en-US" sz="2000" dirty="0">
                    <a:latin typeface="Verdana" charset="0"/>
                    <a:ea typeface="Verdana" charset="0"/>
                    <a:cs typeface="Verdana" charset="0"/>
                  </a:rPr>
                  <a:t> are given.</a:t>
                </a:r>
              </a:p>
              <a:p>
                <a:r>
                  <a:rPr lang="en-US" sz="2000" dirty="0">
                    <a:latin typeface="Verdana" charset="0"/>
                    <a:ea typeface="Verdana" charset="0"/>
                    <a:cs typeface="Verdana" charset="0"/>
                  </a:rPr>
                  <a:t> </a:t>
                </a:r>
              </a:p>
              <a:p>
                <a:pPr indent="457200"/>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𝑌𝑀𝐵</m:t>
                    </m:r>
                    <m:r>
                      <a:rPr lang="en-US" sz="2000" i="1">
                        <a:latin typeface="Cambria Math" charset="0"/>
                        <a:ea typeface="Verdana" charset="0"/>
                        <a:cs typeface="Verdana" charset="0"/>
                      </a:rPr>
                      <m:t>=90°</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𝑊𝐿𝐻</m:t>
                    </m:r>
                    <m:r>
                      <a:rPr lang="en-US" sz="2000" i="1">
                        <a:latin typeface="Cambria Math" charset="0"/>
                        <a:ea typeface="Verdana" charset="0"/>
                        <a:cs typeface="Verdana" charset="0"/>
                      </a:rPr>
                      <m:t>=60°</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𝑀𝐵𝑇</m:t>
                    </m:r>
                    <m:r>
                      <a:rPr lang="en-US" sz="2000" i="1">
                        <a:latin typeface="Cambria Math" charset="0"/>
                        <a:ea typeface="Verdana" charset="0"/>
                        <a:cs typeface="Verdana" charset="0"/>
                      </a:rPr>
                      <m:t>+</m:t>
                    </m:r>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𝐶𝐻𝐿</m:t>
                    </m:r>
                    <m:r>
                      <a:rPr lang="en-US" sz="2000" i="1">
                        <a:latin typeface="Cambria Math" charset="0"/>
                        <a:ea typeface="Verdana" charset="0"/>
                        <a:cs typeface="Verdana" charset="0"/>
                      </a:rPr>
                      <m:t>=210°</m:t>
                    </m:r>
                  </m:oMath>
                </a14:m>
                <a:r>
                  <a:rPr lang="en-US" sz="2000" dirty="0">
                    <a:latin typeface="Verdana" charset="0"/>
                    <a:ea typeface="Verdana" charset="0"/>
                    <a:cs typeface="Verdana" charset="0"/>
                  </a:rPr>
                  <a:t>,</a:t>
                </a:r>
              </a:p>
              <a:p>
                <a:pPr indent="457200"/>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𝐵𝑇𝑌</m:t>
                    </m:r>
                    <m:r>
                      <a:rPr lang="en-US" sz="2000" i="1">
                        <a:latin typeface="Cambria Math" charset="0"/>
                        <a:ea typeface="Verdana" charset="0"/>
                        <a:cs typeface="Verdana" charset="0"/>
                      </a:rPr>
                      <m:t>=(2</m:t>
                    </m:r>
                    <m:r>
                      <a:rPr lang="en-US" sz="2000" i="1">
                        <a:latin typeface="Cambria Math" charset="0"/>
                        <a:ea typeface="Verdana" charset="0"/>
                        <a:cs typeface="Verdana" charset="0"/>
                      </a:rPr>
                      <m:t>𝑥</m:t>
                    </m:r>
                    <m:r>
                      <a:rPr lang="en-US" sz="2000" i="1">
                        <a:latin typeface="Cambria Math" charset="0"/>
                        <a:ea typeface="Verdana" charset="0"/>
                        <a:cs typeface="Verdana" charset="0"/>
                      </a:rPr>
                      <m:t>−4)°</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𝑀𝑌𝑇</m:t>
                    </m:r>
                    <m:r>
                      <a:rPr lang="en-US" sz="2000" i="1">
                        <a:latin typeface="Cambria Math" charset="0"/>
                        <a:ea typeface="Verdana" charset="0"/>
                        <a:cs typeface="Verdana" charset="0"/>
                      </a:rPr>
                      <m:t>=(</m:t>
                    </m:r>
                    <m:r>
                      <a:rPr lang="en-US" sz="2000" i="1">
                        <a:latin typeface="Cambria Math" charset="0"/>
                        <a:ea typeface="Verdana" charset="0"/>
                        <a:cs typeface="Verdana" charset="0"/>
                      </a:rPr>
                      <m:t>𝑥</m:t>
                    </m:r>
                    <m:r>
                      <a:rPr lang="en-US" sz="2000" i="1">
                        <a:latin typeface="Cambria Math" charset="0"/>
                        <a:ea typeface="Verdana" charset="0"/>
                        <a:cs typeface="Verdana" charset="0"/>
                      </a:rPr>
                      <m:t>+25)°</m:t>
                    </m:r>
                  </m:oMath>
                </a14:m>
                <a:endParaRPr lang="en-US" sz="2000" dirty="0">
                  <a:latin typeface="Verdana" charset="0"/>
                  <a:ea typeface="Verdana" charset="0"/>
                  <a:cs typeface="Verdana" charset="0"/>
                </a:endParaRPr>
              </a:p>
            </p:txBody>
          </p:sp>
        </mc:Choice>
        <mc:Fallback xmlns="">
          <p:sp>
            <p:nvSpPr>
              <p:cNvPr id="3" name="Rectangle 2"/>
              <p:cNvSpPr>
                <a:spLocks noRot="1" noChangeAspect="1" noMove="1" noResize="1" noEditPoints="1" noAdjustHandles="1" noChangeArrowheads="1" noChangeShapeType="1" noTextEdit="1"/>
              </p:cNvSpPr>
              <p:nvPr/>
            </p:nvSpPr>
            <p:spPr>
              <a:xfrm>
                <a:off x="540566" y="4536793"/>
                <a:ext cx="11087584" cy="1323439"/>
              </a:xfrm>
              <a:prstGeom prst="rect">
                <a:avLst/>
              </a:prstGeom>
              <a:blipFill>
                <a:blip r:embed="rId6"/>
                <a:stretch>
                  <a:fillRect t="-2304" b="-7373"/>
                </a:stretch>
              </a:blipFill>
            </p:spPr>
            <p:txBody>
              <a:bodyPr/>
              <a:lstStyle/>
              <a:p>
                <a:r>
                  <a:rPr lang="en-US">
                    <a:noFill/>
                  </a:rPr>
                  <a:t> </a:t>
                </a:r>
              </a:p>
            </p:txBody>
          </p:sp>
        </mc:Fallback>
      </mc:AlternateContent>
    </p:spTree>
    <p:extLst>
      <p:ext uri="{BB962C8B-B14F-4D97-AF65-F5344CB8AC3E}">
        <p14:creationId xmlns:p14="http://schemas.microsoft.com/office/powerpoint/2010/main" val="8364412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0517"/>
            <a:ext cx="8327136" cy="400110"/>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Determine each. </a:t>
            </a:r>
          </a:p>
        </p:txBody>
      </p:sp>
      <mc:AlternateContent xmlns:mc="http://schemas.openxmlformats.org/markup-compatibility/2006" xmlns:a14="http://schemas.microsoft.com/office/drawing/2010/main">
        <mc:Choice Requires="a14">
          <p:sp>
            <p:nvSpPr>
              <p:cNvPr id="2" name="Rectangle 1"/>
              <p:cNvSpPr/>
              <p:nvPr/>
            </p:nvSpPr>
            <p:spPr>
              <a:xfrm>
                <a:off x="1048838" y="1068174"/>
                <a:ext cx="10579312" cy="3785652"/>
              </a:xfrm>
              <a:prstGeom prst="rect">
                <a:avLst/>
              </a:prstGeom>
            </p:spPr>
            <p:txBody>
              <a:bodyPr wrap="square">
                <a:spAutoFit/>
              </a:bodyPr>
              <a:lstStyle/>
              <a:p>
                <a:r>
                  <a:rPr lang="en-US" sz="2000" dirty="0">
                    <a:latin typeface="Verdana" charset="0"/>
                    <a:ea typeface="Verdana" charset="0"/>
                    <a:cs typeface="Verdana" charset="0"/>
                  </a:rPr>
                  <a:t> </a:t>
                </a:r>
              </a:p>
              <a:p>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𝐵𝑇𝑌</m:t>
                      </m:r>
                    </m:oMath>
                  </m:oMathPara>
                </a14:m>
                <a:endParaRPr lang="en-US" sz="2000" dirty="0">
                  <a:latin typeface="Verdana" charset="0"/>
                  <a:ea typeface="Verdana" charset="0"/>
                  <a:cs typeface="Verdana" charset="0"/>
                </a:endParaRP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𝑚</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𝐶𝑊𝐿</m:t>
                    </m:r>
                  </m:oMath>
                </a14:m>
                <a:endParaRPr lang="en-US" sz="2000" dirty="0">
                  <a:latin typeface="Verdana" charset="0"/>
                  <a:ea typeface="Verdana" charset="0"/>
                  <a:cs typeface="Verdana" charset="0"/>
                </a:endParaRP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Some measurements of the sides of quadrilaterals </a:t>
                </a:r>
                <a14:m>
                  <m:oMath xmlns:m="http://schemas.openxmlformats.org/officeDocument/2006/math">
                    <m:r>
                      <a:rPr lang="en-US" sz="2000" i="1">
                        <a:latin typeface="Cambria Math" panose="02040503050406030204" pitchFamily="18" charset="0"/>
                        <a:ea typeface="Verdana" charset="0"/>
                        <a:cs typeface="Verdana" charset="0"/>
                      </a:rPr>
                      <m:t>𝑇𝑌𝑀𝐵</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𝐿𝐻𝐶𝑊</m:t>
                    </m:r>
                  </m:oMath>
                </a14:m>
                <a:r>
                  <a:rPr lang="en-US" sz="2000" dirty="0">
                    <a:latin typeface="Verdana" charset="0"/>
                    <a:ea typeface="Verdana" charset="0"/>
                    <a:cs typeface="Verdana" charset="0"/>
                  </a:rPr>
                  <a:t> are given.</a:t>
                </a:r>
              </a:p>
              <a:p>
                <a:r>
                  <a:rPr lang="en-US" sz="2000" dirty="0">
                    <a:latin typeface="Verdana" charset="0"/>
                    <a:ea typeface="Verdana" charset="0"/>
                    <a:cs typeface="Verdana" charset="0"/>
                  </a:rPr>
                  <a:t> </a:t>
                </a:r>
              </a:p>
              <a:p>
                <a14:m>
                  <m:oMath xmlns:m="http://schemas.openxmlformats.org/officeDocument/2006/math">
                    <m:r>
                      <a:rPr lang="en-US" sz="2000" i="1">
                        <a:latin typeface="Cambria Math" panose="02040503050406030204" pitchFamily="18" charset="0"/>
                        <a:ea typeface="Verdana" charset="0"/>
                        <a:cs typeface="Verdana" charset="0"/>
                      </a:rPr>
                      <m:t>𝐻𝐶</m:t>
                    </m:r>
                    <m:r>
                      <a:rPr lang="en-US" sz="2000" i="1">
                        <a:latin typeface="Cambria Math" panose="02040503050406030204" pitchFamily="18" charset="0"/>
                        <a:ea typeface="Verdana" charset="0"/>
                        <a:cs typeface="Verdana" charset="0"/>
                      </a:rPr>
                      <m:t>=5</m:t>
                    </m:r>
                    <m:r>
                      <a:rPr lang="en-US" sz="2000" i="1">
                        <a:latin typeface="Cambria Math" panose="02040503050406030204" pitchFamily="18" charset="0"/>
                        <a:ea typeface="Verdana" charset="0"/>
                        <a:cs typeface="Verdana" charset="0"/>
                      </a:rPr>
                      <m:t>𝑘</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𝐿𝑊</m:t>
                    </m:r>
                    <m:r>
                      <a:rPr lang="en-US" sz="2000" i="1">
                        <a:latin typeface="Cambria Math" panose="02040503050406030204" pitchFamily="18" charset="0"/>
                        <a:ea typeface="Verdana" charset="0"/>
                        <a:cs typeface="Verdana" charset="0"/>
                      </a:rPr>
                      <m:t>=4</m:t>
                    </m:r>
                    <m:r>
                      <a:rPr lang="en-US" sz="2000" i="1">
                        <a:latin typeface="Cambria Math" panose="02040503050406030204" pitchFamily="18" charset="0"/>
                        <a:ea typeface="Verdana" charset="0"/>
                        <a:cs typeface="Verdana" charset="0"/>
                      </a:rPr>
                      <m:t>𝑘</m:t>
                    </m:r>
                    <m:r>
                      <a:rPr lang="en-US" sz="2000" i="1">
                        <a:latin typeface="Cambria Math" panose="02040503050406030204" pitchFamily="18" charset="0"/>
                        <a:ea typeface="Verdana" charset="0"/>
                        <a:cs typeface="Verdana" charset="0"/>
                      </a:rPr>
                      <m:t>−0.5</m:t>
                    </m:r>
                  </m:oMath>
                </a14:m>
                <a:r>
                  <a:rPr lang="en-US" sz="2000" dirty="0">
                    <a:latin typeface="Verdana" charset="0"/>
                    <a:ea typeface="Verdana" charset="0"/>
                    <a:cs typeface="Verdana" charset="0"/>
                  </a:rPr>
                  <a:t>, </a:t>
                </a:r>
                <a14:m>
                  <m:oMath xmlns:m="http://schemas.openxmlformats.org/officeDocument/2006/math">
                    <m:r>
                      <a:rPr lang="en-US" sz="2000" i="1">
                        <a:latin typeface="Cambria Math" panose="02040503050406030204" pitchFamily="18" charset="0"/>
                        <a:ea typeface="Verdana" charset="0"/>
                        <a:cs typeface="Verdana" charset="0"/>
                      </a:rPr>
                      <m:t>𝑌𝑇</m:t>
                    </m:r>
                    <m:r>
                      <a:rPr lang="en-US" sz="2000" i="1">
                        <a:latin typeface="Cambria Math" panose="02040503050406030204" pitchFamily="18" charset="0"/>
                        <a:ea typeface="Verdana" charset="0"/>
                        <a:cs typeface="Verdana" charset="0"/>
                      </a:rPr>
                      <m:t>=6</m:t>
                    </m:r>
                    <m:r>
                      <a:rPr lang="en-US" sz="2000" i="1">
                        <a:latin typeface="Cambria Math" panose="02040503050406030204" pitchFamily="18" charset="0"/>
                        <a:ea typeface="Verdana" charset="0"/>
                        <a:cs typeface="Verdana" charset="0"/>
                      </a:rPr>
                      <m:t>𝑘</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panose="02040503050406030204" pitchFamily="18" charset="0"/>
                        <a:ea typeface="Verdana" charset="0"/>
                        <a:cs typeface="Verdana" charset="0"/>
                      </a:rPr>
                      <m:t>𝐵𝑀</m:t>
                    </m:r>
                    <m:r>
                      <a:rPr lang="en-US" sz="2000" i="1">
                        <a:latin typeface="Cambria Math" panose="02040503050406030204" pitchFamily="18" charset="0"/>
                        <a:ea typeface="Verdana" charset="0"/>
                        <a:cs typeface="Verdana" charset="0"/>
                      </a:rPr>
                      <m:t>=</m:t>
                    </m:r>
                    <m:r>
                      <a:rPr lang="en-US" sz="2000" i="1">
                        <a:latin typeface="Cambria Math" panose="02040503050406030204" pitchFamily="18" charset="0"/>
                        <a:ea typeface="Verdana" charset="0"/>
                        <a:cs typeface="Verdana" charset="0"/>
                      </a:rPr>
                      <m:t>𝑘</m:t>
                    </m:r>
                    <m:r>
                      <a:rPr lang="en-US" sz="2000" i="1">
                        <a:latin typeface="Cambria Math" panose="02040503050406030204" pitchFamily="18" charset="0"/>
                        <a:ea typeface="Verdana" charset="0"/>
                        <a:cs typeface="Verdana" charset="0"/>
                      </a:rPr>
                      <m:t>+1</m:t>
                    </m:r>
                  </m:oMath>
                </a14:m>
                <a:r>
                  <a:rPr lang="en-US" sz="2000" dirty="0">
                    <a:latin typeface="Verdana" charset="0"/>
                    <a:ea typeface="Verdana" charset="0"/>
                    <a:cs typeface="Verdana" charset="0"/>
                  </a:rPr>
                  <a:t>.</a:t>
                </a:r>
              </a:p>
            </p:txBody>
          </p:sp>
        </mc:Choice>
        <mc:Fallback xmlns="">
          <p:sp>
            <p:nvSpPr>
              <p:cNvPr id="2" name="Rectangle 1"/>
              <p:cNvSpPr>
                <a:spLocks noRot="1" noChangeAspect="1" noMove="1" noResize="1" noEditPoints="1" noAdjustHandles="1" noChangeArrowheads="1" noChangeShapeType="1" noTextEdit="1"/>
              </p:cNvSpPr>
              <p:nvPr/>
            </p:nvSpPr>
            <p:spPr>
              <a:xfrm>
                <a:off x="1048838" y="1068174"/>
                <a:ext cx="10579312" cy="3785652"/>
              </a:xfrm>
              <a:prstGeom prst="rect">
                <a:avLst/>
              </a:prstGeom>
              <a:blipFill>
                <a:blip r:embed="rId4"/>
                <a:stretch>
                  <a:fillRect l="-576" b="-1932"/>
                </a:stretch>
              </a:blipFill>
            </p:spPr>
            <p:txBody>
              <a:bodyPr/>
              <a:lstStyle/>
              <a:p>
                <a:r>
                  <a:rPr lang="en-US">
                    <a:noFill/>
                  </a:rPr>
                  <a:t> </a:t>
                </a:r>
              </a:p>
            </p:txBody>
          </p:sp>
        </mc:Fallback>
      </mc:AlternateContent>
    </p:spTree>
    <p:extLst>
      <p:ext uri="{BB962C8B-B14F-4D97-AF65-F5344CB8AC3E}">
        <p14:creationId xmlns:p14="http://schemas.microsoft.com/office/powerpoint/2010/main" val="1004124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4" y="520518"/>
                <a:ext cx="11087585" cy="1015663"/>
              </a:xfrm>
              <a:prstGeom prst="rect">
                <a:avLst/>
              </a:prstGeom>
              <a:noFill/>
            </p:spPr>
            <p:txBody>
              <a:bodyPr wrap="square" rtlCol="0">
                <a:spAutoFit/>
              </a:bodyPr>
              <a:lstStyle/>
              <a:p>
                <a:pPr marL="457200" indent="-457200">
                  <a:buFont typeface="+mj-lt"/>
                  <a:buAutoNum type="alphaLcPeriod" startAt="2"/>
                </a:pPr>
                <a:r>
                  <a:rPr lang="en-US" sz="2000" dirty="0">
                    <a:latin typeface="Verdana" panose="020B0604030504040204" pitchFamily="34" charset="0"/>
                    <a:ea typeface="Verdana" panose="020B0604030504040204" pitchFamily="34" charset="0"/>
                  </a:rPr>
                  <a:t>Determine the value of </a:t>
                </a:r>
                <a14:m>
                  <m:oMath xmlns:m="http://schemas.openxmlformats.org/officeDocument/2006/math">
                    <m:r>
                      <a:rPr lang="en-US" sz="2000" i="1">
                        <a:latin typeface="Cambria Math" charset="0"/>
                      </a:rPr>
                      <m:t>𝑘</m:t>
                    </m:r>
                  </m:oMath>
                </a14:m>
                <a:r>
                  <a:rPr lang="en-US" sz="2000" dirty="0">
                    <a:latin typeface="Verdana" panose="020B0604030504040204" pitchFamily="34" charset="0"/>
                    <a:ea typeface="Verdana" panose="020B0604030504040204" pitchFamily="34" charset="0"/>
                  </a:rPr>
                  <a:t> if the perimeter of quadrilateral </a:t>
                </a:r>
                <a14:m>
                  <m:oMath xmlns:m="http://schemas.openxmlformats.org/officeDocument/2006/math">
                    <m:r>
                      <a:rPr lang="en-US" sz="2000" i="1">
                        <a:latin typeface="Cambria Math" charset="0"/>
                      </a:rPr>
                      <m:t>𝑇𝑌𝑀𝐵</m:t>
                    </m:r>
                  </m:oMath>
                </a14:m>
                <a:r>
                  <a:rPr lang="en-US" sz="2000" dirty="0">
                    <a:latin typeface="Verdana" panose="020B0604030504040204" pitchFamily="34" charset="0"/>
                    <a:ea typeface="Verdana" panose="020B0604030504040204" pitchFamily="34" charset="0"/>
                  </a:rPr>
                  <a:t> is </a:t>
                </a:r>
                <a14:m>
                  <m:oMath xmlns:m="http://schemas.openxmlformats.org/officeDocument/2006/math">
                    <m:r>
                      <a:rPr lang="en-US" sz="2000" i="1">
                        <a:latin typeface="Cambria Math" charset="0"/>
                      </a:rPr>
                      <m:t>24.5</m:t>
                    </m:r>
                  </m:oMath>
                </a14:m>
                <a:r>
                  <a:rPr lang="en-US" sz="2000" dirty="0">
                    <a:latin typeface="Verdana" panose="020B0604030504040204" pitchFamily="34" charset="0"/>
                    <a:ea typeface="Verdana" panose="020B0604030504040204" pitchFamily="34" charset="0"/>
                  </a:rPr>
                  <a:t>.</a:t>
                </a:r>
              </a:p>
              <a:p>
                <a:pPr marL="457200" indent="-457200">
                  <a:buFont typeface="+mj-lt"/>
                  <a:buAutoNum type="alphaLcPeriod" startAt="2"/>
                </a:pPr>
                <a:endParaRPr lang="en-US" sz="2000" dirty="0">
                  <a:latin typeface="Verdana" panose="020B0604030504040204" pitchFamily="34" charset="0"/>
                  <a:ea typeface="Verdana" panose="020B0604030504040204" pitchFamily="34" charset="0"/>
                </a:endParaRPr>
              </a:p>
              <a:p>
                <a:pPr marL="457200" indent="-457200">
                  <a:buFont typeface="+mj-lt"/>
                  <a:buAutoNum type="alphaLcPeriod" startAt="2"/>
                </a:pPr>
                <a:r>
                  <a:rPr lang="en-US" sz="2000" dirty="0">
                    <a:latin typeface="Verdana" panose="020B0604030504040204" pitchFamily="34" charset="0"/>
                    <a:ea typeface="Verdana" panose="020B0604030504040204" pitchFamily="34" charset="0"/>
                  </a:rPr>
                  <a:t>What is the length of </a:t>
                </a:r>
                <a14:m>
                  <m:oMath xmlns:m="http://schemas.openxmlformats.org/officeDocument/2006/math">
                    <m:r>
                      <a:rPr lang="en-US" sz="2000" i="1">
                        <a:latin typeface="Cambria Math" charset="0"/>
                      </a:rPr>
                      <m:t>𝐵𝑇</m:t>
                    </m:r>
                  </m:oMath>
                </a14:m>
                <a:r>
                  <a:rPr lang="en-US" sz="2000" dirty="0">
                    <a:latin typeface="Verdana" panose="020B0604030504040204" pitchFamily="34" charset="0"/>
                    <a:ea typeface="Verdana" panose="020B0604030504040204" pitchFamily="34"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4" y="520518"/>
                <a:ext cx="11087585" cy="1015663"/>
              </a:xfrm>
              <a:prstGeom prst="rect">
                <a:avLst/>
              </a:prstGeom>
              <a:blipFill>
                <a:blip r:embed="rId4"/>
                <a:stretch>
                  <a:fillRect l="-605" t="-3593" b="-10180"/>
                </a:stretch>
              </a:blipFill>
            </p:spPr>
            <p:txBody>
              <a:bodyPr/>
              <a:lstStyle/>
              <a:p>
                <a:r>
                  <a:rPr lang="en-US">
                    <a:noFill/>
                  </a:rPr>
                  <a:t> </a:t>
                </a:r>
              </a:p>
            </p:txBody>
          </p:sp>
        </mc:Fallback>
      </mc:AlternateContent>
    </p:spTree>
    <p:extLst>
      <p:ext uri="{BB962C8B-B14F-4D97-AF65-F5344CB8AC3E}">
        <p14:creationId xmlns:p14="http://schemas.microsoft.com/office/powerpoint/2010/main" val="16555799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4" y="528618"/>
                <a:ext cx="11087585" cy="1631216"/>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The diagram shows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𝐻𝐾𝐶</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𝑇𝐷𝑅</m:t>
                    </m:r>
                  </m:oMath>
                </a14:m>
                <a:r>
                  <a:rPr lang="en-US" sz="2000" dirty="0">
                    <a:latin typeface="Verdana" charset="0"/>
                    <a:ea typeface="Verdana" charset="0"/>
                    <a:cs typeface="Verdana" charset="0"/>
                  </a:rPr>
                  <a:t> where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𝐻𝐾𝐶</m:t>
                    </m:r>
                    <m:r>
                      <a:rPr lang="en-US" sz="2000" i="1">
                        <a:latin typeface="Cambria Math" charset="0"/>
                        <a:ea typeface="Verdana" charset="0"/>
                        <a:cs typeface="Verdana" charset="0"/>
                      </a:rPr>
                      <m:t>≅∆</m:t>
                    </m:r>
                    <m:r>
                      <a:rPr lang="en-US" sz="2000" i="1">
                        <a:latin typeface="Cambria Math" charset="0"/>
                        <a:ea typeface="Verdana" charset="0"/>
                        <a:cs typeface="Verdana" charset="0"/>
                      </a:rPr>
                      <m:t>𝐷𝑇𝑅</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r>
                  <a:rPr lang="en-US" sz="2000" dirty="0">
                    <a:latin typeface="Verdana" charset="0"/>
                    <a:ea typeface="Verdana" charset="0"/>
                    <a:cs typeface="Verdana" charset="0"/>
                  </a:rPr>
                  <a:t>Some measurements of the sides are given.</a:t>
                </a:r>
              </a:p>
              <a:p>
                <a14:m>
                  <m:oMath xmlns:m="http://schemas.openxmlformats.org/officeDocument/2006/math">
                    <m:r>
                      <a:rPr lang="en-US" sz="2000" i="1">
                        <a:latin typeface="Cambria Math" charset="0"/>
                        <a:ea typeface="Verdana" charset="0"/>
                        <a:cs typeface="Verdana" charset="0"/>
                      </a:rPr>
                      <m:t>𝐾𝐻</m:t>
                    </m:r>
                    <m:r>
                      <a:rPr lang="en-US" sz="2000" i="1">
                        <a:latin typeface="Cambria Math" charset="0"/>
                        <a:ea typeface="Verdana" charset="0"/>
                        <a:cs typeface="Verdana" charset="0"/>
                      </a:rPr>
                      <m:t>=5</m:t>
                    </m:r>
                    <m:r>
                      <a:rPr lang="en-US" sz="2000" i="1">
                        <a:latin typeface="Cambria Math" charset="0"/>
                        <a:ea typeface="Verdana" charset="0"/>
                        <a:cs typeface="Verdana" charset="0"/>
                      </a:rPr>
                      <m:t>𝑦</m:t>
                    </m:r>
                    <m:r>
                      <a:rPr lang="en-US" sz="2000" i="1">
                        <a:latin typeface="Cambria Math" charset="0"/>
                        <a:ea typeface="Verdana" charset="0"/>
                        <a:cs typeface="Verdana" charset="0"/>
                      </a:rPr>
                      <m:t>−2</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𝐷𝑅</m:t>
                    </m:r>
                    <m:r>
                      <a:rPr lang="en-US" sz="2000" i="1">
                        <a:latin typeface="Cambria Math" charset="0"/>
                        <a:ea typeface="Verdana" charset="0"/>
                        <a:cs typeface="Verdana" charset="0"/>
                      </a:rPr>
                      <m:t>=6</m:t>
                    </m:r>
                    <m:r>
                      <a:rPr lang="en-US" sz="2000" i="1">
                        <a:latin typeface="Cambria Math" charset="0"/>
                        <a:ea typeface="Verdana" charset="0"/>
                        <a:cs typeface="Verdana" charset="0"/>
                      </a:rPr>
                      <m:t>𝑦</m:t>
                    </m:r>
                    <m:r>
                      <a:rPr lang="en-US" sz="2000" i="1">
                        <a:latin typeface="Cambria Math" charset="0"/>
                        <a:ea typeface="Verdana" charset="0"/>
                        <a:cs typeface="Verdana" charset="0"/>
                      </a:rPr>
                      <m:t>−5</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𝑇𝐷</m:t>
                    </m:r>
                    <m:r>
                      <a:rPr lang="en-US" sz="2000" i="1">
                        <a:latin typeface="Cambria Math" charset="0"/>
                        <a:ea typeface="Verdana" charset="0"/>
                        <a:cs typeface="Verdana" charset="0"/>
                      </a:rPr>
                      <m:t>=4</m:t>
                    </m:r>
                    <m:r>
                      <a:rPr lang="en-US" sz="2000" i="1">
                        <a:latin typeface="Cambria Math" charset="0"/>
                        <a:ea typeface="Verdana" charset="0"/>
                        <a:cs typeface="Verdana" charset="0"/>
                      </a:rPr>
                      <m:t>𝑦</m:t>
                    </m:r>
                    <m:r>
                      <a:rPr lang="en-US" sz="2000" i="1">
                        <a:latin typeface="Cambria Math" charset="0"/>
                        <a:ea typeface="Verdana" charset="0"/>
                        <a:cs typeface="Verdana" charset="0"/>
                      </a:rPr>
                      <m:t>+3</m:t>
                    </m:r>
                  </m:oMath>
                </a14:m>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4" y="528618"/>
                <a:ext cx="11087585" cy="1631216"/>
              </a:xfrm>
              <a:prstGeom prst="rect">
                <a:avLst/>
              </a:prstGeom>
              <a:blipFill>
                <a:blip r:embed="rId4"/>
                <a:stretch>
                  <a:fillRect l="-605" t="-2622"/>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2568205" y="2159835"/>
            <a:ext cx="4284385" cy="3892153"/>
          </a:xfrm>
          <a:prstGeom prst="rect">
            <a:avLst/>
          </a:prstGeom>
        </p:spPr>
      </p:pic>
    </p:spTree>
    <p:extLst>
      <p:ext uri="{BB962C8B-B14F-4D97-AF65-F5344CB8AC3E}">
        <p14:creationId xmlns:p14="http://schemas.microsoft.com/office/powerpoint/2010/main" val="804047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274</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8618"/>
                <a:ext cx="10564970" cy="400110"/>
              </a:xfrm>
              <a:prstGeom prst="rect">
                <a:avLst/>
              </a:prstGeom>
              <a:noFill/>
            </p:spPr>
            <p:txBody>
              <a:bodyPr wrap="square" rtlCol="0">
                <a:spAutoFit/>
              </a:bodyPr>
              <a:lstStyle/>
              <a:p>
                <a:r>
                  <a:rPr lang="en-US" sz="2000" dirty="0">
                    <a:latin typeface="Verdana" charset="0"/>
                    <a:ea typeface="Verdana" charset="0"/>
                    <a:cs typeface="Verdana" charset="0"/>
                  </a:rPr>
                  <a:t>Arthur used the information to determine the length of</a:t>
                </a:r>
                <a14:m>
                  <m:oMath xmlns:m="http://schemas.openxmlformats.org/officeDocument/2006/math">
                    <m:r>
                      <a:rPr lang="en-US" sz="2000" i="1">
                        <a:latin typeface="Cambria Math" charset="0"/>
                        <a:ea typeface="Verdana" charset="0"/>
                        <a:cs typeface="Verdana" charset="0"/>
                      </a:rPr>
                      <m:t> </m:t>
                    </m:r>
                    <m:r>
                      <a:rPr lang="en-US" sz="2000" i="1">
                        <a:latin typeface="Cambria Math" charset="0"/>
                        <a:ea typeface="Verdana" charset="0"/>
                        <a:cs typeface="Verdana" charset="0"/>
                      </a:rPr>
                      <m:t>𝐾𝐻</m:t>
                    </m:r>
                  </m:oMath>
                </a14:m>
                <a:r>
                  <a:rPr lang="en-US" sz="2000" dirty="0">
                    <a:latin typeface="Verdana" charset="0"/>
                    <a:ea typeface="Verdana" charset="0"/>
                    <a:cs typeface="Verdana" charset="0"/>
                  </a:rPr>
                  <a:t>. His work is shown.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8618"/>
                <a:ext cx="10564970" cy="400110"/>
              </a:xfrm>
              <a:prstGeom prst="rect">
                <a:avLst/>
              </a:prstGeom>
              <a:blipFill>
                <a:blip r:embed="rId4"/>
                <a:stretch>
                  <a:fillRect l="-635"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413221541"/>
                  </p:ext>
                </p:extLst>
              </p:nvPr>
            </p:nvGraphicFramePr>
            <p:xfrm>
              <a:off x="5857955" y="1128783"/>
              <a:ext cx="3920225" cy="2194560"/>
            </p:xfrm>
            <a:graphic>
              <a:graphicData uri="http://schemas.openxmlformats.org/drawingml/2006/table">
                <a:tbl>
                  <a:tblPr firstRow="1" firstCol="1" bandRow="1"/>
                  <a:tblGrid>
                    <a:gridCol w="3920225">
                      <a:extLst>
                        <a:ext uri="{9D8B030D-6E8A-4147-A177-3AD203B41FA5}">
                          <a16:colId xmlns:a16="http://schemas.microsoft.com/office/drawing/2014/main" val="20000"/>
                        </a:ext>
                      </a:extLst>
                    </a:gridCol>
                  </a:tblGrid>
                  <a:tr h="363109">
                    <a:tc>
                      <a:txBody>
                        <a:bodyPr/>
                        <a:lstStyle/>
                        <a:p>
                          <a:pPr marL="0" marR="0" algn="ctr">
                            <a:spcBef>
                              <a:spcPts val="0"/>
                            </a:spcBef>
                            <a:spcAft>
                              <a:spcPts val="0"/>
                            </a:spcAft>
                          </a:pPr>
                          <a:r>
                            <a:rPr lang="en-US" sz="2400" b="1">
                              <a:effectLst/>
                              <a:latin typeface="Verdana" charset="0"/>
                              <a:ea typeface="Times New Roman" charset="0"/>
                              <a:cs typeface="Times New Roman" charset="0"/>
                            </a:rPr>
                            <a:t>Arthur’s Work</a:t>
                          </a:r>
                          <a:endParaRPr lang="en-US" sz="1500">
                            <a:effectLst/>
                            <a:latin typeface="Cambria" charset="0"/>
                            <a:ea typeface="Times New Roman" charset="0"/>
                            <a:cs typeface="Times New Roman" charset="0"/>
                          </a:endParaRPr>
                        </a:p>
                      </a:txBody>
                      <a:tcPr marL="90777" marR="90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89325">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5</m:t>
                                </m:r>
                                <m:r>
                                  <a:rPr lang="en-US" sz="2400" i="1">
                                    <a:effectLst/>
                                    <a:latin typeface="Cambria Math" charset="0"/>
                                    <a:ea typeface="Times New Roman" charset="0"/>
                                    <a:cs typeface="Times New Roman" charset="0"/>
                                  </a:rPr>
                                  <m:t>𝑦</m:t>
                                </m:r>
                                <m:r>
                                  <a:rPr lang="en-US" sz="2400" i="1">
                                    <a:effectLst/>
                                    <a:latin typeface="Cambria Math" charset="0"/>
                                    <a:ea typeface="Times New Roman" charset="0"/>
                                    <a:cs typeface="Times New Roman" charset="0"/>
                                  </a:rPr>
                                  <m:t>−2=6</m:t>
                                </m:r>
                                <m:r>
                                  <a:rPr lang="en-US" sz="2400" i="1">
                                    <a:effectLst/>
                                    <a:latin typeface="Cambria Math" charset="0"/>
                                    <a:ea typeface="Times New Roman" charset="0"/>
                                    <a:cs typeface="Times New Roman" charset="0"/>
                                  </a:rPr>
                                  <m:t>𝑦</m:t>
                                </m:r>
                                <m:r>
                                  <a:rPr lang="en-US" sz="2400" i="1">
                                    <a:effectLst/>
                                    <a:latin typeface="Cambria Math" charset="0"/>
                                    <a:ea typeface="Times New Roman" charset="0"/>
                                    <a:cs typeface="Times New Roman" charset="0"/>
                                  </a:rPr>
                                  <m:t>−5</m:t>
                                </m:r>
                              </m:oMath>
                            </m:oMathPara>
                          </a14:m>
                          <a:endParaRPr lang="en-US" sz="1500">
                            <a:effectLst/>
                            <a:latin typeface="Cambria" charset="0"/>
                            <a:ea typeface="Times New Roman" charset="0"/>
                            <a:cs typeface="Times New Roman"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−2=</m:t>
                                </m:r>
                                <m:r>
                                  <a:rPr lang="en-US" sz="2400" i="1">
                                    <a:effectLst/>
                                    <a:latin typeface="Cambria Math" charset="0"/>
                                    <a:ea typeface="Times New Roman" charset="0"/>
                                    <a:cs typeface="Times New Roman" charset="0"/>
                                  </a:rPr>
                                  <m:t>𝑦</m:t>
                                </m:r>
                                <m:r>
                                  <a:rPr lang="en-US" sz="2400" i="1">
                                    <a:effectLst/>
                                    <a:latin typeface="Cambria Math" charset="0"/>
                                    <a:ea typeface="Times New Roman" charset="0"/>
                                    <a:cs typeface="Times New Roman" charset="0"/>
                                  </a:rPr>
                                  <m:t>−5</m:t>
                                </m:r>
                              </m:oMath>
                            </m:oMathPara>
                          </a14:m>
                          <a:endParaRPr lang="en-US" sz="1500">
                            <a:effectLst/>
                            <a:latin typeface="Cambria" charset="0"/>
                            <a:ea typeface="Times New Roman" charset="0"/>
                            <a:cs typeface="Times New Roman"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3=</m:t>
                                </m:r>
                                <m:r>
                                  <a:rPr lang="en-US" sz="2400" i="1">
                                    <a:effectLst/>
                                    <a:latin typeface="Cambria Math" charset="0"/>
                                    <a:ea typeface="Times New Roman" charset="0"/>
                                    <a:cs typeface="Times New Roman" charset="0"/>
                                  </a:rPr>
                                  <m:t>𝑦</m:t>
                                </m:r>
                              </m:oMath>
                            </m:oMathPara>
                          </a14:m>
                          <a:endParaRPr lang="en-US" sz="1500">
                            <a:effectLst/>
                            <a:latin typeface="Cambria" charset="0"/>
                            <a:ea typeface="Times New Roman" charset="0"/>
                            <a:cs typeface="Times New Roman" charset="0"/>
                          </a:endParaRPr>
                        </a:p>
                      </a:txBody>
                      <a:tcPr marL="90777" marR="90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26216">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𝐾𝐻</m:t>
                                </m:r>
                                <m:r>
                                  <a:rPr lang="en-US" sz="2400" i="1">
                                    <a:effectLst/>
                                    <a:latin typeface="Cambria Math" charset="0"/>
                                    <a:ea typeface="Times New Roman" charset="0"/>
                                    <a:cs typeface="Times New Roman" charset="0"/>
                                  </a:rPr>
                                  <m:t>=5(3)−2</m:t>
                                </m:r>
                              </m:oMath>
                            </m:oMathPara>
                          </a14:m>
                          <a:endParaRPr lang="en-US" sz="1500" dirty="0">
                            <a:effectLst/>
                            <a:latin typeface="Cambria" charset="0"/>
                            <a:ea typeface="Times New Roman" charset="0"/>
                            <a:cs typeface="Times New Roman"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400" i="1">
                                    <a:effectLst/>
                                    <a:latin typeface="Cambria Math" charset="0"/>
                                    <a:ea typeface="Times New Roman" charset="0"/>
                                    <a:cs typeface="Times New Roman" charset="0"/>
                                  </a:rPr>
                                  <m:t>𝐾𝐻</m:t>
                                </m:r>
                                <m:r>
                                  <a:rPr lang="en-US" sz="2400" i="1">
                                    <a:effectLst/>
                                    <a:latin typeface="Cambria Math" charset="0"/>
                                    <a:ea typeface="Times New Roman" charset="0"/>
                                    <a:cs typeface="Times New Roman" charset="0"/>
                                  </a:rPr>
                                  <m:t>=13</m:t>
                                </m:r>
                              </m:oMath>
                            </m:oMathPara>
                          </a14:m>
                          <a:endParaRPr lang="en-US" sz="1500" dirty="0">
                            <a:effectLst/>
                            <a:latin typeface="Cambria" charset="0"/>
                            <a:ea typeface="Times New Roman" charset="0"/>
                            <a:cs typeface="Times New Roman" charset="0"/>
                          </a:endParaRPr>
                        </a:p>
                      </a:txBody>
                      <a:tcPr marL="90777" marR="90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413221541"/>
                  </p:ext>
                </p:extLst>
              </p:nvPr>
            </p:nvGraphicFramePr>
            <p:xfrm>
              <a:off x="5857955" y="1128783"/>
              <a:ext cx="3920225" cy="2194560"/>
            </p:xfrm>
            <a:graphic>
              <a:graphicData uri="http://schemas.openxmlformats.org/drawingml/2006/table">
                <a:tbl>
                  <a:tblPr firstRow="1" firstCol="1" bandRow="1"/>
                  <a:tblGrid>
                    <a:gridCol w="3920225">
                      <a:extLst>
                        <a:ext uri="{9D8B030D-6E8A-4147-A177-3AD203B41FA5}">
                          <a16:colId xmlns:a16="http://schemas.microsoft.com/office/drawing/2014/main" val="20000"/>
                        </a:ext>
                      </a:extLst>
                    </a:gridCol>
                  </a:tblGrid>
                  <a:tr h="365760">
                    <a:tc>
                      <a:txBody>
                        <a:bodyPr/>
                        <a:lstStyle/>
                        <a:p>
                          <a:pPr marL="0" marR="0" algn="ctr">
                            <a:spcBef>
                              <a:spcPts val="0"/>
                            </a:spcBef>
                            <a:spcAft>
                              <a:spcPts val="0"/>
                            </a:spcAft>
                          </a:pPr>
                          <a:r>
                            <a:rPr lang="en-US" sz="2400" b="1">
                              <a:effectLst/>
                              <a:latin typeface="Verdana" charset="0"/>
                              <a:ea typeface="Times New Roman" charset="0"/>
                              <a:cs typeface="Times New Roman" charset="0"/>
                            </a:rPr>
                            <a:t>Arthur’s Work</a:t>
                          </a:r>
                          <a:endParaRPr lang="en-US" sz="1500">
                            <a:effectLst/>
                            <a:latin typeface="Cambria" charset="0"/>
                            <a:ea typeface="Times New Roman" charset="0"/>
                            <a:cs typeface="Times New Roman" charset="0"/>
                          </a:endParaRPr>
                        </a:p>
                      </a:txBody>
                      <a:tcPr marL="90777" marR="90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097280">
                    <a:tc>
                      <a:txBody>
                        <a:bodyPr/>
                        <a:lstStyle/>
                        <a:p>
                          <a:endParaRPr lang="en-US"/>
                        </a:p>
                      </a:txBody>
                      <a:tcPr marL="90777" marR="90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55" t="-41989" r="-310" b="-69613"/>
                          </a:stretch>
                        </a:blipFill>
                      </a:tcPr>
                    </a:tc>
                    <a:extLst>
                      <a:ext uri="{0D108BD9-81ED-4DB2-BD59-A6C34878D82A}">
                        <a16:rowId xmlns:a16="http://schemas.microsoft.com/office/drawing/2014/main" val="10001"/>
                      </a:ext>
                    </a:extLst>
                  </a:tr>
                  <a:tr h="731520">
                    <a:tc>
                      <a:txBody>
                        <a:bodyPr/>
                        <a:lstStyle/>
                        <a:p>
                          <a:endParaRPr lang="en-US"/>
                        </a:p>
                      </a:txBody>
                      <a:tcPr marL="90777" marR="9077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55" t="-214167" r="-310" b="-5000"/>
                          </a:stretch>
                        </a:blipFill>
                      </a:tcPr>
                    </a:tc>
                    <a:extLst>
                      <a:ext uri="{0D108BD9-81ED-4DB2-BD59-A6C34878D82A}">
                        <a16:rowId xmlns:a16="http://schemas.microsoft.com/office/drawing/2014/main" val="10002"/>
                      </a:ext>
                    </a:extLst>
                  </a:tr>
                </a:tbl>
              </a:graphicData>
            </a:graphic>
          </p:graphicFrame>
        </mc:Fallback>
      </mc:AlternateContent>
      <p:sp>
        <p:nvSpPr>
          <p:cNvPr id="8" name="TextBox 7">
            <a:extLst>
              <a:ext uri="{FF2B5EF4-FFF2-40B4-BE49-F238E27FC236}">
                <a16:creationId xmlns:a16="http://schemas.microsoft.com/office/drawing/2014/main" id="{80FA3473-E354-43C4-950A-08AF8B7EF746}"/>
              </a:ext>
            </a:extLst>
          </p:cNvPr>
          <p:cNvSpPr txBox="1"/>
          <p:nvPr/>
        </p:nvSpPr>
        <p:spPr>
          <a:xfrm>
            <a:off x="1086465" y="928728"/>
            <a:ext cx="6157452" cy="400110"/>
          </a:xfrm>
          <a:prstGeom prst="rect">
            <a:avLst/>
          </a:prstGeom>
          <a:noFill/>
        </p:spPr>
        <p:txBody>
          <a:bodyPr wrap="square">
            <a:spAutoFit/>
          </a:bodyPr>
          <a:lstStyle/>
          <a:p>
            <a:pPr marL="457200" indent="-457200">
              <a:buFont typeface="+mj-lt"/>
              <a:buAutoNum type="alphaLcPeriod"/>
            </a:pPr>
            <a:r>
              <a:rPr lang="en-US" sz="2000" dirty="0">
                <a:latin typeface="Verdana" charset="0"/>
                <a:ea typeface="Verdana" charset="0"/>
                <a:cs typeface="Verdana" charset="0"/>
              </a:rPr>
              <a:t>Find Arthur’s error.</a:t>
            </a:r>
          </a:p>
        </p:txBody>
      </p:sp>
    </p:spTree>
    <p:extLst>
      <p:ext uri="{BB962C8B-B14F-4D97-AF65-F5344CB8AC3E}">
        <p14:creationId xmlns:p14="http://schemas.microsoft.com/office/powerpoint/2010/main" val="4099556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4" y="520517"/>
            <a:ext cx="10983359" cy="1015663"/>
          </a:xfrm>
          <a:prstGeom prst="rect">
            <a:avLst/>
          </a:prstGeom>
          <a:noFill/>
        </p:spPr>
        <p:txBody>
          <a:bodyPr wrap="square" rtlCol="0">
            <a:spAutoFit/>
          </a:bodyPr>
          <a:lstStyle/>
          <a:p>
            <a:pPr marL="457200" indent="-457200">
              <a:buFont typeface="+mj-lt"/>
              <a:buAutoNum type="alphaLcPeriod" startAt="2"/>
            </a:pPr>
            <a:r>
              <a:rPr lang="en-US" sz="2000" dirty="0">
                <a:latin typeface="Verdana" charset="0"/>
                <a:ea typeface="Verdana" charset="0"/>
                <a:cs typeface="Verdana" charset="0"/>
              </a:rPr>
              <a:t>Help Arthur understand and learn from his mistake. Write a brief note to Arthur explaining what his mistake was and how he can learn from the mistake.</a:t>
            </a:r>
          </a:p>
          <a:p>
            <a:pPr marL="457200" indent="-457200">
              <a:buFont typeface="+mj-lt"/>
              <a:buAutoNum type="alphaLcPeriod" startAt="2"/>
            </a:pPr>
            <a:endParaRPr lang="en-US" sz="2000" dirty="0">
              <a:latin typeface="Verdana" charset="0"/>
              <a:ea typeface="Verdana" charset="0"/>
              <a:cs typeface="Verdana" charset="0"/>
            </a:endParaRPr>
          </a:p>
        </p:txBody>
      </p:sp>
      <p:pic>
        <p:nvPicPr>
          <p:cNvPr id="2" name="Picture 1"/>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968812" y="1663095"/>
            <a:ext cx="8659110" cy="4674387"/>
          </a:xfrm>
          <a:prstGeom prst="rect">
            <a:avLst/>
          </a:prstGeom>
        </p:spPr>
      </p:pic>
    </p:spTree>
    <p:extLst>
      <p:ext uri="{BB962C8B-B14F-4D97-AF65-F5344CB8AC3E}">
        <p14:creationId xmlns:p14="http://schemas.microsoft.com/office/powerpoint/2010/main" val="158273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275</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4893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1011"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49" y="-37087"/>
            <a:ext cx="1002338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5.9.4 Guided Practice: Corresponding Parts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72785"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275</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12893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93247" y="1386149"/>
                <a:ext cx="10913537"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Quadrilateral </a:t>
                </a:r>
                <a14:m>
                  <m:oMath xmlns:m="http://schemas.openxmlformats.org/officeDocument/2006/math">
                    <m:r>
                      <a:rPr lang="en-US" sz="2000" i="1">
                        <a:latin typeface="Cambria Math" charset="0"/>
                        <a:ea typeface="Verdana" charset="0"/>
                        <a:cs typeface="Verdana" charset="0"/>
                      </a:rPr>
                      <m:t>𝑌𝐷𝑊𝑇</m:t>
                    </m:r>
                  </m:oMath>
                </a14:m>
                <a:r>
                  <a:rPr lang="en-US" sz="2000" dirty="0">
                    <a:latin typeface="Verdana" charset="0"/>
                    <a:ea typeface="Verdana" charset="0"/>
                    <a:cs typeface="Verdana" charset="0"/>
                  </a:rPr>
                  <a:t> is shown where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𝑌𝐻</m:t>
                        </m:r>
                      </m:e>
                    </m:acc>
                  </m:oMath>
                </a14:m>
                <a:r>
                  <a:rPr lang="en-US" sz="2000" dirty="0">
                    <a:latin typeface="Verdana" charset="0"/>
                    <a:ea typeface="Verdana" charset="0"/>
                    <a:cs typeface="Verdana" charset="0"/>
                  </a:rPr>
                  <a:t> is a perpendicular bisector of </a:t>
                </a:r>
                <a14:m>
                  <m:oMath xmlns:m="http://schemas.openxmlformats.org/officeDocument/2006/math">
                    <m:acc>
                      <m:accPr>
                        <m:chr m:val="̅"/>
                        <m:ctrlPr>
                          <a:rPr lang="en-US" sz="2000" i="1">
                            <a:latin typeface="Cambria Math" panose="02040503050406030204" pitchFamily="18" charset="0"/>
                            <a:ea typeface="Verdana" charset="0"/>
                            <a:cs typeface="Verdana" charset="0"/>
                          </a:rPr>
                        </m:ctrlPr>
                      </m:accPr>
                      <m:e>
                        <m:r>
                          <a:rPr lang="en-US" sz="2000" i="1">
                            <a:latin typeface="Cambria Math" charset="0"/>
                            <a:ea typeface="Verdana" charset="0"/>
                            <a:cs typeface="Verdana" charset="0"/>
                          </a:rPr>
                          <m:t>𝑇𝐷</m:t>
                        </m:r>
                      </m:e>
                    </m:acc>
                  </m:oMath>
                </a14:m>
                <a:r>
                  <a:rPr lang="en-US" sz="2000" dirty="0">
                    <a:latin typeface="Verdana" charset="0"/>
                    <a:ea typeface="Verdana" charset="0"/>
                    <a:cs typeface="Verdana" charset="0"/>
                  </a:rPr>
                  <a:t>.</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93247" y="1386149"/>
                <a:ext cx="10913537" cy="400110"/>
              </a:xfrm>
              <a:prstGeom prst="rect">
                <a:avLst/>
              </a:prstGeom>
              <a:blipFill>
                <a:blip r:embed="rId5"/>
                <a:stretch>
                  <a:fillRect l="-614" t="-9091" b="-27273"/>
                </a:stretch>
              </a:blipFill>
            </p:spPr>
            <p:txBody>
              <a:bodyPr/>
              <a:lstStyle/>
              <a:p>
                <a:r>
                  <a:rPr lang="en-US">
                    <a:noFill/>
                  </a:rPr>
                  <a:t> </a:t>
                </a:r>
              </a:p>
            </p:txBody>
          </p:sp>
        </mc:Fallback>
      </mc:AlternateContent>
      <p:pic>
        <p:nvPicPr>
          <p:cNvPr id="2" name="Picture 1"/>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623981" y="2122347"/>
            <a:ext cx="5864399" cy="4050064"/>
          </a:xfrm>
          <a:prstGeom prst="rect">
            <a:avLst/>
          </a:prstGeom>
        </p:spPr>
      </p:pic>
    </p:spTree>
    <p:extLst>
      <p:ext uri="{BB962C8B-B14F-4D97-AF65-F5344CB8AC3E}">
        <p14:creationId xmlns:p14="http://schemas.microsoft.com/office/powerpoint/2010/main" val="457617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4" y="520517"/>
                <a:ext cx="11087585" cy="2583528"/>
              </a:xfrm>
              <a:prstGeom prst="rect">
                <a:avLst/>
              </a:prstGeom>
              <a:noFill/>
            </p:spPr>
            <p:txBody>
              <a:bodyPr wrap="square" rtlCol="0">
                <a:spAutoFit/>
              </a:bodyPr>
              <a:lstStyle/>
              <a:p>
                <a:pPr marL="457200" indent="-457200">
                  <a:buFont typeface="+mj-lt"/>
                  <a:buAutoNum type="alphaLcPeriod"/>
                </a:pPr>
                <a:r>
                  <a:rPr lang="en-US" sz="2000" dirty="0">
                    <a:latin typeface="Verdana" charset="0"/>
                    <a:ea typeface="Verdana" charset="0"/>
                    <a:cs typeface="Verdana" charset="0"/>
                  </a:rPr>
                  <a:t>How many different triangles are in Quadrilateral </a:t>
                </a:r>
                <a14:m>
                  <m:oMath xmlns:m="http://schemas.openxmlformats.org/officeDocument/2006/math">
                    <m:r>
                      <a:rPr lang="en-US" sz="2000" i="1">
                        <a:latin typeface="Cambria Math" charset="0"/>
                        <a:ea typeface="Verdana" charset="0"/>
                        <a:cs typeface="Verdana" charset="0"/>
                      </a:rPr>
                      <m:t>𝑌𝐷𝑊𝑇</m:t>
                    </m:r>
                  </m:oMath>
                </a14:m>
                <a:r>
                  <a:rPr lang="en-US" sz="2000" dirty="0">
                    <a:latin typeface="Verdana" charset="0"/>
                    <a:ea typeface="Verdana" charset="0"/>
                    <a:cs typeface="Verdana" charset="0"/>
                  </a:rPr>
                  <a:t>? </a:t>
                </a:r>
              </a:p>
              <a:p>
                <a:pPr marL="457200" indent="-457200">
                  <a:buFont typeface="+mj-lt"/>
                  <a:buAutoNum type="alphaLcPeriod"/>
                </a:pPr>
                <a:r>
                  <a:rPr lang="en-US" sz="2000" dirty="0">
                    <a:latin typeface="Verdana" charset="0"/>
                    <a:ea typeface="Verdana" charset="0"/>
                    <a:cs typeface="Verdana" charset="0"/>
                  </a:rPr>
                  <a:t>If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𝐷𝐻𝑌</m:t>
                    </m:r>
                    <m:r>
                      <a:rPr lang="en-US" sz="2000" i="1">
                        <a:latin typeface="Cambria Math" charset="0"/>
                        <a:ea typeface="Verdana" charset="0"/>
                        <a:cs typeface="Verdana" charset="0"/>
                      </a:rPr>
                      <m:t>≅∆</m:t>
                    </m:r>
                    <m:r>
                      <a:rPr lang="en-US" sz="2000" i="1">
                        <a:latin typeface="Cambria Math" charset="0"/>
                        <a:ea typeface="Verdana" charset="0"/>
                        <a:cs typeface="Verdana" charset="0"/>
                      </a:rPr>
                      <m:t>𝑇𝐻𝑌</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𝑌𝐷</m:t>
                    </m:r>
                    <m:r>
                      <a:rPr lang="en-US" sz="2000" i="1">
                        <a:latin typeface="Cambria Math" charset="0"/>
                        <a:ea typeface="Verdana" charset="0"/>
                        <a:cs typeface="Verdana" charset="0"/>
                      </a:rPr>
                      <m:t>=</m:t>
                    </m:r>
                    <m:rad>
                      <m:radPr>
                        <m:degHide m:val="on"/>
                        <m:ctrlPr>
                          <a:rPr lang="en-US" sz="2000" i="1">
                            <a:latin typeface="Cambria Math" panose="02040503050406030204" pitchFamily="18" charset="0"/>
                            <a:ea typeface="Verdana" charset="0"/>
                            <a:cs typeface="Verdana" charset="0"/>
                          </a:rPr>
                        </m:ctrlPr>
                      </m:radPr>
                      <m:deg/>
                      <m:e>
                        <m:r>
                          <a:rPr lang="en-US" sz="2000" i="1">
                            <a:latin typeface="Cambria Math" charset="0"/>
                            <a:ea typeface="Verdana" charset="0"/>
                            <a:cs typeface="Verdana" charset="0"/>
                          </a:rPr>
                          <m:t>130</m:t>
                        </m:r>
                      </m:e>
                    </m:rad>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𝑌𝐻</m:t>
                    </m:r>
                    <m:r>
                      <a:rPr lang="en-US" sz="2000" i="1">
                        <a:latin typeface="Cambria Math" charset="0"/>
                        <a:ea typeface="Verdana" charset="0"/>
                        <a:cs typeface="Verdana" charset="0"/>
                      </a:rPr>
                      <m:t>=7, </m:t>
                    </m:r>
                  </m:oMath>
                </a14:m>
                <a:r>
                  <a:rPr lang="en-US" sz="2000" dirty="0">
                    <a:latin typeface="Verdana" charset="0"/>
                    <a:ea typeface="Verdana" charset="0"/>
                    <a:cs typeface="Verdana" charset="0"/>
                  </a:rPr>
                  <a:t>and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𝐻𝑇𝑌</m:t>
                    </m:r>
                    <m:r>
                      <a:rPr lang="en-US" sz="2000" i="1">
                        <a:latin typeface="Cambria Math" charset="0"/>
                        <a:ea typeface="Verdana" charset="0"/>
                        <a:cs typeface="Verdana" charset="0"/>
                      </a:rPr>
                      <m:t>=38°</m:t>
                    </m:r>
                  </m:oMath>
                </a14:m>
                <a:r>
                  <a:rPr lang="en-US" sz="2000" dirty="0">
                    <a:latin typeface="Verdana" charset="0"/>
                    <a:ea typeface="Verdana" charset="0"/>
                    <a:cs typeface="Verdana" charset="0"/>
                  </a:rPr>
                  <a:t>, determine the following measures.                               </a:t>
                </a:r>
              </a:p>
              <a:p>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𝐻𝐷</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______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𝐷𝑌𝐻</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_____           </a:t>
                </a:r>
                <a14:m>
                  <m:oMath xmlns:m="http://schemas.openxmlformats.org/officeDocument/2006/math">
                    <m:r>
                      <a:rPr lang="en-US" sz="2000" i="1">
                        <a:latin typeface="Cambria Math" charset="0"/>
                        <a:ea typeface="Verdana" charset="0"/>
                        <a:cs typeface="Verdana" charset="0"/>
                      </a:rPr>
                      <m:t>𝑇𝐻</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______	</a:t>
                </a:r>
              </a:p>
              <a:p>
                <a:endParaRPr lang="en-US" sz="2000" dirty="0">
                  <a:latin typeface="Verdana" charset="0"/>
                  <a:ea typeface="Verdana" charset="0"/>
                  <a:cs typeface="Verdana" charset="0"/>
                </a:endParaRPr>
              </a:p>
              <a:p>
                <a:pPr marL="457200" indent="-457200">
                  <a:buFont typeface="+mj-lt"/>
                  <a:buAutoNum type="alphaLcPeriod" startAt="3"/>
                </a:pPr>
                <a:r>
                  <a:rPr lang="en-US" sz="2000" dirty="0">
                    <a:latin typeface="Verdana" charset="0"/>
                    <a:ea typeface="Verdana" charset="0"/>
                    <a:cs typeface="Verdana" charset="0"/>
                  </a:rPr>
                  <a:t>If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𝐷𝐻𝑊</m:t>
                    </m:r>
                    <m:r>
                      <a:rPr lang="en-US" sz="2000" i="1">
                        <a:latin typeface="Cambria Math" charset="0"/>
                        <a:ea typeface="Verdana" charset="0"/>
                        <a:cs typeface="Verdana" charset="0"/>
                      </a:rPr>
                      <m:t>≅∆</m:t>
                    </m:r>
                    <m:r>
                      <a:rPr lang="en-US" sz="2000" i="1">
                        <a:latin typeface="Cambria Math" charset="0"/>
                        <a:ea typeface="Verdana" charset="0"/>
                        <a:cs typeface="Verdana" charset="0"/>
                      </a:rPr>
                      <m:t>𝑇𝐻𝑊</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𝑊𝐻</m:t>
                    </m:r>
                    <m:r>
                      <a:rPr lang="en-US" sz="2000" i="1">
                        <a:latin typeface="Cambria Math" charset="0"/>
                        <a:ea typeface="Verdana" charset="0"/>
                        <a:cs typeface="Verdana" charset="0"/>
                      </a:rPr>
                      <m:t>=5,</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𝐻𝑊𝐷</m:t>
                    </m:r>
                    <m:r>
                      <a:rPr lang="en-US" sz="2000" i="1">
                        <a:latin typeface="Cambria Math" charset="0"/>
                        <a:ea typeface="Verdana" charset="0"/>
                        <a:cs typeface="Verdana" charset="0"/>
                      </a:rPr>
                      <m:t>=61°</m:t>
                    </m:r>
                  </m:oMath>
                </a14:m>
                <a:r>
                  <a:rPr lang="en-US" sz="2000" dirty="0">
                    <a:latin typeface="Verdana" charset="0"/>
                    <a:ea typeface="Verdana" charset="0"/>
                    <a:cs typeface="Verdana" charset="0"/>
                  </a:rPr>
                  <a:t>, use these and all other known measurements to determine the following measures.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𝑇𝑊𝐻</m:t>
                    </m:r>
                    <m:r>
                      <a:rPr lang="en-US" sz="2000" i="1">
                        <a:latin typeface="Cambria Math" charset="0"/>
                        <a:ea typeface="Verdana" charset="0"/>
                        <a:cs typeface="Verdana" charset="0"/>
                      </a:rPr>
                      <m:t>=</m:t>
                    </m:r>
                    <m:r>
                      <a:rPr lang="en-US" sz="2000">
                        <a:latin typeface="Cambria Math" charset="0"/>
                        <a:ea typeface="Verdana" charset="0"/>
                        <a:cs typeface="Verdana" charset="0"/>
                      </a:rPr>
                      <m:t> </m:t>
                    </m:r>
                  </m:oMath>
                </a14:m>
                <a:r>
                  <a:rPr lang="en-US" sz="2000" dirty="0">
                    <a:latin typeface="Verdana" charset="0"/>
                    <a:ea typeface="Verdana" charset="0"/>
                    <a:cs typeface="Verdana" charset="0"/>
                  </a:rPr>
                  <a:t>_____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𝐻𝑇𝑊</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_____	   </a:t>
                </a:r>
                <a14:m>
                  <m:oMath xmlns:m="http://schemas.openxmlformats.org/officeDocument/2006/math">
                    <m:r>
                      <a:rPr lang="en-US" sz="2000" i="1">
                        <a:latin typeface="Cambria Math" charset="0"/>
                        <a:ea typeface="Verdana" charset="0"/>
                        <a:cs typeface="Verdana" charset="0"/>
                      </a:rPr>
                      <m:t>𝑇𝑊</m:t>
                    </m:r>
                    <m:r>
                      <a:rPr lang="en-US" sz="2000" i="1">
                        <a:latin typeface="Cambria Math" charset="0"/>
                        <a:ea typeface="Verdana" charset="0"/>
                        <a:cs typeface="Verdana" charset="0"/>
                      </a:rPr>
                      <m:t>=</m:t>
                    </m:r>
                  </m:oMath>
                </a14:m>
                <a:r>
                  <a:rPr lang="en-US" sz="2000" dirty="0">
                    <a:latin typeface="Verdana" charset="0"/>
                    <a:ea typeface="Verdana" charset="0"/>
                    <a:cs typeface="Verdana" charset="0"/>
                  </a:rPr>
                  <a:t> ______</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4" y="520517"/>
                <a:ext cx="11087585" cy="2583528"/>
              </a:xfrm>
              <a:prstGeom prst="rect">
                <a:avLst/>
              </a:prstGeom>
              <a:blipFill>
                <a:blip r:embed="rId4"/>
                <a:stretch>
                  <a:fillRect l="-605" t="-1415" r="-14568" b="-3302"/>
                </a:stretch>
              </a:blipFill>
            </p:spPr>
            <p:txBody>
              <a:bodyPr/>
              <a:lstStyle/>
              <a:p>
                <a:r>
                  <a:rPr lang="en-US">
                    <a:noFill/>
                  </a:rPr>
                  <a:t> </a:t>
                </a:r>
              </a:p>
            </p:txBody>
          </p:sp>
        </mc:Fallback>
      </mc:AlternateContent>
    </p:spTree>
    <p:extLst>
      <p:ext uri="{BB962C8B-B14F-4D97-AF65-F5344CB8AC3E}">
        <p14:creationId xmlns:p14="http://schemas.microsoft.com/office/powerpoint/2010/main" val="201068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275</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517"/>
                <a:ext cx="10771448" cy="5144229"/>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Quadrilateral </a:t>
                </a:r>
                <a14:m>
                  <m:oMath xmlns:m="http://schemas.openxmlformats.org/officeDocument/2006/math">
                    <m:r>
                      <a:rPr lang="en-US" sz="2000" i="1">
                        <a:latin typeface="Cambria Math" charset="0"/>
                        <a:ea typeface="Verdana" charset="0"/>
                        <a:cs typeface="Verdana" charset="0"/>
                      </a:rPr>
                      <m:t>𝐻𝑊𝐿𝑋</m:t>
                    </m:r>
                  </m:oMath>
                </a14:m>
                <a:r>
                  <a:rPr lang="en-US" sz="2000" dirty="0">
                    <a:latin typeface="Verdana" charset="0"/>
                    <a:ea typeface="Verdana" charset="0"/>
                    <a:cs typeface="Verdana" charset="0"/>
                  </a:rPr>
                  <a:t> is shown.</a:t>
                </a: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14:m>
                  <m:oMath xmlns:m="http://schemas.openxmlformats.org/officeDocument/2006/math">
                    <m:r>
                      <a:rPr lang="en-US" sz="2000" i="1">
                        <a:latin typeface="Cambria Math" charset="0"/>
                        <a:ea typeface="Verdana" charset="0"/>
                        <a:cs typeface="Verdana" charset="0"/>
                      </a:rPr>
                      <m:t>𝐻𝑊𝑀𝑋</m:t>
                    </m:r>
                    <m:r>
                      <a:rPr lang="en-US" sz="2000" i="1">
                        <a:latin typeface="Cambria Math" charset="0"/>
                        <a:ea typeface="Verdana" charset="0"/>
                        <a:cs typeface="Verdana" charset="0"/>
                      </a:rPr>
                      <m:t>≅</m:t>
                    </m:r>
                    <m:r>
                      <a:rPr lang="en-US" sz="2000" i="1">
                        <a:latin typeface="Cambria Math" charset="0"/>
                        <a:ea typeface="Verdana" charset="0"/>
                        <a:cs typeface="Verdana" charset="0"/>
                      </a:rPr>
                      <m:t>𝐿𝑋𝐷𝑊</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m:t>
                    </m:r>
                    <m:r>
                      <a:rPr lang="en-US" sz="2000" i="1">
                        <a:latin typeface="Cambria Math" charset="0"/>
                        <a:ea typeface="Verdana" charset="0"/>
                        <a:cs typeface="Verdana" charset="0"/>
                      </a:rPr>
                      <m:t>𝑋𝑀𝐷</m:t>
                    </m:r>
                    <m:r>
                      <a:rPr lang="en-US" sz="2000" i="1">
                        <a:latin typeface="Cambria Math" charset="0"/>
                        <a:ea typeface="Verdana" charset="0"/>
                        <a:cs typeface="Verdana" charset="0"/>
                      </a:rPr>
                      <m:t>≅∆</m:t>
                    </m:r>
                    <m:r>
                      <a:rPr lang="en-US" sz="2000" i="1">
                        <a:latin typeface="Cambria Math" charset="0"/>
                        <a:ea typeface="Verdana" charset="0"/>
                        <a:cs typeface="Verdana" charset="0"/>
                      </a:rPr>
                      <m:t>𝑊𝐷𝑀</m:t>
                    </m:r>
                  </m:oMath>
                </a14:m>
                <a:r>
                  <a:rPr lang="en-US" sz="2000" dirty="0">
                    <a:latin typeface="Verdana" charset="0"/>
                    <a:ea typeface="Verdana" charset="0"/>
                    <a:cs typeface="Verdana" charset="0"/>
                  </a:rPr>
                  <a:t>. The perimeter of </a:t>
                </a:r>
                <a14:m>
                  <m:oMath xmlns:m="http://schemas.openxmlformats.org/officeDocument/2006/math">
                    <m:r>
                      <a:rPr lang="en-US" sz="2000" i="1">
                        <a:latin typeface="Cambria Math" charset="0"/>
                        <a:ea typeface="Verdana" charset="0"/>
                        <a:cs typeface="Verdana" charset="0"/>
                      </a:rPr>
                      <m:t>𝐻𝑊𝑀𝑋</m:t>
                    </m:r>
                  </m:oMath>
                </a14:m>
                <a:r>
                  <a:rPr lang="en-US" sz="2000" dirty="0">
                    <a:latin typeface="Verdana" charset="0"/>
                    <a:ea typeface="Verdana" charset="0"/>
                    <a:cs typeface="Verdana" charset="0"/>
                  </a:rPr>
                  <a:t> is </a:t>
                </a:r>
                <a14:m>
                  <m:oMath xmlns:m="http://schemas.openxmlformats.org/officeDocument/2006/math">
                    <m:r>
                      <a:rPr lang="en-US" sz="2000" i="1">
                        <a:latin typeface="Cambria Math" charset="0"/>
                        <a:ea typeface="Verdana" charset="0"/>
                        <a:cs typeface="Verdana" charset="0"/>
                      </a:rPr>
                      <m:t>40.5</m:t>
                    </m:r>
                  </m:oMath>
                </a14:m>
                <a:r>
                  <a:rPr lang="en-US" sz="2000" dirty="0">
                    <a:latin typeface="Verdana" charset="0"/>
                    <a:ea typeface="Verdana" charset="0"/>
                    <a:cs typeface="Verdana" charset="0"/>
                  </a:rPr>
                  <a:t>. </a:t>
                </a:r>
              </a:p>
              <a:p>
                <a:r>
                  <a:rPr lang="en-US" sz="2000" dirty="0">
                    <a:latin typeface="Verdana" charset="0"/>
                    <a:ea typeface="Verdana" charset="0"/>
                    <a:cs typeface="Verdana" charset="0"/>
                  </a:rPr>
                  <a:t> </a:t>
                </a:r>
              </a:p>
              <a:p>
                <a:pPr marL="457200" lvl="1" indent="-457200">
                  <a:buFont typeface="+mj-lt"/>
                  <a:buAutoNum type="alphaLcPeriod"/>
                </a:pPr>
                <a:r>
                  <a:rPr lang="en-US" sz="2000" dirty="0">
                    <a:latin typeface="Verdana" charset="0"/>
                    <a:ea typeface="Verdana" charset="0"/>
                    <a:cs typeface="Verdana" charset="0"/>
                  </a:rPr>
                  <a:t>Use the given measurements to find the value of </a:t>
                </a:r>
                <a14:m>
                  <m:oMath xmlns:m="http://schemas.openxmlformats.org/officeDocument/2006/math">
                    <m:r>
                      <a:rPr lang="en-US" sz="2000" i="1">
                        <a:latin typeface="Cambria Math" charset="0"/>
                        <a:ea typeface="Verdana" charset="0"/>
                        <a:cs typeface="Verdana" charset="0"/>
                      </a:rPr>
                      <m:t>𝑥</m:t>
                    </m:r>
                  </m:oMath>
                </a14:m>
                <a:r>
                  <a:rPr lang="en-US" sz="2000" dirty="0">
                    <a:latin typeface="Verdana" charset="0"/>
                    <a:ea typeface="Verdana" charset="0"/>
                    <a:cs typeface="Verdana" charset="0"/>
                  </a:rPr>
                  <a:t>.         </a:t>
                </a:r>
              </a:p>
              <a:p>
                <a:pPr lvl="1"/>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𝐻𝑊</m:t>
                    </m:r>
                    <m:r>
                      <a:rPr lang="en-US" sz="2000" i="1">
                        <a:latin typeface="Cambria Math" charset="0"/>
                        <a:ea typeface="Verdana" charset="0"/>
                        <a:cs typeface="Verdana" charset="0"/>
                      </a:rPr>
                      <m:t>=2</m:t>
                    </m:r>
                    <m:r>
                      <a:rPr lang="en-US" sz="2000" i="1">
                        <a:latin typeface="Cambria Math" charset="0"/>
                        <a:ea typeface="Verdana" charset="0"/>
                        <a:cs typeface="Verdana" charset="0"/>
                      </a:rPr>
                      <m:t>𝑥</m:t>
                    </m:r>
                    <m:r>
                      <a:rPr lang="en-US" sz="2000" i="1">
                        <a:latin typeface="Cambria Math" charset="0"/>
                        <a:ea typeface="Verdana" charset="0"/>
                        <a:cs typeface="Verdana" charset="0"/>
                      </a:rPr>
                      <m:t>−2</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𝑋𝐷</m:t>
                    </m:r>
                    <m:r>
                      <a:rPr lang="en-US" sz="2000" i="1">
                        <a:latin typeface="Cambria Math" charset="0"/>
                        <a:ea typeface="Verdana" charset="0"/>
                        <a:cs typeface="Verdana" charset="0"/>
                      </a:rPr>
                      <m:t>=</m:t>
                    </m:r>
                    <m:f>
                      <m:fPr>
                        <m:ctrlPr>
                          <a:rPr lang="en-US" sz="2000" i="1">
                            <a:latin typeface="Cambria Math" panose="02040503050406030204" pitchFamily="18" charset="0"/>
                            <a:ea typeface="Verdana" charset="0"/>
                            <a:cs typeface="Verdana" charset="0"/>
                          </a:rPr>
                        </m:ctrlPr>
                      </m:fPr>
                      <m:num>
                        <m:r>
                          <a:rPr lang="en-US" sz="2000" i="1">
                            <a:latin typeface="Cambria Math" charset="0"/>
                            <a:ea typeface="Verdana" charset="0"/>
                            <a:cs typeface="Verdana" charset="0"/>
                          </a:rPr>
                          <m:t>3</m:t>
                        </m:r>
                      </m:num>
                      <m:den>
                        <m:r>
                          <a:rPr lang="en-US" sz="2000" i="1">
                            <a:latin typeface="Cambria Math" charset="0"/>
                            <a:ea typeface="Verdana" charset="0"/>
                            <a:cs typeface="Verdana" charset="0"/>
                          </a:rPr>
                          <m:t>2</m:t>
                        </m:r>
                      </m:den>
                    </m:f>
                    <m:r>
                      <a:rPr lang="en-US" sz="2000" i="1">
                        <a:latin typeface="Cambria Math" charset="0"/>
                        <a:ea typeface="Verdana" charset="0"/>
                        <a:cs typeface="Verdana" charset="0"/>
                      </a:rPr>
                      <m:t>𝑥</m:t>
                    </m:r>
                    <m:r>
                      <a:rPr lang="en-US" sz="2000" i="1">
                        <a:latin typeface="Cambria Math" charset="0"/>
                        <a:ea typeface="Verdana" charset="0"/>
                        <a:cs typeface="Verdana" charset="0"/>
                      </a:rPr>
                      <m:t>−1</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𝐻𝑋</m:t>
                    </m:r>
                    <m:r>
                      <a:rPr lang="en-US" sz="2000" i="1">
                        <a:latin typeface="Cambria Math" charset="0"/>
                        <a:ea typeface="Verdana" charset="0"/>
                        <a:cs typeface="Verdana" charset="0"/>
                      </a:rPr>
                      <m:t>=2</m:t>
                    </m:r>
                    <m:r>
                      <a:rPr lang="en-US" sz="2000" i="1">
                        <a:latin typeface="Cambria Math" charset="0"/>
                        <a:ea typeface="Verdana" charset="0"/>
                        <a:cs typeface="Verdana" charset="0"/>
                      </a:rPr>
                      <m:t>𝑥</m:t>
                    </m:r>
                    <m:r>
                      <a:rPr lang="en-US" sz="2000" i="1">
                        <a:latin typeface="Cambria Math" charset="0"/>
                        <a:ea typeface="Verdana" charset="0"/>
                        <a:cs typeface="Verdana" charset="0"/>
                      </a:rPr>
                      <m:t>+5</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𝑊𝐷</m:t>
                    </m:r>
                    <m:r>
                      <a:rPr lang="en-US" sz="2000" i="1">
                        <a:latin typeface="Cambria Math" charset="0"/>
                        <a:ea typeface="Verdana" charset="0"/>
                        <a:cs typeface="Verdana" charset="0"/>
                      </a:rPr>
                      <m:t>=2</m:t>
                    </m:r>
                    <m:r>
                      <a:rPr lang="en-US" sz="2000" i="1">
                        <a:latin typeface="Cambria Math" charset="0"/>
                        <a:ea typeface="Verdana" charset="0"/>
                        <a:cs typeface="Verdana" charset="0"/>
                      </a:rPr>
                      <m:t>𝑥</m:t>
                    </m:r>
                    <m:r>
                      <a:rPr lang="en-US" sz="2000" i="1">
                        <a:latin typeface="Cambria Math" charset="0"/>
                        <a:ea typeface="Verdana" charset="0"/>
                        <a:cs typeface="Verdana" charset="0"/>
                      </a:rPr>
                      <m:t>−2</m:t>
                    </m:r>
                  </m:oMath>
                </a14:m>
                <a:endParaRPr lang="en-US" sz="2000" dirty="0">
                  <a:latin typeface="Verdana" charset="0"/>
                  <a:ea typeface="Verdana" charset="0"/>
                  <a:cs typeface="Verdana" charset="0"/>
                </a:endParaRPr>
              </a:p>
              <a:p>
                <a:pPr marL="457200" lvl="1" indent="-457200">
                  <a:buFont typeface="+mj-lt"/>
                  <a:buAutoNum type="alphaLcPeriod"/>
                </a:pPr>
                <a:endParaRPr lang="en-US" sz="2000" dirty="0">
                  <a:latin typeface="Verdana" charset="0"/>
                  <a:ea typeface="Verdana" charset="0"/>
                  <a:cs typeface="Verdana" charset="0"/>
                </a:endParaRPr>
              </a:p>
              <a:p>
                <a:pPr marL="457200" indent="-457200">
                  <a:buFont typeface="+mj-lt"/>
                  <a:buAutoNum type="alphaLcPeriod" startAt="2"/>
                </a:pPr>
                <a:r>
                  <a:rPr lang="en-US" sz="2000" dirty="0">
                    <a:latin typeface="Verdana" charset="0"/>
                    <a:ea typeface="Verdana" charset="0"/>
                    <a:cs typeface="Verdana" charset="0"/>
                  </a:rPr>
                  <a:t>Find the length of </a:t>
                </a:r>
                <a14:m>
                  <m:oMath xmlns:m="http://schemas.openxmlformats.org/officeDocument/2006/math">
                    <m:r>
                      <a:rPr lang="en-US" sz="2000" i="1">
                        <a:latin typeface="Cambria Math" charset="0"/>
                        <a:ea typeface="Verdana" charset="0"/>
                        <a:cs typeface="Verdana" charset="0"/>
                      </a:rPr>
                      <m:t>𝑀𝑋</m:t>
                    </m:r>
                  </m:oMath>
                </a14:m>
                <a:r>
                  <a:rPr lang="en-US" sz="2000" dirty="0">
                    <a:latin typeface="Verdana" charset="0"/>
                    <a:ea typeface="Verdana" charset="0"/>
                    <a:cs typeface="Verdana" charset="0"/>
                  </a:rPr>
                  <a:t>.</a:t>
                </a:r>
                <a:r>
                  <a:rPr lang="en-US" sz="2000" i="1" dirty="0">
                    <a:latin typeface="Verdana" charset="0"/>
                    <a:ea typeface="Verdana" charset="0"/>
                    <a:cs typeface="Verdana" charset="0"/>
                  </a:rPr>
                  <a:t> </a:t>
                </a:r>
                <a:endParaRPr lang="en-US" sz="2000" dirty="0">
                  <a:latin typeface="Verdana" charset="0"/>
                  <a:ea typeface="Verdana" charset="0"/>
                  <a:cs typeface="Verdana"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517"/>
                <a:ext cx="10771448" cy="5144229"/>
              </a:xfrm>
              <a:prstGeom prst="rect">
                <a:avLst/>
              </a:prstGeom>
              <a:blipFill>
                <a:blip r:embed="rId4"/>
                <a:stretch>
                  <a:fillRect l="-623" t="-711" b="-1303"/>
                </a:stretch>
              </a:blipFill>
            </p:spPr>
            <p:txBody>
              <a:bodyPr/>
              <a:lstStyle/>
              <a:p>
                <a:r>
                  <a:rPr lang="en-US">
                    <a:noFill/>
                  </a:rPr>
                  <a:t> </a:t>
                </a:r>
              </a:p>
            </p:txBody>
          </p:sp>
        </mc:Fallback>
      </mc:AlternateContent>
      <p:pic>
        <p:nvPicPr>
          <p:cNvPr id="2" name="Picture 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5855110" y="520517"/>
            <a:ext cx="5456903" cy="2979256"/>
          </a:xfrm>
          <a:prstGeom prst="rect">
            <a:avLst/>
          </a:prstGeom>
        </p:spPr>
      </p:pic>
    </p:spTree>
    <p:extLst>
      <p:ext uri="{BB962C8B-B14F-4D97-AF65-F5344CB8AC3E}">
        <p14:creationId xmlns:p14="http://schemas.microsoft.com/office/powerpoint/2010/main" val="15070769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276</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89924" y="6457798"/>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276</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3"/>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82447"/>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5.9.5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44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540565" y="1103518"/>
                <a:ext cx="8327136" cy="317009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Quadrilaterals </a:t>
                </a:r>
                <a14:m>
                  <m:oMath xmlns:m="http://schemas.openxmlformats.org/officeDocument/2006/math">
                    <m:r>
                      <a:rPr lang="en-US" sz="2000" i="1">
                        <a:latin typeface="Cambria Math" charset="0"/>
                        <a:ea typeface="Verdana" charset="0"/>
                        <a:cs typeface="Verdana" charset="0"/>
                      </a:rPr>
                      <m:t>𝑅𝑌𝐺𝑀</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𝐻𝐵𝑁𝑊</m:t>
                    </m:r>
                  </m:oMath>
                </a14:m>
                <a:r>
                  <a:rPr lang="en-US" sz="2000" dirty="0">
                    <a:latin typeface="Verdana" charset="0"/>
                    <a:ea typeface="Verdana" charset="0"/>
                    <a:cs typeface="Verdana" charset="0"/>
                  </a:rPr>
                  <a:t> are shown.</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40565" y="1103518"/>
                <a:ext cx="8327136" cy="3170099"/>
              </a:xfrm>
              <a:prstGeom prst="rect">
                <a:avLst/>
              </a:prstGeom>
              <a:blipFill>
                <a:blip r:embed="rId5"/>
                <a:stretch>
                  <a:fillRect l="-805" t="-1346"/>
                </a:stretch>
              </a:blipFill>
            </p:spPr>
            <p:txBody>
              <a:bodyPr/>
              <a:lstStyle/>
              <a:p>
                <a:r>
                  <a:rPr lang="en-US">
                    <a:noFill/>
                  </a:rPr>
                  <a:t> </a:t>
                </a:r>
              </a:p>
            </p:txBody>
          </p:sp>
        </mc:Fallback>
      </mc:AlternateContent>
      <p:pic>
        <p:nvPicPr>
          <p:cNvPr id="5" name="Picture 4"/>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1134801" y="1839678"/>
            <a:ext cx="7559729" cy="3764623"/>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it-IT" i="1" dirty="0">
                <a:latin typeface="Calibri"/>
                <a:ea typeface="Calibri"/>
                <a:cs typeface="Calibri"/>
                <a:sym typeface="Calibri"/>
              </a:rPr>
              <a:t>volume 1, </a:t>
            </a:r>
            <a:r>
              <a:rPr lang="it-IT" i="1" dirty="0" err="1">
                <a:latin typeface="Calibri"/>
                <a:ea typeface="Calibri"/>
                <a:cs typeface="Calibri"/>
                <a:sym typeface="Calibri"/>
              </a:rPr>
              <a:t>pg</a:t>
            </a:r>
            <a:r>
              <a:rPr lang="it-IT" i="1" dirty="0">
                <a:latin typeface="Calibri"/>
                <a:ea typeface="Calibri"/>
                <a:cs typeface="Calibri"/>
                <a:sym typeface="Calibri"/>
              </a:rPr>
              <a:t>. 276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4" y="528619"/>
                <a:ext cx="10983359" cy="3170099"/>
              </a:xfrm>
              <a:prstGeom prst="rect">
                <a:avLst/>
              </a:prstGeom>
              <a:noFill/>
            </p:spPr>
            <p:txBody>
              <a:bodyPr wrap="square" rtlCol="0">
                <a:spAutoFit/>
              </a:bodyPr>
              <a:lstStyle/>
              <a:p>
                <a14:m>
                  <m:oMath xmlns:m="http://schemas.openxmlformats.org/officeDocument/2006/math">
                    <m:r>
                      <a:rPr lang="en-US" sz="2000" i="1">
                        <a:latin typeface="Cambria Math" charset="0"/>
                        <a:ea typeface="Verdana" charset="0"/>
                        <a:cs typeface="Verdana" charset="0"/>
                      </a:rPr>
                      <m:t>𝑅𝑌𝐺𝑀</m:t>
                    </m:r>
                    <m:r>
                      <a:rPr lang="en-US" sz="2000" i="1">
                        <a:latin typeface="Cambria Math" charset="0"/>
                        <a:ea typeface="Verdana" charset="0"/>
                        <a:cs typeface="Verdana" charset="0"/>
                      </a:rPr>
                      <m:t>≅</m:t>
                    </m:r>
                    <m:r>
                      <a:rPr lang="en-US" sz="2000" i="1">
                        <a:latin typeface="Cambria Math" charset="0"/>
                        <a:ea typeface="Verdana" charset="0"/>
                        <a:cs typeface="Verdana" charset="0"/>
                      </a:rPr>
                      <m:t>𝐻𝐵𝑁𝑊</m:t>
                    </m:r>
                  </m:oMath>
                </a14:m>
                <a:r>
                  <a:rPr lang="en-US" sz="2000" dirty="0">
                    <a:latin typeface="Verdana" charset="0"/>
                    <a:ea typeface="Verdana" charset="0"/>
                    <a:cs typeface="Verdana" charset="0"/>
                  </a:rPr>
                  <a:t> and the following information is also true. </a:t>
                </a:r>
              </a:p>
              <a:p>
                <a:endParaRPr lang="en-US" sz="2000" dirty="0">
                  <a:latin typeface="Verdana" charset="0"/>
                  <a:ea typeface="Verdana" charset="0"/>
                  <a:cs typeface="Verdana" charset="0"/>
                </a:endParaRPr>
              </a:p>
              <a:p>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𝑅𝑌𝐺</m:t>
                    </m:r>
                    <m:r>
                      <a:rPr lang="en-US" sz="2000" i="1">
                        <a:latin typeface="Cambria Math" charset="0"/>
                        <a:ea typeface="Verdana" charset="0"/>
                        <a:cs typeface="Verdana" charset="0"/>
                      </a:rPr>
                      <m:t>=(10</m:t>
                    </m:r>
                    <m:r>
                      <a:rPr lang="en-US" sz="2000" i="1">
                        <a:latin typeface="Cambria Math" charset="0"/>
                        <a:ea typeface="Verdana" charset="0"/>
                        <a:cs typeface="Verdana" charset="0"/>
                      </a:rPr>
                      <m:t>𝑥</m:t>
                    </m:r>
                    <m:r>
                      <a:rPr lang="en-US" sz="2000" i="1">
                        <a:latin typeface="Cambria Math" charset="0"/>
                        <a:ea typeface="Verdana" charset="0"/>
                        <a:cs typeface="Verdana" charset="0"/>
                      </a:rPr>
                      <m:t>−6)°</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𝑀𝐺</m:t>
                    </m:r>
                    <m:r>
                      <a:rPr lang="en-US" sz="2000" i="1">
                        <a:latin typeface="Cambria Math" charset="0"/>
                        <a:ea typeface="Verdana" charset="0"/>
                        <a:cs typeface="Verdana" charset="0"/>
                      </a:rPr>
                      <m:t>=2</m:t>
                    </m:r>
                    <m:r>
                      <a:rPr lang="en-US" sz="2000" i="1">
                        <a:latin typeface="Cambria Math" charset="0"/>
                        <a:ea typeface="Verdana" charset="0"/>
                        <a:cs typeface="Verdana" charset="0"/>
                      </a:rPr>
                      <m:t>𝑘</m:t>
                    </m:r>
                    <m:r>
                      <a:rPr lang="en-US" sz="2000" i="1">
                        <a:latin typeface="Cambria Math" charset="0"/>
                        <a:ea typeface="Verdana" charset="0"/>
                        <a:cs typeface="Verdana" charset="0"/>
                      </a:rPr>
                      <m:t>+3</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𝑁𝑊</m:t>
                    </m:r>
                    <m:r>
                      <a:rPr lang="en-US" sz="2000" i="1">
                        <a:latin typeface="Cambria Math" charset="0"/>
                        <a:ea typeface="Verdana" charset="0"/>
                        <a:cs typeface="Verdana" charset="0"/>
                      </a:rPr>
                      <m:t>=4</m:t>
                    </m:r>
                    <m:r>
                      <a:rPr lang="en-US" sz="2000" i="1">
                        <a:latin typeface="Cambria Math" charset="0"/>
                        <a:ea typeface="Verdana" charset="0"/>
                        <a:cs typeface="Verdana" charset="0"/>
                      </a:rPr>
                      <m:t>𝑘</m:t>
                    </m:r>
                    <m:r>
                      <a:rPr lang="en-US" sz="2000" i="1">
                        <a:latin typeface="Cambria Math" charset="0"/>
                        <a:ea typeface="Verdana" charset="0"/>
                        <a:cs typeface="Verdana" charset="0"/>
                      </a:rPr>
                      <m:t>−29</m:t>
                    </m:r>
                  </m:oMath>
                </a14:m>
                <a:r>
                  <a:rPr lang="en-US" sz="2000" dirty="0">
                    <a:latin typeface="Verdana" charset="0"/>
                    <a:ea typeface="Verdana" charset="0"/>
                    <a:cs typeface="Verdana" charset="0"/>
                  </a:rPr>
                  <a:t>, </a:t>
                </a:r>
              </a:p>
              <a:p>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𝑀𝐺𝑌</m:t>
                    </m:r>
                    <m:r>
                      <a:rPr lang="en-US" sz="2000" i="1">
                        <a:latin typeface="Cambria Math" charset="0"/>
                        <a:ea typeface="Verdana" charset="0"/>
                        <a:cs typeface="Verdana" charset="0"/>
                      </a:rPr>
                      <m:t>=(7</m:t>
                    </m:r>
                    <m:r>
                      <a:rPr lang="en-US" sz="2000" i="1">
                        <a:latin typeface="Cambria Math" charset="0"/>
                        <a:ea typeface="Verdana" charset="0"/>
                        <a:cs typeface="Verdana" charset="0"/>
                      </a:rPr>
                      <m:t>𝑥</m:t>
                    </m:r>
                    <m:r>
                      <a:rPr lang="en-US" sz="2000" i="1">
                        <a:latin typeface="Cambria Math" charset="0"/>
                        <a:ea typeface="Verdana" charset="0"/>
                        <a:cs typeface="Verdana" charset="0"/>
                      </a:rPr>
                      <m:t>−5)°</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𝑚</m:t>
                    </m:r>
                    <m:r>
                      <a:rPr lang="en-US" sz="2000" i="1">
                        <a:latin typeface="Cambria Math" charset="0"/>
                        <a:ea typeface="Verdana" charset="0"/>
                        <a:cs typeface="Verdana" charset="0"/>
                      </a:rPr>
                      <m:t>∠</m:t>
                    </m:r>
                    <m:r>
                      <a:rPr lang="en-US" sz="2000" i="1">
                        <a:latin typeface="Cambria Math" charset="0"/>
                        <a:ea typeface="Verdana" charset="0"/>
                        <a:cs typeface="Verdana" charset="0"/>
                      </a:rPr>
                      <m:t>𝐵𝑁𝑊</m:t>
                    </m:r>
                    <m:r>
                      <a:rPr lang="en-US" sz="2000" i="1">
                        <a:latin typeface="Cambria Math" charset="0"/>
                        <a:ea typeface="Verdana" charset="0"/>
                        <a:cs typeface="Verdana" charset="0"/>
                      </a:rPr>
                      <m:t>=86°</m:t>
                    </m:r>
                  </m:oMath>
                </a14:m>
                <a:r>
                  <a:rPr lang="en-US" sz="2000" dirty="0">
                    <a:latin typeface="Verdana" charset="0"/>
                    <a:ea typeface="Verdana" charset="0"/>
                    <a:cs typeface="Verdana" charset="0"/>
                  </a:rPr>
                  <a:t>, </a:t>
                </a:r>
                <a14:m>
                  <m:oMath xmlns:m="http://schemas.openxmlformats.org/officeDocument/2006/math">
                    <m:r>
                      <a:rPr lang="en-US" sz="2000" i="1">
                        <a:latin typeface="Cambria Math" charset="0"/>
                        <a:ea typeface="Verdana" charset="0"/>
                        <a:cs typeface="Verdana" charset="0"/>
                      </a:rPr>
                      <m:t>𝐻𝐵</m:t>
                    </m:r>
                    <m:r>
                      <a:rPr lang="en-US" sz="2000" i="1">
                        <a:latin typeface="Cambria Math" charset="0"/>
                        <a:ea typeface="Verdana" charset="0"/>
                        <a:cs typeface="Verdana" charset="0"/>
                      </a:rPr>
                      <m:t>=</m:t>
                    </m:r>
                    <m:r>
                      <a:rPr lang="en-US" sz="2000" i="1">
                        <a:latin typeface="Cambria Math" charset="0"/>
                        <a:ea typeface="Verdana" charset="0"/>
                        <a:cs typeface="Verdana" charset="0"/>
                      </a:rPr>
                      <m:t>𝑘</m:t>
                    </m:r>
                    <m:r>
                      <a:rPr lang="en-US" sz="2000" i="1">
                        <a:latin typeface="Cambria Math" charset="0"/>
                        <a:ea typeface="Verdana" charset="0"/>
                        <a:cs typeface="Verdana" charset="0"/>
                      </a:rPr>
                      <m:t>+9</m:t>
                    </m:r>
                  </m:oMath>
                </a14:m>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Hector used the given information to write the two equations shown.</a:t>
                </a:r>
              </a:p>
              <a:p>
                <a:endParaRPr lang="en-US" sz="2000" dirty="0">
                  <a:latin typeface="Verdana" charset="0"/>
                  <a:ea typeface="Verdana" charset="0"/>
                  <a:cs typeface="Verdana" charset="0"/>
                </a:endParaRPr>
              </a:p>
              <a:p>
                <a:endParaRPr lang="en-US" sz="2000" dirty="0">
                  <a:latin typeface="Verdana" charset="0"/>
                  <a:ea typeface="Verdana" charset="0"/>
                  <a:cs typeface="Verdana" charset="0"/>
                </a:endParaRPr>
              </a:p>
              <a:p>
                <a:r>
                  <a:rPr lang="en-US" sz="2000" dirty="0">
                    <a:latin typeface="Verdana" charset="0"/>
                    <a:ea typeface="Verdana" charset="0"/>
                    <a:cs typeface="Verdana" charset="0"/>
                  </a:rPr>
                  <a:t>One of Hector’s equations is NOT correct. Determine which one, and correct his error.</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4" y="528619"/>
                <a:ext cx="10983359" cy="3170099"/>
              </a:xfrm>
              <a:prstGeom prst="rect">
                <a:avLst/>
              </a:prstGeom>
              <a:blipFill>
                <a:blip r:embed="rId4"/>
                <a:stretch>
                  <a:fillRect l="-611" t="-1154" b="-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700324500"/>
                  </p:ext>
                </p:extLst>
              </p:nvPr>
            </p:nvGraphicFramePr>
            <p:xfrm>
              <a:off x="1967426" y="2498393"/>
              <a:ext cx="5502910" cy="422910"/>
            </p:xfrm>
            <a:graphic>
              <a:graphicData uri="http://schemas.openxmlformats.org/drawingml/2006/table">
                <a:tbl>
                  <a:tblPr firstRow="1" firstCol="1" bandRow="1"/>
                  <a:tblGrid>
                    <a:gridCol w="2751455">
                      <a:extLst>
                        <a:ext uri="{9D8B030D-6E8A-4147-A177-3AD203B41FA5}">
                          <a16:colId xmlns:a16="http://schemas.microsoft.com/office/drawing/2014/main" val="20000"/>
                        </a:ext>
                      </a:extLst>
                    </a:gridCol>
                    <a:gridCol w="2751455">
                      <a:extLst>
                        <a:ext uri="{9D8B030D-6E8A-4147-A177-3AD203B41FA5}">
                          <a16:colId xmlns:a16="http://schemas.microsoft.com/office/drawing/2014/main" val="20001"/>
                        </a:ext>
                      </a:extLst>
                    </a:gridCol>
                  </a:tblGrid>
                  <a:tr h="422910">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10</m:t>
                                </m:r>
                                <m:r>
                                  <a:rPr lang="en-US" sz="2000" i="1">
                                    <a:effectLst/>
                                    <a:latin typeface="Cambria Math" panose="02040503050406030204" pitchFamily="18" charset="0"/>
                                    <a:ea typeface="Verdana" charset="0"/>
                                    <a:cs typeface="Verdana" charset="0"/>
                                  </a:rPr>
                                  <m:t>𝑥</m:t>
                                </m:r>
                                <m:r>
                                  <a:rPr lang="en-US" sz="2000" i="1">
                                    <a:effectLst/>
                                    <a:latin typeface="Cambria Math" panose="02040503050406030204" pitchFamily="18" charset="0"/>
                                    <a:ea typeface="Verdana" charset="0"/>
                                    <a:cs typeface="Verdana" charset="0"/>
                                  </a:rPr>
                                  <m:t>−6=86</m:t>
                                </m:r>
                              </m:oMath>
                            </m:oMathPara>
                          </a14:m>
                          <a:endParaRPr lang="en-US" sz="2000" dirty="0">
                            <a:effectLst/>
                            <a:latin typeface="Verdana" charset="0"/>
                            <a:ea typeface="Verdana" charset="0"/>
                            <a:cs typeface="Verdana" charset="0"/>
                          </a:endParaRPr>
                        </a:p>
                      </a:txBody>
                      <a:tcPr marL="68580" marR="68580" marT="0" marB="0" anchor="ctr">
                        <a:lnL>
                          <a:noFill/>
                        </a:lnL>
                        <a:lnR>
                          <a:noFill/>
                        </a:lnR>
                        <a:lnT>
                          <a:noFill/>
                        </a:lnT>
                        <a:lnB>
                          <a:noFill/>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charset="0"/>
                                    <a:cs typeface="Verdana" charset="0"/>
                                  </a:rPr>
                                  <m:t>4</m:t>
                                </m:r>
                                <m:r>
                                  <a:rPr lang="en-US" sz="2000" i="1">
                                    <a:effectLst/>
                                    <a:latin typeface="Cambria Math" panose="02040503050406030204" pitchFamily="18" charset="0"/>
                                    <a:ea typeface="Verdana" charset="0"/>
                                    <a:cs typeface="Verdana" charset="0"/>
                                  </a:rPr>
                                  <m:t>𝑘</m:t>
                                </m:r>
                                <m:r>
                                  <a:rPr lang="en-US" sz="2000" i="1">
                                    <a:effectLst/>
                                    <a:latin typeface="Cambria Math" panose="02040503050406030204" pitchFamily="18" charset="0"/>
                                    <a:ea typeface="Verdana" charset="0"/>
                                    <a:cs typeface="Verdana" charset="0"/>
                                  </a:rPr>
                                  <m:t>−29=2</m:t>
                                </m:r>
                                <m:r>
                                  <a:rPr lang="en-US" sz="2000" i="1">
                                    <a:effectLst/>
                                    <a:latin typeface="Cambria Math" panose="02040503050406030204" pitchFamily="18" charset="0"/>
                                    <a:ea typeface="Verdana" charset="0"/>
                                    <a:cs typeface="Verdana" charset="0"/>
                                  </a:rPr>
                                  <m:t>𝑘</m:t>
                                </m:r>
                                <m:r>
                                  <a:rPr lang="en-US" sz="2000" i="1">
                                    <a:effectLst/>
                                    <a:latin typeface="Cambria Math" panose="02040503050406030204" pitchFamily="18" charset="0"/>
                                    <a:ea typeface="Verdana" charset="0"/>
                                    <a:cs typeface="Verdana" charset="0"/>
                                  </a:rPr>
                                  <m:t>+3</m:t>
                                </m:r>
                              </m:oMath>
                            </m:oMathPara>
                          </a14:m>
                          <a:endParaRPr lang="en-US" sz="2000" dirty="0">
                            <a:effectLst/>
                            <a:latin typeface="Verdana" charset="0"/>
                            <a:ea typeface="Verdana" charset="0"/>
                            <a:cs typeface="Verdana" charset="0"/>
                          </a:endParaRPr>
                        </a:p>
                      </a:txBody>
                      <a:tcPr marL="68580" marR="68580" marT="0" marB="0" anchor="ctr">
                        <a:lnL>
                          <a:noFill/>
                        </a:lnL>
                        <a:lnR>
                          <a:noFill/>
                        </a:lnR>
                        <a:lnT>
                          <a:noFill/>
                        </a:lnT>
                        <a:lnB>
                          <a:noFill/>
                        </a:lnB>
                      </a:tcPr>
                    </a:tc>
                    <a:extLst>
                      <a:ext uri="{0D108BD9-81ED-4DB2-BD59-A6C34878D82A}">
                        <a16:rowId xmlns:a16="http://schemas.microsoft.com/office/drawing/2014/main" val="10000"/>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700324500"/>
                  </p:ext>
                </p:extLst>
              </p:nvPr>
            </p:nvGraphicFramePr>
            <p:xfrm>
              <a:off x="1967426" y="2498393"/>
              <a:ext cx="5502910" cy="422910"/>
            </p:xfrm>
            <a:graphic>
              <a:graphicData uri="http://schemas.openxmlformats.org/drawingml/2006/table">
                <a:tbl>
                  <a:tblPr firstRow="1" firstCol="1" bandRow="1"/>
                  <a:tblGrid>
                    <a:gridCol w="2751455">
                      <a:extLst>
                        <a:ext uri="{9D8B030D-6E8A-4147-A177-3AD203B41FA5}">
                          <a16:colId xmlns:a16="http://schemas.microsoft.com/office/drawing/2014/main" val="20000"/>
                        </a:ext>
                      </a:extLst>
                    </a:gridCol>
                    <a:gridCol w="2751455">
                      <a:extLst>
                        <a:ext uri="{9D8B030D-6E8A-4147-A177-3AD203B41FA5}">
                          <a16:colId xmlns:a16="http://schemas.microsoft.com/office/drawing/2014/main" val="20001"/>
                        </a:ext>
                      </a:extLst>
                    </a:gridCol>
                  </a:tblGrid>
                  <a:tr h="422910">
                    <a:tc>
                      <a:txBody>
                        <a:bodyPr/>
                        <a:lstStyle/>
                        <a:p>
                          <a:endParaRPr lang="en-US"/>
                        </a:p>
                      </a:txBody>
                      <a:tcPr marL="68580" marR="68580" marT="0" marB="0" anchor="ctr">
                        <a:lnL>
                          <a:noFill/>
                        </a:lnL>
                        <a:lnR>
                          <a:noFill/>
                        </a:lnR>
                        <a:lnT>
                          <a:noFill/>
                        </a:lnT>
                        <a:lnB>
                          <a:noFill/>
                        </a:lnB>
                        <a:blipFill>
                          <a:blip r:embed="rId5"/>
                          <a:stretch>
                            <a:fillRect r="-100000"/>
                          </a:stretch>
                        </a:blipFill>
                      </a:tcPr>
                    </a:tc>
                    <a:tc>
                      <a:txBody>
                        <a:bodyPr/>
                        <a:lstStyle/>
                        <a:p>
                          <a:endParaRPr lang="en-US"/>
                        </a:p>
                      </a:txBody>
                      <a:tcPr marL="68580" marR="68580" marT="0" marB="0" anchor="ctr">
                        <a:lnL>
                          <a:noFill/>
                        </a:lnL>
                        <a:lnR>
                          <a:noFill/>
                        </a:lnR>
                        <a:lnT>
                          <a:noFill/>
                        </a:lnT>
                        <a:lnB>
                          <a:noFill/>
                        </a:lnB>
                        <a:blipFill>
                          <a:blip r:embed="rId5"/>
                          <a:stretch>
                            <a:fillRect l="-100000"/>
                          </a:stretch>
                        </a:blipFill>
                      </a:tcPr>
                    </a:tc>
                    <a:extLst>
                      <a:ext uri="{0D108BD9-81ED-4DB2-BD59-A6C34878D82A}">
                        <a16:rowId xmlns:a16="http://schemas.microsoft.com/office/drawing/2014/main" val="10000"/>
                      </a:ext>
                    </a:extLst>
                  </a:tr>
                </a:tbl>
              </a:graphicData>
            </a:graphic>
          </p:graphicFrame>
        </mc:Fallback>
      </mc:AlternateContent>
    </p:spTree>
    <p:extLst>
      <p:ext uri="{BB962C8B-B14F-4D97-AF65-F5344CB8AC3E}">
        <p14:creationId xmlns:p14="http://schemas.microsoft.com/office/powerpoint/2010/main" val="397820342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1305</TotalTime>
  <Words>1134</Words>
  <Application>Microsoft Office PowerPoint</Application>
  <PresentationFormat>Widescreen</PresentationFormat>
  <Paragraphs>190</Paragraphs>
  <Slides>24</Slides>
  <Notes>24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Black</vt:lpstr>
      <vt:lpstr>Calibri</vt:lpstr>
      <vt:lpstr>Cambria</vt:lpstr>
      <vt:lpstr>Cambria Math</vt:lpstr>
      <vt:lpstr>Century Gothic</vt:lpstr>
      <vt:lpstr>Verdana</vt:lpstr>
      <vt:lpstr>Wingdings</vt:lpstr>
      <vt:lpstr>1_Office Theme</vt:lpstr>
      <vt:lpstr>Geometry  Unit 5, Lesson 9  Congruence in Two-Dimensional Figures – Part 1  Volume 1, pg. 272  </vt:lpstr>
      <vt:lpstr>Benchmark</vt:lpstr>
      <vt:lpstr>PowerPoint Presentation</vt:lpstr>
      <vt:lpstr>PowerPoint Presentation</vt:lpstr>
      <vt:lpstr>Warm-Up</vt:lpstr>
      <vt:lpstr>PowerPoint Presentation</vt:lpstr>
      <vt:lpstr>PowerPoint Presentation</vt:lpstr>
      <vt:lpstr>Collaboration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Guided Practice</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Cassie O'Connor</cp:lastModifiedBy>
  <cp:revision>24</cp:revision>
  <dcterms:created xsi:type="dcterms:W3CDTF">2015-03-17T18:51:18Z</dcterms:created>
  <dcterms:modified xsi:type="dcterms:W3CDTF">2022-07-03T19:20:43Z</dcterms:modified>
</cp:coreProperties>
</file>