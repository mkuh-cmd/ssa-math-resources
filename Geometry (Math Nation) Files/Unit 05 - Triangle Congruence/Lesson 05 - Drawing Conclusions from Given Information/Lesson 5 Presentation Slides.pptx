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314" r:id="rId9"/>
    <p:sldId id="315" r:id="rId10"/>
    <p:sldId id="352" r:id="rId11"/>
    <p:sldId id="380" r:id="rId12"/>
    <p:sldId id="381" r:id="rId13"/>
    <p:sldId id="382" r:id="rId14"/>
    <p:sldId id="371" r:id="rId15"/>
    <p:sldId id="372" r:id="rId16"/>
    <p:sldId id="373" r:id="rId17"/>
    <p:sldId id="383" r:id="rId18"/>
    <p:sldId id="384" r:id="rId19"/>
    <p:sldId id="385" r:id="rId20"/>
    <p:sldId id="374" r:id="rId21"/>
    <p:sldId id="375" r:id="rId22"/>
    <p:sldId id="376" r:id="rId23"/>
    <p:sldId id="377" r:id="rId24"/>
    <p:sldId id="378" r:id="rId25"/>
    <p:sldId id="306" r:id="rId26"/>
    <p:sldId id="307" r:id="rId27"/>
    <p:sldId id="370"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6"/>
    <p:restoredTop sz="94622"/>
  </p:normalViewPr>
  <p:slideViewPr>
    <p:cSldViewPr snapToGrid="0">
      <p:cViewPr varScale="1">
        <p:scale>
          <a:sx n="99" d="100"/>
          <a:sy n="99" d="100"/>
        </p:scale>
        <p:origin x="200" y="3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55" Type="http://customschemas.google.com/relationships/presentationmetadata" Target="metadata"/><Relationship Id="rId56" Type="http://schemas.openxmlformats.org/officeDocument/2006/relationships/presProps" Target="presProps.xml"/><Relationship Id="rId57"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9" Type="http://schemas.openxmlformats.org/officeDocument/2006/relationships/slide" Target="slides/slide8.xml"/><Relationship Id="rId7" Type="http://schemas.openxmlformats.org/officeDocument/2006/relationships/slide" Target="slides/slide6.xml"/><Relationship Id="rId8" Type="http://schemas.openxmlformats.org/officeDocument/2006/relationships/slide" Target="slides/slide7.xml"/><Relationship Id="rId58" Type="http://schemas.openxmlformats.org/officeDocument/2006/relationships/theme" Target="theme/theme1.xml"/><Relationship Id="rId5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22047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702801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565259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16072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8955137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40616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858807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64937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492542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735563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4605623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560853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2746843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24049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159685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40.png"/><Relationship Id="rId6"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17.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9.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21.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30.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3.png"/><Relationship Id="rId5" Type="http://schemas.openxmlformats.org/officeDocument/2006/relationships/image" Target="../media/image34.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35.png"/><Relationship Id="rId6" Type="http://schemas.openxmlformats.org/officeDocument/2006/relationships/image" Target="../media/image36.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7.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8.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9.png"/><Relationship Id="rId5" Type="http://schemas.openxmlformats.org/officeDocument/2006/relationships/image" Target="../media/image390.png"/><Relationship Id="rId6" Type="http://schemas.openxmlformats.org/officeDocument/2006/relationships/image" Target="../media/image40.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1.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4.png"/><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5</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Drawing Conclusions from Given Information</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246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14875"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887"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693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199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435429" y="1600200"/>
            <a:ext cx="1140822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MA.912.GR.1.2 </a:t>
            </a:r>
          </a:p>
          <a:p>
            <a:pPr marL="95250" indent="0">
              <a:buNone/>
            </a:pPr>
            <a:r>
              <a:rPr lang="en-US" sz="2400" dirty="0">
                <a:latin typeface="Verdana" charset="0"/>
                <a:ea typeface="Verdana" charset="0"/>
                <a:cs typeface="Verdana" charset="0"/>
              </a:rPr>
              <a:t>Prove triangle congruence or similarity using Side-Side-Side, Side-Angle-Side, Angle-Side-Angle, Angle-Angle-Side, Angle-Angle, and     Hypotenuse-Leg.</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MA.912.LT.4.10 </a:t>
            </a:r>
          </a:p>
          <a:p>
            <a:pPr marL="95250" indent="0">
              <a:buNone/>
            </a:pPr>
            <a:r>
              <a:rPr lang="en-US" sz="2400" dirty="0">
                <a:latin typeface="Verdana" charset="0"/>
                <a:ea typeface="Verdana" charset="0"/>
                <a:cs typeface="Verdana" charset="0"/>
              </a:rPr>
              <a:t>Judge the validity of arguments and give counterexamples to disprove statements.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63493" y="20901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841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10793" y="-8018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984414"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246</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363493" y="1596390"/>
            <a:ext cx="1154547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3809"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2200" y="-5145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4900" y="200117"/>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979809"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246</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354899" y="1600200"/>
            <a:ext cx="1158672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draw and mark figures using given information.</a:t>
            </a:r>
          </a:p>
          <a:p>
            <a:pPr marL="342900" indent="-342900">
              <a:buFont typeface="Wingdings" charset="2"/>
              <a:buChar char="q"/>
            </a:pPr>
            <a:r>
              <a:rPr lang="en-US" sz="2400" dirty="0">
                <a:latin typeface="Verdana" charset="0"/>
                <a:ea typeface="Verdana" charset="0"/>
                <a:cs typeface="Verdana" charset="0"/>
              </a:rPr>
              <a:t>I can use definitions, properties, postulates, and theorems to draw conclusions about triangles from given information.</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8405"/>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1824" y="-6821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5.5.1 Warm-Up: Working Through Challenges</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94524" y="186599"/>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247</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394524" y="1386026"/>
            <a:ext cx="11416476" cy="1938992"/>
          </a:xfrm>
          <a:prstGeom prst="rect">
            <a:avLst/>
          </a:prstGeom>
          <a:noFill/>
        </p:spPr>
        <p:txBody>
          <a:bodyPr wrap="square" rtlCol="0">
            <a:spAutoFit/>
          </a:bodyPr>
          <a:lstStyle/>
          <a:p>
            <a:r>
              <a:rPr lang="en-US" sz="2000" dirty="0">
                <a:latin typeface="Verdana" charset="0"/>
                <a:ea typeface="Verdana" charset="0"/>
                <a:cs typeface="Verdana" charset="0"/>
              </a:rPr>
              <a:t>Teri takes dance in school, but learning how to tap dance was a new and overwhelming experience. She said that after her teacher introduced tap, “It was really hard for me to learn … It just looked like a lot of work and looked like it took a lot of time to learn, and it was really high tempo.”</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What is something that felt overwhelming the first time you were learning it?</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14"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5036"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91036"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247</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424542" y="520393"/>
            <a:ext cx="11451771" cy="2246769"/>
          </a:xfrm>
          <a:prstGeom prst="rect">
            <a:avLst/>
          </a:prstGeom>
          <a:noFill/>
        </p:spPr>
        <p:txBody>
          <a:bodyPr wrap="square" rtlCol="0">
            <a:spAutoFit/>
          </a:bodyPr>
          <a:lstStyle/>
          <a:p>
            <a:r>
              <a:rPr lang="en-US" sz="2000" dirty="0">
                <a:latin typeface="Verdana" charset="0"/>
                <a:ea typeface="Verdana" charset="0"/>
                <a:cs typeface="Verdana" charset="0"/>
              </a:rPr>
              <a:t>Teri’s teacher slowed down the moves to show her the structure and recommended that she practice each step before trying to put it all together. She connected this experience to learning other things that are difficult, saying, “The more you practice a certain skill that you need, the better you become at it, and the easier it becomes.”</a:t>
            </a:r>
          </a:p>
          <a:p>
            <a:r>
              <a:rPr lang="en-US" sz="2000" dirty="0">
                <a:latin typeface="Verdana" charset="0"/>
                <a:ea typeface="Verdana" charset="0"/>
                <a:cs typeface="Verdana" charset="0"/>
              </a:rPr>
              <a:t> </a:t>
            </a:r>
          </a:p>
          <a:p>
            <a:pPr marL="457200" indent="-457200">
              <a:buFont typeface="+mj-lt"/>
              <a:buAutoNum type="arabicPeriod" startAt="2"/>
            </a:pPr>
            <a:r>
              <a:rPr lang="en-US" sz="2000" dirty="0">
                <a:latin typeface="Verdana" charset="0"/>
                <a:ea typeface="Verdana" charset="0"/>
                <a:cs typeface="Verdana" charset="0"/>
              </a:rPr>
              <a:t>Describe a time when practicing something that was challenging for you helped you become better at it.</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994150" y="647738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247</a:t>
            </a: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1824" y="-6967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5.5.2 Collaboration: Using Given Information to Mark Figures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994150" y="64605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247</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20675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392015" y="1386026"/>
                <a:ext cx="11375441" cy="1015663"/>
              </a:xfrm>
              <a:prstGeom prst="rect">
                <a:avLst/>
              </a:prstGeom>
              <a:noFill/>
            </p:spPr>
            <p:txBody>
              <a:bodyPr wrap="square" rtlCol="0">
                <a:spAutoFit/>
              </a:bodyPr>
              <a:lstStyle/>
              <a:p>
                <a:r>
                  <a:rPr lang="en-US" sz="2000" dirty="0">
                    <a:latin typeface="Verdana" charset="0"/>
                    <a:ea typeface="Verdana" charset="0"/>
                    <a:cs typeface="Verdana" charset="0"/>
                  </a:rPr>
                  <a:t>When given information about geometric figures, it is helpful to mark the figures.</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Triangles </a:t>
                </a:r>
                <a14:m>
                  <m:oMath xmlns:m="http://schemas.openxmlformats.org/officeDocument/2006/math">
                    <m:r>
                      <a:rPr lang="en-US" sz="2000" i="1">
                        <a:latin typeface="Cambria Math" charset="0"/>
                        <a:ea typeface="Verdana" charset="0"/>
                        <a:cs typeface="Verdana" charset="0"/>
                      </a:rPr>
                      <m:t>𝑂𝐵𝑊</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𝑊𝑇𝑌</m:t>
                    </m:r>
                  </m:oMath>
                </a14:m>
                <a:r>
                  <a:rPr lang="en-US" sz="2000" dirty="0">
                    <a:latin typeface="Verdana" charset="0"/>
                    <a:ea typeface="Verdana" charset="0"/>
                    <a:cs typeface="Verdana" charset="0"/>
                  </a:rPr>
                  <a:t> are shown.</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392015" y="1386026"/>
                <a:ext cx="11375441" cy="1015663"/>
              </a:xfrm>
              <a:prstGeom prst="rect">
                <a:avLst/>
              </a:prstGeom>
              <a:blipFill>
                <a:blip r:embed="rId5"/>
                <a:stretch>
                  <a:fillRect l="-557" t="-2439" b="-8537"/>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241800" y="2997410"/>
            <a:ext cx="3695700" cy="2387600"/>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57200" y="520393"/>
                <a:ext cx="11484429" cy="5325240"/>
              </a:xfrm>
              <a:prstGeom prst="rect">
                <a:avLst/>
              </a:prstGeom>
              <a:noFill/>
            </p:spPr>
            <p:txBody>
              <a:bodyPr wrap="square" rtlCol="0">
                <a:spAutoFit/>
              </a:bodyPr>
              <a:lstStyle/>
              <a:p>
                <a:r>
                  <a:rPr lang="en-US" sz="2000" dirty="0">
                    <a:latin typeface="Verdana" charset="0"/>
                    <a:ea typeface="Verdana" charset="0"/>
                    <a:cs typeface="Verdana" charset="0"/>
                  </a:rPr>
                  <a:t>Josue and Abby marked the figure in different ways given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𝑂𝑊</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𝑇𝑊</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𝑂𝐵</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𝑇𝑌</m:t>
                        </m:r>
                      </m:e>
                    </m:acc>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𝑂𝐵𝑊</m:t>
                    </m:r>
                    <m:r>
                      <a:rPr lang="en-US" sz="2000" i="1">
                        <a:latin typeface="Cambria Math" charset="0"/>
                        <a:ea typeface="Verdana" charset="0"/>
                        <a:cs typeface="Verdana" charset="0"/>
                      </a:rPr>
                      <m:t>≅∠</m:t>
                    </m:r>
                    <m:r>
                      <a:rPr lang="en-US" sz="2000" i="1">
                        <a:latin typeface="Cambria Math" charset="0"/>
                        <a:ea typeface="Verdana" charset="0"/>
                        <a:cs typeface="Verdana" charset="0"/>
                      </a:rPr>
                      <m:t>𝑇𝑌𝑊</m:t>
                    </m:r>
                  </m:oMath>
                </a14:m>
                <a:r>
                  <a:rPr lang="en-US" sz="2000" dirty="0">
                    <a:latin typeface="Verdana" charset="0"/>
                    <a:ea typeface="Verdana" charset="0"/>
                    <a:cs typeface="Verdana" charset="0"/>
                  </a:rPr>
                  <a:t> as shown.</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Discuss with your partner what you notice about how Josue and Abby each marked the figure.</a:t>
                </a:r>
              </a:p>
              <a:p>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57200" y="520393"/>
                <a:ext cx="11484429" cy="5325240"/>
              </a:xfrm>
              <a:prstGeom prst="rect">
                <a:avLst/>
              </a:prstGeom>
              <a:blipFill>
                <a:blip r:embed="rId4"/>
                <a:stretch>
                  <a:fillRect l="-552" t="-475"/>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078883" y="1794934"/>
            <a:ext cx="6035745" cy="2370666"/>
          </a:xfrm>
          <a:prstGeom prst="rect">
            <a:avLst/>
          </a:prstGeom>
        </p:spPr>
      </p:pic>
    </p:spTree>
    <p:extLst>
      <p:ext uri="{BB962C8B-B14F-4D97-AF65-F5344CB8AC3E}">
        <p14:creationId xmlns:p14="http://schemas.microsoft.com/office/powerpoint/2010/main" val="1841022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3583"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4567"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9008072"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549928" y="520393"/>
                <a:ext cx="11359043" cy="5324535"/>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Complete the table to describe similarities and differences in the way each student marked the figure.</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Josue wondered if there was enough information given to conclude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𝑂𝑊𝐵</m:t>
                    </m:r>
                    <m:r>
                      <a:rPr lang="en-US" sz="2000" i="1">
                        <a:latin typeface="Cambria Math" charset="0"/>
                        <a:ea typeface="Verdana" charset="0"/>
                        <a:cs typeface="Verdana" charset="0"/>
                      </a:rPr>
                      <m:t>≅∆</m:t>
                    </m:r>
                    <m:r>
                      <a:rPr lang="en-US" sz="2000" i="1">
                        <a:latin typeface="Cambria Math" charset="0"/>
                        <a:ea typeface="Verdana" charset="0"/>
                        <a:cs typeface="Verdana" charset="0"/>
                      </a:rPr>
                      <m:t>𝑇𝑊𝑌</m:t>
                    </m:r>
                  </m:oMath>
                </a14:m>
                <a:r>
                  <a:rPr lang="en-US" sz="2000" dirty="0">
                    <a:latin typeface="Verdana" charset="0"/>
                    <a:ea typeface="Verdana" charset="0"/>
                    <a:cs typeface="Verdana" charset="0"/>
                  </a:rPr>
                  <a:t>. Work with your partner to explain whether there is enough information to conclude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𝑂𝑊𝐵</m:t>
                    </m:r>
                    <m:r>
                      <a:rPr lang="en-US" sz="2000" i="1">
                        <a:latin typeface="Cambria Math" charset="0"/>
                        <a:ea typeface="Verdana" charset="0"/>
                        <a:cs typeface="Verdana" charset="0"/>
                      </a:rPr>
                      <m:t>≅∆</m:t>
                    </m:r>
                    <m:r>
                      <a:rPr lang="en-US" sz="2000" i="1">
                        <a:latin typeface="Cambria Math" charset="0"/>
                        <a:ea typeface="Verdana" charset="0"/>
                        <a:cs typeface="Verdana" charset="0"/>
                      </a:rPr>
                      <m:t>𝑇𝑊𝑌</m:t>
                    </m:r>
                  </m:oMath>
                </a14:m>
                <a:r>
                  <a:rPr lang="en-US" sz="2000" dirty="0">
                    <a:latin typeface="Verdana" charset="0"/>
                    <a:ea typeface="Verdana" charset="0"/>
                    <a:cs typeface="Verdana" charset="0"/>
                  </a:rPr>
                  <a:t>.</a:t>
                </a:r>
              </a:p>
              <a:p>
                <a:pPr marL="457200" indent="-457200">
                  <a:buFont typeface="+mj-lt"/>
                  <a:buAutoNum type="alphaLcPeriod" startAt="2"/>
                </a:pPr>
                <a:r>
                  <a:rPr lang="en-US" sz="2000" dirty="0">
                    <a:latin typeface="Verdana" charset="0"/>
                    <a:ea typeface="Verdana" charset="0"/>
                    <a:cs typeface="Verdana" charset="0"/>
                  </a:rPr>
                  <a:t>Abby said she does not think there is enough given information to conclude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𝑂𝑊𝐵</m:t>
                    </m:r>
                    <m:r>
                      <a:rPr lang="en-US" sz="2000" i="1">
                        <a:latin typeface="Cambria Math" charset="0"/>
                        <a:ea typeface="Verdana" charset="0"/>
                        <a:cs typeface="Verdana" charset="0"/>
                      </a:rPr>
                      <m:t>≅∆</m:t>
                    </m:r>
                    <m:r>
                      <a:rPr lang="en-US" sz="2000" i="1">
                        <a:latin typeface="Cambria Math" charset="0"/>
                        <a:ea typeface="Verdana" charset="0"/>
                        <a:cs typeface="Verdana" charset="0"/>
                      </a:rPr>
                      <m:t>𝑇𝑊𝑌</m:t>
                    </m:r>
                  </m:oMath>
                </a14:m>
                <a:r>
                  <a:rPr lang="en-US" sz="2000" dirty="0">
                    <a:latin typeface="Verdana" charset="0"/>
                    <a:ea typeface="Verdana" charset="0"/>
                    <a:cs typeface="Verdana" charset="0"/>
                  </a:rPr>
                  <a:t>, but she said there is enough information to conclude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𝑂𝑊𝐵</m:t>
                    </m:r>
                    <m:r>
                      <a:rPr lang="en-US" sz="2000" i="1">
                        <a:latin typeface="Cambria Math" charset="0"/>
                        <a:ea typeface="Verdana" charset="0"/>
                        <a:cs typeface="Verdana" charset="0"/>
                      </a:rPr>
                      <m:t>≅∠</m:t>
                    </m:r>
                    <m:r>
                      <a:rPr lang="en-US" sz="2000" i="1">
                        <a:latin typeface="Cambria Math" charset="0"/>
                        <a:ea typeface="Verdana" charset="0"/>
                        <a:cs typeface="Verdana" charset="0"/>
                      </a:rPr>
                      <m:t>𝑇𝑊𝑌</m:t>
                    </m:r>
                  </m:oMath>
                </a14:m>
                <a:r>
                  <a:rPr lang="en-US" sz="2000" dirty="0">
                    <a:latin typeface="Verdana" charset="0"/>
                    <a:ea typeface="Verdana" charset="0"/>
                    <a:cs typeface="Verdana" charset="0"/>
                  </a:rPr>
                  <a:t>. What definition is Abby using to draw this conclusion?</a:t>
                </a:r>
              </a:p>
              <a:p>
                <a:pPr marL="457200" indent="-457200">
                  <a:buFont typeface="+mj-lt"/>
                  <a:buAutoNum type="alphaLcPeriod" startAt="2"/>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9928" y="520393"/>
                <a:ext cx="11359043" cy="5324535"/>
              </a:xfrm>
              <a:prstGeom prst="rect">
                <a:avLst/>
              </a:prstGeom>
              <a:blipFill>
                <a:blip r:embed="rId4"/>
                <a:stretch>
                  <a:fillRect l="-559" t="-475" r="-3799"/>
                </a:stretch>
              </a:blipFill>
            </p:spPr>
            <p:txBody>
              <a:bodyPr/>
              <a:lstStyle/>
              <a:p>
                <a:r>
                  <a:rPr lang="en-US">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1528833962"/>
              </p:ext>
            </p:extLst>
          </p:nvPr>
        </p:nvGraphicFramePr>
        <p:xfrm>
          <a:off x="2812818" y="1409779"/>
          <a:ext cx="6717030" cy="2015046"/>
        </p:xfrm>
        <a:graphic>
          <a:graphicData uri="http://schemas.openxmlformats.org/drawingml/2006/table">
            <a:tbl>
              <a:tblPr firstRow="1" firstCol="1" bandRow="1"/>
              <a:tblGrid>
                <a:gridCol w="3358515">
                  <a:extLst>
                    <a:ext uri="{9D8B030D-6E8A-4147-A177-3AD203B41FA5}">
                      <a16:colId xmlns:a16="http://schemas.microsoft.com/office/drawing/2014/main" xmlns="" val="20000"/>
                    </a:ext>
                  </a:extLst>
                </a:gridCol>
                <a:gridCol w="3358515">
                  <a:extLst>
                    <a:ext uri="{9D8B030D-6E8A-4147-A177-3AD203B41FA5}">
                      <a16:colId xmlns:a16="http://schemas.microsoft.com/office/drawing/2014/main" xmlns="" val="20001"/>
                    </a:ext>
                  </a:extLst>
                </a:gridCol>
              </a:tblGrid>
              <a:tr h="411448">
                <a:tc>
                  <a:txBody>
                    <a:bodyPr/>
                    <a:lstStyle/>
                    <a:p>
                      <a:pPr marL="0" marR="0" algn="ctr">
                        <a:spcBef>
                          <a:spcPts val="0"/>
                        </a:spcBef>
                        <a:spcAft>
                          <a:spcPts val="0"/>
                        </a:spcAft>
                      </a:pPr>
                      <a:r>
                        <a:rPr lang="en-US" sz="1800" b="1">
                          <a:effectLst/>
                          <a:latin typeface="Verdana" charset="0"/>
                          <a:ea typeface="Times New Roman" charset="0"/>
                          <a:cs typeface="Times New Roman" charset="0"/>
                        </a:rPr>
                        <a:t>How were their markings similar?</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How were their markings different?</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1466406">
                <a:tc>
                  <a:txBody>
                    <a:bodyPr/>
                    <a:lstStyle/>
                    <a:p>
                      <a:pPr marL="91440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88102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391886" y="520393"/>
                <a:ext cx="11236264" cy="1323439"/>
              </a:xfrm>
              <a:prstGeom prst="rect">
                <a:avLst/>
              </a:prstGeom>
              <a:noFill/>
            </p:spPr>
            <p:txBody>
              <a:bodyPr wrap="square" rtlCol="0">
                <a:spAutoFit/>
              </a:bodyPr>
              <a:lstStyle/>
              <a:p>
                <a:pPr marL="457200" indent="-457200">
                  <a:buFont typeface="+mj-lt"/>
                  <a:buAutoNum type="alphaLcPeriod" startAt="5"/>
                </a:pPr>
                <a:r>
                  <a:rPr lang="en-US" sz="2000" dirty="0">
                    <a:latin typeface="Verdana" charset="0"/>
                    <a:ea typeface="Verdana" charset="0"/>
                    <a:cs typeface="Verdana" charset="0"/>
                  </a:rPr>
                  <a:t>Add markings to Abby’s figure to represent her conclusion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𝑂𝑊𝐵</m:t>
                    </m:r>
                    <m:r>
                      <a:rPr lang="en-US" sz="2000" i="1">
                        <a:latin typeface="Cambria Math" charset="0"/>
                        <a:ea typeface="Verdana" charset="0"/>
                        <a:cs typeface="Verdana" charset="0"/>
                      </a:rPr>
                      <m:t>≅∠</m:t>
                    </m:r>
                    <m:r>
                      <a:rPr lang="en-US" sz="2000" i="1">
                        <a:latin typeface="Cambria Math" charset="0"/>
                        <a:ea typeface="Verdana" charset="0"/>
                        <a:cs typeface="Verdana" charset="0"/>
                      </a:rPr>
                      <m:t>𝑇𝑊𝑌</m:t>
                    </m:r>
                  </m:oMath>
                </a14:m>
                <a:r>
                  <a:rPr lang="en-US" sz="2000" dirty="0">
                    <a:latin typeface="Verdana" charset="0"/>
                    <a:ea typeface="Verdana" charset="0"/>
                    <a:cs typeface="Verdana" charset="0"/>
                  </a:rPr>
                  <a:t>.</a:t>
                </a:r>
              </a:p>
              <a:p>
                <a:pPr marL="457200" indent="-457200">
                  <a:buFont typeface="+mj-lt"/>
                  <a:buAutoNum type="alphaLcPeriod" startAt="5"/>
                </a:pPr>
                <a:endParaRPr lang="en-US" sz="2000" dirty="0">
                  <a:latin typeface="Verdana" charset="0"/>
                  <a:ea typeface="Verdana" charset="0"/>
                  <a:cs typeface="Verdana" charset="0"/>
                </a:endParaRPr>
              </a:p>
              <a:p>
                <a:pPr marL="457200" indent="-457200">
                  <a:buFont typeface="+mj-lt"/>
                  <a:buAutoNum type="alphaLcPeriod" startAt="5"/>
                </a:pPr>
                <a:r>
                  <a:rPr lang="en-US" sz="2000" dirty="0">
                    <a:latin typeface="Verdana" charset="0"/>
                    <a:ea typeface="Verdana" charset="0"/>
                    <a:cs typeface="Verdana" charset="0"/>
                  </a:rPr>
                  <a:t>Work with your partner to explain whether there is now enough information to conclude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𝑂𝑊𝐵</m:t>
                    </m:r>
                    <m:r>
                      <a:rPr lang="en-US" sz="2000" i="1">
                        <a:latin typeface="Cambria Math" charset="0"/>
                        <a:ea typeface="Verdana" charset="0"/>
                        <a:cs typeface="Verdana" charset="0"/>
                      </a:rPr>
                      <m:t>≅∆</m:t>
                    </m:r>
                    <m:r>
                      <a:rPr lang="en-US" sz="2000" i="1">
                        <a:latin typeface="Cambria Math" charset="0"/>
                        <a:ea typeface="Verdana" charset="0"/>
                        <a:cs typeface="Verdana" charset="0"/>
                      </a:rPr>
                      <m:t>𝑇𝑊𝑌</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91886" y="520393"/>
                <a:ext cx="11236264" cy="1323439"/>
              </a:xfrm>
              <a:prstGeom prst="rect">
                <a:avLst/>
              </a:prstGeom>
              <a:blipFill>
                <a:blip r:embed="rId4"/>
                <a:stretch>
                  <a:fillRect l="-564" t="-1905" b="-7619"/>
                </a:stretch>
              </a:blipFill>
            </p:spPr>
            <p:txBody>
              <a:bodyPr/>
              <a:lstStyle/>
              <a:p>
                <a:r>
                  <a:rPr lang="en-US">
                    <a:noFill/>
                  </a:rPr>
                  <a:t> </a:t>
                </a:r>
              </a:p>
            </p:txBody>
          </p:sp>
        </mc:Fallback>
      </mc:AlternateContent>
    </p:spTree>
    <p:extLst>
      <p:ext uri="{BB962C8B-B14F-4D97-AF65-F5344CB8AC3E}">
        <p14:creationId xmlns:p14="http://schemas.microsoft.com/office/powerpoint/2010/main" val="706559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9543"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780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94150" y="644488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248</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430335" y="459066"/>
                <a:ext cx="11197815" cy="5017464"/>
              </a:xfrm>
              <a:prstGeom prst="rect">
                <a:avLst/>
              </a:prstGeom>
              <a:noFill/>
            </p:spPr>
            <p:txBody>
              <a:bodyPr wrap="square" rtlCol="0">
                <a:spAutoFit/>
              </a:bodyPr>
              <a:lstStyle/>
              <a:p>
                <a:pPr marL="457200" indent="-457200">
                  <a:buFont typeface="+mj-lt"/>
                  <a:buAutoNum type="arabicPeriod" startAt="2"/>
                </a:pPr>
                <a:r>
                  <a:rPr lang="x-none" altLang="x-none" sz="2000" dirty="0">
                    <a:solidFill>
                      <a:schemeClr val="tx1"/>
                    </a:solidFill>
                    <a:latin typeface="Verdana" charset="0"/>
                    <a:ea typeface="Verdana" charset="0"/>
                    <a:cs typeface="Verdana" charset="0"/>
                  </a:rPr>
                  <a:t>Mark polygon </a:t>
                </a:r>
                <a:r>
                  <a:rPr lang="x-none" altLang="x-none" sz="2000" i="1" dirty="0">
                    <a:solidFill>
                      <a:schemeClr val="tx1"/>
                    </a:solidFill>
                    <a:latin typeface="Verdana" charset="0"/>
                    <a:ea typeface="Verdana" charset="0"/>
                    <a:cs typeface="Verdana" charset="0"/>
                  </a:rPr>
                  <a:t>KQEM</a:t>
                </a:r>
                <a:r>
                  <a:rPr lang="x-none" altLang="x-none" sz="2000" dirty="0">
                    <a:solidFill>
                      <a:schemeClr val="tx1"/>
                    </a:solidFill>
                    <a:latin typeface="Verdana" charset="0"/>
                    <a:ea typeface="Verdana" charset="0"/>
                    <a:cs typeface="Verdana" charset="0"/>
                  </a:rPr>
                  <a:t> using the given information.</a:t>
                </a:r>
                <a:r>
                  <a:rPr lang="en-US" altLang="x-none" sz="2000" dirty="0">
                    <a:solidFill>
                      <a:schemeClr val="tx1"/>
                    </a:solidFill>
                    <a:latin typeface="Verdana" charset="0"/>
                    <a:ea typeface="Verdana" charset="0"/>
                    <a:cs typeface="Verdana" charset="0"/>
                  </a:rPr>
                  <a: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𝐸𝑄</m:t>
                        </m:r>
                      </m:e>
                    </m:acc>
                    <m:r>
                      <a:rPr lang="en-US" sz="2000" i="1">
                        <a:latin typeface="Cambria Math" panose="02040503050406030204" pitchFamily="18"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𝐸𝑀</m:t>
                        </m:r>
                      </m:e>
                    </m:acc>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𝐾𝐸𝑄</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𝐾𝐸𝑀</m:t>
                    </m:r>
                  </m:oMath>
                </a14:m>
                <a:endParaRPr lang="en-US" sz="2000" dirty="0">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x-none"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r>
                  <a:rPr lang="x-none" altLang="x-none" sz="2000" dirty="0">
                    <a:solidFill>
                      <a:schemeClr val="tx1"/>
                    </a:solidFill>
                    <a:latin typeface="Verdana" charset="0"/>
                    <a:ea typeface="Verdana" charset="0"/>
                    <a:cs typeface="Verdana" charset="0"/>
                  </a:rPr>
                  <a:t>Compare your markings with your partner. Make any corrections if necessary.</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430335" y="459066"/>
                <a:ext cx="11197815" cy="5017464"/>
              </a:xfrm>
              <a:prstGeom prst="rect">
                <a:avLst/>
              </a:prstGeom>
              <a:blipFill rotWithShape="0">
                <a:blip r:embed="rId4"/>
                <a:stretch>
                  <a:fillRect l="-599" t="-729" b="-1337"/>
                </a:stretch>
              </a:blipFill>
            </p:spPr>
            <p:txBody>
              <a:bodyPr/>
              <a:lstStyle/>
              <a:p>
                <a:r>
                  <a:rPr lang="en-US">
                    <a:noFill/>
                  </a:rPr>
                  <a:t> </a:t>
                </a:r>
              </a:p>
            </p:txBody>
          </p:sp>
        </mc:Fallback>
      </mc:AlternateContent>
      <p:pic>
        <p:nvPicPr>
          <p:cNvPr id="2049" name="Picture 60" descr="Shape, polygon&#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267200" y="1144990"/>
            <a:ext cx="3657600" cy="359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464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249</a:t>
            </a:r>
          </a:p>
        </p:txBody>
      </p:sp>
    </p:spTree>
    <p:extLst>
      <p:ext uri="{BB962C8B-B14F-4D97-AF65-F5344CB8AC3E}">
        <p14:creationId xmlns:p14="http://schemas.microsoft.com/office/powerpoint/2010/main" val="745197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798" y="-967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5.5.3 Guided Instruction: Drawing Conclusions </a:t>
            </a:r>
            <a:r>
              <a:rPr lang="en-US" sz="2800" b="1" dirty="0" smtClean="0">
                <a:solidFill>
                  <a:srgbClr val="54B5D1"/>
                </a:solidFill>
                <a:latin typeface="Verdana"/>
                <a:ea typeface="Verdana"/>
                <a:cs typeface="Verdana"/>
                <a:sym typeface="Verdana"/>
              </a:rPr>
              <a:t>From </a:t>
            </a:r>
            <a:r>
              <a:rPr lang="en-US" sz="2800" b="1" dirty="0">
                <a:solidFill>
                  <a:srgbClr val="54B5D1"/>
                </a:solidFill>
                <a:latin typeface="Verdana"/>
                <a:ea typeface="Verdana"/>
                <a:cs typeface="Verdana"/>
                <a:sym typeface="Verdana"/>
              </a:rPr>
              <a:t>Given Information</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59498" y="203221"/>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994150" y="646649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249</a:t>
            </a:r>
          </a:p>
        </p:txBody>
      </p:sp>
      <p:sp>
        <p:nvSpPr>
          <p:cNvPr id="13" name="TextBox 12">
            <a:extLst>
              <a:ext uri="{FF2B5EF4-FFF2-40B4-BE49-F238E27FC236}">
                <a16:creationId xmlns:a16="http://schemas.microsoft.com/office/drawing/2014/main" xmlns="" id="{C01B13E8-EC8D-E443-A329-C5E3593DD13A}"/>
              </a:ext>
            </a:extLst>
          </p:cNvPr>
          <p:cNvSpPr txBox="1"/>
          <p:nvPr/>
        </p:nvSpPr>
        <p:spPr>
          <a:xfrm>
            <a:off x="359498" y="1386025"/>
            <a:ext cx="11593016" cy="1631216"/>
          </a:xfrm>
          <a:prstGeom prst="rect">
            <a:avLst/>
          </a:prstGeom>
          <a:noFill/>
        </p:spPr>
        <p:txBody>
          <a:bodyPr wrap="square" rtlCol="0">
            <a:spAutoFit/>
          </a:bodyPr>
          <a:lstStyle/>
          <a:p>
            <a:r>
              <a:rPr lang="en-US" sz="2000" dirty="0">
                <a:latin typeface="Verdana" charset="0"/>
                <a:ea typeface="Verdana" charset="0"/>
                <a:cs typeface="Verdana" charset="0"/>
              </a:rPr>
              <a:t>Given information, definitions, properties, postulates, and theorems can be used to draw conclusions about figures.</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What are some definitions, properties, postulates, and theorems related to triangles and angles learned so far this year?</a:t>
            </a:r>
          </a:p>
        </p:txBody>
      </p:sp>
      <p:graphicFrame>
        <p:nvGraphicFramePr>
          <p:cNvPr id="2" name="Table 1"/>
          <p:cNvGraphicFramePr>
            <a:graphicFrameLocks noGrp="1"/>
          </p:cNvGraphicFramePr>
          <p:nvPr>
            <p:extLst>
              <p:ext uri="{D42A27DB-BD31-4B8C-83A1-F6EECF244321}">
                <p14:modId xmlns:p14="http://schemas.microsoft.com/office/powerpoint/2010/main" val="1531651796"/>
              </p:ext>
            </p:extLst>
          </p:nvPr>
        </p:nvGraphicFramePr>
        <p:xfrm>
          <a:off x="2737697" y="3632922"/>
          <a:ext cx="6682740" cy="2607629"/>
        </p:xfrm>
        <a:graphic>
          <a:graphicData uri="http://schemas.openxmlformats.org/drawingml/2006/table">
            <a:tbl>
              <a:tblPr firstRow="1" firstCol="1" bandRow="1"/>
              <a:tblGrid>
                <a:gridCol w="1922145">
                  <a:extLst>
                    <a:ext uri="{9D8B030D-6E8A-4147-A177-3AD203B41FA5}">
                      <a16:colId xmlns:a16="http://schemas.microsoft.com/office/drawing/2014/main" xmlns="" val="20000"/>
                    </a:ext>
                  </a:extLst>
                </a:gridCol>
                <a:gridCol w="4760595">
                  <a:extLst>
                    <a:ext uri="{9D8B030D-6E8A-4147-A177-3AD203B41FA5}">
                      <a16:colId xmlns:a16="http://schemas.microsoft.com/office/drawing/2014/main" xmlns="" val="20001"/>
                    </a:ext>
                  </a:extLst>
                </a:gridCol>
              </a:tblGrid>
              <a:tr h="682879">
                <a:tc>
                  <a:txBody>
                    <a:bodyPr/>
                    <a:lstStyle/>
                    <a:p>
                      <a:pPr marL="0" marR="0" algn="ctr">
                        <a:spcBef>
                          <a:spcPts val="0"/>
                        </a:spcBef>
                        <a:spcAft>
                          <a:spcPts val="0"/>
                        </a:spcAft>
                      </a:pPr>
                      <a:r>
                        <a:rPr lang="en-US" sz="1800" b="1">
                          <a:effectLst/>
                          <a:latin typeface="Verdana" charset="0"/>
                          <a:ea typeface="Times New Roman" charset="0"/>
                          <a:cs typeface="Times New Roman" charset="0"/>
                        </a:rPr>
                        <a:t>Definitions</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682879">
                <a:tc>
                  <a:txBody>
                    <a:bodyPr/>
                    <a:lstStyle/>
                    <a:p>
                      <a:pPr marL="0" marR="0" algn="ctr">
                        <a:spcBef>
                          <a:spcPts val="0"/>
                        </a:spcBef>
                        <a:spcAft>
                          <a:spcPts val="0"/>
                        </a:spcAft>
                      </a:pPr>
                      <a:r>
                        <a:rPr lang="en-US" sz="1800" b="1">
                          <a:effectLst/>
                          <a:latin typeface="Verdana" charset="0"/>
                          <a:ea typeface="Times New Roman" charset="0"/>
                          <a:cs typeface="Times New Roman" charset="0"/>
                        </a:rPr>
                        <a:t>Properties</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241871">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Theorems and Postulates</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717048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249</a:t>
            </a:r>
          </a:p>
        </p:txBody>
      </p:sp>
      <p:sp>
        <p:nvSpPr>
          <p:cNvPr id="2" name="Rectangle 2"/>
          <p:cNvSpPr>
            <a:spLocks noChangeArrowheads="1"/>
          </p:cNvSpPr>
          <p:nvPr/>
        </p:nvSpPr>
        <p:spPr bwMode="auto">
          <a:xfrm>
            <a:off x="1896534" y="40695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097" name="Picture 61" descr="Shape, polygon&#10;&#10;Description automatically generated"/>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22909" y="2972375"/>
            <a:ext cx="3159125" cy="30972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ctangle 3"/>
              <p:cNvSpPr/>
              <p:nvPr/>
            </p:nvSpPr>
            <p:spPr>
              <a:xfrm>
                <a:off x="424543" y="337518"/>
                <a:ext cx="11125199" cy="2247475"/>
              </a:xfrm>
              <a:prstGeom prst="rect">
                <a:avLst/>
              </a:prstGeom>
            </p:spPr>
            <p:txBody>
              <a:bodyPr wrap="square">
                <a:spAutoFit/>
              </a:bodyPr>
              <a:lstStyle/>
              <a:p>
                <a:pPr lvl="0" eaLnBrk="0" fontAlgn="base" hangingPunct="0">
                  <a:spcBef>
                    <a:spcPct val="0"/>
                  </a:spcBef>
                  <a:spcAft>
                    <a:spcPct val="0"/>
                  </a:spcAft>
                  <a:buClrTx/>
                </a:pPr>
                <a:r>
                  <a:rPr lang="en-US" altLang="x-none" sz="2000" dirty="0">
                    <a:solidFill>
                      <a:schemeClr val="tx1"/>
                    </a:solidFill>
                    <a:latin typeface="Verdana" charset="0"/>
                    <a:ea typeface="Verdana" charset="0"/>
                    <a:cs typeface="Verdana" charset="0"/>
                  </a:rPr>
                  <a:t>P</a:t>
                </a:r>
                <a:r>
                  <a:rPr lang="en-US" sz="2000" dirty="0">
                    <a:latin typeface="Verdana" charset="0"/>
                    <a:ea typeface="Verdana" charset="0"/>
                    <a:cs typeface="Verdana" charset="0"/>
                  </a:rPr>
                  <a:t>olygon </a:t>
                </a:r>
                <a14:m>
                  <m:oMath xmlns:m="http://schemas.openxmlformats.org/officeDocument/2006/math">
                    <m:r>
                      <a:rPr lang="en-US" sz="2000" i="1">
                        <a:latin typeface="Cambria Math" panose="02040503050406030204" pitchFamily="18" charset="0"/>
                        <a:ea typeface="Verdana" charset="0"/>
                        <a:cs typeface="Verdana" charset="0"/>
                      </a:rPr>
                      <m:t>𝐾𝑄𝐸𝑀</m:t>
                    </m:r>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where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𝑄𝐾</m:t>
                        </m:r>
                      </m:e>
                    </m:acc>
                    <m:r>
                      <a:rPr lang="en-US" sz="2000" i="1">
                        <a:latin typeface="Cambria Math" panose="02040503050406030204" pitchFamily="18"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𝐾𝑀</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𝐸𝑄</m:t>
                        </m:r>
                      </m:e>
                    </m:acc>
                    <m:r>
                      <a:rPr lang="en-US" sz="2000" i="1">
                        <a:latin typeface="Cambria Math" panose="02040503050406030204" pitchFamily="18"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𝐸𝑀</m:t>
                        </m:r>
                      </m:e>
                    </m:acc>
                    <m:r>
                      <a:rPr lang="en-US" sz="2000" i="1">
                        <a:latin typeface="Cambria Math" panose="02040503050406030204" pitchFamily="18" charset="0"/>
                        <a:ea typeface="Verdana" charset="0"/>
                        <a:cs typeface="Verdana" charset="0"/>
                      </a:rPr>
                      <m:t>,</m:t>
                    </m:r>
                  </m:oMath>
                </a14:m>
                <a:r>
                  <a:rPr lang="en-US" sz="2000" dirty="0">
                    <a:latin typeface="Verdana" charset="0"/>
                    <a:ea typeface="Verdana" charset="0"/>
                    <a:cs typeface="Verdana" charset="0"/>
                  </a:rPr>
                  <a:t> is shown.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panose="02040503050406030204" pitchFamily="18" charset="0"/>
                            <a:ea typeface="Verdana" charset="0"/>
                            <a:cs typeface="Verdana" charset="0"/>
                          </a:rPr>
                          <m:t>𝐾𝐸</m:t>
                        </m:r>
                      </m:e>
                    </m:acc>
                  </m:oMath>
                </a14:m>
                <a:r>
                  <a:rPr lang="en-US" sz="2000" dirty="0">
                    <a:latin typeface="Verdana" charset="0"/>
                    <a:ea typeface="Verdana" charset="0"/>
                    <a:cs typeface="Verdana" charset="0"/>
                  </a:rPr>
                  <a:t> is drawn inside polygon </a:t>
                </a:r>
                <a14:m>
                  <m:oMath xmlns:m="http://schemas.openxmlformats.org/officeDocument/2006/math">
                    <m:r>
                      <a:rPr lang="en-US" sz="2000" i="1">
                        <a:latin typeface="Cambria Math" panose="02040503050406030204" pitchFamily="18" charset="0"/>
                        <a:ea typeface="Verdana" charset="0"/>
                        <a:cs typeface="Verdana" charset="0"/>
                      </a:rPr>
                      <m:t>𝐾𝑄𝐸𝑀</m:t>
                    </m:r>
                  </m:oMath>
                </a14:m>
                <a:r>
                  <a:rPr lang="en-US" sz="2000" dirty="0">
                    <a:latin typeface="Verdana" charset="0"/>
                    <a:ea typeface="Verdana" charset="0"/>
                    <a:cs typeface="Verdana" charset="0"/>
                  </a:rPr>
                  <a:t>. </a:t>
                </a:r>
                <a:endParaRPr lang="en-US" altLang="x-none" sz="2000" dirty="0">
                  <a:solidFill>
                    <a:schemeClr val="tx1"/>
                  </a:solidFill>
                  <a:latin typeface="Verdana" charset="0"/>
                  <a:ea typeface="Verdana" charset="0"/>
                  <a:cs typeface="Verdana" charset="0"/>
                </a:endParaRPr>
              </a:p>
              <a:p>
                <a:pPr lvl="0" eaLnBrk="0" fontAlgn="base" hangingPunct="0">
                  <a:spcBef>
                    <a:spcPct val="0"/>
                  </a:spcBef>
                  <a:spcAft>
                    <a:spcPct val="0"/>
                  </a:spcAft>
                  <a:buClrTx/>
                </a:pPr>
                <a:endParaRPr lang="x-none"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r>
                  <a:rPr lang="x-none" altLang="x-none" sz="2000" dirty="0">
                    <a:solidFill>
                      <a:schemeClr val="tx1"/>
                    </a:solidFill>
                    <a:latin typeface="Verdana" charset="0"/>
                    <a:ea typeface="Verdana" charset="0"/>
                    <a:cs typeface="Verdana" charset="0"/>
                  </a:rPr>
                  <a:t>Mark the figure using the given information.</a:t>
                </a:r>
                <a:endParaRPr lang="en-US"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endParaRPr lang="x-none" altLang="x-none" sz="2000" dirty="0">
                  <a:solidFill>
                    <a:schemeClr val="tx1"/>
                  </a:solidFill>
                  <a:latin typeface="Verdana" charset="0"/>
                  <a:ea typeface="Verdana" charset="0"/>
                  <a:cs typeface="Verdana" charset="0"/>
                </a:endParaRPr>
              </a:p>
              <a:p>
                <a:pPr marL="457200" indent="-457200" eaLnBrk="0" fontAlgn="base" hangingPunct="0">
                  <a:spcBef>
                    <a:spcPct val="0"/>
                  </a:spcBef>
                  <a:spcAft>
                    <a:spcPct val="0"/>
                  </a:spcAft>
                  <a:buClrTx/>
                  <a:buFont typeface="+mj-lt"/>
                  <a:buAutoNum type="arabicPeriod" startAt="2"/>
                </a:pPr>
                <a:r>
                  <a:rPr lang="x-none" altLang="x-none" sz="2000" dirty="0">
                    <a:solidFill>
                      <a:schemeClr val="tx1"/>
                    </a:solidFill>
                    <a:latin typeface="Verdana" charset="0"/>
                    <a:ea typeface="Verdana" charset="0"/>
                    <a:cs typeface="Verdana" charset="0"/>
                  </a:rPr>
                  <a:t>Discuss any conclusions that can be drawn about the figure with the information given.</a:t>
                </a:r>
              </a:p>
            </p:txBody>
          </p:sp>
        </mc:Choice>
        <mc:Fallback xmlns="">
          <p:sp>
            <p:nvSpPr>
              <p:cNvPr id="4" name="Rectangle 3"/>
              <p:cNvSpPr>
                <a:spLocks noRot="1" noChangeAspect="1" noMove="1" noResize="1" noEditPoints="1" noAdjustHandles="1" noChangeArrowheads="1" noChangeShapeType="1" noTextEdit="1"/>
              </p:cNvSpPr>
              <p:nvPr/>
            </p:nvSpPr>
            <p:spPr>
              <a:xfrm>
                <a:off x="424543" y="337518"/>
                <a:ext cx="11125199" cy="2247475"/>
              </a:xfrm>
              <a:prstGeom prst="rect">
                <a:avLst/>
              </a:prstGeom>
              <a:blipFill>
                <a:blip r:embed="rId5"/>
                <a:stretch>
                  <a:fillRect l="-570" t="-1124" b="-3933"/>
                </a:stretch>
              </a:blipFill>
            </p:spPr>
            <p:txBody>
              <a:bodyPr/>
              <a:lstStyle/>
              <a:p>
                <a:r>
                  <a:rPr lang="en-US">
                    <a:noFill/>
                  </a:rPr>
                  <a:t> </a:t>
                </a:r>
              </a:p>
            </p:txBody>
          </p:sp>
        </mc:Fallback>
      </mc:AlternateContent>
    </p:spTree>
    <p:extLst>
      <p:ext uri="{BB962C8B-B14F-4D97-AF65-F5344CB8AC3E}">
        <p14:creationId xmlns:p14="http://schemas.microsoft.com/office/powerpoint/2010/main" val="306280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14"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3232"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89232"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249</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370114" y="520394"/>
                <a:ext cx="11527971" cy="5016758"/>
              </a:xfrm>
              <a:prstGeom prst="rect">
                <a:avLst/>
              </a:prstGeom>
              <a:noFill/>
            </p:spPr>
            <p:txBody>
              <a:bodyPr wrap="square" rtlCol="0">
                <a:spAutoFit/>
              </a:bodyPr>
              <a:lstStyle/>
              <a:p>
                <a:r>
                  <a:rPr lang="en-US" sz="2000" dirty="0">
                    <a:latin typeface="Verdana" charset="0"/>
                    <a:ea typeface="Verdana" charset="0"/>
                    <a:cs typeface="Verdana" charset="0"/>
                  </a:rPr>
                  <a:t>Using the given information, Hilary concludes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𝑄𝐸𝐾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𝑀𝐸𝐾</m:t>
                    </m:r>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pPr marL="457200" indent="-457200">
                  <a:buFont typeface="+mj-lt"/>
                  <a:buAutoNum type="arabicPeriod" startAt="4"/>
                </a:pPr>
                <a:r>
                  <a:rPr lang="en-US" sz="2000" dirty="0">
                    <a:latin typeface="Verdana" charset="0"/>
                    <a:ea typeface="Verdana" charset="0"/>
                    <a:cs typeface="Verdana" charset="0"/>
                  </a:rPr>
                  <a:t>Complete the statement to explain how Hilary is able to draw this conclusion.</a:t>
                </a:r>
              </a:p>
              <a:p>
                <a:pPr marL="457200" indent="-457200">
                  <a:buFont typeface="+mj-lt"/>
                  <a:buAutoNum type="arabicPeriod" startAt="4"/>
                </a:pPr>
                <a:endParaRPr lang="en-US" sz="2000" dirty="0">
                  <a:latin typeface="Verdana" charset="0"/>
                  <a:ea typeface="Verdana" charset="0"/>
                  <a:cs typeface="Verdana" charset="0"/>
                </a:endParaRPr>
              </a:p>
              <a:p>
                <a:pPr lvl="0"/>
                <a:r>
                  <a:rPr lang="en-US" sz="2000" dirty="0">
                    <a:latin typeface="Verdana" charset="0"/>
                    <a:ea typeface="Verdana" charset="0"/>
                    <a:cs typeface="Verdana" charset="0"/>
                  </a:rPr>
                  <a:t>Hillary noticed             corresponding</a:t>
                </a:r>
              </a:p>
              <a:p>
                <a:pPr lvl="0"/>
                <a:endParaRPr lang="en-US" sz="2000" dirty="0">
                  <a:latin typeface="Verdana" charset="0"/>
                  <a:ea typeface="Verdana" charset="0"/>
                  <a:cs typeface="Verdana" charset="0"/>
                </a:endParaRPr>
              </a:p>
              <a:p>
                <a:pPr lvl="0"/>
                <a:r>
                  <a:rPr lang="en-US" sz="2000" dirty="0">
                    <a:latin typeface="Verdana" charset="0"/>
                    <a:ea typeface="Verdana" charset="0"/>
                    <a:cs typeface="Verdana" charset="0"/>
                  </a:rPr>
                  <a:t>of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𝑄𝐸𝐾</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𝑀𝐸𝐾</m:t>
                    </m:r>
                  </m:oMath>
                </a14:m>
                <a:r>
                  <a:rPr lang="en-US" sz="2000" dirty="0">
                    <a:latin typeface="Verdana" charset="0"/>
                    <a:ea typeface="Verdana" charset="0"/>
                    <a:cs typeface="Verdana" charset="0"/>
                  </a:rPr>
                  <a:t> are congruent based on the given information. Both triangles also</a:t>
                </a:r>
              </a:p>
              <a:p>
                <a:pPr lvl="0"/>
                <a:r>
                  <a:rPr lang="en-US" sz="2000" dirty="0">
                    <a:latin typeface="Verdana" charset="0"/>
                    <a:ea typeface="Verdana" charset="0"/>
                    <a:cs typeface="Verdana" charset="0"/>
                  </a:rPr>
                  <a:t> </a:t>
                </a:r>
              </a:p>
              <a:p>
                <a:pPr lvl="0"/>
                <a:r>
                  <a:rPr lang="en-US" sz="2000" dirty="0">
                    <a:latin typeface="Verdana" charset="0"/>
                    <a:ea typeface="Verdana" charset="0"/>
                    <a:cs typeface="Verdana" charset="0"/>
                  </a:rPr>
                  <a:t>share a common</a:t>
                </a:r>
                <a:endParaRPr lang="en-US" sz="2000" b="1"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r>
                  <a:rPr lang="en-US" sz="2000" dirty="0">
                    <a:latin typeface="Verdana" charset="0"/>
                    <a:ea typeface="Verdana" charset="0"/>
                    <a:cs typeface="Verdana" charset="0"/>
                  </a:rPr>
                  <a:t>which is congruent to itself because of the</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r>
                  <a:rPr lang="en-US" sz="2000" dirty="0">
                    <a:latin typeface="Verdana" charset="0"/>
                    <a:ea typeface="Verdana" charset="0"/>
                    <a:cs typeface="Verdana" charset="0"/>
                  </a:rPr>
                  <a:t>Property. She can conclude </a:t>
                </a:r>
              </a:p>
              <a:p>
                <a:pPr lvl="0"/>
                <a:endParaRPr lang="en-US" sz="2000" dirty="0">
                  <a:latin typeface="Verdana" charset="0"/>
                  <a:ea typeface="Verdana" charset="0"/>
                  <a:cs typeface="Verdana" charset="0"/>
                </a:endParaRPr>
              </a:p>
              <a:p>
                <a:pPr lvl="0"/>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𝑄𝐸𝐾</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𝑀𝐸𝐾</m:t>
                    </m:r>
                  </m:oMath>
                </a14:m>
                <a:r>
                  <a:rPr lang="en-US" sz="2000" dirty="0">
                    <a:latin typeface="Verdana" charset="0"/>
                    <a:ea typeface="Verdana" charset="0"/>
                    <a:cs typeface="Verdana" charset="0"/>
                  </a:rPr>
                  <a:t> because of  </a:t>
                </a:r>
                <a:r>
                  <a:rPr lang="en-US" sz="2000" b="1" dirty="0">
                    <a:latin typeface="Verdana" charset="0"/>
                    <a:ea typeface="Verdana" charset="0"/>
                    <a:cs typeface="Verdana" charset="0"/>
                  </a:rPr>
                  <a:t> </a:t>
                </a: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70114" y="520394"/>
                <a:ext cx="11527971" cy="5016758"/>
              </a:xfrm>
              <a:prstGeom prst="rect">
                <a:avLst/>
              </a:prstGeom>
              <a:blipFill>
                <a:blip r:embed="rId4"/>
                <a:stretch>
                  <a:fillRect l="-551" t="-505" b="-1263"/>
                </a:stretch>
              </a:blipFill>
            </p:spPr>
            <p:txBody>
              <a:bodyPr/>
              <a:lstStyle/>
              <a:p>
                <a:r>
                  <a:rPr lang="en-US">
                    <a:noFill/>
                  </a:rPr>
                  <a:t> </a:t>
                </a:r>
              </a:p>
            </p:txBody>
          </p:sp>
        </mc:Fallback>
      </mc:AlternateContent>
      <p:pic>
        <p:nvPicPr>
          <p:cNvPr id="13" name="Picture 1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58797" y="1503621"/>
            <a:ext cx="1550604" cy="860267"/>
          </a:xfrm>
          <a:prstGeom prst="rect">
            <a:avLst/>
          </a:prstGeom>
        </p:spPr>
      </p:pic>
      <p:pic>
        <p:nvPicPr>
          <p:cNvPr id="15" name="Picture 14"/>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32385" y="2715770"/>
            <a:ext cx="1316925" cy="852763"/>
          </a:xfrm>
          <a:prstGeom prst="rect">
            <a:avLst/>
          </a:prstGeom>
        </p:spPr>
      </p:pic>
      <p:pic>
        <p:nvPicPr>
          <p:cNvPr id="16" name="Picture 15"/>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871688" y="3347115"/>
            <a:ext cx="1716763" cy="885719"/>
          </a:xfrm>
          <a:prstGeom prst="rect">
            <a:avLst/>
          </a:prstGeom>
        </p:spPr>
      </p:pic>
      <p:pic>
        <p:nvPicPr>
          <p:cNvPr id="17" name="Picture 16"/>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775139" y="4886964"/>
            <a:ext cx="1140607" cy="1570836"/>
          </a:xfrm>
          <a:prstGeom prst="rect">
            <a:avLst/>
          </a:prstGeom>
        </p:spPr>
      </p:pic>
      <p:pic>
        <p:nvPicPr>
          <p:cNvPr id="18" name="Picture 17"/>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506222" y="1463944"/>
            <a:ext cx="765260" cy="939623"/>
          </a:xfrm>
          <a:prstGeom prst="rect">
            <a:avLst/>
          </a:prstGeom>
        </p:spPr>
      </p:pic>
    </p:spTree>
    <p:extLst>
      <p:ext uri="{BB962C8B-B14F-4D97-AF65-F5344CB8AC3E}">
        <p14:creationId xmlns:p14="http://schemas.microsoft.com/office/powerpoint/2010/main" val="119508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40099"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9006099"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359229" y="520393"/>
                <a:ext cx="9975672" cy="400110"/>
              </a:xfrm>
              <a:prstGeom prst="rect">
                <a:avLst/>
              </a:prstGeom>
              <a:noFill/>
            </p:spPr>
            <p:txBody>
              <a:bodyPr wrap="square" rtlCol="0">
                <a:spAutoFit/>
              </a:bodyPr>
              <a:lstStyle/>
              <a:p>
                <a:pPr marL="457200" indent="-457200">
                  <a:buFont typeface="+mj-lt"/>
                  <a:buAutoNum type="arabicPeriod" startAt="5"/>
                </a:pPr>
                <a:r>
                  <a:rPr lang="en-US" sz="2000" dirty="0">
                    <a:latin typeface="Verdana" charset="0"/>
                    <a:ea typeface="Verdana" charset="0"/>
                    <a:cs typeface="Verdana" charset="0"/>
                  </a:rPr>
                  <a:t>Triangle </a:t>
                </a:r>
                <a14:m>
                  <m:oMath xmlns:m="http://schemas.openxmlformats.org/officeDocument/2006/math">
                    <m:r>
                      <a:rPr lang="en-US" sz="2000" i="1">
                        <a:latin typeface="Cambria Math" charset="0"/>
                        <a:ea typeface="Verdana" charset="0"/>
                        <a:cs typeface="Verdana" charset="0"/>
                      </a:rPr>
                      <m:t>𝐿𝑉𝑆</m:t>
                    </m:r>
                  </m:oMath>
                </a14:m>
                <a:r>
                  <a:rPr lang="en-US" sz="2000" dirty="0">
                    <a:latin typeface="Verdana" charset="0"/>
                    <a:ea typeface="Verdana" charset="0"/>
                    <a:cs typeface="Verdana" charset="0"/>
                  </a:rPr>
                  <a:t> and triangle </a:t>
                </a:r>
                <a14:m>
                  <m:oMath xmlns:m="http://schemas.openxmlformats.org/officeDocument/2006/math">
                    <m:r>
                      <a:rPr lang="en-US" sz="2000" i="1">
                        <a:latin typeface="Cambria Math" charset="0"/>
                        <a:ea typeface="Verdana" charset="0"/>
                        <a:cs typeface="Verdana" charset="0"/>
                      </a:rPr>
                      <m:t>𝐶𝑉𝐻</m:t>
                    </m:r>
                  </m:oMath>
                </a14:m>
                <a:r>
                  <a:rPr lang="en-US" sz="2000" dirty="0">
                    <a:latin typeface="Verdana" charset="0"/>
                    <a:ea typeface="Verdana" charset="0"/>
                    <a:cs typeface="Verdana" charset="0"/>
                  </a:rPr>
                  <a:t> are shown.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59229" y="520393"/>
                <a:ext cx="9975672" cy="400110"/>
              </a:xfrm>
              <a:prstGeom prst="rect">
                <a:avLst/>
              </a:prstGeom>
              <a:blipFill>
                <a:blip r:embed="rId4"/>
                <a:stretch>
                  <a:fillRect l="-636" t="-6061" b="-24242"/>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948833" y="1072092"/>
            <a:ext cx="4445000" cy="331470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1066800" y="4282470"/>
                <a:ext cx="9268101" cy="2246769"/>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What conclusions can be drawn from the given information?</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What congruence postulate or theorem is the reason these conclusions can be made?</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Julia says she can conclude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𝐶𝐻</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𝑆𝐿</m:t>
                        </m:r>
                      </m:e>
                    </m:acc>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𝑆𝐿𝑉</m:t>
                    </m:r>
                    <m:r>
                      <a:rPr lang="en-US" sz="2000" i="1">
                        <a:latin typeface="Cambria Math" charset="0"/>
                        <a:ea typeface="Verdana" charset="0"/>
                        <a:cs typeface="Verdana" charset="0"/>
                      </a:rPr>
                      <m:t>≅∠</m:t>
                    </m:r>
                    <m:r>
                      <a:rPr lang="en-US" sz="2000" i="1">
                        <a:latin typeface="Cambria Math" charset="0"/>
                        <a:ea typeface="Verdana" charset="0"/>
                        <a:cs typeface="Verdana" charset="0"/>
                      </a:rPr>
                      <m:t>𝐶𝐻𝑉</m:t>
                    </m:r>
                  </m:oMath>
                </a14:m>
                <a:r>
                  <a:rPr lang="en-US" sz="2000" dirty="0">
                    <a:latin typeface="Verdana" charset="0"/>
                    <a:ea typeface="Verdana" charset="0"/>
                    <a:cs typeface="Verdana" charset="0"/>
                  </a:rPr>
                  <a:t>. Explain why Julia is able to draw these conclusions.</a:t>
                </a:r>
              </a:p>
            </p:txBody>
          </p:sp>
        </mc:Choice>
        <mc:Fallback xmlns="">
          <p:sp>
            <p:nvSpPr>
              <p:cNvPr id="3" name="Rectangle 2"/>
              <p:cNvSpPr>
                <a:spLocks noRot="1" noChangeAspect="1" noMove="1" noResize="1" noEditPoints="1" noAdjustHandles="1" noChangeArrowheads="1" noChangeShapeType="1" noTextEdit="1"/>
              </p:cNvSpPr>
              <p:nvPr/>
            </p:nvSpPr>
            <p:spPr>
              <a:xfrm>
                <a:off x="1066800" y="4282470"/>
                <a:ext cx="9268101" cy="2246769"/>
              </a:xfrm>
              <a:prstGeom prst="rect">
                <a:avLst/>
              </a:prstGeom>
              <a:blipFill>
                <a:blip r:embed="rId6"/>
                <a:stretch>
                  <a:fillRect l="-685" t="-1685" b="-3933"/>
                </a:stretch>
              </a:blipFill>
            </p:spPr>
            <p:txBody>
              <a:bodyPr/>
              <a:lstStyle/>
              <a:p>
                <a:r>
                  <a:rPr lang="en-US">
                    <a:noFill/>
                  </a:rPr>
                  <a:t> </a:t>
                </a:r>
              </a:p>
            </p:txBody>
          </p:sp>
        </mc:Fallback>
      </mc:AlternateContent>
    </p:spTree>
    <p:extLst>
      <p:ext uri="{BB962C8B-B14F-4D97-AF65-F5344CB8AC3E}">
        <p14:creationId xmlns:p14="http://schemas.microsoft.com/office/powerpoint/2010/main" val="857694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266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88664" y="647100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348343" y="520393"/>
                <a:ext cx="9986558" cy="400110"/>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Triangle </a:t>
                </a:r>
                <a14:m>
                  <m:oMath xmlns:m="http://schemas.openxmlformats.org/officeDocument/2006/math">
                    <m:r>
                      <a:rPr lang="en-US" sz="2000" i="1">
                        <a:latin typeface="Cambria Math" charset="0"/>
                        <a:ea typeface="Verdana" charset="0"/>
                        <a:cs typeface="Verdana" charset="0"/>
                      </a:rPr>
                      <m:t>𝑅𝑀𝑌</m:t>
                    </m:r>
                  </m:oMath>
                </a14:m>
                <a:r>
                  <a:rPr lang="en-US" sz="2000" dirty="0">
                    <a:latin typeface="Verdana" charset="0"/>
                    <a:ea typeface="Verdana" charset="0"/>
                    <a:cs typeface="Verdana" charset="0"/>
                  </a:rPr>
                  <a:t> is shown.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𝑌𝑀𝑍</m:t>
                    </m:r>
                    <m:r>
                      <a:rPr lang="en-US" sz="2000" i="1">
                        <a:latin typeface="Cambria Math" charset="0"/>
                        <a:ea typeface="Verdana" charset="0"/>
                        <a:cs typeface="Verdana" charset="0"/>
                      </a:rPr>
                      <m:t>≅∠</m:t>
                    </m:r>
                    <m:r>
                      <a:rPr lang="en-US" sz="2000" i="1">
                        <a:latin typeface="Cambria Math" charset="0"/>
                        <a:ea typeface="Verdana" charset="0"/>
                        <a:cs typeface="Verdana" charset="0"/>
                      </a:rPr>
                      <m:t>𝑌𝑅𝑍</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𝑅𝑍𝑌</m:t>
                    </m:r>
                    <m:r>
                      <a:rPr lang="en-US" sz="2000" i="1">
                        <a:latin typeface="Cambria Math" charset="0"/>
                        <a:ea typeface="Verdana" charset="0"/>
                        <a:cs typeface="Verdana" charset="0"/>
                      </a:rPr>
                      <m:t>≅∠</m:t>
                    </m:r>
                    <m:r>
                      <a:rPr lang="en-US" sz="2000" i="1">
                        <a:latin typeface="Cambria Math" charset="0"/>
                        <a:ea typeface="Verdana" charset="0"/>
                        <a:cs typeface="Verdana" charset="0"/>
                      </a:rPr>
                      <m:t>𝑀𝑍𝑌</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48343" y="520393"/>
                <a:ext cx="9986558" cy="400110"/>
              </a:xfrm>
              <a:prstGeom prst="rect">
                <a:avLst/>
              </a:prstGeom>
              <a:blipFill>
                <a:blip r:embed="rId4"/>
                <a:stretch>
                  <a:fillRect l="-635" t="-6061" b="-24242"/>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120283" y="1062566"/>
            <a:ext cx="4102100" cy="3060700"/>
          </a:xfrm>
          <a:prstGeom prst="rect">
            <a:avLst/>
          </a:prstGeom>
        </p:spPr>
      </p:pic>
      <p:sp>
        <p:nvSpPr>
          <p:cNvPr id="3" name="Rectangle 2"/>
          <p:cNvSpPr/>
          <p:nvPr/>
        </p:nvSpPr>
        <p:spPr>
          <a:xfrm>
            <a:off x="1012371" y="4320974"/>
            <a:ext cx="10384972" cy="1938992"/>
          </a:xfrm>
          <a:prstGeom prst="rect">
            <a:avLst/>
          </a:prstGeom>
        </p:spPr>
        <p:txBody>
          <a:bodyPr wrap="square">
            <a:spAutoFit/>
          </a:bodyPr>
          <a:lstStyle/>
          <a:p>
            <a:pPr marL="457200"/>
            <a:r>
              <a:rPr lang="en-US" sz="2000" dirty="0">
                <a:latin typeface="Verdana" charset="0"/>
                <a:ea typeface="Verdana" charset="0"/>
                <a:cs typeface="Verdana" charset="0"/>
              </a:rPr>
              <a:t>Work with your partner to complete the statements based on the given information.</a:t>
            </a:r>
          </a:p>
          <a:p>
            <a:r>
              <a:rPr lang="en-US" sz="2000" dirty="0">
                <a:latin typeface="Verdana" charset="0"/>
                <a:ea typeface="Verdana" charset="0"/>
                <a:cs typeface="Verdana" charset="0"/>
              </a:rPr>
              <a:t> </a:t>
            </a:r>
          </a:p>
          <a:p>
            <a:pPr marL="342900" indent="-342900">
              <a:buFont typeface="+mj-lt"/>
              <a:buAutoNum type="alphaLcPeriod"/>
            </a:pPr>
            <a:r>
              <a:rPr lang="en-US" sz="2000" dirty="0">
                <a:latin typeface="Verdana" charset="0"/>
                <a:ea typeface="Verdana" charset="0"/>
                <a:cs typeface="Verdana" charset="0"/>
              </a:rPr>
              <a:t>I can conclude … </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I know this because …</a:t>
            </a:r>
          </a:p>
        </p:txBody>
      </p:sp>
    </p:spTree>
    <p:extLst>
      <p:ext uri="{BB962C8B-B14F-4D97-AF65-F5344CB8AC3E}">
        <p14:creationId xmlns:p14="http://schemas.microsoft.com/office/powerpoint/2010/main" val="1192084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994150" y="6468346"/>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251</a:t>
            </a: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0536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1824" y="-6967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5.5.4 Collaboration: Overlapping Triangles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994150" y="6460723"/>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251</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1958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392017" y="1386026"/>
                <a:ext cx="6238576" cy="2862322"/>
              </a:xfrm>
              <a:prstGeom prst="rect">
                <a:avLst/>
              </a:prstGeom>
              <a:noFill/>
            </p:spPr>
            <p:txBody>
              <a:bodyPr wrap="square" rtlCol="0">
                <a:spAutoFit/>
              </a:bodyPr>
              <a:lstStyle/>
              <a:p>
                <a:r>
                  <a:rPr lang="en-US" sz="2000" dirty="0">
                    <a:latin typeface="Verdana" charset="0"/>
                    <a:ea typeface="Verdana" charset="0"/>
                    <a:cs typeface="Verdana" charset="0"/>
                  </a:rPr>
                  <a:t>Work with your partner to complete the following.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Dalton saw the following question with the polygon shown in an old geometry textbook.</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𝑁𝐾𝐿</m:t>
                    </m:r>
                    <m:r>
                      <a:rPr lang="en-US" sz="2000" i="1">
                        <a:latin typeface="Cambria Math" charset="0"/>
                        <a:ea typeface="Verdana" charset="0"/>
                        <a:cs typeface="Verdana" charset="0"/>
                      </a:rPr>
                      <m:t>≅∠</m:t>
                    </m:r>
                    <m:r>
                      <a:rPr lang="en-US" sz="2000" i="1">
                        <a:latin typeface="Cambria Math" charset="0"/>
                        <a:ea typeface="Verdana" charset="0"/>
                        <a:cs typeface="Verdana" charset="0"/>
                      </a:rPr>
                      <m:t>𝑁𝐽𝑅</m:t>
                    </m:r>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𝐾𝐿</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𝐽𝑅</m:t>
                        </m:r>
                      </m:e>
                    </m:acc>
                  </m:oMath>
                </a14:m>
                <a:r>
                  <a:rPr lang="en-US" sz="2000" dirty="0">
                    <a:latin typeface="Verdana" charset="0"/>
                    <a:ea typeface="Verdana" charset="0"/>
                    <a:cs typeface="Verdana" charset="0"/>
                  </a:rPr>
                  <a:t>, what else do you know so that you can show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𝑅𝐽𝑁</m:t>
                    </m:r>
                    <m:r>
                      <a:rPr lang="en-US" sz="2000" i="1">
                        <a:latin typeface="Cambria Math" charset="0"/>
                        <a:ea typeface="Verdana" charset="0"/>
                        <a:cs typeface="Verdana" charset="0"/>
                      </a:rPr>
                      <m:t>≅∆</m:t>
                    </m:r>
                    <m:r>
                      <a:rPr lang="en-US" sz="2000" i="1">
                        <a:latin typeface="Cambria Math" charset="0"/>
                        <a:ea typeface="Verdana" charset="0"/>
                        <a:cs typeface="Verdana" charset="0"/>
                      </a:rPr>
                      <m:t>𝐿𝐾𝑁</m:t>
                    </m:r>
                  </m:oMath>
                </a14:m>
                <a:r>
                  <a:rPr lang="en-US" sz="2000" dirty="0">
                    <a:latin typeface="Verdana" charset="0"/>
                    <a:ea typeface="Verdana" charset="0"/>
                    <a:cs typeface="Verdana" charset="0"/>
                  </a:rPr>
                  <a:t> using ASA?” </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392017" y="1386026"/>
                <a:ext cx="6238576" cy="2862322"/>
              </a:xfrm>
              <a:prstGeom prst="rect">
                <a:avLst/>
              </a:prstGeom>
              <a:blipFill>
                <a:blip r:embed="rId5"/>
                <a:stretch>
                  <a:fillRect l="-1014" t="-881" r="-406" b="-2643"/>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630591" y="2148551"/>
            <a:ext cx="3644900" cy="2260600"/>
          </a:xfrm>
          <a:prstGeom prst="rect">
            <a:avLst/>
          </a:prstGeom>
        </p:spPr>
      </p:pic>
    </p:spTree>
    <p:extLst>
      <p:ext uri="{BB962C8B-B14F-4D97-AF65-F5344CB8AC3E}">
        <p14:creationId xmlns:p14="http://schemas.microsoft.com/office/powerpoint/2010/main" val="2094544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24543" y="520394"/>
                <a:ext cx="11408228" cy="2862322"/>
              </a:xfrm>
              <a:prstGeom prst="rect">
                <a:avLst/>
              </a:prstGeom>
              <a:noFill/>
            </p:spPr>
            <p:txBody>
              <a:bodyPr wrap="square" rtlCol="0">
                <a:spAutoFit/>
              </a:bodyPr>
              <a:lstStyle/>
              <a:p>
                <a:r>
                  <a:rPr lang="en-US" sz="2000" dirty="0">
                    <a:latin typeface="Verdana" charset="0"/>
                    <a:ea typeface="Verdana" charset="0"/>
                    <a:cs typeface="Verdana" charset="0"/>
                  </a:rPr>
                  <a:t>He knew that both triangles share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𝑁</m:t>
                    </m:r>
                  </m:oMath>
                </a14:m>
                <a:r>
                  <a:rPr lang="en-US" sz="2000" dirty="0">
                    <a:latin typeface="Verdana" charset="0"/>
                    <a:ea typeface="Verdana" charset="0"/>
                    <a:cs typeface="Verdana" charset="0"/>
                  </a:rPr>
                  <a:t>. Therefore, by knowing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𝑁</m:t>
                    </m:r>
                    <m:r>
                      <a:rPr lang="en-US" sz="2000" i="1">
                        <a:latin typeface="Cambria Math" charset="0"/>
                        <a:ea typeface="Verdana" charset="0"/>
                        <a:cs typeface="Verdana" charset="0"/>
                      </a:rPr>
                      <m:t>≅∠</m:t>
                    </m:r>
                    <m:r>
                      <a:rPr lang="en-US" sz="2000" i="1">
                        <a:latin typeface="Cambria Math" charset="0"/>
                        <a:ea typeface="Verdana" charset="0"/>
                        <a:cs typeface="Verdana" charset="0"/>
                      </a:rPr>
                      <m:t>𝑁</m:t>
                    </m:r>
                  </m:oMath>
                </a14:m>
                <a:r>
                  <a:rPr lang="en-US" sz="2000" dirty="0">
                    <a:latin typeface="Verdana" charset="0"/>
                    <a:ea typeface="Verdana" charset="0"/>
                    <a:cs typeface="Verdana" charset="0"/>
                  </a:rPr>
                  <a:t> by the reflexive property of congruence, he concluded that he could use ASA to show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𝑅𝐽𝑁</m:t>
                    </m:r>
                    <m:r>
                      <a:rPr lang="en-US" sz="2000" i="1">
                        <a:latin typeface="Cambria Math" charset="0"/>
                        <a:ea typeface="Verdana" charset="0"/>
                        <a:cs typeface="Verdana" charset="0"/>
                      </a:rPr>
                      <m:t>≅∆</m:t>
                    </m:r>
                    <m:r>
                      <a:rPr lang="en-US" sz="2000" i="1">
                        <a:latin typeface="Cambria Math" charset="0"/>
                        <a:ea typeface="Verdana" charset="0"/>
                        <a:cs typeface="Verdana" charset="0"/>
                      </a:rPr>
                      <m:t>𝐿𝐾𝑁</m:t>
                    </m:r>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Draw the triangles so that they do not overlap. Then, mark the triangles with the information given from the textbook.</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Explain why Dalton can or cannot use ASA to show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𝑅𝐽𝑁</m:t>
                    </m:r>
                    <m:r>
                      <a:rPr lang="en-US" sz="2000" i="1">
                        <a:latin typeface="Cambria Math" charset="0"/>
                        <a:ea typeface="Verdana" charset="0"/>
                        <a:cs typeface="Verdana" charset="0"/>
                      </a:rPr>
                      <m:t>≅∆</m:t>
                    </m:r>
                    <m:r>
                      <a:rPr lang="en-US" sz="2000" i="1">
                        <a:latin typeface="Cambria Math" charset="0"/>
                        <a:ea typeface="Verdana" charset="0"/>
                        <a:cs typeface="Verdana" charset="0"/>
                      </a:rPr>
                      <m:t>𝐿𝐾𝑁</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24543" y="520394"/>
                <a:ext cx="11408228" cy="2862322"/>
              </a:xfrm>
              <a:prstGeom prst="rect">
                <a:avLst/>
              </a:prstGeom>
              <a:blipFill>
                <a:blip r:embed="rId4"/>
                <a:stretch>
                  <a:fillRect l="-556" t="-881" b="-2643"/>
                </a:stretch>
              </a:blipFill>
            </p:spPr>
            <p:txBody>
              <a:bodyPr/>
              <a:lstStyle/>
              <a:p>
                <a:r>
                  <a:rPr lang="en-US">
                    <a:noFill/>
                  </a:rPr>
                  <a:t> </a:t>
                </a:r>
              </a:p>
            </p:txBody>
          </p:sp>
        </mc:Fallback>
      </mc:AlternateContent>
    </p:spTree>
    <p:extLst>
      <p:ext uri="{BB962C8B-B14F-4D97-AF65-F5344CB8AC3E}">
        <p14:creationId xmlns:p14="http://schemas.microsoft.com/office/powerpoint/2010/main" val="109662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2156"/>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251</a:t>
            </a: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718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1824" y="-2013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5.5.5 Try It: Drawing </a:t>
            </a:r>
            <a:r>
              <a:rPr lang="en-US" sz="3200" b="1">
                <a:solidFill>
                  <a:srgbClr val="33BEA6"/>
                </a:solidFill>
                <a:latin typeface="Verdana"/>
                <a:ea typeface="Verdana"/>
                <a:cs typeface="Verdana"/>
                <a:sym typeface="Verdana"/>
              </a:rPr>
              <a:t>Conclusions </a:t>
            </a:r>
            <a:r>
              <a:rPr lang="en-US" sz="3200" b="1" smtClean="0">
                <a:solidFill>
                  <a:srgbClr val="33BEA6"/>
                </a:solidFill>
                <a:latin typeface="Verdana"/>
                <a:ea typeface="Verdana"/>
                <a:cs typeface="Verdana"/>
                <a:sym typeface="Verdana"/>
              </a:rPr>
              <a:t>From </a:t>
            </a:r>
            <a:r>
              <a:rPr lang="en-US" sz="3200" b="1" dirty="0">
                <a:solidFill>
                  <a:srgbClr val="33BEA6"/>
                </a:solidFill>
                <a:latin typeface="Verdana"/>
                <a:ea typeface="Verdana"/>
                <a:cs typeface="Verdana"/>
                <a:sym typeface="Verdana"/>
              </a:rPr>
              <a:t>Given Information</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251</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18498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0AB6A3A1-5A0D-C84F-AC89-57E6782F43E5}"/>
                  </a:ext>
                </a:extLst>
              </p:cNvPr>
              <p:cNvSpPr txBox="1"/>
              <p:nvPr/>
            </p:nvSpPr>
            <p:spPr>
              <a:xfrm>
                <a:off x="392016" y="1386025"/>
                <a:ext cx="11408097" cy="5017464"/>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 </a:t>
                </a:r>
                <a14:m>
                  <m:oMath xmlns:m="http://schemas.openxmlformats.org/officeDocument/2006/math">
                    <m:r>
                      <a:rPr lang="en-US" sz="2000" i="1">
                        <a:latin typeface="Cambria Math" charset="0"/>
                        <a:ea typeface="Verdana" charset="0"/>
                        <a:cs typeface="Verdana" charset="0"/>
                      </a:rPr>
                      <m:t>𝑀𝐴𝑂</m:t>
                    </m:r>
                  </m:oMath>
                </a14:m>
                <a:r>
                  <a:rPr lang="en-US" sz="2000" dirty="0">
                    <a:latin typeface="Verdana" charset="0"/>
                    <a:ea typeface="Verdana" charset="0"/>
                    <a:cs typeface="Verdana" charset="0"/>
                  </a:rPr>
                  <a:t> and triangle </a:t>
                </a:r>
                <a14:m>
                  <m:oMath xmlns:m="http://schemas.openxmlformats.org/officeDocument/2006/math">
                    <m:r>
                      <a:rPr lang="en-US" sz="2000" i="1">
                        <a:latin typeface="Cambria Math" charset="0"/>
                        <a:ea typeface="Verdana" charset="0"/>
                        <a:cs typeface="Verdana" charset="0"/>
                      </a:rPr>
                      <m:t>𝑋𝑂𝑀</m:t>
                    </m:r>
                  </m:oMath>
                </a14:m>
                <a:r>
                  <a:rPr lang="en-US" sz="2000" dirty="0">
                    <a:latin typeface="Verdana" charset="0"/>
                    <a:ea typeface="Verdana" charset="0"/>
                    <a:cs typeface="Verdana" charset="0"/>
                  </a:rPr>
                  <a:t> are shown, where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𝑀𝐴𝑂</m:t>
                    </m:r>
                  </m:oMath>
                </a14:m>
                <a:r>
                  <a:rPr lang="en-US" sz="2000" i="1" dirty="0">
                    <a:latin typeface="Verdana" charset="0"/>
                    <a:ea typeface="Verdana" charset="0"/>
                    <a:cs typeface="Verdana" charset="0"/>
                  </a:rPr>
                  <a:t> </a:t>
                </a:r>
                <a:r>
                  <a:rPr lang="en-US" sz="2000" dirty="0">
                    <a:latin typeface="Verdana" charset="0"/>
                    <a:ea typeface="Verdana" charset="0"/>
                    <a:cs typeface="Verdana" charset="0"/>
                  </a:rPr>
                  <a:t>and</a:t>
                </a:r>
                <a:r>
                  <a:rPr lang="en-US" sz="2000" i="1"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𝑂𝑋𝑀</m:t>
                    </m:r>
                  </m:oMath>
                </a14:m>
                <a:r>
                  <a:rPr lang="en-US" sz="2000" dirty="0">
                    <a:latin typeface="Verdana" charset="0"/>
                    <a:ea typeface="Verdana" charset="0"/>
                    <a:cs typeface="Verdana" charset="0"/>
                  </a:rPr>
                  <a:t> are right angles and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𝑀𝐴</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𝑋𝑂</m:t>
                        </m:r>
                      </m:e>
                    </m:acc>
                  </m:oMath>
                </a14:m>
                <a:r>
                  <a:rPr lang="en-US" sz="2000" dirty="0">
                    <a:latin typeface="Verdana" charset="0"/>
                    <a:ea typeface="Verdana" charset="0"/>
                    <a:cs typeface="Verdana" charset="0"/>
                  </a:rPr>
                  <a: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r>
                  <a:rPr lang="en-US" sz="2000" dirty="0">
                    <a:latin typeface="Verdana" charset="0"/>
                    <a:ea typeface="Verdana" charset="0"/>
                    <a:cs typeface="Verdana" charset="0"/>
                  </a:rPr>
                  <a:t>Complete each statement based on the given information.</a:t>
                </a:r>
              </a:p>
              <a:p>
                <a:r>
                  <a:rPr lang="en-US" sz="2000" dirty="0">
                    <a:latin typeface="Verdana" charset="0"/>
                    <a:ea typeface="Verdana" charset="0"/>
                    <a:cs typeface="Verdana" charset="0"/>
                  </a:rPr>
                  <a:t> </a:t>
                </a:r>
              </a:p>
              <a:p>
                <a:pPr marL="457200" indent="-457200">
                  <a:buFont typeface="+mj-lt"/>
                  <a:buAutoNum type="alphaLcPeriod"/>
                </a:pPr>
                <a:r>
                  <a:rPr lang="en-US" sz="2000" dirty="0">
                    <a:latin typeface="Verdana" charset="0"/>
                    <a:ea typeface="Verdana" charset="0"/>
                    <a:cs typeface="Verdana" charset="0"/>
                  </a:rPr>
                  <a:t>I can conclude that …</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I know this because … </a:t>
                </a:r>
              </a:p>
              <a:p>
                <a:pPr lvl="0"/>
                <a:endParaRPr lang="en-US" sz="2000" dirty="0">
                  <a:latin typeface="Verdana" charset="0"/>
                  <a:ea typeface="Verdana" charset="0"/>
                  <a:cs typeface="Verdana" charset="0"/>
                </a:endParaRP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392016" y="1386025"/>
                <a:ext cx="11408097" cy="5017464"/>
              </a:xfrm>
              <a:prstGeom prst="rect">
                <a:avLst/>
              </a:prstGeom>
              <a:blipFill>
                <a:blip r:embed="rId5"/>
                <a:stretch>
                  <a:fillRect l="-556" t="-504"/>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800940" y="2108200"/>
            <a:ext cx="4686300" cy="2120900"/>
          </a:xfrm>
          <a:prstGeom prst="rect">
            <a:avLst/>
          </a:prstGeom>
        </p:spPr>
      </p:pic>
    </p:spTree>
    <p:extLst>
      <p:ext uri="{BB962C8B-B14F-4D97-AF65-F5344CB8AC3E}">
        <p14:creationId xmlns:p14="http://schemas.microsoft.com/office/powerpoint/2010/main" val="1673639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252</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994150" y="6499026"/>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252</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41824" y="-82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5.5.6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94524" y="20662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0370EDB7-6994-3D43-ABF9-E04CBAFB9CD9}"/>
                  </a:ext>
                </a:extLst>
              </p:cNvPr>
              <p:cNvSpPr txBox="1"/>
              <p:nvPr/>
            </p:nvSpPr>
            <p:spPr>
              <a:xfrm>
                <a:off x="394524" y="1386025"/>
                <a:ext cx="5650676" cy="3170804"/>
              </a:xfrm>
              <a:prstGeom prst="rect">
                <a:avLst/>
              </a:prstGeom>
              <a:noFill/>
            </p:spPr>
            <p:txBody>
              <a:bodyPr wrap="square" rtlCol="0">
                <a:spAutoFit/>
              </a:bodyPr>
              <a:lstStyle/>
              <a:p>
                <a:r>
                  <a:rPr lang="en-US" sz="2000" dirty="0">
                    <a:latin typeface="Verdana" charset="0"/>
                    <a:ea typeface="Verdana" charset="0"/>
                    <a:cs typeface="Verdana" charset="0"/>
                  </a:rPr>
                  <a:t>Quadrilateral </a:t>
                </a:r>
                <a14:m>
                  <m:oMath xmlns:m="http://schemas.openxmlformats.org/officeDocument/2006/math">
                    <m:r>
                      <a:rPr lang="en-US" sz="2000" i="1">
                        <a:latin typeface="Cambria Math" charset="0"/>
                        <a:ea typeface="Verdana" charset="0"/>
                        <a:cs typeface="Verdana" charset="0"/>
                      </a:rPr>
                      <m:t>𝐵𝑅𝐺𝐾</m:t>
                    </m:r>
                  </m:oMath>
                </a14:m>
                <a:r>
                  <a:rPr lang="en-US" sz="2000" dirty="0">
                    <a:latin typeface="Verdana" charset="0"/>
                    <a:ea typeface="Verdana" charset="0"/>
                    <a:cs typeface="Verdana" charset="0"/>
                  </a:rPr>
                  <a:t> is shown.</a:t>
                </a:r>
              </a:p>
              <a:p>
                <a:r>
                  <a:rPr lang="en-US" sz="2000" dirty="0">
                    <a:latin typeface="Verdana" charset="0"/>
                    <a:ea typeface="Verdana" charset="0"/>
                    <a:cs typeface="Verdana" charset="0"/>
                  </a:rPr>
                  <a:t>Complete each statement based on the given information.</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Given that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𝐾𝐵</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𝐺𝑅</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𝐾𝐺</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𝐵𝑅</m:t>
                        </m:r>
                      </m:e>
                    </m:acc>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pPr marL="457200" indent="-457200">
                  <a:buFont typeface="+mj-lt"/>
                  <a:buAutoNum type="alphaLcPeriod"/>
                </a:pPr>
                <a:r>
                  <a:rPr lang="en-US" sz="2000" dirty="0">
                    <a:latin typeface="Verdana" charset="0"/>
                    <a:ea typeface="Verdana" charset="0"/>
                    <a:cs typeface="Verdana" charset="0"/>
                  </a:rPr>
                  <a:t>I can conclude that …</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I know this because … </a:t>
                </a:r>
              </a:p>
              <a:p>
                <a:r>
                  <a:rPr lang="en-US" sz="2000" dirty="0">
                    <a:latin typeface="Verdana" charset="0"/>
                    <a:ea typeface="Verdana" charset="0"/>
                    <a:cs typeface="Verdana" charset="0"/>
                  </a:rPr>
                  <a:t> </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394524" y="1386025"/>
                <a:ext cx="5650676" cy="3170804"/>
              </a:xfrm>
              <a:prstGeom prst="rect">
                <a:avLst/>
              </a:prstGeom>
              <a:blipFill>
                <a:blip r:embed="rId5"/>
                <a:stretch>
                  <a:fillRect l="-1345" t="-794"/>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445236" y="1810071"/>
            <a:ext cx="3607741" cy="2446224"/>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44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02771" y="520393"/>
                <a:ext cx="9932130" cy="34792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Given that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𝐾𝐵</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𝐾𝐺</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𝑅𝐺</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𝐵𝑅</m:t>
                        </m:r>
                      </m:e>
                    </m:acc>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pPr marL="457200" indent="-457200">
                  <a:buFont typeface="+mj-lt"/>
                  <a:buAutoNum type="alphaLcPeriod"/>
                </a:pPr>
                <a:r>
                  <a:rPr lang="en-US" sz="2000" dirty="0">
                    <a:latin typeface="Verdana" charset="0"/>
                    <a:ea typeface="Verdana" charset="0"/>
                    <a:cs typeface="Verdana" charset="0"/>
                  </a:rPr>
                  <a:t>I can conclude that … </a:t>
                </a:r>
              </a:p>
              <a:p>
                <a:pPr marL="457200" indent="-457200">
                  <a:buFont typeface="+mj-lt"/>
                  <a:buAutoNum type="alphaLcPeriod"/>
                </a:pPr>
                <a:r>
                  <a:rPr lang="en-US" sz="2000" dirty="0">
                    <a:latin typeface="Verdana" charset="0"/>
                    <a:ea typeface="Verdana" charset="0"/>
                    <a:cs typeface="Verdana" charset="0"/>
                  </a:rPr>
                  <a:t>I know this because …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457200" indent="-457200">
                  <a:buFont typeface="+mj-lt"/>
                  <a:buAutoNum type="arabicPeriod" startAt="3"/>
                </a:pPr>
                <a:r>
                  <a:rPr lang="en-US" sz="2000" dirty="0">
                    <a:latin typeface="Verdana" charset="0"/>
                    <a:ea typeface="Verdana" charset="0"/>
                    <a:cs typeface="Verdana" charset="0"/>
                  </a:rPr>
                  <a:t>Given that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𝐾𝐺</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𝐵𝑅</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𝐾𝐵</m:t>
                        </m:r>
                      </m:e>
                    </m:acc>
                    <m:r>
                      <a:rPr lang="en-US" sz="2000" i="1">
                        <a:latin typeface="Cambria Math" charset="0"/>
                        <a:ea typeface="Verdana" charset="0"/>
                        <a:cs typeface="Verdana" charset="0"/>
                      </a:rPr>
                      <m:t>∥</m:t>
                    </m:r>
                    <m:acc>
                      <m:accPr>
                        <m:chr m:val="̅"/>
                        <m:ctrlPr>
                          <a:rPr lang="en-US" sz="2000" i="1">
                            <a:latin typeface="Cambria Math" charset="0"/>
                            <a:ea typeface="Verdana" charset="0"/>
                            <a:cs typeface="Verdana" charset="0"/>
                          </a:rPr>
                        </m:ctrlPr>
                      </m:accPr>
                      <m:e>
                        <m:r>
                          <a:rPr lang="en-US" sz="2000" i="1">
                            <a:latin typeface="Cambria Math" charset="0"/>
                            <a:ea typeface="Verdana" charset="0"/>
                            <a:cs typeface="Verdana" charset="0"/>
                          </a:rPr>
                          <m:t>𝐺𝑅</m:t>
                        </m:r>
                      </m:e>
                    </m:acc>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457200" indent="-457200">
                  <a:buFont typeface="+mj-lt"/>
                  <a:buAutoNum type="alphaLcPeriod"/>
                </a:pPr>
                <a:r>
                  <a:rPr lang="en-US" sz="2000" dirty="0">
                    <a:latin typeface="Verdana" charset="0"/>
                    <a:ea typeface="Verdana" charset="0"/>
                    <a:cs typeface="Verdana" charset="0"/>
                  </a:rPr>
                  <a:t>I can conclude that …</a:t>
                </a:r>
              </a:p>
              <a:p>
                <a:pPr marL="457200" indent="-457200">
                  <a:buFont typeface="+mj-lt"/>
                  <a:buAutoNum type="alphaLcPeriod"/>
                </a:pPr>
                <a:r>
                  <a:rPr lang="en-US" sz="2000" dirty="0">
                    <a:latin typeface="Verdana" charset="0"/>
                    <a:ea typeface="Verdana" charset="0"/>
                    <a:cs typeface="Verdana" charset="0"/>
                  </a:rPr>
                  <a:t>I know this because …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02771" y="520393"/>
                <a:ext cx="9932130" cy="3479286"/>
              </a:xfrm>
              <a:prstGeom prst="rect">
                <a:avLst/>
              </a:prstGeom>
              <a:blipFill>
                <a:blip r:embed="rId4"/>
                <a:stretch>
                  <a:fillRect l="-639" t="-727" b="-2182"/>
                </a:stretch>
              </a:blipFill>
            </p:spPr>
            <p:txBody>
              <a:bodyPr/>
              <a:lstStyle/>
              <a:p>
                <a:r>
                  <a:rPr lang="en-US">
                    <a:noFill/>
                  </a:rPr>
                  <a:t> </a:t>
                </a:r>
              </a:p>
            </p:txBody>
          </p:sp>
        </mc:Fallback>
      </mc:AlternateContent>
    </p:spTree>
    <p:extLst>
      <p:ext uri="{BB962C8B-B14F-4D97-AF65-F5344CB8AC3E}">
        <p14:creationId xmlns:p14="http://schemas.microsoft.com/office/powerpoint/2010/main" val="397820342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1404</TotalTime>
  <Words>992</Words>
  <Application>Microsoft Macintosh PowerPoint</Application>
  <PresentationFormat>Widescreen</PresentationFormat>
  <Paragraphs>225</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 Black</vt:lpstr>
      <vt:lpstr>Calibri</vt:lpstr>
      <vt:lpstr>Cambria</vt:lpstr>
      <vt:lpstr>Cambria Math</vt:lpstr>
      <vt:lpstr>Century Gothic</vt:lpstr>
      <vt:lpstr>Times New Roman</vt:lpstr>
      <vt:lpstr>Verdana</vt:lpstr>
      <vt:lpstr>Wingdings</vt:lpstr>
      <vt:lpstr>Arial</vt:lpstr>
      <vt:lpstr>1_Office Theme</vt:lpstr>
      <vt:lpstr>Geometry  Unit 5, Lesson 5  Drawing Conclusions from Given Information  Volume 1, pg. 246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Try It</vt:lpstr>
      <vt:lpstr>PowerPoint Presentation</vt:lpstr>
      <vt:lpstr>Wrap-Up</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jslater9816@gmail.com</cp:lastModifiedBy>
  <cp:revision>27</cp:revision>
  <dcterms:created xsi:type="dcterms:W3CDTF">2015-03-17T18:51:18Z</dcterms:created>
  <dcterms:modified xsi:type="dcterms:W3CDTF">2022-07-27T21:39:45Z</dcterms:modified>
</cp:coreProperties>
</file>