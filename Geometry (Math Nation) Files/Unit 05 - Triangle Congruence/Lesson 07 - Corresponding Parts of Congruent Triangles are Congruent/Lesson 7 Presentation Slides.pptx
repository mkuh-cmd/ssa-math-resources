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6" roundtripDataSignature="AMtx7mhSI75h20klGY8Ik521iWf20DHBw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69D0438-0815-4ADC-BB98-D11047B17A67}">
  <a:tblStyle styleId="{269D0438-0815-4ADC-BB98-D11047B17A6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p:restoredTop sz="94622"/>
  </p:normalViewPr>
  <p:slideViewPr>
    <p:cSldViewPr snapToGrid="0">
      <p:cViewPr varScale="1">
        <p:scale>
          <a:sx n="101" d="100"/>
          <a:sy n="101" d="100"/>
        </p:scale>
        <p:origin x="208" y="3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46" Type="http://customschemas.google.com/relationships/presentationmetadata" Target="metadata"/><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6" name="Google Shape;206;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7" name="Google Shape;217;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7" name="Google Shape;22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1" name="Google Shape;29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2" name="Google Shape;29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1" name="Google Shape;301;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 name="Google Shape;302;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5" name="Google Shape;31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4" name="Google Shape;33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7" name="Google Shape;357;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6" name="Google Shape;366;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2.png"/><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8.png"/><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9.png"/><Relationship Id="rId5" Type="http://schemas.openxmlformats.org/officeDocument/2006/relationships/image" Target="../media/image20.png"/><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1.png"/><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image" Target="../media/image22.png"/><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6.png"/><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7.png"/><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1.png"/><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2.png"/><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4" Type="http://schemas.openxmlformats.org/officeDocument/2006/relationships/image" Target="../media/image10.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7.png"/><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8.png"/><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image" Target="../media/image41.png"/><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42.png"/><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43.png"/><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43.png"/><Relationship Id="rId5" Type="http://schemas.openxmlformats.org/officeDocument/2006/relationships/image" Target="../media/image44.png"/><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300"/>
              <a:buFont typeface="Calibri"/>
              <a:buNone/>
            </a:pPr>
            <a:r>
              <a:rPr lang="en-US" sz="3600" b="1" i="0" u="none" strike="noStrike" cap="none" dirty="0">
                <a:solidFill>
                  <a:srgbClr val="417DBF"/>
                </a:solidFill>
                <a:latin typeface="Verdana"/>
                <a:ea typeface="Verdana"/>
                <a:cs typeface="Verdana"/>
                <a:sym typeface="Verdana"/>
              </a:rPr>
              <a:t>Geometry</a:t>
            </a:r>
            <a:br>
              <a:rPr lang="en-US" sz="3600" b="1" i="0" u="none" strike="noStrike" cap="none" dirty="0">
                <a:solidFill>
                  <a:srgbClr val="417DBF"/>
                </a:solidFill>
                <a:latin typeface="Verdana"/>
                <a:ea typeface="Verdana"/>
                <a:cs typeface="Verdana"/>
                <a:sym typeface="Verdana"/>
              </a:rPr>
            </a:br>
            <a:endParaRPr sz="3600" b="1" i="0" u="none" strike="noStrike" cap="none" dirty="0">
              <a:solidFill>
                <a:srgbClr val="417DBF"/>
              </a:solidFill>
              <a:latin typeface="Verdana"/>
              <a:ea typeface="Verdana"/>
              <a:cs typeface="Verdana"/>
              <a:sym typeface="Verdana"/>
            </a:endParaRPr>
          </a:p>
          <a:p>
            <a:pPr marL="0" marR="0" lvl="0" indent="0" algn="ctr" rtl="0">
              <a:lnSpc>
                <a:spcPct val="100000"/>
              </a:lnSpc>
              <a:spcBef>
                <a:spcPts val="0"/>
              </a:spcBef>
              <a:spcAft>
                <a:spcPts val="0"/>
              </a:spcAft>
              <a:buClr>
                <a:srgbClr val="000000"/>
              </a:buClr>
              <a:buSzPts val="3300"/>
              <a:buFont typeface="Calibri"/>
              <a:buNone/>
            </a:pPr>
            <a:r>
              <a:rPr lang="en-US" sz="3600" b="1" i="0" u="none" strike="noStrike" cap="none" dirty="0">
                <a:solidFill>
                  <a:srgbClr val="417DBF"/>
                </a:solidFill>
                <a:latin typeface="Verdana"/>
                <a:ea typeface="Verdana"/>
                <a:cs typeface="Verdana"/>
                <a:sym typeface="Verdana"/>
              </a:rPr>
              <a:t>Unit 5, Lesson 7</a:t>
            </a:r>
            <a:br>
              <a:rPr lang="en-US" sz="3600" b="1" i="0" u="none" strike="noStrike" cap="none" dirty="0">
                <a:solidFill>
                  <a:srgbClr val="417DBF"/>
                </a:solidFill>
                <a:latin typeface="Verdana"/>
                <a:ea typeface="Verdana"/>
                <a:cs typeface="Verdana"/>
                <a:sym typeface="Verdana"/>
              </a:rPr>
            </a:br>
            <a:r>
              <a:rPr lang="en-US" sz="3600" b="1" i="0" u="none" strike="noStrike" cap="none" dirty="0">
                <a:solidFill>
                  <a:srgbClr val="417DBF"/>
                </a:solidFill>
                <a:latin typeface="Verdana"/>
                <a:ea typeface="Verdana"/>
                <a:cs typeface="Verdana"/>
                <a:sym typeface="Verdana"/>
              </a:rPr>
              <a:t/>
            </a:r>
            <a:br>
              <a:rPr lang="en-US" sz="3600" b="1" i="0" u="none" strike="noStrike" cap="none" dirty="0">
                <a:solidFill>
                  <a:srgbClr val="417DBF"/>
                </a:solidFill>
                <a:latin typeface="Verdana"/>
                <a:ea typeface="Verdana"/>
                <a:cs typeface="Verdana"/>
                <a:sym typeface="Verdana"/>
              </a:rPr>
            </a:br>
            <a:r>
              <a:rPr lang="en-US" sz="3600" b="1" i="0" u="none" strike="noStrike" cap="none" dirty="0">
                <a:solidFill>
                  <a:srgbClr val="417DBF"/>
                </a:solidFill>
                <a:latin typeface="Verdana"/>
                <a:ea typeface="Verdana"/>
                <a:cs typeface="Verdana"/>
                <a:sym typeface="Verdana"/>
              </a:rPr>
              <a:t>Corresponding Parts of Congruent Triangles </a:t>
            </a:r>
            <a:r>
              <a:rPr lang="en-US" sz="3600" b="1" i="0" u="none" strike="noStrike" cap="none" dirty="0" smtClean="0">
                <a:solidFill>
                  <a:srgbClr val="417DBF"/>
                </a:solidFill>
                <a:latin typeface="Verdana"/>
                <a:ea typeface="Verdana"/>
                <a:cs typeface="Verdana"/>
                <a:sym typeface="Verdana"/>
              </a:rPr>
              <a:t>Are </a:t>
            </a:r>
            <a:r>
              <a:rPr lang="en-US" sz="3600" b="1" i="0" u="none" strike="noStrike" cap="none" dirty="0">
                <a:solidFill>
                  <a:srgbClr val="417DBF"/>
                </a:solidFill>
                <a:latin typeface="Verdana"/>
                <a:ea typeface="Verdana"/>
                <a:cs typeface="Verdana"/>
                <a:sym typeface="Verdana"/>
              </a:rPr>
              <a:t>Congruent</a:t>
            </a:r>
            <a:r>
              <a:rPr lang="en-US" sz="3800" b="1" i="0" u="none" strike="noStrike" cap="none" dirty="0">
                <a:solidFill>
                  <a:srgbClr val="417DBF"/>
                </a:solidFill>
                <a:latin typeface="Verdana"/>
                <a:ea typeface="Verdana"/>
                <a:cs typeface="Verdana"/>
                <a:sym typeface="Verdana"/>
              </a:rPr>
              <a:t/>
            </a:r>
            <a:br>
              <a:rPr lang="en-US" sz="3800" b="1" i="0" u="none" strike="noStrike" cap="none" dirty="0">
                <a:solidFill>
                  <a:srgbClr val="417DBF"/>
                </a:solidFill>
                <a:latin typeface="Verdana"/>
                <a:ea typeface="Verdana"/>
                <a:cs typeface="Verdana"/>
                <a:sym typeface="Verdana"/>
              </a:rPr>
            </a:br>
            <a:r>
              <a:rPr lang="en-US" sz="3800" b="1" i="0" u="none" strike="noStrike" cap="none" dirty="0">
                <a:solidFill>
                  <a:srgbClr val="417DBF"/>
                </a:solidFill>
                <a:latin typeface="Verdana"/>
                <a:ea typeface="Verdana"/>
                <a:cs typeface="Verdana"/>
                <a:sym typeface="Verdana"/>
              </a:rPr>
              <a:t/>
            </a:r>
            <a:br>
              <a:rPr lang="en-US" sz="3800" b="1" i="0" u="none" strike="noStrike" cap="none" dirty="0">
                <a:solidFill>
                  <a:srgbClr val="417DBF"/>
                </a:solidFill>
                <a:latin typeface="Verdana"/>
                <a:ea typeface="Verdana"/>
                <a:cs typeface="Verdana"/>
                <a:sym typeface="Verdana"/>
              </a:rPr>
            </a:br>
            <a:r>
              <a:rPr lang="en-US" sz="2800" b="1" i="0" u="none" strike="noStrike" cap="none" dirty="0">
                <a:solidFill>
                  <a:srgbClr val="417DBF"/>
                </a:solidFill>
                <a:latin typeface="Verdana"/>
                <a:ea typeface="Verdana"/>
                <a:cs typeface="Verdana"/>
                <a:sym typeface="Verdana"/>
              </a:rPr>
              <a:t>Volume 1, pg. 262</a:t>
            </a:r>
            <a:endParaRPr dirty="0"/>
          </a:p>
          <a:p>
            <a:pPr marL="0" marR="0" lvl="0" indent="0" algn="ctr" rtl="0">
              <a:lnSpc>
                <a:spcPct val="100000"/>
              </a:lnSpc>
              <a:spcBef>
                <a:spcPts val="0"/>
              </a:spcBef>
              <a:spcAft>
                <a:spcPts val="0"/>
              </a:spcAft>
              <a:buClr>
                <a:srgbClr val="000000"/>
              </a:buClr>
              <a:buSzPts val="3300"/>
              <a:buFont typeface="Calibri"/>
              <a:buNone/>
            </a:pPr>
            <a:endParaRPr sz="3400" b="1" i="0" u="none" strike="noStrike" cap="none" dirty="0">
              <a:solidFill>
                <a:srgbClr val="417DBF"/>
              </a:solidFill>
              <a:latin typeface="Verdana"/>
              <a:ea typeface="Verdana"/>
              <a:cs typeface="Verdana"/>
              <a:sym typeface="Verdana"/>
            </a:endParaRPr>
          </a:p>
          <a:p>
            <a:pPr marL="0" marR="0" lvl="0" indent="0" algn="ctr" rtl="0">
              <a:lnSpc>
                <a:spcPct val="75000"/>
              </a:lnSpc>
              <a:spcBef>
                <a:spcPts val="0"/>
              </a:spcBef>
              <a:spcAft>
                <a:spcPts val="0"/>
              </a:spcAft>
              <a:buClr>
                <a:schemeClr val="dk1"/>
              </a:buClr>
              <a:buSzPts val="3300"/>
              <a:buFont typeface="Calibri"/>
              <a:buNone/>
            </a:pPr>
            <a:endParaRPr sz="3100" b="0" i="0" u="none" strike="noStrike" cap="none" dirty="0">
              <a:solidFill>
                <a:srgbClr val="417DBF"/>
              </a:solidFill>
              <a:latin typeface="Calibri"/>
              <a:ea typeface="Calibri"/>
              <a:cs typeface="Calibri"/>
              <a:sym typeface="Calibri"/>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91998" y="1631682"/>
            <a:ext cx="3090582" cy="3602736"/>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3" name="Google Shape;123;g104476d1465_1_17"/>
          <p:cNvSpPr txBox="1">
            <a:spLocks noGrp="1"/>
          </p:cNvSpPr>
          <p:nvPr>
            <p:ph type="title" idx="4294967295"/>
          </p:nvPr>
        </p:nvSpPr>
        <p:spPr>
          <a:xfrm>
            <a:off x="1098813" y="136649"/>
            <a:ext cx="75099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None/>
            </a:pPr>
            <a:r>
              <a:rPr lang="en-US" sz="4700" b="1">
                <a:solidFill>
                  <a:srgbClr val="54B5D1"/>
                </a:solidFill>
                <a:latin typeface="Verdana"/>
                <a:ea typeface="Verdana"/>
                <a:cs typeface="Verdana"/>
                <a:sym typeface="Verdana"/>
              </a:rPr>
              <a:t>Benchmarks</a:t>
            </a:r>
            <a:endParaRPr sz="3700" b="1">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275313" y="372424"/>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262</a:t>
            </a:r>
            <a:endParaRPr sz="1400" b="0" i="1" u="none" strike="noStrike" cap="none">
              <a:solidFill>
                <a:srgbClr val="000000"/>
              </a:solidFill>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628150" y="6200723"/>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488762" y="1600324"/>
            <a:ext cx="11035161" cy="4205700"/>
          </a:xfrm>
          <a:prstGeom prst="rect">
            <a:avLst/>
          </a:prstGeom>
          <a:noFill/>
          <a:ln>
            <a:noFill/>
          </a:ln>
        </p:spPr>
        <p:txBody>
          <a:bodyPr spcFirstLastPara="1" wrap="square" lIns="91425" tIns="45700" rIns="91425" bIns="45700" anchor="t" anchorCtr="0">
            <a:noAutofit/>
          </a:bodyPr>
          <a:lstStyle/>
          <a:p>
            <a:pPr marL="95250" marR="0" lvl="0" indent="0" algn="l" rtl="0">
              <a:lnSpc>
                <a:spcPct val="90000"/>
              </a:lnSpc>
              <a:spcBef>
                <a:spcPts val="750"/>
              </a:spcBef>
              <a:spcAft>
                <a:spcPts val="0"/>
              </a:spcAft>
              <a:buClr>
                <a:schemeClr val="dk1"/>
              </a:buClr>
              <a:buSzPts val="2100"/>
              <a:buFont typeface="Arial"/>
              <a:buNone/>
            </a:pPr>
            <a:r>
              <a:rPr lang="en-US" sz="2400" b="0" i="0" u="none" strike="noStrike" cap="none">
                <a:solidFill>
                  <a:schemeClr val="dk1"/>
                </a:solidFill>
                <a:latin typeface="Verdana"/>
                <a:ea typeface="Verdana"/>
                <a:cs typeface="Verdana"/>
                <a:sym typeface="Verdana"/>
              </a:rPr>
              <a:t>MA.912.GR.1.2 Prove triangle congruence or similarity using Side-Side-Side, Side-Angle-Side, Angle-Side-Angle, Angle-Angle-Side, Angle-Angle, and Hypotenuse-Leg.</a:t>
            </a:r>
            <a:endParaRPr/>
          </a:p>
          <a:p>
            <a:pPr marL="95250" marR="0" lvl="0" indent="0" algn="l" rtl="0">
              <a:lnSpc>
                <a:spcPct val="90000"/>
              </a:lnSpc>
              <a:spcBef>
                <a:spcPts val="750"/>
              </a:spcBef>
              <a:spcAft>
                <a:spcPts val="0"/>
              </a:spcAft>
              <a:buClr>
                <a:schemeClr val="dk1"/>
              </a:buClr>
              <a:buSzPts val="2100"/>
              <a:buFont typeface="Arial"/>
              <a:buNone/>
            </a:pPr>
            <a:r>
              <a:rPr lang="en-US" sz="2400" b="0" i="0" u="none" strike="noStrike" cap="none">
                <a:solidFill>
                  <a:schemeClr val="dk1"/>
                </a:solidFill>
                <a:latin typeface="Verdana"/>
                <a:ea typeface="Verdana"/>
                <a:cs typeface="Verdana"/>
                <a:sym typeface="Verdana"/>
              </a:rPr>
              <a:t> </a:t>
            </a:r>
            <a:endParaRPr/>
          </a:p>
          <a:p>
            <a:pPr marL="95250" marR="0" lvl="0" indent="0" algn="l" rtl="0">
              <a:lnSpc>
                <a:spcPct val="90000"/>
              </a:lnSpc>
              <a:spcBef>
                <a:spcPts val="750"/>
              </a:spcBef>
              <a:spcAft>
                <a:spcPts val="0"/>
              </a:spcAft>
              <a:buClr>
                <a:schemeClr val="dk1"/>
              </a:buClr>
              <a:buSzPts val="2100"/>
              <a:buFont typeface="Arial"/>
              <a:buNone/>
            </a:pPr>
            <a:r>
              <a:rPr lang="en-US" sz="2400" b="0" i="0" u="none" strike="noStrike" cap="none">
                <a:solidFill>
                  <a:schemeClr val="dk1"/>
                </a:solidFill>
                <a:latin typeface="Verdana"/>
                <a:ea typeface="Verdana"/>
                <a:cs typeface="Verdana"/>
                <a:sym typeface="Verdana"/>
              </a:rPr>
              <a:t>MA.912.GR.1.6 Solve mathematical and real-world problems involving congruence or similarity in two-dimensional figures.</a:t>
            </a:r>
            <a:endParaRPr/>
          </a:p>
          <a:p>
            <a:pPr marL="95250" marR="0" lvl="0" indent="0" algn="l" rtl="0">
              <a:lnSpc>
                <a:spcPct val="90000"/>
              </a:lnSpc>
              <a:spcBef>
                <a:spcPts val="750"/>
              </a:spcBef>
              <a:spcAft>
                <a:spcPts val="0"/>
              </a:spcAft>
              <a:buClr>
                <a:schemeClr val="dk1"/>
              </a:buClr>
              <a:buSzPts val="2100"/>
              <a:buFont typeface="Arial"/>
              <a:buNone/>
            </a:pPr>
            <a:r>
              <a:rPr lang="en-US" sz="2400" b="0" i="0" u="none" strike="noStrike" cap="none">
                <a:solidFill>
                  <a:schemeClr val="dk1"/>
                </a:solidFill>
                <a:latin typeface="Verdana"/>
                <a:ea typeface="Verdana"/>
                <a:cs typeface="Verdana"/>
                <a:sym typeface="Verdana"/>
              </a:rPr>
              <a:t> </a:t>
            </a:r>
            <a:endParaRPr/>
          </a:p>
          <a:p>
            <a:pPr marL="95250" marR="0" lvl="0" indent="0" algn="l" rtl="0">
              <a:lnSpc>
                <a:spcPct val="90000"/>
              </a:lnSpc>
              <a:spcBef>
                <a:spcPts val="750"/>
              </a:spcBef>
              <a:spcAft>
                <a:spcPts val="0"/>
              </a:spcAft>
              <a:buClr>
                <a:schemeClr val="dk1"/>
              </a:buClr>
              <a:buSzPts val="2100"/>
              <a:buFont typeface="Arial"/>
              <a:buNone/>
            </a:pPr>
            <a:r>
              <a:rPr lang="en-US" sz="2400" b="0" i="0" u="none" strike="noStrike" cap="none">
                <a:solidFill>
                  <a:schemeClr val="dk1"/>
                </a:solidFill>
                <a:latin typeface="Verdana"/>
                <a:ea typeface="Verdana"/>
                <a:cs typeface="Verdana"/>
                <a:sym typeface="Verdana"/>
              </a:rPr>
              <a:t>MA.912.LT.4.10 Judge the validity of arguments and give counterexamples to disprove statements.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34" name="Google Shape;134;p1"/>
          <p:cNvPicPr preferRelativeResize="0"/>
          <p:nvPr/>
        </p:nvPicPr>
        <p:blipFill rotWithShape="1">
          <a:blip r:embed="rId3">
            <a:alphaModFix/>
          </a:blip>
          <a:srcRect/>
          <a:stretch/>
        </p:blipFill>
        <p:spPr>
          <a:xfrm>
            <a:off x="300550" y="380525"/>
            <a:ext cx="747300" cy="747300"/>
          </a:xfrm>
          <a:prstGeom prst="rect">
            <a:avLst/>
          </a:prstGeom>
          <a:noFill/>
          <a:ln>
            <a:noFill/>
          </a:ln>
          <a:effectLst>
            <a:outerShdw blurRad="57150" dist="19050" dir="5400000" algn="bl" rotWithShape="0">
              <a:srgbClr val="000000">
                <a:alpha val="49803"/>
              </a:srgbClr>
            </a:outerShdw>
          </a:effectLst>
        </p:spPr>
      </p:pic>
      <p:pic>
        <p:nvPicPr>
          <p:cNvPr id="135" name="Google Shape;135;p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136" name="Google Shape;136;p1"/>
          <p:cNvSpPr txBox="1"/>
          <p:nvPr/>
        </p:nvSpPr>
        <p:spPr>
          <a:xfrm>
            <a:off x="1125200" y="137892"/>
            <a:ext cx="9228168"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3000" b="1" i="0" u="none" strike="noStrike" cap="none">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262</a:t>
            </a:r>
            <a:endParaRPr/>
          </a:p>
        </p:txBody>
      </p:sp>
      <p:sp>
        <p:nvSpPr>
          <p:cNvPr id="138" name="Google Shape;138;p1"/>
          <p:cNvSpPr txBox="1"/>
          <p:nvPr/>
        </p:nvSpPr>
        <p:spPr>
          <a:xfrm>
            <a:off x="1101760" y="1604615"/>
            <a:ext cx="10422164" cy="4205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0" i="0" u="none" strike="noStrike" cap="none">
                <a:solidFill>
                  <a:schemeClr val="dk1"/>
                </a:solidFill>
                <a:latin typeface="Verdana"/>
                <a:ea typeface="Verdana"/>
                <a:cs typeface="Verdana"/>
                <a:sym typeface="Verdana"/>
              </a:rPr>
              <a:t>MA.K12.MTR.1.1 Actively participate in effortful learning both individually and collectively.</a:t>
            </a:r>
            <a:endParaRPr/>
          </a:p>
          <a:p>
            <a:pPr marL="457200" marR="0" lvl="0" indent="0" algn="l" rtl="0">
              <a:lnSpc>
                <a:spcPct val="100000"/>
              </a:lnSpc>
              <a:spcBef>
                <a:spcPts val="0"/>
              </a:spcBef>
              <a:spcAft>
                <a:spcPts val="0"/>
              </a:spcAft>
              <a:buNone/>
            </a:pPr>
            <a:endParaRPr sz="1800" b="0" i="0" u="none" strike="noStrike" cap="none">
              <a:solidFill>
                <a:schemeClr val="dk1"/>
              </a:solidFill>
              <a:latin typeface="Verdana"/>
              <a:ea typeface="Verdana"/>
              <a:cs typeface="Verdana"/>
              <a:sym typeface="Verdana"/>
            </a:endParaRPr>
          </a:p>
          <a:p>
            <a:pPr marL="0" marR="0" lvl="0" indent="0" algn="l" rtl="0">
              <a:lnSpc>
                <a:spcPct val="100000"/>
              </a:lnSpc>
              <a:spcBef>
                <a:spcPts val="0"/>
              </a:spcBef>
              <a:spcAft>
                <a:spcPts val="0"/>
              </a:spcAft>
              <a:buNone/>
            </a:pPr>
            <a:r>
              <a:rPr lang="en-US" sz="1800" b="0" i="0" u="none" strike="noStrike" cap="none">
                <a:solidFill>
                  <a:schemeClr val="dk1"/>
                </a:solidFill>
                <a:latin typeface="Verdana"/>
                <a:ea typeface="Verdana"/>
                <a:cs typeface="Verdana"/>
                <a:sym typeface="Verdana"/>
              </a:rPr>
              <a:t>MA.K12.MTR.4.1 Engage in discussions that reflect on the mathematical thinking of self and others.</a:t>
            </a:r>
            <a:endParaRPr/>
          </a:p>
          <a:p>
            <a:pPr marL="457200" marR="0" lvl="0" indent="0" algn="l" rtl="0">
              <a:lnSpc>
                <a:spcPct val="100000"/>
              </a:lnSpc>
              <a:spcBef>
                <a:spcPts val="0"/>
              </a:spcBef>
              <a:spcAft>
                <a:spcPts val="0"/>
              </a:spcAft>
              <a:buNone/>
            </a:pPr>
            <a:endParaRPr sz="1800" b="0" i="0" u="none" strike="noStrike" cap="none">
              <a:solidFill>
                <a:schemeClr val="dk1"/>
              </a:solidFill>
              <a:latin typeface="Verdana"/>
              <a:ea typeface="Verdana"/>
              <a:cs typeface="Verdana"/>
              <a:sym typeface="Verdana"/>
            </a:endParaRPr>
          </a:p>
          <a:p>
            <a:pPr marL="0" marR="0" lvl="0" indent="0" algn="l" rtl="0">
              <a:lnSpc>
                <a:spcPct val="100000"/>
              </a:lnSpc>
              <a:spcBef>
                <a:spcPts val="0"/>
              </a:spcBef>
              <a:spcAft>
                <a:spcPts val="0"/>
              </a:spcAft>
              <a:buNone/>
            </a:pPr>
            <a:r>
              <a:rPr lang="en-US" sz="1800" b="0" i="0" u="none" strike="noStrike" cap="none">
                <a:solidFill>
                  <a:schemeClr val="dk1"/>
                </a:solidFill>
                <a:latin typeface="Verdana"/>
                <a:ea typeface="Verdana"/>
                <a:cs typeface="Verdana"/>
                <a:sym typeface="Verdana"/>
              </a:rPr>
              <a:t>MA.K12.MTR.5.1 Use patterns and structure to help understand and connect mathematical concepts.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highlight>
                <a:srgbClr val="FFFF00"/>
              </a:highlight>
              <a:latin typeface="Arial"/>
              <a:ea typeface="Arial"/>
              <a:cs typeface="Arial"/>
              <a:sym typeface="Arial"/>
            </a:endParaRPr>
          </a:p>
        </p:txBody>
      </p:sp>
      <p:pic>
        <p:nvPicPr>
          <p:cNvPr id="145" name="Google Shape;145;p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146" name="Google Shape;146;p2"/>
          <p:cNvSpPr txBox="1"/>
          <p:nvPr/>
        </p:nvSpPr>
        <p:spPr>
          <a:xfrm>
            <a:off x="1060265" y="30784"/>
            <a:ext cx="7958400"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4700" b="1" i="0" u="none" strike="noStrike" cap="none">
                <a:solidFill>
                  <a:srgbClr val="52BDA6"/>
                </a:solidFill>
                <a:latin typeface="Verdana"/>
                <a:ea typeface="Verdana"/>
                <a:cs typeface="Verdana"/>
                <a:sym typeface="Verdana"/>
              </a:rPr>
              <a:t>Learning Targets</a:t>
            </a:r>
            <a:endParaRPr/>
          </a:p>
        </p:txBody>
      </p:sp>
      <p:pic>
        <p:nvPicPr>
          <p:cNvPr id="147" name="Google Shape;147;p2"/>
          <p:cNvPicPr preferRelativeResize="0"/>
          <p:nvPr/>
        </p:nvPicPr>
        <p:blipFill rotWithShape="1">
          <a:blip r:embed="rId4">
            <a:alphaModFix/>
          </a:blip>
          <a:srcRect/>
          <a:stretch/>
        </p:blipFill>
        <p:spPr>
          <a:xfrm>
            <a:off x="278103" y="319984"/>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262</a:t>
            </a:r>
            <a:endParaRPr/>
          </a:p>
        </p:txBody>
      </p:sp>
      <p:sp>
        <p:nvSpPr>
          <p:cNvPr id="149" name="Google Shape;149;p2"/>
          <p:cNvSpPr txBox="1"/>
          <p:nvPr/>
        </p:nvSpPr>
        <p:spPr>
          <a:xfrm>
            <a:off x="460890" y="1600324"/>
            <a:ext cx="11167260" cy="42057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2400"/>
              <a:buFont typeface="Noto Sans Symbols"/>
              <a:buChar char="❑"/>
            </a:pPr>
            <a:r>
              <a:rPr lang="en-US" sz="2400" b="0" i="0" u="none" strike="noStrike" cap="none">
                <a:solidFill>
                  <a:srgbClr val="000000"/>
                </a:solidFill>
                <a:latin typeface="Verdana"/>
                <a:ea typeface="Verdana"/>
                <a:cs typeface="Verdana"/>
                <a:sym typeface="Verdana"/>
              </a:rPr>
              <a:t>I understand how to use corresponding parts of congruent triangles in a proof.</a:t>
            </a:r>
            <a:endParaRPr/>
          </a:p>
          <a:p>
            <a:pPr marL="342900" marR="0" lvl="0" indent="-342900" algn="l" rtl="0">
              <a:lnSpc>
                <a:spcPct val="100000"/>
              </a:lnSpc>
              <a:spcBef>
                <a:spcPts val="0"/>
              </a:spcBef>
              <a:spcAft>
                <a:spcPts val="0"/>
              </a:spcAft>
              <a:buClr>
                <a:srgbClr val="000000"/>
              </a:buClr>
              <a:buSzPts val="2400"/>
              <a:buFont typeface="Noto Sans Symbols"/>
              <a:buChar char="❑"/>
            </a:pPr>
            <a:r>
              <a:rPr lang="en-US" sz="2400" b="0" i="0" u="none" strike="noStrike" cap="none">
                <a:solidFill>
                  <a:srgbClr val="000000"/>
                </a:solidFill>
                <a:latin typeface="Verdana"/>
                <a:ea typeface="Verdana"/>
                <a:cs typeface="Verdana"/>
                <a:sym typeface="Verdana"/>
              </a:rPr>
              <a:t>I can prove parts of triangles are congruent using triangle congruence and corresponding parts of congruent triangles.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56" name="Google Shape;156;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pic>
        <p:nvPicPr>
          <p:cNvPr id="157" name="Google Shape;157;g104476d1465_1_39"/>
          <p:cNvPicPr preferRelativeResize="0"/>
          <p:nvPr/>
        </p:nvPicPr>
        <p:blipFill rotWithShape="1">
          <a:blip r:embed="rId4">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800"/>
              <a:buNone/>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159" name="Google Shape;159;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262</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66" name="Google Shape;166;p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167" name="Google Shape;167;p4"/>
          <p:cNvSpPr txBox="1"/>
          <p:nvPr/>
        </p:nvSpPr>
        <p:spPr>
          <a:xfrm>
            <a:off x="1010466" y="60449"/>
            <a:ext cx="8019300"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3600" b="1" i="0" u="none" strike="noStrike" cap="none">
                <a:solidFill>
                  <a:srgbClr val="3F2A67"/>
                </a:solidFill>
                <a:latin typeface="Verdana"/>
                <a:ea typeface="Verdana"/>
                <a:cs typeface="Verdana"/>
                <a:sym typeface="Verdana"/>
              </a:rPr>
              <a:t>5.7.1 Warm-Up: Brain Teaser</a:t>
            </a:r>
            <a:endParaRPr/>
          </a:p>
        </p:txBody>
      </p:sp>
      <p:pic>
        <p:nvPicPr>
          <p:cNvPr id="168" name="Google Shape;168;p4"/>
          <p:cNvPicPr preferRelativeResize="0"/>
          <p:nvPr/>
        </p:nvPicPr>
        <p:blipFill rotWithShape="1">
          <a:blip r:embed="rId4">
            <a:alphaModFix/>
          </a:blip>
          <a:srcRect/>
          <a:stretch/>
        </p:blipFill>
        <p:spPr>
          <a:xfrm>
            <a:off x="263166" y="197609"/>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262</a:t>
            </a:r>
            <a:endParaRPr/>
          </a:p>
        </p:txBody>
      </p:sp>
      <p:sp>
        <p:nvSpPr>
          <p:cNvPr id="170" name="Google Shape;170;p4"/>
          <p:cNvSpPr txBox="1"/>
          <p:nvPr/>
        </p:nvSpPr>
        <p:spPr>
          <a:xfrm>
            <a:off x="551064" y="1386149"/>
            <a:ext cx="11077086" cy="31700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Verdana"/>
                <a:ea typeface="Verdana"/>
                <a:cs typeface="Verdana"/>
                <a:sym typeface="Verdana"/>
              </a:rPr>
              <a:t>Brain teasers like this have been traced back to medieval times. Here’s one with a Florida twist.</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Verdana"/>
                <a:ea typeface="Verdana"/>
                <a:cs typeface="Verdana"/>
                <a:sym typeface="Verdana"/>
              </a:rPr>
              <a:t> </a:t>
            </a:r>
            <a:endParaRPr/>
          </a:p>
          <a:p>
            <a:pPr marL="457200" marR="0" lvl="0" indent="-457200" algn="l" rtl="0">
              <a:lnSpc>
                <a:spcPct val="100000"/>
              </a:lnSpc>
              <a:spcBef>
                <a:spcPts val="0"/>
              </a:spcBef>
              <a:spcAft>
                <a:spcPts val="0"/>
              </a:spcAft>
              <a:buClr>
                <a:srgbClr val="000000"/>
              </a:buClr>
              <a:buSzPts val="2000"/>
              <a:buFont typeface="Arial"/>
              <a:buAutoNum type="arabicPeriod"/>
            </a:pPr>
            <a:r>
              <a:rPr lang="en-US" sz="2000" b="0" i="0" u="none" strike="noStrike" cap="none">
                <a:solidFill>
                  <a:srgbClr val="000000"/>
                </a:solidFill>
                <a:latin typeface="Verdana"/>
                <a:ea typeface="Verdana"/>
                <a:cs typeface="Verdana"/>
                <a:sym typeface="Verdana"/>
              </a:rPr>
              <a:t>A man has to take a panther, a raccoon, and some strawberries across St. John’s river. His rowboat has enough room for the man, plus either the panther or the raccoon or the strawberries. If he takes the strawberries with him, the panther will eat the raccoon. If he takes the panther, the raccoon will eat the strawberries. Only when the man is present are the raccoon and the strawberries safe from their enemies. All the same, the man successfully carries panther, raccoon, and strawberries across the river. How?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5"/>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77" name="Google Shape;177;p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178" name="Google Shape;178;p5"/>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ct val="96969"/>
              <a:buNone/>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sp>
        <p:nvSpPr>
          <p:cNvPr id="179" name="Google Shape;179;p5"/>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263</a:t>
            </a:r>
            <a:endParaRPr/>
          </a:p>
        </p:txBody>
      </p:sp>
      <p:pic>
        <p:nvPicPr>
          <p:cNvPr id="180" name="Google Shape;180;p5"/>
          <p:cNvPicPr preferRelativeResize="0"/>
          <p:nvPr/>
        </p:nvPicPr>
        <p:blipFill rotWithShape="1">
          <a:blip r:embed="rId4">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6"/>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87" name="Google Shape;187;p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3"/>
            <a:ext cx="563850" cy="657276"/>
          </a:xfrm>
          <a:prstGeom prst="rect">
            <a:avLst/>
          </a:prstGeom>
          <a:noFill/>
          <a:ln>
            <a:noFill/>
          </a:ln>
          <a:effectLst>
            <a:outerShdw blurRad="57150" dist="19050" dir="5400000" algn="bl" rotWithShape="0">
              <a:srgbClr val="000000">
                <a:alpha val="49803"/>
              </a:srgbClr>
            </a:outerShdw>
          </a:effectLst>
        </p:spPr>
      </p:pic>
      <p:sp>
        <p:nvSpPr>
          <p:cNvPr id="188" name="Google Shape;188;p6"/>
          <p:cNvSpPr txBox="1"/>
          <p:nvPr/>
        </p:nvSpPr>
        <p:spPr>
          <a:xfrm>
            <a:off x="1052650" y="60449"/>
            <a:ext cx="11306498"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3500" b="1" i="0" u="none" strike="noStrike" cap="none">
                <a:solidFill>
                  <a:srgbClr val="33BEA6"/>
                </a:solidFill>
                <a:latin typeface="Verdana"/>
                <a:ea typeface="Verdana"/>
                <a:cs typeface="Verdana"/>
                <a:sym typeface="Verdana"/>
              </a:rPr>
              <a:t>5.7.2 Collaboration: Overlapping Triangles</a:t>
            </a:r>
            <a:endParaRPr/>
          </a:p>
        </p:txBody>
      </p:sp>
      <p:sp>
        <p:nvSpPr>
          <p:cNvPr id="189" name="Google Shape;189;p6"/>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263</a:t>
            </a:r>
            <a:endParaRPr/>
          </a:p>
        </p:txBody>
      </p:sp>
      <p:pic>
        <p:nvPicPr>
          <p:cNvPr id="190" name="Google Shape;190;p6"/>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02842" y="348395"/>
            <a:ext cx="749808" cy="749808"/>
          </a:xfrm>
          <a:prstGeom prst="rect">
            <a:avLst/>
          </a:prstGeom>
          <a:noFill/>
          <a:ln>
            <a:noFill/>
          </a:ln>
          <a:effectLst>
            <a:outerShdw blurRad="50800" dist="38100" dir="2700000" algn="tl" rotWithShape="0">
              <a:srgbClr val="000000">
                <a:alpha val="40000"/>
              </a:srgbClr>
            </a:outerShdw>
          </a:effectLst>
        </p:spPr>
      </p:pic>
      <p:sp>
        <p:nvSpPr>
          <p:cNvPr id="191" name="Google Shape;191;p6"/>
          <p:cNvSpPr txBox="1"/>
          <p:nvPr/>
        </p:nvSpPr>
        <p:spPr>
          <a:xfrm>
            <a:off x="593247" y="1386150"/>
            <a:ext cx="10276313" cy="1015663"/>
          </a:xfrm>
          <a:prstGeom prst="rect">
            <a:avLst/>
          </a:prstGeom>
          <a:blipFill rotWithShape="1">
            <a:blip r:embed="rId5">
              <a:alphaModFix/>
            </a:blip>
            <a:stretch>
              <a:fillRect l="-591" t="-2993" b="-957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192" name="Google Shape;192;p6"/>
          <p:cNvSpPr/>
          <p:nvPr/>
        </p:nvSpPr>
        <p:spPr>
          <a:xfrm>
            <a:off x="677746" y="5513700"/>
            <a:ext cx="7908030" cy="1015663"/>
          </a:xfrm>
          <a:prstGeom prst="rect">
            <a:avLst/>
          </a:prstGeom>
          <a:blipFill rotWithShape="1">
            <a:blip r:embed="rId6">
              <a:alphaModFix/>
            </a:blip>
            <a:stretch>
              <a:fillRect l="-847" t="-3592" b="-1017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pic>
        <p:nvPicPr>
          <p:cNvPr id="193" name="Google Shape;193;p6"/>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937747" y="2558682"/>
            <a:ext cx="5388029" cy="275666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00" name="Google Shape;200;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201" name="Google Shape;201;p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263</a:t>
            </a:r>
            <a:endParaRPr/>
          </a:p>
        </p:txBody>
      </p:sp>
      <p:sp>
        <p:nvSpPr>
          <p:cNvPr id="202" name="Google Shape;202;p7"/>
          <p:cNvSpPr txBox="1"/>
          <p:nvPr/>
        </p:nvSpPr>
        <p:spPr>
          <a:xfrm>
            <a:off x="540564" y="520518"/>
            <a:ext cx="11087585" cy="4708981"/>
          </a:xfrm>
          <a:prstGeom prst="rect">
            <a:avLst/>
          </a:prstGeom>
          <a:blipFill rotWithShape="1">
            <a:blip r:embed="rId4">
              <a:alphaModFix/>
            </a:blip>
            <a:stretch>
              <a:fillRect l="-604" t="-775" r="-384" b="-129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8"/>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09" name="Google Shape;209;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210" name="Google Shape;210;p8"/>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264</a:t>
            </a:r>
            <a:endParaRPr/>
          </a:p>
        </p:txBody>
      </p:sp>
      <p:sp>
        <p:nvSpPr>
          <p:cNvPr id="211" name="Google Shape;211;p8"/>
          <p:cNvSpPr/>
          <p:nvPr/>
        </p:nvSpPr>
        <p:spPr>
          <a:xfrm>
            <a:off x="749375" y="488607"/>
            <a:ext cx="9441760" cy="1938992"/>
          </a:xfrm>
          <a:prstGeom prst="rect">
            <a:avLst/>
          </a:prstGeom>
          <a:blipFill rotWithShape="1">
            <a:blip r:embed="rId4">
              <a:alphaModFix/>
            </a:blip>
            <a:stretch>
              <a:fillRect l="-708" t="-220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212" name="Google Shape;212;p8"/>
          <p:cNvSpPr/>
          <p:nvPr/>
        </p:nvSpPr>
        <p:spPr>
          <a:xfrm>
            <a:off x="749375" y="5786727"/>
            <a:ext cx="10356160" cy="400110"/>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000000"/>
              </a:buClr>
              <a:buSzPts val="2000"/>
              <a:buFont typeface="Arial"/>
              <a:buAutoNum type="arabicPeriod" startAt="10"/>
            </a:pPr>
            <a:r>
              <a:rPr lang="en-US" sz="2000" b="0" i="0" u="none" strike="noStrike" cap="none">
                <a:solidFill>
                  <a:srgbClr val="000000"/>
                </a:solidFill>
                <a:latin typeface="Verdana"/>
                <a:ea typeface="Verdana"/>
                <a:cs typeface="Verdana"/>
                <a:sym typeface="Verdana"/>
              </a:rPr>
              <a:t>Check your proof with another group and if necessary, make adjustments.</a:t>
            </a:r>
            <a:endParaRPr sz="2000" b="0" i="0" u="none" strike="noStrike" cap="none">
              <a:solidFill>
                <a:srgbClr val="000000"/>
              </a:solidFill>
              <a:latin typeface="Cambria"/>
              <a:ea typeface="Cambria"/>
              <a:cs typeface="Cambria"/>
              <a:sym typeface="Cambria"/>
            </a:endParaRPr>
          </a:p>
        </p:txBody>
      </p:sp>
      <p:pic>
        <p:nvPicPr>
          <p:cNvPr id="213" name="Google Shape;213;p8"/>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600332" y="1974183"/>
            <a:ext cx="6300061" cy="368475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20" name="Google Shape;220;p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221" name="Google Shape;221;p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ct val="96969"/>
              <a:buNone/>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222" name="Google Shape;222;p9"/>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223" name="Google Shape;223;p9"/>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264</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0"/>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30" name="Google Shape;230;p1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231" name="Google Shape;231;p10"/>
          <p:cNvSpPr txBox="1"/>
          <p:nvPr/>
        </p:nvSpPr>
        <p:spPr>
          <a:xfrm>
            <a:off x="1052650" y="-85855"/>
            <a:ext cx="7867734"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3600" b="1" i="0" u="none" strike="noStrike" cap="none">
                <a:solidFill>
                  <a:srgbClr val="54B5D1"/>
                </a:solidFill>
                <a:latin typeface="Verdana"/>
                <a:ea typeface="Verdana"/>
                <a:cs typeface="Verdana"/>
                <a:sym typeface="Verdana"/>
              </a:rPr>
              <a:t>5.7.3 Guided Instruction: Proofs Using CPCTC</a:t>
            </a:r>
            <a:endParaRPr/>
          </a:p>
        </p:txBody>
      </p:sp>
      <p:pic>
        <p:nvPicPr>
          <p:cNvPr id="232" name="Google Shape;232;p10"/>
          <p:cNvPicPr preferRelativeResize="0"/>
          <p:nvPr/>
        </p:nvPicPr>
        <p:blipFill rotWithShape="1">
          <a:blip r:embed="rId4">
            <a:alphaModFix/>
          </a:blip>
          <a:srcRect/>
          <a:stretch/>
        </p:blipFill>
        <p:spPr>
          <a:xfrm>
            <a:off x="305350" y="121409"/>
            <a:ext cx="747300" cy="747300"/>
          </a:xfrm>
          <a:prstGeom prst="rect">
            <a:avLst/>
          </a:prstGeom>
          <a:noFill/>
          <a:ln>
            <a:noFill/>
          </a:ln>
          <a:effectLst>
            <a:outerShdw blurRad="50800" dist="38100" dir="2700000" algn="tl" rotWithShape="0">
              <a:srgbClr val="000000">
                <a:alpha val="40000"/>
              </a:srgbClr>
            </a:outerShdw>
          </a:effectLst>
        </p:spPr>
      </p:pic>
      <p:sp>
        <p:nvSpPr>
          <p:cNvPr id="233" name="Google Shape;233;p10"/>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264</a:t>
            </a:r>
            <a:endParaRPr/>
          </a:p>
        </p:txBody>
      </p:sp>
      <p:sp>
        <p:nvSpPr>
          <p:cNvPr id="234" name="Google Shape;234;p10"/>
          <p:cNvSpPr txBox="1"/>
          <p:nvPr/>
        </p:nvSpPr>
        <p:spPr>
          <a:xfrm>
            <a:off x="593248" y="1386150"/>
            <a:ext cx="11034902"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Verdana"/>
                <a:ea typeface="Verdana"/>
                <a:cs typeface="Verdana"/>
                <a:sym typeface="Verdana"/>
              </a:rPr>
              <a:t>Once two triangles have been proven to be congruent, then CPCTC states that any other corresponding parts of the triangles are also congruent. </a:t>
            </a:r>
            <a:endParaRPr/>
          </a:p>
        </p:txBody>
      </p:sp>
      <p:sp>
        <p:nvSpPr>
          <p:cNvPr id="235" name="Google Shape;235;p10"/>
          <p:cNvSpPr/>
          <p:nvPr/>
        </p:nvSpPr>
        <p:spPr>
          <a:xfrm>
            <a:off x="1389433" y="2776480"/>
            <a:ext cx="6629400" cy="1887608"/>
          </a:xfrm>
          <a:prstGeom prst="roundRect">
            <a:avLst>
              <a:gd name="adj" fmla="val 16667"/>
            </a:avLst>
          </a:prstGeom>
          <a:solidFill>
            <a:srgbClr val="B6E6F5"/>
          </a:solidFill>
          <a:ln>
            <a:noFill/>
          </a:ln>
          <a:effectLst>
            <a:outerShdw blurRad="50800" dist="76200" dir="2700000" algn="tl" rotWithShape="0">
              <a:srgbClr val="000000">
                <a:alpha val="40000"/>
              </a:srgbClr>
            </a:outerShdw>
          </a:effectLst>
        </p:spPr>
        <p:txBody>
          <a:bodyPr spcFirstLastPara="1" wrap="square" lIns="91425" tIns="45700" rIns="91425" bIns="45700" anchor="ctr" anchorCtr="0">
            <a:noAutofit/>
          </a:bodyPr>
          <a:lstStyle/>
          <a:p>
            <a:pPr marL="742950" marR="0" lvl="0" indent="0" algn="l" rtl="0">
              <a:lnSpc>
                <a:spcPct val="100000"/>
              </a:lnSpc>
              <a:spcBef>
                <a:spcPts val="0"/>
              </a:spcBef>
              <a:spcAft>
                <a:spcPts val="0"/>
              </a:spcAft>
              <a:buNone/>
            </a:pPr>
            <a:r>
              <a:rPr lang="en-US" sz="2000" b="1" i="0" u="none" strike="noStrike" cap="none">
                <a:solidFill>
                  <a:srgbClr val="3465B0"/>
                </a:solidFill>
                <a:latin typeface="Verdana"/>
                <a:ea typeface="Verdana"/>
                <a:cs typeface="Verdana"/>
                <a:sym typeface="Verdana"/>
              </a:rPr>
              <a:t>Corresponding Parts of Congruent Triangles are Congruent (CPCTC)</a:t>
            </a:r>
            <a:endParaRPr sz="2000" b="0" i="0" u="none" strike="noStrike" cap="none">
              <a:solidFill>
                <a:srgbClr val="3465B0"/>
              </a:solidFill>
              <a:latin typeface="Arial"/>
              <a:ea typeface="Arial"/>
              <a:cs typeface="Arial"/>
              <a:sym typeface="Arial"/>
            </a:endParaRPr>
          </a:p>
          <a:p>
            <a:pPr marL="0" marR="0" lvl="0" indent="0" algn="l" rtl="0">
              <a:lnSpc>
                <a:spcPct val="100000"/>
              </a:lnSpc>
              <a:spcBef>
                <a:spcPts val="1000"/>
              </a:spcBef>
              <a:spcAft>
                <a:spcPts val="0"/>
              </a:spcAft>
              <a:buNone/>
            </a:pPr>
            <a:r>
              <a:rPr lang="en-US" sz="2000" b="0" i="0" u="none" strike="noStrike" cap="none">
                <a:solidFill>
                  <a:srgbClr val="3465B0"/>
                </a:solidFill>
                <a:latin typeface="Arial"/>
                <a:ea typeface="Arial"/>
                <a:cs typeface="Arial"/>
                <a:sym typeface="Arial"/>
              </a:rPr>
              <a:t>	If two triangles are congruent, then all 	corresponding parts of the triangles are 	congruent.</a:t>
            </a:r>
            <a:endParaRPr/>
          </a:p>
        </p:txBody>
      </p:sp>
      <p:pic>
        <p:nvPicPr>
          <p:cNvPr id="236" name="Google Shape;236;p10"/>
          <p:cNvPicPr preferRelativeResize="0"/>
          <p:nvPr/>
        </p:nvPicPr>
        <p:blipFill rotWithShape="1">
          <a:blip r:embed="rId5">
            <a:alphaModFix/>
          </a:blip>
          <a:srcRect/>
          <a:stretch/>
        </p:blipFill>
        <p:spPr>
          <a:xfrm>
            <a:off x="1595556" y="3009240"/>
            <a:ext cx="542544" cy="530352"/>
          </a:xfrm>
          <a:prstGeom prst="rect">
            <a:avLst/>
          </a:prstGeom>
          <a:noFill/>
          <a:ln>
            <a:noFill/>
          </a:ln>
          <a:effectLst>
            <a:outerShdw blurRad="50800" dist="76200" dir="2700000" algn="tl" rotWithShape="0">
              <a:srgbClr val="000000">
                <a:alpha val="4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1"/>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43" name="Google Shape;243;p1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05927" y="6200724"/>
            <a:ext cx="563850" cy="657276"/>
          </a:xfrm>
          <a:prstGeom prst="rect">
            <a:avLst/>
          </a:prstGeom>
          <a:noFill/>
          <a:ln>
            <a:noFill/>
          </a:ln>
          <a:effectLst>
            <a:outerShdw blurRad="57150" dist="19050" dir="5400000" algn="bl" rotWithShape="0">
              <a:srgbClr val="000000">
                <a:alpha val="49803"/>
              </a:srgbClr>
            </a:outerShdw>
          </a:effectLst>
        </p:spPr>
      </p:pic>
      <p:sp>
        <p:nvSpPr>
          <p:cNvPr id="244" name="Google Shape;244;p11"/>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264</a:t>
            </a:r>
            <a:endParaRPr/>
          </a:p>
        </p:txBody>
      </p:sp>
      <p:sp>
        <p:nvSpPr>
          <p:cNvPr id="245" name="Google Shape;245;p11"/>
          <p:cNvSpPr txBox="1"/>
          <p:nvPr/>
        </p:nvSpPr>
        <p:spPr>
          <a:xfrm>
            <a:off x="540565" y="520518"/>
            <a:ext cx="10961136" cy="1323439"/>
          </a:xfrm>
          <a:prstGeom prst="rect">
            <a:avLst/>
          </a:prstGeom>
          <a:blipFill rotWithShape="1">
            <a:blip r:embed="rId4">
              <a:alphaModFix/>
            </a:blip>
            <a:stretch>
              <a:fillRect l="-611" t="-2301" b="-783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pic>
        <p:nvPicPr>
          <p:cNvPr id="246" name="Google Shape;246;p11"/>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810578" y="1964105"/>
            <a:ext cx="5787110" cy="2349313"/>
          </a:xfrm>
          <a:prstGeom prst="rect">
            <a:avLst/>
          </a:prstGeom>
          <a:noFill/>
          <a:ln>
            <a:noFill/>
          </a:ln>
        </p:spPr>
      </p:pic>
      <p:sp>
        <p:nvSpPr>
          <p:cNvPr id="247" name="Google Shape;247;p11"/>
          <p:cNvSpPr/>
          <p:nvPr/>
        </p:nvSpPr>
        <p:spPr>
          <a:xfrm>
            <a:off x="540565" y="4800833"/>
            <a:ext cx="10314248" cy="1015663"/>
          </a:xfrm>
          <a:prstGeom prst="rect">
            <a:avLst/>
          </a:prstGeom>
          <a:blipFill rotWithShape="1">
            <a:blip r:embed="rId6">
              <a:alphaModFix/>
            </a:blip>
            <a:stretch>
              <a:fillRect l="-649" t="-4216" b="-1024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2"/>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54" name="Google Shape;254;p1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255" name="Google Shape;255;p12"/>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265</a:t>
            </a:r>
            <a:endParaRPr/>
          </a:p>
        </p:txBody>
      </p:sp>
      <p:sp>
        <p:nvSpPr>
          <p:cNvPr id="256" name="Google Shape;256;p12"/>
          <p:cNvSpPr txBox="1"/>
          <p:nvPr/>
        </p:nvSpPr>
        <p:spPr>
          <a:xfrm>
            <a:off x="540564" y="520517"/>
            <a:ext cx="10983359" cy="2862322"/>
          </a:xfrm>
          <a:prstGeom prst="rect">
            <a:avLst/>
          </a:prstGeom>
          <a:blipFill rotWithShape="1">
            <a:blip r:embed="rId4">
              <a:alphaModFix/>
            </a:blip>
            <a:stretch>
              <a:fillRect l="-610" t="-1276" b="-276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13"/>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63" name="Google Shape;263;p1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05927" y="6200723"/>
            <a:ext cx="563850" cy="657276"/>
          </a:xfrm>
          <a:prstGeom prst="rect">
            <a:avLst/>
          </a:prstGeom>
          <a:noFill/>
          <a:ln>
            <a:noFill/>
          </a:ln>
          <a:effectLst>
            <a:outerShdw blurRad="57150" dist="19050" dir="5400000" algn="bl" rotWithShape="0">
              <a:srgbClr val="000000">
                <a:alpha val="49803"/>
              </a:srgbClr>
            </a:outerShdw>
          </a:effectLst>
        </p:spPr>
      </p:pic>
      <p:sp>
        <p:nvSpPr>
          <p:cNvPr id="264" name="Google Shape;264;p13"/>
          <p:cNvSpPr txBox="1"/>
          <p:nvPr/>
        </p:nvSpPr>
        <p:spPr>
          <a:xfrm>
            <a:off x="8867701" y="6457798"/>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265</a:t>
            </a:r>
            <a:endParaRPr/>
          </a:p>
        </p:txBody>
      </p:sp>
      <p:sp>
        <p:nvSpPr>
          <p:cNvPr id="265" name="Google Shape;265;p13"/>
          <p:cNvSpPr txBox="1"/>
          <p:nvPr/>
        </p:nvSpPr>
        <p:spPr>
          <a:xfrm>
            <a:off x="540565" y="520518"/>
            <a:ext cx="10961136" cy="5324535"/>
          </a:xfrm>
          <a:prstGeom prst="rect">
            <a:avLst/>
          </a:prstGeom>
          <a:blipFill rotWithShape="1">
            <a:blip r:embed="rId4">
              <a:alphaModFix/>
            </a:blip>
            <a:stretch>
              <a:fillRect l="-611" t="-684" b="-102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14"/>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72" name="Google Shape;272;p1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273" name="Google Shape;273;p14"/>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265</a:t>
            </a:r>
            <a:endParaRPr/>
          </a:p>
        </p:txBody>
      </p:sp>
      <p:sp>
        <p:nvSpPr>
          <p:cNvPr id="274" name="Google Shape;274;p14"/>
          <p:cNvSpPr txBox="1"/>
          <p:nvPr/>
        </p:nvSpPr>
        <p:spPr>
          <a:xfrm>
            <a:off x="540565" y="528618"/>
            <a:ext cx="8327136" cy="400110"/>
          </a:xfrm>
          <a:prstGeom prst="rect">
            <a:avLst/>
          </a:prstGeom>
          <a:blipFill rotWithShape="1">
            <a:blip r:embed="rId4">
              <a:alphaModFix/>
            </a:blip>
            <a:stretch>
              <a:fillRect l="-804" t="-10767" b="-2769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275" name="Google Shape;275;p14"/>
          <p:cNvSpPr/>
          <p:nvPr/>
        </p:nvSpPr>
        <p:spPr>
          <a:xfrm>
            <a:off x="540564" y="4140661"/>
            <a:ext cx="10196261" cy="1017073"/>
          </a:xfrm>
          <a:prstGeom prst="rect">
            <a:avLst/>
          </a:prstGeom>
          <a:blipFill rotWithShape="1">
            <a:blip r:embed="rId5">
              <a:alphaModFix/>
            </a:blip>
            <a:stretch>
              <a:fillRect t="-299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pic>
        <p:nvPicPr>
          <p:cNvPr id="276" name="Google Shape;276;p14"/>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2878568" y="1069429"/>
            <a:ext cx="3662812" cy="2890865"/>
          </a:xfrm>
          <a:prstGeom prst="rect">
            <a:avLst/>
          </a:prstGeom>
          <a:noFill/>
          <a:ln>
            <a:noFill/>
          </a:ln>
        </p:spPr>
      </p:pic>
      <p:sp>
        <p:nvSpPr>
          <p:cNvPr id="277" name="Google Shape;277;p14"/>
          <p:cNvSpPr/>
          <p:nvPr/>
        </p:nvSpPr>
        <p:spPr>
          <a:xfrm>
            <a:off x="1044352" y="5039275"/>
            <a:ext cx="10479572" cy="1015663"/>
          </a:xfrm>
          <a:prstGeom prst="rect">
            <a:avLst/>
          </a:prstGeom>
          <a:noFill/>
          <a:ln>
            <a:noFill/>
          </a:ln>
        </p:spPr>
        <p:txBody>
          <a:bodyPr spcFirstLastPara="1" wrap="square" lIns="91425" tIns="45700" rIns="91425" bIns="45700" anchor="t" anchorCtr="0">
            <a:spAutoFit/>
          </a:bodyPr>
          <a:lstStyle/>
          <a:p>
            <a:pPr marL="342900" marR="0" lvl="0" indent="-342900" algn="l" rtl="0">
              <a:lnSpc>
                <a:spcPct val="100000"/>
              </a:lnSpc>
              <a:spcBef>
                <a:spcPts val="0"/>
              </a:spcBef>
              <a:spcAft>
                <a:spcPts val="0"/>
              </a:spcAft>
              <a:buClr>
                <a:srgbClr val="000000"/>
              </a:buClr>
              <a:buSzPts val="2000"/>
              <a:buFont typeface="Arial"/>
              <a:buAutoNum type="alphaLcPeriod"/>
            </a:pPr>
            <a:r>
              <a:rPr lang="en-US" sz="2000" b="0" i="0" u="none" strike="noStrike" cap="none" dirty="0">
                <a:solidFill>
                  <a:srgbClr val="000000"/>
                </a:solidFill>
                <a:latin typeface="Verdana"/>
                <a:ea typeface="Verdana"/>
                <a:cs typeface="Verdana"/>
                <a:sym typeface="Verdana"/>
              </a:rPr>
              <a:t>Mark the diagram to show the given information.</a:t>
            </a:r>
            <a:endParaRPr dirty="0"/>
          </a:p>
          <a:p>
            <a:pPr marL="342900" marR="0" lvl="0" indent="-2159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Verdana"/>
              <a:ea typeface="Verdana"/>
              <a:cs typeface="Verdana"/>
              <a:sym typeface="Verdana"/>
            </a:endParaRPr>
          </a:p>
          <a:p>
            <a:pPr marR="0" lvl="0" algn="l" rtl="0">
              <a:lnSpc>
                <a:spcPct val="100000"/>
              </a:lnSpc>
              <a:spcBef>
                <a:spcPts val="0"/>
              </a:spcBef>
              <a:spcAft>
                <a:spcPts val="0"/>
              </a:spcAft>
              <a:buClr>
                <a:srgbClr val="000000"/>
              </a:buClr>
              <a:buSzPts val="2000"/>
            </a:pPr>
            <a:r>
              <a:rPr lang="en-US" sz="2000" b="0" i="0" u="none" strike="noStrike" cap="none" dirty="0">
                <a:solidFill>
                  <a:srgbClr val="000000"/>
                </a:solidFill>
                <a:latin typeface="Verdana"/>
                <a:ea typeface="Verdana"/>
                <a:cs typeface="Verdana"/>
                <a:sym typeface="Verdana"/>
              </a:rPr>
              <a:t>b. Which congruence theorem or postulate do you think should be used?</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5"/>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84" name="Google Shape;284;p1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8824"/>
            <a:ext cx="563850" cy="657276"/>
          </a:xfrm>
          <a:prstGeom prst="rect">
            <a:avLst/>
          </a:prstGeom>
          <a:noFill/>
          <a:ln>
            <a:noFill/>
          </a:ln>
          <a:effectLst>
            <a:outerShdw blurRad="57150" dist="19050" dir="5400000" algn="bl" rotWithShape="0">
              <a:srgbClr val="000000">
                <a:alpha val="49803"/>
              </a:srgbClr>
            </a:outerShdw>
          </a:effectLst>
        </p:spPr>
      </p:pic>
      <p:sp>
        <p:nvSpPr>
          <p:cNvPr id="285" name="Google Shape;285;p15"/>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265</a:t>
            </a:r>
            <a:endParaRPr/>
          </a:p>
        </p:txBody>
      </p:sp>
      <p:sp>
        <p:nvSpPr>
          <p:cNvPr id="286" name="Google Shape;286;p15"/>
          <p:cNvSpPr txBox="1"/>
          <p:nvPr/>
        </p:nvSpPr>
        <p:spPr>
          <a:xfrm>
            <a:off x="1406578" y="528618"/>
            <a:ext cx="7461123" cy="400110"/>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000000"/>
              </a:buClr>
              <a:buSzPts val="2000"/>
              <a:buFont typeface="Arial"/>
              <a:buAutoNum type="alphaLcPeriod" startAt="3"/>
            </a:pPr>
            <a:r>
              <a:rPr lang="en-US" sz="2000" b="0" i="0" u="none" strike="noStrike" cap="none">
                <a:solidFill>
                  <a:srgbClr val="000000"/>
                </a:solidFill>
                <a:latin typeface="Verdana"/>
                <a:ea typeface="Verdana"/>
                <a:cs typeface="Verdana"/>
                <a:sym typeface="Verdana"/>
              </a:rPr>
              <a:t>Complete the two-column proof.</a:t>
            </a:r>
            <a:endParaRPr/>
          </a:p>
        </p:txBody>
      </p:sp>
      <p:sp>
        <p:nvSpPr>
          <p:cNvPr id="288" name="Google Shape;288;p15"/>
          <p:cNvSpPr txBox="1"/>
          <p:nvPr/>
        </p:nvSpPr>
        <p:spPr>
          <a:xfrm>
            <a:off x="2800001" y="6061554"/>
            <a:ext cx="18473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51924" y="1184754"/>
            <a:ext cx="8255000" cy="48768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16"/>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95" name="Google Shape;295;p1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296" name="Google Shape;296;p16"/>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ct val="96969"/>
              <a:buNone/>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sp>
        <p:nvSpPr>
          <p:cNvPr id="297" name="Google Shape;297;p16"/>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266</a:t>
            </a:r>
            <a:endParaRPr/>
          </a:p>
        </p:txBody>
      </p:sp>
      <p:pic>
        <p:nvPicPr>
          <p:cNvPr id="298" name="Google Shape;298;p16" descr="Icon&#10;&#10;Description automatically generated"/>
          <p:cNvPicPr preferRelativeResize="0"/>
          <p:nvPr/>
        </p:nvPicPr>
        <p:blipFill rotWithShape="1">
          <a:blip r:embed="rId4">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p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005160" y="2036663"/>
            <a:ext cx="6114281" cy="3902023"/>
          </a:xfrm>
          <a:prstGeom prst="rect">
            <a:avLst/>
          </a:prstGeom>
          <a:noFill/>
          <a:ln>
            <a:noFill/>
          </a:ln>
        </p:spPr>
      </p:pic>
      <p:sp>
        <p:nvSpPr>
          <p:cNvPr id="305" name="Google Shape;305;p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06" name="Google Shape;306;p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625760" y="6200724"/>
            <a:ext cx="563850" cy="657276"/>
          </a:xfrm>
          <a:prstGeom prst="rect">
            <a:avLst/>
          </a:prstGeom>
          <a:noFill/>
          <a:ln>
            <a:noFill/>
          </a:ln>
          <a:effectLst>
            <a:outerShdw blurRad="57150" dist="19050" dir="5400000" algn="bl" rotWithShape="0">
              <a:srgbClr val="000000">
                <a:alpha val="49803"/>
              </a:srgbClr>
            </a:outerShdw>
          </a:effectLst>
        </p:spPr>
      </p:pic>
      <p:sp>
        <p:nvSpPr>
          <p:cNvPr id="307" name="Google Shape;307;p17"/>
          <p:cNvSpPr txBox="1"/>
          <p:nvPr/>
        </p:nvSpPr>
        <p:spPr>
          <a:xfrm>
            <a:off x="1052649" y="-155072"/>
            <a:ext cx="11630963"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3600" b="1" i="0" u="none" strike="noStrike" cap="none">
                <a:solidFill>
                  <a:srgbClr val="54B5D1"/>
                </a:solidFill>
                <a:latin typeface="Verdana"/>
                <a:ea typeface="Verdana"/>
                <a:cs typeface="Verdana"/>
                <a:sym typeface="Verdana"/>
              </a:rPr>
              <a:t>5.7.4 Guided Practice: Proofs Using CPCTC</a:t>
            </a:r>
            <a:endParaRPr/>
          </a:p>
        </p:txBody>
      </p:sp>
      <p:sp>
        <p:nvSpPr>
          <p:cNvPr id="308" name="Google Shape;308;p17"/>
          <p:cNvSpPr txBox="1"/>
          <p:nvPr/>
        </p:nvSpPr>
        <p:spPr>
          <a:xfrm>
            <a:off x="888753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266</a:t>
            </a:r>
            <a:endParaRPr/>
          </a:p>
        </p:txBody>
      </p:sp>
      <p:pic>
        <p:nvPicPr>
          <p:cNvPr id="309" name="Google Shape;309;p17" descr="Icon&#10;&#10;Description automatically generated"/>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302842" y="128939"/>
            <a:ext cx="749808" cy="749808"/>
          </a:xfrm>
          <a:prstGeom prst="rect">
            <a:avLst/>
          </a:prstGeom>
          <a:noFill/>
          <a:ln>
            <a:noFill/>
          </a:ln>
          <a:effectLst>
            <a:outerShdw blurRad="50800" dist="38100" dir="2700000" algn="tl" rotWithShape="0">
              <a:srgbClr val="000000">
                <a:alpha val="40000"/>
              </a:srgbClr>
            </a:outerShdw>
          </a:effectLst>
        </p:spPr>
      </p:pic>
      <p:sp>
        <p:nvSpPr>
          <p:cNvPr id="310" name="Google Shape;310;p17"/>
          <p:cNvSpPr txBox="1"/>
          <p:nvPr/>
        </p:nvSpPr>
        <p:spPr>
          <a:xfrm>
            <a:off x="593248" y="1386149"/>
            <a:ext cx="8327136" cy="400110"/>
          </a:xfrm>
          <a:prstGeom prst="rect">
            <a:avLst/>
          </a:prstGeom>
          <a:blipFill rotWithShape="1">
            <a:blip r:embed="rId6" cstate="screen">
              <a:alphaModFix/>
              <a:extLst>
                <a:ext uri="{28A0092B-C50C-407E-A947-70E740481C1C}">
                  <a14:useLocalDpi xmlns:a14="http://schemas.microsoft.com/office/drawing/2010/main"/>
                </a:ext>
              </a:extLst>
            </a:blip>
            <a:stretch>
              <a:fillRect l="-804" t="-9088" b="-2727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311" name="Google Shape;311;p17"/>
          <p:cNvSpPr/>
          <p:nvPr/>
        </p:nvSpPr>
        <p:spPr>
          <a:xfrm>
            <a:off x="223200" y="5031173"/>
            <a:ext cx="8258350" cy="1631216"/>
          </a:xfrm>
          <a:prstGeom prst="rect">
            <a:avLst/>
          </a:prstGeom>
          <a:blipFill rotWithShape="1">
            <a:blip r:embed="rId7">
              <a:alphaModFix/>
            </a:blip>
            <a:stretch>
              <a:fillRect t="-1865" b="-559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18"/>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18" name="Google Shape;318;p1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95099" y="6200723"/>
            <a:ext cx="563850" cy="657276"/>
          </a:xfrm>
          <a:prstGeom prst="rect">
            <a:avLst/>
          </a:prstGeom>
          <a:noFill/>
          <a:ln>
            <a:noFill/>
          </a:ln>
          <a:effectLst>
            <a:outerShdw blurRad="57150" dist="19050" dir="5400000" algn="bl" rotWithShape="0">
              <a:srgbClr val="000000">
                <a:alpha val="49803"/>
              </a:srgbClr>
            </a:outerShdw>
          </a:effectLst>
        </p:spPr>
      </p:pic>
      <p:sp>
        <p:nvSpPr>
          <p:cNvPr id="319" name="Google Shape;319;p18"/>
          <p:cNvSpPr txBox="1"/>
          <p:nvPr/>
        </p:nvSpPr>
        <p:spPr>
          <a:xfrm>
            <a:off x="8856873" y="6457798"/>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266</a:t>
            </a:r>
            <a:endParaRPr/>
          </a:p>
        </p:txBody>
      </p:sp>
      <p:sp>
        <p:nvSpPr>
          <p:cNvPr id="320" name="Google Shape;320;p18"/>
          <p:cNvSpPr txBox="1"/>
          <p:nvPr/>
        </p:nvSpPr>
        <p:spPr>
          <a:xfrm>
            <a:off x="540565" y="520518"/>
            <a:ext cx="8327136" cy="2246769"/>
          </a:xfrm>
          <a:prstGeom prst="rect">
            <a:avLst/>
          </a:prstGeom>
          <a:blipFill rotWithShape="1">
            <a:blip r:embed="rId4">
              <a:alphaModFix/>
            </a:blip>
            <a:stretch>
              <a:fillRect l="-804" t="-1354" b="-379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1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27" name="Google Shape;327;p1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328" name="Google Shape;328;p1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800"/>
              <a:buNone/>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329" name="Google Shape;329;p19"/>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330" name="Google Shape;330;p19"/>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266</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20"/>
          <p:cNvSpPr/>
          <p:nvPr/>
        </p:nvSpPr>
        <p:spPr>
          <a:xfrm>
            <a:off x="0" y="-810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37" name="Google Shape;337;p2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338" name="Google Shape;338;p20"/>
          <p:cNvSpPr txBox="1"/>
          <p:nvPr/>
        </p:nvSpPr>
        <p:spPr>
          <a:xfrm>
            <a:off x="1037988" y="61369"/>
            <a:ext cx="8019300" cy="7473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4300" b="1" i="0" u="none" strike="noStrike" cap="none">
                <a:solidFill>
                  <a:srgbClr val="E24E5F"/>
                </a:solidFill>
                <a:latin typeface="Verdana"/>
                <a:ea typeface="Verdana"/>
                <a:cs typeface="Verdana"/>
                <a:sym typeface="Verdana"/>
              </a:rPr>
              <a:t>5.7.5 Your Turn!</a:t>
            </a:r>
            <a:endParaRPr/>
          </a:p>
        </p:txBody>
      </p:sp>
      <p:pic>
        <p:nvPicPr>
          <p:cNvPr id="339" name="Google Shape;339;p20"/>
          <p:cNvPicPr preferRelativeResize="0"/>
          <p:nvPr/>
        </p:nvPicPr>
        <p:blipFill rotWithShape="1">
          <a:blip r:embed="rId4">
            <a:alphaModFix/>
          </a:blip>
          <a:srcRect/>
          <a:stretch/>
        </p:blipFill>
        <p:spPr>
          <a:xfrm>
            <a:off x="290688" y="61369"/>
            <a:ext cx="747300" cy="747300"/>
          </a:xfrm>
          <a:prstGeom prst="rect">
            <a:avLst/>
          </a:prstGeom>
          <a:noFill/>
          <a:ln>
            <a:noFill/>
          </a:ln>
          <a:effectLst>
            <a:outerShdw blurRad="50800" dist="38100" dir="2700000" algn="tl" rotWithShape="0">
              <a:srgbClr val="000000">
                <a:alpha val="40000"/>
              </a:srgbClr>
            </a:outerShdw>
          </a:effectLst>
        </p:spPr>
      </p:pic>
      <p:sp>
        <p:nvSpPr>
          <p:cNvPr id="340" name="Google Shape;340;p20"/>
          <p:cNvSpPr txBox="1"/>
          <p:nvPr/>
        </p:nvSpPr>
        <p:spPr>
          <a:xfrm>
            <a:off x="8836194" y="646337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266</a:t>
            </a:r>
            <a:endParaRPr/>
          </a:p>
        </p:txBody>
      </p:sp>
      <p:sp>
        <p:nvSpPr>
          <p:cNvPr id="341" name="Google Shape;341;p20"/>
          <p:cNvSpPr txBox="1"/>
          <p:nvPr/>
        </p:nvSpPr>
        <p:spPr>
          <a:xfrm>
            <a:off x="578586" y="1387069"/>
            <a:ext cx="8327136" cy="400110"/>
          </a:xfrm>
          <a:prstGeom prst="rect">
            <a:avLst/>
          </a:prstGeom>
          <a:blipFill rotWithShape="1">
            <a:blip r:embed="rId5">
              <a:alphaModFix/>
            </a:blip>
            <a:stretch>
              <a:fillRect l="-804" t="-10767" b="-2769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pic>
        <p:nvPicPr>
          <p:cNvPr id="342" name="Google Shape;342;p20"/>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929314" y="2324488"/>
            <a:ext cx="5895686" cy="2200924"/>
          </a:xfrm>
          <a:prstGeom prst="rect">
            <a:avLst/>
          </a:prstGeom>
          <a:noFill/>
          <a:ln>
            <a:noFill/>
          </a:ln>
        </p:spPr>
      </p:pic>
      <p:sp>
        <p:nvSpPr>
          <p:cNvPr id="343" name="Google Shape;343;p20"/>
          <p:cNvSpPr/>
          <p:nvPr/>
        </p:nvSpPr>
        <p:spPr>
          <a:xfrm>
            <a:off x="475638" y="5276203"/>
            <a:ext cx="4572000" cy="707886"/>
          </a:xfrm>
          <a:prstGeom prst="rect">
            <a:avLst/>
          </a:prstGeom>
          <a:blipFill rotWithShape="1">
            <a:blip r:embed="rId7">
              <a:alphaModFix/>
            </a:blip>
            <a:stretch>
              <a:fillRect t="-5171" b="-14654"/>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21"/>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50" name="Google Shape;350;p2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3"/>
            <a:ext cx="563850" cy="657276"/>
          </a:xfrm>
          <a:prstGeom prst="rect">
            <a:avLst/>
          </a:prstGeom>
          <a:noFill/>
          <a:ln>
            <a:noFill/>
          </a:ln>
          <a:effectLst>
            <a:outerShdw blurRad="57150" dist="19050" dir="5400000" algn="bl" rotWithShape="0">
              <a:srgbClr val="000000">
                <a:alpha val="49803"/>
              </a:srgbClr>
            </a:outerShdw>
          </a:effectLst>
        </p:spPr>
      </p:pic>
      <p:sp>
        <p:nvSpPr>
          <p:cNvPr id="351" name="Google Shape;351;p21"/>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266</a:t>
            </a:r>
            <a:endParaRPr/>
          </a:p>
        </p:txBody>
      </p:sp>
      <p:sp>
        <p:nvSpPr>
          <p:cNvPr id="352" name="Google Shape;352;p21"/>
          <p:cNvSpPr txBox="1"/>
          <p:nvPr/>
        </p:nvSpPr>
        <p:spPr>
          <a:xfrm>
            <a:off x="540565" y="520517"/>
            <a:ext cx="8327136"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Verdana"/>
                <a:ea typeface="Verdana"/>
                <a:cs typeface="Verdana"/>
                <a:sym typeface="Verdana"/>
              </a:rPr>
              <a:t>Complete the flowchart proof.</a:t>
            </a:r>
            <a:endParaRPr/>
          </a:p>
        </p:txBody>
      </p:sp>
      <p:pic>
        <p:nvPicPr>
          <p:cNvPr id="353" name="Google Shape;353;p2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01252" y="1224490"/>
            <a:ext cx="7380299" cy="449235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22"/>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0" name="Google Shape;360;p22"/>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267</a:t>
            </a:r>
            <a:endParaRPr/>
          </a:p>
        </p:txBody>
      </p:sp>
      <p:pic>
        <p:nvPicPr>
          <p:cNvPr id="361" name="Google Shape;361;p2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362" name="Google Shape;362;p22"/>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800"/>
              <a:buNone/>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363" name="Google Shape;363;p22"/>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23"/>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70" name="Google Shape;370;p23"/>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1, pg. 267</a:t>
            </a:r>
            <a:endParaRPr/>
          </a:p>
        </p:txBody>
      </p:sp>
      <p:pic>
        <p:nvPicPr>
          <p:cNvPr id="371" name="Google Shape;371;p2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372" name="Google Shape;372;p23"/>
          <p:cNvSpPr txBox="1"/>
          <p:nvPr/>
        </p:nvSpPr>
        <p:spPr>
          <a:xfrm>
            <a:off x="1134800" y="-82447"/>
            <a:ext cx="8019300"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3600" b="1" i="0" u="none" strike="noStrike" cap="none">
                <a:solidFill>
                  <a:srgbClr val="3F2A67"/>
                </a:solidFill>
                <a:latin typeface="Verdana"/>
                <a:ea typeface="Verdana"/>
                <a:cs typeface="Verdana"/>
                <a:sym typeface="Verdana"/>
              </a:rPr>
              <a:t>5.7.6 Wrap-Up: Reflection</a:t>
            </a:r>
            <a:endParaRPr/>
          </a:p>
        </p:txBody>
      </p:sp>
      <p:pic>
        <p:nvPicPr>
          <p:cNvPr id="373" name="Google Shape;373;p23"/>
          <p:cNvPicPr preferRelativeResize="0"/>
          <p:nvPr/>
        </p:nvPicPr>
        <p:blipFill rotWithShape="1">
          <a:blip r:embed="rId4">
            <a:alphaModFix/>
          </a:blip>
          <a:srcRect/>
          <a:stretch/>
        </p:blipFill>
        <p:spPr>
          <a:xfrm>
            <a:off x="305350" y="60449"/>
            <a:ext cx="747300" cy="747300"/>
          </a:xfrm>
          <a:prstGeom prst="rect">
            <a:avLst/>
          </a:prstGeom>
          <a:noFill/>
          <a:ln>
            <a:noFill/>
          </a:ln>
          <a:effectLst>
            <a:outerShdw blurRad="50800" dist="38100" dir="2700000" algn="tl" rotWithShape="0">
              <a:srgbClr val="000000">
                <a:alpha val="40000"/>
              </a:srgbClr>
            </a:outerShdw>
          </a:effectLst>
        </p:spPr>
      </p:pic>
      <p:sp>
        <p:nvSpPr>
          <p:cNvPr id="374" name="Google Shape;374;p23"/>
          <p:cNvSpPr txBox="1"/>
          <p:nvPr/>
        </p:nvSpPr>
        <p:spPr>
          <a:xfrm>
            <a:off x="593247" y="1386149"/>
            <a:ext cx="10497539" cy="409342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dirty="0">
                <a:solidFill>
                  <a:srgbClr val="000000"/>
                </a:solidFill>
                <a:latin typeface="Verdana"/>
                <a:ea typeface="Verdana"/>
                <a:cs typeface="Verdana"/>
                <a:sym typeface="Verdana"/>
              </a:rPr>
              <a:t>Draw an </a:t>
            </a:r>
            <a:r>
              <a:rPr lang="en-US" sz="2000" b="1" i="0" u="none" strike="noStrike" cap="none" dirty="0">
                <a:solidFill>
                  <a:srgbClr val="000000"/>
                </a:solidFill>
                <a:latin typeface="Verdana"/>
                <a:ea typeface="Verdana"/>
                <a:cs typeface="Verdana"/>
                <a:sym typeface="Verdana"/>
              </a:rPr>
              <a:t>X</a:t>
            </a:r>
            <a:r>
              <a:rPr lang="en-US" sz="2000" b="0" i="0" u="none" strike="noStrike" cap="none" dirty="0">
                <a:solidFill>
                  <a:srgbClr val="000000"/>
                </a:solidFill>
                <a:latin typeface="Verdana"/>
                <a:ea typeface="Verdana"/>
                <a:cs typeface="Verdana"/>
                <a:sym typeface="Verdana"/>
              </a:rPr>
              <a:t> on each line to indicate where your current learning is related to each target.</a:t>
            </a:r>
            <a:endParaRPr dirty="0"/>
          </a:p>
          <a:p>
            <a:pPr marL="0" marR="0" lvl="0" indent="0" algn="l" rtl="0">
              <a:lnSpc>
                <a:spcPct val="100000"/>
              </a:lnSpc>
              <a:spcBef>
                <a:spcPts val="0"/>
              </a:spcBef>
              <a:spcAft>
                <a:spcPts val="0"/>
              </a:spcAft>
              <a:buNone/>
            </a:pPr>
            <a:r>
              <a:rPr lang="en-US" sz="2000" b="0" i="0" u="none" strike="noStrike" cap="none" dirty="0">
                <a:solidFill>
                  <a:srgbClr val="000000"/>
                </a:solidFill>
                <a:latin typeface="Verdana"/>
                <a:ea typeface="Verdana"/>
                <a:cs typeface="Verdana"/>
                <a:sym typeface="Verdana"/>
              </a:rPr>
              <a:t> </a:t>
            </a:r>
            <a:endParaRPr dirty="0"/>
          </a:p>
          <a:p>
            <a:pPr marL="457200" marR="0" lvl="0" indent="-457200" algn="l" rtl="0">
              <a:lnSpc>
                <a:spcPct val="100000"/>
              </a:lnSpc>
              <a:spcBef>
                <a:spcPts val="0"/>
              </a:spcBef>
              <a:spcAft>
                <a:spcPts val="0"/>
              </a:spcAft>
              <a:buClr>
                <a:srgbClr val="000000"/>
              </a:buClr>
              <a:buSzPts val="2000"/>
              <a:buFont typeface="Arial"/>
              <a:buAutoNum type="arabicPeriod"/>
            </a:pPr>
            <a:r>
              <a:rPr lang="en-US" sz="2000" b="0" i="0" u="none" strike="noStrike" cap="none" dirty="0">
                <a:solidFill>
                  <a:srgbClr val="000000"/>
                </a:solidFill>
                <a:latin typeface="Verdana"/>
                <a:ea typeface="Verdana"/>
                <a:cs typeface="Verdana"/>
                <a:sym typeface="Verdana"/>
              </a:rPr>
              <a:t>     I understand how to use corresponding parts of congruent triangles in a  	proof.</a:t>
            </a:r>
            <a:endParaRPr dirty="0"/>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Verdana"/>
              <a:ea typeface="Verdana"/>
              <a:cs typeface="Verdana"/>
              <a:sym typeface="Verdana"/>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Verdana"/>
              <a:ea typeface="Verdana"/>
              <a:cs typeface="Verdana"/>
              <a:sym typeface="Verdana"/>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Verdana"/>
              <a:ea typeface="Verdana"/>
              <a:cs typeface="Verdana"/>
              <a:sym typeface="Verdana"/>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Verdana"/>
              <a:ea typeface="Verdana"/>
              <a:cs typeface="Verdana"/>
              <a:sym typeface="Verdana"/>
            </a:endParaRPr>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Verdana"/>
              <a:ea typeface="Verdana"/>
              <a:cs typeface="Verdana"/>
              <a:sym typeface="Verdana"/>
            </a:endParaRPr>
          </a:p>
          <a:p>
            <a:pPr marR="0" lvl="0" algn="l" rtl="0">
              <a:lnSpc>
                <a:spcPct val="100000"/>
              </a:lnSpc>
              <a:spcBef>
                <a:spcPts val="0"/>
              </a:spcBef>
              <a:spcAft>
                <a:spcPts val="0"/>
              </a:spcAft>
              <a:buClr>
                <a:srgbClr val="000000"/>
              </a:buClr>
              <a:buSzPts val="2000"/>
            </a:pPr>
            <a:r>
              <a:rPr lang="en-US" sz="2000" b="0" i="0" u="none" strike="noStrike" cap="none" dirty="0">
                <a:solidFill>
                  <a:srgbClr val="000000"/>
                </a:solidFill>
                <a:latin typeface="Verdana"/>
                <a:ea typeface="Verdana"/>
                <a:cs typeface="Verdana"/>
                <a:sym typeface="Verdana"/>
              </a:rPr>
              <a:t>2.       I can prove parts of triangles are congruent using triangle congruence  	and corresponding parts of congruent triangles.</a:t>
            </a:r>
            <a:endParaRPr dirty="0"/>
          </a:p>
          <a:p>
            <a:pPr marL="457200" marR="0" lvl="0" indent="-33020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Verdana"/>
              <a:ea typeface="Verdana"/>
              <a:cs typeface="Verdana"/>
              <a:sym typeface="Verdana"/>
            </a:endParaRPr>
          </a:p>
        </p:txBody>
      </p:sp>
      <p:pic>
        <p:nvPicPr>
          <p:cNvPr id="375" name="Google Shape;375;p23"/>
          <p:cNvPicPr preferRelativeResize="0"/>
          <p:nvPr/>
        </p:nvPicPr>
        <p:blipFill rotWithShape="1">
          <a:blip r:embed="rId5">
            <a:alphaModFix/>
          </a:blip>
          <a:srcRect/>
          <a:stretch/>
        </p:blipFill>
        <p:spPr>
          <a:xfrm>
            <a:off x="1610887" y="3087278"/>
            <a:ext cx="8166100" cy="965200"/>
          </a:xfrm>
          <a:prstGeom prst="rect">
            <a:avLst/>
          </a:prstGeom>
          <a:noFill/>
          <a:ln>
            <a:noFill/>
          </a:ln>
        </p:spPr>
      </p:pic>
      <p:pic>
        <p:nvPicPr>
          <p:cNvPr id="376" name="Google Shape;376;p23"/>
          <p:cNvPicPr preferRelativeResize="0"/>
          <p:nvPr/>
        </p:nvPicPr>
        <p:blipFill rotWithShape="1">
          <a:blip r:embed="rId5">
            <a:alphaModFix/>
          </a:blip>
          <a:srcRect/>
          <a:stretch/>
        </p:blipFill>
        <p:spPr>
          <a:xfrm>
            <a:off x="1610887" y="5139873"/>
            <a:ext cx="8166100" cy="965200"/>
          </a:xfrm>
          <a:prstGeom prst="rect">
            <a:avLst/>
          </a:prstGeom>
          <a:noFill/>
          <a:ln>
            <a:noFill/>
          </a:ln>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428</Words>
  <Application>Microsoft Macintosh PowerPoint</Application>
  <PresentationFormat>Widescreen</PresentationFormat>
  <Paragraphs>113</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Noto Sans Symbols</vt:lpstr>
      <vt:lpstr>Arial Black</vt:lpstr>
      <vt:lpstr>Century Gothic</vt:lpstr>
      <vt:lpstr>Verdana</vt:lpstr>
      <vt:lpstr>Cambria</vt:lpstr>
      <vt:lpstr>Arial</vt:lpstr>
      <vt:lpstr>Calibri</vt:lpstr>
      <vt:lpstr>1_Office Theme</vt:lpstr>
      <vt:lpstr>Geometry  Unit 5, Lesson 7  Corresponding Parts of Congruent Triangles Are Congruent  Volume 1, pg. 262  </vt:lpstr>
      <vt:lpstr>Benchmarks</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Geometry  Unit 5, Lesson 7  Corresponding Parts of Congruent Triangles are Congruent  Volume 1, pg. 262  </dc:title>
  <dc:creator>Karen McKenzie</dc:creator>
  <cp:lastModifiedBy>jslater9816@gmail.com</cp:lastModifiedBy>
  <cp:revision>4</cp:revision>
  <dcterms:created xsi:type="dcterms:W3CDTF">2015-03-17T18:51:18Z</dcterms:created>
  <dcterms:modified xsi:type="dcterms:W3CDTF">2022-07-27T22:21:17Z</dcterms:modified>
</cp:coreProperties>
</file>