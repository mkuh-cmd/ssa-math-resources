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71" r:id="rId9"/>
    <p:sldId id="372" r:id="rId10"/>
    <p:sldId id="373" r:id="rId11"/>
    <p:sldId id="374" r:id="rId12"/>
    <p:sldId id="314" r:id="rId13"/>
    <p:sldId id="315" r:id="rId14"/>
    <p:sldId id="352" r:id="rId15"/>
    <p:sldId id="375" r:id="rId16"/>
    <p:sldId id="302" r:id="rId17"/>
    <p:sldId id="303" r:id="rId18"/>
    <p:sldId id="306" r:id="rId19"/>
    <p:sldId id="307" r:id="rId20"/>
    <p:sldId id="37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18"/>
    <p:restoredTop sz="94849"/>
  </p:normalViewPr>
  <p:slideViewPr>
    <p:cSldViewPr snapToGrid="0">
      <p:cViewPr varScale="1">
        <p:scale>
          <a:sx n="77" d="100"/>
          <a:sy n="77" d="100"/>
        </p:scale>
        <p:origin x="18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816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9649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3867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2074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2500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68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10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Congruence in Two-Dimensional Figures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276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31682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98813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13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88762" y="1600324"/>
            <a:ext cx="1103516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MA.912.GR.1.6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Solve mathematical and real-world problems involving congruence or similarity in two-dimensional figures.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791"/>
            <a:ext cx="8549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026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0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0890" y="1600324"/>
            <a:ext cx="99809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real-world problems involving congruence.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5" y="-13291"/>
            <a:ext cx="100065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5.10.1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62788" y="115580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table of menu prices is shown.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700062"/>
              </p:ext>
            </p:extLst>
          </p:nvPr>
        </p:nvGraphicFramePr>
        <p:xfrm>
          <a:off x="1011907" y="1597049"/>
          <a:ext cx="7428899" cy="4604418"/>
        </p:xfrm>
        <a:graphic>
          <a:graphicData uri="http://schemas.openxmlformats.org/drawingml/2006/table">
            <a:tbl>
              <a:tblPr firstRow="1" firstCol="1" bandRow="1"/>
              <a:tblGrid>
                <a:gridCol w="402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1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21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Burgers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Chips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Fries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Deluxe Burger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$6.90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$7.70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Deluxe Cheese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$7.70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$8.45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Bacon Burger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$7.95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$8.65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Bacon Cheese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$8.25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$8.95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Double Burger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$8.35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$9.30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Double Cheese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$9.25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$9.95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Double Bacon Cheese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$9.50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$10.25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Cheese Garden Burger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$8.25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$8.85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Mushroom Swiss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$8.25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$8.95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Jalapeno Pepper Jack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$8.25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$8.95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BBQ Western Bacon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$9.20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$9.85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Pastrami Burger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$9.20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$9.85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Power Pac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$10.45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$11.05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0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Cheese Power Pac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$11.25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$11.70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59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637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517"/>
            <a:ext cx="109798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prices of the burgers with cheese?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ordering chips versus fries?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There is a price difference between adding chips or fries with a double burger and adding chips or fries with cheese garden burger. Do you think this means that when you order a double burger you get more fries?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you look at a menu, do you consider the price differences or just order what you would like to eat?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</p:spTree>
    <p:extLst>
      <p:ext uri="{BB962C8B-B14F-4D97-AF65-F5344CB8AC3E}">
        <p14:creationId xmlns:p14="http://schemas.microsoft.com/office/powerpoint/2010/main" val="901504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85855"/>
            <a:ext cx="1020036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5.10.2 Guided Instruction: Corresponding Parts in the Real World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9" y="1386150"/>
                <a:ext cx="654497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Oscar and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Aarna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worked together to create a prototype obstacle for a drone obstacle course. They used grid paper to create their design as shown.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To be sure the design met regulations for the competition, they used the equations to input the design into a computer program. They discovered that some of their work disappeared, so they used the given equations knowing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𝑌𝐵𝐿𝐷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𝑁𝐵𝐿𝑊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9" y="1386150"/>
                <a:ext cx="6544970" cy="3170099"/>
              </a:xfrm>
              <a:prstGeom prst="rect">
                <a:avLst/>
              </a:prstGeom>
              <a:blipFill>
                <a:blip r:embed="rId5"/>
                <a:stretch>
                  <a:fillRect l="-931" t="-962" r="-1955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0880" y="1386150"/>
            <a:ext cx="4193044" cy="368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04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847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1621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4485" y="520518"/>
                <a:ext cx="9720392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perimeter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𝑌𝐵𝐿𝐷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293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centimeters (cm).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right angle.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85" y="520518"/>
                <a:ext cx="9720392" cy="3170099"/>
              </a:xfrm>
              <a:prstGeom prst="rect">
                <a:avLst/>
              </a:prstGeom>
              <a:blipFill>
                <a:blip r:embed="rId4"/>
                <a:stretch>
                  <a:fillRect l="-690" t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0838515"/>
                  </p:ext>
                </p:extLst>
              </p:nvPr>
            </p:nvGraphicFramePr>
            <p:xfrm>
              <a:off x="1076000" y="1180297"/>
              <a:ext cx="7077075" cy="6286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336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71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263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𝑌𝐵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=75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cm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𝑊𝐿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3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+10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cm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𝑚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∠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𝐿𝑊𝑁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4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𝑘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+9</m:t>
                                    </m:r>
                                  </m:e>
                                </m:d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°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0838515"/>
                  </p:ext>
                </p:extLst>
              </p:nvPr>
            </p:nvGraphicFramePr>
            <p:xfrm>
              <a:off x="1076000" y="1180297"/>
              <a:ext cx="7077075" cy="6286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336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71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263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1538" r="-203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525" t="-11538" r="-104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91960" t="-1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377822"/>
                  </p:ext>
                </p:extLst>
              </p:nvPr>
            </p:nvGraphicFramePr>
            <p:xfrm>
              <a:off x="1224590" y="1808948"/>
              <a:ext cx="7077075" cy="4908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336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71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263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085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𝑚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∠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𝐷𝐿𝐵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12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𝑘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°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𝑊𝑁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=(6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+5)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cm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𝐿𝐵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=50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cm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377822"/>
                  </p:ext>
                </p:extLst>
              </p:nvPr>
            </p:nvGraphicFramePr>
            <p:xfrm>
              <a:off x="1224590" y="1808948"/>
              <a:ext cx="7077075" cy="4908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336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71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263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08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14634" r="-203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525" t="-14634" r="-104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91960" t="-14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00248" y="2416082"/>
                <a:ext cx="22988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charset="0"/>
                        </a:rPr>
                        <m:t>𝑚</m:t>
                      </m:r>
                      <m:r>
                        <a:rPr lang="en-US" sz="1800">
                          <a:latin typeface="Cambria Math" charset="0"/>
                        </a:rPr>
                        <m:t>∠</m:t>
                      </m:r>
                      <m:r>
                        <a:rPr lang="en-US" sz="1800" i="1">
                          <a:latin typeface="Cambria Math" charset="0"/>
                        </a:rPr>
                        <m:t>𝐵𝑌𝐷</m:t>
                      </m:r>
                      <m:r>
                        <a:rPr lang="en-US" sz="180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charset="0"/>
                            </a:rPr>
                            <m:t>5</m:t>
                          </m:r>
                          <m:r>
                            <a:rPr lang="en-US" sz="1800" i="1">
                              <a:latin typeface="Cambria Math" charset="0"/>
                            </a:rPr>
                            <m:t>𝑘</m:t>
                          </m:r>
                          <m:r>
                            <a:rPr lang="en-US" sz="1800">
                              <a:latin typeface="Cambria Math" charset="0"/>
                            </a:rPr>
                            <m:t>+8</m:t>
                          </m:r>
                        </m:e>
                      </m:d>
                      <m:r>
                        <a:rPr lang="en-US" sz="1800">
                          <a:latin typeface="Cambria Math" charset="0"/>
                        </a:rPr>
                        <m:t>°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248" y="2416082"/>
                <a:ext cx="229889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01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517"/>
                <a:ext cx="832713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Include units.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length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Include units.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𝐵𝑌𝐷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in degrees?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𝐿𝐷𝑌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in degrees?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517"/>
                <a:ext cx="8327136" cy="2862322"/>
              </a:xfrm>
              <a:prstGeom prst="rect">
                <a:avLst/>
              </a:prstGeom>
              <a:blipFill>
                <a:blip r:embed="rId4"/>
                <a:stretch>
                  <a:fillRect l="-805" t="-1277" b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84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449"/>
            <a:ext cx="88582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5.10.3 Collaboration: Corresponding Parts in the Real World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731408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French formal gardens use geometric shapes that repeat throughout the garden.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Dajon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landscape designer. He is designing a garden in the tradition of a French formal garden. While at the client’s home, he wrote down some measurements, in feet (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), and then sketched polygons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𝑅𝑊𝐷𝑋𝑁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𝐷𝑇𝐻𝐺𝑀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represent the garden. In the tradition of the congruence of polygons found in French formal gardens, Dajon also wrote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𝑁𝑅𝑊𝐷𝑋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𝐻𝐺𝑀𝐷𝑇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7314089" cy="3785652"/>
              </a:xfrm>
              <a:prstGeom prst="rect">
                <a:avLst/>
              </a:prstGeom>
              <a:blipFill>
                <a:blip r:embed="rId5"/>
                <a:stretch>
                  <a:fillRect l="-833" t="-805" r="-1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7337" y="1386149"/>
            <a:ext cx="3720813" cy="279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517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garden’s measurements are given in 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7819348"/>
                  </p:ext>
                </p:extLst>
              </p:nvPr>
            </p:nvGraphicFramePr>
            <p:xfrm>
              <a:off x="1567233" y="1141275"/>
              <a:ext cx="6273800" cy="13620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36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369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216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996565" algn="ctr"/>
                              <a:tab pos="5156200" algn="l"/>
                            </a:tabLs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Garden Measurements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21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𝑊𝐷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=(4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−0.1)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ft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𝑀𝐷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=10.3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ft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55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𝑅𝑊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=12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ft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𝑇𝐻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=(8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−1.8)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</a:t>
                          </a:r>
                          <a:r>
                            <a:rPr lang="en-US" sz="1800" dirty="0" err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ft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21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𝐷𝑋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=(3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+3.4)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ft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𝐻𝐺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=(10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−1.3)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</a:t>
                          </a:r>
                          <a:r>
                            <a:rPr lang="en-US" sz="1800" dirty="0" err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ft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7819348"/>
                  </p:ext>
                </p:extLst>
              </p:nvPr>
            </p:nvGraphicFramePr>
            <p:xfrm>
              <a:off x="1567233" y="1141275"/>
              <a:ext cx="6273800" cy="13620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36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369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216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2996565" algn="ctr"/>
                              <a:tab pos="5156200" algn="l"/>
                            </a:tabLs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Garden Measurements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2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4" t="-110526" r="-100388" b="-2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94" t="-110526" r="-388" b="-2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55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4" t="-218182" r="-100388" b="-13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94" t="-218182" r="-388" b="-13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42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4" t="-312500" r="-100388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94" t="-312500" r="-388" b="-32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540565" y="2775845"/>
            <a:ext cx="8327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Times New Roman" charset="0"/>
                <a:cs typeface="Arial" charset="0"/>
              </a:rPr>
              <a:t>Determine the perimeter of the garden. Show your work.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854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628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279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374" y="367164"/>
            <a:ext cx="10774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charset="0"/>
                <a:ea typeface="Times New Roman" charset="0"/>
                <a:cs typeface="Arial" charset="0"/>
              </a:rPr>
              <a:t>Once the garden has been installed, </a:t>
            </a:r>
            <a:r>
              <a:rPr lang="en-US" sz="2000" dirty="0" err="1">
                <a:latin typeface="Verdana" charset="0"/>
                <a:ea typeface="Times New Roman" charset="0"/>
                <a:cs typeface="Arial" charset="0"/>
              </a:rPr>
              <a:t>Dajon</a:t>
            </a:r>
            <a:r>
              <a:rPr lang="en-US" sz="2000" dirty="0">
                <a:latin typeface="Verdana" charset="0"/>
                <a:ea typeface="Times New Roman" charset="0"/>
                <a:cs typeface="Arial" charset="0"/>
              </a:rPr>
              <a:t> will check the angles of the polygons.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962159"/>
                  </p:ext>
                </p:extLst>
              </p:nvPr>
            </p:nvGraphicFramePr>
            <p:xfrm>
              <a:off x="2815449" y="1152698"/>
              <a:ext cx="3926471" cy="227630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26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4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𝐻𝑇𝐷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5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𝑘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−6</m:t>
                                    </m:r>
                                  </m:e>
                                </m:d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94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𝑋𝑁𝑅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=58°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89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𝑁𝑅𝑊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4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𝑘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+4</m:t>
                                    </m:r>
                                  </m:e>
                                </m:d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°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94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𝐷𝑀𝐺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Arial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6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𝑘</m:t>
                                    </m:r>
                                    <m:r>
                                      <a:rPr lang="en-US" sz="21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Arial" charset="0"/>
                                      </a:rPr>
                                      <m:t>−20</m:t>
                                    </m:r>
                                  </m:e>
                                </m:d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89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𝑀𝐺𝐻</m:t>
                                </m:r>
                                <m:r>
                                  <a:rPr lang="en-US" sz="21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=104°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962159"/>
                  </p:ext>
                </p:extLst>
              </p:nvPr>
            </p:nvGraphicFramePr>
            <p:xfrm>
              <a:off x="2815449" y="1152698"/>
              <a:ext cx="3926471" cy="227630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264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94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" t="-1333" r="-465" b="-4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94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" t="-100000" r="-465" b="-296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8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" t="-205405" r="-465" b="-2040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94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" t="-301333" r="-465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8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082" marR="8108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" t="-406757" r="-465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5115" y="3779982"/>
                <a:ext cx="1077425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what measurement, in degrees,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Dajon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should use to check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𝑋𝐷𝑊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Show your work.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15" y="3779982"/>
                <a:ext cx="10774253" cy="707886"/>
              </a:xfrm>
              <a:prstGeom prst="rect">
                <a:avLst/>
              </a:prstGeom>
              <a:blipFill>
                <a:blip r:embed="rId5"/>
                <a:stretch>
                  <a:fillRect l="-622" t="-6034" r="-1075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6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279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4594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423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37988" y="5487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5.10.4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688" y="548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5688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279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578585" y="972197"/>
            <a:ext cx="7311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Mireia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is learning how to make stained glass in art class. She has created a design and labeled the vertices to help her keep track of the measurements. Her design is shown.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7925" y="944326"/>
            <a:ext cx="3722269" cy="23025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78585" y="2295836"/>
                <a:ext cx="11404950" cy="3170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Mireia’s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design was created so that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𝑅𝑀𝑌𝑆𝑁𝐶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𝑅𝑀𝑇𝐿𝑊𝑋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𝐶𝑁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𝑀𝑌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𝐶𝑅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𝑅𝑀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𝑌𝑆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𝑆𝑁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/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Mireia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needs to determine how much solder she needs.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Solder is used along the perimeter, in inches (in.), of the design to set the glass in place. 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given measurements, in inches, to determine the amount of solder.</a:t>
                </a: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𝑊𝑋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=9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𝑥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−2.3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𝑌𝑀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=6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𝑥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+1.3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𝑀𝑅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=3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𝑥</m:t>
                      </m:r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−0.6</m:t>
                      </m:r>
                    </m:oMath>
                  </m:oMathPara>
                </a14:m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85" y="2295836"/>
                <a:ext cx="11404950" cy="3170868"/>
              </a:xfrm>
              <a:prstGeom prst="rect">
                <a:avLst/>
              </a:prstGeom>
              <a:blipFill>
                <a:blip r:embed="rId6"/>
                <a:stretch>
                  <a:fillRect t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280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43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280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25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5.10.5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386150"/>
            <a:ext cx="109250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Think back over this unit. If necessary, look back over the different lessons. Then, complete the sentence by checking all that apply.</a:t>
            </a:r>
          </a:p>
        </p:txBody>
      </p:sp>
      <p:sp>
        <p:nvSpPr>
          <p:cNvPr id="2" name="Rectangle 1"/>
          <p:cNvSpPr/>
          <p:nvPr/>
        </p:nvSpPr>
        <p:spPr>
          <a:xfrm>
            <a:off x="593248" y="2681854"/>
            <a:ext cx="5254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I don’t understand                   </a:t>
            </a:r>
            <a:r>
              <a:rPr lang="mr-IN" sz="2000" dirty="0">
                <a:latin typeface="Verdana" charset="0"/>
                <a:ea typeface="Times New Roman" charset="0"/>
                <a:cs typeface="Times New Roman" charset="0"/>
              </a:rPr>
              <a:t>…</a:t>
            </a: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. YET. 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001" y="3825757"/>
            <a:ext cx="2661079" cy="27531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2295" y="2150589"/>
            <a:ext cx="1500535" cy="165924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454558" y="4215109"/>
            <a:ext cx="5254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Do(does) NOT make sense</a:t>
            </a:r>
            <a:r>
              <a:rPr lang="mr-IN" sz="2000" dirty="0">
                <a:latin typeface="Verdana" charset="0"/>
                <a:ea typeface="Times New Roman" charset="0"/>
                <a:cs typeface="Times New Roman" charset="0"/>
              </a:rPr>
              <a:t>…</a:t>
            </a: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YET.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517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explain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3068" y="330555"/>
            <a:ext cx="4142840" cy="296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034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1080</Words>
  <Application>Microsoft Office PowerPoint</Application>
  <PresentationFormat>Widescreen</PresentationFormat>
  <Paragraphs>178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5, Lesson 10  Congruence in Two-Dimensional Figures – Part 2  Volume 1, pg. 276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23</cp:revision>
  <dcterms:created xsi:type="dcterms:W3CDTF">2015-03-17T18:51:18Z</dcterms:created>
  <dcterms:modified xsi:type="dcterms:W3CDTF">2022-07-03T19:20:59Z</dcterms:modified>
</cp:coreProperties>
</file>