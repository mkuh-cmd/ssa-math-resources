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0"/>
  </p:notesMasterIdLst>
  <p:sldIdLst>
    <p:sldId id="256" r:id="rId2"/>
    <p:sldId id="257" r:id="rId3"/>
    <p:sldId id="285" r:id="rId4"/>
    <p:sldId id="286" r:id="rId5"/>
    <p:sldId id="261" r:id="rId6"/>
    <p:sldId id="287" r:id="rId7"/>
    <p:sldId id="371" r:id="rId8"/>
    <p:sldId id="372" r:id="rId9"/>
    <p:sldId id="373" r:id="rId10"/>
    <p:sldId id="374" r:id="rId11"/>
    <p:sldId id="375" r:id="rId12"/>
    <p:sldId id="376" r:id="rId13"/>
    <p:sldId id="377" r:id="rId14"/>
    <p:sldId id="378" r:id="rId15"/>
    <p:sldId id="379" r:id="rId16"/>
    <p:sldId id="380" r:id="rId17"/>
    <p:sldId id="306" r:id="rId18"/>
    <p:sldId id="307" r:id="rId1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9C058"/>
    <a:srgbClr val="3465B0"/>
    <a:srgbClr val="DA4487"/>
    <a:srgbClr val="276C46"/>
    <a:srgbClr val="C9DF6F"/>
    <a:srgbClr val="417DBF"/>
    <a:srgbClr val="3F2A67"/>
    <a:srgbClr val="E24E5F"/>
    <a:srgbClr val="26B7D4"/>
    <a:srgbClr val="54B5D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182"/>
    <p:restoredTop sz="94830"/>
  </p:normalViewPr>
  <p:slideViewPr>
    <p:cSldViewPr snapToGrid="0">
      <p:cViewPr varScale="1">
        <p:scale>
          <a:sx n="78" d="100"/>
          <a:sy n="78" d="100"/>
        </p:scale>
        <p:origin x="734" y="5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55"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56"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14094759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21207459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20180872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2874848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72844626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187928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63377532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80556462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162728394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47657340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extLst>
      <p:ext uri="{BB962C8B-B14F-4D97-AF65-F5344CB8AC3E}">
        <p14:creationId xmlns:p14="http://schemas.microsoft.com/office/powerpoint/2010/main" val="71668810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8.xml"/><Relationship Id="rId6" Type="http://schemas.openxmlformats.org/officeDocument/2006/relationships/image" Target="../media/image15.png"/><Relationship Id="rId5" Type="http://schemas.openxmlformats.org/officeDocument/2006/relationships/image" Target="../media/image140.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 Id="rId5" Type="http://schemas.openxmlformats.org/officeDocument/2006/relationships/image" Target="../media/image23.png"/><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25.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26.png"/></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7" Type="http://schemas.openxmlformats.org/officeDocument/2006/relationships/image" Target="../media/image29.png"/><Relationship Id="rId2" Type="http://schemas.openxmlformats.org/officeDocument/2006/relationships/notesSlide" Target="../notesSlides/notesSlide18.xml"/><Relationship Id="rId1" Type="http://schemas.openxmlformats.org/officeDocument/2006/relationships/slideLayout" Target="../slideLayouts/slideLayout8.xml"/><Relationship Id="rId6" Type="http://schemas.openxmlformats.org/officeDocument/2006/relationships/image" Target="../media/image28.png"/><Relationship Id="rId5" Type="http://schemas.openxmlformats.org/officeDocument/2006/relationships/image" Target="../media/image26.png"/><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590352" y="2054277"/>
            <a:ext cx="5077649" cy="3194455"/>
          </a:xfrm>
          <a:prstGeom prst="rect">
            <a:avLst/>
          </a:prstGeom>
        </p:spPr>
        <p:txBody>
          <a:bodyPr spcFirstLastPara="1" wrap="square" lIns="91425" tIns="45700" rIns="91425" bIns="45700" anchor="ctr" anchorCtr="0">
            <a:noAutofit/>
          </a:bodyPr>
          <a:lstStyle/>
          <a:p>
            <a:pPr algn="ctr">
              <a:lnSpc>
                <a:spcPct val="100000"/>
              </a:lnSpc>
            </a:pPr>
            <a:r>
              <a:rPr lang="en-US" sz="3600" b="1" dirty="0">
                <a:solidFill>
                  <a:srgbClr val="417DBF"/>
                </a:solidFill>
                <a:latin typeface="Verdana"/>
                <a:ea typeface="Verdana"/>
                <a:cs typeface="Verdana"/>
                <a:sym typeface="Verdana"/>
              </a:rPr>
              <a:t>Geometry</a:t>
            </a:r>
            <a:br>
              <a:rPr lang="en-US" sz="3600" b="1" dirty="0">
                <a:solidFill>
                  <a:srgbClr val="417DBF"/>
                </a:solidFill>
                <a:latin typeface="Verdana"/>
                <a:ea typeface="Verdana"/>
                <a:cs typeface="Verdana"/>
                <a:sym typeface="Verdana"/>
              </a:rPr>
            </a:br>
            <a:endParaRPr lang="en-US" sz="3600" b="1" dirty="0">
              <a:solidFill>
                <a:srgbClr val="417DBF"/>
              </a:solidFill>
              <a:latin typeface="Verdana"/>
              <a:ea typeface="Verdana"/>
              <a:cs typeface="Verdana"/>
              <a:sym typeface="Verdana"/>
            </a:endParaRPr>
          </a:p>
          <a:p>
            <a:pPr algn="ctr">
              <a:lnSpc>
                <a:spcPct val="100000"/>
              </a:lnSpc>
              <a:buClr>
                <a:srgbClr val="000000"/>
              </a:buClr>
            </a:pPr>
            <a:r>
              <a:rPr lang="en-US" sz="3600" b="1" dirty="0">
                <a:solidFill>
                  <a:srgbClr val="417DBF"/>
                </a:solidFill>
                <a:latin typeface="Verdana"/>
                <a:ea typeface="Verdana"/>
                <a:cs typeface="Verdana"/>
                <a:sym typeface="Verdana"/>
              </a:rPr>
              <a:t>Unit 5, Lesson H1</a:t>
            </a:r>
            <a:br>
              <a:rPr lang="en-US" sz="3600" b="1" dirty="0">
                <a:solidFill>
                  <a:srgbClr val="417DBF"/>
                </a:solidFill>
                <a:latin typeface="Verdana"/>
                <a:ea typeface="Verdana"/>
                <a:cs typeface="Verdana"/>
                <a:sym typeface="Verdana"/>
              </a:rPr>
            </a:b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Definition of Congruence in Terms of Rigid Transformations</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1, pg. 257</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id="{566F1422-A32C-7745-9E85-5AF7B9DBC697}"/>
              </a:ext>
            </a:extLst>
          </p:cNvPr>
          <p:cNvSpPr/>
          <p:nvPr/>
        </p:nvSpPr>
        <p:spPr>
          <a:xfrm>
            <a:off x="0" y="0"/>
            <a:ext cx="4094106" cy="6866100"/>
          </a:xfrm>
          <a:prstGeom prst="rect">
            <a:avLst/>
          </a:prstGeom>
          <a:solidFill>
            <a:srgbClr val="79C058"/>
          </a:solidFill>
          <a:ln w="9525" cap="flat" cmpd="sng">
            <a:solidFill>
              <a:srgbClr val="79C05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6" name="Picture 5" descr="A blue sign with white text&#10;&#10;Description automatically generated with medium confidence">
            <a:extLst>
              <a:ext uri="{FF2B5EF4-FFF2-40B4-BE49-F238E27FC236}">
                <a16:creationId xmlns:a16="http://schemas.microsoft.com/office/drawing/2014/main" id="{29141D4E-DA2B-B445-945E-1FC651023929}"/>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01762" y="1627632"/>
            <a:ext cx="3090582" cy="3602736"/>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102200" y="-69300"/>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354900" y="219900"/>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994150"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257</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354900" y="1600200"/>
            <a:ext cx="11673814"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95250" indent="0">
              <a:buNone/>
            </a:pPr>
            <a:r>
              <a:rPr lang="en-US" sz="2400" dirty="0">
                <a:latin typeface="Verdana" charset="0"/>
                <a:ea typeface="Verdana" charset="0"/>
                <a:cs typeface="Verdana" charset="0"/>
              </a:rPr>
              <a:t>MA.912.GR.2.7 </a:t>
            </a:r>
          </a:p>
          <a:p>
            <a:pPr marL="95250" indent="0">
              <a:buNone/>
            </a:pPr>
            <a:r>
              <a:rPr lang="en-US" sz="2400" dirty="0">
                <a:latin typeface="Verdana" charset="0"/>
                <a:ea typeface="Verdana" charset="0"/>
                <a:cs typeface="Verdana" charset="0"/>
              </a:rPr>
              <a:t>Justify the criteria for triangle congruence using the definition of congruence in terms of rigid transformations.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1" name="Google Shape;281;g104476d1465_1_17"/>
          <p:cNvPicPr preferRelativeResize="0"/>
          <p:nvPr/>
        </p:nvPicPr>
        <p:blipFill>
          <a:blip r:embed="rId3">
            <a:alphaModFix/>
          </a:blip>
          <a:stretch>
            <a:fillRect/>
          </a:stretch>
        </p:blipFill>
        <p:spPr>
          <a:xfrm>
            <a:off x="382569" y="212838"/>
            <a:ext cx="747300" cy="747300"/>
          </a:xfrm>
          <a:prstGeom prst="rect">
            <a:avLst/>
          </a:prstGeom>
          <a:noFill/>
          <a:ln>
            <a:noFill/>
          </a:ln>
          <a:effectLst>
            <a:outerShdw blurRad="57150" dist="19050" dir="5400000" algn="bl" rotWithShape="0">
              <a:srgbClr val="000000">
                <a:alpha val="50000"/>
              </a:srgbClr>
            </a:outerShdw>
          </a:effectLst>
        </p:spPr>
      </p:pic>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id="{08B3C7FF-E6D0-2145-9A84-003D15672764}"/>
              </a:ext>
            </a:extLst>
          </p:cNvPr>
          <p:cNvSpPr txBox="1">
            <a:spLocks/>
          </p:cNvSpPr>
          <p:nvPr/>
        </p:nvSpPr>
        <p:spPr>
          <a:xfrm>
            <a:off x="1129869" y="0"/>
            <a:ext cx="802442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a:t>
            </a:r>
          </a:p>
        </p:txBody>
      </p:sp>
      <p:sp>
        <p:nvSpPr>
          <p:cNvPr id="10" name="Google Shape;282;g104476d1465_1_17">
            <a:extLst>
              <a:ext uri="{FF2B5EF4-FFF2-40B4-BE49-F238E27FC236}">
                <a16:creationId xmlns:a16="http://schemas.microsoft.com/office/drawing/2014/main" id="{E701C7D4-7BD4-5F4C-ACEB-5781D00837A2}"/>
              </a:ext>
            </a:extLst>
          </p:cNvPr>
          <p:cNvSpPr txBox="1"/>
          <p:nvPr/>
        </p:nvSpPr>
        <p:spPr>
          <a:xfrm>
            <a:off x="8994150" y="6457800"/>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257</a:t>
            </a:r>
          </a:p>
        </p:txBody>
      </p:sp>
      <p:sp>
        <p:nvSpPr>
          <p:cNvPr id="11" name="Google Shape;296;g103996e1364_0_10">
            <a:extLst>
              <a:ext uri="{FF2B5EF4-FFF2-40B4-BE49-F238E27FC236}">
                <a16:creationId xmlns:a16="http://schemas.microsoft.com/office/drawing/2014/main" id="{A6E18E39-B007-D647-9935-55A748533A45}"/>
              </a:ext>
            </a:extLst>
          </p:cNvPr>
          <p:cNvSpPr txBox="1">
            <a:spLocks/>
          </p:cNvSpPr>
          <p:nvPr/>
        </p:nvSpPr>
        <p:spPr>
          <a:xfrm>
            <a:off x="382569" y="1596390"/>
            <a:ext cx="11134517"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a:t>
            </a:r>
          </a:p>
          <a:p>
            <a:pPr>
              <a:buSzPts val="523"/>
            </a:pPr>
            <a:r>
              <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Use patterns and structure to help understand and connect mathematical concepts.</a:t>
            </a:r>
          </a:p>
          <a:p>
            <a:pPr>
              <a:buSzPts val="523"/>
            </a:pPr>
            <a:endPar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10737" y="6222156"/>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102200" y="-51450"/>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4">
            <a:alphaModFix/>
          </a:blip>
          <a:stretch>
            <a:fillRect/>
          </a:stretch>
        </p:blipFill>
        <p:spPr>
          <a:xfrm>
            <a:off x="354900" y="189231"/>
            <a:ext cx="747300" cy="747300"/>
          </a:xfrm>
          <a:prstGeom prst="rect">
            <a:avLst/>
          </a:prstGeom>
          <a:noFill/>
          <a:ln>
            <a:noFill/>
          </a:ln>
          <a:effectLst>
            <a:outerShdw blurRad="50800" dist="38100" dir="2700000" algn="tl" rotWithShape="0">
              <a:prstClr val="black">
                <a:alpha val="40000"/>
              </a:prstClr>
            </a:outerShdw>
          </a:effectLst>
        </p:spPr>
      </p:pic>
      <p:sp>
        <p:nvSpPr>
          <p:cNvPr id="13" name="Google Shape;282;g104476d1465_1_17">
            <a:extLst>
              <a:ext uri="{FF2B5EF4-FFF2-40B4-BE49-F238E27FC236}">
                <a16:creationId xmlns:a16="http://schemas.microsoft.com/office/drawing/2014/main" id="{3ECD2D46-55D5-C547-91DD-0801CE9D6AD7}"/>
              </a:ext>
            </a:extLst>
          </p:cNvPr>
          <p:cNvSpPr txBox="1"/>
          <p:nvPr/>
        </p:nvSpPr>
        <p:spPr>
          <a:xfrm>
            <a:off x="8976737" y="6457800"/>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257</a:t>
            </a:r>
          </a:p>
        </p:txBody>
      </p:sp>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354899" y="1600200"/>
            <a:ext cx="11564957"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342900" indent="-342900">
              <a:buFont typeface="Wingdings" charset="2"/>
              <a:buChar char="q"/>
            </a:pPr>
            <a:r>
              <a:rPr lang="en-US" sz="2400" dirty="0">
                <a:latin typeface="Verdana" charset="0"/>
                <a:ea typeface="Verdana" charset="0"/>
                <a:cs typeface="Verdana" charset="0"/>
              </a:rPr>
              <a:t>I can use the definition of congruence to justify that SSS congruence, SAS congruence, ASA congruence, and AAS congruence are sufficient to show that two triangles are congruent. </a:t>
            </a: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994150" y="6465900"/>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257</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20999"/>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141824" y="0"/>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5.H1.1 Warm-Up: Geometry as an Animal</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4">
            <a:alphaModFix/>
          </a:blip>
          <a:stretch>
            <a:fillRect/>
          </a:stretch>
        </p:blipFill>
        <p:spPr>
          <a:xfrm>
            <a:off x="394524" y="186599"/>
            <a:ext cx="747300" cy="747300"/>
          </a:xfrm>
          <a:prstGeom prst="rect">
            <a:avLst/>
          </a:prstGeom>
          <a:noFill/>
          <a:ln>
            <a:noFill/>
          </a:ln>
          <a:effectLst>
            <a:outerShdw blurRad="50800" dist="38100" dir="2700000" algn="tl" rotWithShape="0">
              <a:prstClr val="black">
                <a:alpha val="40000"/>
              </a:prstClr>
            </a:outerShdw>
          </a:effectLst>
        </p:spPr>
      </p:pic>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994150" y="6486377"/>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257</a:t>
            </a:r>
          </a:p>
        </p:txBody>
      </p:sp>
      <p:sp>
        <p:nvSpPr>
          <p:cNvPr id="2" name="TextBox 1">
            <a:extLst>
              <a:ext uri="{FF2B5EF4-FFF2-40B4-BE49-F238E27FC236}">
                <a16:creationId xmlns:a16="http://schemas.microsoft.com/office/drawing/2014/main" id="{E1D7562E-134F-D14B-AF1A-DF40E11EF758}"/>
              </a:ext>
            </a:extLst>
          </p:cNvPr>
          <p:cNvSpPr txBox="1"/>
          <p:nvPr/>
        </p:nvSpPr>
        <p:spPr>
          <a:xfrm>
            <a:off x="394524" y="1386026"/>
            <a:ext cx="9993060" cy="3477875"/>
          </a:xfrm>
          <a:prstGeom prst="rect">
            <a:avLst/>
          </a:prstGeom>
          <a:noFill/>
        </p:spPr>
        <p:txBody>
          <a:bodyPr wrap="square" rtlCol="0">
            <a:spAutoFit/>
          </a:bodyPr>
          <a:lstStyle/>
          <a:p>
            <a:pPr marL="457200" indent="-457200">
              <a:buFont typeface="+mj-lt"/>
              <a:buAutoNum type="arabicPeriod"/>
            </a:pPr>
            <a:r>
              <a:rPr lang="en-US" sz="2000" dirty="0">
                <a:latin typeface="Verdana" charset="0"/>
                <a:ea typeface="Verdana" charset="0"/>
                <a:cs typeface="Verdana" charset="0"/>
              </a:rPr>
              <a:t>If geometry were an animal, it would be a …</a:t>
            </a:r>
          </a:p>
          <a:p>
            <a:r>
              <a:rPr lang="en-US" sz="2000" dirty="0">
                <a:latin typeface="Verdana" charset="0"/>
                <a:ea typeface="Verdana" charset="0"/>
                <a:cs typeface="Verdana" charset="0"/>
              </a:rPr>
              <a:t> </a:t>
            </a:r>
          </a:p>
          <a:p>
            <a:r>
              <a:rPr lang="en-US" sz="2000" dirty="0">
                <a:latin typeface="Verdana" charset="0"/>
                <a:ea typeface="Verdana" charset="0"/>
                <a:cs typeface="Verdana" charset="0"/>
              </a:rPr>
              <a:t> </a:t>
            </a:r>
          </a:p>
          <a:p>
            <a:r>
              <a:rPr lang="en-US" sz="2000" dirty="0">
                <a:latin typeface="Verdana" charset="0"/>
                <a:ea typeface="Verdana" charset="0"/>
                <a:cs typeface="Verdana" charset="0"/>
              </a:rPr>
              <a:t>     because …</a:t>
            </a:r>
          </a:p>
          <a:p>
            <a:r>
              <a:rPr lang="en-US" sz="2000" dirty="0">
                <a:latin typeface="Verdana" charset="0"/>
                <a:ea typeface="Verdana" charset="0"/>
                <a:cs typeface="Verdana" charset="0"/>
              </a:rPr>
              <a:t> </a:t>
            </a:r>
          </a:p>
          <a:p>
            <a:r>
              <a:rPr lang="en-US" sz="2000" dirty="0">
                <a:latin typeface="Verdana" charset="0"/>
                <a:ea typeface="Verdana" charset="0"/>
                <a:cs typeface="Verdana" charset="0"/>
              </a:rPr>
              <a:t> </a:t>
            </a:r>
          </a:p>
          <a:p>
            <a:r>
              <a:rPr lang="en-US" sz="2000" dirty="0">
                <a:latin typeface="Verdana" charset="0"/>
                <a:ea typeface="Verdana" charset="0"/>
                <a:cs typeface="Verdana" charset="0"/>
              </a:rPr>
              <a:t> </a:t>
            </a:r>
          </a:p>
          <a:p>
            <a:pPr marL="457200" indent="-457200">
              <a:buFont typeface="+mj-lt"/>
              <a:buAutoNum type="arabicPeriod" startAt="2"/>
            </a:pPr>
            <a:r>
              <a:rPr lang="en-US" sz="2000" dirty="0">
                <a:latin typeface="Verdana" charset="0"/>
                <a:ea typeface="Verdana" charset="0"/>
                <a:cs typeface="Verdana" charset="0"/>
              </a:rPr>
              <a:t>It would live in …</a:t>
            </a:r>
          </a:p>
          <a:p>
            <a:r>
              <a:rPr lang="en-US" sz="2000" dirty="0">
                <a:latin typeface="Verdana" charset="0"/>
                <a:ea typeface="Verdana" charset="0"/>
                <a:cs typeface="Verdana" charset="0"/>
              </a:rPr>
              <a:t> </a:t>
            </a:r>
          </a:p>
          <a:p>
            <a:r>
              <a:rPr lang="en-US" sz="2000" dirty="0">
                <a:latin typeface="Verdana" charset="0"/>
                <a:ea typeface="Verdana" charset="0"/>
                <a:cs typeface="Verdana" charset="0"/>
              </a:rPr>
              <a:t> </a:t>
            </a:r>
          </a:p>
          <a:p>
            <a:r>
              <a:rPr lang="en-US" sz="2000" dirty="0">
                <a:latin typeface="Verdana" charset="0"/>
                <a:ea typeface="Verdana" charset="0"/>
                <a:cs typeface="Verdana" charset="0"/>
              </a:rPr>
              <a:t>     because …</a:t>
            </a:r>
          </a:p>
        </p:txBody>
      </p:sp>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844350" y="2766145"/>
            <a:ext cx="439693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Exploration</a:t>
            </a:r>
            <a:endParaRPr sz="5100" b="1" dirty="0">
              <a:solidFill>
                <a:srgbClr val="33BEA6"/>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994150" y="6457675"/>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258</a:t>
            </a:r>
          </a:p>
        </p:txBody>
      </p:sp>
      <p:pic>
        <p:nvPicPr>
          <p:cNvPr id="1026" name="Picture 2" descr="Icon&#10;&#10;Description automatically generated">
            <a:extLst>
              <a:ext uri="{FF2B5EF4-FFF2-40B4-BE49-F238E27FC236}">
                <a16:creationId xmlns:a16="http://schemas.microsoft.com/office/drawing/2014/main" id="{467567E5-BEAF-E24A-A492-D25759172D77}"/>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630950" y="2814305"/>
            <a:ext cx="1156228" cy="115622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29329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9419"/>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141824" y="-22539"/>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5.H1.2 Exploration: Justifying Congruence</a:t>
            </a:r>
          </a:p>
        </p:txBody>
      </p:sp>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994150" y="6466495"/>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258</a:t>
            </a:r>
          </a:p>
        </p:txBody>
      </p:sp>
      <p:pic>
        <p:nvPicPr>
          <p:cNvPr id="7" name="Picture 2" descr="Icon&#10;&#10;Description automatically generated">
            <a:extLst>
              <a:ext uri="{FF2B5EF4-FFF2-40B4-BE49-F238E27FC236}">
                <a16:creationId xmlns:a16="http://schemas.microsoft.com/office/drawing/2014/main" id="{A741EC39-D81C-A945-833B-CFC11AA40AE2}"/>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89570" y="188707"/>
            <a:ext cx="752254" cy="75225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152D1D4D-DCB8-A246-B186-D40316579D77}"/>
                  </a:ext>
                </a:extLst>
              </p:cNvPr>
              <p:cNvSpPr txBox="1"/>
              <p:nvPr/>
            </p:nvSpPr>
            <p:spPr>
              <a:xfrm>
                <a:off x="389570" y="1386026"/>
                <a:ext cx="11660916" cy="1016368"/>
              </a:xfrm>
              <a:prstGeom prst="rect">
                <a:avLst/>
              </a:prstGeom>
              <a:noFill/>
            </p:spPr>
            <p:txBody>
              <a:bodyPr wrap="square" rtlCol="0">
                <a:spAutoFit/>
              </a:bodyPr>
              <a:lstStyle/>
              <a:p>
                <a:pPr marL="457200" indent="-457200">
                  <a:buFont typeface="+mj-lt"/>
                  <a:buAutoNum type="arabicPeriod"/>
                </a:pPr>
                <a:r>
                  <a:rPr lang="en-US" sz="2000" dirty="0">
                    <a:latin typeface="Verdana" charset="0"/>
                    <a:ea typeface="Verdana" charset="0"/>
                    <a:cs typeface="Verdana" charset="0"/>
                  </a:rPr>
                  <a:t>Triangles </a:t>
                </a:r>
                <a14:m>
                  <m:oMath xmlns:m="http://schemas.openxmlformats.org/officeDocument/2006/math">
                    <m:r>
                      <a:rPr lang="en-US" sz="2000" i="1">
                        <a:latin typeface="Cambria Math" charset="0"/>
                        <a:ea typeface="Verdana" charset="0"/>
                        <a:cs typeface="Verdana" charset="0"/>
                      </a:rPr>
                      <m:t>𝑇𝐶𝑀</m:t>
                    </m:r>
                  </m:oMath>
                </a14:m>
                <a:r>
                  <a:rPr lang="en-US" sz="2000" dirty="0">
                    <a:latin typeface="Verdana" charset="0"/>
                    <a:ea typeface="Verdana" charset="0"/>
                    <a:cs typeface="Verdana" charset="0"/>
                  </a:rPr>
                  <a:t> and </a:t>
                </a:r>
                <a14:m>
                  <m:oMath xmlns:m="http://schemas.openxmlformats.org/officeDocument/2006/math">
                    <m:r>
                      <a:rPr lang="en-US" sz="2000" i="1">
                        <a:latin typeface="Cambria Math" charset="0"/>
                        <a:ea typeface="Verdana" charset="0"/>
                        <a:cs typeface="Verdana" charset="0"/>
                      </a:rPr>
                      <m:t>𝑅𝐺𝑁</m:t>
                    </m:r>
                  </m:oMath>
                </a14:m>
                <a:r>
                  <a:rPr lang="en-US" sz="2000" dirty="0">
                    <a:latin typeface="Verdana" charset="0"/>
                    <a:ea typeface="Verdana" charset="0"/>
                    <a:cs typeface="Verdana" charset="0"/>
                  </a:rPr>
                  <a:t> are shown, where  </a:t>
                </a:r>
                <a14:m>
                  <m:oMath xmlns:m="http://schemas.openxmlformats.org/officeDocument/2006/math">
                    <m:acc>
                      <m:accPr>
                        <m:chr m:val="̅"/>
                        <m:ctrlPr>
                          <a:rPr lang="en-US" sz="2000" i="1">
                            <a:latin typeface="Cambria Math" panose="02040503050406030204" pitchFamily="18" charset="0"/>
                            <a:ea typeface="Verdana" charset="0"/>
                            <a:cs typeface="Verdana" charset="0"/>
                          </a:rPr>
                        </m:ctrlPr>
                      </m:accPr>
                      <m:e>
                        <m:r>
                          <a:rPr lang="en-US" sz="2000" i="1">
                            <a:latin typeface="Cambria Math" charset="0"/>
                            <a:ea typeface="Verdana" charset="0"/>
                            <a:cs typeface="Verdana" charset="0"/>
                          </a:rPr>
                          <m:t>𝑇𝑀</m:t>
                        </m:r>
                      </m:e>
                    </m:acc>
                    <m:r>
                      <a:rPr lang="en-US" sz="2000" i="1">
                        <a:latin typeface="Cambria Math" charset="0"/>
                        <a:ea typeface="Verdana" charset="0"/>
                        <a:cs typeface="Verdana" charset="0"/>
                      </a:rPr>
                      <m:t>≅</m:t>
                    </m:r>
                    <m:acc>
                      <m:accPr>
                        <m:chr m:val="̅"/>
                        <m:ctrlPr>
                          <a:rPr lang="en-US" sz="2000" i="1">
                            <a:latin typeface="Cambria Math" panose="02040503050406030204" pitchFamily="18" charset="0"/>
                            <a:ea typeface="Verdana" charset="0"/>
                            <a:cs typeface="Verdana" charset="0"/>
                          </a:rPr>
                        </m:ctrlPr>
                      </m:accPr>
                      <m:e>
                        <m:r>
                          <a:rPr lang="en-US" sz="2000" i="1">
                            <a:latin typeface="Cambria Math" charset="0"/>
                            <a:ea typeface="Verdana" charset="0"/>
                            <a:cs typeface="Verdana" charset="0"/>
                          </a:rPr>
                          <m:t>𝑅𝑁</m:t>
                        </m:r>
                      </m:e>
                    </m:acc>
                  </m:oMath>
                </a14:m>
                <a:r>
                  <a:rPr lang="en-US" sz="2000" dirty="0">
                    <a:latin typeface="Verdana" charset="0"/>
                    <a:ea typeface="Verdana" charset="0"/>
                    <a:cs typeface="Verdana" charset="0"/>
                  </a:rPr>
                  <a:t>,     </a:t>
                </a:r>
                <a14:m>
                  <m:oMath xmlns:m="http://schemas.openxmlformats.org/officeDocument/2006/math">
                    <m:r>
                      <a:rPr lang="en-US" sz="2000">
                        <a:latin typeface="Cambria Math" charset="0"/>
                        <a:ea typeface="Verdana" charset="0"/>
                        <a:cs typeface="Verdana" charset="0"/>
                      </a:rPr>
                      <m:t> </m:t>
                    </m:r>
                    <m:acc>
                      <m:accPr>
                        <m:chr m:val="̅"/>
                        <m:ctrlPr>
                          <a:rPr lang="en-US" sz="2000" i="1">
                            <a:latin typeface="Cambria Math" panose="02040503050406030204" pitchFamily="18" charset="0"/>
                            <a:ea typeface="Verdana" charset="0"/>
                            <a:cs typeface="Verdana" charset="0"/>
                          </a:rPr>
                        </m:ctrlPr>
                      </m:accPr>
                      <m:e>
                        <m:r>
                          <a:rPr lang="en-US" sz="2000" i="1">
                            <a:latin typeface="Cambria Math" charset="0"/>
                            <a:ea typeface="Verdana" charset="0"/>
                            <a:cs typeface="Verdana" charset="0"/>
                          </a:rPr>
                          <m:t>𝑀𝐶</m:t>
                        </m:r>
                      </m:e>
                    </m:acc>
                    <m:r>
                      <a:rPr lang="en-US" sz="2000" i="1">
                        <a:latin typeface="Cambria Math" charset="0"/>
                        <a:ea typeface="Verdana" charset="0"/>
                        <a:cs typeface="Verdana" charset="0"/>
                      </a:rPr>
                      <m:t>≅</m:t>
                    </m:r>
                    <m:acc>
                      <m:accPr>
                        <m:chr m:val="̅"/>
                        <m:ctrlPr>
                          <a:rPr lang="en-US" sz="2000" i="1">
                            <a:latin typeface="Cambria Math" panose="02040503050406030204" pitchFamily="18" charset="0"/>
                            <a:ea typeface="Verdana" charset="0"/>
                            <a:cs typeface="Verdana" charset="0"/>
                          </a:rPr>
                        </m:ctrlPr>
                      </m:accPr>
                      <m:e>
                        <m:r>
                          <a:rPr lang="en-US" sz="2000" i="1">
                            <a:latin typeface="Cambria Math" charset="0"/>
                            <a:ea typeface="Verdana" charset="0"/>
                            <a:cs typeface="Verdana" charset="0"/>
                          </a:rPr>
                          <m:t>𝑁𝐺</m:t>
                        </m:r>
                      </m:e>
                    </m:acc>
                  </m:oMath>
                </a14:m>
                <a:r>
                  <a:rPr lang="en-US" sz="2000" dirty="0">
                    <a:latin typeface="Verdana" charset="0"/>
                    <a:ea typeface="Verdana" charset="0"/>
                    <a:cs typeface="Verdana" charset="0"/>
                  </a:rPr>
                  <a:t>, and </a:t>
                </a:r>
                <a14:m>
                  <m:oMath xmlns:m="http://schemas.openxmlformats.org/officeDocument/2006/math">
                    <m:r>
                      <a:rPr lang="en-US" sz="2000" i="1">
                        <a:latin typeface="Cambria Math" charset="0"/>
                        <a:ea typeface="Verdana" charset="0"/>
                        <a:cs typeface="Verdana" charset="0"/>
                      </a:rPr>
                      <m:t>∠</m:t>
                    </m:r>
                    <m:r>
                      <a:rPr lang="en-US" sz="2000" i="1">
                        <a:latin typeface="Cambria Math" charset="0"/>
                        <a:ea typeface="Verdana" charset="0"/>
                        <a:cs typeface="Verdana" charset="0"/>
                      </a:rPr>
                      <m:t>𝑇𝑀𝐶</m:t>
                    </m:r>
                    <m:r>
                      <a:rPr lang="en-US" sz="2000" i="1">
                        <a:latin typeface="Cambria Math" charset="0"/>
                        <a:ea typeface="Verdana" charset="0"/>
                        <a:cs typeface="Verdana" charset="0"/>
                      </a:rPr>
                      <m:t>≅∠</m:t>
                    </m:r>
                    <m:r>
                      <a:rPr lang="en-US" sz="2000" i="1">
                        <a:latin typeface="Cambria Math" charset="0"/>
                        <a:ea typeface="Verdana" charset="0"/>
                        <a:cs typeface="Verdana" charset="0"/>
                      </a:rPr>
                      <m:t>𝑅𝑁𝐺</m:t>
                    </m:r>
                  </m:oMath>
                </a14:m>
                <a:r>
                  <a:rPr lang="en-US" sz="2000" dirty="0">
                    <a:latin typeface="Verdana" charset="0"/>
                    <a:ea typeface="Verdana" charset="0"/>
                    <a:cs typeface="Verdana" charset="0"/>
                  </a:rPr>
                  <a:t>. </a:t>
                </a:r>
              </a:p>
              <a:p>
                <a:pPr marL="457200" indent="-457200">
                  <a:buFont typeface="+mj-lt"/>
                  <a:buAutoNum type="arabicPeriod"/>
                </a:pPr>
                <a:endParaRPr lang="en-US" sz="2000" dirty="0">
                  <a:latin typeface="Verdana" charset="0"/>
                  <a:ea typeface="Verdana" charset="0"/>
                  <a:cs typeface="Verdana" charset="0"/>
                </a:endParaRPr>
              </a:p>
              <a:p>
                <a:endParaRPr lang="en-US" sz="2000" dirty="0">
                  <a:latin typeface="Verdana" charset="0"/>
                  <a:ea typeface="Verdana" charset="0"/>
                  <a:cs typeface="Verdana" charset="0"/>
                </a:endParaRPr>
              </a:p>
            </p:txBody>
          </p:sp>
        </mc:Choice>
        <mc:Fallback xmlns="">
          <p:sp>
            <p:nvSpPr>
              <p:cNvPr id="10" name="TextBox 9">
                <a:extLst>
                  <a:ext uri="{FF2B5EF4-FFF2-40B4-BE49-F238E27FC236}">
                    <a16:creationId xmlns:a16="http://schemas.microsoft.com/office/drawing/2014/main" id="{152D1D4D-DCB8-A246-B186-D40316579D77}"/>
                  </a:ext>
                </a:extLst>
              </p:cNvPr>
              <p:cNvSpPr txBox="1">
                <a:spLocks noRot="1" noChangeAspect="1" noMove="1" noResize="1" noEditPoints="1" noAdjustHandles="1" noChangeArrowheads="1" noChangeShapeType="1" noTextEdit="1"/>
              </p:cNvSpPr>
              <p:nvPr/>
            </p:nvSpPr>
            <p:spPr>
              <a:xfrm>
                <a:off x="389570" y="1386026"/>
                <a:ext cx="11660916" cy="1016368"/>
              </a:xfrm>
              <a:prstGeom prst="rect">
                <a:avLst/>
              </a:prstGeom>
              <a:blipFill>
                <a:blip r:embed="rId5"/>
                <a:stretch>
                  <a:fillRect l="-544" t="-2439"/>
                </a:stretch>
              </a:blipFill>
            </p:spPr>
            <p:txBody>
              <a:bodyPr/>
              <a:lstStyle/>
              <a:p>
                <a:r>
                  <a:rPr lang="en-US">
                    <a:noFill/>
                  </a:rPr>
                  <a:t> </a:t>
                </a:r>
              </a:p>
            </p:txBody>
          </p:sp>
        </mc:Fallback>
      </mc:AlternateContent>
      <p:pic>
        <p:nvPicPr>
          <p:cNvPr id="2" name="Picture 1"/>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3532967" y="3202187"/>
            <a:ext cx="5413132" cy="3255488"/>
          </a:xfrm>
          <a:prstGeom prst="rect">
            <a:avLst/>
          </a:prstGeom>
        </p:spPr>
      </p:pic>
      <p:sp>
        <p:nvSpPr>
          <p:cNvPr id="3" name="Rectangle 2"/>
          <p:cNvSpPr/>
          <p:nvPr/>
        </p:nvSpPr>
        <p:spPr>
          <a:xfrm>
            <a:off x="1034143" y="2346410"/>
            <a:ext cx="9018833" cy="707886"/>
          </a:xfrm>
          <a:prstGeom prst="rect">
            <a:avLst/>
          </a:prstGeom>
        </p:spPr>
        <p:txBody>
          <a:bodyPr wrap="square">
            <a:spAutoFit/>
          </a:bodyPr>
          <a:lstStyle/>
          <a:p>
            <a:pPr marL="457200" indent="-457200">
              <a:buFont typeface="+mj-lt"/>
              <a:buAutoNum type="alphaLcPeriod"/>
            </a:pPr>
            <a:r>
              <a:rPr lang="en-US" sz="2000" dirty="0">
                <a:latin typeface="Verdana" charset="0"/>
                <a:ea typeface="Verdana" charset="0"/>
                <a:cs typeface="Verdana" charset="0"/>
              </a:rPr>
              <a:t>Discuss with your partner what can be concluded from the given information. </a:t>
            </a:r>
          </a:p>
        </p:txBody>
      </p:sp>
    </p:spTree>
    <p:extLst>
      <p:ext uri="{BB962C8B-B14F-4D97-AF65-F5344CB8AC3E}">
        <p14:creationId xmlns:p14="http://schemas.microsoft.com/office/powerpoint/2010/main" val="16665438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992162" y="6452042"/>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258</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936171" y="520393"/>
                <a:ext cx="9398730" cy="5324535"/>
              </a:xfrm>
              <a:prstGeom prst="rect">
                <a:avLst/>
              </a:prstGeom>
              <a:noFill/>
            </p:spPr>
            <p:txBody>
              <a:bodyPr wrap="square" rtlCol="0">
                <a:spAutoFit/>
              </a:bodyPr>
              <a:lstStyle/>
              <a:p>
                <a:pPr marL="457200" indent="-457200">
                  <a:buFont typeface="+mj-lt"/>
                  <a:buAutoNum type="alphaLcPeriod" startAt="2"/>
                </a:pPr>
                <a:r>
                  <a:rPr lang="en-US" sz="2000" dirty="0">
                    <a:latin typeface="Verdana" charset="0"/>
                    <a:ea typeface="Verdana" charset="0"/>
                    <a:cs typeface="Verdana" charset="0"/>
                  </a:rPr>
                  <a:t>Ask a classmate for two conclusions they made. Record their conclusions and write your summary of their reason.  </a:t>
                </a:r>
                <a:r>
                  <a:rPr lang="en-US" sz="2000" i="1" dirty="0">
                    <a:latin typeface="Verdana" charset="0"/>
                    <a:ea typeface="Verdana" charset="0"/>
                    <a:cs typeface="Verdana" charset="0"/>
                  </a:rPr>
                  <a:t>You are the only person who should write in the first two columns of the table.</a:t>
                </a:r>
                <a:r>
                  <a:rPr lang="en-US" sz="2000" dirty="0">
                    <a:latin typeface="Verdana" charset="0"/>
                    <a:ea typeface="Verdana" charset="0"/>
                    <a:cs typeface="Verdana" charset="0"/>
                  </a:rPr>
                  <a:t> Have the person initial next to your summary stating that your summary was correct.</a:t>
                </a:r>
              </a:p>
              <a:p>
                <a:pPr marL="457200" indent="-457200">
                  <a:buFont typeface="+mj-lt"/>
                  <a:buAutoNum type="alphaLcPeriod" startAt="2"/>
                </a:pPr>
                <a:endParaRPr lang="en-US" sz="2000" dirty="0">
                  <a:latin typeface="Verdana" charset="0"/>
                  <a:ea typeface="Verdana" charset="0"/>
                  <a:cs typeface="Verdana" charset="0"/>
                </a:endParaRPr>
              </a:p>
              <a:p>
                <a:pPr marL="457200" indent="-457200">
                  <a:buFont typeface="+mj-lt"/>
                  <a:buAutoNum type="alphaLcPeriod" startAt="2"/>
                </a:pPr>
                <a:endParaRPr lang="en-US" sz="2000" dirty="0">
                  <a:latin typeface="Verdana" charset="0"/>
                  <a:ea typeface="Verdana" charset="0"/>
                  <a:cs typeface="Verdana" charset="0"/>
                </a:endParaRPr>
              </a:p>
              <a:p>
                <a:pPr marL="457200" indent="-457200">
                  <a:buFont typeface="+mj-lt"/>
                  <a:buAutoNum type="alphaLcPeriod" startAt="2"/>
                </a:pPr>
                <a:endParaRPr lang="en-US" sz="2000" dirty="0">
                  <a:latin typeface="Verdana" charset="0"/>
                  <a:ea typeface="Verdana" charset="0"/>
                  <a:cs typeface="Verdana" charset="0"/>
                </a:endParaRPr>
              </a:p>
              <a:p>
                <a:pPr marL="457200" indent="-457200">
                  <a:buFont typeface="+mj-lt"/>
                  <a:buAutoNum type="alphaLcPeriod" startAt="2"/>
                </a:pPr>
                <a:endParaRPr lang="en-US" sz="2000" dirty="0">
                  <a:latin typeface="Verdana" charset="0"/>
                  <a:ea typeface="Verdana" charset="0"/>
                  <a:cs typeface="Verdana" charset="0"/>
                </a:endParaRPr>
              </a:p>
              <a:p>
                <a:pPr marL="457200" indent="-457200">
                  <a:buFont typeface="+mj-lt"/>
                  <a:buAutoNum type="alphaLcPeriod" startAt="2"/>
                </a:pPr>
                <a:endParaRPr lang="en-US" sz="2000" dirty="0">
                  <a:latin typeface="Verdana" charset="0"/>
                  <a:ea typeface="Verdana" charset="0"/>
                  <a:cs typeface="Verdana" charset="0"/>
                </a:endParaRPr>
              </a:p>
              <a:p>
                <a:pPr marL="457200" indent="-457200">
                  <a:buFont typeface="+mj-lt"/>
                  <a:buAutoNum type="alphaLcPeriod" startAt="2"/>
                </a:pPr>
                <a:endParaRPr lang="en-US" sz="2000" dirty="0">
                  <a:latin typeface="Verdana" charset="0"/>
                  <a:ea typeface="Verdana" charset="0"/>
                  <a:cs typeface="Verdana" charset="0"/>
                </a:endParaRPr>
              </a:p>
              <a:p>
                <a:pPr marL="457200" indent="-457200">
                  <a:buFont typeface="+mj-lt"/>
                  <a:buAutoNum type="alphaLcPeriod" startAt="2"/>
                </a:pPr>
                <a:endParaRPr lang="en-US" sz="2000" dirty="0">
                  <a:latin typeface="Verdana" charset="0"/>
                  <a:ea typeface="Verdana" charset="0"/>
                  <a:cs typeface="Verdana" charset="0"/>
                </a:endParaRPr>
              </a:p>
              <a:p>
                <a:pPr marL="457200" indent="-457200">
                  <a:buFont typeface="+mj-lt"/>
                  <a:buAutoNum type="alphaLcPeriod" startAt="2"/>
                </a:pPr>
                <a:endParaRPr lang="en-US" sz="2000" dirty="0">
                  <a:latin typeface="Verdana" charset="0"/>
                  <a:ea typeface="Verdana" charset="0"/>
                  <a:cs typeface="Verdana" charset="0"/>
                </a:endParaRPr>
              </a:p>
              <a:p>
                <a:pPr marL="457200" indent="-457200">
                  <a:buFont typeface="+mj-lt"/>
                  <a:buAutoNum type="alphaLcPeriod" startAt="2"/>
                </a:pPr>
                <a:r>
                  <a:rPr lang="en-US" sz="2000" dirty="0">
                    <a:latin typeface="Verdana" charset="0"/>
                    <a:ea typeface="Verdana" charset="0"/>
                    <a:cs typeface="Verdana" charset="0"/>
                  </a:rPr>
                  <a:t>What rigid motions can be applied so that </a:t>
                </a:r>
                <a14:m>
                  <m:oMath xmlns:m="http://schemas.openxmlformats.org/officeDocument/2006/math">
                    <m:r>
                      <a:rPr lang="en-US" sz="2000" i="1">
                        <a:latin typeface="Cambria Math" charset="0"/>
                        <a:ea typeface="Verdana" charset="0"/>
                        <a:cs typeface="Verdana" charset="0"/>
                      </a:rPr>
                      <m:t>∆</m:t>
                    </m:r>
                    <m:r>
                      <a:rPr lang="en-US" sz="2000" i="1">
                        <a:latin typeface="Cambria Math" charset="0"/>
                        <a:ea typeface="Verdana" charset="0"/>
                        <a:cs typeface="Verdana" charset="0"/>
                      </a:rPr>
                      <m:t>𝑇𝐶𝑀</m:t>
                    </m:r>
                  </m:oMath>
                </a14:m>
                <a:r>
                  <a:rPr lang="en-US" sz="2000" dirty="0">
                    <a:latin typeface="Verdana" charset="0"/>
                    <a:ea typeface="Verdana" charset="0"/>
                    <a:cs typeface="Verdana" charset="0"/>
                  </a:rPr>
                  <a:t> is mapped to </a:t>
                </a:r>
                <a14:m>
                  <m:oMath xmlns:m="http://schemas.openxmlformats.org/officeDocument/2006/math">
                    <m:r>
                      <a:rPr lang="en-US" sz="2000" i="1">
                        <a:latin typeface="Cambria Math" charset="0"/>
                        <a:ea typeface="Verdana" charset="0"/>
                        <a:cs typeface="Verdana" charset="0"/>
                      </a:rPr>
                      <m:t>∆</m:t>
                    </m:r>
                    <m:r>
                      <a:rPr lang="en-US" sz="2000" i="1">
                        <a:latin typeface="Cambria Math" charset="0"/>
                        <a:ea typeface="Verdana" charset="0"/>
                        <a:cs typeface="Verdana" charset="0"/>
                      </a:rPr>
                      <m:t>𝑅𝐺𝑁</m:t>
                    </m:r>
                  </m:oMath>
                </a14:m>
                <a:r>
                  <a:rPr lang="en-US" sz="2000" dirty="0">
                    <a:latin typeface="Verdana" charset="0"/>
                    <a:ea typeface="Verdana" charset="0"/>
                    <a:cs typeface="Verdana" charset="0"/>
                  </a:rPr>
                  <a:t>?</a:t>
                </a:r>
              </a:p>
              <a:p>
                <a:pPr marL="457200" indent="-457200">
                  <a:buFont typeface="+mj-lt"/>
                  <a:buAutoNum type="alphaLcPeriod" startAt="2"/>
                </a:pPr>
                <a:endParaRPr lang="en-US" sz="2000" dirty="0">
                  <a:latin typeface="Verdana" charset="0"/>
                  <a:ea typeface="Verdana" charset="0"/>
                  <a:cs typeface="Verdana" charset="0"/>
                </a:endParaRPr>
              </a:p>
              <a:p>
                <a:pPr marL="457200" indent="-457200">
                  <a:buFont typeface="+mj-lt"/>
                  <a:buAutoNum type="alphaLcPeriod" startAt="2"/>
                </a:pPr>
                <a:r>
                  <a:rPr lang="en-US" sz="2000" dirty="0">
                    <a:latin typeface="Verdana" charset="0"/>
                    <a:ea typeface="Verdana" charset="0"/>
                    <a:cs typeface="Verdana" charset="0"/>
                  </a:rPr>
                  <a:t>Discuss with your partner what can be concluded from the rigid motions. </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936171" y="520393"/>
                <a:ext cx="9398730" cy="5324535"/>
              </a:xfrm>
              <a:prstGeom prst="rect">
                <a:avLst/>
              </a:prstGeom>
              <a:blipFill>
                <a:blip r:embed="rId4"/>
                <a:stretch>
                  <a:fillRect l="-675" t="-475" r="-540" b="-950"/>
                </a:stretch>
              </a:blipFill>
            </p:spPr>
            <p:txBody>
              <a:bodyPr/>
              <a:lstStyle/>
              <a:p>
                <a:r>
                  <a:rPr lang="en-US">
                    <a:noFill/>
                  </a:rPr>
                  <a:t> </a:t>
                </a:r>
              </a:p>
            </p:txBody>
          </p:sp>
        </mc:Fallback>
      </mc:AlternateContent>
      <p:graphicFrame>
        <p:nvGraphicFramePr>
          <p:cNvPr id="2" name="Table 1"/>
          <p:cNvGraphicFramePr>
            <a:graphicFrameLocks noGrp="1"/>
          </p:cNvGraphicFramePr>
          <p:nvPr>
            <p:extLst>
              <p:ext uri="{D42A27DB-BD31-4B8C-83A1-F6EECF244321}">
                <p14:modId xmlns:p14="http://schemas.microsoft.com/office/powerpoint/2010/main" val="1187093067"/>
              </p:ext>
            </p:extLst>
          </p:nvPr>
        </p:nvGraphicFramePr>
        <p:xfrm>
          <a:off x="2255866" y="2514310"/>
          <a:ext cx="7886700" cy="1952255"/>
        </p:xfrm>
        <a:graphic>
          <a:graphicData uri="http://schemas.openxmlformats.org/drawingml/2006/table">
            <a:tbl>
              <a:tblPr bandRow="1"/>
              <a:tblGrid>
                <a:gridCol w="2350858">
                  <a:extLst>
                    <a:ext uri="{9D8B030D-6E8A-4147-A177-3AD203B41FA5}">
                      <a16:colId xmlns:a16="http://schemas.microsoft.com/office/drawing/2014/main" val="20000"/>
                    </a:ext>
                  </a:extLst>
                </a:gridCol>
                <a:gridCol w="4199889">
                  <a:extLst>
                    <a:ext uri="{9D8B030D-6E8A-4147-A177-3AD203B41FA5}">
                      <a16:colId xmlns:a16="http://schemas.microsoft.com/office/drawing/2014/main" val="20001"/>
                    </a:ext>
                  </a:extLst>
                </a:gridCol>
                <a:gridCol w="1335953">
                  <a:extLst>
                    <a:ext uri="{9D8B030D-6E8A-4147-A177-3AD203B41FA5}">
                      <a16:colId xmlns:a16="http://schemas.microsoft.com/office/drawing/2014/main" val="20002"/>
                    </a:ext>
                  </a:extLst>
                </a:gridCol>
              </a:tblGrid>
              <a:tr h="338015">
                <a:tc>
                  <a:txBody>
                    <a:bodyPr/>
                    <a:lstStyle/>
                    <a:p>
                      <a:pPr marL="0" marR="0" algn="ctr">
                        <a:spcBef>
                          <a:spcPts val="0"/>
                        </a:spcBef>
                        <a:spcAft>
                          <a:spcPts val="0"/>
                        </a:spcAft>
                      </a:pPr>
                      <a:r>
                        <a:rPr lang="en-US" sz="1600" b="1" dirty="0">
                          <a:effectLst/>
                          <a:latin typeface="Verdana" charset="0"/>
                          <a:ea typeface="Verdana" charset="0"/>
                          <a:cs typeface="Verdana" charset="0"/>
                        </a:rPr>
                        <a:t>Conclusion</a:t>
                      </a:r>
                      <a:endParaRPr lang="en-US" sz="1100" dirty="0">
                        <a:effectLst/>
                        <a:latin typeface="Cambria" charset="0"/>
                        <a:ea typeface="Times New Roman" charset="0"/>
                        <a:cs typeface="Times New Roman" charset="0"/>
                      </a:endParaRPr>
                    </a:p>
                  </a:txBody>
                  <a:tcPr marL="60753" marR="6075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1600" b="1">
                          <a:effectLst/>
                          <a:latin typeface="Verdana" charset="0"/>
                          <a:ea typeface="Verdana" charset="0"/>
                          <a:cs typeface="Verdana" charset="0"/>
                        </a:rPr>
                        <a:t>My Summary of Their Reason</a:t>
                      </a:r>
                      <a:endParaRPr lang="en-US" sz="1100">
                        <a:effectLst/>
                        <a:latin typeface="Cambria" charset="0"/>
                        <a:ea typeface="Times New Roman" charset="0"/>
                        <a:cs typeface="Times New Roman" charset="0"/>
                      </a:endParaRPr>
                    </a:p>
                  </a:txBody>
                  <a:tcPr marL="60753" marR="6075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1600" b="1">
                          <a:effectLst/>
                          <a:latin typeface="Verdana" charset="0"/>
                          <a:ea typeface="Verdana" charset="0"/>
                          <a:cs typeface="Verdana" charset="0"/>
                        </a:rPr>
                        <a:t>Initials</a:t>
                      </a:r>
                      <a:endParaRPr lang="en-US" sz="1100">
                        <a:effectLst/>
                        <a:latin typeface="Cambria" charset="0"/>
                        <a:ea typeface="Times New Roman" charset="0"/>
                        <a:cs typeface="Times New Roman" charset="0"/>
                      </a:endParaRPr>
                    </a:p>
                  </a:txBody>
                  <a:tcPr marL="60753" marR="6075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807120">
                <a:tc>
                  <a:txBody>
                    <a:bodyPr/>
                    <a:lstStyle/>
                    <a:p>
                      <a:pPr marL="0" marR="0">
                        <a:spcBef>
                          <a:spcPts val="0"/>
                        </a:spcBef>
                        <a:spcAft>
                          <a:spcPts val="0"/>
                        </a:spcAft>
                      </a:pPr>
                      <a:r>
                        <a:rPr lang="en-US" sz="1600">
                          <a:effectLst/>
                          <a:latin typeface="Verdana" charset="0"/>
                          <a:ea typeface="Verdana" charset="0"/>
                          <a:cs typeface="Verdana" charset="0"/>
                        </a:rPr>
                        <a:t> </a:t>
                      </a:r>
                      <a:endParaRPr lang="en-US" sz="1100">
                        <a:effectLst/>
                        <a:latin typeface="Cambria" charset="0"/>
                        <a:ea typeface="Times New Roman" charset="0"/>
                        <a:cs typeface="Times New Roman" charset="0"/>
                      </a:endParaRPr>
                    </a:p>
                    <a:p>
                      <a:pPr marL="0" marR="0">
                        <a:spcBef>
                          <a:spcPts val="0"/>
                        </a:spcBef>
                        <a:spcAft>
                          <a:spcPts val="0"/>
                        </a:spcAft>
                      </a:pPr>
                      <a:r>
                        <a:rPr lang="en-US" sz="1600">
                          <a:effectLst/>
                          <a:latin typeface="Verdana" charset="0"/>
                          <a:ea typeface="Verdana" charset="0"/>
                          <a:cs typeface="Verdana" charset="0"/>
                        </a:rPr>
                        <a:t> </a:t>
                      </a:r>
                      <a:endParaRPr lang="en-US" sz="1100">
                        <a:effectLst/>
                        <a:latin typeface="Cambria" charset="0"/>
                        <a:ea typeface="Times New Roman" charset="0"/>
                        <a:cs typeface="Times New Roman" charset="0"/>
                      </a:endParaRPr>
                    </a:p>
                    <a:p>
                      <a:pPr marL="0" marR="0">
                        <a:spcBef>
                          <a:spcPts val="0"/>
                        </a:spcBef>
                        <a:spcAft>
                          <a:spcPts val="0"/>
                        </a:spcAft>
                      </a:pPr>
                      <a:r>
                        <a:rPr lang="en-US" sz="1600">
                          <a:effectLst/>
                          <a:latin typeface="Verdana" charset="0"/>
                          <a:ea typeface="Verdana" charset="0"/>
                          <a:cs typeface="Verdana" charset="0"/>
                        </a:rPr>
                        <a:t> </a:t>
                      </a:r>
                      <a:endParaRPr lang="en-US" sz="1100">
                        <a:effectLst/>
                        <a:latin typeface="Cambria" charset="0"/>
                        <a:ea typeface="Times New Roman" charset="0"/>
                        <a:cs typeface="Times New Roman" charset="0"/>
                      </a:endParaRPr>
                    </a:p>
                  </a:txBody>
                  <a:tcPr marL="60753" marR="6075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600">
                          <a:effectLst/>
                          <a:latin typeface="Verdana" charset="0"/>
                          <a:ea typeface="Verdana" charset="0"/>
                          <a:cs typeface="Verdana" charset="0"/>
                        </a:rPr>
                        <a:t> </a:t>
                      </a:r>
                      <a:endParaRPr lang="en-US" sz="1100">
                        <a:effectLst/>
                        <a:latin typeface="Cambria" charset="0"/>
                        <a:ea typeface="Times New Roman" charset="0"/>
                        <a:cs typeface="Times New Roman" charset="0"/>
                      </a:endParaRPr>
                    </a:p>
                  </a:txBody>
                  <a:tcPr marL="60753" marR="6075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600">
                          <a:effectLst/>
                          <a:latin typeface="Verdana" charset="0"/>
                          <a:ea typeface="Verdana" charset="0"/>
                          <a:cs typeface="Verdana" charset="0"/>
                        </a:rPr>
                        <a:t> </a:t>
                      </a:r>
                      <a:endParaRPr lang="en-US" sz="1100">
                        <a:effectLst/>
                        <a:latin typeface="Cambria" charset="0"/>
                        <a:ea typeface="Times New Roman" charset="0"/>
                        <a:cs typeface="Times New Roman" charset="0"/>
                      </a:endParaRPr>
                    </a:p>
                  </a:txBody>
                  <a:tcPr marL="60753" marR="6075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807120">
                <a:tc>
                  <a:txBody>
                    <a:bodyPr/>
                    <a:lstStyle/>
                    <a:p>
                      <a:pPr marL="0" marR="0">
                        <a:spcBef>
                          <a:spcPts val="0"/>
                        </a:spcBef>
                        <a:spcAft>
                          <a:spcPts val="0"/>
                        </a:spcAft>
                      </a:pPr>
                      <a:r>
                        <a:rPr lang="en-US" sz="1600">
                          <a:effectLst/>
                          <a:latin typeface="Verdana" charset="0"/>
                          <a:ea typeface="Verdana" charset="0"/>
                          <a:cs typeface="Verdana" charset="0"/>
                        </a:rPr>
                        <a:t> </a:t>
                      </a:r>
                      <a:endParaRPr lang="en-US" sz="1100">
                        <a:effectLst/>
                        <a:latin typeface="Cambria" charset="0"/>
                        <a:ea typeface="Times New Roman" charset="0"/>
                        <a:cs typeface="Times New Roman" charset="0"/>
                      </a:endParaRPr>
                    </a:p>
                    <a:p>
                      <a:pPr marL="0" marR="0">
                        <a:spcBef>
                          <a:spcPts val="0"/>
                        </a:spcBef>
                        <a:spcAft>
                          <a:spcPts val="0"/>
                        </a:spcAft>
                      </a:pPr>
                      <a:r>
                        <a:rPr lang="en-US" sz="1600">
                          <a:effectLst/>
                          <a:latin typeface="Verdana" charset="0"/>
                          <a:ea typeface="Verdana" charset="0"/>
                          <a:cs typeface="Verdana" charset="0"/>
                        </a:rPr>
                        <a:t> </a:t>
                      </a:r>
                      <a:endParaRPr lang="en-US" sz="1100">
                        <a:effectLst/>
                        <a:latin typeface="Cambria" charset="0"/>
                        <a:ea typeface="Times New Roman" charset="0"/>
                        <a:cs typeface="Times New Roman" charset="0"/>
                      </a:endParaRPr>
                    </a:p>
                    <a:p>
                      <a:pPr marL="0" marR="0">
                        <a:spcBef>
                          <a:spcPts val="0"/>
                        </a:spcBef>
                        <a:spcAft>
                          <a:spcPts val="0"/>
                        </a:spcAft>
                      </a:pPr>
                      <a:r>
                        <a:rPr lang="en-US" sz="1600">
                          <a:effectLst/>
                          <a:latin typeface="Verdana" charset="0"/>
                          <a:ea typeface="Verdana" charset="0"/>
                          <a:cs typeface="Verdana" charset="0"/>
                        </a:rPr>
                        <a:t> </a:t>
                      </a:r>
                      <a:endParaRPr lang="en-US" sz="1100">
                        <a:effectLst/>
                        <a:latin typeface="Cambria" charset="0"/>
                        <a:ea typeface="Times New Roman" charset="0"/>
                        <a:cs typeface="Times New Roman" charset="0"/>
                      </a:endParaRPr>
                    </a:p>
                  </a:txBody>
                  <a:tcPr marL="60753" marR="6075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600">
                          <a:effectLst/>
                          <a:latin typeface="Verdana" charset="0"/>
                          <a:ea typeface="Verdana" charset="0"/>
                          <a:cs typeface="Verdana" charset="0"/>
                        </a:rPr>
                        <a:t> </a:t>
                      </a:r>
                      <a:endParaRPr lang="en-US" sz="1100">
                        <a:effectLst/>
                        <a:latin typeface="Cambria" charset="0"/>
                        <a:ea typeface="Times New Roman" charset="0"/>
                        <a:cs typeface="Times New Roman" charset="0"/>
                      </a:endParaRPr>
                    </a:p>
                  </a:txBody>
                  <a:tcPr marL="60753" marR="6075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600" dirty="0">
                          <a:effectLst/>
                          <a:latin typeface="Verdana" charset="0"/>
                          <a:ea typeface="Verdana" charset="0"/>
                          <a:cs typeface="Verdana" charset="0"/>
                        </a:rPr>
                        <a:t> </a:t>
                      </a:r>
                      <a:endParaRPr lang="en-US" sz="1100" dirty="0">
                        <a:effectLst/>
                        <a:latin typeface="Cambria" charset="0"/>
                        <a:ea typeface="Times New Roman" charset="0"/>
                        <a:cs typeface="Times New Roman" charset="0"/>
                      </a:endParaRPr>
                    </a:p>
                  </a:txBody>
                  <a:tcPr marL="60753" marR="6075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6860064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95220" y="62088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961220" y="6465900"/>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259</a:t>
            </a:r>
          </a:p>
        </p:txBody>
      </p:sp>
      <p:sp>
        <p:nvSpPr>
          <p:cNvPr id="14" name="TextBox 13">
            <a:extLst>
              <a:ext uri="{FF2B5EF4-FFF2-40B4-BE49-F238E27FC236}">
                <a16:creationId xmlns:a16="http://schemas.microsoft.com/office/drawing/2014/main" id="{2FA392D8-3ED3-7940-83A8-1451AA8A08D4}"/>
              </a:ext>
            </a:extLst>
          </p:cNvPr>
          <p:cNvSpPr txBox="1"/>
          <p:nvPr/>
        </p:nvSpPr>
        <p:spPr>
          <a:xfrm>
            <a:off x="935984" y="418136"/>
            <a:ext cx="7916379" cy="6247864"/>
          </a:xfrm>
          <a:prstGeom prst="rect">
            <a:avLst/>
          </a:prstGeom>
          <a:noFill/>
        </p:spPr>
        <p:txBody>
          <a:bodyPr wrap="square" rtlCol="0">
            <a:spAutoFit/>
          </a:bodyPr>
          <a:lstStyle/>
          <a:p>
            <a:pPr marL="457200" indent="-457200">
              <a:buFont typeface="+mj-lt"/>
              <a:buAutoNum type="alphaLcPeriod" startAt="5"/>
            </a:pPr>
            <a:r>
              <a:rPr lang="en-US" sz="2000" dirty="0">
                <a:latin typeface="Verdana" charset="0"/>
                <a:ea typeface="Verdana" charset="0"/>
                <a:cs typeface="Verdana" charset="0"/>
              </a:rPr>
              <a:t>Ask a classmate for two conclusions they made. Record their conclusions and write your summary of their reason.  </a:t>
            </a:r>
            <a:r>
              <a:rPr lang="en-US" sz="2000" i="1" dirty="0">
                <a:latin typeface="Verdana" charset="0"/>
                <a:ea typeface="Verdana" charset="0"/>
                <a:cs typeface="Verdana" charset="0"/>
              </a:rPr>
              <a:t>You are the only person who should write in the first two columns of the table.</a:t>
            </a:r>
            <a:r>
              <a:rPr lang="en-US" sz="2000" dirty="0">
                <a:latin typeface="Verdana" charset="0"/>
                <a:ea typeface="Verdana" charset="0"/>
                <a:cs typeface="Verdana" charset="0"/>
              </a:rPr>
              <a:t> Have the person initial next to your summary stating that your summary was correct.</a:t>
            </a:r>
          </a:p>
          <a:p>
            <a:pPr marL="457200" indent="-457200">
              <a:buFont typeface="+mj-lt"/>
              <a:buAutoNum type="alphaLcPeriod" startAt="5"/>
            </a:pPr>
            <a:endParaRPr lang="en-US" sz="2000" dirty="0">
              <a:latin typeface="Verdana" charset="0"/>
              <a:ea typeface="Verdana" charset="0"/>
              <a:cs typeface="Verdana" charset="0"/>
            </a:endParaRPr>
          </a:p>
          <a:p>
            <a:pPr marL="457200" indent="-457200">
              <a:buFont typeface="+mj-lt"/>
              <a:buAutoNum type="alphaLcPeriod" startAt="5"/>
            </a:pPr>
            <a:endParaRPr lang="en-US" sz="2000" dirty="0">
              <a:latin typeface="Verdana" charset="0"/>
              <a:ea typeface="Verdana" charset="0"/>
              <a:cs typeface="Verdana" charset="0"/>
            </a:endParaRPr>
          </a:p>
          <a:p>
            <a:pPr marL="457200" indent="-457200">
              <a:buFont typeface="+mj-lt"/>
              <a:buAutoNum type="alphaLcPeriod" startAt="5"/>
            </a:pPr>
            <a:endParaRPr lang="en-US" sz="2000" dirty="0">
              <a:latin typeface="Verdana" charset="0"/>
              <a:ea typeface="Verdana" charset="0"/>
              <a:cs typeface="Verdana" charset="0"/>
            </a:endParaRPr>
          </a:p>
          <a:p>
            <a:pPr marL="457200" indent="-457200">
              <a:buFont typeface="+mj-lt"/>
              <a:buAutoNum type="alphaLcPeriod" startAt="5"/>
            </a:pPr>
            <a:endParaRPr lang="en-US" sz="2000" dirty="0">
              <a:latin typeface="Verdana" charset="0"/>
              <a:ea typeface="Verdana" charset="0"/>
              <a:cs typeface="Verdana" charset="0"/>
            </a:endParaRPr>
          </a:p>
          <a:p>
            <a:pPr marL="457200" indent="-457200">
              <a:buFont typeface="+mj-lt"/>
              <a:buAutoNum type="alphaLcPeriod" startAt="5"/>
            </a:pPr>
            <a:endParaRPr lang="en-US" sz="2000" dirty="0">
              <a:latin typeface="Verdana" charset="0"/>
              <a:ea typeface="Verdana" charset="0"/>
              <a:cs typeface="Verdana" charset="0"/>
            </a:endParaRPr>
          </a:p>
          <a:p>
            <a:pPr marL="457200" indent="-457200">
              <a:buFont typeface="+mj-lt"/>
              <a:buAutoNum type="alphaLcPeriod" startAt="5"/>
            </a:pPr>
            <a:endParaRPr lang="en-US" sz="2000" dirty="0">
              <a:latin typeface="Verdana" charset="0"/>
              <a:ea typeface="Verdana" charset="0"/>
              <a:cs typeface="Verdana" charset="0"/>
            </a:endParaRPr>
          </a:p>
          <a:p>
            <a:pPr marL="457200" indent="-457200">
              <a:buFont typeface="+mj-lt"/>
              <a:buAutoNum type="alphaLcPeriod" startAt="5"/>
            </a:pPr>
            <a:endParaRPr lang="en-US" sz="2000" dirty="0">
              <a:latin typeface="Verdana" charset="0"/>
              <a:ea typeface="Verdana" charset="0"/>
              <a:cs typeface="Verdana" charset="0"/>
            </a:endParaRPr>
          </a:p>
          <a:p>
            <a:pPr marL="457200" indent="-457200">
              <a:buFont typeface="+mj-lt"/>
              <a:buAutoNum type="alphaLcPeriod" startAt="5"/>
            </a:pPr>
            <a:endParaRPr lang="en-US" sz="2000" dirty="0">
              <a:latin typeface="Verdana" charset="0"/>
              <a:ea typeface="Verdana" charset="0"/>
              <a:cs typeface="Verdana" charset="0"/>
            </a:endParaRPr>
          </a:p>
          <a:p>
            <a:pPr marL="457200" indent="-457200">
              <a:buFont typeface="+mj-lt"/>
              <a:buAutoNum type="alphaLcPeriod" startAt="5"/>
            </a:pPr>
            <a:endParaRPr lang="en-US" sz="2000" dirty="0">
              <a:latin typeface="Verdana" charset="0"/>
              <a:ea typeface="Verdana" charset="0"/>
              <a:cs typeface="Verdana" charset="0"/>
            </a:endParaRPr>
          </a:p>
          <a:p>
            <a:pPr marL="457200" indent="-457200">
              <a:buFont typeface="+mj-lt"/>
              <a:buAutoNum type="alphaLcPeriod" startAt="5"/>
            </a:pPr>
            <a:r>
              <a:rPr lang="en-US" sz="2000" dirty="0">
                <a:latin typeface="Verdana" charset="0"/>
                <a:ea typeface="Verdana" charset="0"/>
                <a:cs typeface="Verdana" charset="0"/>
              </a:rPr>
              <a:t>Discuss with your partner why showing that the triangles are congruent using the definition of congruence in terms of rigid transformations shows that SAS congruence is sufficient to prove the triangles are congruent. Summarize your discussion.</a:t>
            </a:r>
          </a:p>
        </p:txBody>
      </p:sp>
      <p:graphicFrame>
        <p:nvGraphicFramePr>
          <p:cNvPr id="2" name="Table 1"/>
          <p:cNvGraphicFramePr>
            <a:graphicFrameLocks noGrp="1"/>
          </p:cNvGraphicFramePr>
          <p:nvPr>
            <p:extLst>
              <p:ext uri="{D42A27DB-BD31-4B8C-83A1-F6EECF244321}">
                <p14:modId xmlns:p14="http://schemas.microsoft.com/office/powerpoint/2010/main" val="1419183064"/>
              </p:ext>
            </p:extLst>
          </p:nvPr>
        </p:nvGraphicFramePr>
        <p:xfrm>
          <a:off x="2166276" y="2703453"/>
          <a:ext cx="7886700" cy="2207266"/>
        </p:xfrm>
        <a:graphic>
          <a:graphicData uri="http://schemas.openxmlformats.org/drawingml/2006/table">
            <a:tbl>
              <a:tblPr bandRow="1"/>
              <a:tblGrid>
                <a:gridCol w="2350636">
                  <a:extLst>
                    <a:ext uri="{9D8B030D-6E8A-4147-A177-3AD203B41FA5}">
                      <a16:colId xmlns:a16="http://schemas.microsoft.com/office/drawing/2014/main" val="20000"/>
                    </a:ext>
                  </a:extLst>
                </a:gridCol>
                <a:gridCol w="4199952">
                  <a:extLst>
                    <a:ext uri="{9D8B030D-6E8A-4147-A177-3AD203B41FA5}">
                      <a16:colId xmlns:a16="http://schemas.microsoft.com/office/drawing/2014/main" val="20001"/>
                    </a:ext>
                  </a:extLst>
                </a:gridCol>
                <a:gridCol w="1336112">
                  <a:extLst>
                    <a:ext uri="{9D8B030D-6E8A-4147-A177-3AD203B41FA5}">
                      <a16:colId xmlns:a16="http://schemas.microsoft.com/office/drawing/2014/main" val="20002"/>
                    </a:ext>
                  </a:extLst>
                </a:gridCol>
              </a:tblGrid>
              <a:tr h="288314">
                <a:tc>
                  <a:txBody>
                    <a:bodyPr/>
                    <a:lstStyle/>
                    <a:p>
                      <a:pPr marL="0" marR="0" algn="ctr">
                        <a:spcBef>
                          <a:spcPts val="0"/>
                        </a:spcBef>
                        <a:spcAft>
                          <a:spcPts val="0"/>
                        </a:spcAft>
                      </a:pPr>
                      <a:r>
                        <a:rPr lang="en-US" sz="1600" b="1" dirty="0">
                          <a:effectLst/>
                          <a:latin typeface="Verdana" charset="0"/>
                          <a:ea typeface="Verdana" charset="0"/>
                          <a:cs typeface="Verdana" charset="0"/>
                        </a:rPr>
                        <a:t>Conclusion</a:t>
                      </a:r>
                      <a:endParaRPr lang="en-US" sz="1100" dirty="0">
                        <a:effectLst/>
                        <a:latin typeface="Cambria" charset="0"/>
                        <a:ea typeface="Times New Roman" charset="0"/>
                        <a:cs typeface="Times New Roman" charset="0"/>
                      </a:endParaRPr>
                    </a:p>
                  </a:txBody>
                  <a:tcPr marL="60153" marR="6015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1600" b="1">
                          <a:effectLst/>
                          <a:latin typeface="Verdana" charset="0"/>
                          <a:ea typeface="Verdana" charset="0"/>
                          <a:cs typeface="Verdana" charset="0"/>
                        </a:rPr>
                        <a:t>My Summary of Their Reason</a:t>
                      </a:r>
                      <a:endParaRPr lang="en-US" sz="1100">
                        <a:effectLst/>
                        <a:latin typeface="Cambria" charset="0"/>
                        <a:ea typeface="Times New Roman" charset="0"/>
                        <a:cs typeface="Times New Roman" charset="0"/>
                      </a:endParaRPr>
                    </a:p>
                  </a:txBody>
                  <a:tcPr marL="60153" marR="6015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1600" b="1">
                          <a:effectLst/>
                          <a:latin typeface="Verdana" charset="0"/>
                          <a:ea typeface="Verdana" charset="0"/>
                          <a:cs typeface="Verdana" charset="0"/>
                        </a:rPr>
                        <a:t>Initials</a:t>
                      </a:r>
                      <a:endParaRPr lang="en-US" sz="1100">
                        <a:effectLst/>
                        <a:latin typeface="Cambria" charset="0"/>
                        <a:ea typeface="Times New Roman" charset="0"/>
                        <a:cs typeface="Times New Roman" charset="0"/>
                      </a:endParaRPr>
                    </a:p>
                  </a:txBody>
                  <a:tcPr marL="60153" marR="6015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959476">
                <a:tc>
                  <a:txBody>
                    <a:bodyPr/>
                    <a:lstStyle/>
                    <a:p>
                      <a:pPr marL="0" marR="0">
                        <a:spcBef>
                          <a:spcPts val="0"/>
                        </a:spcBef>
                        <a:spcAft>
                          <a:spcPts val="0"/>
                        </a:spcAft>
                      </a:pPr>
                      <a:r>
                        <a:rPr lang="en-US" sz="1600">
                          <a:effectLst/>
                          <a:latin typeface="Verdana" charset="0"/>
                          <a:ea typeface="Verdana" charset="0"/>
                          <a:cs typeface="Verdana" charset="0"/>
                        </a:rPr>
                        <a:t> </a:t>
                      </a:r>
                      <a:endParaRPr lang="en-US" sz="1100">
                        <a:effectLst/>
                        <a:latin typeface="Cambria" charset="0"/>
                        <a:ea typeface="Times New Roman" charset="0"/>
                        <a:cs typeface="Times New Roman" charset="0"/>
                      </a:endParaRPr>
                    </a:p>
                    <a:p>
                      <a:pPr marL="0" marR="0">
                        <a:spcBef>
                          <a:spcPts val="0"/>
                        </a:spcBef>
                        <a:spcAft>
                          <a:spcPts val="0"/>
                        </a:spcAft>
                      </a:pPr>
                      <a:r>
                        <a:rPr lang="en-US" sz="1600">
                          <a:effectLst/>
                          <a:latin typeface="Verdana" charset="0"/>
                          <a:ea typeface="Verdana" charset="0"/>
                          <a:cs typeface="Verdana" charset="0"/>
                        </a:rPr>
                        <a:t> </a:t>
                      </a:r>
                      <a:endParaRPr lang="en-US" sz="1100">
                        <a:effectLst/>
                        <a:latin typeface="Cambria" charset="0"/>
                        <a:ea typeface="Times New Roman" charset="0"/>
                        <a:cs typeface="Times New Roman" charset="0"/>
                      </a:endParaRPr>
                    </a:p>
                    <a:p>
                      <a:pPr marL="0" marR="0">
                        <a:spcBef>
                          <a:spcPts val="0"/>
                        </a:spcBef>
                        <a:spcAft>
                          <a:spcPts val="0"/>
                        </a:spcAft>
                      </a:pPr>
                      <a:r>
                        <a:rPr lang="en-US" sz="1600">
                          <a:effectLst/>
                          <a:latin typeface="Verdana" charset="0"/>
                          <a:ea typeface="Verdana" charset="0"/>
                          <a:cs typeface="Verdana" charset="0"/>
                        </a:rPr>
                        <a:t> </a:t>
                      </a:r>
                      <a:endParaRPr lang="en-US" sz="1100">
                        <a:effectLst/>
                        <a:latin typeface="Cambria" charset="0"/>
                        <a:ea typeface="Times New Roman" charset="0"/>
                        <a:cs typeface="Times New Roman" charset="0"/>
                      </a:endParaRPr>
                    </a:p>
                  </a:txBody>
                  <a:tcPr marL="60153" marR="6015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600">
                          <a:effectLst/>
                          <a:latin typeface="Verdana" charset="0"/>
                          <a:ea typeface="Verdana" charset="0"/>
                          <a:cs typeface="Verdana" charset="0"/>
                        </a:rPr>
                        <a:t> </a:t>
                      </a:r>
                      <a:endParaRPr lang="en-US" sz="1100">
                        <a:effectLst/>
                        <a:latin typeface="Cambria" charset="0"/>
                        <a:ea typeface="Times New Roman" charset="0"/>
                        <a:cs typeface="Times New Roman" charset="0"/>
                      </a:endParaRPr>
                    </a:p>
                  </a:txBody>
                  <a:tcPr marL="60153" marR="6015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600">
                          <a:effectLst/>
                          <a:latin typeface="Verdana" charset="0"/>
                          <a:ea typeface="Verdana" charset="0"/>
                          <a:cs typeface="Verdana" charset="0"/>
                        </a:rPr>
                        <a:t> </a:t>
                      </a:r>
                      <a:endParaRPr lang="en-US" sz="1100">
                        <a:effectLst/>
                        <a:latin typeface="Cambria" charset="0"/>
                        <a:ea typeface="Times New Roman" charset="0"/>
                        <a:cs typeface="Times New Roman" charset="0"/>
                      </a:endParaRPr>
                    </a:p>
                  </a:txBody>
                  <a:tcPr marL="60153" marR="6015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959476">
                <a:tc>
                  <a:txBody>
                    <a:bodyPr/>
                    <a:lstStyle/>
                    <a:p>
                      <a:pPr marL="0" marR="0">
                        <a:spcBef>
                          <a:spcPts val="0"/>
                        </a:spcBef>
                        <a:spcAft>
                          <a:spcPts val="0"/>
                        </a:spcAft>
                      </a:pPr>
                      <a:r>
                        <a:rPr lang="en-US" sz="1600">
                          <a:effectLst/>
                          <a:latin typeface="Verdana" charset="0"/>
                          <a:ea typeface="Verdana" charset="0"/>
                          <a:cs typeface="Verdana" charset="0"/>
                        </a:rPr>
                        <a:t> </a:t>
                      </a:r>
                      <a:endParaRPr lang="en-US" sz="1100">
                        <a:effectLst/>
                        <a:latin typeface="Cambria" charset="0"/>
                        <a:ea typeface="Times New Roman" charset="0"/>
                        <a:cs typeface="Times New Roman" charset="0"/>
                      </a:endParaRPr>
                    </a:p>
                    <a:p>
                      <a:pPr marL="0" marR="0">
                        <a:spcBef>
                          <a:spcPts val="0"/>
                        </a:spcBef>
                        <a:spcAft>
                          <a:spcPts val="0"/>
                        </a:spcAft>
                      </a:pPr>
                      <a:r>
                        <a:rPr lang="en-US" sz="1600">
                          <a:effectLst/>
                          <a:latin typeface="Verdana" charset="0"/>
                          <a:ea typeface="Verdana" charset="0"/>
                          <a:cs typeface="Verdana" charset="0"/>
                        </a:rPr>
                        <a:t> </a:t>
                      </a:r>
                      <a:endParaRPr lang="en-US" sz="1100">
                        <a:effectLst/>
                        <a:latin typeface="Cambria" charset="0"/>
                        <a:ea typeface="Times New Roman" charset="0"/>
                        <a:cs typeface="Times New Roman" charset="0"/>
                      </a:endParaRPr>
                    </a:p>
                    <a:p>
                      <a:pPr marL="0" marR="0">
                        <a:spcBef>
                          <a:spcPts val="0"/>
                        </a:spcBef>
                        <a:spcAft>
                          <a:spcPts val="0"/>
                        </a:spcAft>
                      </a:pPr>
                      <a:r>
                        <a:rPr lang="en-US" sz="1600">
                          <a:effectLst/>
                          <a:latin typeface="Verdana" charset="0"/>
                          <a:ea typeface="Verdana" charset="0"/>
                          <a:cs typeface="Verdana" charset="0"/>
                        </a:rPr>
                        <a:t> </a:t>
                      </a:r>
                      <a:endParaRPr lang="en-US" sz="1100">
                        <a:effectLst/>
                        <a:latin typeface="Cambria" charset="0"/>
                        <a:ea typeface="Times New Roman" charset="0"/>
                        <a:cs typeface="Times New Roman" charset="0"/>
                      </a:endParaRPr>
                    </a:p>
                  </a:txBody>
                  <a:tcPr marL="60153" marR="6015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600">
                          <a:effectLst/>
                          <a:latin typeface="Verdana" charset="0"/>
                          <a:ea typeface="Verdana" charset="0"/>
                          <a:cs typeface="Verdana" charset="0"/>
                        </a:rPr>
                        <a:t> </a:t>
                      </a:r>
                      <a:endParaRPr lang="en-US" sz="1100">
                        <a:effectLst/>
                        <a:latin typeface="Cambria" charset="0"/>
                        <a:ea typeface="Times New Roman" charset="0"/>
                        <a:cs typeface="Times New Roman" charset="0"/>
                      </a:endParaRPr>
                    </a:p>
                  </a:txBody>
                  <a:tcPr marL="60153" marR="6015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600" dirty="0">
                          <a:effectLst/>
                          <a:latin typeface="Verdana" charset="0"/>
                          <a:ea typeface="Verdana" charset="0"/>
                          <a:cs typeface="Verdana" charset="0"/>
                        </a:rPr>
                        <a:t> </a:t>
                      </a:r>
                      <a:endParaRPr lang="en-US" sz="1100" dirty="0">
                        <a:effectLst/>
                        <a:latin typeface="Cambria" charset="0"/>
                        <a:ea typeface="Times New Roman" charset="0"/>
                        <a:cs typeface="Times New Roman" charset="0"/>
                      </a:endParaRPr>
                    </a:p>
                  </a:txBody>
                  <a:tcPr marL="60153" marR="6015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4243046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15459" y="-8225"/>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994150" y="6457800"/>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259</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413657" y="520394"/>
                <a:ext cx="9921244" cy="4402615"/>
              </a:xfrm>
              <a:prstGeom prst="rect">
                <a:avLst/>
              </a:prstGeom>
              <a:noFill/>
            </p:spPr>
            <p:txBody>
              <a:bodyPr wrap="square" rtlCol="0">
                <a:spAutoFit/>
              </a:bodyPr>
              <a:lstStyle/>
              <a:p>
                <a:pPr marL="457200" indent="-457200">
                  <a:buFont typeface="+mj-lt"/>
                  <a:buAutoNum type="arabicPeriod" startAt="2"/>
                </a:pPr>
                <a:r>
                  <a:rPr lang="en-US" sz="2000" dirty="0">
                    <a:latin typeface="Verdana" charset="0"/>
                    <a:ea typeface="Verdana" charset="0"/>
                    <a:cs typeface="Verdana" charset="0"/>
                  </a:rPr>
                  <a:t>Triangles </a:t>
                </a:r>
                <a14:m>
                  <m:oMath xmlns:m="http://schemas.openxmlformats.org/officeDocument/2006/math">
                    <m:r>
                      <a:rPr lang="en-US" sz="2000" i="1">
                        <a:latin typeface="Cambria Math" charset="0"/>
                        <a:ea typeface="Verdana" charset="0"/>
                        <a:cs typeface="Verdana" charset="0"/>
                      </a:rPr>
                      <m:t>𝑉𝑊𝐾</m:t>
                    </m:r>
                  </m:oMath>
                </a14:m>
                <a:r>
                  <a:rPr lang="en-US" sz="2000" dirty="0">
                    <a:latin typeface="Verdana" charset="0"/>
                    <a:ea typeface="Verdana" charset="0"/>
                    <a:cs typeface="Verdana" charset="0"/>
                  </a:rPr>
                  <a:t> and </a:t>
                </a:r>
                <a14:m>
                  <m:oMath xmlns:m="http://schemas.openxmlformats.org/officeDocument/2006/math">
                    <m:r>
                      <a:rPr lang="en-US" sz="2000" i="1">
                        <a:latin typeface="Cambria Math" charset="0"/>
                        <a:ea typeface="Verdana" charset="0"/>
                        <a:cs typeface="Verdana" charset="0"/>
                      </a:rPr>
                      <m:t>𝑆𝐻𝑃</m:t>
                    </m:r>
                  </m:oMath>
                </a14:m>
                <a:r>
                  <a:rPr lang="en-US" sz="2000" dirty="0">
                    <a:latin typeface="Verdana" charset="0"/>
                    <a:ea typeface="Verdana" charset="0"/>
                    <a:cs typeface="Verdana" charset="0"/>
                  </a:rPr>
                  <a:t> are shown. Assume </a:t>
                </a:r>
                <a14:m>
                  <m:oMath xmlns:m="http://schemas.openxmlformats.org/officeDocument/2006/math">
                    <m:acc>
                      <m:accPr>
                        <m:chr m:val="̅"/>
                        <m:ctrlPr>
                          <a:rPr lang="en-US" sz="2000" i="1">
                            <a:latin typeface="Cambria Math" panose="02040503050406030204" pitchFamily="18" charset="0"/>
                            <a:ea typeface="Verdana" charset="0"/>
                            <a:cs typeface="Verdana" charset="0"/>
                          </a:rPr>
                        </m:ctrlPr>
                      </m:accPr>
                      <m:e>
                        <m:r>
                          <a:rPr lang="en-US" sz="2000" i="1">
                            <a:latin typeface="Cambria Math" charset="0"/>
                            <a:ea typeface="Verdana" charset="0"/>
                            <a:cs typeface="Verdana" charset="0"/>
                          </a:rPr>
                          <m:t>𝑉𝐾</m:t>
                        </m:r>
                      </m:e>
                    </m:acc>
                    <m:r>
                      <a:rPr lang="en-US" sz="2000" i="1">
                        <a:latin typeface="Cambria Math" charset="0"/>
                        <a:ea typeface="Verdana" charset="0"/>
                        <a:cs typeface="Verdana" charset="0"/>
                      </a:rPr>
                      <m:t>≅</m:t>
                    </m:r>
                    <m:acc>
                      <m:accPr>
                        <m:chr m:val="̅"/>
                        <m:ctrlPr>
                          <a:rPr lang="en-US" sz="2000" i="1">
                            <a:latin typeface="Cambria Math" panose="02040503050406030204" pitchFamily="18" charset="0"/>
                            <a:ea typeface="Verdana" charset="0"/>
                            <a:cs typeface="Verdana" charset="0"/>
                          </a:rPr>
                        </m:ctrlPr>
                      </m:accPr>
                      <m:e>
                        <m:r>
                          <a:rPr lang="en-US" sz="2000" i="1">
                            <a:latin typeface="Cambria Math" charset="0"/>
                            <a:ea typeface="Verdana" charset="0"/>
                            <a:cs typeface="Verdana" charset="0"/>
                          </a:rPr>
                          <m:t>𝑆𝑃</m:t>
                        </m:r>
                      </m:e>
                    </m:acc>
                  </m:oMath>
                </a14:m>
                <a:r>
                  <a:rPr lang="en-US" sz="2000" dirty="0">
                    <a:latin typeface="Verdana" charset="0"/>
                    <a:ea typeface="Verdana" charset="0"/>
                    <a:cs typeface="Verdana" charset="0"/>
                  </a:rPr>
                  <a:t>, </a:t>
                </a:r>
                <a14:m>
                  <m:oMath xmlns:m="http://schemas.openxmlformats.org/officeDocument/2006/math">
                    <m:acc>
                      <m:accPr>
                        <m:chr m:val="̅"/>
                        <m:ctrlPr>
                          <a:rPr lang="en-US" sz="2000" i="1">
                            <a:latin typeface="Cambria Math" panose="02040503050406030204" pitchFamily="18" charset="0"/>
                            <a:ea typeface="Verdana" charset="0"/>
                            <a:cs typeface="Verdana" charset="0"/>
                          </a:rPr>
                        </m:ctrlPr>
                      </m:accPr>
                      <m:e>
                        <m:r>
                          <a:rPr lang="en-US" sz="2000" i="1">
                            <a:latin typeface="Cambria Math" charset="0"/>
                            <a:ea typeface="Verdana" charset="0"/>
                            <a:cs typeface="Verdana" charset="0"/>
                          </a:rPr>
                          <m:t>𝑊𝑉</m:t>
                        </m:r>
                      </m:e>
                    </m:acc>
                    <m:r>
                      <a:rPr lang="en-US" sz="2000" i="1">
                        <a:latin typeface="Cambria Math" charset="0"/>
                        <a:ea typeface="Verdana" charset="0"/>
                        <a:cs typeface="Verdana" charset="0"/>
                      </a:rPr>
                      <m:t>≅</m:t>
                    </m:r>
                    <m:acc>
                      <m:accPr>
                        <m:chr m:val="̅"/>
                        <m:ctrlPr>
                          <a:rPr lang="en-US" sz="2000" i="1">
                            <a:latin typeface="Cambria Math" panose="02040503050406030204" pitchFamily="18" charset="0"/>
                            <a:ea typeface="Verdana" charset="0"/>
                            <a:cs typeface="Verdana" charset="0"/>
                          </a:rPr>
                        </m:ctrlPr>
                      </m:accPr>
                      <m:e>
                        <m:r>
                          <a:rPr lang="en-US" sz="2000" i="1">
                            <a:latin typeface="Cambria Math" charset="0"/>
                            <a:ea typeface="Verdana" charset="0"/>
                            <a:cs typeface="Verdana" charset="0"/>
                          </a:rPr>
                          <m:t>𝐻𝑆</m:t>
                        </m:r>
                      </m:e>
                    </m:acc>
                  </m:oMath>
                </a14:m>
                <a:r>
                  <a:rPr lang="en-US" sz="2000" dirty="0">
                    <a:latin typeface="Verdana" charset="0"/>
                    <a:ea typeface="Verdana" charset="0"/>
                    <a:cs typeface="Verdana" charset="0"/>
                  </a:rPr>
                  <a:t>, and </a:t>
                </a:r>
                <a14:m>
                  <m:oMath xmlns:m="http://schemas.openxmlformats.org/officeDocument/2006/math">
                    <m:acc>
                      <m:accPr>
                        <m:chr m:val="̅"/>
                        <m:ctrlPr>
                          <a:rPr lang="en-US" sz="2000" i="1">
                            <a:latin typeface="Cambria Math" panose="02040503050406030204" pitchFamily="18" charset="0"/>
                            <a:ea typeface="Verdana" charset="0"/>
                            <a:cs typeface="Verdana" charset="0"/>
                          </a:rPr>
                        </m:ctrlPr>
                      </m:accPr>
                      <m:e>
                        <m:r>
                          <a:rPr lang="en-US" sz="2000" i="1">
                            <a:latin typeface="Cambria Math" charset="0"/>
                            <a:ea typeface="Verdana" charset="0"/>
                            <a:cs typeface="Verdana" charset="0"/>
                          </a:rPr>
                          <m:t>𝐾𝑊</m:t>
                        </m:r>
                      </m:e>
                    </m:acc>
                    <m:r>
                      <a:rPr lang="en-US" sz="2000" i="1">
                        <a:latin typeface="Cambria Math" charset="0"/>
                        <a:ea typeface="Verdana" charset="0"/>
                        <a:cs typeface="Verdana" charset="0"/>
                      </a:rPr>
                      <m:t>≅</m:t>
                    </m:r>
                    <m:acc>
                      <m:accPr>
                        <m:chr m:val="̅"/>
                        <m:ctrlPr>
                          <a:rPr lang="en-US" sz="2000" i="1">
                            <a:latin typeface="Cambria Math" panose="02040503050406030204" pitchFamily="18" charset="0"/>
                            <a:ea typeface="Verdana" charset="0"/>
                            <a:cs typeface="Verdana" charset="0"/>
                          </a:rPr>
                        </m:ctrlPr>
                      </m:accPr>
                      <m:e>
                        <m:r>
                          <a:rPr lang="en-US" sz="2000" i="1">
                            <a:latin typeface="Cambria Math" charset="0"/>
                            <a:ea typeface="Verdana" charset="0"/>
                            <a:cs typeface="Verdana" charset="0"/>
                          </a:rPr>
                          <m:t>𝑃𝐻</m:t>
                        </m:r>
                      </m:e>
                    </m:acc>
                  </m:oMath>
                </a14:m>
                <a:r>
                  <a:rPr lang="en-US" sz="2000" dirty="0">
                    <a:latin typeface="Verdana" charset="0"/>
                    <a:ea typeface="Verdana" charset="0"/>
                    <a:cs typeface="Verdana" charset="0"/>
                  </a:rPr>
                  <a:t>.</a:t>
                </a:r>
              </a:p>
              <a:p>
                <a:pPr marL="457200" indent="-457200">
                  <a:buFont typeface="+mj-lt"/>
                  <a:buAutoNum type="arabicPeriod" startAt="2"/>
                </a:pPr>
                <a:endParaRPr lang="en-US" sz="2000" dirty="0">
                  <a:latin typeface="Verdana" charset="0"/>
                  <a:ea typeface="Verdana" charset="0"/>
                  <a:cs typeface="Verdana" charset="0"/>
                </a:endParaRPr>
              </a:p>
              <a:p>
                <a:pPr marL="457200" indent="-457200">
                  <a:buFont typeface="+mj-lt"/>
                  <a:buAutoNum type="arabicPeriod" startAt="2"/>
                </a:pPr>
                <a:endParaRPr lang="en-US" sz="2000" dirty="0">
                  <a:latin typeface="Verdana" charset="0"/>
                  <a:ea typeface="Verdana" charset="0"/>
                  <a:cs typeface="Verdana" charset="0"/>
                </a:endParaRPr>
              </a:p>
              <a:p>
                <a:pPr marL="457200" indent="-457200">
                  <a:buFont typeface="+mj-lt"/>
                  <a:buAutoNum type="arabicPeriod" startAt="2"/>
                </a:pPr>
                <a:endParaRPr lang="en-US" sz="2000" dirty="0">
                  <a:latin typeface="Verdana" charset="0"/>
                  <a:ea typeface="Verdana" charset="0"/>
                  <a:cs typeface="Verdana" charset="0"/>
                </a:endParaRPr>
              </a:p>
              <a:p>
                <a:pPr marL="457200" indent="-457200">
                  <a:buFont typeface="+mj-lt"/>
                  <a:buAutoNum type="arabicPeriod" startAt="2"/>
                </a:pPr>
                <a:endParaRPr lang="en-US" sz="2000" dirty="0">
                  <a:latin typeface="Verdana" charset="0"/>
                  <a:ea typeface="Verdana" charset="0"/>
                  <a:cs typeface="Verdana" charset="0"/>
                </a:endParaRPr>
              </a:p>
              <a:p>
                <a:pPr marL="457200" indent="-457200">
                  <a:buFont typeface="+mj-lt"/>
                  <a:buAutoNum type="arabicPeriod" startAt="2"/>
                </a:pPr>
                <a:endParaRPr lang="en-US" sz="2000" dirty="0">
                  <a:latin typeface="Verdana" charset="0"/>
                  <a:ea typeface="Verdana" charset="0"/>
                  <a:cs typeface="Verdana" charset="0"/>
                </a:endParaRPr>
              </a:p>
              <a:p>
                <a:pPr marL="457200" indent="-457200">
                  <a:buFont typeface="+mj-lt"/>
                  <a:buAutoNum type="arabicPeriod" startAt="2"/>
                </a:pPr>
                <a:endParaRPr lang="en-US" sz="2000" dirty="0">
                  <a:latin typeface="Verdana" charset="0"/>
                  <a:ea typeface="Verdana" charset="0"/>
                  <a:cs typeface="Verdana" charset="0"/>
                </a:endParaRPr>
              </a:p>
              <a:p>
                <a:pPr marL="457200" indent="-457200">
                  <a:buFont typeface="+mj-lt"/>
                  <a:buAutoNum type="arabicPeriod" startAt="2"/>
                </a:pPr>
                <a:endParaRPr lang="en-US" sz="2000" dirty="0">
                  <a:latin typeface="Verdana" charset="0"/>
                  <a:ea typeface="Verdana" charset="0"/>
                  <a:cs typeface="Verdana" charset="0"/>
                </a:endParaRPr>
              </a:p>
              <a:p>
                <a:pPr marL="457200" indent="-457200">
                  <a:buFont typeface="+mj-lt"/>
                  <a:buAutoNum type="arabicPeriod" startAt="2"/>
                </a:pPr>
                <a:endParaRPr lang="en-US" sz="2000" dirty="0">
                  <a:latin typeface="Verdana" charset="0"/>
                  <a:ea typeface="Verdana" charset="0"/>
                  <a:cs typeface="Verdana" charset="0"/>
                </a:endParaRPr>
              </a:p>
              <a:p>
                <a:pPr marL="457200" indent="-457200">
                  <a:buFont typeface="+mj-lt"/>
                  <a:buAutoNum type="arabicPeriod" startAt="2"/>
                </a:pPr>
                <a:endParaRPr lang="en-US" sz="2000" dirty="0">
                  <a:latin typeface="Verdana" charset="0"/>
                  <a:ea typeface="Verdana" charset="0"/>
                  <a:cs typeface="Verdana" charset="0"/>
                </a:endParaRPr>
              </a:p>
              <a:p>
                <a:pPr marL="457200" indent="-457200">
                  <a:buFont typeface="+mj-lt"/>
                  <a:buAutoNum type="arabicPeriod" startAt="2"/>
                </a:pPr>
                <a:endParaRPr lang="en-US" sz="2000" dirty="0">
                  <a:latin typeface="Verdana" charset="0"/>
                  <a:ea typeface="Verdana" charset="0"/>
                  <a:cs typeface="Verdana" charset="0"/>
                </a:endParaRPr>
              </a:p>
              <a:p>
                <a:pPr marL="457200" indent="-457200">
                  <a:buFont typeface="+mj-lt"/>
                  <a:buAutoNum type="arabicPeriod" startAt="2"/>
                </a:pPr>
                <a:endParaRPr lang="en-US" sz="2000" dirty="0">
                  <a:latin typeface="Verdana" charset="0"/>
                  <a:ea typeface="Verdana" charset="0"/>
                  <a:cs typeface="Verdana" charset="0"/>
                </a:endParaRPr>
              </a:p>
              <a:p>
                <a:pPr marL="457200" indent="-457200">
                  <a:buFont typeface="+mj-lt"/>
                  <a:buAutoNum type="arabicPeriod" startAt="2"/>
                </a:pPr>
                <a:endParaRPr lang="en-US" sz="2000" dirty="0">
                  <a:latin typeface="Verdana" charset="0"/>
                  <a:ea typeface="Verdana" charset="0"/>
                  <a:cs typeface="Verdana" charset="0"/>
                </a:endParaRP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413657" y="520394"/>
                <a:ext cx="9921244" cy="4402615"/>
              </a:xfrm>
              <a:prstGeom prst="rect">
                <a:avLst/>
              </a:prstGeom>
              <a:blipFill>
                <a:blip r:embed="rId4"/>
                <a:stretch>
                  <a:fillRect l="-639" t="-575"/>
                </a:stretch>
              </a:blipFill>
            </p:spPr>
            <p:txBody>
              <a:bodyPr/>
              <a:lstStyle/>
              <a:p>
                <a:r>
                  <a:rPr lang="en-US">
                    <a:noFill/>
                  </a:rPr>
                  <a:t> </a:t>
                </a:r>
              </a:p>
            </p:txBody>
          </p:sp>
        </mc:Fallback>
      </mc:AlternateContent>
      <p:pic>
        <p:nvPicPr>
          <p:cNvPr id="2" name="Picture 1"/>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3790331" y="1293256"/>
            <a:ext cx="4823239" cy="3443035"/>
          </a:xfrm>
          <a:prstGeom prst="rect">
            <a:avLst/>
          </a:prstGeom>
        </p:spPr>
      </p:pic>
      <mc:AlternateContent xmlns:mc="http://schemas.openxmlformats.org/markup-compatibility/2006" xmlns:a14="http://schemas.microsoft.com/office/drawing/2010/main">
        <mc:Choice Requires="a14">
          <p:sp>
            <p:nvSpPr>
              <p:cNvPr id="3" name="Rectangle 2"/>
              <p:cNvSpPr/>
              <p:nvPr/>
            </p:nvSpPr>
            <p:spPr>
              <a:xfrm>
                <a:off x="1077686" y="4856573"/>
                <a:ext cx="9282136" cy="1015663"/>
              </a:xfrm>
              <a:prstGeom prst="rect">
                <a:avLst/>
              </a:prstGeom>
            </p:spPr>
            <p:txBody>
              <a:bodyPr wrap="square">
                <a:spAutoFit/>
              </a:bodyPr>
              <a:lstStyle/>
              <a:p>
                <a:pPr marL="457200" indent="-457200">
                  <a:buFont typeface="+mj-lt"/>
                  <a:buAutoNum type="alphaLcPeriod"/>
                </a:pPr>
                <a:r>
                  <a:rPr lang="en-US" sz="2000" dirty="0">
                    <a:latin typeface="Verdana" charset="0"/>
                    <a:ea typeface="Verdana" charset="0"/>
                    <a:cs typeface="Verdana" charset="0"/>
                  </a:rPr>
                  <a:t>Explain how you could use patty paper to verify </a:t>
                </a:r>
                <a14:m>
                  <m:oMath xmlns:m="http://schemas.openxmlformats.org/officeDocument/2006/math">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𝑉𝑊𝐾</m:t>
                    </m:r>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𝑆𝐻𝑃</m:t>
                    </m:r>
                  </m:oMath>
                </a14:m>
                <a:r>
                  <a:rPr lang="en-US" sz="2000" dirty="0">
                    <a:latin typeface="Verdana" charset="0"/>
                    <a:ea typeface="Verdana" charset="0"/>
                    <a:cs typeface="Verdana" charset="0"/>
                  </a:rPr>
                  <a:t>.</a:t>
                </a:r>
              </a:p>
              <a:p>
                <a:pPr marL="457200" indent="-457200">
                  <a:buFont typeface="+mj-lt"/>
                  <a:buAutoNum type="alphaLcPeriod"/>
                </a:pPr>
                <a:endParaRPr lang="en-US" sz="2000" dirty="0">
                  <a:latin typeface="Verdana" charset="0"/>
                  <a:ea typeface="Verdana" charset="0"/>
                  <a:cs typeface="Verdana" charset="0"/>
                </a:endParaRPr>
              </a:p>
              <a:p>
                <a:pPr marL="457200" indent="-457200">
                  <a:buFont typeface="+mj-lt"/>
                  <a:buAutoNum type="alphaLcPeriod"/>
                </a:pPr>
                <a:r>
                  <a:rPr lang="en-US" sz="2000" dirty="0">
                    <a:latin typeface="Verdana" charset="0"/>
                    <a:ea typeface="Verdana" charset="0"/>
                    <a:cs typeface="Verdana" charset="0"/>
                  </a:rPr>
                  <a:t>Write a series of transformations that will map </a:t>
                </a:r>
                <a14:m>
                  <m:oMath xmlns:m="http://schemas.openxmlformats.org/officeDocument/2006/math">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𝑉𝑊𝐾</m:t>
                    </m:r>
                  </m:oMath>
                </a14:m>
                <a:r>
                  <a:rPr lang="en-US" sz="2000" dirty="0">
                    <a:latin typeface="Verdana" charset="0"/>
                    <a:ea typeface="Verdana" charset="0"/>
                    <a:cs typeface="Verdana" charset="0"/>
                  </a:rPr>
                  <a:t> onto </a:t>
                </a:r>
                <a14:m>
                  <m:oMath xmlns:m="http://schemas.openxmlformats.org/officeDocument/2006/math">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𝑆𝐻𝑃</m:t>
                    </m:r>
                  </m:oMath>
                </a14:m>
                <a:r>
                  <a:rPr lang="en-US" sz="2000" dirty="0">
                    <a:latin typeface="Verdana" charset="0"/>
                    <a:ea typeface="Verdana" charset="0"/>
                    <a:cs typeface="Verdana" charset="0"/>
                  </a:rPr>
                  <a:t>.</a:t>
                </a:r>
              </a:p>
            </p:txBody>
          </p:sp>
        </mc:Choice>
        <mc:Fallback xmlns="">
          <p:sp>
            <p:nvSpPr>
              <p:cNvPr id="3" name="Rectangle 2"/>
              <p:cNvSpPr>
                <a:spLocks noRot="1" noChangeAspect="1" noMove="1" noResize="1" noEditPoints="1" noAdjustHandles="1" noChangeArrowheads="1" noChangeShapeType="1" noTextEdit="1"/>
              </p:cNvSpPr>
              <p:nvPr/>
            </p:nvSpPr>
            <p:spPr>
              <a:xfrm>
                <a:off x="1077686" y="4856573"/>
                <a:ext cx="9282136" cy="1015663"/>
              </a:xfrm>
              <a:prstGeom prst="rect">
                <a:avLst/>
              </a:prstGeom>
              <a:blipFill>
                <a:blip r:embed="rId6"/>
                <a:stretch>
                  <a:fillRect l="-683" t="-3704" b="-9877"/>
                </a:stretch>
              </a:blipFill>
            </p:spPr>
            <p:txBody>
              <a:bodyPr/>
              <a:lstStyle/>
              <a:p>
                <a:r>
                  <a:rPr lang="en-US">
                    <a:noFill/>
                  </a:rPr>
                  <a:t> </a:t>
                </a:r>
              </a:p>
            </p:txBody>
          </p:sp>
        </mc:Fallback>
      </mc:AlternateContent>
    </p:spTree>
    <p:extLst>
      <p:ext uri="{BB962C8B-B14F-4D97-AF65-F5344CB8AC3E}">
        <p14:creationId xmlns:p14="http://schemas.microsoft.com/office/powerpoint/2010/main" val="10375614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994150" y="6457676"/>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260</a:t>
            </a:r>
          </a:p>
        </p:txBody>
      </p:sp>
      <p:sp>
        <p:nvSpPr>
          <p:cNvPr id="14" name="TextBox 13">
            <a:extLst>
              <a:ext uri="{FF2B5EF4-FFF2-40B4-BE49-F238E27FC236}">
                <a16:creationId xmlns:a16="http://schemas.microsoft.com/office/drawing/2014/main" id="{2FA392D8-3ED3-7940-83A8-1451AA8A08D4}"/>
              </a:ext>
            </a:extLst>
          </p:cNvPr>
          <p:cNvSpPr txBox="1"/>
          <p:nvPr/>
        </p:nvSpPr>
        <p:spPr>
          <a:xfrm>
            <a:off x="413657" y="520393"/>
            <a:ext cx="9921244" cy="400110"/>
          </a:xfrm>
          <a:prstGeom prst="rect">
            <a:avLst/>
          </a:prstGeom>
          <a:noFill/>
        </p:spPr>
        <p:txBody>
          <a:bodyPr wrap="square" rtlCol="0">
            <a:spAutoFit/>
          </a:bodyPr>
          <a:lstStyle/>
          <a:p>
            <a:pPr marL="457200" indent="-457200">
              <a:buFont typeface="+mj-lt"/>
              <a:buAutoNum type="alphaLcPeriod" startAt="3"/>
            </a:pPr>
            <a:r>
              <a:rPr lang="en-US" sz="2000" dirty="0">
                <a:latin typeface="Verdana" charset="0"/>
                <a:ea typeface="Verdana" charset="0"/>
                <a:cs typeface="Verdana" charset="0"/>
              </a:rPr>
              <a:t>Show each on the coordinate grid.</a:t>
            </a:r>
          </a:p>
        </p:txBody>
      </p:sp>
      <mc:AlternateContent xmlns:mc="http://schemas.openxmlformats.org/markup-compatibility/2006">
        <mc:Choice xmlns:a14="http://schemas.microsoft.com/office/drawing/2010/main" Requires="a14">
          <p:sp>
            <p:nvSpPr>
              <p:cNvPr id="2" name="Rectangle 1"/>
              <p:cNvSpPr/>
              <p:nvPr/>
            </p:nvSpPr>
            <p:spPr>
              <a:xfrm>
                <a:off x="1001486" y="1182782"/>
                <a:ext cx="8947264" cy="1631216"/>
              </a:xfrm>
              <a:prstGeom prst="rect">
                <a:avLst/>
              </a:prstGeom>
            </p:spPr>
            <p:txBody>
              <a:bodyPr wrap="square">
                <a:spAutoFit/>
              </a:bodyPr>
              <a:lstStyle/>
              <a:p>
                <a:pPr marL="342900" indent="-342900">
                  <a:buFont typeface="Arial" charset="0"/>
                  <a:buChar char="•"/>
                </a:pPr>
                <a:r>
                  <a:rPr lang="en-US" sz="2000" dirty="0">
                    <a:latin typeface="Verdana" charset="0"/>
                    <a:ea typeface="Verdana" charset="0"/>
                    <a:cs typeface="Verdana" charset="0"/>
                  </a:rPr>
                  <a:t>Draw </a:t>
                </a:r>
                <a14:m>
                  <m:oMath xmlns:m="http://schemas.openxmlformats.org/officeDocument/2006/math">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𝑉</m:t>
                    </m:r>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𝑊</m:t>
                    </m:r>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𝐾</m:t>
                    </m:r>
                    <m:r>
                      <a:rPr lang="en-US" sz="2000" i="1">
                        <a:latin typeface="Cambria Math" panose="02040503050406030204" pitchFamily="18" charset="0"/>
                        <a:ea typeface="Verdana" charset="0"/>
                        <a:cs typeface="Verdana" charset="0"/>
                      </a:rPr>
                      <m:t>′</m:t>
                    </m:r>
                  </m:oMath>
                </a14:m>
                <a:r>
                  <a:rPr lang="en-US" sz="2000" dirty="0">
                    <a:latin typeface="Verdana" charset="0"/>
                    <a:ea typeface="Verdana" charset="0"/>
                    <a:cs typeface="Verdana" charset="0"/>
                  </a:rPr>
                  <a:t>, the result of the first transformation</a:t>
                </a:r>
              </a:p>
              <a:p>
                <a:pPr marL="342900" indent="-342900">
                  <a:buFont typeface="Arial" charset="0"/>
                  <a:buChar char="•"/>
                </a:pPr>
                <a:endParaRPr lang="en-US" sz="2000" dirty="0">
                  <a:latin typeface="Verdana" charset="0"/>
                  <a:ea typeface="Verdana" charset="0"/>
                  <a:cs typeface="Verdana" charset="0"/>
                </a:endParaRPr>
              </a:p>
              <a:p>
                <a:pPr marL="342900" indent="-342900">
                  <a:buFont typeface="Arial" charset="0"/>
                  <a:buChar char="•"/>
                </a:pPr>
                <a:r>
                  <a:rPr lang="en-US" sz="2000" dirty="0">
                    <a:latin typeface="Verdana" charset="0"/>
                    <a:ea typeface="Verdana" charset="0"/>
                    <a:cs typeface="Verdana" charset="0"/>
                  </a:rPr>
                  <a:t>Map the vertices of </a:t>
                </a:r>
                <a14:m>
                  <m:oMath xmlns:m="http://schemas.openxmlformats.org/officeDocument/2006/math">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𝑉𝑊𝐾</m:t>
                    </m:r>
                  </m:oMath>
                </a14:m>
                <a:r>
                  <a:rPr lang="en-US" sz="2000" dirty="0">
                    <a:latin typeface="Verdana" charset="0"/>
                    <a:ea typeface="Verdana" charset="0"/>
                    <a:cs typeface="Verdana" charset="0"/>
                  </a:rPr>
                  <a:t> to </a:t>
                </a:r>
                <a14:m>
                  <m:oMath xmlns:m="http://schemas.openxmlformats.org/officeDocument/2006/math">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𝑉</m:t>
                    </m:r>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𝑊</m:t>
                    </m:r>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𝐾</m:t>
                    </m:r>
                    <m:r>
                      <a:rPr lang="en-US" sz="2000" i="1">
                        <a:latin typeface="Cambria Math" panose="02040503050406030204" pitchFamily="18" charset="0"/>
                        <a:ea typeface="Verdana" charset="0"/>
                        <a:cs typeface="Verdana" charset="0"/>
                      </a:rPr>
                      <m:t>′</m:t>
                    </m:r>
                  </m:oMath>
                </a14:m>
                <a:endParaRPr lang="en-US" sz="2000" dirty="0">
                  <a:latin typeface="Verdana" charset="0"/>
                  <a:ea typeface="Verdana" charset="0"/>
                  <a:cs typeface="Verdana" charset="0"/>
                </a:endParaRPr>
              </a:p>
              <a:p>
                <a:pPr marL="342900" indent="-342900">
                  <a:buFont typeface="Arial" charset="0"/>
                  <a:buChar char="•"/>
                </a:pPr>
                <a:endParaRPr lang="en-US" sz="2000" dirty="0">
                  <a:latin typeface="Verdana" charset="0"/>
                  <a:ea typeface="Verdana" charset="0"/>
                  <a:cs typeface="Verdana" charset="0"/>
                </a:endParaRPr>
              </a:p>
              <a:p>
                <a:pPr marL="342900" indent="-342900">
                  <a:buFont typeface="Arial" charset="0"/>
                  <a:buChar char="•"/>
                </a:pPr>
                <a:r>
                  <a:rPr lang="en-US" sz="2000" dirty="0">
                    <a:latin typeface="Verdana" charset="0"/>
                    <a:ea typeface="Verdana" charset="0"/>
                    <a:cs typeface="Verdana" charset="0"/>
                  </a:rPr>
                  <a:t>Map the vertices of </a:t>
                </a:r>
                <a14:m>
                  <m:oMath xmlns:m="http://schemas.openxmlformats.org/officeDocument/2006/math">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𝑉</m:t>
                    </m:r>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𝑊</m:t>
                    </m:r>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𝐾</m:t>
                    </m:r>
                    <m:r>
                      <a:rPr lang="en-US" sz="2000" i="1">
                        <a:latin typeface="Cambria Math" panose="02040503050406030204" pitchFamily="18" charset="0"/>
                        <a:ea typeface="Verdana" charset="0"/>
                        <a:cs typeface="Verdana" charset="0"/>
                      </a:rPr>
                      <m:t>′</m:t>
                    </m:r>
                  </m:oMath>
                </a14:m>
                <a:r>
                  <a:rPr lang="en-US" sz="2000" dirty="0">
                    <a:latin typeface="Verdana" charset="0"/>
                    <a:ea typeface="Verdana" charset="0"/>
                    <a:cs typeface="Verdana" charset="0"/>
                  </a:rPr>
                  <a:t> to </a:t>
                </a:r>
                <a14:m>
                  <m:oMath xmlns:m="http://schemas.openxmlformats.org/officeDocument/2006/math">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𝑆𝐻𝑃</m:t>
                    </m:r>
                  </m:oMath>
                </a14:m>
                <a:endParaRPr lang="en-US" sz="2000" dirty="0">
                  <a:latin typeface="Verdana" charset="0"/>
                  <a:ea typeface="Verdana" charset="0"/>
                  <a:cs typeface="Verdana" charset="0"/>
                </a:endParaRPr>
              </a:p>
            </p:txBody>
          </p:sp>
        </mc:Choice>
        <mc:Fallback>
          <p:sp>
            <p:nvSpPr>
              <p:cNvPr id="2" name="Rectangle 1"/>
              <p:cNvSpPr>
                <a:spLocks noRot="1" noChangeAspect="1" noMove="1" noResize="1" noEditPoints="1" noAdjustHandles="1" noChangeArrowheads="1" noChangeShapeType="1" noTextEdit="1"/>
              </p:cNvSpPr>
              <p:nvPr/>
            </p:nvSpPr>
            <p:spPr>
              <a:xfrm>
                <a:off x="1001486" y="1182782"/>
                <a:ext cx="8947264" cy="1631216"/>
              </a:xfrm>
              <a:prstGeom prst="rect">
                <a:avLst/>
              </a:prstGeom>
              <a:blipFill>
                <a:blip r:embed="rId4"/>
                <a:stretch>
                  <a:fillRect l="-613" t="-1866" b="-5597"/>
                </a:stretch>
              </a:blipFill>
            </p:spPr>
            <p:txBody>
              <a:bodyPr/>
              <a:lstStyle/>
              <a:p>
                <a:r>
                  <a:rPr lang="en-US">
                    <a:noFill/>
                  </a:rPr>
                  <a:t> </a:t>
                </a:r>
              </a:p>
            </p:txBody>
          </p:sp>
        </mc:Fallback>
      </mc:AlternateContent>
    </p:spTree>
    <p:extLst>
      <p:ext uri="{BB962C8B-B14F-4D97-AF65-F5344CB8AC3E}">
        <p14:creationId xmlns:p14="http://schemas.microsoft.com/office/powerpoint/2010/main" val="6968589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8" name="Picture 7"/>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486369" y="1028224"/>
            <a:ext cx="9866815" cy="5172376"/>
          </a:xfrm>
          <a:prstGeom prst="rect">
            <a:avLst/>
          </a:prstGeom>
        </p:spPr>
      </p:pic>
      <p:sp>
        <p:nvSpPr>
          <p:cNvPr id="278" name="Google Shape;278;g104476d1465_1_17"/>
          <p:cNvSpPr/>
          <p:nvPr/>
        </p:nvSpPr>
        <p:spPr>
          <a:xfrm>
            <a:off x="3114" y="-8225"/>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4763"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990763" y="6508330"/>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260</a:t>
            </a:r>
          </a:p>
        </p:txBody>
      </p:sp>
      <p:sp>
        <p:nvSpPr>
          <p:cNvPr id="14" name="TextBox 13">
            <a:extLst>
              <a:ext uri="{FF2B5EF4-FFF2-40B4-BE49-F238E27FC236}">
                <a16:creationId xmlns:a16="http://schemas.microsoft.com/office/drawing/2014/main" id="{2FA392D8-3ED3-7940-83A8-1451AA8A08D4}"/>
              </a:ext>
            </a:extLst>
          </p:cNvPr>
          <p:cNvSpPr txBox="1"/>
          <p:nvPr/>
        </p:nvSpPr>
        <p:spPr>
          <a:xfrm>
            <a:off x="468086" y="520394"/>
            <a:ext cx="9866815" cy="1015663"/>
          </a:xfrm>
          <a:prstGeom prst="rect">
            <a:avLst/>
          </a:prstGeom>
          <a:noFill/>
        </p:spPr>
        <p:txBody>
          <a:bodyPr wrap="square" rtlCol="0">
            <a:spAutoFit/>
          </a:bodyPr>
          <a:lstStyle/>
          <a:p>
            <a:pPr marL="457200" indent="-457200">
              <a:buFont typeface="+mj-lt"/>
              <a:buAutoNum type="alphaLcPeriod" startAt="4"/>
            </a:pPr>
            <a:r>
              <a:rPr lang="en-US" sz="2000" dirty="0">
                <a:latin typeface="Verdana" charset="0"/>
                <a:ea typeface="Verdana" charset="0"/>
                <a:cs typeface="Verdana" charset="0"/>
              </a:rPr>
              <a:t>Complete the statements.</a:t>
            </a:r>
          </a:p>
          <a:p>
            <a:r>
              <a:rPr lang="en-US" sz="2000" dirty="0">
                <a:latin typeface="Verdana" charset="0"/>
                <a:ea typeface="Verdana" charset="0"/>
                <a:cs typeface="Verdana" charset="0"/>
              </a:rPr>
              <a:t> </a:t>
            </a:r>
          </a:p>
          <a:p>
            <a:endParaRPr lang="en-US" sz="2000" dirty="0">
              <a:latin typeface="Verdana" charset="0"/>
              <a:ea typeface="Verdana" charset="0"/>
              <a:cs typeface="Verdana" charset="0"/>
            </a:endParaRPr>
          </a:p>
        </p:txBody>
      </p:sp>
    </p:spTree>
    <p:extLst>
      <p:ext uri="{BB962C8B-B14F-4D97-AF65-F5344CB8AC3E}">
        <p14:creationId xmlns:p14="http://schemas.microsoft.com/office/powerpoint/2010/main" val="19619947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14000" y="-8225"/>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14150"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980150" y="6461187"/>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260</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446314" y="520394"/>
                <a:ext cx="11745686" cy="5633017"/>
              </a:xfrm>
              <a:prstGeom prst="rect">
                <a:avLst/>
              </a:prstGeom>
              <a:noFill/>
            </p:spPr>
            <p:txBody>
              <a:bodyPr wrap="square" rtlCol="0">
                <a:spAutoFit/>
              </a:bodyPr>
              <a:lstStyle/>
              <a:p>
                <a:pPr marL="457200" indent="-457200">
                  <a:buFont typeface="+mj-lt"/>
                  <a:buAutoNum type="arabicPeriod" startAt="3"/>
                </a:pPr>
                <a:r>
                  <a:rPr lang="en-US" sz="2000" dirty="0">
                    <a:latin typeface="Verdana" charset="0"/>
                    <a:ea typeface="Verdana" charset="0"/>
                    <a:cs typeface="Verdana" charset="0"/>
                  </a:rPr>
                  <a:t>Triangles </a:t>
                </a:r>
                <a14:m>
                  <m:oMath xmlns:m="http://schemas.openxmlformats.org/officeDocument/2006/math">
                    <m:r>
                      <a:rPr lang="en-US" sz="2000" i="1">
                        <a:latin typeface="Cambria Math" charset="0"/>
                        <a:ea typeface="Verdana" charset="0"/>
                        <a:cs typeface="Verdana" charset="0"/>
                      </a:rPr>
                      <m:t>𝑅𝑀𝐵</m:t>
                    </m:r>
                  </m:oMath>
                </a14:m>
                <a:r>
                  <a:rPr lang="en-US" sz="2000" dirty="0">
                    <a:latin typeface="Verdana" charset="0"/>
                    <a:ea typeface="Verdana" charset="0"/>
                    <a:cs typeface="Verdana" charset="0"/>
                  </a:rPr>
                  <a:t> and </a:t>
                </a:r>
                <a14:m>
                  <m:oMath xmlns:m="http://schemas.openxmlformats.org/officeDocument/2006/math">
                    <m:r>
                      <a:rPr lang="en-US" sz="2000" i="1">
                        <a:latin typeface="Cambria Math" charset="0"/>
                        <a:ea typeface="Verdana" charset="0"/>
                        <a:cs typeface="Verdana" charset="0"/>
                      </a:rPr>
                      <m:t>𝐺𝑁𝐶</m:t>
                    </m:r>
                  </m:oMath>
                </a14:m>
                <a:r>
                  <a:rPr lang="en-US" sz="2000" dirty="0">
                    <a:latin typeface="Verdana" charset="0"/>
                    <a:ea typeface="Verdana" charset="0"/>
                    <a:cs typeface="Verdana" charset="0"/>
                  </a:rPr>
                  <a:t> are shown, where </a:t>
                </a:r>
                <a14:m>
                  <m:oMath xmlns:m="http://schemas.openxmlformats.org/officeDocument/2006/math">
                    <m:acc>
                      <m:accPr>
                        <m:chr m:val="̅"/>
                        <m:ctrlPr>
                          <a:rPr lang="en-US" sz="2000" i="1">
                            <a:latin typeface="Cambria Math" panose="02040503050406030204" pitchFamily="18" charset="0"/>
                            <a:ea typeface="Verdana" charset="0"/>
                            <a:cs typeface="Verdana" charset="0"/>
                          </a:rPr>
                        </m:ctrlPr>
                      </m:accPr>
                      <m:e>
                        <m:r>
                          <a:rPr lang="en-US" sz="2000" i="1">
                            <a:latin typeface="Cambria Math" charset="0"/>
                            <a:ea typeface="Verdana" charset="0"/>
                            <a:cs typeface="Verdana" charset="0"/>
                          </a:rPr>
                          <m:t>𝑅𝑀</m:t>
                        </m:r>
                      </m:e>
                    </m:acc>
                    <m:r>
                      <a:rPr lang="en-US" sz="2000" i="1">
                        <a:latin typeface="Cambria Math" charset="0"/>
                        <a:ea typeface="Verdana" charset="0"/>
                        <a:cs typeface="Verdana" charset="0"/>
                      </a:rPr>
                      <m:t>≅</m:t>
                    </m:r>
                    <m:acc>
                      <m:accPr>
                        <m:chr m:val="̅"/>
                        <m:ctrlPr>
                          <a:rPr lang="en-US" sz="2000" i="1">
                            <a:latin typeface="Cambria Math" panose="02040503050406030204" pitchFamily="18" charset="0"/>
                            <a:ea typeface="Verdana" charset="0"/>
                            <a:cs typeface="Verdana" charset="0"/>
                          </a:rPr>
                        </m:ctrlPr>
                      </m:accPr>
                      <m:e>
                        <m:r>
                          <a:rPr lang="en-US" sz="2000" i="1">
                            <a:latin typeface="Cambria Math" charset="0"/>
                            <a:ea typeface="Verdana" charset="0"/>
                            <a:cs typeface="Verdana" charset="0"/>
                          </a:rPr>
                          <m:t>𝐺𝑁</m:t>
                        </m:r>
                      </m:e>
                    </m:acc>
                  </m:oMath>
                </a14:m>
                <a:r>
                  <a:rPr lang="en-US" sz="2000" dirty="0">
                    <a:latin typeface="Verdana" charset="0"/>
                    <a:ea typeface="Verdana" charset="0"/>
                    <a:cs typeface="Verdana" charset="0"/>
                  </a:rPr>
                  <a:t>, </a:t>
                </a:r>
                <a14:m>
                  <m:oMath xmlns:m="http://schemas.openxmlformats.org/officeDocument/2006/math">
                    <m:r>
                      <a:rPr lang="en-US" sz="2000" i="1">
                        <a:latin typeface="Cambria Math" charset="0"/>
                        <a:ea typeface="Verdana" charset="0"/>
                        <a:cs typeface="Verdana" charset="0"/>
                      </a:rPr>
                      <m:t>∠</m:t>
                    </m:r>
                    <m:r>
                      <a:rPr lang="en-US" sz="2000" i="1">
                        <a:latin typeface="Cambria Math" charset="0"/>
                        <a:ea typeface="Verdana" charset="0"/>
                        <a:cs typeface="Verdana" charset="0"/>
                      </a:rPr>
                      <m:t>𝐵𝑅𝑀</m:t>
                    </m:r>
                    <m:r>
                      <a:rPr lang="en-US" sz="2000" i="1">
                        <a:latin typeface="Cambria Math" charset="0"/>
                        <a:ea typeface="Verdana" charset="0"/>
                        <a:cs typeface="Verdana" charset="0"/>
                      </a:rPr>
                      <m:t>≅∠</m:t>
                    </m:r>
                    <m:r>
                      <a:rPr lang="en-US" sz="2000" i="1">
                        <a:latin typeface="Cambria Math" charset="0"/>
                        <a:ea typeface="Verdana" charset="0"/>
                        <a:cs typeface="Verdana" charset="0"/>
                      </a:rPr>
                      <m:t>𝐶𝐺𝑁</m:t>
                    </m:r>
                  </m:oMath>
                </a14:m>
                <a:r>
                  <a:rPr lang="en-US" sz="2000" dirty="0">
                    <a:latin typeface="Verdana" charset="0"/>
                    <a:ea typeface="Verdana" charset="0"/>
                    <a:cs typeface="Verdana" charset="0"/>
                  </a:rPr>
                  <a:t>, and </a:t>
                </a:r>
                <a14:m>
                  <m:oMath xmlns:m="http://schemas.openxmlformats.org/officeDocument/2006/math">
                    <m:r>
                      <a:rPr lang="en-US" sz="2000" i="1">
                        <a:latin typeface="Cambria Math" charset="0"/>
                        <a:ea typeface="Verdana" charset="0"/>
                        <a:cs typeface="Verdana" charset="0"/>
                      </a:rPr>
                      <m:t>∠</m:t>
                    </m:r>
                    <m:r>
                      <a:rPr lang="en-US" sz="2000" i="1">
                        <a:latin typeface="Cambria Math" charset="0"/>
                        <a:ea typeface="Verdana" charset="0"/>
                        <a:cs typeface="Verdana" charset="0"/>
                      </a:rPr>
                      <m:t>𝐵𝑀𝑅</m:t>
                    </m:r>
                    <m:r>
                      <a:rPr lang="en-US" sz="2000" i="1">
                        <a:latin typeface="Cambria Math" charset="0"/>
                        <a:ea typeface="Verdana" charset="0"/>
                        <a:cs typeface="Verdana" charset="0"/>
                      </a:rPr>
                      <m:t>≅∠</m:t>
                    </m:r>
                    <m:r>
                      <a:rPr lang="en-US" sz="2000" i="1">
                        <a:latin typeface="Cambria Math" charset="0"/>
                        <a:ea typeface="Verdana" charset="0"/>
                        <a:cs typeface="Verdana" charset="0"/>
                      </a:rPr>
                      <m:t>𝐶𝑁𝐺</m:t>
                    </m:r>
                  </m:oMath>
                </a14:m>
                <a:r>
                  <a:rPr lang="en-US" sz="2000" dirty="0">
                    <a:latin typeface="Verdana" charset="0"/>
                    <a:ea typeface="Verdana" charset="0"/>
                    <a:cs typeface="Verdana" charset="0"/>
                  </a:rPr>
                  <a:t>. </a:t>
                </a:r>
              </a:p>
              <a:p>
                <a:pPr marL="457200" indent="-457200">
                  <a:buFont typeface="+mj-lt"/>
                  <a:buAutoNum type="arabicPeriod" startAt="3"/>
                </a:pPr>
                <a:endParaRPr lang="en-US" sz="2000" dirty="0">
                  <a:latin typeface="Verdana" charset="0"/>
                  <a:ea typeface="Verdana" charset="0"/>
                  <a:cs typeface="Verdana" charset="0"/>
                </a:endParaRPr>
              </a:p>
              <a:p>
                <a:pPr marL="457200" indent="-457200">
                  <a:buFont typeface="+mj-lt"/>
                  <a:buAutoNum type="arabicPeriod" startAt="3"/>
                </a:pPr>
                <a:endParaRPr lang="en-US" sz="2000" dirty="0">
                  <a:latin typeface="Verdana" charset="0"/>
                  <a:ea typeface="Verdana" charset="0"/>
                  <a:cs typeface="Verdana" charset="0"/>
                </a:endParaRPr>
              </a:p>
              <a:p>
                <a:pPr marL="457200" indent="-457200">
                  <a:buFont typeface="+mj-lt"/>
                  <a:buAutoNum type="arabicPeriod" startAt="3"/>
                </a:pPr>
                <a:endParaRPr lang="en-US" sz="2000" dirty="0">
                  <a:latin typeface="Verdana" charset="0"/>
                  <a:ea typeface="Verdana" charset="0"/>
                  <a:cs typeface="Verdana" charset="0"/>
                </a:endParaRPr>
              </a:p>
              <a:p>
                <a:pPr marL="457200" indent="-457200">
                  <a:buFont typeface="+mj-lt"/>
                  <a:buAutoNum type="arabicPeriod" startAt="3"/>
                </a:pPr>
                <a:endParaRPr lang="en-US" sz="2000" dirty="0">
                  <a:latin typeface="Verdana" charset="0"/>
                  <a:ea typeface="Verdana" charset="0"/>
                  <a:cs typeface="Verdana" charset="0"/>
                </a:endParaRPr>
              </a:p>
              <a:p>
                <a:pPr marL="457200" indent="-457200">
                  <a:buFont typeface="+mj-lt"/>
                  <a:buAutoNum type="arabicPeriod" startAt="3"/>
                </a:pPr>
                <a:endParaRPr lang="en-US" sz="2000" dirty="0">
                  <a:latin typeface="Verdana" charset="0"/>
                  <a:ea typeface="Verdana" charset="0"/>
                  <a:cs typeface="Verdana" charset="0"/>
                </a:endParaRPr>
              </a:p>
              <a:p>
                <a:pPr marL="457200" indent="-457200">
                  <a:buFont typeface="+mj-lt"/>
                  <a:buAutoNum type="arabicPeriod" startAt="3"/>
                </a:pPr>
                <a:endParaRPr lang="en-US" sz="2000" dirty="0">
                  <a:latin typeface="Verdana" charset="0"/>
                  <a:ea typeface="Verdana" charset="0"/>
                  <a:cs typeface="Verdana" charset="0"/>
                </a:endParaRPr>
              </a:p>
              <a:p>
                <a:pPr marL="457200" indent="-457200">
                  <a:buFont typeface="+mj-lt"/>
                  <a:buAutoNum type="arabicPeriod" startAt="3"/>
                </a:pPr>
                <a:endParaRPr lang="en-US" sz="2000" dirty="0">
                  <a:latin typeface="Verdana" charset="0"/>
                  <a:ea typeface="Verdana" charset="0"/>
                  <a:cs typeface="Verdana" charset="0"/>
                </a:endParaRPr>
              </a:p>
              <a:p>
                <a:pPr marL="457200" indent="-457200">
                  <a:buFont typeface="+mj-lt"/>
                  <a:buAutoNum type="arabicPeriod" startAt="3"/>
                </a:pPr>
                <a:endParaRPr lang="en-US" sz="2000" dirty="0">
                  <a:latin typeface="Verdana" charset="0"/>
                  <a:ea typeface="Verdana" charset="0"/>
                  <a:cs typeface="Verdana" charset="0"/>
                </a:endParaRPr>
              </a:p>
              <a:p>
                <a:pPr marL="457200" indent="-457200">
                  <a:buFont typeface="+mj-lt"/>
                  <a:buAutoNum type="arabicPeriod" startAt="3"/>
                </a:pPr>
                <a:endParaRPr lang="en-US" sz="2000" dirty="0">
                  <a:latin typeface="Verdana" charset="0"/>
                  <a:ea typeface="Verdana" charset="0"/>
                  <a:cs typeface="Verdana" charset="0"/>
                </a:endParaRPr>
              </a:p>
              <a:p>
                <a:pPr marL="457200" indent="-457200">
                  <a:buFont typeface="+mj-lt"/>
                  <a:buAutoNum type="arabicPeriod" startAt="3"/>
                </a:pPr>
                <a:endParaRPr lang="en-US" sz="2000" dirty="0">
                  <a:latin typeface="Verdana" charset="0"/>
                  <a:ea typeface="Verdana" charset="0"/>
                  <a:cs typeface="Verdana" charset="0"/>
                </a:endParaRPr>
              </a:p>
              <a:p>
                <a:pPr marL="457200" indent="-457200">
                  <a:buFont typeface="+mj-lt"/>
                  <a:buAutoNum type="arabicPeriod" startAt="3"/>
                </a:pPr>
                <a:endParaRPr lang="en-US" sz="2000" dirty="0">
                  <a:latin typeface="Verdana" charset="0"/>
                  <a:ea typeface="Verdana" charset="0"/>
                  <a:cs typeface="Verdana" charset="0"/>
                </a:endParaRPr>
              </a:p>
              <a:p>
                <a:pPr marL="457200" indent="-457200">
                  <a:buFont typeface="+mj-lt"/>
                  <a:buAutoNum type="arabicPeriod" startAt="3"/>
                </a:pPr>
                <a:endParaRPr lang="en-US" sz="2000" dirty="0">
                  <a:latin typeface="Verdana" charset="0"/>
                  <a:ea typeface="Verdana" charset="0"/>
                  <a:cs typeface="Verdana" charset="0"/>
                </a:endParaRPr>
              </a:p>
              <a:p>
                <a:pPr marL="457200" indent="-457200">
                  <a:buFont typeface="+mj-lt"/>
                  <a:buAutoNum type="arabicPeriod" startAt="3"/>
                </a:pPr>
                <a:endParaRPr lang="en-US" sz="2000" dirty="0">
                  <a:latin typeface="Verdana" charset="0"/>
                  <a:ea typeface="Verdana" charset="0"/>
                  <a:cs typeface="Verdana" charset="0"/>
                </a:endParaRPr>
              </a:p>
              <a:p>
                <a:pPr marL="457200" indent="-457200">
                  <a:buFont typeface="+mj-lt"/>
                  <a:buAutoNum type="arabicPeriod" startAt="3"/>
                </a:pPr>
                <a:endParaRPr lang="en-US" sz="2000" dirty="0">
                  <a:latin typeface="Verdana" charset="0"/>
                  <a:ea typeface="Verdana" charset="0"/>
                  <a:cs typeface="Verdana" charset="0"/>
                </a:endParaRPr>
              </a:p>
              <a:p>
                <a:pPr marL="457200" indent="-457200">
                  <a:buFont typeface="+mj-lt"/>
                  <a:buAutoNum type="arabicPeriod" startAt="3"/>
                </a:pPr>
                <a:endParaRPr lang="en-US" sz="2000" dirty="0">
                  <a:latin typeface="Verdana" charset="0"/>
                  <a:ea typeface="Verdana" charset="0"/>
                  <a:cs typeface="Verdana" charset="0"/>
                </a:endParaRPr>
              </a:p>
              <a:p>
                <a:pPr marL="457200" indent="-457200">
                  <a:buFont typeface="+mj-lt"/>
                  <a:buAutoNum type="arabicPeriod" startAt="3"/>
                </a:pPr>
                <a:endParaRPr lang="en-US" sz="2000" dirty="0">
                  <a:latin typeface="Verdana" charset="0"/>
                  <a:ea typeface="Verdana" charset="0"/>
                  <a:cs typeface="Verdana" charset="0"/>
                </a:endParaRPr>
              </a:p>
              <a:p>
                <a:r>
                  <a:rPr lang="en-US" sz="2000" dirty="0">
                    <a:latin typeface="Verdana" charset="0"/>
                    <a:ea typeface="Verdana" charset="0"/>
                    <a:cs typeface="Verdana" charset="0"/>
                  </a:rPr>
                  <a:t>Adriana knows that there is a series of rigid motions that maps </a:t>
                </a:r>
                <a14:m>
                  <m:oMath xmlns:m="http://schemas.openxmlformats.org/officeDocument/2006/math">
                    <m:r>
                      <a:rPr lang="en-US" sz="2000" i="1">
                        <a:latin typeface="Cambria Math" charset="0"/>
                        <a:ea typeface="Verdana" charset="0"/>
                        <a:cs typeface="Verdana" charset="0"/>
                      </a:rPr>
                      <m:t>∆</m:t>
                    </m:r>
                    <m:r>
                      <a:rPr lang="en-US" sz="2000" i="1">
                        <a:latin typeface="Cambria Math" charset="0"/>
                        <a:ea typeface="Verdana" charset="0"/>
                        <a:cs typeface="Verdana" charset="0"/>
                      </a:rPr>
                      <m:t>𝑅𝑀𝐵</m:t>
                    </m:r>
                  </m:oMath>
                </a14:m>
                <a:r>
                  <a:rPr lang="en-US" sz="2000" dirty="0">
                    <a:latin typeface="Verdana" charset="0"/>
                    <a:ea typeface="Verdana" charset="0"/>
                    <a:cs typeface="Verdana" charset="0"/>
                  </a:rPr>
                  <a:t> onto </a:t>
                </a:r>
                <a14:m>
                  <m:oMath xmlns:m="http://schemas.openxmlformats.org/officeDocument/2006/math">
                    <m:r>
                      <a:rPr lang="en-US" sz="2000" i="1">
                        <a:latin typeface="Cambria Math" charset="0"/>
                        <a:ea typeface="Verdana" charset="0"/>
                        <a:cs typeface="Verdana" charset="0"/>
                      </a:rPr>
                      <m:t>∆</m:t>
                    </m:r>
                    <m:r>
                      <a:rPr lang="en-US" sz="2000" i="1">
                        <a:latin typeface="Cambria Math" charset="0"/>
                        <a:ea typeface="Verdana" charset="0"/>
                        <a:cs typeface="Verdana" charset="0"/>
                      </a:rPr>
                      <m:t>𝐺𝑁𝐶</m:t>
                    </m:r>
                  </m:oMath>
                </a14:m>
                <a:r>
                  <a:rPr lang="en-US" sz="2000" dirty="0">
                    <a:latin typeface="Verdana" charset="0"/>
                    <a:ea typeface="Verdana" charset="0"/>
                    <a:cs typeface="Verdana" charset="0"/>
                  </a:rPr>
                  <a:t>.</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446314" y="520394"/>
                <a:ext cx="11745686" cy="5633017"/>
              </a:xfrm>
              <a:prstGeom prst="rect">
                <a:avLst/>
              </a:prstGeom>
              <a:blipFill>
                <a:blip r:embed="rId4"/>
                <a:stretch>
                  <a:fillRect l="-540" t="-449" b="-899"/>
                </a:stretch>
              </a:blipFill>
            </p:spPr>
            <p:txBody>
              <a:bodyPr/>
              <a:lstStyle/>
              <a:p>
                <a:r>
                  <a:rPr lang="en-US">
                    <a:noFill/>
                  </a:rPr>
                  <a:t> </a:t>
                </a:r>
              </a:p>
            </p:txBody>
          </p:sp>
        </mc:Fallback>
      </mc:AlternateContent>
      <p:pic>
        <p:nvPicPr>
          <p:cNvPr id="2" name="Picture 1"/>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3329050" y="1388933"/>
            <a:ext cx="5429413" cy="4144969"/>
          </a:xfrm>
          <a:prstGeom prst="rect">
            <a:avLst/>
          </a:prstGeom>
        </p:spPr>
      </p:pic>
    </p:spTree>
    <p:extLst>
      <p:ext uri="{BB962C8B-B14F-4D97-AF65-F5344CB8AC3E}">
        <p14:creationId xmlns:p14="http://schemas.microsoft.com/office/powerpoint/2010/main" val="10909752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994150" y="6457675"/>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260</a:t>
            </a:r>
          </a:p>
        </p:txBody>
      </p:sp>
      <p:sp>
        <p:nvSpPr>
          <p:cNvPr id="14" name="TextBox 13">
            <a:extLst>
              <a:ext uri="{FF2B5EF4-FFF2-40B4-BE49-F238E27FC236}">
                <a16:creationId xmlns:a16="http://schemas.microsoft.com/office/drawing/2014/main" id="{2FA392D8-3ED3-7940-83A8-1451AA8A08D4}"/>
              </a:ext>
            </a:extLst>
          </p:cNvPr>
          <p:cNvSpPr txBox="1"/>
          <p:nvPr/>
        </p:nvSpPr>
        <p:spPr>
          <a:xfrm>
            <a:off x="587829" y="520393"/>
            <a:ext cx="9747072" cy="707886"/>
          </a:xfrm>
          <a:prstGeom prst="rect">
            <a:avLst/>
          </a:prstGeom>
          <a:noFill/>
        </p:spPr>
        <p:txBody>
          <a:bodyPr wrap="square" rtlCol="0">
            <a:spAutoFit/>
          </a:bodyPr>
          <a:lstStyle/>
          <a:p>
            <a:pPr marL="457200" indent="-457200">
              <a:buFont typeface="+mj-lt"/>
              <a:buAutoNum type="alphaLcPeriod"/>
            </a:pPr>
            <a:r>
              <a:rPr lang="en-US" sz="2000" dirty="0">
                <a:latin typeface="Verdana" charset="0"/>
                <a:ea typeface="Verdana" charset="0"/>
                <a:cs typeface="Verdana" charset="0"/>
              </a:rPr>
              <a:t>Select all true statements after the transformations.</a:t>
            </a:r>
          </a:p>
          <a:p>
            <a:r>
              <a:rPr lang="en-US" sz="2000" dirty="0">
                <a:latin typeface="Verdana" charset="0"/>
                <a:ea typeface="Verdana" charset="0"/>
                <a:cs typeface="Verdana" charset="0"/>
              </a:rPr>
              <a:t> </a:t>
            </a:r>
          </a:p>
        </p:txBody>
      </p:sp>
      <mc:AlternateContent xmlns:mc="http://schemas.openxmlformats.org/markup-compatibility/2006" xmlns:a14="http://schemas.microsoft.com/office/drawing/2010/main">
        <mc:Choice Requires="a14">
          <p:sp>
            <p:nvSpPr>
              <p:cNvPr id="2" name="Rectangle 1"/>
              <p:cNvSpPr/>
              <p:nvPr/>
            </p:nvSpPr>
            <p:spPr>
              <a:xfrm>
                <a:off x="1393371" y="1119154"/>
                <a:ext cx="8659605" cy="1631216"/>
              </a:xfrm>
              <a:prstGeom prst="rect">
                <a:avLst/>
              </a:prstGeom>
            </p:spPr>
            <p:txBody>
              <a:bodyPr wrap="square">
                <a:spAutoFit/>
              </a:bodyPr>
              <a:lstStyle/>
              <a:p>
                <a:pPr marL="342900" indent="-342900">
                  <a:buFont typeface="Wingdings" charset="2"/>
                  <a:buChar char="q"/>
                </a:pPr>
                <a:r>
                  <a:rPr lang="en-US" sz="2000" dirty="0">
                    <a:latin typeface="Verdana" charset="0"/>
                    <a:ea typeface="Verdana" charset="0"/>
                    <a:cs typeface="Verdana" charset="0"/>
                  </a:rPr>
                  <a:t>Line segment </a:t>
                </a:r>
                <a14:m>
                  <m:oMath xmlns:m="http://schemas.openxmlformats.org/officeDocument/2006/math">
                    <m:r>
                      <a:rPr lang="en-US" sz="2000" i="1">
                        <a:latin typeface="Cambria Math" panose="02040503050406030204" pitchFamily="18" charset="0"/>
                        <a:ea typeface="Verdana" charset="0"/>
                        <a:cs typeface="Verdana" charset="0"/>
                      </a:rPr>
                      <m:t>𝑅𝐵</m:t>
                    </m:r>
                  </m:oMath>
                </a14:m>
                <a:r>
                  <a:rPr lang="en-US" sz="2000" dirty="0">
                    <a:latin typeface="Verdana" charset="0"/>
                    <a:ea typeface="Verdana" charset="0"/>
                    <a:cs typeface="Verdana" charset="0"/>
                  </a:rPr>
                  <a:t> coincides with line segment </a:t>
                </a:r>
                <a14:m>
                  <m:oMath xmlns:m="http://schemas.openxmlformats.org/officeDocument/2006/math">
                    <m:r>
                      <a:rPr lang="en-US" sz="2000" i="1">
                        <a:latin typeface="Cambria Math" panose="02040503050406030204" pitchFamily="18" charset="0"/>
                        <a:ea typeface="Verdana" charset="0"/>
                        <a:cs typeface="Verdana" charset="0"/>
                      </a:rPr>
                      <m:t>𝐺𝑁</m:t>
                    </m:r>
                  </m:oMath>
                </a14:m>
                <a:r>
                  <a:rPr lang="en-US" sz="2000" dirty="0">
                    <a:latin typeface="Verdana" charset="0"/>
                    <a:ea typeface="Verdana" charset="0"/>
                    <a:cs typeface="Verdana" charset="0"/>
                  </a:rPr>
                  <a:t>.</a:t>
                </a:r>
              </a:p>
              <a:p>
                <a:pPr marL="342900" indent="-342900">
                  <a:buFont typeface="Wingdings" charset="2"/>
                  <a:buChar char="q"/>
                </a:pPr>
                <a:r>
                  <a:rPr lang="en-US" sz="2000" dirty="0">
                    <a:latin typeface="Verdana" charset="0"/>
                    <a:ea typeface="Verdana" charset="0"/>
                    <a:cs typeface="Verdana" charset="0"/>
                  </a:rPr>
                  <a:t>Line segment </a:t>
                </a:r>
                <a14:m>
                  <m:oMath xmlns:m="http://schemas.openxmlformats.org/officeDocument/2006/math">
                    <m:r>
                      <a:rPr lang="en-US" sz="2000" i="1">
                        <a:latin typeface="Cambria Math" panose="02040503050406030204" pitchFamily="18" charset="0"/>
                        <a:ea typeface="Verdana" charset="0"/>
                        <a:cs typeface="Verdana" charset="0"/>
                      </a:rPr>
                      <m:t>𝐵𝑀</m:t>
                    </m:r>
                  </m:oMath>
                </a14:m>
                <a:r>
                  <a:rPr lang="en-US" sz="2000" dirty="0">
                    <a:latin typeface="Verdana" charset="0"/>
                    <a:ea typeface="Verdana" charset="0"/>
                    <a:cs typeface="Verdana" charset="0"/>
                  </a:rPr>
                  <a:t> coincides with line segment </a:t>
                </a:r>
                <a14:m>
                  <m:oMath xmlns:m="http://schemas.openxmlformats.org/officeDocument/2006/math">
                    <m:r>
                      <a:rPr lang="en-US" sz="2000" i="1">
                        <a:latin typeface="Cambria Math" panose="02040503050406030204" pitchFamily="18" charset="0"/>
                        <a:ea typeface="Verdana" charset="0"/>
                        <a:cs typeface="Verdana" charset="0"/>
                      </a:rPr>
                      <m:t>𝐶𝑁</m:t>
                    </m:r>
                  </m:oMath>
                </a14:m>
                <a:r>
                  <a:rPr lang="en-US" sz="2000" dirty="0">
                    <a:latin typeface="Verdana" charset="0"/>
                    <a:ea typeface="Verdana" charset="0"/>
                    <a:cs typeface="Verdana" charset="0"/>
                  </a:rPr>
                  <a:t>.</a:t>
                </a:r>
              </a:p>
              <a:p>
                <a:pPr marL="342900" indent="-342900">
                  <a:buFont typeface="Wingdings" charset="2"/>
                  <a:buChar char="q"/>
                </a:pPr>
                <a:r>
                  <a:rPr lang="en-US" sz="2000" dirty="0">
                    <a:latin typeface="Verdana" charset="0"/>
                    <a:ea typeface="Verdana" charset="0"/>
                    <a:cs typeface="Verdana" charset="0"/>
                  </a:rPr>
                  <a:t>Line segment </a:t>
                </a:r>
                <a14:m>
                  <m:oMath xmlns:m="http://schemas.openxmlformats.org/officeDocument/2006/math">
                    <m:r>
                      <a:rPr lang="en-US" sz="2000" i="1">
                        <a:latin typeface="Cambria Math" panose="02040503050406030204" pitchFamily="18" charset="0"/>
                        <a:ea typeface="Verdana" charset="0"/>
                        <a:cs typeface="Verdana" charset="0"/>
                      </a:rPr>
                      <m:t>𝐶𝐺</m:t>
                    </m:r>
                  </m:oMath>
                </a14:m>
                <a:r>
                  <a:rPr lang="en-US" sz="2000" dirty="0">
                    <a:latin typeface="Verdana" charset="0"/>
                    <a:ea typeface="Verdana" charset="0"/>
                    <a:cs typeface="Verdana" charset="0"/>
                  </a:rPr>
                  <a:t> coincides with line segment </a:t>
                </a:r>
                <a14:m>
                  <m:oMath xmlns:m="http://schemas.openxmlformats.org/officeDocument/2006/math">
                    <m:r>
                      <a:rPr lang="en-US" sz="2000" i="1">
                        <a:latin typeface="Cambria Math" panose="02040503050406030204" pitchFamily="18" charset="0"/>
                        <a:ea typeface="Verdana" charset="0"/>
                        <a:cs typeface="Verdana" charset="0"/>
                      </a:rPr>
                      <m:t>𝐵𝑅</m:t>
                    </m:r>
                  </m:oMath>
                </a14:m>
                <a:r>
                  <a:rPr lang="en-US" sz="2000" dirty="0">
                    <a:latin typeface="Verdana" charset="0"/>
                    <a:ea typeface="Verdana" charset="0"/>
                    <a:cs typeface="Verdana" charset="0"/>
                  </a:rPr>
                  <a:t>.</a:t>
                </a:r>
              </a:p>
              <a:p>
                <a:pPr marL="342900" indent="-342900">
                  <a:buFont typeface="Wingdings" charset="2"/>
                  <a:buChar char="q"/>
                </a:pPr>
                <a:r>
                  <a:rPr lang="en-US" sz="2000" dirty="0">
                    <a:latin typeface="Verdana" charset="0"/>
                    <a:ea typeface="Verdana" charset="0"/>
                    <a:cs typeface="Verdana" charset="0"/>
                  </a:rPr>
                  <a:t>Angle </a:t>
                </a:r>
                <a14:m>
                  <m:oMath xmlns:m="http://schemas.openxmlformats.org/officeDocument/2006/math">
                    <m:r>
                      <a:rPr lang="en-US" sz="2000" i="1">
                        <a:latin typeface="Cambria Math" panose="02040503050406030204" pitchFamily="18" charset="0"/>
                        <a:ea typeface="Verdana" charset="0"/>
                        <a:cs typeface="Verdana" charset="0"/>
                      </a:rPr>
                      <m:t>𝑁𝐶𝐺</m:t>
                    </m:r>
                  </m:oMath>
                </a14:m>
                <a:r>
                  <a:rPr lang="en-US" sz="2000" dirty="0">
                    <a:latin typeface="Verdana" charset="0"/>
                    <a:ea typeface="Verdana" charset="0"/>
                    <a:cs typeface="Verdana" charset="0"/>
                  </a:rPr>
                  <a:t> coincides with angle </a:t>
                </a:r>
                <a14:m>
                  <m:oMath xmlns:m="http://schemas.openxmlformats.org/officeDocument/2006/math">
                    <m:r>
                      <a:rPr lang="en-US" sz="2000" i="1">
                        <a:latin typeface="Cambria Math" panose="02040503050406030204" pitchFamily="18" charset="0"/>
                        <a:ea typeface="Verdana" charset="0"/>
                        <a:cs typeface="Verdana" charset="0"/>
                      </a:rPr>
                      <m:t>𝑅𝑀𝐵</m:t>
                    </m:r>
                  </m:oMath>
                </a14:m>
                <a:r>
                  <a:rPr lang="en-US" sz="2000" dirty="0">
                    <a:latin typeface="Verdana" charset="0"/>
                    <a:ea typeface="Verdana" charset="0"/>
                    <a:cs typeface="Verdana" charset="0"/>
                  </a:rPr>
                  <a:t>.</a:t>
                </a:r>
              </a:p>
              <a:p>
                <a:pPr marL="342900" indent="-342900">
                  <a:buFont typeface="Wingdings" charset="2"/>
                  <a:buChar char="q"/>
                </a:pPr>
                <a:r>
                  <a:rPr lang="en-US" sz="2000" dirty="0">
                    <a:latin typeface="Verdana" charset="0"/>
                    <a:ea typeface="Verdana" charset="0"/>
                    <a:cs typeface="Verdana" charset="0"/>
                  </a:rPr>
                  <a:t>Angle </a:t>
                </a:r>
                <a14:m>
                  <m:oMath xmlns:m="http://schemas.openxmlformats.org/officeDocument/2006/math">
                    <m:r>
                      <a:rPr lang="en-US" sz="2000" i="1">
                        <a:latin typeface="Cambria Math" panose="02040503050406030204" pitchFamily="18" charset="0"/>
                        <a:ea typeface="Verdana" charset="0"/>
                        <a:cs typeface="Verdana" charset="0"/>
                      </a:rPr>
                      <m:t>𝑅𝐵𝑀</m:t>
                    </m:r>
                  </m:oMath>
                </a14:m>
                <a:r>
                  <a:rPr lang="en-US" sz="2000" dirty="0">
                    <a:latin typeface="Verdana" charset="0"/>
                    <a:ea typeface="Verdana" charset="0"/>
                    <a:cs typeface="Verdana" charset="0"/>
                  </a:rPr>
                  <a:t> coincides with angle </a:t>
                </a:r>
                <a14:m>
                  <m:oMath xmlns:m="http://schemas.openxmlformats.org/officeDocument/2006/math">
                    <m:r>
                      <a:rPr lang="en-US" sz="2000" i="1">
                        <a:latin typeface="Cambria Math" panose="02040503050406030204" pitchFamily="18" charset="0"/>
                        <a:ea typeface="Verdana" charset="0"/>
                        <a:cs typeface="Verdana" charset="0"/>
                      </a:rPr>
                      <m:t>𝐺𝐶𝑁</m:t>
                    </m:r>
                  </m:oMath>
                </a14:m>
                <a:r>
                  <a:rPr lang="en-US" sz="2000" dirty="0">
                    <a:latin typeface="Verdana" charset="0"/>
                    <a:ea typeface="Verdana" charset="0"/>
                    <a:cs typeface="Verdana" charset="0"/>
                  </a:rPr>
                  <a:t>.</a:t>
                </a:r>
              </a:p>
            </p:txBody>
          </p:sp>
        </mc:Choice>
        <mc:Fallback xmlns="">
          <p:sp>
            <p:nvSpPr>
              <p:cNvPr id="2" name="Rectangle 1"/>
              <p:cNvSpPr>
                <a:spLocks noRot="1" noChangeAspect="1" noMove="1" noResize="1" noEditPoints="1" noAdjustHandles="1" noChangeArrowheads="1" noChangeShapeType="1" noTextEdit="1"/>
              </p:cNvSpPr>
              <p:nvPr/>
            </p:nvSpPr>
            <p:spPr>
              <a:xfrm>
                <a:off x="1393371" y="1119154"/>
                <a:ext cx="8659605" cy="1631216"/>
              </a:xfrm>
              <a:prstGeom prst="rect">
                <a:avLst/>
              </a:prstGeom>
              <a:blipFill>
                <a:blip r:embed="rId4"/>
                <a:stretch>
                  <a:fillRect l="-586" t="-2326" b="-6202"/>
                </a:stretch>
              </a:blipFill>
            </p:spPr>
            <p:txBody>
              <a:bodyPr/>
              <a:lstStyle/>
              <a:p>
                <a:r>
                  <a:rPr lang="en-US">
                    <a:noFill/>
                  </a:rPr>
                  <a:t> </a:t>
                </a:r>
              </a:p>
            </p:txBody>
          </p:sp>
        </mc:Fallback>
      </mc:AlternateContent>
    </p:spTree>
    <p:extLst>
      <p:ext uri="{BB962C8B-B14F-4D97-AF65-F5344CB8AC3E}">
        <p14:creationId xmlns:p14="http://schemas.microsoft.com/office/powerpoint/2010/main" val="9270911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994150" y="6457800"/>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261</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653143" y="520394"/>
                <a:ext cx="9681758" cy="707886"/>
              </a:xfrm>
              <a:prstGeom prst="rect">
                <a:avLst/>
              </a:prstGeom>
              <a:noFill/>
            </p:spPr>
            <p:txBody>
              <a:bodyPr wrap="square" rtlCol="0">
                <a:spAutoFit/>
              </a:bodyPr>
              <a:lstStyle/>
              <a:p>
                <a:pPr marL="457200" indent="-457200">
                  <a:buFont typeface="+mj-lt"/>
                  <a:buAutoNum type="alphaLcPeriod" startAt="2"/>
                </a:pPr>
                <a:r>
                  <a:rPr lang="en-US" sz="2000" dirty="0">
                    <a:latin typeface="Verdana" charset="0"/>
                    <a:ea typeface="Verdana" charset="0"/>
                    <a:cs typeface="Verdana" charset="0"/>
                  </a:rPr>
                  <a:t>Explain how the given information and the definition of congruence in terms of rigid motions shows that </a:t>
                </a:r>
                <a14:m>
                  <m:oMath xmlns:m="http://schemas.openxmlformats.org/officeDocument/2006/math">
                    <m:r>
                      <a:rPr lang="en-US" sz="2000" i="1">
                        <a:latin typeface="Cambria Math" charset="0"/>
                        <a:ea typeface="Verdana" charset="0"/>
                        <a:cs typeface="Verdana" charset="0"/>
                      </a:rPr>
                      <m:t>∆</m:t>
                    </m:r>
                    <m:r>
                      <a:rPr lang="en-US" sz="2000" i="1">
                        <a:latin typeface="Cambria Math" charset="0"/>
                        <a:ea typeface="Verdana" charset="0"/>
                        <a:cs typeface="Verdana" charset="0"/>
                      </a:rPr>
                      <m:t>𝑅𝑀𝐵</m:t>
                    </m:r>
                    <m:r>
                      <a:rPr lang="en-US" sz="2000" i="1">
                        <a:latin typeface="Cambria Math" charset="0"/>
                        <a:ea typeface="Verdana" charset="0"/>
                        <a:cs typeface="Verdana" charset="0"/>
                      </a:rPr>
                      <m:t>≅∆</m:t>
                    </m:r>
                    <m:r>
                      <a:rPr lang="en-US" sz="2000" i="1">
                        <a:latin typeface="Cambria Math" charset="0"/>
                        <a:ea typeface="Verdana" charset="0"/>
                        <a:cs typeface="Verdana" charset="0"/>
                      </a:rPr>
                      <m:t>𝐺𝑁𝐶</m:t>
                    </m:r>
                  </m:oMath>
                </a14:m>
                <a:r>
                  <a:rPr lang="en-US" sz="2000" dirty="0">
                    <a:latin typeface="Verdana" charset="0"/>
                    <a:ea typeface="Verdana" charset="0"/>
                    <a:cs typeface="Verdana" charset="0"/>
                  </a:rPr>
                  <a:t>. </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653143" y="520394"/>
                <a:ext cx="9681758" cy="707886"/>
              </a:xfrm>
              <a:prstGeom prst="rect">
                <a:avLst/>
              </a:prstGeom>
              <a:blipFill>
                <a:blip r:embed="rId4"/>
                <a:stretch>
                  <a:fillRect l="-655" t="-3509" r="-262" b="-14035"/>
                </a:stretch>
              </a:blipFill>
            </p:spPr>
            <p:txBody>
              <a:bodyPr/>
              <a:lstStyle/>
              <a:p>
                <a:r>
                  <a:rPr lang="en-US">
                    <a:noFill/>
                  </a:rPr>
                  <a:t> </a:t>
                </a:r>
              </a:p>
            </p:txBody>
          </p:sp>
        </mc:Fallback>
      </mc:AlternateContent>
    </p:spTree>
    <p:extLst>
      <p:ext uri="{BB962C8B-B14F-4D97-AF65-F5344CB8AC3E}">
        <p14:creationId xmlns:p14="http://schemas.microsoft.com/office/powerpoint/2010/main" val="16964727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0" name="Google Shape;310;g104476d1465_1_39"/>
          <p:cNvSpPr txBox="1"/>
          <p:nvPr/>
        </p:nvSpPr>
        <p:spPr>
          <a:xfrm>
            <a:off x="8994150" y="6457675"/>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261</a:t>
            </a: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4">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6769087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4" name="Picture 3"/>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8648409" y="4660625"/>
            <a:ext cx="1597788" cy="1624418"/>
          </a:xfrm>
          <a:prstGeom prst="rect">
            <a:avLst/>
          </a:prstGeom>
        </p:spPr>
      </p:pic>
      <p:sp>
        <p:nvSpPr>
          <p:cNvPr id="278" name="Google Shape;278;g104476d1465_1_17"/>
          <p:cNvSpPr/>
          <p:nvPr/>
        </p:nvSpPr>
        <p:spPr>
          <a:xfrm>
            <a:off x="0" y="-8225"/>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82" name="Google Shape;282;g104476d1465_1_17"/>
          <p:cNvSpPr txBox="1"/>
          <p:nvPr/>
        </p:nvSpPr>
        <p:spPr>
          <a:xfrm>
            <a:off x="8994150" y="6485143"/>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261</a:t>
            </a: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141824" y="-82571"/>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5.H1.3 Wrap-Up: Reflection</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5">
            <a:alphaModFix/>
          </a:blip>
          <a:srcRect/>
          <a:stretch/>
        </p:blipFill>
        <p:spPr>
          <a:xfrm>
            <a:off x="394524" y="206629"/>
            <a:ext cx="747300" cy="747300"/>
          </a:xfrm>
          <a:prstGeom prst="rect">
            <a:avLst/>
          </a:prstGeom>
          <a:noFill/>
          <a:ln>
            <a:noFill/>
          </a:ln>
          <a:effectLst>
            <a:outerShdw blurRad="50800" dist="38100" dir="2700000" algn="tl" rotWithShape="0">
              <a:prstClr val="black">
                <a:alpha val="40000"/>
              </a:prstClr>
            </a:outerShdw>
          </a:effectLst>
        </p:spPr>
      </p:pic>
      <p:sp>
        <p:nvSpPr>
          <p:cNvPr id="12" name="TextBox 11">
            <a:extLst>
              <a:ext uri="{FF2B5EF4-FFF2-40B4-BE49-F238E27FC236}">
                <a16:creationId xmlns:a16="http://schemas.microsoft.com/office/drawing/2014/main" id="{0370EDB7-6994-3D43-ABF9-E04CBAFB9CD9}"/>
              </a:ext>
            </a:extLst>
          </p:cNvPr>
          <p:cNvSpPr txBox="1"/>
          <p:nvPr/>
        </p:nvSpPr>
        <p:spPr>
          <a:xfrm>
            <a:off x="394524" y="1225564"/>
            <a:ext cx="8019300" cy="4401205"/>
          </a:xfrm>
          <a:prstGeom prst="rect">
            <a:avLst/>
          </a:prstGeom>
          <a:noFill/>
        </p:spPr>
        <p:txBody>
          <a:bodyPr wrap="square" rtlCol="0">
            <a:spAutoFit/>
          </a:bodyPr>
          <a:lstStyle/>
          <a:p>
            <a:pPr marL="457200" indent="-457200">
              <a:buFont typeface="+mj-lt"/>
              <a:buAutoNum type="arabicPeriod"/>
            </a:pPr>
            <a:r>
              <a:rPr lang="en-US" sz="2000" dirty="0">
                <a:latin typeface="Verdana" charset="0"/>
                <a:ea typeface="Verdana" charset="0"/>
                <a:cs typeface="Verdana" charset="0"/>
              </a:rPr>
              <a:t>What is something that is now “squared away” in your mind about the definition of congruence in terms of rigid transformations?</a:t>
            </a: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r>
              <a:rPr lang="en-US" sz="2000" dirty="0">
                <a:latin typeface="Verdana" charset="0"/>
                <a:ea typeface="Verdana" charset="0"/>
                <a:cs typeface="Verdana" charset="0"/>
              </a:rPr>
              <a:t>What are three “points” that are important for showing triangle congruence using the definition of congruence in terms of rigid transformations?</a:t>
            </a: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r>
              <a:rPr lang="en-US" sz="2000" dirty="0">
                <a:latin typeface="Verdana" charset="0"/>
                <a:ea typeface="Verdana" charset="0"/>
                <a:cs typeface="Verdana" charset="0"/>
              </a:rPr>
              <a:t>What is something that is still “circling” your brain about the definition of congruence in terms of rigid transformations?</a:t>
            </a:r>
          </a:p>
          <a:p>
            <a:pPr marL="457200" indent="-457200">
              <a:buFont typeface="+mj-lt"/>
              <a:buAutoNum type="arabicPeriod"/>
            </a:pPr>
            <a:endParaRPr lang="en-US" sz="2000" dirty="0">
              <a:latin typeface="Verdana" charset="0"/>
              <a:ea typeface="Verdana" charset="0"/>
              <a:cs typeface="Verdana" charset="0"/>
            </a:endParaRPr>
          </a:p>
        </p:txBody>
      </p:sp>
      <p:pic>
        <p:nvPicPr>
          <p:cNvPr id="2" name="Picture 1"/>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8754433" y="1271890"/>
            <a:ext cx="1385740" cy="1273987"/>
          </a:xfrm>
          <a:prstGeom prst="rect">
            <a:avLst/>
          </a:prstGeom>
        </p:spPr>
      </p:pic>
      <p:pic>
        <p:nvPicPr>
          <p:cNvPr id="3" name="Picture 2"/>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8567311" y="2946078"/>
            <a:ext cx="1759984" cy="1314347"/>
          </a:xfrm>
          <a:prstGeom prst="rect">
            <a:avLst/>
          </a:prstGeom>
        </p:spPr>
      </p:pic>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1328</TotalTime>
  <Words>808</Words>
  <Application>Microsoft Office PowerPoint</Application>
  <PresentationFormat>Widescreen</PresentationFormat>
  <Paragraphs>167</Paragraphs>
  <Slides>18</Slides>
  <Notes>18</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18</vt:i4>
      </vt:variant>
    </vt:vector>
  </HeadingPairs>
  <TitlesOfParts>
    <vt:vector size="27" baseType="lpstr">
      <vt:lpstr>Arial</vt:lpstr>
      <vt:lpstr>Arial Black</vt:lpstr>
      <vt:lpstr>Calibri</vt:lpstr>
      <vt:lpstr>Cambria</vt:lpstr>
      <vt:lpstr>Cambria Math</vt:lpstr>
      <vt:lpstr>Century Gothic</vt:lpstr>
      <vt:lpstr>Verdana</vt:lpstr>
      <vt:lpstr>Wingdings</vt:lpstr>
      <vt:lpstr>1_Office Theme</vt:lpstr>
      <vt:lpstr>Geometry  Unit 5, Lesson H1  Definition of Congruence in Terms of Rigid Transformations  Volume 1, pg. 257  </vt:lpstr>
      <vt:lpstr>Benchmark</vt:lpstr>
      <vt:lpstr>PowerPoint Presentation</vt:lpstr>
      <vt:lpstr>PowerPoint Presentation</vt:lpstr>
      <vt:lpstr>Warm-Up</vt:lpstr>
      <vt:lpstr>PowerPoint Presentation</vt:lpstr>
      <vt:lpstr>Exploration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  </dc:title>
  <dc:creator>Karen McKenzie</dc:creator>
  <cp:lastModifiedBy>Morgan Palomino</cp:lastModifiedBy>
  <cp:revision>25</cp:revision>
  <dcterms:created xsi:type="dcterms:W3CDTF">2015-03-17T18:51:18Z</dcterms:created>
  <dcterms:modified xsi:type="dcterms:W3CDTF">2023-02-27T22:00:23Z</dcterms:modified>
</cp:coreProperties>
</file>