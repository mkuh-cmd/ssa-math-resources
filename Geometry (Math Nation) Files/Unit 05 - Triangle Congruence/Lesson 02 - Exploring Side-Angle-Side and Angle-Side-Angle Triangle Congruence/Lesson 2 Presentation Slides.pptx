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371" r:id="rId8"/>
    <p:sldId id="372" r:id="rId9"/>
    <p:sldId id="373" r:id="rId10"/>
    <p:sldId id="374" r:id="rId11"/>
    <p:sldId id="375" r:id="rId12"/>
    <p:sldId id="377" r:id="rId13"/>
    <p:sldId id="378" r:id="rId14"/>
    <p:sldId id="379" r:id="rId15"/>
    <p:sldId id="380" r:id="rId16"/>
    <p:sldId id="381" r:id="rId17"/>
    <p:sldId id="382" r:id="rId18"/>
    <p:sldId id="306" r:id="rId19"/>
    <p:sldId id="307" r:id="rId20"/>
    <p:sldId id="370"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276C46"/>
    <a:srgbClr val="79C058"/>
    <a:srgbClr val="DA4487"/>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43"/>
    <p:restoredTop sz="94719"/>
  </p:normalViewPr>
  <p:slideViewPr>
    <p:cSldViewPr snapToGrid="0">
      <p:cViewPr varScale="1">
        <p:scale>
          <a:sx n="79" d="100"/>
          <a:sy n="79" d="100"/>
        </p:scale>
        <p:origin x="76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09967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756583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6925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22616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34403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114678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46378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10475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768840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777398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06334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159685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0.png"/><Relationship Id="rId5" Type="http://schemas.openxmlformats.org/officeDocument/2006/relationships/image" Target="../media/image1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32.png"/><Relationship Id="rId4" Type="http://schemas.openxmlformats.org/officeDocument/2006/relationships/image" Target="../media/image3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Exploring Side-Angle-Side and Angle-Side-Angle Congruence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4875"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887"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11495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7424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899" y="1600200"/>
            <a:ext cx="1139782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MA.912.GR.1.2 </a:t>
            </a:r>
          </a:p>
          <a:p>
            <a:pPr marL="95250" indent="0">
              <a:buNone/>
            </a:pPr>
            <a:r>
              <a:rPr lang="en-US" sz="2400" dirty="0">
                <a:latin typeface="Verdana" charset="0"/>
                <a:ea typeface="Verdana" charset="0"/>
                <a:cs typeface="Verdana" charset="0"/>
              </a:rPr>
              <a:t>Prove triangle congruence or similarity using Side-Side-Side, Side-Angle-Side, Angle-Side-Angle, Angle-Angle-Side, Angle-Angle, and Hypotenuse-Leg.</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MA.912.GR.5.1 </a:t>
            </a:r>
          </a:p>
          <a:p>
            <a:pPr marL="95250" indent="0">
              <a:buNone/>
            </a:pPr>
            <a:r>
              <a:rPr lang="en-US" sz="2400" dirty="0">
                <a:latin typeface="Verdana" charset="0"/>
                <a:ea typeface="Verdana" charset="0"/>
                <a:cs typeface="Verdana" charset="0"/>
              </a:rPr>
              <a:t>Construct a copy of a segment or an angle.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0291" y="22886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7591"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60291" y="1596390"/>
            <a:ext cx="1189446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75665" y="-3612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8365" y="19435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2714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28365" y="1600200"/>
            <a:ext cx="115678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constructions to determine if SAS congruence can be used to show that two triangles are congruent.</a:t>
            </a:r>
          </a:p>
          <a:p>
            <a:pPr marL="342900" indent="-342900">
              <a:buFont typeface="Wingdings" charset="2"/>
              <a:buChar char="q"/>
            </a:pPr>
            <a:r>
              <a:rPr lang="en-US" sz="2400" dirty="0">
                <a:latin typeface="Verdana" charset="0"/>
                <a:ea typeface="Verdana" charset="0"/>
                <a:cs typeface="Verdana" charset="0"/>
              </a:rPr>
              <a:t>I can use constructions to determine if ASA congruence can be used to show that two triangles are congruent.</a:t>
            </a:r>
          </a:p>
          <a:p>
            <a:pPr marL="342900" indent="-342900">
              <a:buFont typeface="Wingdings" charset="2"/>
              <a:buChar char="q"/>
            </a:pPr>
            <a:r>
              <a:rPr lang="en-US" sz="2400" dirty="0">
                <a:latin typeface="Verdana" charset="0"/>
                <a:ea typeface="Verdana" charset="0"/>
                <a:cs typeface="Verdana" charset="0"/>
              </a:rPr>
              <a:t>I can use constructions to determine if SSA congruence can be used to show that two triangles are congruent.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52" y="1199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5.2.1 Warm-Up: Geometry in Art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8952" y="179556"/>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9646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230</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376518" y="1386025"/>
                <a:ext cx="11251632" cy="1631216"/>
              </a:xfrm>
              <a:prstGeom prst="rect">
                <a:avLst/>
              </a:prstGeom>
              <a:noFill/>
            </p:spPr>
            <p:txBody>
              <a:bodyPr wrap="square" rtlCol="0">
                <a:spAutoFit/>
              </a:bodyPr>
              <a:lstStyle/>
              <a:p>
                <a:r>
                  <a:rPr lang="en-US" sz="2000" dirty="0">
                    <a:latin typeface="Verdana" charset="0"/>
                    <a:ea typeface="Verdana" charset="0"/>
                    <a:cs typeface="Verdana" charset="0"/>
                  </a:rPr>
                  <a:t>A Pysanka is a decorated egg that is traditional in Ukraine. The decoration on the eggs is created using a wax resist (batik) method. Families often have their own unique pattern. The largest Pysanka is in </a:t>
                </a:r>
                <a:r>
                  <a:rPr lang="en-US" sz="2000" dirty="0" err="1">
                    <a:latin typeface="Verdana" charset="0"/>
                    <a:ea typeface="Verdana" charset="0"/>
                    <a:cs typeface="Verdana" charset="0"/>
                  </a:rPr>
                  <a:t>Vegreville</a:t>
                </a:r>
                <a:r>
                  <a:rPr lang="en-US" sz="2000" dirty="0">
                    <a:latin typeface="Verdana" charset="0"/>
                    <a:ea typeface="Verdana" charset="0"/>
                    <a:cs typeface="Verdana" charset="0"/>
                  </a:rPr>
                  <a:t>, Canada. It weighs </a:t>
                </a:r>
                <a14:m>
                  <m:oMath xmlns:m="http://schemas.openxmlformats.org/officeDocument/2006/math">
                    <m:r>
                      <a:rPr lang="en-US" sz="2000" i="1">
                        <a:latin typeface="Cambria Math" charset="0"/>
                        <a:ea typeface="Verdana" charset="0"/>
                        <a:cs typeface="Verdana" charset="0"/>
                      </a:rPr>
                      <m:t>5,000</m:t>
                    </m:r>
                  </m:oMath>
                </a14:m>
                <a:r>
                  <a:rPr lang="en-US" sz="2000" dirty="0">
                    <a:latin typeface="Verdana" charset="0"/>
                    <a:ea typeface="Verdana" charset="0"/>
                    <a:cs typeface="Verdana" charset="0"/>
                  </a:rPr>
                  <a:t> pounds, is </a:t>
                </a:r>
                <a14:m>
                  <m:oMath xmlns:m="http://schemas.openxmlformats.org/officeDocument/2006/math">
                    <m:r>
                      <a:rPr lang="en-US" sz="2000" i="1">
                        <a:latin typeface="Cambria Math" charset="0"/>
                        <a:ea typeface="Verdana" charset="0"/>
                        <a:cs typeface="Verdana" charset="0"/>
                      </a:rPr>
                      <m:t>31</m:t>
                    </m:r>
                  </m:oMath>
                </a14:m>
                <a:r>
                  <a:rPr lang="en-US" sz="2000" dirty="0">
                    <a:latin typeface="Verdana" charset="0"/>
                    <a:ea typeface="Verdana" charset="0"/>
                    <a:cs typeface="Verdana" charset="0"/>
                  </a:rPr>
                  <a:t> feet (</a:t>
                </a:r>
                <a:r>
                  <a:rPr lang="en-US" sz="2000" dirty="0" err="1">
                    <a:latin typeface="Verdana" charset="0"/>
                    <a:ea typeface="Verdana" charset="0"/>
                    <a:cs typeface="Verdana" charset="0"/>
                  </a:rPr>
                  <a:t>ft</a:t>
                </a:r>
                <a:r>
                  <a:rPr lang="en-US" sz="2000" dirty="0">
                    <a:latin typeface="Verdana" charset="0"/>
                    <a:ea typeface="Verdana" charset="0"/>
                    <a:cs typeface="Verdana" charset="0"/>
                  </a:rPr>
                  <a:t>) tall, and </a:t>
                </a:r>
                <a14:m>
                  <m:oMath xmlns:m="http://schemas.openxmlformats.org/officeDocument/2006/math">
                    <m:r>
                      <a:rPr lang="en-US" sz="2000" i="1">
                        <a:latin typeface="Cambria Math" charset="0"/>
                        <a:ea typeface="Verdana" charset="0"/>
                        <a:cs typeface="Verdana" charset="0"/>
                      </a:rPr>
                      <m:t>18</m:t>
                    </m:r>
                  </m:oMath>
                </a14:m>
                <a:r>
                  <a:rPr lang="en-US" sz="2000" dirty="0">
                    <a:latin typeface="Verdana" charset="0"/>
                    <a:ea typeface="Verdana" charset="0"/>
                    <a:cs typeface="Verdana" charset="0"/>
                  </a:rPr>
                  <a:t> </a:t>
                </a:r>
                <a:r>
                  <a:rPr lang="en-US" sz="2000" dirty="0" err="1">
                    <a:latin typeface="Verdana" charset="0"/>
                    <a:ea typeface="Verdana" charset="0"/>
                    <a:cs typeface="Verdana" charset="0"/>
                  </a:rPr>
                  <a:t>ft</a:t>
                </a:r>
                <a:r>
                  <a:rPr lang="en-US" sz="2000" dirty="0">
                    <a:latin typeface="Verdana" charset="0"/>
                    <a:ea typeface="Verdana" charset="0"/>
                    <a:cs typeface="Verdana" charset="0"/>
                  </a:rPr>
                  <a:t> wide. A traditional Pysanka egg is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 inches tall and </a:t>
                </a:r>
                <a14:m>
                  <m:oMath xmlns:m="http://schemas.openxmlformats.org/officeDocument/2006/math">
                    <m:r>
                      <a:rPr lang="en-US" sz="2000" i="1">
                        <a:latin typeface="Cambria Math" charset="0"/>
                        <a:ea typeface="Verdana" charset="0"/>
                        <a:cs typeface="Verdana" charset="0"/>
                      </a:rPr>
                      <m:t>1.75</m:t>
                    </m:r>
                  </m:oMath>
                </a14:m>
                <a:r>
                  <a:rPr lang="en-US" sz="2000" dirty="0">
                    <a:latin typeface="Verdana" charset="0"/>
                    <a:ea typeface="Verdana" charset="0"/>
                    <a:cs typeface="Verdana" charset="0"/>
                  </a:rPr>
                  <a:t> inches wide.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376518" y="1386025"/>
                <a:ext cx="11251632" cy="1631216"/>
              </a:xfrm>
              <a:prstGeom prst="rect">
                <a:avLst/>
              </a:prstGeom>
              <a:blipFill>
                <a:blip r:embed="rId5"/>
                <a:stretch>
                  <a:fillRect l="-564" t="-1538" b="-5385"/>
                </a:stretch>
              </a:blipFill>
            </p:spPr>
            <p:txBody>
              <a:bodyPr/>
              <a:lstStyle/>
              <a:p>
                <a:r>
                  <a:rPr lang="en-US">
                    <a:noFill/>
                  </a:rPr>
                  <a:t> </a:t>
                </a:r>
              </a:p>
            </p:txBody>
          </p:sp>
        </mc:Fallback>
      </mc:AlternateContent>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681632" y="3325017"/>
            <a:ext cx="2371344" cy="2707782"/>
          </a:xfrm>
          <a:prstGeom prst="rect">
            <a:avLst/>
          </a:prstGeom>
        </p:spPr>
      </p:pic>
      <p:sp>
        <p:nvSpPr>
          <p:cNvPr id="4" name="Rectangle 3"/>
          <p:cNvSpPr/>
          <p:nvPr/>
        </p:nvSpPr>
        <p:spPr>
          <a:xfrm>
            <a:off x="744071" y="3533552"/>
            <a:ext cx="5888377" cy="1938992"/>
          </a:xfrm>
          <a:prstGeom prst="rect">
            <a:avLst/>
          </a:prstGeom>
        </p:spPr>
        <p:txBody>
          <a:bodyPr wrap="square">
            <a:spAutoFit/>
          </a:bodyPr>
          <a:lstStyle/>
          <a:p>
            <a:pPr marL="342900" indent="-342900">
              <a:buFont typeface="+mj-lt"/>
              <a:buAutoNum type="arabicPeriod"/>
            </a:pPr>
            <a:r>
              <a:rPr lang="en-US" sz="2000" dirty="0">
                <a:latin typeface="Verdana" charset="0"/>
                <a:ea typeface="Verdana" charset="0"/>
                <a:cs typeface="Verdana" charset="0"/>
              </a:rPr>
              <a:t>What do you notice about Pysanka eggs?</a:t>
            </a:r>
          </a:p>
          <a:p>
            <a:pPr marL="342900" indent="-342900">
              <a:buFont typeface="+mj-lt"/>
              <a:buAutoNum type="arabicPeriod"/>
            </a:pPr>
            <a:endParaRPr lang="en-US" sz="2000" dirty="0">
              <a:latin typeface="Verdana" charset="0"/>
              <a:ea typeface="Verdana" charset="0"/>
              <a:cs typeface="Verdana" charset="0"/>
            </a:endParaRPr>
          </a:p>
          <a:p>
            <a:pPr marL="342900" indent="-342900">
              <a:buFont typeface="+mj-lt"/>
              <a:buAutoNum type="arabicPeriod"/>
            </a:pPr>
            <a:r>
              <a:rPr lang="en-US" sz="2000" dirty="0">
                <a:latin typeface="Verdana" charset="0"/>
                <a:ea typeface="Verdana" charset="0"/>
                <a:cs typeface="Verdana" charset="0"/>
              </a:rPr>
              <a:t>Estimate the number of traditional Pysanka eggs that will fit into the largest Pysanka. Show your work or explain how you found your estimate.</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9062868"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230</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79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22629" y="1060705"/>
            <a:ext cx="2860836" cy="1962271"/>
          </a:xfrm>
          <a:prstGeom prst="rect">
            <a:avLst/>
          </a:prstGeom>
        </p:spPr>
      </p:pic>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8092"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3149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5.2.2 Exploration: Congruence Relationships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74092" y="645194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230</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89570" y="18294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389570" y="1386025"/>
                <a:ext cx="6639118"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𝑇𝑊𝐻</m:t>
                    </m:r>
                  </m:oMath>
                </a14:m>
                <a:r>
                  <a:rPr lang="en-US" sz="2000" dirty="0">
                    <a:latin typeface="Verdana" charset="0"/>
                    <a:ea typeface="Verdana" charset="0"/>
                    <a:cs typeface="Verdana" charset="0"/>
                  </a:rPr>
                  <a:t> is shown.</a:t>
                </a:r>
              </a:p>
              <a:p>
                <a:r>
                  <a:rPr lang="en-US" sz="2000" dirty="0">
                    <a:latin typeface="Verdana" charset="0"/>
                    <a:ea typeface="Verdana" charset="0"/>
                    <a:cs typeface="Verdana" charset="0"/>
                  </a:rPr>
                  <a:t> </a:t>
                </a:r>
              </a:p>
              <a:p>
                <a:pPr marL="457200" lvl="1" indent="-457200">
                  <a:buFont typeface="+mj-lt"/>
                  <a:buAutoNum type="alphaLcPeriod"/>
                </a:pPr>
                <a:r>
                  <a:rPr lang="en-US" sz="2000" dirty="0">
                    <a:latin typeface="Verdana" charset="0"/>
                    <a:ea typeface="Verdana" charset="0"/>
                    <a:cs typeface="Verdana" charset="0"/>
                  </a:rPr>
                  <a:t>Construct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𝑋𝑀𝑃</m:t>
                    </m:r>
                  </m:oMath>
                </a14:m>
                <a:r>
                  <a:rPr lang="en-US" sz="2000" dirty="0">
                    <a:latin typeface="Verdana" charset="0"/>
                    <a:ea typeface="Verdana" charset="0"/>
                    <a:cs typeface="Verdana" charset="0"/>
                  </a:rPr>
                  <a:t> so that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𝑋𝑀</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𝑇𝑊</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𝑃𝑀</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𝐻𝑊</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𝑇𝑊𝐻</m:t>
                    </m:r>
                    <m:r>
                      <a:rPr lang="en-US" sz="2000" i="1">
                        <a:latin typeface="Cambria Math" charset="0"/>
                        <a:ea typeface="Verdana" charset="0"/>
                        <a:cs typeface="Verdana" charset="0"/>
                      </a:rPr>
                      <m:t>≅∠</m:t>
                    </m:r>
                    <m:r>
                      <a:rPr lang="en-US" sz="2000" i="1">
                        <a:latin typeface="Cambria Math" charset="0"/>
                        <a:ea typeface="Verdana" charset="0"/>
                        <a:cs typeface="Verdana" charset="0"/>
                      </a:rPr>
                      <m:t>𝑃𝑀𝑋</m:t>
                    </m:r>
                  </m:oMath>
                </a14:m>
                <a:r>
                  <a:rPr lang="en-US" sz="2000" dirty="0">
                    <a:latin typeface="Verdana" charset="0"/>
                    <a:ea typeface="Verdana" charset="0"/>
                    <a:cs typeface="Verdana" charset="0"/>
                  </a:rPr>
                  <a:t> using the given steps.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389570" y="1386025"/>
                <a:ext cx="6639118" cy="1323439"/>
              </a:xfrm>
              <a:prstGeom prst="rect">
                <a:avLst/>
              </a:prstGeom>
              <a:blipFill>
                <a:blip r:embed="rId6"/>
                <a:stretch>
                  <a:fillRect l="-954" t="-1887"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747526440"/>
                  </p:ext>
                </p:extLst>
              </p:nvPr>
            </p:nvGraphicFramePr>
            <p:xfrm>
              <a:off x="2515806" y="3200880"/>
              <a:ext cx="6860540" cy="3251062"/>
            </p:xfrm>
            <a:graphic>
              <a:graphicData uri="http://schemas.openxmlformats.org/drawingml/2006/table">
                <a:tbl>
                  <a:tblPr firstRow="1" firstCol="1" bandRow="1"/>
                  <a:tblGrid>
                    <a:gridCol w="3758565">
                      <a:extLst>
                        <a:ext uri="{9D8B030D-6E8A-4147-A177-3AD203B41FA5}">
                          <a16:colId xmlns:a16="http://schemas.microsoft.com/office/drawing/2014/main" val="20000"/>
                        </a:ext>
                      </a:extLst>
                    </a:gridCol>
                    <a:gridCol w="3101975">
                      <a:extLst>
                        <a:ext uri="{9D8B030D-6E8A-4147-A177-3AD203B41FA5}">
                          <a16:colId xmlns:a16="http://schemas.microsoft.com/office/drawing/2014/main" val="20001"/>
                        </a:ext>
                      </a:extLst>
                    </a:gridCol>
                  </a:tblGrid>
                  <a:tr h="286061">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79261">
                    <a:tc rowSpan="4">
                      <a:txBody>
                        <a:bodyPr/>
                        <a:lstStyle/>
                        <a:p>
                          <a:pPr marL="0" marR="0">
                            <a:spcBef>
                              <a:spcPts val="0"/>
                            </a:spcBef>
                            <a:spcAft>
                              <a:spcPts val="0"/>
                            </a:spcAft>
                          </a:pPr>
                          <a:endParaRPr lang="en-US" sz="180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1. Copy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𝑇𝑊</m:t>
                                  </m:r>
                                </m:e>
                              </m:acc>
                              <m:r>
                                <a:rPr lang="en-US" sz="1800" i="1">
                                  <a:effectLst/>
                                  <a:latin typeface="Cambria Math" charset="0"/>
                                  <a:ea typeface="Times New Roman" charset="0"/>
                                  <a:cs typeface="Times New Roman" charset="0"/>
                                </a:rPr>
                                <m:t> </m:t>
                              </m:r>
                            </m:oMath>
                          </a14:m>
                          <a:r>
                            <a:rPr lang="en-US" sz="1800">
                              <a:effectLst/>
                              <a:latin typeface="Verdana" charset="0"/>
                              <a:ea typeface="Times New Roman" charset="0"/>
                              <a:cs typeface="Times New Roman" charset="0"/>
                            </a:rPr>
                            <a:t>using a compass to construct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𝑋𝑀</m:t>
                                  </m:r>
                                </m:e>
                              </m:acc>
                            </m:oMath>
                          </a14:m>
                          <a:r>
                            <a:rPr lang="en-US" sz="1800">
                              <a:effectLst/>
                              <a:latin typeface="Verdana" charset="0"/>
                              <a:ea typeface="Times New Roman" charset="0"/>
                              <a:cs typeface="Times New Roman" charset="0"/>
                            </a:rPr>
                            <a:t> using the orange line so that</a:t>
                          </a:r>
                          <a14:m>
                            <m:oMath xmlns:m="http://schemas.openxmlformats.org/officeDocument/2006/math">
                              <m:r>
                                <a:rPr lang="en-US" sz="1800">
                                  <a:effectLst/>
                                  <a:latin typeface="Cambria Math" charset="0"/>
                                  <a:ea typeface="Times New Roman" charset="0"/>
                                  <a:cs typeface="Times New Roman" charset="0"/>
                                </a:rPr>
                                <m:t> </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𝑋𝑀</m:t>
                                  </m:r>
                                </m:e>
                              </m:acc>
                              <m:r>
                                <a:rPr lang="en-US" sz="1800" i="1">
                                  <a:effectLst/>
                                  <a:latin typeface="Cambria Math" charset="0"/>
                                  <a:ea typeface="Times New Roman" charset="0"/>
                                  <a:cs typeface="Times New Roman" charset="0"/>
                                </a:rPr>
                                <m:t>≅</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𝑇𝑊</m:t>
                                  </m:r>
                                </m:e>
                              </m:acc>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3200">
                    <a:tc vMerge="1">
                      <a:txBody>
                        <a:bodyPr/>
                        <a:lstStyle/>
                        <a:p>
                          <a:endParaRPr lang="en-US"/>
                        </a:p>
                      </a:txBody>
                      <a:tcPr/>
                    </a:tc>
                    <a:tc>
                      <a:txBody>
                        <a:bodyPr/>
                        <a:lstStyle/>
                        <a:p>
                          <a:pPr marL="0" marR="0">
                            <a:spcBef>
                              <a:spcPts val="0"/>
                            </a:spcBef>
                            <a:spcAft>
                              <a:spcPts val="0"/>
                            </a:spcAft>
                          </a:pPr>
                          <a:r>
                            <a:rPr lang="en-US" sz="1800">
                              <a:effectLst/>
                              <a:latin typeface="Verdana" charset="0"/>
                              <a:ea typeface="Times New Roman" charset="0"/>
                              <a:cs typeface="Times New Roman" charset="0"/>
                            </a:rPr>
                            <a:t>2. Copy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𝑇𝑊𝐻</m:t>
                              </m:r>
                            </m:oMath>
                          </a14:m>
                          <a:r>
                            <a:rPr lang="en-US" sz="1800">
                              <a:effectLst/>
                              <a:latin typeface="Verdana" charset="0"/>
                              <a:ea typeface="Times New Roman" charset="0"/>
                              <a:cs typeface="Times New Roman" charset="0"/>
                            </a:rPr>
                            <a:t> to construct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𝑃𝑀𝑋</m:t>
                              </m:r>
                            </m:oMath>
                          </a14:m>
                          <a:r>
                            <a:rPr lang="en-US" sz="1800">
                              <a:effectLst/>
                              <a:latin typeface="Verdana" charset="0"/>
                              <a:ea typeface="Times New Roman" charset="0"/>
                              <a:cs typeface="Times New Roman" charset="0"/>
                            </a:rPr>
                            <a:t> so that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𝑇𝑊𝐻</m:t>
                              </m:r>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𝑃𝑀𝑋</m:t>
                              </m:r>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95247">
                    <a:tc vMerge="1">
                      <a:txBody>
                        <a:bodyPr/>
                        <a:lstStyle/>
                        <a:p>
                          <a:endParaRPr lang="en-US"/>
                        </a:p>
                      </a:txBody>
                      <a:tcPr/>
                    </a:tc>
                    <a:tc>
                      <a:txBody>
                        <a:bodyPr/>
                        <a:lstStyle/>
                        <a:p>
                          <a:pPr marL="0" marR="0">
                            <a:spcBef>
                              <a:spcPts val="0"/>
                            </a:spcBef>
                            <a:spcAft>
                              <a:spcPts val="0"/>
                            </a:spcAft>
                          </a:pPr>
                          <a:r>
                            <a:rPr lang="en-US" sz="1800">
                              <a:effectLst/>
                              <a:latin typeface="Verdana" charset="0"/>
                              <a:ea typeface="Times New Roman" charset="0"/>
                              <a:cs typeface="Times New Roman" charset="0"/>
                            </a:rPr>
                            <a:t>3. Copy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𝐻𝑊</m:t>
                                  </m:r>
                                </m:e>
                              </m:acc>
                              <m:r>
                                <a:rPr lang="en-US" sz="1800" i="1">
                                  <a:effectLst/>
                                  <a:latin typeface="Cambria Math" charset="0"/>
                                  <a:ea typeface="Times New Roman" charset="0"/>
                                  <a:cs typeface="Times New Roman" charset="0"/>
                                </a:rPr>
                                <m:t> </m:t>
                              </m:r>
                            </m:oMath>
                          </a14:m>
                          <a:r>
                            <a:rPr lang="en-US" sz="1800">
                              <a:effectLst/>
                              <a:latin typeface="Verdana" charset="0"/>
                              <a:ea typeface="Times New Roman" charset="0"/>
                              <a:cs typeface="Times New Roman" charset="0"/>
                            </a:rPr>
                            <a:t>to construct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𝑃𝑀</m:t>
                                  </m:r>
                                </m:e>
                              </m:acc>
                            </m:oMath>
                          </a14:m>
                          <a:r>
                            <a:rPr lang="en-US" sz="1800">
                              <a:effectLst/>
                              <a:latin typeface="Verdana" charset="0"/>
                              <a:ea typeface="Times New Roman" charset="0"/>
                              <a:cs typeface="Times New Roman" charset="0"/>
                            </a:rPr>
                            <a:t> so that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𝑃𝑀</m:t>
                                  </m:r>
                                </m:e>
                              </m:acc>
                              <m:r>
                                <a:rPr lang="en-US" sz="1800" i="1">
                                  <a:effectLst/>
                                  <a:latin typeface="Cambria Math" charset="0"/>
                                  <a:ea typeface="Times New Roman" charset="0"/>
                                  <a:cs typeface="Times New Roman" charset="0"/>
                                </a:rPr>
                                <m:t>≅</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𝐻𝑊</m:t>
                                  </m:r>
                                </m:e>
                              </m:acc>
                              <m:r>
                                <a:rPr lang="en-US" sz="1800" i="1">
                                  <a:effectLst/>
                                  <a:latin typeface="Cambria Math" charset="0"/>
                                  <a:ea typeface="Times New Roman" charset="0"/>
                                  <a:cs typeface="Times New Roman" charset="0"/>
                                </a:rPr>
                                <m:t>.</m:t>
                              </m:r>
                            </m:oMath>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7293">
                    <a:tc vMerge="1">
                      <a:txBody>
                        <a:bodyPr/>
                        <a:lstStyle/>
                        <a:p>
                          <a:endParaRPr lang="en-US"/>
                        </a:p>
                      </a:txBody>
                      <a:tcPr/>
                    </a:tc>
                    <a:tc>
                      <a:txBody>
                        <a:bodyPr/>
                        <a:lstStyle/>
                        <a:p>
                          <a:pPr marL="0" marR="0">
                            <a:spcBef>
                              <a:spcPts val="0"/>
                            </a:spcBef>
                            <a:spcAft>
                              <a:spcPts val="0"/>
                            </a:spcAft>
                          </a:pPr>
                          <a:r>
                            <a:rPr lang="en-US" sz="1800" dirty="0">
                              <a:effectLst/>
                              <a:latin typeface="Verdana" charset="0"/>
                              <a:ea typeface="Times New Roman" charset="0"/>
                              <a:cs typeface="Times New Roman" charset="0"/>
                            </a:rPr>
                            <a:t>4. Draw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𝑃𝑋</m:t>
                                  </m:r>
                                </m:e>
                              </m:acc>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747526440"/>
                  </p:ext>
                </p:extLst>
              </p:nvPr>
            </p:nvGraphicFramePr>
            <p:xfrm>
              <a:off x="2515806" y="3200880"/>
              <a:ext cx="6860540" cy="3251062"/>
            </p:xfrm>
            <a:graphic>
              <a:graphicData uri="http://schemas.openxmlformats.org/drawingml/2006/table">
                <a:tbl>
                  <a:tblPr firstRow="1" firstCol="1" bandRow="1"/>
                  <a:tblGrid>
                    <a:gridCol w="3758565">
                      <a:extLst>
                        <a:ext uri="{9D8B030D-6E8A-4147-A177-3AD203B41FA5}">
                          <a16:colId xmlns:a16="http://schemas.microsoft.com/office/drawing/2014/main" val="20000"/>
                        </a:ext>
                      </a:extLst>
                    </a:gridCol>
                    <a:gridCol w="3101975">
                      <a:extLst>
                        <a:ext uri="{9D8B030D-6E8A-4147-A177-3AD203B41FA5}">
                          <a16:colId xmlns:a16="http://schemas.microsoft.com/office/drawing/2014/main" val="20001"/>
                        </a:ext>
                      </a:extLst>
                    </a:gridCol>
                  </a:tblGrid>
                  <a:tr h="286061">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79261">
                    <a:tc rowSpan="4">
                      <a:txBody>
                        <a:bodyPr/>
                        <a:lstStyle/>
                        <a:p>
                          <a:pPr marL="0" marR="0">
                            <a:spcBef>
                              <a:spcPts val="0"/>
                            </a:spcBef>
                            <a:spcAft>
                              <a:spcPts val="0"/>
                            </a:spcAft>
                          </a:pPr>
                          <a:endParaRPr lang="en-US" sz="180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224" t="-31183" r="-408" b="-161290"/>
                          </a:stretch>
                        </a:blipFill>
                      </a:tcPr>
                    </a:tc>
                    <a:extLst>
                      <a:ext uri="{0D108BD9-81ED-4DB2-BD59-A6C34878D82A}">
                        <a16:rowId xmlns:a16="http://schemas.microsoft.com/office/drawing/2014/main" val="10001"/>
                      </a:ext>
                    </a:extLst>
                  </a:tr>
                  <a:tr h="893200">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224" t="-174286" r="-408" b="-114286"/>
                          </a:stretch>
                        </a:blipFill>
                      </a:tcPr>
                    </a:tc>
                    <a:extLst>
                      <a:ext uri="{0D108BD9-81ED-4DB2-BD59-A6C34878D82A}">
                        <a16:rowId xmlns:a16="http://schemas.microsoft.com/office/drawing/2014/main" val="10002"/>
                      </a:ext>
                    </a:extLst>
                  </a:tr>
                  <a:tr h="595247">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224" t="-408511" r="-408" b="-70213"/>
                          </a:stretch>
                        </a:blipFill>
                      </a:tcPr>
                    </a:tc>
                    <a:extLst>
                      <a:ext uri="{0D108BD9-81ED-4DB2-BD59-A6C34878D82A}">
                        <a16:rowId xmlns:a16="http://schemas.microsoft.com/office/drawing/2014/main" val="10003"/>
                      </a:ext>
                    </a:extLst>
                  </a:tr>
                  <a:tr h="297293">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121224" t="-995833" r="-408" b="-37500"/>
                          </a:stretch>
                        </a:blipFill>
                      </a:tcPr>
                    </a:tc>
                    <a:extLst>
                      <a:ext uri="{0D108BD9-81ED-4DB2-BD59-A6C34878D82A}">
                        <a16:rowId xmlns:a16="http://schemas.microsoft.com/office/drawing/2014/main" val="10004"/>
                      </a:ext>
                    </a:extLst>
                  </a:tr>
                </a:tbl>
              </a:graphicData>
            </a:graphic>
          </p:graphicFrame>
        </mc:Fallback>
      </mc:AlternateContent>
      <p:cxnSp>
        <p:nvCxnSpPr>
          <p:cNvPr id="11" name="Straight Arrow Connector 10"/>
          <p:cNvCxnSpPr/>
          <p:nvPr/>
        </p:nvCxnSpPr>
        <p:spPr>
          <a:xfrm>
            <a:off x="2552382" y="6200600"/>
            <a:ext cx="3657600" cy="0"/>
          </a:xfrm>
          <a:prstGeom prst="straightConnector1">
            <a:avLst/>
          </a:prstGeom>
          <a:ln w="31750">
            <a:solidFill>
              <a:srgbClr val="FFC000"/>
            </a:solidFill>
            <a:headEnd type="stealth"/>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9864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070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85482" y="520394"/>
                <a:ext cx="9949419" cy="1938992"/>
              </a:xfrm>
              <a:prstGeom prst="rect">
                <a:avLst/>
              </a:prstGeom>
              <a:noFill/>
            </p:spPr>
            <p:txBody>
              <a:bodyPr wrap="square" rtlCol="0">
                <a:spAutoFit/>
              </a:bodyPr>
              <a:lstStyle/>
              <a:p>
                <a:pPr marL="457200" lvl="1" indent="-457200">
                  <a:buFont typeface="+mj-lt"/>
                  <a:buAutoNum type="alphaLcPeriod" startAt="2"/>
                </a:pPr>
                <a:r>
                  <a:rPr lang="en-US" sz="2000" dirty="0">
                    <a:latin typeface="Verdana" charset="0"/>
                    <a:ea typeface="Verdana" charset="0"/>
                    <a:cs typeface="Verdana" charset="0"/>
                  </a:rPr>
                  <a:t>Use patty paper to determine 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𝑋𝑀𝑃</m:t>
                    </m:r>
                  </m:oMath>
                </a14:m>
                <a:r>
                  <a:rPr lang="en-US" sz="2000" dirty="0">
                    <a:latin typeface="Verdana" charset="0"/>
                    <a:ea typeface="Verdana" charset="0"/>
                    <a:cs typeface="Verdana" charset="0"/>
                  </a:rPr>
                  <a:t> is congruent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𝑇𝑊𝐻</m:t>
                    </m:r>
                  </m:oMath>
                </a14:m>
                <a:r>
                  <a:rPr lang="en-US" sz="2000" dirty="0">
                    <a:latin typeface="Verdana" charset="0"/>
                    <a:ea typeface="Verdana" charset="0"/>
                    <a:cs typeface="Verdana" charset="0"/>
                  </a:rPr>
                  <a:t>.</a:t>
                </a:r>
              </a:p>
              <a:p>
                <a:pPr marL="457200" lvl="1" indent="-457200">
                  <a:buFont typeface="+mj-lt"/>
                  <a:buAutoNum type="alphaLcPeriod" startAt="2"/>
                </a:pPr>
                <a:endParaRPr lang="en-US" sz="2000" dirty="0">
                  <a:latin typeface="Verdana" charset="0"/>
                  <a:ea typeface="Verdana" charset="0"/>
                  <a:cs typeface="Verdana" charset="0"/>
                </a:endParaRPr>
              </a:p>
              <a:p>
                <a:pPr marL="457200" lvl="1" indent="-457200">
                  <a:buFont typeface="+mj-lt"/>
                  <a:buAutoNum type="alphaLcPeriod" startAt="2"/>
                </a:pPr>
                <a:r>
                  <a:rPr lang="en-US" sz="2000" dirty="0">
                    <a:latin typeface="Verdana" charset="0"/>
                    <a:ea typeface="Verdana" charset="0"/>
                    <a:cs typeface="Verdana" charset="0"/>
                  </a:rPr>
                  <a:t>Discuss the following with your partner: If two sides of a triangle and their included angles are congruent, does that mean all of the parts of the triangles are congruent too? Explain your decision and state the evidence used for the decision.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85482" y="520394"/>
                <a:ext cx="9949419" cy="1938992"/>
              </a:xfrm>
              <a:prstGeom prst="rect">
                <a:avLst/>
              </a:prstGeom>
              <a:blipFill>
                <a:blip r:embed="rId4"/>
                <a:stretch>
                  <a:fillRect l="-638" t="-1299" b="-4545"/>
                </a:stretch>
              </a:blipFill>
            </p:spPr>
            <p:txBody>
              <a:bodyPr/>
              <a:lstStyle/>
              <a:p>
                <a:r>
                  <a:rPr lang="en-US">
                    <a:noFill/>
                  </a:rPr>
                  <a:t> </a:t>
                </a:r>
              </a:p>
            </p:txBody>
          </p:sp>
        </mc:Fallback>
      </mc:AlternateContent>
    </p:spTree>
    <p:extLst>
      <p:ext uri="{BB962C8B-B14F-4D97-AF65-F5344CB8AC3E}">
        <p14:creationId xmlns:p14="http://schemas.microsoft.com/office/powerpoint/2010/main" val="194776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862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67554" y="520393"/>
                <a:ext cx="9123920" cy="70859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Construct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𝐾𝑆𝐵</m:t>
                    </m:r>
                  </m:oMath>
                </a14:m>
                <a:r>
                  <a:rPr lang="en-US" sz="2000" dirty="0">
                    <a:latin typeface="Verdana" charset="0"/>
                    <a:ea typeface="Verdana" charset="0"/>
                    <a:cs typeface="Verdana" charset="0"/>
                  </a:rPr>
                  <a:t> so that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𝐾𝑆</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𝑇𝐻</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𝑆𝐵</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𝑇𝑊</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𝑇𝑊𝐻</m:t>
                    </m:r>
                    <m:r>
                      <a:rPr lang="en-US" sz="2000" i="1">
                        <a:latin typeface="Cambria Math" charset="0"/>
                        <a:ea typeface="Verdana" charset="0"/>
                        <a:cs typeface="Verdana" charset="0"/>
                      </a:rPr>
                      <m:t>≅∠</m:t>
                    </m:r>
                    <m:r>
                      <a:rPr lang="en-US" sz="2000" i="1">
                        <a:latin typeface="Cambria Math" charset="0"/>
                        <a:ea typeface="Verdana" charset="0"/>
                        <a:cs typeface="Verdana" charset="0"/>
                      </a:rPr>
                      <m:t>𝑆𝐵𝐾</m:t>
                    </m:r>
                  </m:oMath>
                </a14:m>
                <a:r>
                  <a:rPr lang="en-US" sz="2000" dirty="0">
                    <a:latin typeface="Verdana" charset="0"/>
                    <a:ea typeface="Verdana" charset="0"/>
                    <a:cs typeface="Verdana" charset="0"/>
                  </a:rPr>
                  <a:t> using the given steps.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67554" y="520393"/>
                <a:ext cx="9123920" cy="708592"/>
              </a:xfrm>
              <a:prstGeom prst="rect">
                <a:avLst/>
              </a:prstGeom>
              <a:blipFill>
                <a:blip r:embed="rId4"/>
                <a:stretch>
                  <a:fillRect l="-556" t="-3509" r="-1528"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39912236"/>
                  </p:ext>
                </p:extLst>
              </p:nvPr>
            </p:nvGraphicFramePr>
            <p:xfrm>
              <a:off x="2663952" y="1228985"/>
              <a:ext cx="6827520" cy="3073400"/>
            </p:xfrm>
            <a:graphic>
              <a:graphicData uri="http://schemas.openxmlformats.org/drawingml/2006/table">
                <a:tbl>
                  <a:tblPr firstRow="1" firstCol="1" bandRow="1"/>
                  <a:tblGrid>
                    <a:gridCol w="3683635">
                      <a:extLst>
                        <a:ext uri="{9D8B030D-6E8A-4147-A177-3AD203B41FA5}">
                          <a16:colId xmlns:a16="http://schemas.microsoft.com/office/drawing/2014/main" val="20000"/>
                        </a:ext>
                      </a:extLst>
                    </a:gridCol>
                    <a:gridCol w="3143885">
                      <a:extLst>
                        <a:ext uri="{9D8B030D-6E8A-4147-A177-3AD203B41FA5}">
                          <a16:colId xmlns:a16="http://schemas.microsoft.com/office/drawing/2014/main" val="20001"/>
                        </a:ext>
                      </a:extLst>
                    </a:gridCol>
                  </a:tblGrid>
                  <a:tr h="269875">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13155">
                    <a:tc rowSpan="4">
                      <a:txBody>
                        <a:bodyPr/>
                        <a:lstStyle/>
                        <a:p>
                          <a:pPr marL="0" marR="0">
                            <a:spcBef>
                              <a:spcPts val="0"/>
                            </a:spcBef>
                            <a:spcAft>
                              <a:spcPts val="0"/>
                            </a:spcAft>
                          </a:pPr>
                          <a:endParaRPr lang="en-US" sz="180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1. Copy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𝑇𝐻</m:t>
                                  </m:r>
                                </m:e>
                              </m:acc>
                            </m:oMath>
                          </a14:m>
                          <a:r>
                            <a:rPr lang="en-US" sz="1800">
                              <a:effectLst/>
                              <a:latin typeface="Verdana" charset="0"/>
                              <a:ea typeface="Times New Roman" charset="0"/>
                              <a:cs typeface="Times New Roman" charset="0"/>
                            </a:rPr>
                            <a:t> using a compass to construct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𝐾𝑆</m:t>
                                  </m:r>
                                </m:e>
                              </m:acc>
                            </m:oMath>
                          </a14:m>
                          <a:r>
                            <a:rPr lang="en-US" sz="1800">
                              <a:effectLst/>
                              <a:latin typeface="Verdana" charset="0"/>
                              <a:ea typeface="Times New Roman" charset="0"/>
                              <a:cs typeface="Times New Roman" charset="0"/>
                            </a:rPr>
                            <a:t> using the red line so that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𝑇𝐻</m:t>
                                  </m:r>
                                </m:e>
                              </m:acc>
                              <m:r>
                                <a:rPr lang="en-US" sz="1800" i="1">
                                  <a:effectLst/>
                                  <a:latin typeface="Cambria Math" charset="0"/>
                                  <a:ea typeface="Times New Roman" charset="0"/>
                                  <a:cs typeface="Times New Roman" charset="0"/>
                                </a:rPr>
                                <m:t>≅</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𝐾𝑆</m:t>
                                  </m:r>
                                </m:e>
                              </m:acc>
                            </m:oMath>
                          </a14:m>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1975">
                    <a:tc vMerge="1">
                      <a:txBody>
                        <a:bodyPr/>
                        <a:lstStyle/>
                        <a:p>
                          <a:endParaRPr lang="en-US"/>
                        </a:p>
                      </a:txBody>
                      <a:tcPr/>
                    </a:tc>
                    <a:tc>
                      <a:txBody>
                        <a:bodyPr/>
                        <a:lstStyle/>
                        <a:p>
                          <a:pPr marL="0" marR="0">
                            <a:spcBef>
                              <a:spcPts val="0"/>
                            </a:spcBef>
                            <a:spcAft>
                              <a:spcPts val="0"/>
                            </a:spcAft>
                          </a:pPr>
                          <a:r>
                            <a:rPr lang="en-US" sz="1800">
                              <a:effectLst/>
                              <a:latin typeface="Verdana" charset="0"/>
                              <a:ea typeface="Times New Roman" charset="0"/>
                              <a:cs typeface="Times New Roman" charset="0"/>
                            </a:rPr>
                            <a:t>2. Copy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𝑇𝑊</m:t>
                                  </m:r>
                                </m:e>
                              </m:acc>
                              <m:r>
                                <a:rPr lang="en-US" sz="1800" i="1">
                                  <a:effectLst/>
                                  <a:latin typeface="Cambria Math" charset="0"/>
                                  <a:ea typeface="Times New Roman" charset="0"/>
                                  <a:cs typeface="Times New Roman" charset="0"/>
                                </a:rPr>
                                <m:t> </m:t>
                              </m:r>
                            </m:oMath>
                          </a14:m>
                          <a:r>
                            <a:rPr lang="en-US" sz="1800">
                              <a:effectLst/>
                              <a:latin typeface="Verdana" charset="0"/>
                              <a:ea typeface="Times New Roman" charset="0"/>
                              <a:cs typeface="Times New Roman" charset="0"/>
                            </a:rPr>
                            <a:t>to construct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𝑆𝐵</m:t>
                                  </m:r>
                                </m:e>
                              </m:acc>
                            </m:oMath>
                          </a14:m>
                          <a:r>
                            <a:rPr lang="en-US" sz="1800">
                              <a:effectLst/>
                              <a:latin typeface="Verdana" charset="0"/>
                              <a:ea typeface="Times New Roman" charset="0"/>
                              <a:cs typeface="Times New Roman" charset="0"/>
                            </a:rPr>
                            <a:t> so that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𝑇𝑊</m:t>
                                  </m:r>
                                </m:e>
                              </m:acc>
                              <m:r>
                                <a:rPr lang="en-US" sz="1800" i="1">
                                  <a:effectLst/>
                                  <a:latin typeface="Cambria Math" charset="0"/>
                                  <a:ea typeface="Times New Roman" charset="0"/>
                                  <a:cs typeface="Times New Roman" charset="0"/>
                                </a:rPr>
                                <m:t>≅</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𝑆𝐵</m:t>
                                  </m:r>
                                </m:e>
                              </m:acc>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43280">
                    <a:tc vMerge="1">
                      <a:txBody>
                        <a:bodyPr/>
                        <a:lstStyle/>
                        <a:p>
                          <a:endParaRPr lang="en-US"/>
                        </a:p>
                      </a:txBody>
                      <a:tcPr/>
                    </a:tc>
                    <a:tc>
                      <a:txBody>
                        <a:bodyPr/>
                        <a:lstStyle/>
                        <a:p>
                          <a:pPr marL="0" marR="0">
                            <a:spcBef>
                              <a:spcPts val="0"/>
                            </a:spcBef>
                            <a:spcAft>
                              <a:spcPts val="0"/>
                            </a:spcAft>
                          </a:pPr>
                          <a:r>
                            <a:rPr lang="en-US" sz="1800">
                              <a:effectLst/>
                              <a:latin typeface="Verdana" charset="0"/>
                              <a:ea typeface="Times New Roman" charset="0"/>
                              <a:cs typeface="Times New Roman" charset="0"/>
                            </a:rPr>
                            <a:t>3. Copy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𝑇𝑊𝐻</m:t>
                              </m:r>
                              <m:r>
                                <a:rPr lang="en-US" sz="1800" i="1">
                                  <a:effectLst/>
                                  <a:latin typeface="Cambria Math" charset="0"/>
                                  <a:ea typeface="Times New Roman" charset="0"/>
                                  <a:cs typeface="Times New Roman" charset="0"/>
                                </a:rPr>
                                <m:t> </m:t>
                              </m:r>
                            </m:oMath>
                          </a14:m>
                          <a:r>
                            <a:rPr lang="en-US" sz="1800">
                              <a:effectLst/>
                              <a:latin typeface="Verdana" charset="0"/>
                              <a:ea typeface="Times New Roman" charset="0"/>
                              <a:cs typeface="Times New Roman" charset="0"/>
                            </a:rPr>
                            <a:t>to construct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𝑆𝐵𝐾</m:t>
                              </m:r>
                            </m:oMath>
                          </a14:m>
                          <a:r>
                            <a:rPr lang="en-US" sz="1800">
                              <a:effectLst/>
                              <a:latin typeface="Verdana" charset="0"/>
                              <a:ea typeface="Times New Roman" charset="0"/>
                              <a:cs typeface="Times New Roman" charset="0"/>
                            </a:rPr>
                            <a:t> so that</a:t>
                          </a:r>
                          <a14:m>
                            <m:oMath xmlns:m="http://schemas.openxmlformats.org/officeDocument/2006/math">
                              <m:r>
                                <a:rPr lang="en-US" sz="1800" i="1">
                                  <a:effectLst/>
                                  <a:latin typeface="Cambria Math" charset="0"/>
                                  <a:ea typeface="Times New Roman" charset="0"/>
                                  <a:cs typeface="Times New Roman" charset="0"/>
                                </a:rPr>
                                <m:t> ∠</m:t>
                              </m:r>
                              <m:r>
                                <a:rPr lang="en-US" sz="1800" i="1">
                                  <a:effectLst/>
                                  <a:latin typeface="Cambria Math" charset="0"/>
                                  <a:ea typeface="Times New Roman" charset="0"/>
                                  <a:cs typeface="Times New Roman" charset="0"/>
                                </a:rPr>
                                <m:t>𝑇𝑊𝐻</m:t>
                              </m:r>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𝑆𝐵𝐾</m:t>
                              </m:r>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0670">
                    <a:tc vMerge="1">
                      <a:txBody>
                        <a:bodyPr/>
                        <a:lstStyle/>
                        <a:p>
                          <a:endParaRPr lang="en-US"/>
                        </a:p>
                      </a:txBody>
                      <a:tcPr/>
                    </a:tc>
                    <a:tc>
                      <a:txBody>
                        <a:bodyPr/>
                        <a:lstStyle/>
                        <a:p>
                          <a:pPr marL="0" marR="0">
                            <a:spcBef>
                              <a:spcPts val="0"/>
                            </a:spcBef>
                            <a:spcAft>
                              <a:spcPts val="0"/>
                            </a:spcAft>
                          </a:pPr>
                          <a:r>
                            <a:rPr lang="en-US" sz="1800" dirty="0">
                              <a:effectLst/>
                              <a:latin typeface="Verdana" charset="0"/>
                              <a:ea typeface="Times New Roman" charset="0"/>
                              <a:cs typeface="Times New Roman" charset="0"/>
                            </a:rPr>
                            <a:t>4. Draw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𝐵𝐾</m:t>
                                  </m:r>
                                </m:e>
                              </m:acc>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39912236"/>
                  </p:ext>
                </p:extLst>
              </p:nvPr>
            </p:nvGraphicFramePr>
            <p:xfrm>
              <a:off x="2663952" y="1228985"/>
              <a:ext cx="6827520" cy="3073400"/>
            </p:xfrm>
            <a:graphic>
              <a:graphicData uri="http://schemas.openxmlformats.org/drawingml/2006/table">
                <a:tbl>
                  <a:tblPr firstRow="1" firstCol="1" bandRow="1"/>
                  <a:tblGrid>
                    <a:gridCol w="3683635">
                      <a:extLst>
                        <a:ext uri="{9D8B030D-6E8A-4147-A177-3AD203B41FA5}">
                          <a16:colId xmlns:a16="http://schemas.microsoft.com/office/drawing/2014/main" val="20000"/>
                        </a:ext>
                      </a:extLst>
                    </a:gridCol>
                    <a:gridCol w="3143885">
                      <a:extLst>
                        <a:ext uri="{9D8B030D-6E8A-4147-A177-3AD203B41FA5}">
                          <a16:colId xmlns:a16="http://schemas.microsoft.com/office/drawing/2014/main" val="20001"/>
                        </a:ext>
                      </a:extLst>
                    </a:gridCol>
                  </a:tblGrid>
                  <a:tr h="274320">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13155">
                    <a:tc rowSpan="4">
                      <a:txBody>
                        <a:bodyPr/>
                        <a:lstStyle/>
                        <a:p>
                          <a:pPr marL="0" marR="0">
                            <a:spcBef>
                              <a:spcPts val="0"/>
                            </a:spcBef>
                            <a:spcAft>
                              <a:spcPts val="0"/>
                            </a:spcAft>
                          </a:pPr>
                          <a:endParaRPr lang="en-US" sz="180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7742" t="-30682" r="-403" b="-163636"/>
                          </a:stretch>
                        </a:blipFill>
                      </a:tcPr>
                    </a:tc>
                    <a:extLst>
                      <a:ext uri="{0D108BD9-81ED-4DB2-BD59-A6C34878D82A}">
                        <a16:rowId xmlns:a16="http://schemas.microsoft.com/office/drawing/2014/main" val="10001"/>
                      </a:ext>
                    </a:extLst>
                  </a:tr>
                  <a:tr h="561975">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7742" t="-261364" r="-403" b="-227273"/>
                          </a:stretch>
                        </a:blipFill>
                      </a:tcPr>
                    </a:tc>
                    <a:extLst>
                      <a:ext uri="{0D108BD9-81ED-4DB2-BD59-A6C34878D82A}">
                        <a16:rowId xmlns:a16="http://schemas.microsoft.com/office/drawing/2014/main" val="10002"/>
                      </a:ext>
                    </a:extLst>
                  </a:tr>
                  <a:tr h="843280">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7742" t="-237313" r="-403" b="-49254"/>
                          </a:stretch>
                        </a:blipFill>
                      </a:tcPr>
                    </a:tc>
                    <a:extLst>
                      <a:ext uri="{0D108BD9-81ED-4DB2-BD59-A6C34878D82A}">
                        <a16:rowId xmlns:a16="http://schemas.microsoft.com/office/drawing/2014/main" val="10003"/>
                      </a:ext>
                    </a:extLst>
                  </a:tr>
                  <a:tr h="280670">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7742" t="-1027273" r="-403" b="-50000"/>
                          </a:stretch>
                        </a:blipFill>
                      </a:tcPr>
                    </a:tc>
                    <a:extLst>
                      <a:ext uri="{0D108BD9-81ED-4DB2-BD59-A6C34878D82A}">
                        <a16:rowId xmlns:a16="http://schemas.microsoft.com/office/drawing/2014/main" val="10004"/>
                      </a:ext>
                    </a:extLst>
                  </a:tr>
                </a:tbl>
              </a:graphicData>
            </a:graphic>
          </p:graphicFrame>
        </mc:Fallback>
      </mc:AlternateContent>
      <p:cxnSp>
        <p:nvCxnSpPr>
          <p:cNvPr id="7" name="Straight Arrow Connector 6"/>
          <p:cNvCxnSpPr/>
          <p:nvPr/>
        </p:nvCxnSpPr>
        <p:spPr>
          <a:xfrm>
            <a:off x="2682240" y="4117378"/>
            <a:ext cx="3657600" cy="0"/>
          </a:xfrm>
          <a:prstGeom prst="straightConnector1">
            <a:avLst/>
          </a:prstGeom>
          <a:ln w="31750">
            <a:solidFill>
              <a:schemeClr val="accent2"/>
            </a:solidFill>
            <a:headEnd type="stealth"/>
            <a:tailEnd type="stealth"/>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878541" y="4411007"/>
                <a:ext cx="9478563" cy="1938992"/>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patty paper to determine 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𝐾𝑆𝐵</m:t>
                    </m:r>
                  </m:oMath>
                </a14:m>
                <a:r>
                  <a:rPr lang="en-US" sz="2000" dirty="0">
                    <a:latin typeface="Verdana" charset="0"/>
                    <a:ea typeface="Verdana" charset="0"/>
                    <a:cs typeface="Verdana" charset="0"/>
                  </a:rPr>
                  <a:t> is congruent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𝐻𝑇𝑊</m:t>
                    </m:r>
                  </m:oMath>
                </a14:m>
                <a:r>
                  <a:rPr lang="en-US" sz="2000" dirty="0">
                    <a:latin typeface="Verdana" charset="0"/>
                    <a:ea typeface="Verdana" charset="0"/>
                    <a:cs typeface="Verdana" charset="0"/>
                  </a:rPr>
                  <a:t>.</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Discuss the following with your partner: If two sides of a triangle and a non-included angle are congruent, does that mean all of the parts of the triangles are congruent too? Explain your decision and state the evidence used for the decision.</a:t>
                </a:r>
              </a:p>
            </p:txBody>
          </p:sp>
        </mc:Choice>
        <mc:Fallback xmlns="">
          <p:sp>
            <p:nvSpPr>
              <p:cNvPr id="3" name="Rectangle 2"/>
              <p:cNvSpPr>
                <a:spLocks noRot="1" noChangeAspect="1" noMove="1" noResize="1" noEditPoints="1" noAdjustHandles="1" noChangeArrowheads="1" noChangeShapeType="1" noTextEdit="1"/>
              </p:cNvSpPr>
              <p:nvPr/>
            </p:nvSpPr>
            <p:spPr>
              <a:xfrm>
                <a:off x="878541" y="4411007"/>
                <a:ext cx="9478563" cy="1938992"/>
              </a:xfrm>
              <a:prstGeom prst="rect">
                <a:avLst/>
              </a:prstGeom>
              <a:blipFill>
                <a:blip r:embed="rId6"/>
                <a:stretch>
                  <a:fillRect l="-669" t="-1948" r="-669" b="-4545"/>
                </a:stretch>
              </a:blipFill>
            </p:spPr>
            <p:txBody>
              <a:bodyPr/>
              <a:lstStyle/>
              <a:p>
                <a:r>
                  <a:rPr lang="en-US">
                    <a:noFill/>
                  </a:rPr>
                  <a:t> </a:t>
                </a:r>
              </a:p>
            </p:txBody>
          </p:sp>
        </mc:Fallback>
      </mc:AlternateContent>
    </p:spTree>
    <p:extLst>
      <p:ext uri="{BB962C8B-B14F-4D97-AF65-F5344CB8AC3E}">
        <p14:creationId xmlns:p14="http://schemas.microsoft.com/office/powerpoint/2010/main" val="922856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7853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85481" y="520393"/>
                <a:ext cx="10748683" cy="70788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Construct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𝑅𝑌𝑉</m:t>
                    </m:r>
                  </m:oMath>
                </a14:m>
                <a:r>
                  <a:rPr lang="en-US" sz="2000" dirty="0">
                    <a:latin typeface="Verdana" charset="0"/>
                    <a:ea typeface="Verdana" charset="0"/>
                    <a:cs typeface="Verdana" charset="0"/>
                  </a:rPr>
                  <a:t> so that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𝑉𝑌</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𝑇𝐻</m:t>
                        </m:r>
                      </m:e>
                    </m:acc>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𝑊𝑇𝐻</m:t>
                    </m:r>
                    <m:r>
                      <a:rPr lang="en-US" sz="2000" i="1">
                        <a:latin typeface="Cambria Math" charset="0"/>
                        <a:ea typeface="Verdana" charset="0"/>
                        <a:cs typeface="Verdana" charset="0"/>
                      </a:rPr>
                      <m:t>≅∠</m:t>
                    </m:r>
                    <m:r>
                      <a:rPr lang="en-US" sz="2000" i="1">
                        <a:latin typeface="Cambria Math" charset="0"/>
                        <a:ea typeface="Verdana" charset="0"/>
                        <a:cs typeface="Verdana" charset="0"/>
                      </a:rPr>
                      <m:t>𝑅𝑉𝑌</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𝑊𝐻𝑇</m:t>
                    </m:r>
                    <m:r>
                      <a:rPr lang="en-US" sz="2000" i="1">
                        <a:latin typeface="Cambria Math" charset="0"/>
                        <a:ea typeface="Verdana" charset="0"/>
                        <a:cs typeface="Verdana" charset="0"/>
                      </a:rPr>
                      <m:t>≅∠</m:t>
                    </m:r>
                    <m:r>
                      <a:rPr lang="en-US" sz="2000" i="1">
                        <a:latin typeface="Cambria Math" charset="0"/>
                        <a:ea typeface="Verdana" charset="0"/>
                        <a:cs typeface="Verdana" charset="0"/>
                      </a:rPr>
                      <m:t>𝑅𝑌𝑉</m:t>
                    </m:r>
                  </m:oMath>
                </a14:m>
                <a:r>
                  <a:rPr lang="en-US" sz="2000" dirty="0">
                    <a:latin typeface="Verdana" charset="0"/>
                    <a:ea typeface="Verdana" charset="0"/>
                    <a:cs typeface="Verdana" charset="0"/>
                  </a:rPr>
                  <a:t> using the given steps.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85481" y="520393"/>
                <a:ext cx="10748683" cy="707886"/>
              </a:xfrm>
              <a:prstGeom prst="rect">
                <a:avLst/>
              </a:prstGeom>
              <a:blipFill>
                <a:blip r:embed="rId4"/>
                <a:stretch>
                  <a:fillRect l="-590" t="-35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473852440"/>
                  </p:ext>
                </p:extLst>
              </p:nvPr>
            </p:nvGraphicFramePr>
            <p:xfrm>
              <a:off x="2702306" y="1301432"/>
              <a:ext cx="6860540" cy="3280105"/>
            </p:xfrm>
            <a:graphic>
              <a:graphicData uri="http://schemas.openxmlformats.org/drawingml/2006/table">
                <a:tbl>
                  <a:tblPr firstRow="1" firstCol="1" bandRow="1"/>
                  <a:tblGrid>
                    <a:gridCol w="2973070">
                      <a:extLst>
                        <a:ext uri="{9D8B030D-6E8A-4147-A177-3AD203B41FA5}">
                          <a16:colId xmlns:a16="http://schemas.microsoft.com/office/drawing/2014/main" val="20000"/>
                        </a:ext>
                      </a:extLst>
                    </a:gridCol>
                    <a:gridCol w="3887470">
                      <a:extLst>
                        <a:ext uri="{9D8B030D-6E8A-4147-A177-3AD203B41FA5}">
                          <a16:colId xmlns:a16="http://schemas.microsoft.com/office/drawing/2014/main" val="20001"/>
                        </a:ext>
                      </a:extLst>
                    </a:gridCol>
                  </a:tblGrid>
                  <a:tr h="228207">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21281">
                    <a:tc rowSpan="4">
                      <a:txBody>
                        <a:bodyPr/>
                        <a:lstStyle/>
                        <a:p>
                          <a:pPr marL="0" marR="0">
                            <a:spcBef>
                              <a:spcPts val="0"/>
                            </a:spcBef>
                            <a:spcAft>
                              <a:spcPts val="0"/>
                            </a:spcAft>
                          </a:pPr>
                          <a:endParaRPr lang="en-US" sz="1800" dirty="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1. Copy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𝑇𝐻</m:t>
                                  </m:r>
                                </m:e>
                              </m:acc>
                            </m:oMath>
                          </a14:m>
                          <a:r>
                            <a:rPr lang="en-US" sz="1800">
                              <a:effectLst/>
                              <a:latin typeface="Verdana" charset="0"/>
                              <a:ea typeface="Times New Roman" charset="0"/>
                              <a:cs typeface="Times New Roman" charset="0"/>
                            </a:rPr>
                            <a:t> using a compass to construct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𝑉𝑌</m:t>
                                  </m:r>
                                </m:e>
                              </m:acc>
                            </m:oMath>
                          </a14:m>
                          <a:r>
                            <a:rPr lang="en-US" sz="1800">
                              <a:effectLst/>
                              <a:latin typeface="Verdana" charset="0"/>
                              <a:ea typeface="Times New Roman" charset="0"/>
                              <a:cs typeface="Times New Roman" charset="0"/>
                            </a:rPr>
                            <a:t> using the green line so that </a:t>
                          </a:r>
                          <a14:m>
                            <m:oMath xmlns:m="http://schemas.openxmlformats.org/officeDocument/2006/math">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𝑇𝐻</m:t>
                                  </m:r>
                                </m:e>
                              </m:acc>
                              <m:r>
                                <a:rPr lang="en-US" sz="1800" i="1">
                                  <a:effectLst/>
                                  <a:latin typeface="Cambria Math" charset="0"/>
                                  <a:ea typeface="Times New Roman" charset="0"/>
                                  <a:cs typeface="Times New Roman" charset="0"/>
                                </a:rPr>
                                <m:t>≅</m:t>
                              </m:r>
                              <m:acc>
                                <m:accPr>
                                  <m:chr m:val="̅"/>
                                  <m:ctrlPr>
                                    <a:rPr lang="en-US" sz="1800" i="1">
                                      <a:effectLst/>
                                      <a:latin typeface="Cambria Math" panose="02040503050406030204" pitchFamily="18" charset="0"/>
                                      <a:ea typeface="Times New Roman" charset="0"/>
                                      <a:cs typeface="Times New Roman" charset="0"/>
                                    </a:rPr>
                                  </m:ctrlPr>
                                </m:accPr>
                                <m:e>
                                  <m:r>
                                    <a:rPr lang="en-US" sz="1800" i="1">
                                      <a:effectLst/>
                                      <a:latin typeface="Cambria Math" charset="0"/>
                                      <a:ea typeface="Times New Roman" charset="0"/>
                                      <a:cs typeface="Times New Roman" charset="0"/>
                                    </a:rPr>
                                    <m:t>𝑉𝑌</m:t>
                                  </m:r>
                                </m:e>
                              </m:acc>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7828">
                    <a:tc vMerge="1">
                      <a:txBody>
                        <a:bodyPr/>
                        <a:lstStyle/>
                        <a:p>
                          <a:endParaRPr lang="en-US"/>
                        </a:p>
                      </a:txBody>
                      <a:tcPr/>
                    </a:tc>
                    <a:tc>
                      <a:txBody>
                        <a:bodyPr/>
                        <a:lstStyle/>
                        <a:p>
                          <a:pPr marL="15240" marR="0">
                            <a:spcBef>
                              <a:spcPts val="0"/>
                            </a:spcBef>
                            <a:spcAft>
                              <a:spcPts val="0"/>
                            </a:spcAft>
                          </a:pPr>
                          <a:r>
                            <a:rPr lang="en-US" sz="1800" dirty="0">
                              <a:effectLst/>
                              <a:latin typeface="Verdana" charset="0"/>
                              <a:ea typeface="Times New Roman" charset="0"/>
                              <a:cs typeface="Times New Roman" charset="0"/>
                            </a:rPr>
                            <a:t>2. Copy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𝑊𝐻𝑇</m:t>
                              </m:r>
                              <m:r>
                                <a:rPr lang="en-US" sz="1800" i="1">
                                  <a:effectLst/>
                                  <a:latin typeface="Cambria Math" charset="0"/>
                                  <a:ea typeface="Times New Roman" charset="0"/>
                                  <a:cs typeface="Times New Roman" charset="0"/>
                                </a:rPr>
                                <m:t> </m:t>
                              </m:r>
                            </m:oMath>
                          </a14:m>
                          <a:r>
                            <a:rPr lang="en-US" sz="1800" dirty="0">
                              <a:effectLst/>
                              <a:latin typeface="Verdana" charset="0"/>
                              <a:ea typeface="Times New Roman" charset="0"/>
                              <a:cs typeface="Times New Roman" charset="0"/>
                            </a:rPr>
                            <a:t>to construct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𝑅𝑌𝑉</m:t>
                              </m:r>
                            </m:oMath>
                          </a14:m>
                          <a:r>
                            <a:rPr lang="en-US" sz="1800" dirty="0">
                              <a:effectLst/>
                              <a:latin typeface="Verdana" charset="0"/>
                              <a:ea typeface="Times New Roman" charset="0"/>
                              <a:cs typeface="Times New Roman" charset="0"/>
                            </a:rPr>
                            <a:t> so that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𝑊𝐻𝑇</m:t>
                              </m:r>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𝑅𝑌𝑉</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97828">
                    <a:tc vMerge="1">
                      <a:txBody>
                        <a:bodyPr/>
                        <a:lstStyle/>
                        <a:p>
                          <a:endParaRPr lang="en-US"/>
                        </a:p>
                      </a:txBody>
                      <a:tcPr/>
                    </a:tc>
                    <a:tc>
                      <a:txBody>
                        <a:bodyPr/>
                        <a:lstStyle/>
                        <a:p>
                          <a:pPr marL="0" marR="0">
                            <a:spcBef>
                              <a:spcPts val="0"/>
                            </a:spcBef>
                            <a:spcAft>
                              <a:spcPts val="0"/>
                            </a:spcAft>
                          </a:pPr>
                          <a:r>
                            <a:rPr lang="en-US" sz="1800">
                              <a:effectLst/>
                              <a:latin typeface="Verdana" charset="0"/>
                              <a:ea typeface="Times New Roman" charset="0"/>
                              <a:cs typeface="Times New Roman" charset="0"/>
                            </a:rPr>
                            <a:t>3. Copy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𝑊𝑇𝐻</m:t>
                              </m:r>
                              <m:r>
                                <a:rPr lang="en-US" sz="1800" i="1">
                                  <a:effectLst/>
                                  <a:latin typeface="Cambria Math" charset="0"/>
                                  <a:ea typeface="Times New Roman" charset="0"/>
                                  <a:cs typeface="Times New Roman" charset="0"/>
                                </a:rPr>
                                <m:t> </m:t>
                              </m:r>
                            </m:oMath>
                          </a14:m>
                          <a:r>
                            <a:rPr lang="en-US" sz="1800">
                              <a:effectLst/>
                              <a:latin typeface="Verdana" charset="0"/>
                              <a:ea typeface="Times New Roman" charset="0"/>
                              <a:cs typeface="Times New Roman" charset="0"/>
                            </a:rPr>
                            <a:t>to construct </a:t>
                          </a:r>
                          <a14:m>
                            <m:oMath xmlns:m="http://schemas.openxmlformats.org/officeDocument/2006/math">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𝑅𝑉𝑌</m:t>
                              </m:r>
                            </m:oMath>
                          </a14:m>
                          <a:r>
                            <a:rPr lang="en-US" sz="1800">
                              <a:effectLst/>
                              <a:latin typeface="Verdana" charset="0"/>
                              <a:ea typeface="Times New Roman" charset="0"/>
                              <a:cs typeface="Times New Roman" charset="0"/>
                            </a:rPr>
                            <a:t> so that</a:t>
                          </a:r>
                          <a14:m>
                            <m:oMath xmlns:m="http://schemas.openxmlformats.org/officeDocument/2006/math">
                              <m:r>
                                <a:rPr lang="en-US" sz="1800" i="1">
                                  <a:effectLst/>
                                  <a:latin typeface="Cambria Math" charset="0"/>
                                  <a:ea typeface="Times New Roman" charset="0"/>
                                  <a:cs typeface="Times New Roman" charset="0"/>
                                </a:rPr>
                                <m:t> ∠</m:t>
                              </m:r>
                              <m:r>
                                <a:rPr lang="en-US" sz="1800" i="1">
                                  <a:effectLst/>
                                  <a:latin typeface="Cambria Math" charset="0"/>
                                  <a:ea typeface="Times New Roman" charset="0"/>
                                  <a:cs typeface="Times New Roman" charset="0"/>
                                </a:rPr>
                                <m:t>𝑊𝑇𝐻</m:t>
                              </m:r>
                              <m:r>
                                <a:rPr lang="en-US" sz="1800" i="1">
                                  <a:effectLst/>
                                  <a:latin typeface="Cambria Math" charset="0"/>
                                  <a:ea typeface="Times New Roman" charset="0"/>
                                  <a:cs typeface="Times New Roman" charset="0"/>
                                </a:rPr>
                                <m:t>≅∠</m:t>
                              </m:r>
                              <m:r>
                                <a:rPr lang="en-US" sz="1800" i="1">
                                  <a:effectLst/>
                                  <a:latin typeface="Cambria Math" charset="0"/>
                                  <a:ea typeface="Times New Roman" charset="0"/>
                                  <a:cs typeface="Times New Roman" charset="0"/>
                                </a:rPr>
                                <m:t>𝑅𝑉𝑌</m:t>
                              </m:r>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8848">
                    <a:tc vMerge="1">
                      <a:txBody>
                        <a:bodyPr/>
                        <a:lstStyle/>
                        <a:p>
                          <a:endParaRPr lang="en-US"/>
                        </a:p>
                      </a:txBody>
                      <a:tcPr/>
                    </a:tc>
                    <a:tc>
                      <a:txBody>
                        <a:bodyPr/>
                        <a:lstStyle/>
                        <a:p>
                          <a:pPr marL="0" marR="0">
                            <a:spcBef>
                              <a:spcPts val="0"/>
                            </a:spcBef>
                            <a:spcAft>
                              <a:spcPts val="0"/>
                            </a:spcAft>
                          </a:pPr>
                          <a:r>
                            <a:rPr lang="en-US" sz="1800" dirty="0">
                              <a:effectLst/>
                              <a:latin typeface="Verdana" charset="0"/>
                              <a:ea typeface="Times New Roman" charset="0"/>
                              <a:cs typeface="Times New Roman" charset="0"/>
                            </a:rPr>
                            <a:t>4. Label the intersection of the sides of the two angles point </a:t>
                          </a:r>
                          <a14:m>
                            <m:oMath xmlns:m="http://schemas.openxmlformats.org/officeDocument/2006/math">
                              <m:r>
                                <a:rPr lang="en-US" sz="1800" i="1">
                                  <a:effectLst/>
                                  <a:latin typeface="Cambria Math" charset="0"/>
                                  <a:ea typeface="Times New Roman" charset="0"/>
                                  <a:cs typeface="Times New Roman" charset="0"/>
                                </a:rPr>
                                <m:t>𝑅</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473852440"/>
                  </p:ext>
                </p:extLst>
              </p:nvPr>
            </p:nvGraphicFramePr>
            <p:xfrm>
              <a:off x="2702306" y="1301432"/>
              <a:ext cx="6860540" cy="3280105"/>
            </p:xfrm>
            <a:graphic>
              <a:graphicData uri="http://schemas.openxmlformats.org/drawingml/2006/table">
                <a:tbl>
                  <a:tblPr firstRow="1" firstCol="1" bandRow="1"/>
                  <a:tblGrid>
                    <a:gridCol w="2973070">
                      <a:extLst>
                        <a:ext uri="{9D8B030D-6E8A-4147-A177-3AD203B41FA5}">
                          <a16:colId xmlns:a16="http://schemas.microsoft.com/office/drawing/2014/main" val="20000"/>
                        </a:ext>
                      </a:extLst>
                    </a:gridCol>
                    <a:gridCol w="3887470">
                      <a:extLst>
                        <a:ext uri="{9D8B030D-6E8A-4147-A177-3AD203B41FA5}">
                          <a16:colId xmlns:a16="http://schemas.microsoft.com/office/drawing/2014/main" val="20001"/>
                        </a:ext>
                      </a:extLst>
                    </a:gridCol>
                  </a:tblGrid>
                  <a:tr h="274320">
                    <a:tc>
                      <a:txBody>
                        <a:bodyPr/>
                        <a:lstStyle/>
                        <a:p>
                          <a:pPr marL="0" marR="0" algn="ctr">
                            <a:spcBef>
                              <a:spcPts val="0"/>
                            </a:spcBef>
                            <a:spcAft>
                              <a:spcPts val="0"/>
                            </a:spcAft>
                          </a:pPr>
                          <a:r>
                            <a:rPr lang="en-US" sz="1800" b="1">
                              <a:effectLst/>
                              <a:latin typeface="Verdana" charset="0"/>
                              <a:ea typeface="Times New Roman" charset="0"/>
                              <a:cs typeface="Times New Roman" charset="0"/>
                            </a:rPr>
                            <a:t>Construction</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Steps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21281">
                    <a:tc rowSpan="4">
                      <a:txBody>
                        <a:bodyPr/>
                        <a:lstStyle/>
                        <a:p>
                          <a:pPr marL="0" marR="0">
                            <a:spcBef>
                              <a:spcPts val="0"/>
                            </a:spcBef>
                            <a:spcAft>
                              <a:spcPts val="0"/>
                            </a:spcAft>
                          </a:pPr>
                          <a:endParaRPr lang="en-US" sz="1800" dirty="0">
                            <a:effectLst/>
                            <a:latin typeface="Verdan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221" t="-38889" r="-651" b="-230556"/>
                          </a:stretch>
                        </a:blipFill>
                      </a:tcPr>
                    </a:tc>
                    <a:extLst>
                      <a:ext uri="{0D108BD9-81ED-4DB2-BD59-A6C34878D82A}">
                        <a16:rowId xmlns:a16="http://schemas.microsoft.com/office/drawing/2014/main" val="10001"/>
                      </a:ext>
                    </a:extLst>
                  </a:tr>
                  <a:tr h="697828">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221" t="-178571" r="-651" b="-196429"/>
                          </a:stretch>
                        </a:blipFill>
                      </a:tcPr>
                    </a:tc>
                    <a:extLst>
                      <a:ext uri="{0D108BD9-81ED-4DB2-BD59-A6C34878D82A}">
                        <a16:rowId xmlns:a16="http://schemas.microsoft.com/office/drawing/2014/main" val="10002"/>
                      </a:ext>
                    </a:extLst>
                  </a:tr>
                  <a:tr h="697828">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221" t="-283636" r="-651" b="-100000"/>
                          </a:stretch>
                        </a:blipFill>
                      </a:tcPr>
                    </a:tc>
                    <a:extLst>
                      <a:ext uri="{0D108BD9-81ED-4DB2-BD59-A6C34878D82A}">
                        <a16:rowId xmlns:a16="http://schemas.microsoft.com/office/drawing/2014/main" val="10003"/>
                      </a:ext>
                    </a:extLst>
                  </a:tr>
                  <a:tr h="688848">
                    <a:tc vMerge="1">
                      <a:txBody>
                        <a:bodyPr/>
                        <a:lstStyle/>
                        <a:p>
                          <a:endParaRPr lang="en-US"/>
                        </a:p>
                      </a:txBody>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221" t="-390741" r="-651" b="-1852"/>
                          </a:stretch>
                        </a:blipFill>
                      </a:tcPr>
                    </a:tc>
                    <a:extLst>
                      <a:ext uri="{0D108BD9-81ED-4DB2-BD59-A6C34878D82A}">
                        <a16:rowId xmlns:a16="http://schemas.microsoft.com/office/drawing/2014/main" val="10004"/>
                      </a:ext>
                    </a:extLst>
                  </a:tr>
                </a:tbl>
              </a:graphicData>
            </a:graphic>
          </p:graphicFrame>
        </mc:Fallback>
      </mc:AlternateContent>
      <p:cxnSp>
        <p:nvCxnSpPr>
          <p:cNvPr id="7" name="Straight Arrow Connector 6"/>
          <p:cNvCxnSpPr/>
          <p:nvPr/>
        </p:nvCxnSpPr>
        <p:spPr>
          <a:xfrm flipV="1">
            <a:off x="2830322" y="4133088"/>
            <a:ext cx="2845054" cy="11938"/>
          </a:xfrm>
          <a:prstGeom prst="straightConnector1">
            <a:avLst/>
          </a:prstGeom>
          <a:ln w="31750">
            <a:solidFill>
              <a:srgbClr val="00B050"/>
            </a:solidFill>
            <a:headEnd type="stealth"/>
            <a:tailEnd type="stealth"/>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p:cNvSpPr/>
              <p:nvPr/>
            </p:nvSpPr>
            <p:spPr>
              <a:xfrm>
                <a:off x="744070" y="4718783"/>
                <a:ext cx="10614211" cy="1631216"/>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Use patty paper to determine 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𝑅𝑌𝑉</m:t>
                    </m:r>
                  </m:oMath>
                </a14:m>
                <a:r>
                  <a:rPr lang="en-US" sz="2000" dirty="0">
                    <a:latin typeface="Verdana" charset="0"/>
                    <a:ea typeface="Verdana" charset="0"/>
                    <a:cs typeface="Verdana" charset="0"/>
                  </a:rPr>
                  <a:t> is congruent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𝑊𝐻𝑇</m:t>
                    </m:r>
                  </m:oMath>
                </a14:m>
                <a:r>
                  <a:rPr lang="en-US" sz="2000" dirty="0">
                    <a:latin typeface="Verdana" charset="0"/>
                    <a:ea typeface="Verdana" charset="0"/>
                    <a:cs typeface="Verdana" charset="0"/>
                  </a:rPr>
                  <a:t>.</a:t>
                </a:r>
              </a:p>
              <a:p>
                <a:pPr marL="342900" indent="-342900">
                  <a:buFont typeface="+mj-lt"/>
                  <a:buAutoNum type="alphaLcPeriod"/>
                </a:pPr>
                <a:r>
                  <a:rPr lang="en-US" sz="2000" dirty="0">
                    <a:latin typeface="Verdana" charset="0"/>
                    <a:ea typeface="Verdana" charset="0"/>
                    <a:cs typeface="Verdana" charset="0"/>
                  </a:rPr>
                  <a:t>Discuss the following with your partner: If two angles of a triangle and their included side are congruent, does that mean all of the parts of the triangles are congruent too? Explain your decision and state the evidence used for the decision.</a:t>
                </a:r>
              </a:p>
            </p:txBody>
          </p:sp>
        </mc:Choice>
        <mc:Fallback xmlns="">
          <p:sp>
            <p:nvSpPr>
              <p:cNvPr id="4" name="Rectangle 3"/>
              <p:cNvSpPr>
                <a:spLocks noRot="1" noChangeAspect="1" noMove="1" noResize="1" noEditPoints="1" noAdjustHandles="1" noChangeArrowheads="1" noChangeShapeType="1" noTextEdit="1"/>
              </p:cNvSpPr>
              <p:nvPr/>
            </p:nvSpPr>
            <p:spPr>
              <a:xfrm>
                <a:off x="744070" y="4718783"/>
                <a:ext cx="10614211" cy="1631216"/>
              </a:xfrm>
              <a:prstGeom prst="rect">
                <a:avLst/>
              </a:prstGeom>
              <a:blipFill>
                <a:blip r:embed="rId6"/>
                <a:stretch>
                  <a:fillRect l="-597" t="-1538" b="-5385"/>
                </a:stretch>
              </a:blipFill>
            </p:spPr>
            <p:txBody>
              <a:bodyPr/>
              <a:lstStyle/>
              <a:p>
                <a:r>
                  <a:rPr lang="en-US">
                    <a:noFill/>
                  </a:rPr>
                  <a:t> </a:t>
                </a:r>
              </a:p>
            </p:txBody>
          </p:sp>
        </mc:Fallback>
      </mc:AlternateContent>
    </p:spTree>
    <p:extLst>
      <p:ext uri="{BB962C8B-B14F-4D97-AF65-F5344CB8AC3E}">
        <p14:creationId xmlns:p14="http://schemas.microsoft.com/office/powerpoint/2010/main" val="1164993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232</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769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324" y="-12827"/>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1826" y="62258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4986" y="3327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5.2.3 Bring It Together: Triangle Congruence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87826"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232</a:t>
            </a:r>
          </a:p>
        </p:txBody>
      </p:sp>
      <p:sp>
        <p:nvSpPr>
          <p:cNvPr id="8" name="TextBox 7">
            <a:extLst>
              <a:ext uri="{FF2B5EF4-FFF2-40B4-BE49-F238E27FC236}">
                <a16:creationId xmlns:a16="http://schemas.microsoft.com/office/drawing/2014/main" id="{669E00F9-F39F-5043-888E-B0A2D8C9AE0F}"/>
              </a:ext>
            </a:extLst>
          </p:cNvPr>
          <p:cNvSpPr txBox="1"/>
          <p:nvPr/>
        </p:nvSpPr>
        <p:spPr>
          <a:xfrm>
            <a:off x="395178" y="1386025"/>
            <a:ext cx="999240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statements.</a:t>
            </a:r>
          </a:p>
        </p:txBody>
      </p:sp>
      <mc:AlternateContent xmlns:mc="http://schemas.openxmlformats.org/markup-compatibility/2006" xmlns:a14="http://schemas.microsoft.com/office/drawing/2010/main">
        <mc:Choice Requires="a14">
          <p:sp>
            <p:nvSpPr>
              <p:cNvPr id="2" name="Rectangle 1"/>
              <p:cNvSpPr/>
              <p:nvPr/>
            </p:nvSpPr>
            <p:spPr>
              <a:xfrm>
                <a:off x="959224" y="1893428"/>
                <a:ext cx="9539545" cy="4708981"/>
              </a:xfrm>
              <a:prstGeom prst="rect">
                <a:avLst/>
              </a:prstGeom>
            </p:spPr>
            <p:txBody>
              <a:bodyPr wrap="square">
                <a:spAutoFit/>
              </a:bodyPr>
              <a:lstStyle/>
              <a:p>
                <a:pPr marL="457200" indent="-457200">
                  <a:buFont typeface="+mj-lt"/>
                  <a:buAutoNum type="alphaLcPeriod"/>
                </a:pP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XMP</m:t>
                    </m:r>
                  </m:oMath>
                </a14:m>
                <a:r>
                  <a:rPr lang="en-US" sz="2000" dirty="0">
                    <a:latin typeface="Verdana" charset="0"/>
                    <a:ea typeface="Verdana" charset="0"/>
                    <a:cs typeface="Verdana" charset="0"/>
                  </a:rPr>
                  <a:t> was created using             side(s)</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and            angle(s).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The construction shows that it is                        to assume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that if the            side(s) of a triangle and their</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are congruent, then the angles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are congruent. </a:t>
                </a:r>
              </a:p>
            </p:txBody>
          </p:sp>
        </mc:Choice>
        <mc:Fallback xmlns="">
          <p:sp>
            <p:nvSpPr>
              <p:cNvPr id="2" name="Rectangle 1"/>
              <p:cNvSpPr>
                <a:spLocks noRot="1" noChangeAspect="1" noMove="1" noResize="1" noEditPoints="1" noAdjustHandles="1" noChangeArrowheads="1" noChangeShapeType="1" noTextEdit="1"/>
              </p:cNvSpPr>
              <p:nvPr/>
            </p:nvSpPr>
            <p:spPr>
              <a:xfrm>
                <a:off x="959224" y="1893428"/>
                <a:ext cx="9539545" cy="4708981"/>
              </a:xfrm>
              <a:prstGeom prst="rect">
                <a:avLst/>
              </a:prstGeom>
              <a:blipFill>
                <a:blip r:embed="rId4"/>
                <a:stretch>
                  <a:fillRect l="-399" t="-809" b="-1617"/>
                </a:stretch>
              </a:blipFill>
            </p:spPr>
            <p:txBody>
              <a:bodyPr/>
              <a:lstStyle/>
              <a:p>
                <a:r>
                  <a:rPr lang="en-US">
                    <a:noFill/>
                  </a:rPr>
                  <a:t> </a:t>
                </a:r>
              </a:p>
            </p:txBody>
          </p:sp>
        </mc:Fallback>
      </mc:AlternateContent>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656571" y="1466269"/>
            <a:ext cx="863600" cy="1244600"/>
          </a:xfrm>
          <a:prstGeom prst="rect">
            <a:avLst/>
          </a:prstGeom>
        </p:spPr>
      </p:pic>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693124" y="3131035"/>
            <a:ext cx="2064171" cy="960907"/>
          </a:xfrm>
          <a:prstGeom prst="rect">
            <a:avLst/>
          </a:prstGeom>
        </p:spPr>
      </p:pic>
      <p:pic>
        <p:nvPicPr>
          <p:cNvPr id="5" name="Picture 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327545" y="5054473"/>
            <a:ext cx="2668945" cy="1156925"/>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088051" y="2200726"/>
            <a:ext cx="863600" cy="1244600"/>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830584" y="3750470"/>
            <a:ext cx="863600" cy="1244600"/>
          </a:xfrm>
          <a:prstGeom prst="rect">
            <a:avLst/>
          </a:prstGeom>
        </p:spPr>
      </p:pic>
      <p:pic>
        <p:nvPicPr>
          <p:cNvPr id="15" name="Picture 2" descr="Icon&#10;&#10;Description automatically generated">
            <a:extLst>
              <a:ext uri="{FF2B5EF4-FFF2-40B4-BE49-F238E27FC236}">
                <a16:creationId xmlns:a16="http://schemas.microsoft.com/office/drawing/2014/main" id="{6D790C75-0C85-E84B-80F1-82D55B661D7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395178" y="20628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634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69"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681"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2681"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57201" y="520394"/>
                <a:ext cx="10009632" cy="4708981"/>
              </a:xfrm>
              <a:prstGeom prst="rect">
                <a:avLst/>
              </a:prstGeom>
              <a:noFill/>
            </p:spPr>
            <p:txBody>
              <a:bodyPr wrap="square" rtlCol="0">
                <a:spAutoFit/>
              </a:bodyPr>
              <a:lstStyle/>
              <a:p>
                <a:pPr marL="457200" indent="-457200">
                  <a:buFont typeface="+mj-lt"/>
                  <a:buAutoNum type="alphaLcPeriod" startAt="2"/>
                </a:pP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KSB</m:t>
                    </m:r>
                  </m:oMath>
                </a14:m>
                <a:r>
                  <a:rPr lang="en-US" sz="2000" dirty="0">
                    <a:latin typeface="Verdana" charset="0"/>
                    <a:ea typeface="Verdana" charset="0"/>
                    <a:cs typeface="Verdana" charset="0"/>
                  </a:rPr>
                  <a:t> was created using          side(s) and           angle(s).</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r>
                  <a:rPr lang="en-US" sz="2000" dirty="0">
                    <a:latin typeface="Verdana" charset="0"/>
                    <a:ea typeface="Verdana" charset="0"/>
                    <a:cs typeface="Verdana" charset="0"/>
                  </a:rPr>
                  <a:t>     the construction showed that it is                       to assume </a:t>
                </a: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that if the          side(s) of a triangle and the</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are congruent, then the triangles are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congruent.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57201" y="520394"/>
                <a:ext cx="10009632" cy="4708981"/>
              </a:xfrm>
              <a:prstGeom prst="rect">
                <a:avLst/>
              </a:prstGeom>
              <a:blipFill>
                <a:blip r:embed="rId4"/>
                <a:stretch>
                  <a:fillRect l="-380" t="-538" b="-1344"/>
                </a:stretch>
              </a:blipFill>
            </p:spPr>
            <p:txBody>
              <a:bodyPr/>
              <a:lstStyle/>
              <a:p>
                <a:r>
                  <a:rPr lang="en-US">
                    <a:noFill/>
                  </a:rPr>
                  <a:t> </a:t>
                </a:r>
              </a:p>
            </p:txBody>
          </p:sp>
        </mc:Fallback>
      </mc:AlternateContent>
      <p:pic>
        <p:nvPicPr>
          <p:cNvPr id="6" name="Picture 5"/>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990150" y="3429000"/>
            <a:ext cx="2921000" cy="1244600"/>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019474" y="226659"/>
            <a:ext cx="863600" cy="1244600"/>
          </a:xfrm>
          <a:prstGeom prst="rect">
            <a:avLst/>
          </a:prstGeom>
        </p:spPr>
      </p:pic>
      <p:pic>
        <p:nvPicPr>
          <p:cNvPr id="8" name="Picture 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4757" y="1471259"/>
            <a:ext cx="2064171" cy="960907"/>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345420" y="226659"/>
            <a:ext cx="863600" cy="1244600"/>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246763" y="2154078"/>
            <a:ext cx="863600" cy="1244600"/>
          </a:xfrm>
          <a:prstGeom prst="rect">
            <a:avLst/>
          </a:prstGeom>
        </p:spPr>
      </p:pic>
    </p:spTree>
    <p:extLst>
      <p:ext uri="{BB962C8B-B14F-4D97-AF65-F5344CB8AC3E}">
        <p14:creationId xmlns:p14="http://schemas.microsoft.com/office/powerpoint/2010/main" val="856054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12376" y="558494"/>
                <a:ext cx="11367248" cy="4708981"/>
              </a:xfrm>
              <a:prstGeom prst="rect">
                <a:avLst/>
              </a:prstGeom>
              <a:noFill/>
            </p:spPr>
            <p:txBody>
              <a:bodyPr wrap="square" rtlCol="0">
                <a:spAutoFit/>
              </a:bodyPr>
              <a:lstStyle/>
              <a:p>
                <a:pPr marL="457200" indent="-457200">
                  <a:buFont typeface="+mj-lt"/>
                  <a:buAutoNum type="alphaLcPeriod" startAt="3"/>
                </a:pP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RYV</m:t>
                    </m:r>
                  </m:oMath>
                </a14:m>
                <a:r>
                  <a:rPr lang="en-US" sz="2000" dirty="0">
                    <a:latin typeface="Verdana" charset="0"/>
                    <a:ea typeface="Verdana" charset="0"/>
                    <a:cs typeface="Verdana" charset="0"/>
                  </a:rPr>
                  <a:t> was created using           side(s) and           angle(s).</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r>
                  <a:rPr lang="en-US" sz="2000" dirty="0">
                    <a:latin typeface="Verdana" charset="0"/>
                    <a:ea typeface="Verdana" charset="0"/>
                    <a:cs typeface="Verdana" charset="0"/>
                  </a:rPr>
                  <a:t>     The construction showed that it is                        to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assume  that is the          sides(s) of a triangle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and its                                 are congruent, then the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      triangles are congruent.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12376" y="558494"/>
                <a:ext cx="11367248" cy="4708981"/>
              </a:xfrm>
              <a:prstGeom prst="rect">
                <a:avLst/>
              </a:prstGeom>
              <a:blipFill>
                <a:blip r:embed="rId4"/>
                <a:stretch>
                  <a:fillRect l="-335" t="-809" b="-1617"/>
                </a:stretch>
              </a:blipFill>
            </p:spPr>
            <p:txBody>
              <a:bodyPr/>
              <a:lstStyle/>
              <a:p>
                <a:r>
                  <a:rPr lang="en-US">
                    <a:noFill/>
                  </a:rPr>
                  <a:t> </a:t>
                </a:r>
              </a:p>
            </p:txBody>
          </p:sp>
        </mc:Fallback>
      </mc:AlternateContent>
      <p:pic>
        <p:nvPicPr>
          <p:cNvPr id="7" name="Picture 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005183" y="23764"/>
            <a:ext cx="863600" cy="1244600"/>
          </a:xfrm>
          <a:prstGeom prst="rect">
            <a:avLst/>
          </a:prstGeom>
        </p:spPr>
      </p:pic>
      <p:pic>
        <p:nvPicPr>
          <p:cNvPr id="8" name="Picture 7"/>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284123" y="1209884"/>
            <a:ext cx="2064171" cy="960907"/>
          </a:xfrm>
          <a:prstGeom prst="rect">
            <a:avLst/>
          </a:prstGeom>
        </p:spPr>
      </p:pic>
      <p:pic>
        <p:nvPicPr>
          <p:cNvPr id="9" name="Picture 8"/>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056911" y="3285201"/>
            <a:ext cx="2668945" cy="1156925"/>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416910" y="23764"/>
            <a:ext cx="863600" cy="1244600"/>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489995" y="2023319"/>
            <a:ext cx="863600" cy="1244600"/>
          </a:xfrm>
          <a:prstGeom prst="rect">
            <a:avLst/>
          </a:prstGeom>
        </p:spPr>
      </p:pic>
    </p:spTree>
    <p:extLst>
      <p:ext uri="{BB962C8B-B14F-4D97-AF65-F5344CB8AC3E}">
        <p14:creationId xmlns:p14="http://schemas.microsoft.com/office/powerpoint/2010/main" val="2112519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3055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232</a:t>
            </a:r>
          </a:p>
        </p:txBody>
      </p:sp>
      <p:sp>
        <p:nvSpPr>
          <p:cNvPr id="6" name="Text Box 24"/>
          <p:cNvSpPr txBox="1"/>
          <p:nvPr/>
        </p:nvSpPr>
        <p:spPr>
          <a:xfrm>
            <a:off x="2874921" y="566928"/>
            <a:ext cx="6629400" cy="2617758"/>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3465B0"/>
                </a:solidFill>
                <a:latin typeface="Verdana" panose="020B0604030504040204" pitchFamily="34" charset="0"/>
                <a:ea typeface="Times New Roman"/>
                <a:cs typeface="Times New Roman"/>
              </a:rPr>
              <a:t>Side-Angle-Side (SAS) Congruence Postulate</a:t>
            </a:r>
            <a:endParaRPr lang="en-US" sz="2000" dirty="0">
              <a:solidFill>
                <a:srgbClr val="3465B0"/>
              </a:solidFill>
              <a:ea typeface="Times New Roman"/>
              <a:cs typeface="Times New Roman"/>
            </a:endParaRPr>
          </a:p>
          <a:p>
            <a:r>
              <a:rPr lang="en-US" sz="2000" dirty="0">
                <a:solidFill>
                  <a:srgbClr val="3465B0"/>
                </a:solidFill>
              </a:rPr>
              <a:t>	If two sides and the included angle of one 	triangle are congruent to two sides and the 	included angle of a second triangle, 	respectively, then the two triangles are 	congruent. </a:t>
            </a: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131444" y="810531"/>
            <a:ext cx="542544" cy="530352"/>
          </a:xfrm>
          <a:prstGeom prst="rect">
            <a:avLst/>
          </a:prstGeom>
          <a:effectLst>
            <a:outerShdw blurRad="50800" dist="76200" dir="2700000" algn="tl" rotWithShape="0">
              <a:prstClr val="black">
                <a:alpha val="40000"/>
              </a:prstClr>
            </a:outerShdw>
          </a:effectLst>
        </p:spPr>
      </p:pic>
      <p:sp>
        <p:nvSpPr>
          <p:cNvPr id="8" name="Text Box 24"/>
          <p:cNvSpPr txBox="1"/>
          <p:nvPr/>
        </p:nvSpPr>
        <p:spPr>
          <a:xfrm>
            <a:off x="2874921" y="3512301"/>
            <a:ext cx="6629400" cy="2617758"/>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3465B0"/>
                </a:solidFill>
                <a:latin typeface="Verdana" panose="020B0604030504040204" pitchFamily="34" charset="0"/>
                <a:ea typeface="Times New Roman"/>
                <a:cs typeface="Times New Roman"/>
              </a:rPr>
              <a:t>Side-Angle-Side (SAS) Congruence Postulate</a:t>
            </a:r>
            <a:endParaRPr lang="en-US" sz="2000" dirty="0">
              <a:solidFill>
                <a:srgbClr val="3465B0"/>
              </a:solidFill>
              <a:ea typeface="Times New Roman"/>
              <a:cs typeface="Times New Roman"/>
            </a:endParaRPr>
          </a:p>
          <a:p>
            <a:r>
              <a:rPr lang="en-US" sz="2000" dirty="0">
                <a:solidFill>
                  <a:srgbClr val="3465B0"/>
                </a:solidFill>
              </a:rPr>
              <a:t>	If two sides and the included angle of one 	triangle are congruent to two sides and the 	included angle of a second triangle, 	respectively, then the two triangles are 	congruent. </a:t>
            </a:r>
          </a:p>
        </p:txBody>
      </p:sp>
      <p:pic>
        <p:nvPicPr>
          <p:cNvPr id="9" name="Picture 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131444" y="3698037"/>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368752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4721"/>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12376" y="363283"/>
                <a:ext cx="6902373" cy="193899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𝐻𝐶𝑀</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𝑅𝐾𝑊</m:t>
                    </m:r>
                  </m:oMath>
                </a14:m>
                <a:r>
                  <a:rPr lang="en-US" sz="2000" dirty="0">
                    <a:latin typeface="Verdana" charset="0"/>
                    <a:ea typeface="Verdana" charset="0"/>
                    <a:cs typeface="Verdana" charset="0"/>
                  </a:rPr>
                  <a:t> are shown. Determine if the given information is sufficient to determine whether the triangles are congruent. If so, state the congruence theorem or postulate to show that.</a:t>
                </a:r>
              </a:p>
              <a:p>
                <a:pPr marL="457200" indent="-457200">
                  <a:buFont typeface="+mj-lt"/>
                  <a:buAutoNum type="arabicPeriod" startAt="2"/>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12376" y="363283"/>
                <a:ext cx="6902373" cy="1938992"/>
              </a:xfrm>
              <a:prstGeom prst="rect">
                <a:avLst/>
              </a:prstGeom>
              <a:blipFill>
                <a:blip r:embed="rId4"/>
                <a:stretch>
                  <a:fillRect l="-919" t="-1948" r="-1654"/>
                </a:stretch>
              </a:blipFill>
            </p:spPr>
            <p:txBody>
              <a:bodyPr/>
              <a:lstStyle/>
              <a:p>
                <a:r>
                  <a:rPr lang="en-US">
                    <a:noFill/>
                  </a:rPr>
                  <a:t> </a:t>
                </a:r>
              </a:p>
            </p:txBody>
          </p:sp>
        </mc:Fallback>
      </mc:AlternateContent>
      <p:pic>
        <p:nvPicPr>
          <p:cNvPr id="4097" name="Picture 41"/>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314750" y="142250"/>
            <a:ext cx="3020151" cy="21484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5"/>
          <p:cNvSpPr>
            <a:spLocks noChangeArrowheads="1"/>
          </p:cNvSpPr>
          <p:nvPr/>
        </p:nvSpPr>
        <p:spPr bwMode="auto">
          <a:xfrm>
            <a:off x="1676401" y="28643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x-none" altLang="x-none" sz="1800">
                <a:solidFill>
                  <a:schemeClr val="tx1"/>
                </a:solidFill>
                <a:latin typeface="Arial" charset="0"/>
              </a:rPr>
            </a:br>
            <a:endParaRPr lang="x-none" altLang="x-none" sz="1800">
              <a:solidFill>
                <a:schemeClr val="tx1"/>
              </a:solidFill>
              <a:latin typeface="Arial" charset="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025035702"/>
                  </p:ext>
                </p:extLst>
              </p:nvPr>
            </p:nvGraphicFramePr>
            <p:xfrm>
              <a:off x="2007764" y="2476701"/>
              <a:ext cx="8327136" cy="3646827"/>
            </p:xfrm>
            <a:graphic>
              <a:graphicData uri="http://schemas.openxmlformats.org/drawingml/2006/table">
                <a:tbl>
                  <a:tblPr firstRow="1" firstCol="1" bandRow="1"/>
                  <a:tblGrid>
                    <a:gridCol w="4678786">
                      <a:extLst>
                        <a:ext uri="{9D8B030D-6E8A-4147-A177-3AD203B41FA5}">
                          <a16:colId xmlns:a16="http://schemas.microsoft.com/office/drawing/2014/main" val="20000"/>
                        </a:ext>
                      </a:extLst>
                    </a:gridCol>
                    <a:gridCol w="1828801">
                      <a:extLst>
                        <a:ext uri="{9D8B030D-6E8A-4147-A177-3AD203B41FA5}">
                          <a16:colId xmlns:a16="http://schemas.microsoft.com/office/drawing/2014/main" val="20001"/>
                        </a:ext>
                      </a:extLst>
                    </a:gridCol>
                    <a:gridCol w="1819549">
                      <a:extLst>
                        <a:ext uri="{9D8B030D-6E8A-4147-A177-3AD203B41FA5}">
                          <a16:colId xmlns:a16="http://schemas.microsoft.com/office/drawing/2014/main" val="20002"/>
                        </a:ext>
                      </a:extLst>
                    </a:gridCol>
                  </a:tblGrid>
                  <a:tr h="674839">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Theorem or Postulate Used</a:t>
                          </a:r>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04176">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𝑅𝑊</m:t>
                                  </m:r>
                                </m:e>
                              </m:acc>
                            </m:oMath>
                          </a14:m>
                          <a:r>
                            <a:rPr lang="en-US" sz="2000" dirty="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𝐾𝑅</m:t>
                                  </m:r>
                                </m:e>
                              </m:acc>
                            </m:oMath>
                          </a14:m>
                          <a:r>
                            <a:rPr lang="en-US" sz="2000" dirty="0">
                              <a:effectLst/>
                              <a:latin typeface="Verdana" charset="0"/>
                              <a:ea typeface="Verdana" charset="0"/>
                              <a:cs typeface="Verdana" charset="0"/>
                            </a:rPr>
                            <a:t> ,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𝑀𝐶𝐻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𝑊𝑅𝐾</m:t>
                              </m:r>
                            </m:oMath>
                          </a14:m>
                          <a:endParaRPr lang="en-US" sz="2000" dirty="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76">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𝐾𝑊</m:t>
                                  </m:r>
                                </m:e>
                              </m:acc>
                            </m:oMath>
                          </a14:m>
                          <a:r>
                            <a:rPr lang="en-US" sz="200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𝐻𝑀</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𝑊𝑅</m:t>
                                  </m:r>
                                </m:e>
                              </m:acc>
                            </m:oMath>
                          </a14:m>
                          <a:r>
                            <a:rPr lang="en-US" sz="2000">
                              <a:effectLst/>
                              <a:latin typeface="Verdana" charset="0"/>
                              <a:ea typeface="Verdana" charset="0"/>
                              <a:cs typeface="Verdana" charset="0"/>
                            </a:rPr>
                            <a:t> ,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𝐾𝑅</m:t>
                                  </m:r>
                                </m:e>
                              </m:acc>
                            </m:oMath>
                          </a14:m>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176">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𝐾𝑊</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𝐻𝑀</m:t>
                                  </m:r>
                                </m:e>
                              </m:acc>
                            </m:oMath>
                          </a14:m>
                          <a:r>
                            <a:rPr lang="en-US" sz="200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𝐾𝑅𝑊</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𝐶𝐻𝑀</m:t>
                              </m:r>
                            </m:oMath>
                          </a14:m>
                          <a:r>
                            <a:rPr lang="en-US" sz="200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𝑅𝑊</m:t>
                                  </m:r>
                                </m:e>
                              </m:acc>
                            </m:oMath>
                          </a14:m>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4176">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𝑅𝐾</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𝐶𝐻</m:t>
                                  </m:r>
                                </m:e>
                              </m:acc>
                            </m:oMath>
                          </a14:m>
                          <a:r>
                            <a:rPr lang="en-US" sz="2000" dirty="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𝑀𝐶𝐻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𝑊𝑅𝐾</m:t>
                              </m:r>
                            </m:oMath>
                          </a14:m>
                          <a:r>
                            <a:rPr lang="en-US" sz="2000" dirty="0">
                              <a:effectLst/>
                              <a:latin typeface="Verdana" charset="0"/>
                              <a:ea typeface="Verdana" charset="0"/>
                              <a:cs typeface="Verdana" charset="0"/>
                            </a:rPr>
                            <a:t>,</a:t>
                          </a:r>
                          <a:r>
                            <a:rPr lang="en-US" sz="2000" baseline="0" dirty="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𝑀𝐻𝐶</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𝑅𝐾𝑊</m:t>
                              </m:r>
                            </m:oMath>
                          </a14:m>
                          <a:endParaRPr lang="en-US" sz="2000" dirty="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04176">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𝑅𝐾𝑊</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𝐶𝐻𝑀</m:t>
                              </m:r>
                            </m:oMath>
                          </a14:m>
                          <a:r>
                            <a:rPr lang="en-US" sz="2000" dirty="0">
                              <a:effectLst/>
                              <a:latin typeface="Verdana" charset="0"/>
                              <a:ea typeface="Verdana" charset="0"/>
                              <a:cs typeface="Verdana" charset="0"/>
                            </a:rPr>
                            <a:t>, </a:t>
                          </a:r>
                        </a:p>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𝑅𝑊𝐾</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𝐶𝑀𝐻</m:t>
                              </m:r>
                            </m:oMath>
                          </a14:m>
                          <a:r>
                            <a:rPr lang="en-US" sz="2000" dirty="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𝐾𝑊</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𝐻𝑀</m:t>
                                  </m:r>
                                </m:e>
                              </m:acc>
                            </m:oMath>
                          </a14:m>
                          <a:endParaRPr lang="en-US" sz="2000" dirty="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025035702"/>
                  </p:ext>
                </p:extLst>
              </p:nvPr>
            </p:nvGraphicFramePr>
            <p:xfrm>
              <a:off x="2007764" y="2476701"/>
              <a:ext cx="8327136" cy="3646827"/>
            </p:xfrm>
            <a:graphic>
              <a:graphicData uri="http://schemas.openxmlformats.org/drawingml/2006/table">
                <a:tbl>
                  <a:tblPr firstRow="1" firstCol="1" bandRow="1"/>
                  <a:tblGrid>
                    <a:gridCol w="4678786">
                      <a:extLst>
                        <a:ext uri="{9D8B030D-6E8A-4147-A177-3AD203B41FA5}">
                          <a16:colId xmlns:a16="http://schemas.microsoft.com/office/drawing/2014/main" val="20000"/>
                        </a:ext>
                      </a:extLst>
                    </a:gridCol>
                    <a:gridCol w="1828801">
                      <a:extLst>
                        <a:ext uri="{9D8B030D-6E8A-4147-A177-3AD203B41FA5}">
                          <a16:colId xmlns:a16="http://schemas.microsoft.com/office/drawing/2014/main" val="20001"/>
                        </a:ext>
                      </a:extLst>
                    </a:gridCol>
                    <a:gridCol w="1819549">
                      <a:extLst>
                        <a:ext uri="{9D8B030D-6E8A-4147-A177-3AD203B41FA5}">
                          <a16:colId xmlns:a16="http://schemas.microsoft.com/office/drawing/2014/main" val="20002"/>
                        </a:ext>
                      </a:extLst>
                    </a:gridCol>
                  </a:tblGrid>
                  <a:tr h="914400">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Theorem or Postulate Used</a:t>
                          </a:r>
                          <a:endParaRPr lang="en-US" sz="2000">
                            <a:effectLst/>
                            <a:latin typeface="Verdana" charset="0"/>
                            <a:ea typeface="Verdana" charset="0"/>
                            <a:cs typeface="Verdana" charset="0"/>
                          </a:endParaRP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04176">
                    <a:tc>
                      <a:txBody>
                        <a:bodyPr/>
                        <a:lstStyle/>
                        <a:p>
                          <a:endParaRPr lang="en-US"/>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 t="-197500" r="-78320" b="-470000"/>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176">
                    <a:tc>
                      <a:txBody>
                        <a:bodyPr/>
                        <a:lstStyle/>
                        <a:p>
                          <a:endParaRPr lang="en-US"/>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 t="-297500" r="-78320" b="-370000"/>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176">
                    <a:tc>
                      <a:txBody>
                        <a:bodyPr/>
                        <a:lstStyle/>
                        <a:p>
                          <a:endParaRPr lang="en-US"/>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 t="-397500" r="-78320" b="-270000"/>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0299">
                    <a:tc>
                      <a:txBody>
                        <a:bodyPr/>
                        <a:lstStyle/>
                        <a:p>
                          <a:endParaRPr lang="en-US"/>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 t="-414583" r="-78320" b="-125000"/>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09600">
                    <a:tc>
                      <a:txBody>
                        <a:bodyPr/>
                        <a:lstStyle/>
                        <a:p>
                          <a:endParaRPr lang="en-US"/>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71" t="-514583" r="-78320" b="-25000"/>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7429" marR="574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72153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233</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3811"/>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164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233</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564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97097"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5.2.4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49797"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1197097" y="1386025"/>
                <a:ext cx="9190487" cy="400110"/>
              </a:xfrm>
              <a:prstGeom prst="rect">
                <a:avLst/>
              </a:prstGeom>
              <a:noFill/>
            </p:spPr>
            <p:txBody>
              <a:bodyPr wrap="square" rtlCol="0">
                <a:spAutoFit/>
              </a:bodyPr>
              <a:lstStyle/>
              <a:p>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𝐵𝐹𝑀</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𝑊𝑅𝐻</m:t>
                    </m:r>
                  </m:oMath>
                </a14:m>
                <a:r>
                  <a:rPr lang="en-US" sz="2000" dirty="0">
                    <a:latin typeface="Verdana" charset="0"/>
                    <a:ea typeface="Verdana" charset="0"/>
                    <a:cs typeface="Verdana" charset="0"/>
                  </a:rPr>
                  <a:t> are shown.</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1197097" y="1386025"/>
                <a:ext cx="9190487" cy="400110"/>
              </a:xfrm>
              <a:prstGeom prst="rect">
                <a:avLst/>
              </a:prstGeom>
              <a:blipFill>
                <a:blip r:embed="rId5"/>
                <a:stretch>
                  <a:fillRect l="-691" t="-6061" b="-24242"/>
                </a:stretch>
              </a:blipFill>
            </p:spPr>
            <p:txBody>
              <a:bodyPr/>
              <a:lstStyle/>
              <a:p>
                <a:r>
                  <a:rPr lang="en-US">
                    <a:noFill/>
                  </a:rPr>
                  <a:t> </a:t>
                </a:r>
              </a:p>
            </p:txBody>
          </p:sp>
        </mc:Fallback>
      </mc:AlternateContent>
      <p:sp>
        <p:nvSpPr>
          <p:cNvPr id="2" name="Rectangle 2"/>
          <p:cNvSpPr>
            <a:spLocks noChangeArrowheads="1"/>
          </p:cNvSpPr>
          <p:nvPr/>
        </p:nvSpPr>
        <p:spPr bwMode="auto">
          <a:xfrm>
            <a:off x="1524001" y="747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121" name="Picture 20"/>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245963" y="2095185"/>
            <a:ext cx="5289550" cy="265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995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85482" y="520394"/>
            <a:ext cx="1109830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Determine if the given information is sufficient to determine that the triangles are congruent. If so, state the congruence theorem or postulate to show that.</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66539665"/>
                  </p:ext>
                </p:extLst>
              </p:nvPr>
            </p:nvGraphicFramePr>
            <p:xfrm>
              <a:off x="2209801" y="2057403"/>
              <a:ext cx="7843177" cy="3696175"/>
            </p:xfrm>
            <a:graphic>
              <a:graphicData uri="http://schemas.openxmlformats.org/drawingml/2006/table">
                <a:tbl>
                  <a:tblPr firstRow="1" firstCol="1" bandRow="1"/>
                  <a:tblGrid>
                    <a:gridCol w="4229100">
                      <a:extLst>
                        <a:ext uri="{9D8B030D-6E8A-4147-A177-3AD203B41FA5}">
                          <a16:colId xmlns:a16="http://schemas.microsoft.com/office/drawing/2014/main" val="20000"/>
                        </a:ext>
                      </a:extLst>
                    </a:gridCol>
                    <a:gridCol w="1792398">
                      <a:extLst>
                        <a:ext uri="{9D8B030D-6E8A-4147-A177-3AD203B41FA5}">
                          <a16:colId xmlns:a16="http://schemas.microsoft.com/office/drawing/2014/main" val="20001"/>
                        </a:ext>
                      </a:extLst>
                    </a:gridCol>
                    <a:gridCol w="1821679">
                      <a:extLst>
                        <a:ext uri="{9D8B030D-6E8A-4147-A177-3AD203B41FA5}">
                          <a16:colId xmlns:a16="http://schemas.microsoft.com/office/drawing/2014/main" val="20002"/>
                        </a:ext>
                      </a:extLst>
                    </a:gridCol>
                  </a:tblGrid>
                  <a:tr h="1259071">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Theorem or Postulate Used</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12368">
                    <a:tc>
                      <a:txBody>
                        <a:bodyPr/>
                        <a:lstStyle/>
                        <a:p>
                          <a:pPr marL="0" marR="0" algn="l">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𝐹𝐵</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𝐻𝑊</m:t>
                                  </m:r>
                                </m:e>
                              </m:acc>
                            </m:oMath>
                          </a14:m>
                          <a:r>
                            <a:rPr lang="en-US" sz="2000" dirty="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𝐹𝑀</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𝑅𝑊</m:t>
                                  </m:r>
                                </m:e>
                              </m:acc>
                            </m:oMath>
                          </a14:m>
                          <a:r>
                            <a:rPr lang="en-US" sz="2000" dirty="0">
                              <a:effectLst/>
                              <a:latin typeface="Verdana" charset="0"/>
                              <a:ea typeface="Verdana" charset="0"/>
                              <a:cs typeface="Verdana" charset="0"/>
                            </a:rPr>
                            <a:t>, </a:t>
                          </a:r>
                          <a:endParaRPr lang="en-US" sz="2000" i="1" dirty="0">
                            <a:effectLst/>
                            <a:latin typeface="Verdana" charset="0"/>
                            <a:ea typeface="Verdana" charset="0"/>
                            <a:cs typeface="Verdana" charset="0"/>
                          </a:endParaRPr>
                        </a:p>
                        <a:p>
                          <a:pPr marL="0" marR="0" algn="l">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𝐵𝐹𝑀</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𝐻𝑊𝑅</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12368">
                    <a:tc>
                      <a:txBody>
                        <a:bodyPr/>
                        <a:lstStyle/>
                        <a:p>
                          <a:pPr marL="0" marR="0" algn="l">
                            <a:spcBef>
                              <a:spcPts val="0"/>
                            </a:spcBef>
                            <a:spcAft>
                              <a:spcPts val="0"/>
                            </a:spcAft>
                          </a:pPr>
                          <a14:m>
                            <m:oMath xmlns:m="http://schemas.openxmlformats.org/officeDocument/2006/math">
                              <m:acc>
                                <m:accPr>
                                  <m:chr m:val="̅"/>
                                  <m:ctrlPr>
                                    <a:rPr lang="en-US" sz="2000" i="1" smtClean="0">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𝐹𝐵</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𝑅𝐻</m:t>
                                  </m:r>
                                </m:e>
                              </m:acc>
                            </m:oMath>
                          </a14:m>
                          <a:r>
                            <a:rPr lang="en-US" sz="2000" dirty="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𝐹𝐵𝑀</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𝑅𝐻𝑊</m:t>
                              </m:r>
                            </m:oMath>
                          </a14:m>
                          <a:r>
                            <a:rPr lang="en-US" sz="2000" dirty="0">
                              <a:effectLst/>
                              <a:latin typeface="Verdana" charset="0"/>
                              <a:ea typeface="Verdana" charset="0"/>
                              <a:cs typeface="Verdana" charset="0"/>
                            </a:rPr>
                            <a:t>,</a:t>
                          </a:r>
                          <a14:m>
                            <m:oMath xmlns:m="http://schemas.openxmlformats.org/officeDocument/2006/math">
                              <m:r>
                                <a:rPr lang="en-US" sz="2000" i="1">
                                  <a:effectLst/>
                                  <a:latin typeface="Cambria Math" charset="0"/>
                                  <a:ea typeface="Verdana" charset="0"/>
                                  <a:cs typeface="Verdana" charset="0"/>
                                </a:rPr>
                                <m:t> </m:t>
                              </m:r>
                            </m:oMath>
                          </a14:m>
                          <a:endParaRPr lang="en-US" sz="2000" i="1" dirty="0">
                            <a:effectLst/>
                            <a:latin typeface="Verdana" charset="0"/>
                            <a:ea typeface="Verdana" charset="0"/>
                            <a:cs typeface="Verdana" charset="0"/>
                          </a:endParaRPr>
                        </a:p>
                        <a:p>
                          <a:pPr marL="0" marR="0" algn="l">
                            <a:spcBef>
                              <a:spcPts val="0"/>
                            </a:spcBef>
                            <a:spcAft>
                              <a:spcPts val="0"/>
                            </a:spcAft>
                          </a:pPr>
                          <a14:m>
                            <m:oMathPara xmlns:m="http://schemas.openxmlformats.org/officeDocument/2006/math">
                              <m:oMathParaPr>
                                <m:jc m:val="left"/>
                              </m:oMathParaPr>
                              <m:oMath xmlns:m="http://schemas.openxmlformats.org/officeDocument/2006/math">
                                <m:acc>
                                  <m:accPr>
                                    <m:chr m:val="̅"/>
                                    <m:ctrlPr>
                                      <a:rPr lang="en-US" sz="2000" i="1" smtClean="0">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𝑀𝐵</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𝑊𝐻</m:t>
                                    </m:r>
                                  </m:e>
                                </m:acc>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12368">
                    <a:tc>
                      <a:txBody>
                        <a:bodyPr/>
                        <a:lstStyle/>
                        <a:p>
                          <a:pPr marL="0" marR="0" algn="l">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𝐹𝐵</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𝐻𝑊</m:t>
                                  </m:r>
                                </m:e>
                              </m:acc>
                            </m:oMath>
                          </a14:m>
                          <a:r>
                            <a:rPr lang="en-US" sz="200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𝐵𝑀</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𝐻𝑅</m:t>
                                  </m:r>
                                </m:e>
                              </m:acc>
                            </m:oMath>
                          </a14:m>
                          <a:r>
                            <a:rPr lang="en-US" sz="2000">
                              <a:effectLst/>
                              <a:latin typeface="Verdana" charset="0"/>
                              <a:ea typeface="Verdana" charset="0"/>
                              <a:cs typeface="Verdana" charset="0"/>
                            </a:rPr>
                            <a:t> ,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𝐹𝑀</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𝑅𝑊</m:t>
                                  </m:r>
                                </m:e>
                              </m:acc>
                            </m:oMath>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66539665"/>
                  </p:ext>
                </p:extLst>
              </p:nvPr>
            </p:nvGraphicFramePr>
            <p:xfrm>
              <a:off x="2209801" y="2057403"/>
              <a:ext cx="7843177" cy="3696175"/>
            </p:xfrm>
            <a:graphic>
              <a:graphicData uri="http://schemas.openxmlformats.org/drawingml/2006/table">
                <a:tbl>
                  <a:tblPr firstRow="1" firstCol="1" bandRow="1"/>
                  <a:tblGrid>
                    <a:gridCol w="4229100">
                      <a:extLst>
                        <a:ext uri="{9D8B030D-6E8A-4147-A177-3AD203B41FA5}">
                          <a16:colId xmlns:a16="http://schemas.microsoft.com/office/drawing/2014/main" val="20000"/>
                        </a:ext>
                      </a:extLst>
                    </a:gridCol>
                    <a:gridCol w="1792398">
                      <a:extLst>
                        <a:ext uri="{9D8B030D-6E8A-4147-A177-3AD203B41FA5}">
                          <a16:colId xmlns:a16="http://schemas.microsoft.com/office/drawing/2014/main" val="20001"/>
                        </a:ext>
                      </a:extLst>
                    </a:gridCol>
                    <a:gridCol w="1821679">
                      <a:extLst>
                        <a:ext uri="{9D8B030D-6E8A-4147-A177-3AD203B41FA5}">
                          <a16:colId xmlns:a16="http://schemas.microsoft.com/office/drawing/2014/main" val="20002"/>
                        </a:ext>
                      </a:extLst>
                    </a:gridCol>
                  </a:tblGrid>
                  <a:tr h="1259071">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Theorem or Postulate Used</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1236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 t="-153846" r="-85886" b="-198462"/>
                          </a:stretch>
                        </a:blipFill>
                      </a:tcPr>
                    </a:tc>
                    <a:tc>
                      <a:txBody>
                        <a:bodyPr/>
                        <a:lstStyle/>
                        <a:p>
                          <a:pPr marL="0" marR="0" algn="l">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1236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 t="-257813" r="-85886" b="-101563"/>
                          </a:stretch>
                        </a:blipFill>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1236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 t="-357813" r="-85886" b="-1563"/>
                          </a:stretch>
                        </a:blipFill>
                      </a:tcPr>
                    </a:tc>
                    <a:tc>
                      <a:txBody>
                        <a:bodyPr/>
                        <a:lstStyle/>
                        <a:p>
                          <a:pPr marL="0" marR="0" algn="l">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9782034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1322</Words>
  <Application>Microsoft Office PowerPoint</Application>
  <PresentationFormat>Widescreen</PresentationFormat>
  <Paragraphs>184</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Calibri</vt:lpstr>
      <vt:lpstr>Cambria</vt:lpstr>
      <vt:lpstr>Cambria Math</vt:lpstr>
      <vt:lpstr>Century Gothic</vt:lpstr>
      <vt:lpstr>Verdana</vt:lpstr>
      <vt:lpstr>Wingdings</vt:lpstr>
      <vt:lpstr>1_Office Theme</vt:lpstr>
      <vt:lpstr>Geometry  Unit 5, Lesson 2  Exploring Side-Angle-Side and Angle-Side-Angle Congruence  Volume 1, pg. 229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25</cp:revision>
  <dcterms:created xsi:type="dcterms:W3CDTF">2015-03-17T18:51:18Z</dcterms:created>
  <dcterms:modified xsi:type="dcterms:W3CDTF">2022-07-03T19:06:18Z</dcterms:modified>
</cp:coreProperties>
</file>