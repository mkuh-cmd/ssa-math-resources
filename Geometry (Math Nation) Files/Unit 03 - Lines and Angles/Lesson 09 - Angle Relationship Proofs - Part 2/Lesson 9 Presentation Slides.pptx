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56" r:id="rId2"/>
    <p:sldId id="257" r:id="rId3"/>
    <p:sldId id="285" r:id="rId4"/>
    <p:sldId id="286" r:id="rId5"/>
    <p:sldId id="261" r:id="rId6"/>
    <p:sldId id="287" r:id="rId7"/>
    <p:sldId id="332" r:id="rId8"/>
    <p:sldId id="333" r:id="rId9"/>
    <p:sldId id="334" r:id="rId10"/>
    <p:sldId id="335" r:id="rId11"/>
    <p:sldId id="336" r:id="rId12"/>
    <p:sldId id="337" r:id="rId13"/>
    <p:sldId id="338" r:id="rId14"/>
    <p:sldId id="339" r:id="rId15"/>
    <p:sldId id="340" r:id="rId16"/>
    <p:sldId id="306" r:id="rId17"/>
    <p:sldId id="307"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BD1E"/>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641"/>
    <p:restoredTop sz="94767"/>
  </p:normalViewPr>
  <p:slideViewPr>
    <p:cSldViewPr snapToGrid="0">
      <p:cViewPr varScale="1">
        <p:scale>
          <a:sx n="78" d="100"/>
          <a:sy n="78" d="100"/>
        </p:scale>
        <p:origin x="254"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7251821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4971569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9101443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1820199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799672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9985127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691857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6263820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4135767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7166881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6.png"/><Relationship Id="rId5" Type="http://schemas.openxmlformats.org/officeDocument/2006/relationships/image" Target="../media/image150.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18.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27.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9.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Geometry</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3, Lesson 9</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Angle Relationship Proofs – Part 2</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169</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08753" y="15225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4050" y="136649"/>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00550" y="372424"/>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169</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514000" y="1600324"/>
            <a:ext cx="11009924"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400" dirty="0">
                <a:latin typeface="Verdana" charset="0"/>
                <a:ea typeface="Verdana" charset="0"/>
                <a:cs typeface="Verdana" charset="0"/>
              </a:rPr>
              <a:t>MA.912.GR.1.1 </a:t>
            </a:r>
          </a:p>
          <a:p>
            <a:pPr marL="463550" indent="0">
              <a:buNone/>
            </a:pPr>
            <a:r>
              <a:rPr lang="en-US" sz="2400" dirty="0">
                <a:latin typeface="Verdana" charset="0"/>
                <a:ea typeface="Verdana" charset="0"/>
                <a:cs typeface="Verdana" charset="0"/>
              </a:rPr>
              <a:t>Prove relationships and theorems about lines and angles. Solve mathematical and real-world problems involving postulates, relationships, and theorems of lines and angles.</a:t>
            </a:r>
          </a:p>
          <a:p>
            <a:pPr marL="95250" indent="0">
              <a:buNone/>
            </a:pPr>
            <a:r>
              <a:rPr lang="en-US" sz="2400" dirty="0">
                <a:latin typeface="Verdana" charset="0"/>
                <a:ea typeface="Verdana" charset="0"/>
                <a:cs typeface="Verdana" charset="0"/>
              </a:rPr>
              <a:t> </a:t>
            </a:r>
          </a:p>
          <a:p>
            <a:pPr marL="95250" indent="0">
              <a:buNone/>
            </a:pPr>
            <a:r>
              <a:rPr lang="en-US" sz="2400" dirty="0">
                <a:latin typeface="Verdana" charset="0"/>
                <a:ea typeface="Verdana" charset="0"/>
                <a:cs typeface="Verdana" charset="0"/>
              </a:rPr>
              <a:t>MA.912.LT.4.10 </a:t>
            </a:r>
          </a:p>
          <a:p>
            <a:pPr marL="463550" indent="0">
              <a:buNone/>
            </a:pPr>
            <a:r>
              <a:rPr lang="en-US" sz="2400" dirty="0">
                <a:latin typeface="Verdana" charset="0"/>
                <a:ea typeface="Verdana" charset="0"/>
                <a:cs typeface="Verdana" charset="0"/>
              </a:rPr>
              <a:t>Judge the validity of arguments and give counterexamples to disprove statements.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1" name="Google Shape;281;g104476d1465_1_17"/>
          <p:cNvPicPr preferRelativeResize="0"/>
          <p:nvPr/>
        </p:nvPicPr>
        <p:blipFill>
          <a:blip r:embed="rId3">
            <a:alphaModFix/>
          </a:blip>
          <a:stretch>
            <a:fillRect/>
          </a:stretch>
        </p:blipFill>
        <p:spPr>
          <a:xfrm>
            <a:off x="300550" y="380525"/>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25199" y="137892"/>
            <a:ext cx="850549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169</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101760" y="1604615"/>
            <a:ext cx="1042216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9" name="Google Shape;278;g104476d1465_1_17">
            <a:extLst>
              <a:ext uri="{FF2B5EF4-FFF2-40B4-BE49-F238E27FC236}">
                <a16:creationId xmlns:a16="http://schemas.microsoft.com/office/drawing/2014/main" id="{0EC4A24D-AC58-5143-9A1A-1E71E28DFCF5}"/>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13375" y="38885"/>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31213" y="328085"/>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169</a:t>
            </a: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514000" y="1608425"/>
            <a:ext cx="1111415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Font typeface="Wingdings" charset="2"/>
              <a:buChar char="q"/>
            </a:pPr>
            <a:r>
              <a:rPr lang="en-US" sz="2400" dirty="0">
                <a:latin typeface="Verdana" charset="0"/>
                <a:ea typeface="Verdana" charset="0"/>
                <a:cs typeface="Verdana" charset="0"/>
              </a:rPr>
              <a:t>I can prove relationships using parallel lines and their transversals.  </a:t>
            </a:r>
          </a:p>
        </p:txBody>
      </p:sp>
      <p:sp>
        <p:nvSpPr>
          <p:cNvPr id="8" name="Google Shape;278;g104476d1465_1_17">
            <a:extLst>
              <a:ext uri="{FF2B5EF4-FFF2-40B4-BE49-F238E27FC236}">
                <a16:creationId xmlns:a16="http://schemas.microsoft.com/office/drawing/2014/main" id="{7BA09A98-EDA0-5343-AD77-8F8E8C4F0E72}"/>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170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4596"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52650" y="-34687"/>
            <a:ext cx="1008238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3.9.1 Warm-Up: Notice and Wonder</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05350" y="205710"/>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6370"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170</a:t>
            </a:r>
          </a:p>
        </p:txBody>
      </p:sp>
      <p:sp>
        <p:nvSpPr>
          <p:cNvPr id="2" name="TextBox 1">
            <a:extLst>
              <a:ext uri="{FF2B5EF4-FFF2-40B4-BE49-F238E27FC236}">
                <a16:creationId xmlns:a16="http://schemas.microsoft.com/office/drawing/2014/main" id="{E1D7562E-134F-D14B-AF1A-DF40E11EF758}"/>
              </a:ext>
            </a:extLst>
          </p:cNvPr>
          <p:cNvSpPr txBox="1"/>
          <p:nvPr/>
        </p:nvSpPr>
        <p:spPr>
          <a:xfrm>
            <a:off x="593248" y="1394250"/>
            <a:ext cx="8327136" cy="4093428"/>
          </a:xfrm>
          <a:prstGeom prst="rect">
            <a:avLst/>
          </a:prstGeom>
          <a:noFill/>
        </p:spPr>
        <p:txBody>
          <a:bodyPr wrap="square" rtlCol="0">
            <a:spAutoFit/>
          </a:bodyPr>
          <a:lstStyle/>
          <a:p>
            <a:r>
              <a:rPr lang="en-US" sz="2000" dirty="0">
                <a:latin typeface="Verdana" charset="0"/>
                <a:ea typeface="Verdana" charset="0"/>
                <a:cs typeface="Verdana" charset="0"/>
              </a:rPr>
              <a:t>A photo of ant hills taken in Gainesville, Florida is shown.</a:t>
            </a:r>
          </a:p>
          <a:p>
            <a:r>
              <a:rPr lang="en-US" sz="2000" dirty="0">
                <a:latin typeface="Verdana" charset="0"/>
                <a:ea typeface="Verdana" charset="0"/>
                <a:cs typeface="Verdana" charset="0"/>
              </a:rPr>
              <a:t> </a:t>
            </a:r>
          </a:p>
          <a:p>
            <a:pPr marL="457200" indent="-457200">
              <a:buFont typeface="+mj-lt"/>
              <a:buAutoNum type="arabicPeriod"/>
            </a:pPr>
            <a:r>
              <a:rPr lang="en-US" sz="2000" dirty="0">
                <a:latin typeface="Verdana" charset="0"/>
                <a:ea typeface="Verdana" charset="0"/>
                <a:cs typeface="Verdana" charset="0"/>
              </a:rPr>
              <a:t>What do you notice?</a:t>
            </a: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r>
              <a:rPr lang="en-US" sz="2000" dirty="0">
                <a:latin typeface="Verdana" charset="0"/>
                <a:ea typeface="Verdana" charset="0"/>
                <a:cs typeface="Verdana" charset="0"/>
              </a:rPr>
              <a:t>What do you wonder?</a:t>
            </a: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r>
              <a:rPr lang="en-US" sz="2000" dirty="0">
                <a:latin typeface="Verdana" charset="0"/>
                <a:ea typeface="Verdana" charset="0"/>
                <a:cs typeface="Verdana" charset="0"/>
              </a:rPr>
              <a:t>Write a caption for the photo. </a:t>
            </a:r>
          </a:p>
        </p:txBody>
      </p:sp>
      <p:sp>
        <p:nvSpPr>
          <p:cNvPr id="9" name="Google Shape;278;g104476d1465_1_17">
            <a:extLst>
              <a:ext uri="{FF2B5EF4-FFF2-40B4-BE49-F238E27FC236}">
                <a16:creationId xmlns:a16="http://schemas.microsoft.com/office/drawing/2014/main" id="{C2564F7E-689E-724F-BBC4-EC8DFC52E66C}"/>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848694" y="2147007"/>
            <a:ext cx="3741678" cy="3781911"/>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170</a:t>
            </a:r>
          </a:p>
        </p:txBody>
      </p:sp>
      <p:pic>
        <p:nvPicPr>
          <p:cNvPr id="5122" name="Picture 2" descr="Icon&#10;&#10;Description automatically generated">
            <a:extLst>
              <a:ext uri="{FF2B5EF4-FFF2-40B4-BE49-F238E27FC236}">
                <a16:creationId xmlns:a16="http://schemas.microsoft.com/office/drawing/2014/main" id="{217F3A92-AA2C-4D41-A73D-4DC6608D6820}"/>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520890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04689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52650" y="6855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3.9.2 Activity: Card Sort</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170</a:t>
            </a:r>
          </a:p>
        </p:txBody>
      </p:sp>
      <p:pic>
        <p:nvPicPr>
          <p:cNvPr id="9" name="Picture 2" descr="Icon&#10;&#10;Description automatically generated">
            <a:extLst>
              <a:ext uri="{FF2B5EF4-FFF2-40B4-BE49-F238E27FC236}">
                <a16:creationId xmlns:a16="http://schemas.microsoft.com/office/drawing/2014/main" id="{37999C4E-6AE0-FA43-BC73-665C08EC572F}"/>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02842" y="356496"/>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A3547ABD-563B-A148-B65C-C7679A7B43D4}"/>
              </a:ext>
            </a:extLst>
          </p:cNvPr>
          <p:cNvSpPr txBox="1"/>
          <p:nvPr/>
        </p:nvSpPr>
        <p:spPr>
          <a:xfrm>
            <a:off x="593249" y="1394251"/>
            <a:ext cx="5217616" cy="1323439"/>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With your group, sort through the statements and reasons for each proof. Then, write each proof in the tables provided. </a:t>
            </a:r>
          </a:p>
        </p:txBody>
      </p:sp>
      <p:sp>
        <p:nvSpPr>
          <p:cNvPr id="11" name="Google Shape;278;g104476d1465_1_17">
            <a:extLst>
              <a:ext uri="{FF2B5EF4-FFF2-40B4-BE49-F238E27FC236}">
                <a16:creationId xmlns:a16="http://schemas.microsoft.com/office/drawing/2014/main" id="{52361296-D9C8-B349-AAC1-3DD5FF74197C}"/>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772224519"/>
                  </p:ext>
                </p:extLst>
              </p:nvPr>
            </p:nvGraphicFramePr>
            <p:xfrm>
              <a:off x="6096000" y="1394250"/>
              <a:ext cx="5029315" cy="4804469"/>
            </p:xfrm>
            <a:graphic>
              <a:graphicData uri="http://schemas.openxmlformats.org/drawingml/2006/table">
                <a:tbl>
                  <a:tblPr firstRow="1" firstCol="1" bandRow="1"/>
                  <a:tblGrid>
                    <a:gridCol w="2342665">
                      <a:extLst>
                        <a:ext uri="{9D8B030D-6E8A-4147-A177-3AD203B41FA5}">
                          <a16:colId xmlns:a16="http://schemas.microsoft.com/office/drawing/2014/main" val="20000"/>
                        </a:ext>
                      </a:extLst>
                    </a:gridCol>
                    <a:gridCol w="2686650">
                      <a:extLst>
                        <a:ext uri="{9D8B030D-6E8A-4147-A177-3AD203B41FA5}">
                          <a16:colId xmlns:a16="http://schemas.microsoft.com/office/drawing/2014/main" val="20001"/>
                        </a:ext>
                      </a:extLst>
                    </a:gridCol>
                  </a:tblGrid>
                  <a:tr h="378657">
                    <a:tc gridSpan="2">
                      <a:txBody>
                        <a:bodyPr/>
                        <a:lstStyle/>
                        <a:p>
                          <a:pPr marL="0" marR="0" algn="ctr">
                            <a:spcBef>
                              <a:spcPts val="0"/>
                            </a:spcBef>
                            <a:spcAft>
                              <a:spcPts val="0"/>
                            </a:spcAft>
                          </a:pPr>
                          <a:r>
                            <a:rPr lang="en-US" sz="2000" b="1" dirty="0">
                              <a:effectLst/>
                              <a:latin typeface="Verdana" charset="0"/>
                              <a:ea typeface="Times New Roman" charset="0"/>
                              <a:cs typeface="Times New Roman" charset="0"/>
                            </a:rPr>
                            <a:t>Proof A</a:t>
                          </a:r>
                          <a:endParaRPr lang="en-US" sz="2000" dirty="0">
                            <a:effectLst/>
                            <a:latin typeface="Cambria" charset="0"/>
                            <a:ea typeface="Times New Roman" charset="0"/>
                            <a:cs typeface="Times New Roman" charset="0"/>
                          </a:endParaRPr>
                        </a:p>
                      </a:txBody>
                      <a:tcPr marL="37322" marR="373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val="10000"/>
                      </a:ext>
                    </a:extLst>
                  </a:tr>
                  <a:tr h="2153870">
                    <a:tc gridSpan="2">
                      <a:txBody>
                        <a:bodyPr/>
                        <a:lstStyle/>
                        <a:p>
                          <a:pPr marL="0" marR="0">
                            <a:spcBef>
                              <a:spcPts val="0"/>
                            </a:spcBef>
                            <a:spcAft>
                              <a:spcPts val="0"/>
                            </a:spcAft>
                          </a:pPr>
                          <a:r>
                            <a:rPr lang="en-US" sz="2000" dirty="0">
                              <a:effectLst/>
                              <a:latin typeface="Verdana" charset="0"/>
                              <a:ea typeface="Times New Roman" charset="0"/>
                              <a:cs typeface="Times New Roman" charset="0"/>
                            </a:rPr>
                            <a:t>Given:</a:t>
                          </a:r>
                          <a14:m>
                            <m:oMath xmlns:m="http://schemas.openxmlformats.org/officeDocument/2006/math">
                              <m:acc>
                                <m:accPr>
                                  <m:chr m:val="⃡"/>
                                  <m:ctrlPr>
                                    <a:rPr lang="en-US" sz="2000" i="1">
                                      <a:effectLst/>
                                      <a:latin typeface="Cambria Math" panose="02040503050406030204" pitchFamily="18" charset="0"/>
                                      <a:ea typeface="Cambria" charset="0"/>
                                      <a:cs typeface="Times New Roman" charset="0"/>
                                    </a:rPr>
                                  </m:ctrlPr>
                                </m:accPr>
                                <m:e>
                                  <m:r>
                                    <a:rPr lang="en-US" sz="2000" i="1">
                                      <a:effectLst/>
                                      <a:latin typeface="Cambria Math" charset="0"/>
                                      <a:ea typeface="Times New Roman" charset="0"/>
                                      <a:cs typeface="Times New Roman" charset="0"/>
                                    </a:rPr>
                                    <m:t>𝑊𝑍</m:t>
                                  </m:r>
                                </m:e>
                              </m:acc>
                              <m:r>
                                <a:rPr lang="en-US" sz="2000" i="1">
                                  <a:effectLst/>
                                  <a:latin typeface="Cambria Math" charset="0"/>
                                  <a:ea typeface="Times New Roman" charset="0"/>
                                  <a:cs typeface="Times New Roman" charset="0"/>
                                </a:rPr>
                                <m:t>∥</m:t>
                              </m:r>
                              <m:acc>
                                <m:accPr>
                                  <m:chr m:val="⃡"/>
                                  <m:ctrlPr>
                                    <a:rPr lang="en-US" sz="2000" i="1">
                                      <a:effectLst/>
                                      <a:latin typeface="Cambria Math" panose="02040503050406030204" pitchFamily="18" charset="0"/>
                                      <a:ea typeface="Cambria" charset="0"/>
                                      <a:cs typeface="Times New Roman" charset="0"/>
                                    </a:rPr>
                                  </m:ctrlPr>
                                </m:accPr>
                                <m:e>
                                  <m:r>
                                    <a:rPr lang="en-US" sz="2000" i="1">
                                      <a:effectLst/>
                                      <a:latin typeface="Cambria Math" charset="0"/>
                                      <a:ea typeface="Times New Roman" charset="0"/>
                                      <a:cs typeface="Times New Roman" charset="0"/>
                                    </a:rPr>
                                    <m:t>𝐴𝑁</m:t>
                                  </m:r>
                                </m:e>
                              </m:acc>
                            </m:oMath>
                          </a14:m>
                          <a:r>
                            <a:rPr lang="en-US" sz="2000" dirty="0">
                              <a:effectLst/>
                              <a:latin typeface="Verdana" charset="0"/>
                              <a:ea typeface="Times New Roman" charset="0"/>
                              <a:cs typeface="Times New Roman" charset="0"/>
                            </a:rPr>
                            <a:t>, </a:t>
                          </a:r>
                          <a:endParaRPr lang="en-US" sz="2000" dirty="0">
                            <a:effectLst/>
                            <a:latin typeface="Cambria" charset="0"/>
                            <a:ea typeface="Times New Roman" charset="0"/>
                            <a:cs typeface="Times New Roman" charset="0"/>
                          </a:endParaRPr>
                        </a:p>
                        <a:p>
                          <a:pPr marL="0" marR="0">
                            <a:spcBef>
                              <a:spcPts val="0"/>
                            </a:spcBef>
                            <a:spcAft>
                              <a:spcPts val="0"/>
                            </a:spcAft>
                          </a:pPr>
                          <a14:m>
                            <m:oMathPara xmlns:m="http://schemas.openxmlformats.org/officeDocument/2006/math">
                              <m:oMathParaPr>
                                <m:jc m:val="left"/>
                              </m:oMathParaPr>
                              <m:oMath xmlns:m="http://schemas.openxmlformats.org/officeDocument/2006/math">
                                <m:r>
                                  <a:rPr lang="en-US" sz="2000" i="1">
                                    <a:effectLst/>
                                    <a:latin typeface="Cambria Math" charset="0"/>
                                    <a:ea typeface="Times New Roman" charset="0"/>
                                    <a:cs typeface="Times New Roman" charset="0"/>
                                  </a:rPr>
                                  <m:t>∠</m:t>
                                </m:r>
                                <m:r>
                                  <a:rPr lang="en-US" sz="2000" i="1">
                                    <a:effectLst/>
                                    <a:latin typeface="Cambria Math" charset="0"/>
                                    <a:ea typeface="Times New Roman" charset="0"/>
                                    <a:cs typeface="Times New Roman" charset="0"/>
                                  </a:rPr>
                                  <m:t>𝑊𝐶𝑌</m:t>
                                </m:r>
                                <m:r>
                                  <a:rPr lang="en-US" sz="2000" i="1">
                                    <a:effectLst/>
                                    <a:latin typeface="Cambria Math" charset="0"/>
                                    <a:ea typeface="Times New Roman" charset="0"/>
                                    <a:cs typeface="Times New Roman" charset="0"/>
                                  </a:rPr>
                                  <m:t>≅∠</m:t>
                                </m:r>
                                <m:r>
                                  <a:rPr lang="en-US" sz="2000" i="1">
                                    <a:effectLst/>
                                    <a:latin typeface="Cambria Math" charset="0"/>
                                    <a:ea typeface="Times New Roman" charset="0"/>
                                    <a:cs typeface="Times New Roman" charset="0"/>
                                  </a:rPr>
                                  <m:t>𝑌𝐺𝐻</m:t>
                                </m:r>
                              </m:oMath>
                            </m:oMathPara>
                          </a14:m>
                          <a:endParaRPr lang="en-US" sz="2000" dirty="0">
                            <a:effectLst/>
                            <a:latin typeface="Cambria" charset="0"/>
                            <a:ea typeface="Times New Roman" charset="0"/>
                            <a:cs typeface="Times New Roman" charset="0"/>
                          </a:endParaRPr>
                        </a:p>
                        <a:p>
                          <a:pPr marL="0" marR="0" algn="ctr">
                            <a:spcBef>
                              <a:spcPts val="0"/>
                            </a:spcBef>
                            <a:spcAft>
                              <a:spcPts val="0"/>
                            </a:spcAft>
                          </a:pPr>
                          <a:r>
                            <a:rPr lang="en-US" sz="2000" dirty="0">
                              <a:effectLst/>
                              <a:latin typeface="Cambria" charset="0"/>
                              <a:ea typeface="Times New Roman" charset="0"/>
                              <a:cs typeface="Times New Roman" charset="0"/>
                            </a:rPr>
                            <a:t> </a:t>
                          </a:r>
                        </a:p>
                        <a:p>
                          <a:pPr marL="0" marR="0">
                            <a:spcBef>
                              <a:spcPts val="0"/>
                            </a:spcBef>
                            <a:spcAft>
                              <a:spcPts val="0"/>
                            </a:spcAft>
                          </a:pPr>
                          <a:r>
                            <a:rPr lang="en-US" sz="2000" dirty="0">
                              <a:effectLst/>
                              <a:latin typeface="Verdana" charset="0"/>
                              <a:ea typeface="Times New Roman" charset="0"/>
                              <a:cs typeface="Times New Roman" charset="0"/>
                            </a:rPr>
                            <a:t>Prove: </a:t>
                          </a:r>
                          <a14:m>
                            <m:oMath xmlns:m="http://schemas.openxmlformats.org/officeDocument/2006/math">
                              <m:acc>
                                <m:accPr>
                                  <m:chr m:val="⃡"/>
                                  <m:ctrlPr>
                                    <a:rPr lang="en-US" sz="2000" i="1">
                                      <a:effectLst/>
                                      <a:latin typeface="Cambria Math" panose="02040503050406030204" pitchFamily="18" charset="0"/>
                                      <a:ea typeface="Cambria" charset="0"/>
                                      <a:cs typeface="Times New Roman" charset="0"/>
                                    </a:rPr>
                                  </m:ctrlPr>
                                </m:accPr>
                                <m:e>
                                  <m:r>
                                    <a:rPr lang="en-US" sz="2000" i="1">
                                      <a:effectLst/>
                                      <a:latin typeface="Cambria Math" charset="0"/>
                                      <a:ea typeface="Times New Roman" charset="0"/>
                                      <a:cs typeface="Times New Roman" charset="0"/>
                                    </a:rPr>
                                    <m:t>𝑃𝑇</m:t>
                                  </m:r>
                                </m:e>
                              </m:acc>
                              <m:r>
                                <a:rPr lang="en-US" sz="2000" i="1">
                                  <a:effectLst/>
                                  <a:latin typeface="Cambria Math" charset="0"/>
                                  <a:ea typeface="Times New Roman" charset="0"/>
                                  <a:cs typeface="Times New Roman" charset="0"/>
                                </a:rPr>
                                <m:t>∥</m:t>
                              </m:r>
                              <m:acc>
                                <m:accPr>
                                  <m:chr m:val="⃡"/>
                                  <m:ctrlPr>
                                    <a:rPr lang="en-US" sz="2000" i="1">
                                      <a:effectLst/>
                                      <a:latin typeface="Cambria Math" panose="02040503050406030204" pitchFamily="18" charset="0"/>
                                      <a:ea typeface="Cambria" charset="0"/>
                                      <a:cs typeface="Times New Roman" charset="0"/>
                                    </a:rPr>
                                  </m:ctrlPr>
                                </m:accPr>
                                <m:e>
                                  <m:r>
                                    <a:rPr lang="en-US" sz="2000" i="1">
                                      <a:effectLst/>
                                      <a:latin typeface="Cambria Math" charset="0"/>
                                      <a:ea typeface="Times New Roman" charset="0"/>
                                      <a:cs typeface="Times New Roman" charset="0"/>
                                    </a:rPr>
                                    <m:t>𝑅𝐻</m:t>
                                  </m:r>
                                </m:e>
                              </m:acc>
                            </m:oMath>
                          </a14:m>
                          <a:endParaRPr lang="en-US" sz="2000" dirty="0">
                            <a:effectLst/>
                            <a:latin typeface="Cambria" charset="0"/>
                            <a:ea typeface="Times New Roman" charset="0"/>
                            <a:cs typeface="Times New Roman" charset="0"/>
                          </a:endParaRPr>
                        </a:p>
                      </a:txBody>
                      <a:tcPr marL="37322" marR="373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1"/>
                      </a:ext>
                    </a:extLst>
                  </a:tr>
                  <a:tr h="378657">
                    <a:tc>
                      <a:txBody>
                        <a:bodyPr/>
                        <a:lstStyle/>
                        <a:p>
                          <a:pPr marL="0" marR="0" algn="ctr">
                            <a:spcBef>
                              <a:spcPts val="0"/>
                            </a:spcBef>
                            <a:spcAft>
                              <a:spcPts val="0"/>
                            </a:spcAft>
                          </a:pPr>
                          <a:r>
                            <a:rPr lang="en-US" sz="2000" b="1">
                              <a:effectLst/>
                              <a:latin typeface="Verdana" charset="0"/>
                              <a:ea typeface="Times New Roman" charset="0"/>
                              <a:cs typeface="Times New Roman" charset="0"/>
                            </a:rPr>
                            <a:t>Statement</a:t>
                          </a:r>
                          <a:endParaRPr lang="en-US" sz="2000">
                            <a:effectLst/>
                            <a:latin typeface="Cambria" charset="0"/>
                            <a:ea typeface="Times New Roman" charset="0"/>
                            <a:cs typeface="Times New Roman" charset="0"/>
                          </a:endParaRPr>
                        </a:p>
                      </a:txBody>
                      <a:tcPr marL="37322" marR="373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Times New Roman" charset="0"/>
                              <a:cs typeface="Times New Roman" charset="0"/>
                            </a:rPr>
                            <a:t>Reason</a:t>
                          </a:r>
                          <a:endParaRPr lang="en-US" sz="2000">
                            <a:effectLst/>
                            <a:latin typeface="Cambria" charset="0"/>
                            <a:ea typeface="Times New Roman" charset="0"/>
                            <a:cs typeface="Times New Roman" charset="0"/>
                          </a:endParaRPr>
                        </a:p>
                      </a:txBody>
                      <a:tcPr marL="37322" marR="373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2"/>
                      </a:ext>
                    </a:extLst>
                  </a:tr>
                  <a:tr h="378657">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37322" marR="373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37322" marR="373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78657">
                    <a:tc>
                      <a:txBody>
                        <a:bodyPr/>
                        <a:lstStyle/>
                        <a:p>
                          <a:pPr marL="0" marR="0">
                            <a:spcBef>
                              <a:spcPts val="0"/>
                            </a:spcBef>
                            <a:spcAft>
                              <a:spcPts val="0"/>
                            </a:spcAft>
                          </a:pPr>
                          <a:r>
                            <a:rPr lang="en-US" sz="2000" dirty="0">
                              <a:effectLst/>
                              <a:latin typeface="Verdana" charset="0"/>
                              <a:ea typeface="Times New Roman" charset="0"/>
                              <a:cs typeface="Times New Roman" charset="0"/>
                            </a:rPr>
                            <a:t> </a:t>
                          </a:r>
                          <a:endParaRPr lang="en-US" sz="2000" dirty="0">
                            <a:effectLst/>
                            <a:latin typeface="Cambria" charset="0"/>
                            <a:ea typeface="Times New Roman" charset="0"/>
                            <a:cs typeface="Times New Roman" charset="0"/>
                          </a:endParaRPr>
                        </a:p>
                      </a:txBody>
                      <a:tcPr marL="37322" marR="373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37322" marR="373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78657">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37322" marR="373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37322" marR="373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78657">
                    <a:tc>
                      <a:txBody>
                        <a:bodyPr/>
                        <a:lstStyle/>
                        <a:p>
                          <a:pPr marL="0" marR="0" algn="ctr">
                            <a:spcBef>
                              <a:spcPts val="0"/>
                            </a:spcBef>
                            <a:spcAft>
                              <a:spcPts val="0"/>
                            </a:spcAft>
                          </a:pPr>
                          <a:r>
                            <a:rPr lang="en-US" sz="2000" dirty="0">
                              <a:effectLst/>
                              <a:latin typeface="Verdana" charset="0"/>
                              <a:ea typeface="Times New Roman" charset="0"/>
                              <a:cs typeface="Times New Roman" charset="0"/>
                            </a:rPr>
                            <a:t> </a:t>
                          </a:r>
                          <a:endParaRPr lang="en-US" sz="2000" dirty="0">
                            <a:effectLst/>
                            <a:latin typeface="Cambria" charset="0"/>
                            <a:ea typeface="Times New Roman" charset="0"/>
                            <a:cs typeface="Times New Roman" charset="0"/>
                          </a:endParaRPr>
                        </a:p>
                      </a:txBody>
                      <a:tcPr marL="37322" marR="373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37322" marR="373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78657">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37322" marR="373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Times New Roman" charset="0"/>
                              <a:cs typeface="Times New Roman" charset="0"/>
                            </a:rPr>
                            <a:t> </a:t>
                          </a:r>
                          <a:endParaRPr lang="en-US" sz="2000" dirty="0">
                            <a:effectLst/>
                            <a:latin typeface="Cambria" charset="0"/>
                            <a:ea typeface="Times New Roman" charset="0"/>
                            <a:cs typeface="Times New Roman" charset="0"/>
                          </a:endParaRPr>
                        </a:p>
                      </a:txBody>
                      <a:tcPr marL="37322" marR="373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772224519"/>
                  </p:ext>
                </p:extLst>
              </p:nvPr>
            </p:nvGraphicFramePr>
            <p:xfrm>
              <a:off x="6096000" y="1394250"/>
              <a:ext cx="5029315" cy="4804469"/>
            </p:xfrm>
            <a:graphic>
              <a:graphicData uri="http://schemas.openxmlformats.org/drawingml/2006/table">
                <a:tbl>
                  <a:tblPr firstRow="1" firstCol="1" bandRow="1"/>
                  <a:tblGrid>
                    <a:gridCol w="2342665">
                      <a:extLst>
                        <a:ext uri="{9D8B030D-6E8A-4147-A177-3AD203B41FA5}">
                          <a16:colId xmlns:a16="http://schemas.microsoft.com/office/drawing/2014/main" val="20000"/>
                        </a:ext>
                      </a:extLst>
                    </a:gridCol>
                    <a:gridCol w="2686650">
                      <a:extLst>
                        <a:ext uri="{9D8B030D-6E8A-4147-A177-3AD203B41FA5}">
                          <a16:colId xmlns:a16="http://schemas.microsoft.com/office/drawing/2014/main" val="20001"/>
                        </a:ext>
                      </a:extLst>
                    </a:gridCol>
                  </a:tblGrid>
                  <a:tr h="378657">
                    <a:tc gridSpan="2">
                      <a:txBody>
                        <a:bodyPr/>
                        <a:lstStyle/>
                        <a:p>
                          <a:pPr marL="0" marR="0" algn="ctr">
                            <a:spcBef>
                              <a:spcPts val="0"/>
                            </a:spcBef>
                            <a:spcAft>
                              <a:spcPts val="0"/>
                            </a:spcAft>
                          </a:pPr>
                          <a:r>
                            <a:rPr lang="en-US" sz="2000" b="1" dirty="0">
                              <a:effectLst/>
                              <a:latin typeface="Verdana" charset="0"/>
                              <a:ea typeface="Times New Roman" charset="0"/>
                              <a:cs typeface="Times New Roman" charset="0"/>
                            </a:rPr>
                            <a:t>Proof A</a:t>
                          </a:r>
                          <a:endParaRPr lang="en-US" sz="2000" dirty="0">
                            <a:effectLst/>
                            <a:latin typeface="Cambria" charset="0"/>
                            <a:ea typeface="Times New Roman" charset="0"/>
                            <a:cs typeface="Times New Roman" charset="0"/>
                          </a:endParaRPr>
                        </a:p>
                      </a:txBody>
                      <a:tcPr marL="37322" marR="373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val="10000"/>
                      </a:ext>
                    </a:extLst>
                  </a:tr>
                  <a:tr h="2153870">
                    <a:tc gridSpan="2">
                      <a:txBody>
                        <a:bodyPr/>
                        <a:lstStyle/>
                        <a:p>
                          <a:endParaRPr lang="en-US"/>
                        </a:p>
                      </a:txBody>
                      <a:tcPr marL="37322" marR="373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42" t="-19209" r="-242" b="-105932"/>
                          </a:stretch>
                        </a:blipFill>
                      </a:tcPr>
                    </a:tc>
                    <a:tc hMerge="1">
                      <a:txBody>
                        <a:bodyPr/>
                        <a:lstStyle/>
                        <a:p>
                          <a:endParaRPr lang="en-US"/>
                        </a:p>
                      </a:txBody>
                      <a:tcPr/>
                    </a:tc>
                    <a:extLst>
                      <a:ext uri="{0D108BD9-81ED-4DB2-BD59-A6C34878D82A}">
                        <a16:rowId xmlns:a16="http://schemas.microsoft.com/office/drawing/2014/main" val="10001"/>
                      </a:ext>
                    </a:extLst>
                  </a:tr>
                  <a:tr h="378657">
                    <a:tc>
                      <a:txBody>
                        <a:bodyPr/>
                        <a:lstStyle/>
                        <a:p>
                          <a:pPr marL="0" marR="0" algn="ctr">
                            <a:spcBef>
                              <a:spcPts val="0"/>
                            </a:spcBef>
                            <a:spcAft>
                              <a:spcPts val="0"/>
                            </a:spcAft>
                          </a:pPr>
                          <a:r>
                            <a:rPr lang="en-US" sz="2000" b="1">
                              <a:effectLst/>
                              <a:latin typeface="Verdana" charset="0"/>
                              <a:ea typeface="Times New Roman" charset="0"/>
                              <a:cs typeface="Times New Roman" charset="0"/>
                            </a:rPr>
                            <a:t>Statement</a:t>
                          </a:r>
                          <a:endParaRPr lang="en-US" sz="2000">
                            <a:effectLst/>
                            <a:latin typeface="Cambria" charset="0"/>
                            <a:ea typeface="Times New Roman" charset="0"/>
                            <a:cs typeface="Times New Roman" charset="0"/>
                          </a:endParaRPr>
                        </a:p>
                      </a:txBody>
                      <a:tcPr marL="37322" marR="373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Times New Roman" charset="0"/>
                              <a:cs typeface="Times New Roman" charset="0"/>
                            </a:rPr>
                            <a:t>Reason</a:t>
                          </a:r>
                          <a:endParaRPr lang="en-US" sz="2000">
                            <a:effectLst/>
                            <a:latin typeface="Cambria" charset="0"/>
                            <a:ea typeface="Times New Roman" charset="0"/>
                            <a:cs typeface="Times New Roman" charset="0"/>
                          </a:endParaRPr>
                        </a:p>
                      </a:txBody>
                      <a:tcPr marL="37322" marR="373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2"/>
                      </a:ext>
                    </a:extLst>
                  </a:tr>
                  <a:tr h="378657">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37322" marR="373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37322" marR="373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78657">
                    <a:tc>
                      <a:txBody>
                        <a:bodyPr/>
                        <a:lstStyle/>
                        <a:p>
                          <a:pPr marL="0" marR="0">
                            <a:spcBef>
                              <a:spcPts val="0"/>
                            </a:spcBef>
                            <a:spcAft>
                              <a:spcPts val="0"/>
                            </a:spcAft>
                          </a:pPr>
                          <a:r>
                            <a:rPr lang="en-US" sz="2000" dirty="0">
                              <a:effectLst/>
                              <a:latin typeface="Verdana" charset="0"/>
                              <a:ea typeface="Times New Roman" charset="0"/>
                              <a:cs typeface="Times New Roman" charset="0"/>
                            </a:rPr>
                            <a:t> </a:t>
                          </a:r>
                          <a:endParaRPr lang="en-US" sz="2000" dirty="0">
                            <a:effectLst/>
                            <a:latin typeface="Cambria" charset="0"/>
                            <a:ea typeface="Times New Roman" charset="0"/>
                            <a:cs typeface="Times New Roman" charset="0"/>
                          </a:endParaRPr>
                        </a:p>
                      </a:txBody>
                      <a:tcPr marL="37322" marR="373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37322" marR="373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78657">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37322" marR="373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37322" marR="373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78657">
                    <a:tc>
                      <a:txBody>
                        <a:bodyPr/>
                        <a:lstStyle/>
                        <a:p>
                          <a:pPr marL="0" marR="0" algn="ctr">
                            <a:spcBef>
                              <a:spcPts val="0"/>
                            </a:spcBef>
                            <a:spcAft>
                              <a:spcPts val="0"/>
                            </a:spcAft>
                          </a:pPr>
                          <a:r>
                            <a:rPr lang="en-US" sz="2000" dirty="0">
                              <a:effectLst/>
                              <a:latin typeface="Verdana" charset="0"/>
                              <a:ea typeface="Times New Roman" charset="0"/>
                              <a:cs typeface="Times New Roman" charset="0"/>
                            </a:rPr>
                            <a:t> </a:t>
                          </a:r>
                          <a:endParaRPr lang="en-US" sz="2000" dirty="0">
                            <a:effectLst/>
                            <a:latin typeface="Cambria" charset="0"/>
                            <a:ea typeface="Times New Roman" charset="0"/>
                            <a:cs typeface="Times New Roman" charset="0"/>
                          </a:endParaRPr>
                        </a:p>
                      </a:txBody>
                      <a:tcPr marL="37322" marR="373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37322" marR="373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78657">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37322" marR="373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Times New Roman" charset="0"/>
                              <a:cs typeface="Times New Roman" charset="0"/>
                            </a:rPr>
                            <a:t> </a:t>
                          </a:r>
                          <a:endParaRPr lang="en-US" sz="2000" dirty="0">
                            <a:effectLst/>
                            <a:latin typeface="Cambria" charset="0"/>
                            <a:ea typeface="Times New Roman" charset="0"/>
                            <a:cs typeface="Times New Roman" charset="0"/>
                          </a:endParaRPr>
                        </a:p>
                      </a:txBody>
                      <a:tcPr marL="37322" marR="373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mc:Fallback>
      </mc:AlternateContent>
      <p:pic>
        <p:nvPicPr>
          <p:cNvPr id="1025" name="Picture 2"/>
          <p:cNvPicPr>
            <a:picLocks noChangeAspect="1" noChangeArrowheads="1"/>
          </p:cNvPicPr>
          <p:nvPr/>
        </p:nvPicPr>
        <p:blipFill>
          <a:blip r:embed="rId6" cstate="screen">
            <a:extLst>
              <a:ext uri="{28A0092B-C50C-407E-A947-70E740481C1C}">
                <a14:useLocalDpi xmlns:a14="http://schemas.microsoft.com/office/drawing/2010/main"/>
              </a:ext>
            </a:extLst>
          </a:blip>
          <a:srcRect l="6689" r="9483" b="6367"/>
          <a:stretch>
            <a:fillRect/>
          </a:stretch>
        </p:blipFill>
        <p:spPr bwMode="auto">
          <a:xfrm>
            <a:off x="8602071" y="1829760"/>
            <a:ext cx="2380803" cy="20446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83021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6737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171</a:t>
            </a:r>
          </a:p>
        </p:txBody>
      </p:sp>
      <p:sp>
        <p:nvSpPr>
          <p:cNvPr id="6" name="Google Shape;278;g104476d1465_1_17">
            <a:extLst>
              <a:ext uri="{FF2B5EF4-FFF2-40B4-BE49-F238E27FC236}">
                <a16:creationId xmlns:a16="http://schemas.microsoft.com/office/drawing/2014/main" id="{44C210D6-0F1D-3545-B73D-9B9FC6EA0352}"/>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723395521"/>
                  </p:ext>
                </p:extLst>
              </p:nvPr>
            </p:nvGraphicFramePr>
            <p:xfrm>
              <a:off x="688452" y="330515"/>
              <a:ext cx="7793099" cy="6144036"/>
            </p:xfrm>
            <a:graphic>
              <a:graphicData uri="http://schemas.openxmlformats.org/drawingml/2006/table">
                <a:tbl>
                  <a:tblPr firstRow="1" firstCol="1" bandRow="1"/>
                  <a:tblGrid>
                    <a:gridCol w="3894376">
                      <a:extLst>
                        <a:ext uri="{9D8B030D-6E8A-4147-A177-3AD203B41FA5}">
                          <a16:colId xmlns:a16="http://schemas.microsoft.com/office/drawing/2014/main" val="20000"/>
                        </a:ext>
                      </a:extLst>
                    </a:gridCol>
                    <a:gridCol w="3898723">
                      <a:extLst>
                        <a:ext uri="{9D8B030D-6E8A-4147-A177-3AD203B41FA5}">
                          <a16:colId xmlns:a16="http://schemas.microsoft.com/office/drawing/2014/main" val="20001"/>
                        </a:ext>
                      </a:extLst>
                    </a:gridCol>
                  </a:tblGrid>
                  <a:tr h="300473">
                    <a:tc gridSpan="2">
                      <a:txBody>
                        <a:bodyPr/>
                        <a:lstStyle/>
                        <a:p>
                          <a:pPr marL="0" marR="0" algn="ctr">
                            <a:spcBef>
                              <a:spcPts val="0"/>
                            </a:spcBef>
                            <a:spcAft>
                              <a:spcPts val="0"/>
                            </a:spcAft>
                          </a:pPr>
                          <a:r>
                            <a:rPr lang="en-US" sz="2000" b="1">
                              <a:effectLst/>
                              <a:latin typeface="Verdana" charset="0"/>
                              <a:ea typeface="Times New Roman" charset="0"/>
                              <a:cs typeface="Times New Roman" charset="0"/>
                            </a:rPr>
                            <a:t>Proof B</a:t>
                          </a:r>
                          <a:endParaRPr lang="en-US" sz="2000">
                            <a:effectLst/>
                            <a:latin typeface="Cambria" charset="0"/>
                            <a:ea typeface="Times New Roman" charset="0"/>
                            <a:cs typeface="Times New Roman" charset="0"/>
                          </a:endParaRPr>
                        </a:p>
                      </a:txBody>
                      <a:tcPr marL="28709" marR="287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val="10000"/>
                      </a:ext>
                    </a:extLst>
                  </a:tr>
                  <a:tr h="2776576">
                    <a:tc gridSpan="2">
                      <a:txBody>
                        <a:bodyPr/>
                        <a:lstStyle/>
                        <a:p>
                          <a:pPr marL="0" marR="0">
                            <a:spcBef>
                              <a:spcPts val="0"/>
                            </a:spcBef>
                            <a:spcAft>
                              <a:spcPts val="0"/>
                            </a:spcAft>
                          </a:pPr>
                          <a:r>
                            <a:rPr lang="en-US" sz="2000" dirty="0">
                              <a:effectLst/>
                              <a:latin typeface="Verdana" charset="0"/>
                              <a:ea typeface="Times New Roman" charset="0"/>
                              <a:cs typeface="Times New Roman" charset="0"/>
                            </a:rPr>
                            <a:t>Given: </a:t>
                          </a:r>
                          <a14:m>
                            <m:oMath xmlns:m="http://schemas.openxmlformats.org/officeDocument/2006/math">
                              <m:r>
                                <a:rPr lang="en-US" sz="2000" i="1">
                                  <a:effectLst/>
                                  <a:latin typeface="Cambria Math" charset="0"/>
                                  <a:ea typeface="Times New Roman" charset="0"/>
                                  <a:cs typeface="Times New Roman" charset="0"/>
                                </a:rPr>
                                <m:t>∠</m:t>
                              </m:r>
                              <m:r>
                                <a:rPr lang="en-US" sz="2000" i="1">
                                  <a:effectLst/>
                                  <a:latin typeface="Cambria Math" charset="0"/>
                                  <a:ea typeface="Times New Roman" charset="0"/>
                                  <a:cs typeface="Times New Roman" charset="0"/>
                                </a:rPr>
                                <m:t>𝐺𝑁𝐷</m:t>
                              </m:r>
                            </m:oMath>
                          </a14:m>
                          <a:r>
                            <a:rPr lang="en-US" sz="2000" dirty="0">
                              <a:effectLst/>
                              <a:latin typeface="Verdana" charset="0"/>
                              <a:ea typeface="Times New Roman" charset="0"/>
                              <a:cs typeface="Times New Roman" charset="0"/>
                            </a:rPr>
                            <a:t> and </a:t>
                          </a:r>
                          <a14:m>
                            <m:oMath xmlns:m="http://schemas.openxmlformats.org/officeDocument/2006/math">
                              <m:r>
                                <a:rPr lang="en-US" sz="2000" i="1">
                                  <a:effectLst/>
                                  <a:latin typeface="Cambria Math" charset="0"/>
                                  <a:ea typeface="Times New Roman" charset="0"/>
                                  <a:cs typeface="Times New Roman" charset="0"/>
                                </a:rPr>
                                <m:t>∠</m:t>
                              </m:r>
                              <m:r>
                                <a:rPr lang="en-US" sz="2000" i="1">
                                  <a:effectLst/>
                                  <a:latin typeface="Cambria Math" charset="0"/>
                                  <a:ea typeface="Times New Roman" charset="0"/>
                                  <a:cs typeface="Times New Roman" charset="0"/>
                                </a:rPr>
                                <m:t>𝑃𝐷𝐾</m:t>
                              </m:r>
                              <m:r>
                                <a:rPr lang="en-US" sz="2000" i="1">
                                  <a:effectLst/>
                                  <a:latin typeface="Cambria Math" charset="0"/>
                                  <a:ea typeface="Times New Roman" charset="0"/>
                                  <a:cs typeface="Times New Roman" charset="0"/>
                                </a:rPr>
                                <m:t>  </m:t>
                              </m:r>
                            </m:oMath>
                          </a14:m>
                          <a:endParaRPr lang="en-US" sz="2000" dirty="0">
                            <a:effectLst/>
                            <a:latin typeface="Verdana" charset="0"/>
                            <a:ea typeface="Times New Roman" charset="0"/>
                            <a:cs typeface="Times New Roman" charset="0"/>
                          </a:endParaRPr>
                        </a:p>
                        <a:p>
                          <a:pPr marL="0" marR="0">
                            <a:spcBef>
                              <a:spcPts val="0"/>
                            </a:spcBef>
                            <a:spcAft>
                              <a:spcPts val="0"/>
                            </a:spcAft>
                          </a:pPr>
                          <a:r>
                            <a:rPr lang="en-US" sz="2000" dirty="0">
                              <a:effectLst/>
                              <a:latin typeface="Verdana" charset="0"/>
                              <a:ea typeface="Times New Roman" charset="0"/>
                              <a:cs typeface="Times New Roman" charset="0"/>
                            </a:rPr>
                            <a:t>are supplementary  </a:t>
                          </a:r>
                          <a:endParaRPr lang="en-US" sz="2000" dirty="0">
                            <a:effectLst/>
                            <a:latin typeface="Cambria" charset="0"/>
                            <a:ea typeface="Times New Roman" charset="0"/>
                            <a:cs typeface="Times New Roman" charset="0"/>
                          </a:endParaRPr>
                        </a:p>
                        <a:p>
                          <a:pPr marL="0" marR="0" algn="ctr">
                            <a:spcBef>
                              <a:spcPts val="0"/>
                            </a:spcBef>
                            <a:spcAft>
                              <a:spcPts val="0"/>
                            </a:spcAft>
                          </a:pPr>
                          <a:r>
                            <a:rPr lang="en-US" sz="2000" dirty="0">
                              <a:effectLst/>
                              <a:latin typeface="Cambria" charset="0"/>
                              <a:ea typeface="Times New Roman" charset="0"/>
                              <a:cs typeface="Times New Roman" charset="0"/>
                            </a:rPr>
                            <a:t> </a:t>
                          </a:r>
                        </a:p>
                        <a:p>
                          <a:pPr marL="0" marR="0">
                            <a:spcBef>
                              <a:spcPts val="0"/>
                            </a:spcBef>
                            <a:spcAft>
                              <a:spcPts val="0"/>
                            </a:spcAft>
                          </a:pPr>
                          <a:r>
                            <a:rPr lang="en-US" sz="2000" dirty="0">
                              <a:effectLst/>
                              <a:latin typeface="Cambria" charset="0"/>
                              <a:ea typeface="Times New Roman" charset="0"/>
                              <a:cs typeface="Times New Roman" charset="0"/>
                            </a:rPr>
                            <a:t> </a:t>
                          </a:r>
                        </a:p>
                        <a:p>
                          <a:pPr marL="0" marR="0">
                            <a:spcBef>
                              <a:spcPts val="0"/>
                            </a:spcBef>
                            <a:spcAft>
                              <a:spcPts val="0"/>
                            </a:spcAft>
                          </a:pPr>
                          <a:r>
                            <a:rPr lang="en-US" sz="2000" dirty="0">
                              <a:effectLst/>
                              <a:latin typeface="Verdana" charset="0"/>
                              <a:ea typeface="Times New Roman" charset="0"/>
                              <a:cs typeface="Times New Roman" charset="0"/>
                            </a:rPr>
                            <a:t>Prove: </a:t>
                          </a:r>
                          <a14:m>
                            <m:oMath xmlns:m="http://schemas.openxmlformats.org/officeDocument/2006/math">
                              <m:acc>
                                <m:accPr>
                                  <m:chr m:val="⃡"/>
                                  <m:ctrlPr>
                                    <a:rPr lang="en-US" sz="2000" i="1">
                                      <a:effectLst/>
                                      <a:latin typeface="Cambria Math" panose="02040503050406030204" pitchFamily="18" charset="0"/>
                                      <a:ea typeface="Cambria" charset="0"/>
                                      <a:cs typeface="Times New Roman" charset="0"/>
                                    </a:rPr>
                                  </m:ctrlPr>
                                </m:accPr>
                                <m:e>
                                  <m:r>
                                    <a:rPr lang="en-US" sz="2000" i="1">
                                      <a:effectLst/>
                                      <a:latin typeface="Cambria Math" charset="0"/>
                                      <a:ea typeface="Times New Roman" charset="0"/>
                                      <a:cs typeface="Times New Roman" charset="0"/>
                                    </a:rPr>
                                    <m:t>𝐺𝑅</m:t>
                                  </m:r>
                                </m:e>
                              </m:acc>
                              <m:r>
                                <a:rPr lang="en-US" sz="2000" i="1">
                                  <a:effectLst/>
                                  <a:latin typeface="Cambria Math" charset="0"/>
                                  <a:ea typeface="Times New Roman" charset="0"/>
                                  <a:cs typeface="Times New Roman" charset="0"/>
                                </a:rPr>
                                <m:t>∥</m:t>
                              </m:r>
                              <m:acc>
                                <m:accPr>
                                  <m:chr m:val="⃡"/>
                                  <m:ctrlPr>
                                    <a:rPr lang="en-US" sz="2000" i="1">
                                      <a:effectLst/>
                                      <a:latin typeface="Cambria Math" panose="02040503050406030204" pitchFamily="18" charset="0"/>
                                      <a:ea typeface="Cambria" charset="0"/>
                                      <a:cs typeface="Times New Roman" charset="0"/>
                                    </a:rPr>
                                  </m:ctrlPr>
                                </m:accPr>
                                <m:e>
                                  <m:r>
                                    <a:rPr lang="en-US" sz="2000" i="1">
                                      <a:effectLst/>
                                      <a:latin typeface="Cambria Math" charset="0"/>
                                      <a:ea typeface="Times New Roman" charset="0"/>
                                      <a:cs typeface="Times New Roman" charset="0"/>
                                    </a:rPr>
                                    <m:t>𝐹𝐾</m:t>
                                  </m:r>
                                </m:e>
                              </m:acc>
                            </m:oMath>
                          </a14:m>
                          <a:endParaRPr lang="en-US" sz="2000" dirty="0">
                            <a:effectLst/>
                            <a:latin typeface="Cambria" charset="0"/>
                            <a:ea typeface="Times New Roman" charset="0"/>
                            <a:cs typeface="Times New Roman" charset="0"/>
                          </a:endParaRPr>
                        </a:p>
                      </a:txBody>
                      <a:tcPr marL="28709" marR="287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1"/>
                      </a:ext>
                    </a:extLst>
                  </a:tr>
                  <a:tr h="300473">
                    <a:tc>
                      <a:txBody>
                        <a:bodyPr/>
                        <a:lstStyle/>
                        <a:p>
                          <a:pPr marL="0" marR="0" algn="ctr">
                            <a:spcBef>
                              <a:spcPts val="0"/>
                            </a:spcBef>
                            <a:spcAft>
                              <a:spcPts val="0"/>
                            </a:spcAft>
                          </a:pPr>
                          <a:r>
                            <a:rPr lang="en-US" sz="2000" b="1">
                              <a:effectLst/>
                              <a:latin typeface="Verdana" charset="0"/>
                              <a:ea typeface="Times New Roman" charset="0"/>
                              <a:cs typeface="Times New Roman" charset="0"/>
                            </a:rPr>
                            <a:t>Statement</a:t>
                          </a:r>
                          <a:endParaRPr lang="en-US" sz="2000">
                            <a:effectLst/>
                            <a:latin typeface="Cambria" charset="0"/>
                            <a:ea typeface="Times New Roman" charset="0"/>
                            <a:cs typeface="Times New Roman" charset="0"/>
                          </a:endParaRPr>
                        </a:p>
                      </a:txBody>
                      <a:tcPr marL="28709" marR="287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Times New Roman" charset="0"/>
                              <a:cs typeface="Times New Roman" charset="0"/>
                            </a:rPr>
                            <a:t>Reason</a:t>
                          </a:r>
                          <a:endParaRPr lang="en-US" sz="2000">
                            <a:effectLst/>
                            <a:latin typeface="Cambria" charset="0"/>
                            <a:ea typeface="Times New Roman" charset="0"/>
                            <a:cs typeface="Times New Roman" charset="0"/>
                          </a:endParaRPr>
                        </a:p>
                      </a:txBody>
                      <a:tcPr marL="28709" marR="287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2"/>
                      </a:ext>
                    </a:extLst>
                  </a:tr>
                  <a:tr h="393980">
                    <a:tc>
                      <a:txBody>
                        <a:bodyPr/>
                        <a:lstStyle/>
                        <a:p>
                          <a:pPr marL="0" marR="0" algn="ctr">
                            <a:spcBef>
                              <a:spcPts val="0"/>
                            </a:spcBef>
                            <a:spcAft>
                              <a:spcPts val="0"/>
                            </a:spcAft>
                          </a:pPr>
                          <a:r>
                            <a:rPr lang="en-US" sz="2000" dirty="0">
                              <a:effectLst/>
                              <a:latin typeface="Verdana" charset="0"/>
                              <a:ea typeface="Times New Roman" charset="0"/>
                              <a:cs typeface="Times New Roman" charset="0"/>
                            </a:rPr>
                            <a:t> </a:t>
                          </a:r>
                          <a:endParaRPr lang="en-US" sz="2000" dirty="0">
                            <a:effectLst/>
                            <a:latin typeface="Cambria" charset="0"/>
                            <a:ea typeface="Times New Roman" charset="0"/>
                            <a:cs typeface="Times New Roman" charset="0"/>
                          </a:endParaRPr>
                        </a:p>
                      </a:txBody>
                      <a:tcPr marL="28709" marR="287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Times New Roman" charset="0"/>
                              <a:cs typeface="Times New Roman" charset="0"/>
                            </a:rPr>
                            <a:t> </a:t>
                          </a:r>
                          <a:endParaRPr lang="en-US" sz="2000" dirty="0">
                            <a:effectLst/>
                            <a:latin typeface="Cambria" charset="0"/>
                            <a:ea typeface="Times New Roman" charset="0"/>
                            <a:cs typeface="Times New Roman" charset="0"/>
                          </a:endParaRPr>
                        </a:p>
                      </a:txBody>
                      <a:tcPr marL="28709" marR="287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93980">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28709" marR="287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28709" marR="287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93980">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28709" marR="287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28709" marR="287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93980">
                    <a:tc>
                      <a:txBody>
                        <a:bodyPr/>
                        <a:lstStyle/>
                        <a:p>
                          <a:pPr marL="0" marR="0" algn="ctr">
                            <a:spcBef>
                              <a:spcPts val="0"/>
                            </a:spcBef>
                            <a:spcAft>
                              <a:spcPts val="0"/>
                            </a:spcAft>
                          </a:pPr>
                          <a:r>
                            <a:rPr lang="en-US" sz="2000">
                              <a:effectLst/>
                              <a:latin typeface="Calibri" charset="0"/>
                              <a:ea typeface="Calibri" charset="0"/>
                              <a:cs typeface="Times New Roman" charset="0"/>
                            </a:rPr>
                            <a:t> </a:t>
                          </a:r>
                          <a:endParaRPr lang="en-US" sz="2000">
                            <a:effectLst/>
                            <a:latin typeface="Cambria" charset="0"/>
                            <a:ea typeface="Times New Roman" charset="0"/>
                            <a:cs typeface="Times New Roman" charset="0"/>
                          </a:endParaRPr>
                        </a:p>
                      </a:txBody>
                      <a:tcPr marL="28709" marR="287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28709" marR="287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93980">
                    <a:tc>
                      <a:txBody>
                        <a:bodyPr/>
                        <a:lstStyle/>
                        <a:p>
                          <a:pPr marL="0" marR="0" algn="ctr">
                            <a:spcBef>
                              <a:spcPts val="0"/>
                            </a:spcBef>
                            <a:spcAft>
                              <a:spcPts val="0"/>
                            </a:spcAft>
                          </a:pPr>
                          <a:r>
                            <a:rPr lang="en-US" sz="2000">
                              <a:effectLst/>
                              <a:latin typeface="Calibri" charset="0"/>
                              <a:ea typeface="Calibri" charset="0"/>
                              <a:cs typeface="Times New Roman" charset="0"/>
                            </a:rPr>
                            <a:t> </a:t>
                          </a:r>
                          <a:endParaRPr lang="en-US" sz="2000">
                            <a:effectLst/>
                            <a:latin typeface="Cambria" charset="0"/>
                            <a:ea typeface="Times New Roman" charset="0"/>
                            <a:cs typeface="Times New Roman" charset="0"/>
                          </a:endParaRPr>
                        </a:p>
                      </a:txBody>
                      <a:tcPr marL="28709" marR="287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28709" marR="287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93980">
                    <a:tc>
                      <a:txBody>
                        <a:bodyPr/>
                        <a:lstStyle/>
                        <a:p>
                          <a:pPr marL="0" marR="0" algn="ctr">
                            <a:spcBef>
                              <a:spcPts val="0"/>
                            </a:spcBef>
                            <a:spcAft>
                              <a:spcPts val="0"/>
                            </a:spcAft>
                          </a:pPr>
                          <a:r>
                            <a:rPr lang="en-US" sz="2000">
                              <a:effectLst/>
                              <a:latin typeface="Calibri" charset="0"/>
                              <a:ea typeface="Calibri" charset="0"/>
                              <a:cs typeface="Times New Roman" charset="0"/>
                            </a:rPr>
                            <a:t> </a:t>
                          </a:r>
                          <a:endParaRPr lang="en-US" sz="2000">
                            <a:effectLst/>
                            <a:latin typeface="Cambria" charset="0"/>
                            <a:ea typeface="Times New Roman" charset="0"/>
                            <a:cs typeface="Times New Roman" charset="0"/>
                          </a:endParaRPr>
                        </a:p>
                      </a:txBody>
                      <a:tcPr marL="28709" marR="287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28709" marR="287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393980">
                    <a:tc>
                      <a:txBody>
                        <a:bodyPr/>
                        <a:lstStyle/>
                        <a:p>
                          <a:pPr marL="0" marR="0" algn="ctr">
                            <a:spcBef>
                              <a:spcPts val="0"/>
                            </a:spcBef>
                            <a:spcAft>
                              <a:spcPts val="0"/>
                            </a:spcAft>
                          </a:pPr>
                          <a:r>
                            <a:rPr lang="en-US" sz="2000" dirty="0">
                              <a:effectLst/>
                              <a:latin typeface="Verdana" charset="0"/>
                              <a:ea typeface="Times New Roman" charset="0"/>
                              <a:cs typeface="Times New Roman" charset="0"/>
                            </a:rPr>
                            <a:t> </a:t>
                          </a:r>
                          <a:endParaRPr lang="en-US" sz="2000" dirty="0">
                            <a:effectLst/>
                            <a:latin typeface="Cambria" charset="0"/>
                            <a:ea typeface="Times New Roman" charset="0"/>
                            <a:cs typeface="Times New Roman" charset="0"/>
                          </a:endParaRPr>
                        </a:p>
                      </a:txBody>
                      <a:tcPr marL="28709" marR="287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Times New Roman" charset="0"/>
                              <a:cs typeface="Times New Roman" charset="0"/>
                            </a:rPr>
                            <a:t> </a:t>
                          </a:r>
                          <a:endParaRPr lang="en-US" sz="2000" dirty="0">
                            <a:effectLst/>
                            <a:latin typeface="Cambria" charset="0"/>
                            <a:ea typeface="Times New Roman" charset="0"/>
                            <a:cs typeface="Times New Roman" charset="0"/>
                          </a:endParaRPr>
                        </a:p>
                      </a:txBody>
                      <a:tcPr marL="28709" marR="287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723395521"/>
                  </p:ext>
                </p:extLst>
              </p:nvPr>
            </p:nvGraphicFramePr>
            <p:xfrm>
              <a:off x="688452" y="330515"/>
              <a:ext cx="7793099" cy="6144036"/>
            </p:xfrm>
            <a:graphic>
              <a:graphicData uri="http://schemas.openxmlformats.org/drawingml/2006/table">
                <a:tbl>
                  <a:tblPr firstRow="1" firstCol="1" bandRow="1"/>
                  <a:tblGrid>
                    <a:gridCol w="3894376">
                      <a:extLst>
                        <a:ext uri="{9D8B030D-6E8A-4147-A177-3AD203B41FA5}">
                          <a16:colId xmlns:a16="http://schemas.microsoft.com/office/drawing/2014/main" val="20000"/>
                        </a:ext>
                      </a:extLst>
                    </a:gridCol>
                    <a:gridCol w="3898723">
                      <a:extLst>
                        <a:ext uri="{9D8B030D-6E8A-4147-A177-3AD203B41FA5}">
                          <a16:colId xmlns:a16="http://schemas.microsoft.com/office/drawing/2014/main" val="20001"/>
                        </a:ext>
                      </a:extLst>
                    </a:gridCol>
                  </a:tblGrid>
                  <a:tr h="304800">
                    <a:tc gridSpan="2">
                      <a:txBody>
                        <a:bodyPr/>
                        <a:lstStyle/>
                        <a:p>
                          <a:pPr marL="0" marR="0" algn="ctr">
                            <a:spcBef>
                              <a:spcPts val="0"/>
                            </a:spcBef>
                            <a:spcAft>
                              <a:spcPts val="0"/>
                            </a:spcAft>
                          </a:pPr>
                          <a:r>
                            <a:rPr lang="en-US" sz="2000" b="1">
                              <a:effectLst/>
                              <a:latin typeface="Verdana" charset="0"/>
                              <a:ea typeface="Times New Roman" charset="0"/>
                              <a:cs typeface="Times New Roman" charset="0"/>
                            </a:rPr>
                            <a:t>Proof B</a:t>
                          </a:r>
                          <a:endParaRPr lang="en-US" sz="2000">
                            <a:effectLst/>
                            <a:latin typeface="Cambria" charset="0"/>
                            <a:ea typeface="Times New Roman" charset="0"/>
                            <a:cs typeface="Times New Roman" charset="0"/>
                          </a:endParaRPr>
                        </a:p>
                      </a:txBody>
                      <a:tcPr marL="28709" marR="287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val="10000"/>
                      </a:ext>
                    </a:extLst>
                  </a:tr>
                  <a:tr h="2776576">
                    <a:tc gridSpan="2">
                      <a:txBody>
                        <a:bodyPr/>
                        <a:lstStyle/>
                        <a:p>
                          <a:endParaRPr lang="en-US"/>
                        </a:p>
                      </a:txBody>
                      <a:tcPr marL="28709" marR="287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78" t="-13816" r="-156" b="-110746"/>
                          </a:stretch>
                        </a:blipFill>
                      </a:tcPr>
                    </a:tc>
                    <a:tc hMerge="1">
                      <a:txBody>
                        <a:bodyPr/>
                        <a:lstStyle/>
                        <a:p>
                          <a:endParaRPr lang="en-US"/>
                        </a:p>
                      </a:txBody>
                      <a:tcPr/>
                    </a:tc>
                    <a:extLst>
                      <a:ext uri="{0D108BD9-81ED-4DB2-BD59-A6C34878D82A}">
                        <a16:rowId xmlns:a16="http://schemas.microsoft.com/office/drawing/2014/main" val="10001"/>
                      </a:ext>
                    </a:extLst>
                  </a:tr>
                  <a:tr h="304800">
                    <a:tc>
                      <a:txBody>
                        <a:bodyPr/>
                        <a:lstStyle/>
                        <a:p>
                          <a:pPr marL="0" marR="0" algn="ctr">
                            <a:spcBef>
                              <a:spcPts val="0"/>
                            </a:spcBef>
                            <a:spcAft>
                              <a:spcPts val="0"/>
                            </a:spcAft>
                          </a:pPr>
                          <a:r>
                            <a:rPr lang="en-US" sz="2000" b="1">
                              <a:effectLst/>
                              <a:latin typeface="Verdana" charset="0"/>
                              <a:ea typeface="Times New Roman" charset="0"/>
                              <a:cs typeface="Times New Roman" charset="0"/>
                            </a:rPr>
                            <a:t>Statement</a:t>
                          </a:r>
                          <a:endParaRPr lang="en-US" sz="2000">
                            <a:effectLst/>
                            <a:latin typeface="Cambria" charset="0"/>
                            <a:ea typeface="Times New Roman" charset="0"/>
                            <a:cs typeface="Times New Roman" charset="0"/>
                          </a:endParaRPr>
                        </a:p>
                      </a:txBody>
                      <a:tcPr marL="28709" marR="287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Times New Roman" charset="0"/>
                              <a:cs typeface="Times New Roman" charset="0"/>
                            </a:rPr>
                            <a:t>Reason</a:t>
                          </a:r>
                          <a:endParaRPr lang="en-US" sz="2000">
                            <a:effectLst/>
                            <a:latin typeface="Cambria" charset="0"/>
                            <a:ea typeface="Times New Roman" charset="0"/>
                            <a:cs typeface="Times New Roman" charset="0"/>
                          </a:endParaRPr>
                        </a:p>
                      </a:txBody>
                      <a:tcPr marL="28709" marR="287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2"/>
                      </a:ext>
                    </a:extLst>
                  </a:tr>
                  <a:tr h="393980">
                    <a:tc>
                      <a:txBody>
                        <a:bodyPr/>
                        <a:lstStyle/>
                        <a:p>
                          <a:pPr marL="0" marR="0" algn="ctr">
                            <a:spcBef>
                              <a:spcPts val="0"/>
                            </a:spcBef>
                            <a:spcAft>
                              <a:spcPts val="0"/>
                            </a:spcAft>
                          </a:pPr>
                          <a:r>
                            <a:rPr lang="en-US" sz="2000" dirty="0">
                              <a:effectLst/>
                              <a:latin typeface="Verdana" charset="0"/>
                              <a:ea typeface="Times New Roman" charset="0"/>
                              <a:cs typeface="Times New Roman" charset="0"/>
                            </a:rPr>
                            <a:t> </a:t>
                          </a:r>
                          <a:endParaRPr lang="en-US" sz="2000" dirty="0">
                            <a:effectLst/>
                            <a:latin typeface="Cambria" charset="0"/>
                            <a:ea typeface="Times New Roman" charset="0"/>
                            <a:cs typeface="Times New Roman" charset="0"/>
                          </a:endParaRPr>
                        </a:p>
                      </a:txBody>
                      <a:tcPr marL="28709" marR="287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Times New Roman" charset="0"/>
                              <a:cs typeface="Times New Roman" charset="0"/>
                            </a:rPr>
                            <a:t> </a:t>
                          </a:r>
                          <a:endParaRPr lang="en-US" sz="2000" dirty="0">
                            <a:effectLst/>
                            <a:latin typeface="Cambria" charset="0"/>
                            <a:ea typeface="Times New Roman" charset="0"/>
                            <a:cs typeface="Times New Roman" charset="0"/>
                          </a:endParaRPr>
                        </a:p>
                      </a:txBody>
                      <a:tcPr marL="28709" marR="287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93980">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28709" marR="287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28709" marR="287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93980">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28709" marR="287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28709" marR="287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93980">
                    <a:tc>
                      <a:txBody>
                        <a:bodyPr/>
                        <a:lstStyle/>
                        <a:p>
                          <a:pPr marL="0" marR="0" algn="ctr">
                            <a:spcBef>
                              <a:spcPts val="0"/>
                            </a:spcBef>
                            <a:spcAft>
                              <a:spcPts val="0"/>
                            </a:spcAft>
                          </a:pPr>
                          <a:r>
                            <a:rPr lang="en-US" sz="2000">
                              <a:effectLst/>
                              <a:latin typeface="Calibri" charset="0"/>
                              <a:ea typeface="Calibri" charset="0"/>
                              <a:cs typeface="Times New Roman" charset="0"/>
                            </a:rPr>
                            <a:t> </a:t>
                          </a:r>
                          <a:endParaRPr lang="en-US" sz="2000">
                            <a:effectLst/>
                            <a:latin typeface="Cambria" charset="0"/>
                            <a:ea typeface="Times New Roman" charset="0"/>
                            <a:cs typeface="Times New Roman" charset="0"/>
                          </a:endParaRPr>
                        </a:p>
                      </a:txBody>
                      <a:tcPr marL="28709" marR="287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28709" marR="287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93980">
                    <a:tc>
                      <a:txBody>
                        <a:bodyPr/>
                        <a:lstStyle/>
                        <a:p>
                          <a:pPr marL="0" marR="0" algn="ctr">
                            <a:spcBef>
                              <a:spcPts val="0"/>
                            </a:spcBef>
                            <a:spcAft>
                              <a:spcPts val="0"/>
                            </a:spcAft>
                          </a:pPr>
                          <a:r>
                            <a:rPr lang="en-US" sz="2000">
                              <a:effectLst/>
                              <a:latin typeface="Calibri" charset="0"/>
                              <a:ea typeface="Calibri" charset="0"/>
                              <a:cs typeface="Times New Roman" charset="0"/>
                            </a:rPr>
                            <a:t> </a:t>
                          </a:r>
                          <a:endParaRPr lang="en-US" sz="2000">
                            <a:effectLst/>
                            <a:latin typeface="Cambria" charset="0"/>
                            <a:ea typeface="Times New Roman" charset="0"/>
                            <a:cs typeface="Times New Roman" charset="0"/>
                          </a:endParaRPr>
                        </a:p>
                      </a:txBody>
                      <a:tcPr marL="28709" marR="287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28709" marR="287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93980">
                    <a:tc>
                      <a:txBody>
                        <a:bodyPr/>
                        <a:lstStyle/>
                        <a:p>
                          <a:pPr marL="0" marR="0" algn="ctr">
                            <a:spcBef>
                              <a:spcPts val="0"/>
                            </a:spcBef>
                            <a:spcAft>
                              <a:spcPts val="0"/>
                            </a:spcAft>
                          </a:pPr>
                          <a:r>
                            <a:rPr lang="en-US" sz="2000">
                              <a:effectLst/>
                              <a:latin typeface="Calibri" charset="0"/>
                              <a:ea typeface="Calibri" charset="0"/>
                              <a:cs typeface="Times New Roman" charset="0"/>
                            </a:rPr>
                            <a:t> </a:t>
                          </a:r>
                          <a:endParaRPr lang="en-US" sz="2000">
                            <a:effectLst/>
                            <a:latin typeface="Cambria" charset="0"/>
                            <a:ea typeface="Times New Roman" charset="0"/>
                            <a:cs typeface="Times New Roman" charset="0"/>
                          </a:endParaRPr>
                        </a:p>
                      </a:txBody>
                      <a:tcPr marL="28709" marR="287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28709" marR="287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393980">
                    <a:tc>
                      <a:txBody>
                        <a:bodyPr/>
                        <a:lstStyle/>
                        <a:p>
                          <a:pPr marL="0" marR="0" algn="ctr">
                            <a:spcBef>
                              <a:spcPts val="0"/>
                            </a:spcBef>
                            <a:spcAft>
                              <a:spcPts val="0"/>
                            </a:spcAft>
                          </a:pPr>
                          <a:r>
                            <a:rPr lang="en-US" sz="2000" dirty="0">
                              <a:effectLst/>
                              <a:latin typeface="Verdana" charset="0"/>
                              <a:ea typeface="Times New Roman" charset="0"/>
                              <a:cs typeface="Times New Roman" charset="0"/>
                            </a:rPr>
                            <a:t> </a:t>
                          </a:r>
                          <a:endParaRPr lang="en-US" sz="2000" dirty="0">
                            <a:effectLst/>
                            <a:latin typeface="Cambria" charset="0"/>
                            <a:ea typeface="Times New Roman" charset="0"/>
                            <a:cs typeface="Times New Roman" charset="0"/>
                          </a:endParaRPr>
                        </a:p>
                      </a:txBody>
                      <a:tcPr marL="28709" marR="287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Times New Roman" charset="0"/>
                              <a:cs typeface="Times New Roman" charset="0"/>
                            </a:rPr>
                            <a:t> </a:t>
                          </a:r>
                          <a:endParaRPr lang="en-US" sz="2000" dirty="0">
                            <a:effectLst/>
                            <a:latin typeface="Cambria" charset="0"/>
                            <a:ea typeface="Times New Roman" charset="0"/>
                            <a:cs typeface="Times New Roman" charset="0"/>
                          </a:endParaRPr>
                        </a:p>
                      </a:txBody>
                      <a:tcPr marL="28709" marR="287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mc:Fallback>
      </mc:AlternateContent>
      <p:pic>
        <p:nvPicPr>
          <p:cNvPr id="2049" name="Picture 7"/>
          <p:cNvPicPr>
            <a:picLocks noChangeAspect="1" noChangeArrowheads="1"/>
          </p:cNvPicPr>
          <p:nvPr/>
        </p:nvPicPr>
        <p:blipFill>
          <a:blip r:embed="rId5">
            <a:extLst>
              <a:ext uri="{28A0092B-C50C-407E-A947-70E740481C1C}">
                <a14:useLocalDpi xmlns:a14="http://schemas.microsoft.com/office/drawing/2010/main"/>
              </a:ext>
            </a:extLst>
          </a:blip>
          <a:srcRect l="4848" b="9158"/>
          <a:stretch>
            <a:fillRect/>
          </a:stretch>
        </p:blipFill>
        <p:spPr bwMode="auto">
          <a:xfrm>
            <a:off x="5123127" y="690850"/>
            <a:ext cx="2682826" cy="26077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4924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171</a:t>
            </a:r>
          </a:p>
        </p:txBody>
      </p:sp>
      <p:sp>
        <p:nvSpPr>
          <p:cNvPr id="6" name="Google Shape;278;g104476d1465_1_17">
            <a:extLst>
              <a:ext uri="{FF2B5EF4-FFF2-40B4-BE49-F238E27FC236}">
                <a16:creationId xmlns:a16="http://schemas.microsoft.com/office/drawing/2014/main" id="{44C210D6-0F1D-3545-B73D-9B9FC6EA0352}"/>
              </a:ext>
            </a:extLst>
          </p:cNvPr>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190856150"/>
                  </p:ext>
                </p:extLst>
              </p:nvPr>
            </p:nvGraphicFramePr>
            <p:xfrm>
              <a:off x="533893" y="306917"/>
              <a:ext cx="7783504" cy="6150882"/>
            </p:xfrm>
            <a:graphic>
              <a:graphicData uri="http://schemas.openxmlformats.org/drawingml/2006/table">
                <a:tbl>
                  <a:tblPr firstRow="1" firstCol="1" bandRow="1"/>
                  <a:tblGrid>
                    <a:gridCol w="3262568">
                      <a:extLst>
                        <a:ext uri="{9D8B030D-6E8A-4147-A177-3AD203B41FA5}">
                          <a16:colId xmlns:a16="http://schemas.microsoft.com/office/drawing/2014/main" val="20000"/>
                        </a:ext>
                      </a:extLst>
                    </a:gridCol>
                    <a:gridCol w="4520936">
                      <a:extLst>
                        <a:ext uri="{9D8B030D-6E8A-4147-A177-3AD203B41FA5}">
                          <a16:colId xmlns:a16="http://schemas.microsoft.com/office/drawing/2014/main" val="20001"/>
                        </a:ext>
                      </a:extLst>
                    </a:gridCol>
                  </a:tblGrid>
                  <a:tr h="378987">
                    <a:tc gridSpan="2">
                      <a:txBody>
                        <a:bodyPr/>
                        <a:lstStyle/>
                        <a:p>
                          <a:pPr marL="0" marR="0" algn="ctr">
                            <a:spcBef>
                              <a:spcPts val="0"/>
                            </a:spcBef>
                            <a:spcAft>
                              <a:spcPts val="0"/>
                            </a:spcAft>
                          </a:pPr>
                          <a:r>
                            <a:rPr lang="en-US" sz="2000" b="1">
                              <a:effectLst/>
                              <a:latin typeface="Verdana" charset="0"/>
                              <a:ea typeface="Times New Roman" charset="0"/>
                              <a:cs typeface="Times New Roman" charset="0"/>
                            </a:rPr>
                            <a:t>Proof C</a:t>
                          </a:r>
                          <a:endParaRPr lang="en-US" sz="2000">
                            <a:effectLst/>
                            <a:latin typeface="Cambria" charset="0"/>
                            <a:ea typeface="Times New Roman" charset="0"/>
                            <a:cs typeface="Times New Roman" charset="0"/>
                          </a:endParaRPr>
                        </a:p>
                      </a:txBody>
                      <a:tcPr marL="27662" marR="2766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val="10000"/>
                      </a:ext>
                    </a:extLst>
                  </a:tr>
                  <a:tr h="3358343">
                    <a:tc gridSpan="2">
                      <a:txBody>
                        <a:bodyPr/>
                        <a:lstStyle/>
                        <a:p>
                          <a:pPr marL="0" marR="0" algn="l">
                            <a:spcBef>
                              <a:spcPts val="0"/>
                            </a:spcBef>
                            <a:spcAft>
                              <a:spcPts val="0"/>
                            </a:spcAft>
                          </a:pPr>
                          <a:r>
                            <a:rPr lang="en-US" sz="2000" dirty="0">
                              <a:effectLst/>
                              <a:latin typeface="Verdana" charset="0"/>
                              <a:ea typeface="Times New Roman" charset="0"/>
                              <a:cs typeface="Times New Roman" charset="0"/>
                            </a:rPr>
                            <a:t>Given: </a:t>
                          </a:r>
                          <a14:m>
                            <m:oMath xmlns:m="http://schemas.openxmlformats.org/officeDocument/2006/math">
                              <m:acc>
                                <m:accPr>
                                  <m:chr m:val="⃡"/>
                                  <m:ctrlPr>
                                    <a:rPr lang="en-US" sz="2000" i="1">
                                      <a:effectLst/>
                                      <a:latin typeface="Cambria Math" panose="02040503050406030204" pitchFamily="18" charset="0"/>
                                      <a:ea typeface="Cambria" charset="0"/>
                                      <a:cs typeface="Times New Roman" charset="0"/>
                                    </a:rPr>
                                  </m:ctrlPr>
                                </m:accPr>
                                <m:e>
                                  <m:r>
                                    <a:rPr lang="en-US" sz="2000" i="1">
                                      <a:effectLst/>
                                      <a:latin typeface="Cambria Math" charset="0"/>
                                      <a:ea typeface="Times New Roman" charset="0"/>
                                      <a:cs typeface="Times New Roman" charset="0"/>
                                    </a:rPr>
                                    <m:t>𝐵𝑃</m:t>
                                  </m:r>
                                </m:e>
                              </m:acc>
                              <m:r>
                                <a:rPr lang="en-US" sz="2000" i="1">
                                  <a:effectLst/>
                                  <a:latin typeface="Cambria Math" charset="0"/>
                                  <a:ea typeface="Times New Roman" charset="0"/>
                                  <a:cs typeface="Times New Roman" charset="0"/>
                                </a:rPr>
                                <m:t>⊥</m:t>
                              </m:r>
                              <m:acc>
                                <m:accPr>
                                  <m:chr m:val="⃡"/>
                                  <m:ctrlPr>
                                    <a:rPr lang="en-US" sz="2000" i="1">
                                      <a:effectLst/>
                                      <a:latin typeface="Cambria Math" panose="02040503050406030204" pitchFamily="18" charset="0"/>
                                      <a:ea typeface="Cambria" charset="0"/>
                                      <a:cs typeface="Times New Roman" charset="0"/>
                                    </a:rPr>
                                  </m:ctrlPr>
                                </m:accPr>
                                <m:e>
                                  <m:r>
                                    <a:rPr lang="en-US" sz="2000" i="1">
                                      <a:effectLst/>
                                      <a:latin typeface="Cambria Math" charset="0"/>
                                      <a:ea typeface="Times New Roman" charset="0"/>
                                      <a:cs typeface="Times New Roman" charset="0"/>
                                    </a:rPr>
                                    <m:t>𝐺𝑅</m:t>
                                  </m:r>
                                </m:e>
                              </m:acc>
                              <m:r>
                                <a:rPr lang="en-US" sz="2000" i="1">
                                  <a:effectLst/>
                                  <a:latin typeface="Cambria Math" charset="0"/>
                                  <a:ea typeface="Times New Roman" charset="0"/>
                                  <a:cs typeface="Times New Roman" charset="0"/>
                                </a:rPr>
                                <m:t>,  </m:t>
                              </m:r>
                              <m:acc>
                                <m:accPr>
                                  <m:chr m:val="⃡"/>
                                  <m:ctrlPr>
                                    <a:rPr lang="en-US" sz="2000" i="1">
                                      <a:effectLst/>
                                      <a:latin typeface="Cambria Math" panose="02040503050406030204" pitchFamily="18" charset="0"/>
                                      <a:ea typeface="Cambria" charset="0"/>
                                      <a:cs typeface="Times New Roman" charset="0"/>
                                    </a:rPr>
                                  </m:ctrlPr>
                                </m:accPr>
                                <m:e>
                                  <m:r>
                                    <a:rPr lang="en-US" sz="2000" i="1">
                                      <a:effectLst/>
                                      <a:latin typeface="Cambria Math" charset="0"/>
                                      <a:ea typeface="Times New Roman" charset="0"/>
                                      <a:cs typeface="Times New Roman" charset="0"/>
                                    </a:rPr>
                                    <m:t>𝐺𝑅</m:t>
                                  </m:r>
                                </m:e>
                              </m:acc>
                              <m:r>
                                <a:rPr lang="en-US" sz="2000" i="1">
                                  <a:effectLst/>
                                  <a:latin typeface="Cambria Math" charset="0"/>
                                  <a:ea typeface="Times New Roman" charset="0"/>
                                  <a:cs typeface="Times New Roman" charset="0"/>
                                </a:rPr>
                                <m:t>∥</m:t>
                              </m:r>
                              <m:acc>
                                <m:accPr>
                                  <m:chr m:val="⃡"/>
                                  <m:ctrlPr>
                                    <a:rPr lang="en-US" sz="2000" i="1">
                                      <a:effectLst/>
                                      <a:latin typeface="Cambria Math" panose="02040503050406030204" pitchFamily="18" charset="0"/>
                                      <a:ea typeface="Cambria" charset="0"/>
                                      <a:cs typeface="Times New Roman" charset="0"/>
                                    </a:rPr>
                                  </m:ctrlPr>
                                </m:accPr>
                                <m:e>
                                  <m:r>
                                    <a:rPr lang="en-US" sz="2000" i="1">
                                      <a:effectLst/>
                                      <a:latin typeface="Cambria Math" charset="0"/>
                                      <a:ea typeface="Times New Roman" charset="0"/>
                                      <a:cs typeface="Times New Roman" charset="0"/>
                                    </a:rPr>
                                    <m:t>𝐹𝐾</m:t>
                                  </m:r>
                                </m:e>
                              </m:acc>
                            </m:oMath>
                          </a14:m>
                          <a:r>
                            <a:rPr lang="en-US" sz="2000" dirty="0">
                              <a:effectLst/>
                              <a:latin typeface="Verdana" charset="0"/>
                              <a:ea typeface="Times New Roman" charset="0"/>
                              <a:cs typeface="Times New Roman" charset="0"/>
                            </a:rPr>
                            <a:t> </a:t>
                          </a:r>
                          <a:r>
                            <a:rPr lang="en-US" sz="2000" dirty="0">
                              <a:effectLst/>
                              <a:latin typeface="Cambria" charset="0"/>
                              <a:ea typeface="Times New Roman" charset="0"/>
                              <a:cs typeface="Times New Roman" charset="0"/>
                            </a:rPr>
                            <a:t> </a:t>
                          </a:r>
                        </a:p>
                        <a:p>
                          <a:pPr marL="0" marR="0" algn="ctr">
                            <a:spcBef>
                              <a:spcPts val="0"/>
                            </a:spcBef>
                            <a:spcAft>
                              <a:spcPts val="0"/>
                            </a:spcAft>
                          </a:pPr>
                          <a:r>
                            <a:rPr lang="en-US" sz="2000" dirty="0">
                              <a:effectLst/>
                              <a:latin typeface="Cambria" charset="0"/>
                              <a:ea typeface="Times New Roman" charset="0"/>
                              <a:cs typeface="Times New Roman" charset="0"/>
                            </a:rPr>
                            <a:t> </a:t>
                          </a:r>
                        </a:p>
                        <a:p>
                          <a:pPr marL="0" marR="0" algn="l">
                            <a:spcBef>
                              <a:spcPts val="0"/>
                            </a:spcBef>
                            <a:spcAft>
                              <a:spcPts val="0"/>
                            </a:spcAft>
                          </a:pPr>
                          <a:r>
                            <a:rPr lang="en-US" sz="2000" dirty="0">
                              <a:effectLst/>
                              <a:latin typeface="Verdana" charset="0"/>
                              <a:ea typeface="Times New Roman" charset="0"/>
                              <a:cs typeface="Times New Roman" charset="0"/>
                            </a:rPr>
                            <a:t>Prove: </a:t>
                          </a:r>
                          <a14:m>
                            <m:oMath xmlns:m="http://schemas.openxmlformats.org/officeDocument/2006/math">
                              <m:acc>
                                <m:accPr>
                                  <m:chr m:val="⃡"/>
                                  <m:ctrlPr>
                                    <a:rPr lang="en-US" sz="2000" i="1">
                                      <a:effectLst/>
                                      <a:latin typeface="Cambria Math" panose="02040503050406030204" pitchFamily="18" charset="0"/>
                                      <a:ea typeface="Cambria" charset="0"/>
                                      <a:cs typeface="Times New Roman" charset="0"/>
                                    </a:rPr>
                                  </m:ctrlPr>
                                </m:accPr>
                                <m:e>
                                  <m:r>
                                    <a:rPr lang="en-US" sz="2000" i="1">
                                      <a:effectLst/>
                                      <a:latin typeface="Cambria Math" charset="0"/>
                                      <a:ea typeface="Times New Roman" charset="0"/>
                                      <a:cs typeface="Times New Roman" charset="0"/>
                                    </a:rPr>
                                    <m:t>𝐵𝑃</m:t>
                                  </m:r>
                                </m:e>
                              </m:acc>
                              <m:r>
                                <a:rPr lang="en-US" sz="2000" i="1">
                                  <a:effectLst/>
                                  <a:latin typeface="Cambria Math" charset="0"/>
                                  <a:ea typeface="Times New Roman" charset="0"/>
                                  <a:cs typeface="Times New Roman" charset="0"/>
                                </a:rPr>
                                <m:t>⊥</m:t>
                              </m:r>
                              <m:acc>
                                <m:accPr>
                                  <m:chr m:val="⃡"/>
                                  <m:ctrlPr>
                                    <a:rPr lang="en-US" sz="2000" i="1">
                                      <a:effectLst/>
                                      <a:latin typeface="Cambria Math" panose="02040503050406030204" pitchFamily="18" charset="0"/>
                                      <a:ea typeface="Cambria" charset="0"/>
                                      <a:cs typeface="Times New Roman" charset="0"/>
                                    </a:rPr>
                                  </m:ctrlPr>
                                </m:accPr>
                                <m:e>
                                  <m:r>
                                    <a:rPr lang="en-US" sz="2000" i="1">
                                      <a:effectLst/>
                                      <a:latin typeface="Cambria Math" charset="0"/>
                                      <a:ea typeface="Times New Roman" charset="0"/>
                                      <a:cs typeface="Times New Roman" charset="0"/>
                                    </a:rPr>
                                    <m:t>𝐹𝐾</m:t>
                                  </m:r>
                                </m:e>
                              </m:acc>
                            </m:oMath>
                          </a14:m>
                          <a:endParaRPr lang="en-US" sz="2000" dirty="0">
                            <a:effectLst/>
                            <a:latin typeface="Cambria" charset="0"/>
                            <a:ea typeface="Times New Roman" charset="0"/>
                            <a:cs typeface="Times New Roman" charset="0"/>
                          </a:endParaRPr>
                        </a:p>
                        <a:p>
                          <a:pPr marL="0" marR="0" algn="l">
                            <a:spcBef>
                              <a:spcPts val="0"/>
                            </a:spcBef>
                            <a:spcAft>
                              <a:spcPts val="0"/>
                            </a:spcAft>
                          </a:pPr>
                          <a:r>
                            <a:rPr lang="en-US" sz="2000" dirty="0">
                              <a:effectLst/>
                              <a:latin typeface="Cambria" charset="0"/>
                              <a:ea typeface="Times New Roman" charset="0"/>
                              <a:cs typeface="Times New Roman" charset="0"/>
                            </a:rPr>
                            <a:t> </a:t>
                          </a:r>
                        </a:p>
                      </a:txBody>
                      <a:tcPr marL="27662" marR="2766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1"/>
                      </a:ext>
                    </a:extLst>
                  </a:tr>
                  <a:tr h="378987">
                    <a:tc>
                      <a:txBody>
                        <a:bodyPr/>
                        <a:lstStyle/>
                        <a:p>
                          <a:pPr marL="0" marR="0" algn="ctr">
                            <a:spcBef>
                              <a:spcPts val="0"/>
                            </a:spcBef>
                            <a:spcAft>
                              <a:spcPts val="0"/>
                            </a:spcAft>
                          </a:pPr>
                          <a:r>
                            <a:rPr lang="en-US" sz="2000" b="1">
                              <a:effectLst/>
                              <a:latin typeface="Verdana" charset="0"/>
                              <a:ea typeface="Times New Roman" charset="0"/>
                              <a:cs typeface="Times New Roman" charset="0"/>
                            </a:rPr>
                            <a:t>Statement</a:t>
                          </a:r>
                          <a:endParaRPr lang="en-US" sz="2000">
                            <a:effectLst/>
                            <a:latin typeface="Cambria" charset="0"/>
                            <a:ea typeface="Times New Roman" charset="0"/>
                            <a:cs typeface="Times New Roman" charset="0"/>
                          </a:endParaRPr>
                        </a:p>
                      </a:txBody>
                      <a:tcPr marL="27662" marR="2766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Times New Roman" charset="0"/>
                              <a:cs typeface="Times New Roman" charset="0"/>
                            </a:rPr>
                            <a:t>Reason</a:t>
                          </a:r>
                          <a:endParaRPr lang="en-US" sz="2000">
                            <a:effectLst/>
                            <a:latin typeface="Cambria" charset="0"/>
                            <a:ea typeface="Times New Roman" charset="0"/>
                            <a:cs typeface="Times New Roman" charset="0"/>
                          </a:endParaRPr>
                        </a:p>
                      </a:txBody>
                      <a:tcPr marL="27662" marR="2766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2"/>
                      </a:ext>
                    </a:extLst>
                  </a:tr>
                  <a:tr h="406913">
                    <a:tc>
                      <a:txBody>
                        <a:bodyPr/>
                        <a:lstStyle/>
                        <a:p>
                          <a:pPr marL="0" marR="0" algn="l">
                            <a:spcBef>
                              <a:spcPts val="0"/>
                            </a:spcBef>
                            <a:spcAft>
                              <a:spcPts val="0"/>
                            </a:spcAft>
                          </a:pPr>
                          <a:r>
                            <a:rPr lang="en-US" sz="2000">
                              <a:effectLst/>
                              <a:latin typeface="Cambria" charset="0"/>
                              <a:ea typeface="Times New Roman" charset="0"/>
                              <a:cs typeface="Times New Roman" charset="0"/>
                            </a:rPr>
                            <a:t> </a:t>
                          </a:r>
                        </a:p>
                      </a:txBody>
                      <a:tcPr marL="27662" marR="2766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27662" marR="2766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06913">
                    <a:tc>
                      <a:txBody>
                        <a:bodyPr/>
                        <a:lstStyle/>
                        <a:p>
                          <a:pPr marL="0" marR="0" algn="ctr">
                            <a:spcBef>
                              <a:spcPts val="0"/>
                            </a:spcBef>
                            <a:spcAft>
                              <a:spcPts val="0"/>
                            </a:spcAft>
                          </a:pPr>
                          <a:r>
                            <a:rPr lang="en-US" sz="2000">
                              <a:effectLst/>
                              <a:latin typeface="Calibri" charset="0"/>
                              <a:ea typeface="Calibri" charset="0"/>
                              <a:cs typeface="Times New Roman" charset="0"/>
                            </a:rPr>
                            <a:t> </a:t>
                          </a:r>
                          <a:endParaRPr lang="en-US" sz="2000">
                            <a:effectLst/>
                            <a:latin typeface="Cambria" charset="0"/>
                            <a:ea typeface="Times New Roman" charset="0"/>
                            <a:cs typeface="Times New Roman" charset="0"/>
                          </a:endParaRPr>
                        </a:p>
                      </a:txBody>
                      <a:tcPr marL="27662" marR="2766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27662" marR="2766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06913">
                    <a:tc>
                      <a:txBody>
                        <a:bodyPr/>
                        <a:lstStyle/>
                        <a:p>
                          <a:pPr marL="0" marR="0" algn="ctr">
                            <a:spcBef>
                              <a:spcPts val="0"/>
                            </a:spcBef>
                            <a:spcAft>
                              <a:spcPts val="0"/>
                            </a:spcAft>
                          </a:pPr>
                          <a:r>
                            <a:rPr lang="en-US" sz="2000">
                              <a:effectLst/>
                              <a:latin typeface="Verdana" charset="0"/>
                              <a:ea typeface="Calibri" charset="0"/>
                              <a:cs typeface="Times New Roman" charset="0"/>
                            </a:rPr>
                            <a:t> </a:t>
                          </a:r>
                          <a:endParaRPr lang="en-US" sz="2000">
                            <a:effectLst/>
                            <a:latin typeface="Cambria" charset="0"/>
                            <a:ea typeface="Times New Roman" charset="0"/>
                            <a:cs typeface="Times New Roman" charset="0"/>
                          </a:endParaRPr>
                        </a:p>
                      </a:txBody>
                      <a:tcPr marL="27662" marR="2766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27662" marR="2766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06913">
                    <a:tc>
                      <a:txBody>
                        <a:bodyPr/>
                        <a:lstStyle/>
                        <a:p>
                          <a:pPr marL="0" marR="0" algn="l">
                            <a:spcBef>
                              <a:spcPts val="0"/>
                            </a:spcBef>
                            <a:spcAft>
                              <a:spcPts val="0"/>
                            </a:spcAft>
                          </a:pPr>
                          <a:r>
                            <a:rPr lang="en-US" sz="2000">
                              <a:effectLst/>
                              <a:latin typeface="Cambria" charset="0"/>
                              <a:ea typeface="Times New Roman" charset="0"/>
                              <a:cs typeface="Times New Roman" charset="0"/>
                            </a:rPr>
                            <a:t> </a:t>
                          </a:r>
                        </a:p>
                      </a:txBody>
                      <a:tcPr marL="27662" marR="2766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Times New Roman" charset="0"/>
                              <a:cs typeface="Times New Roman" charset="0"/>
                            </a:rPr>
                            <a:t> </a:t>
                          </a:r>
                          <a:endParaRPr lang="en-US" sz="2000" dirty="0">
                            <a:effectLst/>
                            <a:latin typeface="Cambria" charset="0"/>
                            <a:ea typeface="Times New Roman" charset="0"/>
                            <a:cs typeface="Times New Roman" charset="0"/>
                          </a:endParaRPr>
                        </a:p>
                      </a:txBody>
                      <a:tcPr marL="27662" marR="2766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406913">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27662" marR="2766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Times New Roman" charset="0"/>
                              <a:cs typeface="Times New Roman" charset="0"/>
                            </a:rPr>
                            <a:t> </a:t>
                          </a:r>
                          <a:endParaRPr lang="en-US" sz="2000" dirty="0">
                            <a:effectLst/>
                            <a:latin typeface="Cambria" charset="0"/>
                            <a:ea typeface="Times New Roman" charset="0"/>
                            <a:cs typeface="Times New Roman" charset="0"/>
                          </a:endParaRPr>
                        </a:p>
                      </a:txBody>
                      <a:tcPr marL="27662" marR="2766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190856150"/>
                  </p:ext>
                </p:extLst>
              </p:nvPr>
            </p:nvGraphicFramePr>
            <p:xfrm>
              <a:off x="533893" y="306917"/>
              <a:ext cx="7783504" cy="6150882"/>
            </p:xfrm>
            <a:graphic>
              <a:graphicData uri="http://schemas.openxmlformats.org/drawingml/2006/table">
                <a:tbl>
                  <a:tblPr firstRow="1" firstCol="1" bandRow="1"/>
                  <a:tblGrid>
                    <a:gridCol w="3262568">
                      <a:extLst>
                        <a:ext uri="{9D8B030D-6E8A-4147-A177-3AD203B41FA5}">
                          <a16:colId xmlns:a16="http://schemas.microsoft.com/office/drawing/2014/main" val="20000"/>
                        </a:ext>
                      </a:extLst>
                    </a:gridCol>
                    <a:gridCol w="4520936">
                      <a:extLst>
                        <a:ext uri="{9D8B030D-6E8A-4147-A177-3AD203B41FA5}">
                          <a16:colId xmlns:a16="http://schemas.microsoft.com/office/drawing/2014/main" val="20001"/>
                        </a:ext>
                      </a:extLst>
                    </a:gridCol>
                  </a:tblGrid>
                  <a:tr h="378987">
                    <a:tc gridSpan="2">
                      <a:txBody>
                        <a:bodyPr/>
                        <a:lstStyle/>
                        <a:p>
                          <a:pPr marL="0" marR="0" algn="ctr">
                            <a:spcBef>
                              <a:spcPts val="0"/>
                            </a:spcBef>
                            <a:spcAft>
                              <a:spcPts val="0"/>
                            </a:spcAft>
                          </a:pPr>
                          <a:r>
                            <a:rPr lang="en-US" sz="2000" b="1">
                              <a:effectLst/>
                              <a:latin typeface="Verdana" charset="0"/>
                              <a:ea typeface="Times New Roman" charset="0"/>
                              <a:cs typeface="Times New Roman" charset="0"/>
                            </a:rPr>
                            <a:t>Proof C</a:t>
                          </a:r>
                          <a:endParaRPr lang="en-US" sz="2000">
                            <a:effectLst/>
                            <a:latin typeface="Cambria" charset="0"/>
                            <a:ea typeface="Times New Roman" charset="0"/>
                            <a:cs typeface="Times New Roman" charset="0"/>
                          </a:endParaRPr>
                        </a:p>
                      </a:txBody>
                      <a:tcPr marL="27662" marR="2766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val="10000"/>
                      </a:ext>
                    </a:extLst>
                  </a:tr>
                  <a:tr h="3358343">
                    <a:tc gridSpan="2">
                      <a:txBody>
                        <a:bodyPr/>
                        <a:lstStyle/>
                        <a:p>
                          <a:endParaRPr lang="en-US"/>
                        </a:p>
                      </a:txBody>
                      <a:tcPr marL="27662" marR="2766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78" t="-12500" r="-156" b="-72101"/>
                          </a:stretch>
                        </a:blipFill>
                      </a:tcPr>
                    </a:tc>
                    <a:tc hMerge="1">
                      <a:txBody>
                        <a:bodyPr/>
                        <a:lstStyle/>
                        <a:p>
                          <a:endParaRPr lang="en-US"/>
                        </a:p>
                      </a:txBody>
                      <a:tcPr/>
                    </a:tc>
                    <a:extLst>
                      <a:ext uri="{0D108BD9-81ED-4DB2-BD59-A6C34878D82A}">
                        <a16:rowId xmlns:a16="http://schemas.microsoft.com/office/drawing/2014/main" val="10001"/>
                      </a:ext>
                    </a:extLst>
                  </a:tr>
                  <a:tr h="378987">
                    <a:tc>
                      <a:txBody>
                        <a:bodyPr/>
                        <a:lstStyle/>
                        <a:p>
                          <a:pPr marL="0" marR="0" algn="ctr">
                            <a:spcBef>
                              <a:spcPts val="0"/>
                            </a:spcBef>
                            <a:spcAft>
                              <a:spcPts val="0"/>
                            </a:spcAft>
                          </a:pPr>
                          <a:r>
                            <a:rPr lang="en-US" sz="2000" b="1">
                              <a:effectLst/>
                              <a:latin typeface="Verdana" charset="0"/>
                              <a:ea typeface="Times New Roman" charset="0"/>
                              <a:cs typeface="Times New Roman" charset="0"/>
                            </a:rPr>
                            <a:t>Statement</a:t>
                          </a:r>
                          <a:endParaRPr lang="en-US" sz="2000">
                            <a:effectLst/>
                            <a:latin typeface="Cambria" charset="0"/>
                            <a:ea typeface="Times New Roman" charset="0"/>
                            <a:cs typeface="Times New Roman" charset="0"/>
                          </a:endParaRPr>
                        </a:p>
                      </a:txBody>
                      <a:tcPr marL="27662" marR="2766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Times New Roman" charset="0"/>
                              <a:cs typeface="Times New Roman" charset="0"/>
                            </a:rPr>
                            <a:t>Reason</a:t>
                          </a:r>
                          <a:endParaRPr lang="en-US" sz="2000">
                            <a:effectLst/>
                            <a:latin typeface="Cambria" charset="0"/>
                            <a:ea typeface="Times New Roman" charset="0"/>
                            <a:cs typeface="Times New Roman" charset="0"/>
                          </a:endParaRPr>
                        </a:p>
                      </a:txBody>
                      <a:tcPr marL="27662" marR="2766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2"/>
                      </a:ext>
                    </a:extLst>
                  </a:tr>
                  <a:tr h="406913">
                    <a:tc>
                      <a:txBody>
                        <a:bodyPr/>
                        <a:lstStyle/>
                        <a:p>
                          <a:pPr marL="0" marR="0" algn="l">
                            <a:spcBef>
                              <a:spcPts val="0"/>
                            </a:spcBef>
                            <a:spcAft>
                              <a:spcPts val="0"/>
                            </a:spcAft>
                          </a:pPr>
                          <a:r>
                            <a:rPr lang="en-US" sz="2000">
                              <a:effectLst/>
                              <a:latin typeface="Cambria" charset="0"/>
                              <a:ea typeface="Times New Roman" charset="0"/>
                              <a:cs typeface="Times New Roman" charset="0"/>
                            </a:rPr>
                            <a:t> </a:t>
                          </a:r>
                        </a:p>
                      </a:txBody>
                      <a:tcPr marL="27662" marR="2766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27662" marR="2766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06913">
                    <a:tc>
                      <a:txBody>
                        <a:bodyPr/>
                        <a:lstStyle/>
                        <a:p>
                          <a:pPr marL="0" marR="0" algn="ctr">
                            <a:spcBef>
                              <a:spcPts val="0"/>
                            </a:spcBef>
                            <a:spcAft>
                              <a:spcPts val="0"/>
                            </a:spcAft>
                          </a:pPr>
                          <a:r>
                            <a:rPr lang="en-US" sz="2000">
                              <a:effectLst/>
                              <a:latin typeface="Calibri" charset="0"/>
                              <a:ea typeface="Calibri" charset="0"/>
                              <a:cs typeface="Times New Roman" charset="0"/>
                            </a:rPr>
                            <a:t> </a:t>
                          </a:r>
                          <a:endParaRPr lang="en-US" sz="2000">
                            <a:effectLst/>
                            <a:latin typeface="Cambria" charset="0"/>
                            <a:ea typeface="Times New Roman" charset="0"/>
                            <a:cs typeface="Times New Roman" charset="0"/>
                          </a:endParaRPr>
                        </a:p>
                      </a:txBody>
                      <a:tcPr marL="27662" marR="2766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27662" marR="2766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06913">
                    <a:tc>
                      <a:txBody>
                        <a:bodyPr/>
                        <a:lstStyle/>
                        <a:p>
                          <a:pPr marL="0" marR="0" algn="ctr">
                            <a:spcBef>
                              <a:spcPts val="0"/>
                            </a:spcBef>
                            <a:spcAft>
                              <a:spcPts val="0"/>
                            </a:spcAft>
                          </a:pPr>
                          <a:r>
                            <a:rPr lang="en-US" sz="2000">
                              <a:effectLst/>
                              <a:latin typeface="Verdana" charset="0"/>
                              <a:ea typeface="Calibri" charset="0"/>
                              <a:cs typeface="Times New Roman" charset="0"/>
                            </a:rPr>
                            <a:t> </a:t>
                          </a:r>
                          <a:endParaRPr lang="en-US" sz="2000">
                            <a:effectLst/>
                            <a:latin typeface="Cambria" charset="0"/>
                            <a:ea typeface="Times New Roman" charset="0"/>
                            <a:cs typeface="Times New Roman" charset="0"/>
                          </a:endParaRPr>
                        </a:p>
                      </a:txBody>
                      <a:tcPr marL="27662" marR="2766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27662" marR="2766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06913">
                    <a:tc>
                      <a:txBody>
                        <a:bodyPr/>
                        <a:lstStyle/>
                        <a:p>
                          <a:pPr marL="0" marR="0" algn="l">
                            <a:spcBef>
                              <a:spcPts val="0"/>
                            </a:spcBef>
                            <a:spcAft>
                              <a:spcPts val="0"/>
                            </a:spcAft>
                          </a:pPr>
                          <a:r>
                            <a:rPr lang="en-US" sz="2000">
                              <a:effectLst/>
                              <a:latin typeface="Cambria" charset="0"/>
                              <a:ea typeface="Times New Roman" charset="0"/>
                              <a:cs typeface="Times New Roman" charset="0"/>
                            </a:rPr>
                            <a:t> </a:t>
                          </a:r>
                        </a:p>
                      </a:txBody>
                      <a:tcPr marL="27662" marR="2766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Times New Roman" charset="0"/>
                              <a:cs typeface="Times New Roman" charset="0"/>
                            </a:rPr>
                            <a:t> </a:t>
                          </a:r>
                          <a:endParaRPr lang="en-US" sz="2000" dirty="0">
                            <a:effectLst/>
                            <a:latin typeface="Cambria" charset="0"/>
                            <a:ea typeface="Times New Roman" charset="0"/>
                            <a:cs typeface="Times New Roman" charset="0"/>
                          </a:endParaRPr>
                        </a:p>
                      </a:txBody>
                      <a:tcPr marL="27662" marR="2766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406913">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27662" marR="2766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Times New Roman" charset="0"/>
                              <a:cs typeface="Times New Roman" charset="0"/>
                            </a:rPr>
                            <a:t> </a:t>
                          </a:r>
                          <a:endParaRPr lang="en-US" sz="2000" dirty="0">
                            <a:effectLst/>
                            <a:latin typeface="Cambria" charset="0"/>
                            <a:ea typeface="Times New Roman" charset="0"/>
                            <a:cs typeface="Times New Roman" charset="0"/>
                          </a:endParaRPr>
                        </a:p>
                      </a:txBody>
                      <a:tcPr marL="27662" marR="2766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mc:Fallback>
      </mc:AlternateContent>
      <p:pic>
        <p:nvPicPr>
          <p:cNvPr id="3073" name="Picture 14"/>
          <p:cNvPicPr>
            <a:picLocks noChangeAspect="1" noChangeArrowheads="1"/>
          </p:cNvPicPr>
          <p:nvPr/>
        </p:nvPicPr>
        <p:blipFill>
          <a:blip r:embed="rId5">
            <a:extLst>
              <a:ext uri="{28A0092B-C50C-407E-A947-70E740481C1C}">
                <a14:useLocalDpi xmlns:a14="http://schemas.microsoft.com/office/drawing/2010/main"/>
              </a:ext>
            </a:extLst>
          </a:blip>
          <a:srcRect l="5151" b="4234"/>
          <a:stretch>
            <a:fillRect/>
          </a:stretch>
        </p:blipFill>
        <p:spPr bwMode="auto">
          <a:xfrm>
            <a:off x="4567025" y="806036"/>
            <a:ext cx="3130602" cy="30996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20911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172</a:t>
            </a:r>
          </a:p>
        </p:txBody>
      </p:sp>
      <p:sp>
        <p:nvSpPr>
          <p:cNvPr id="6" name="Google Shape;278;g104476d1465_1_17">
            <a:extLst>
              <a:ext uri="{FF2B5EF4-FFF2-40B4-BE49-F238E27FC236}">
                <a16:creationId xmlns:a16="http://schemas.microsoft.com/office/drawing/2014/main" id="{44C210D6-0F1D-3545-B73D-9B9FC6EA0352}"/>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884072406"/>
                  </p:ext>
                </p:extLst>
              </p:nvPr>
            </p:nvGraphicFramePr>
            <p:xfrm>
              <a:off x="550429" y="306788"/>
              <a:ext cx="7797964" cy="6159112"/>
            </p:xfrm>
            <a:graphic>
              <a:graphicData uri="http://schemas.openxmlformats.org/drawingml/2006/table">
                <a:tbl>
                  <a:tblPr firstRow="1" firstCol="1" bandRow="1"/>
                  <a:tblGrid>
                    <a:gridCol w="3278591">
                      <a:extLst>
                        <a:ext uri="{9D8B030D-6E8A-4147-A177-3AD203B41FA5}">
                          <a16:colId xmlns:a16="http://schemas.microsoft.com/office/drawing/2014/main" val="20000"/>
                        </a:ext>
                      </a:extLst>
                    </a:gridCol>
                    <a:gridCol w="4519373">
                      <a:extLst>
                        <a:ext uri="{9D8B030D-6E8A-4147-A177-3AD203B41FA5}">
                          <a16:colId xmlns:a16="http://schemas.microsoft.com/office/drawing/2014/main" val="20001"/>
                        </a:ext>
                      </a:extLst>
                    </a:gridCol>
                  </a:tblGrid>
                  <a:tr h="370124">
                    <a:tc gridSpan="2">
                      <a:txBody>
                        <a:bodyPr/>
                        <a:lstStyle/>
                        <a:p>
                          <a:pPr marL="0" marR="0" algn="ctr">
                            <a:spcBef>
                              <a:spcPts val="0"/>
                            </a:spcBef>
                            <a:spcAft>
                              <a:spcPts val="0"/>
                            </a:spcAft>
                          </a:pPr>
                          <a:r>
                            <a:rPr lang="en-US" sz="2000" b="1">
                              <a:effectLst/>
                              <a:latin typeface="Verdana" charset="0"/>
                              <a:ea typeface="Times New Roman" charset="0"/>
                              <a:cs typeface="Times New Roman" charset="0"/>
                            </a:rPr>
                            <a:t>Proof D</a:t>
                          </a:r>
                          <a:endParaRPr lang="en-US" sz="2000">
                            <a:effectLst/>
                            <a:latin typeface="Cambria" charset="0"/>
                            <a:ea typeface="Times New Roman" charset="0"/>
                            <a:cs typeface="Times New Roman" charset="0"/>
                          </a:endParaRPr>
                        </a:p>
                      </a:txBody>
                      <a:tcPr marL="32947" marR="329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val="10000"/>
                      </a:ext>
                    </a:extLst>
                  </a:tr>
                  <a:tr h="3047460">
                    <a:tc gridSpan="2">
                      <a:txBody>
                        <a:bodyPr/>
                        <a:lstStyle/>
                        <a:p>
                          <a:pPr marL="0" marR="0" algn="ctr">
                            <a:spcBef>
                              <a:spcPts val="0"/>
                            </a:spcBef>
                            <a:spcAft>
                              <a:spcPts val="0"/>
                            </a:spcAft>
                          </a:pPr>
                          <a:endParaRPr lang="en-US" sz="2000" dirty="0">
                            <a:effectLst/>
                            <a:latin typeface="Cambria" charset="0"/>
                            <a:ea typeface="Times New Roman" charset="0"/>
                            <a:cs typeface="Times New Roman" charset="0"/>
                          </a:endParaRPr>
                        </a:p>
                        <a:p>
                          <a:pPr marL="0" marR="0">
                            <a:spcBef>
                              <a:spcPts val="0"/>
                            </a:spcBef>
                            <a:spcAft>
                              <a:spcPts val="0"/>
                            </a:spcAft>
                          </a:pPr>
                          <a:r>
                            <a:rPr lang="en-US" sz="2000" dirty="0">
                              <a:effectLst/>
                              <a:latin typeface="Verdana" charset="0"/>
                              <a:ea typeface="Times New Roman" charset="0"/>
                              <a:cs typeface="Times New Roman" charset="0"/>
                            </a:rPr>
                            <a:t>Given: </a:t>
                          </a:r>
                          <a14:m>
                            <m:oMath xmlns:m="http://schemas.openxmlformats.org/officeDocument/2006/math">
                              <m:acc>
                                <m:accPr>
                                  <m:chr m:val="⃡"/>
                                  <m:ctrlPr>
                                    <a:rPr lang="en-US" sz="2000" i="1">
                                      <a:effectLst/>
                                      <a:latin typeface="Cambria Math" panose="02040503050406030204" pitchFamily="18" charset="0"/>
                                      <a:ea typeface="Times New Roman" charset="0"/>
                                      <a:cs typeface="Times New Roman" charset="0"/>
                                    </a:rPr>
                                  </m:ctrlPr>
                                </m:accPr>
                                <m:e>
                                  <m:r>
                                    <a:rPr lang="en-US" sz="2000" i="1">
                                      <a:effectLst/>
                                      <a:latin typeface="Cambria Math" charset="0"/>
                                      <a:ea typeface="Times New Roman" charset="0"/>
                                      <a:cs typeface="Times New Roman" charset="0"/>
                                    </a:rPr>
                                    <m:t>𝑅𝑇</m:t>
                                  </m:r>
                                </m:e>
                              </m:acc>
                              <m:r>
                                <a:rPr lang="en-US" sz="2000" i="1">
                                  <a:effectLst/>
                                  <a:latin typeface="Cambria Math" charset="0"/>
                                  <a:ea typeface="Times New Roman" charset="0"/>
                                  <a:cs typeface="Times New Roman" charset="0"/>
                                </a:rPr>
                                <m:t>∥</m:t>
                              </m:r>
                              <m:acc>
                                <m:accPr>
                                  <m:chr m:val="⃡"/>
                                  <m:ctrlPr>
                                    <a:rPr lang="en-US" sz="2000" i="1">
                                      <a:effectLst/>
                                      <a:latin typeface="Cambria Math" panose="02040503050406030204" pitchFamily="18" charset="0"/>
                                      <a:ea typeface="Times New Roman" charset="0"/>
                                      <a:cs typeface="Times New Roman" charset="0"/>
                                    </a:rPr>
                                  </m:ctrlPr>
                                </m:accPr>
                                <m:e>
                                  <m:r>
                                    <a:rPr lang="en-US" sz="2000" i="1">
                                      <a:effectLst/>
                                      <a:latin typeface="Cambria Math" charset="0"/>
                                      <a:ea typeface="Times New Roman" charset="0"/>
                                      <a:cs typeface="Times New Roman" charset="0"/>
                                    </a:rPr>
                                    <m:t>𝑍𝐾</m:t>
                                  </m:r>
                                </m:e>
                              </m:acc>
                            </m:oMath>
                          </a14:m>
                          <a:r>
                            <a:rPr lang="en-US" sz="2000" dirty="0">
                              <a:effectLst/>
                              <a:latin typeface="Verdana" charset="0"/>
                              <a:ea typeface="Times New Roman" charset="0"/>
                              <a:cs typeface="Times New Roman" charset="0"/>
                            </a:rPr>
                            <a:t>,  </a:t>
                          </a:r>
                          <a:endParaRPr lang="en-US" sz="2000" dirty="0">
                            <a:effectLst/>
                            <a:latin typeface="Cambria" charset="0"/>
                            <a:ea typeface="Times New Roman" charset="0"/>
                            <a:cs typeface="Times New Roman" charset="0"/>
                          </a:endParaRPr>
                        </a:p>
                        <a:p>
                          <a:pPr marL="838200" marR="0">
                            <a:spcBef>
                              <a:spcPts val="0"/>
                            </a:spcBef>
                            <a:spcAft>
                              <a:spcPts val="0"/>
                            </a:spcAft>
                          </a:pPr>
                          <a14:m>
                            <m:oMathPara xmlns:m="http://schemas.openxmlformats.org/officeDocument/2006/math">
                              <m:oMathParaPr>
                                <m:jc m:val="left"/>
                              </m:oMathParaPr>
                              <m:oMath xmlns:m="http://schemas.openxmlformats.org/officeDocument/2006/math">
                                <m:r>
                                  <a:rPr lang="en-US" sz="2000" i="1">
                                    <a:effectLst/>
                                    <a:latin typeface="Cambria Math" charset="0"/>
                                    <a:ea typeface="Times New Roman" charset="0"/>
                                    <a:cs typeface="Times New Roman" charset="0"/>
                                  </a:rPr>
                                  <m:t>∠</m:t>
                                </m:r>
                                <m:r>
                                  <a:rPr lang="en-US" sz="2000" i="1">
                                    <a:effectLst/>
                                    <a:latin typeface="Cambria Math" charset="0"/>
                                    <a:ea typeface="Times New Roman" charset="0"/>
                                    <a:cs typeface="Times New Roman" charset="0"/>
                                  </a:rPr>
                                  <m:t>𝑇𝑀𝑉</m:t>
                                </m:r>
                                <m:r>
                                  <a:rPr lang="en-US" sz="2000" i="1">
                                    <a:effectLst/>
                                    <a:latin typeface="Cambria Math" charset="0"/>
                                    <a:ea typeface="Times New Roman" charset="0"/>
                                    <a:cs typeface="Times New Roman" charset="0"/>
                                  </a:rPr>
                                  <m:t>≅∠</m:t>
                                </m:r>
                                <m:r>
                                  <a:rPr lang="en-US" sz="2000" i="1">
                                    <a:effectLst/>
                                    <a:latin typeface="Cambria Math" charset="0"/>
                                    <a:ea typeface="Times New Roman" charset="0"/>
                                    <a:cs typeface="Times New Roman" charset="0"/>
                                  </a:rPr>
                                  <m:t>𝐴𝑉𝐷</m:t>
                                </m:r>
                                <m:r>
                                  <a:rPr lang="en-US" sz="2000" i="1">
                                    <a:effectLst/>
                                    <a:latin typeface="Cambria Math" charset="0"/>
                                    <a:ea typeface="Times New Roman" charset="0"/>
                                    <a:cs typeface="Times New Roman" charset="0"/>
                                  </a:rPr>
                                  <m:t>  </m:t>
                                </m:r>
                              </m:oMath>
                            </m:oMathPara>
                          </a14:m>
                          <a:endParaRPr lang="en-US" sz="2000" dirty="0">
                            <a:effectLst/>
                            <a:latin typeface="Cambria" charset="0"/>
                            <a:ea typeface="Times New Roman" charset="0"/>
                            <a:cs typeface="Times New Roman" charset="0"/>
                          </a:endParaRPr>
                        </a:p>
                        <a:p>
                          <a:pPr marL="0" marR="0">
                            <a:spcBef>
                              <a:spcPts val="0"/>
                            </a:spcBef>
                            <a:spcAft>
                              <a:spcPts val="0"/>
                            </a:spcAft>
                          </a:pPr>
                          <a:r>
                            <a:rPr lang="en-US" sz="2000" dirty="0">
                              <a:effectLst/>
                              <a:latin typeface="Cambria" charset="0"/>
                              <a:ea typeface="Times New Roman" charset="0"/>
                              <a:cs typeface="Times New Roman" charset="0"/>
                            </a:rPr>
                            <a:t> </a:t>
                          </a:r>
                        </a:p>
                        <a:p>
                          <a:pPr marL="0" marR="0">
                            <a:spcBef>
                              <a:spcPts val="0"/>
                            </a:spcBef>
                            <a:spcAft>
                              <a:spcPts val="0"/>
                            </a:spcAft>
                          </a:pPr>
                          <a:r>
                            <a:rPr lang="en-US" sz="2000" dirty="0">
                              <a:effectLst/>
                              <a:latin typeface="Verdana" charset="0"/>
                              <a:ea typeface="Times New Roman" charset="0"/>
                              <a:cs typeface="Times New Roman" charset="0"/>
                            </a:rPr>
                            <a:t>Prove: </a:t>
                          </a:r>
                          <a14:m>
                            <m:oMath xmlns:m="http://schemas.openxmlformats.org/officeDocument/2006/math">
                              <m:acc>
                                <m:accPr>
                                  <m:chr m:val="⃡"/>
                                  <m:ctrlPr>
                                    <a:rPr lang="en-US" sz="2000" i="1">
                                      <a:effectLst/>
                                      <a:latin typeface="Cambria Math" panose="02040503050406030204" pitchFamily="18" charset="0"/>
                                      <a:ea typeface="Times New Roman" charset="0"/>
                                      <a:cs typeface="Times New Roman" charset="0"/>
                                    </a:rPr>
                                  </m:ctrlPr>
                                </m:accPr>
                                <m:e>
                                  <m:r>
                                    <a:rPr lang="en-US" sz="2000" i="1">
                                      <a:effectLst/>
                                      <a:latin typeface="Cambria Math" charset="0"/>
                                      <a:ea typeface="Times New Roman" charset="0"/>
                                      <a:cs typeface="Times New Roman" charset="0"/>
                                    </a:rPr>
                                    <m:t>𝐻𝐷</m:t>
                                  </m:r>
                                </m:e>
                              </m:acc>
                              <m:r>
                                <a:rPr lang="en-US" sz="2000" i="1">
                                  <a:effectLst/>
                                  <a:latin typeface="Cambria Math" charset="0"/>
                                  <a:ea typeface="Times New Roman" charset="0"/>
                                  <a:cs typeface="Times New Roman" charset="0"/>
                                </a:rPr>
                                <m:t>∥</m:t>
                              </m:r>
                              <m:acc>
                                <m:accPr>
                                  <m:chr m:val="⃡"/>
                                  <m:ctrlPr>
                                    <a:rPr lang="en-US" sz="2000" i="1">
                                      <a:effectLst/>
                                      <a:latin typeface="Cambria Math" panose="02040503050406030204" pitchFamily="18" charset="0"/>
                                      <a:ea typeface="Times New Roman" charset="0"/>
                                      <a:cs typeface="Times New Roman" charset="0"/>
                                    </a:rPr>
                                  </m:ctrlPr>
                                </m:accPr>
                                <m:e>
                                  <m:r>
                                    <a:rPr lang="en-US" sz="2000" i="1">
                                      <a:effectLst/>
                                      <a:latin typeface="Cambria Math" charset="0"/>
                                      <a:ea typeface="Times New Roman" charset="0"/>
                                      <a:cs typeface="Times New Roman" charset="0"/>
                                    </a:rPr>
                                    <m:t>𝑍𝐾</m:t>
                                  </m:r>
                                </m:e>
                              </m:acc>
                            </m:oMath>
                          </a14:m>
                          <a:endParaRPr lang="en-US" sz="2000" dirty="0">
                            <a:effectLst/>
                            <a:latin typeface="Cambria" charset="0"/>
                            <a:ea typeface="Times New Roman" charset="0"/>
                            <a:cs typeface="Times New Roman" charset="0"/>
                          </a:endParaRPr>
                        </a:p>
                        <a:p>
                          <a:pPr marL="0" marR="0">
                            <a:spcBef>
                              <a:spcPts val="0"/>
                            </a:spcBef>
                            <a:spcAft>
                              <a:spcPts val="0"/>
                            </a:spcAft>
                          </a:pPr>
                          <a:r>
                            <a:rPr lang="en-US" sz="2000" dirty="0">
                              <a:effectLst/>
                              <a:latin typeface="Cambria" charset="0"/>
                              <a:ea typeface="Times New Roman" charset="0"/>
                              <a:cs typeface="Times New Roman" charset="0"/>
                            </a:rPr>
                            <a:t> </a:t>
                          </a:r>
                        </a:p>
                        <a:p>
                          <a:pPr marL="0" marR="0">
                            <a:spcBef>
                              <a:spcPts val="0"/>
                            </a:spcBef>
                            <a:spcAft>
                              <a:spcPts val="0"/>
                            </a:spcAft>
                          </a:pPr>
                          <a:r>
                            <a:rPr lang="en-US" sz="2000" dirty="0">
                              <a:effectLst/>
                              <a:latin typeface="Cambria" charset="0"/>
                              <a:ea typeface="Times New Roman" charset="0"/>
                              <a:cs typeface="Times New Roman" charset="0"/>
                            </a:rPr>
                            <a:t> </a:t>
                          </a:r>
                        </a:p>
                      </a:txBody>
                      <a:tcPr marL="32947" marR="329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1"/>
                      </a:ext>
                    </a:extLst>
                  </a:tr>
                  <a:tr h="370124">
                    <a:tc>
                      <a:txBody>
                        <a:bodyPr/>
                        <a:lstStyle/>
                        <a:p>
                          <a:pPr marL="0" marR="0" algn="ctr">
                            <a:spcBef>
                              <a:spcPts val="0"/>
                            </a:spcBef>
                            <a:spcAft>
                              <a:spcPts val="0"/>
                            </a:spcAft>
                          </a:pPr>
                          <a:r>
                            <a:rPr lang="en-US" sz="2000" b="1">
                              <a:effectLst/>
                              <a:latin typeface="Verdana" charset="0"/>
                              <a:ea typeface="Times New Roman" charset="0"/>
                              <a:cs typeface="Times New Roman" charset="0"/>
                            </a:rPr>
                            <a:t>Statement</a:t>
                          </a:r>
                          <a:endParaRPr lang="en-US" sz="2000">
                            <a:effectLst/>
                            <a:latin typeface="Cambria" charset="0"/>
                            <a:ea typeface="Times New Roman" charset="0"/>
                            <a:cs typeface="Times New Roman" charset="0"/>
                          </a:endParaRPr>
                        </a:p>
                      </a:txBody>
                      <a:tcPr marL="32947" marR="329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Times New Roman" charset="0"/>
                              <a:cs typeface="Times New Roman" charset="0"/>
                            </a:rPr>
                            <a:t>Reason</a:t>
                          </a:r>
                          <a:endParaRPr lang="en-US" sz="2000">
                            <a:effectLst/>
                            <a:latin typeface="Cambria" charset="0"/>
                            <a:ea typeface="Times New Roman" charset="0"/>
                            <a:cs typeface="Times New Roman" charset="0"/>
                          </a:endParaRPr>
                        </a:p>
                      </a:txBody>
                      <a:tcPr marL="32947" marR="329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2"/>
                      </a:ext>
                    </a:extLst>
                  </a:tr>
                  <a:tr h="592851">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32947" marR="329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32947" marR="329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92851">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32947" marR="329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Times New Roman" charset="0"/>
                              <a:cs typeface="Times New Roman" charset="0"/>
                            </a:rPr>
                            <a:t> </a:t>
                          </a:r>
                          <a:endParaRPr lang="en-US" sz="2000" dirty="0">
                            <a:effectLst/>
                            <a:latin typeface="Cambria" charset="0"/>
                            <a:ea typeface="Times New Roman" charset="0"/>
                            <a:cs typeface="Times New Roman" charset="0"/>
                          </a:endParaRPr>
                        </a:p>
                      </a:txBody>
                      <a:tcPr marL="32947" marR="329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92851">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32947" marR="329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32947" marR="329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92851">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32947" marR="329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Times New Roman" charset="0"/>
                              <a:cs typeface="Times New Roman" charset="0"/>
                            </a:rPr>
                            <a:t> </a:t>
                          </a:r>
                          <a:endParaRPr lang="en-US" sz="2000" dirty="0">
                            <a:effectLst/>
                            <a:latin typeface="Cambria" charset="0"/>
                            <a:ea typeface="Times New Roman" charset="0"/>
                            <a:cs typeface="Times New Roman" charset="0"/>
                          </a:endParaRPr>
                        </a:p>
                      </a:txBody>
                      <a:tcPr marL="32947" marR="329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884072406"/>
                  </p:ext>
                </p:extLst>
              </p:nvPr>
            </p:nvGraphicFramePr>
            <p:xfrm>
              <a:off x="550429" y="306788"/>
              <a:ext cx="7797964" cy="6159112"/>
            </p:xfrm>
            <a:graphic>
              <a:graphicData uri="http://schemas.openxmlformats.org/drawingml/2006/table">
                <a:tbl>
                  <a:tblPr firstRow="1" firstCol="1" bandRow="1"/>
                  <a:tblGrid>
                    <a:gridCol w="3278591">
                      <a:extLst>
                        <a:ext uri="{9D8B030D-6E8A-4147-A177-3AD203B41FA5}">
                          <a16:colId xmlns:a16="http://schemas.microsoft.com/office/drawing/2014/main" val="20000"/>
                        </a:ext>
                      </a:extLst>
                    </a:gridCol>
                    <a:gridCol w="4519373">
                      <a:extLst>
                        <a:ext uri="{9D8B030D-6E8A-4147-A177-3AD203B41FA5}">
                          <a16:colId xmlns:a16="http://schemas.microsoft.com/office/drawing/2014/main" val="20001"/>
                        </a:ext>
                      </a:extLst>
                    </a:gridCol>
                  </a:tblGrid>
                  <a:tr h="370124">
                    <a:tc gridSpan="2">
                      <a:txBody>
                        <a:bodyPr/>
                        <a:lstStyle/>
                        <a:p>
                          <a:pPr marL="0" marR="0" algn="ctr">
                            <a:spcBef>
                              <a:spcPts val="0"/>
                            </a:spcBef>
                            <a:spcAft>
                              <a:spcPts val="0"/>
                            </a:spcAft>
                          </a:pPr>
                          <a:r>
                            <a:rPr lang="en-US" sz="2000" b="1">
                              <a:effectLst/>
                              <a:latin typeface="Verdana" charset="0"/>
                              <a:ea typeface="Times New Roman" charset="0"/>
                              <a:cs typeface="Times New Roman" charset="0"/>
                            </a:rPr>
                            <a:t>Proof D</a:t>
                          </a:r>
                          <a:endParaRPr lang="en-US" sz="2000">
                            <a:effectLst/>
                            <a:latin typeface="Cambria" charset="0"/>
                            <a:ea typeface="Times New Roman" charset="0"/>
                            <a:cs typeface="Times New Roman" charset="0"/>
                          </a:endParaRPr>
                        </a:p>
                      </a:txBody>
                      <a:tcPr marL="32947" marR="329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val="10000"/>
                      </a:ext>
                    </a:extLst>
                  </a:tr>
                  <a:tr h="3047460">
                    <a:tc gridSpan="2">
                      <a:txBody>
                        <a:bodyPr/>
                        <a:lstStyle/>
                        <a:p>
                          <a:endParaRPr lang="en-US"/>
                        </a:p>
                      </a:txBody>
                      <a:tcPr marL="32947" marR="329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78" t="-13600" r="-156" b="-90400"/>
                          </a:stretch>
                        </a:blipFill>
                      </a:tcPr>
                    </a:tc>
                    <a:tc hMerge="1">
                      <a:txBody>
                        <a:bodyPr/>
                        <a:lstStyle/>
                        <a:p>
                          <a:endParaRPr lang="en-US"/>
                        </a:p>
                      </a:txBody>
                      <a:tcPr/>
                    </a:tc>
                    <a:extLst>
                      <a:ext uri="{0D108BD9-81ED-4DB2-BD59-A6C34878D82A}">
                        <a16:rowId xmlns:a16="http://schemas.microsoft.com/office/drawing/2014/main" val="10001"/>
                      </a:ext>
                    </a:extLst>
                  </a:tr>
                  <a:tr h="370124">
                    <a:tc>
                      <a:txBody>
                        <a:bodyPr/>
                        <a:lstStyle/>
                        <a:p>
                          <a:pPr marL="0" marR="0" algn="ctr">
                            <a:spcBef>
                              <a:spcPts val="0"/>
                            </a:spcBef>
                            <a:spcAft>
                              <a:spcPts val="0"/>
                            </a:spcAft>
                          </a:pPr>
                          <a:r>
                            <a:rPr lang="en-US" sz="2000" b="1">
                              <a:effectLst/>
                              <a:latin typeface="Verdana" charset="0"/>
                              <a:ea typeface="Times New Roman" charset="0"/>
                              <a:cs typeface="Times New Roman" charset="0"/>
                            </a:rPr>
                            <a:t>Statement</a:t>
                          </a:r>
                          <a:endParaRPr lang="en-US" sz="2000">
                            <a:effectLst/>
                            <a:latin typeface="Cambria" charset="0"/>
                            <a:ea typeface="Times New Roman" charset="0"/>
                            <a:cs typeface="Times New Roman" charset="0"/>
                          </a:endParaRPr>
                        </a:p>
                      </a:txBody>
                      <a:tcPr marL="32947" marR="329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Times New Roman" charset="0"/>
                              <a:cs typeface="Times New Roman" charset="0"/>
                            </a:rPr>
                            <a:t>Reason</a:t>
                          </a:r>
                          <a:endParaRPr lang="en-US" sz="2000">
                            <a:effectLst/>
                            <a:latin typeface="Cambria" charset="0"/>
                            <a:ea typeface="Times New Roman" charset="0"/>
                            <a:cs typeface="Times New Roman" charset="0"/>
                          </a:endParaRPr>
                        </a:p>
                      </a:txBody>
                      <a:tcPr marL="32947" marR="329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2"/>
                      </a:ext>
                    </a:extLst>
                  </a:tr>
                  <a:tr h="592851">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32947" marR="329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32947" marR="329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92851">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32947" marR="329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Times New Roman" charset="0"/>
                              <a:cs typeface="Times New Roman" charset="0"/>
                            </a:rPr>
                            <a:t> </a:t>
                          </a:r>
                          <a:endParaRPr lang="en-US" sz="2000" dirty="0">
                            <a:effectLst/>
                            <a:latin typeface="Cambria" charset="0"/>
                            <a:ea typeface="Times New Roman" charset="0"/>
                            <a:cs typeface="Times New Roman" charset="0"/>
                          </a:endParaRPr>
                        </a:p>
                      </a:txBody>
                      <a:tcPr marL="32947" marR="329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92851">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32947" marR="329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32947" marR="329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92851">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32947" marR="329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Times New Roman" charset="0"/>
                              <a:cs typeface="Times New Roman" charset="0"/>
                            </a:rPr>
                            <a:t> </a:t>
                          </a:r>
                          <a:endParaRPr lang="en-US" sz="2000" dirty="0">
                            <a:effectLst/>
                            <a:latin typeface="Cambria" charset="0"/>
                            <a:ea typeface="Times New Roman" charset="0"/>
                            <a:cs typeface="Times New Roman" charset="0"/>
                          </a:endParaRPr>
                        </a:p>
                      </a:txBody>
                      <a:tcPr marL="32947" marR="329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mc:Fallback>
      </mc:AlternateContent>
      <p:pic>
        <p:nvPicPr>
          <p:cNvPr id="4097" name="Picture 6"/>
          <p:cNvPicPr>
            <a:picLocks noChangeAspect="1" noChangeArrowheads="1"/>
          </p:cNvPicPr>
          <p:nvPr/>
        </p:nvPicPr>
        <p:blipFill>
          <a:blip r:embed="rId5">
            <a:extLst>
              <a:ext uri="{28A0092B-C50C-407E-A947-70E740481C1C}">
                <a14:useLocalDpi xmlns:a14="http://schemas.microsoft.com/office/drawing/2010/main"/>
              </a:ext>
            </a:extLst>
          </a:blip>
          <a:srcRect l="5704" b="9167"/>
          <a:stretch>
            <a:fillRect/>
          </a:stretch>
        </p:blipFill>
        <p:spPr bwMode="auto">
          <a:xfrm>
            <a:off x="4648988" y="764468"/>
            <a:ext cx="3249955" cy="29129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13446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172</a:t>
            </a:r>
          </a:p>
        </p:txBody>
      </p:sp>
      <p:sp>
        <p:nvSpPr>
          <p:cNvPr id="6" name="Google Shape;278;g104476d1465_1_17">
            <a:extLst>
              <a:ext uri="{FF2B5EF4-FFF2-40B4-BE49-F238E27FC236}">
                <a16:creationId xmlns:a16="http://schemas.microsoft.com/office/drawing/2014/main" id="{44C210D6-0F1D-3545-B73D-9B9FC6EA0352}"/>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428882502"/>
                  </p:ext>
                </p:extLst>
              </p:nvPr>
            </p:nvGraphicFramePr>
            <p:xfrm>
              <a:off x="594340" y="361510"/>
              <a:ext cx="7676562" cy="6104392"/>
            </p:xfrm>
            <a:graphic>
              <a:graphicData uri="http://schemas.openxmlformats.org/drawingml/2006/table">
                <a:tbl>
                  <a:tblPr firstRow="1" firstCol="1" bandRow="1"/>
                  <a:tblGrid>
                    <a:gridCol w="3310137">
                      <a:extLst>
                        <a:ext uri="{9D8B030D-6E8A-4147-A177-3AD203B41FA5}">
                          <a16:colId xmlns:a16="http://schemas.microsoft.com/office/drawing/2014/main" val="20000"/>
                        </a:ext>
                      </a:extLst>
                    </a:gridCol>
                    <a:gridCol w="4366425">
                      <a:extLst>
                        <a:ext uri="{9D8B030D-6E8A-4147-A177-3AD203B41FA5}">
                          <a16:colId xmlns:a16="http://schemas.microsoft.com/office/drawing/2014/main" val="20001"/>
                        </a:ext>
                      </a:extLst>
                    </a:gridCol>
                  </a:tblGrid>
                  <a:tr h="402486">
                    <a:tc gridSpan="2">
                      <a:txBody>
                        <a:bodyPr/>
                        <a:lstStyle/>
                        <a:p>
                          <a:pPr marL="0" marR="0" algn="ctr">
                            <a:spcBef>
                              <a:spcPts val="0"/>
                            </a:spcBef>
                            <a:spcAft>
                              <a:spcPts val="0"/>
                            </a:spcAft>
                          </a:pPr>
                          <a:r>
                            <a:rPr lang="en-US" sz="2000" b="1">
                              <a:effectLst/>
                              <a:latin typeface="Verdana" charset="0"/>
                              <a:ea typeface="Times New Roman" charset="0"/>
                              <a:cs typeface="Times New Roman" charset="0"/>
                            </a:rPr>
                            <a:t>Proof E</a:t>
                          </a:r>
                          <a:endParaRPr lang="en-US" sz="2000">
                            <a:effectLst/>
                            <a:latin typeface="Cambria" charset="0"/>
                            <a:ea typeface="Times New Roman" charset="0"/>
                            <a:cs typeface="Times New Roman" charset="0"/>
                          </a:endParaRPr>
                        </a:p>
                      </a:txBody>
                      <a:tcPr marL="44011" marR="440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val="10000"/>
                      </a:ext>
                    </a:extLst>
                  </a:tr>
                  <a:tr h="3247708">
                    <a:tc gridSpan="2">
                      <a:txBody>
                        <a:bodyPr/>
                        <a:lstStyle/>
                        <a:p>
                          <a:pPr marL="0" marR="0" algn="ctr">
                            <a:spcBef>
                              <a:spcPts val="0"/>
                            </a:spcBef>
                            <a:spcAft>
                              <a:spcPts val="0"/>
                            </a:spcAft>
                          </a:pPr>
                          <a:endParaRPr lang="en-US" sz="2000" dirty="0">
                            <a:effectLst/>
                            <a:latin typeface="Cambria" charset="0"/>
                            <a:ea typeface="Times New Roman" charset="0"/>
                            <a:cs typeface="Times New Roman" charset="0"/>
                          </a:endParaRPr>
                        </a:p>
                        <a:p>
                          <a:pPr marL="0" marR="0" algn="ctr">
                            <a:spcBef>
                              <a:spcPts val="0"/>
                            </a:spcBef>
                            <a:spcAft>
                              <a:spcPts val="0"/>
                            </a:spcAft>
                          </a:pPr>
                          <a:r>
                            <a:rPr lang="en-US" sz="2000" dirty="0">
                              <a:effectLst/>
                              <a:latin typeface="Verdana" charset="0"/>
                              <a:ea typeface="Times New Roman" charset="0"/>
                              <a:cs typeface="Times New Roman" charset="0"/>
                            </a:rPr>
                            <a:t> </a:t>
                          </a:r>
                          <a:endParaRPr lang="en-US" sz="2000" dirty="0">
                            <a:effectLst/>
                            <a:latin typeface="Cambria" charset="0"/>
                            <a:ea typeface="Times New Roman" charset="0"/>
                            <a:cs typeface="Times New Roman" charset="0"/>
                          </a:endParaRPr>
                        </a:p>
                        <a:p>
                          <a:pPr marL="0" marR="0">
                            <a:spcBef>
                              <a:spcPts val="0"/>
                            </a:spcBef>
                            <a:spcAft>
                              <a:spcPts val="0"/>
                            </a:spcAft>
                          </a:pPr>
                          <a:r>
                            <a:rPr lang="en-US" sz="2000" dirty="0">
                              <a:effectLst/>
                              <a:latin typeface="Verdana" charset="0"/>
                              <a:ea typeface="Times New Roman" charset="0"/>
                              <a:cs typeface="Times New Roman" charset="0"/>
                            </a:rPr>
                            <a:t>Given: </a:t>
                          </a:r>
                          <a14:m>
                            <m:oMath xmlns:m="http://schemas.openxmlformats.org/officeDocument/2006/math">
                              <m:acc>
                                <m:accPr>
                                  <m:chr m:val="⃡"/>
                                  <m:ctrlPr>
                                    <a:rPr lang="en-US" sz="2000" i="1">
                                      <a:effectLst/>
                                      <a:latin typeface="Cambria Math" panose="02040503050406030204" pitchFamily="18" charset="0"/>
                                      <a:ea typeface="Times New Roman" charset="0"/>
                                      <a:cs typeface="Times New Roman" charset="0"/>
                                    </a:rPr>
                                  </m:ctrlPr>
                                </m:accPr>
                                <m:e>
                                  <m:r>
                                    <a:rPr lang="en-US" sz="2000" i="1">
                                      <a:effectLst/>
                                      <a:latin typeface="Cambria Math" charset="0"/>
                                      <a:ea typeface="Times New Roman" charset="0"/>
                                      <a:cs typeface="Times New Roman" charset="0"/>
                                    </a:rPr>
                                    <m:t>𝐵𝑃</m:t>
                                  </m:r>
                                </m:e>
                              </m:acc>
                              <m:r>
                                <a:rPr lang="en-US" sz="2000" i="1">
                                  <a:effectLst/>
                                  <a:latin typeface="Cambria Math" charset="0"/>
                                  <a:ea typeface="Times New Roman" charset="0"/>
                                  <a:cs typeface="Times New Roman" charset="0"/>
                                </a:rPr>
                                <m:t>⊥</m:t>
                              </m:r>
                              <m:acc>
                                <m:accPr>
                                  <m:chr m:val="⃡"/>
                                  <m:ctrlPr>
                                    <a:rPr lang="en-US" sz="2000" i="1">
                                      <a:effectLst/>
                                      <a:latin typeface="Cambria Math" panose="02040503050406030204" pitchFamily="18" charset="0"/>
                                      <a:ea typeface="Times New Roman" charset="0"/>
                                      <a:cs typeface="Times New Roman" charset="0"/>
                                    </a:rPr>
                                  </m:ctrlPr>
                                </m:accPr>
                                <m:e>
                                  <m:r>
                                    <a:rPr lang="en-US" sz="2000" i="1">
                                      <a:effectLst/>
                                      <a:latin typeface="Cambria Math" charset="0"/>
                                      <a:ea typeface="Times New Roman" charset="0"/>
                                      <a:cs typeface="Times New Roman" charset="0"/>
                                    </a:rPr>
                                    <m:t>𝐺𝑅</m:t>
                                  </m:r>
                                </m:e>
                              </m:acc>
                              <m:r>
                                <a:rPr lang="en-US" sz="2000" i="1">
                                  <a:effectLst/>
                                  <a:latin typeface="Cambria Math" charset="0"/>
                                  <a:ea typeface="Times New Roman" charset="0"/>
                                  <a:cs typeface="Times New Roman" charset="0"/>
                                </a:rPr>
                                <m:t> </m:t>
                              </m:r>
                            </m:oMath>
                          </a14:m>
                          <a:r>
                            <a:rPr lang="en-US" sz="2000" dirty="0">
                              <a:effectLst/>
                              <a:latin typeface="Verdana" charset="0"/>
                              <a:ea typeface="Times New Roman" charset="0"/>
                              <a:cs typeface="Times New Roman" charset="0"/>
                            </a:rPr>
                            <a:t>and</a:t>
                          </a:r>
                          <a:endParaRPr lang="en-US" sz="2000" dirty="0">
                            <a:effectLst/>
                            <a:latin typeface="Cambria" charset="0"/>
                            <a:ea typeface="Times New Roman" charset="0"/>
                            <a:cs typeface="Times New Roman" charset="0"/>
                          </a:endParaRPr>
                        </a:p>
                        <a:p>
                          <a:pPr marL="0" marR="0" algn="ctr">
                            <a:spcBef>
                              <a:spcPts val="0"/>
                            </a:spcBef>
                            <a:spcAft>
                              <a:spcPts val="0"/>
                            </a:spcAft>
                          </a:pPr>
                          <a14:m>
                            <m:oMathPara xmlns:m="http://schemas.openxmlformats.org/officeDocument/2006/math">
                              <m:oMathParaPr>
                                <m:jc m:val="left"/>
                              </m:oMathParaPr>
                              <m:oMath xmlns:m="http://schemas.openxmlformats.org/officeDocument/2006/math">
                                <m:acc>
                                  <m:accPr>
                                    <m:chr m:val="⃡"/>
                                    <m:ctrlPr>
                                      <a:rPr lang="en-US" sz="2000" i="1">
                                        <a:effectLst/>
                                        <a:latin typeface="Cambria Math" panose="02040503050406030204" pitchFamily="18" charset="0"/>
                                        <a:ea typeface="Times New Roman" charset="0"/>
                                        <a:cs typeface="Times New Roman" charset="0"/>
                                      </a:rPr>
                                    </m:ctrlPr>
                                  </m:accPr>
                                  <m:e>
                                    <m:r>
                                      <a:rPr lang="en-US" sz="2000" i="1">
                                        <a:effectLst/>
                                        <a:latin typeface="Cambria Math" charset="0"/>
                                        <a:ea typeface="Times New Roman" charset="0"/>
                                        <a:cs typeface="Times New Roman" charset="0"/>
                                      </a:rPr>
                                      <m:t>𝐵𝑃</m:t>
                                    </m:r>
                                  </m:e>
                                </m:acc>
                                <m:r>
                                  <a:rPr lang="en-US" sz="2000" i="1">
                                    <a:effectLst/>
                                    <a:latin typeface="Cambria Math" charset="0"/>
                                    <a:ea typeface="Times New Roman" charset="0"/>
                                    <a:cs typeface="Times New Roman" charset="0"/>
                                  </a:rPr>
                                  <m:t>⊥</m:t>
                                </m:r>
                                <m:acc>
                                  <m:accPr>
                                    <m:chr m:val="⃡"/>
                                    <m:ctrlPr>
                                      <a:rPr lang="en-US" sz="2000" i="1">
                                        <a:effectLst/>
                                        <a:latin typeface="Cambria Math" panose="02040503050406030204" pitchFamily="18" charset="0"/>
                                        <a:ea typeface="Times New Roman" charset="0"/>
                                        <a:cs typeface="Times New Roman" charset="0"/>
                                      </a:rPr>
                                    </m:ctrlPr>
                                  </m:accPr>
                                  <m:e>
                                    <m:r>
                                      <a:rPr lang="en-US" sz="2000" i="1">
                                        <a:effectLst/>
                                        <a:latin typeface="Cambria Math" charset="0"/>
                                        <a:ea typeface="Times New Roman" charset="0"/>
                                        <a:cs typeface="Times New Roman" charset="0"/>
                                      </a:rPr>
                                      <m:t>𝐹𝐾</m:t>
                                    </m:r>
                                  </m:e>
                                </m:acc>
                              </m:oMath>
                            </m:oMathPara>
                          </a14:m>
                          <a:endParaRPr lang="en-US" sz="2000" dirty="0">
                            <a:effectLst/>
                            <a:latin typeface="Cambria" charset="0"/>
                            <a:ea typeface="Times New Roman" charset="0"/>
                            <a:cs typeface="Times New Roman" charset="0"/>
                          </a:endParaRPr>
                        </a:p>
                        <a:p>
                          <a:pPr marL="0" marR="0" algn="ctr">
                            <a:spcBef>
                              <a:spcPts val="0"/>
                            </a:spcBef>
                            <a:spcAft>
                              <a:spcPts val="0"/>
                            </a:spcAft>
                          </a:pPr>
                          <a:r>
                            <a:rPr lang="en-US" sz="2000" dirty="0">
                              <a:effectLst/>
                              <a:latin typeface="Cambria" charset="0"/>
                              <a:ea typeface="Times New Roman" charset="0"/>
                              <a:cs typeface="Times New Roman" charset="0"/>
                            </a:rPr>
                            <a:t> </a:t>
                          </a:r>
                        </a:p>
                        <a:p>
                          <a:pPr marL="0" marR="0" algn="ctr">
                            <a:spcBef>
                              <a:spcPts val="0"/>
                            </a:spcBef>
                            <a:spcAft>
                              <a:spcPts val="0"/>
                            </a:spcAft>
                          </a:pPr>
                          <a:r>
                            <a:rPr lang="en-US" sz="2000" dirty="0">
                              <a:effectLst/>
                              <a:latin typeface="Cambria" charset="0"/>
                              <a:ea typeface="Times New Roman" charset="0"/>
                              <a:cs typeface="Times New Roman" charset="0"/>
                            </a:rPr>
                            <a:t> </a:t>
                          </a:r>
                        </a:p>
                        <a:p>
                          <a:pPr marL="0" marR="0">
                            <a:spcBef>
                              <a:spcPts val="0"/>
                            </a:spcBef>
                            <a:spcAft>
                              <a:spcPts val="0"/>
                            </a:spcAft>
                          </a:pPr>
                          <a:r>
                            <a:rPr lang="en-US" sz="2000" dirty="0">
                              <a:effectLst/>
                              <a:latin typeface="Verdana" charset="0"/>
                              <a:ea typeface="Times New Roman" charset="0"/>
                              <a:cs typeface="Times New Roman" charset="0"/>
                            </a:rPr>
                            <a:t>Prove: </a:t>
                          </a:r>
                          <a14:m>
                            <m:oMath xmlns:m="http://schemas.openxmlformats.org/officeDocument/2006/math">
                              <m:r>
                                <a:rPr lang="en-US" sz="2000" i="1">
                                  <a:effectLst/>
                                  <a:latin typeface="Cambria Math" charset="0"/>
                                  <a:ea typeface="Times New Roman" charset="0"/>
                                  <a:cs typeface="Times New Roman" charset="0"/>
                                </a:rPr>
                                <m:t>∠</m:t>
                              </m:r>
                              <m:r>
                                <a:rPr lang="en-US" sz="2000" i="1">
                                  <a:effectLst/>
                                  <a:latin typeface="Cambria Math" charset="0"/>
                                  <a:ea typeface="Times New Roman" charset="0"/>
                                  <a:cs typeface="Times New Roman" charset="0"/>
                                </a:rPr>
                                <m:t>𝐷𝐾𝑀</m:t>
                              </m:r>
                            </m:oMath>
                          </a14:m>
                          <a:r>
                            <a:rPr lang="en-US" sz="2000" dirty="0">
                              <a:effectLst/>
                              <a:latin typeface="Verdana" charset="0"/>
                              <a:ea typeface="Times New Roman" charset="0"/>
                              <a:cs typeface="Times New Roman" charset="0"/>
                            </a:rPr>
                            <a:t> and </a:t>
                          </a:r>
                          <a14:m>
                            <m:oMath xmlns:m="http://schemas.openxmlformats.org/officeDocument/2006/math">
                              <m:r>
                                <a:rPr lang="en-US" sz="2000" i="1">
                                  <a:effectLst/>
                                  <a:latin typeface="Cambria Math" charset="0"/>
                                  <a:ea typeface="Times New Roman" charset="0"/>
                                  <a:cs typeface="Times New Roman" charset="0"/>
                                </a:rPr>
                                <m:t>∠</m:t>
                              </m:r>
                              <m:r>
                                <a:rPr lang="en-US" sz="2000" i="1">
                                  <a:effectLst/>
                                  <a:latin typeface="Cambria Math" charset="0"/>
                                  <a:ea typeface="Times New Roman" charset="0"/>
                                  <a:cs typeface="Times New Roman" charset="0"/>
                                </a:rPr>
                                <m:t>𝐺𝑁𝑇</m:t>
                              </m:r>
                            </m:oMath>
                          </a14:m>
                          <a:r>
                            <a:rPr lang="en-US" sz="2000" dirty="0">
                              <a:effectLst/>
                              <a:latin typeface="Verdana" charset="0"/>
                              <a:ea typeface="Times New Roman" charset="0"/>
                              <a:cs typeface="Times New Roman" charset="0"/>
                            </a:rPr>
                            <a:t> </a:t>
                          </a:r>
                        </a:p>
                        <a:p>
                          <a:pPr marL="0" marR="0">
                            <a:spcBef>
                              <a:spcPts val="0"/>
                            </a:spcBef>
                            <a:spcAft>
                              <a:spcPts val="0"/>
                            </a:spcAft>
                          </a:pPr>
                          <a:r>
                            <a:rPr lang="en-US" sz="2000" dirty="0">
                              <a:effectLst/>
                              <a:latin typeface="Verdana" charset="0"/>
                              <a:ea typeface="Times New Roman" charset="0"/>
                              <a:cs typeface="Times New Roman" charset="0"/>
                            </a:rPr>
                            <a:t>are supplementary</a:t>
                          </a:r>
                          <a:endParaRPr lang="en-US" sz="2000" dirty="0">
                            <a:effectLst/>
                            <a:latin typeface="Cambria" charset="0"/>
                            <a:ea typeface="Times New Roman" charset="0"/>
                            <a:cs typeface="Times New Roman" charset="0"/>
                          </a:endParaRPr>
                        </a:p>
                        <a:p>
                          <a:pPr marL="0" marR="0" algn="ctr">
                            <a:spcBef>
                              <a:spcPts val="0"/>
                            </a:spcBef>
                            <a:spcAft>
                              <a:spcPts val="0"/>
                            </a:spcAft>
                          </a:pPr>
                          <a:r>
                            <a:rPr lang="en-US" sz="2000" dirty="0">
                              <a:effectLst/>
                              <a:latin typeface="Cambria" charset="0"/>
                              <a:ea typeface="Times New Roman" charset="0"/>
                              <a:cs typeface="Times New Roman" charset="0"/>
                            </a:rPr>
                            <a:t>   </a:t>
                          </a:r>
                        </a:p>
                        <a:p>
                          <a:pPr marL="0" marR="0" algn="ctr">
                            <a:spcBef>
                              <a:spcPts val="0"/>
                            </a:spcBef>
                            <a:spcAft>
                              <a:spcPts val="0"/>
                            </a:spcAft>
                          </a:pPr>
                          <a:r>
                            <a:rPr lang="en-US" sz="2000" dirty="0">
                              <a:effectLst/>
                              <a:latin typeface="Cambria" charset="0"/>
                              <a:ea typeface="Times New Roman" charset="0"/>
                              <a:cs typeface="Times New Roman" charset="0"/>
                            </a:rPr>
                            <a:t> </a:t>
                          </a:r>
                        </a:p>
                      </a:txBody>
                      <a:tcPr marL="44011" marR="440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1"/>
                      </a:ext>
                    </a:extLst>
                  </a:tr>
                  <a:tr h="361498">
                    <a:tc>
                      <a:txBody>
                        <a:bodyPr/>
                        <a:lstStyle/>
                        <a:p>
                          <a:pPr marL="0" marR="0" algn="ctr">
                            <a:spcBef>
                              <a:spcPts val="0"/>
                            </a:spcBef>
                            <a:spcAft>
                              <a:spcPts val="0"/>
                            </a:spcAft>
                          </a:pPr>
                          <a:r>
                            <a:rPr lang="en-US" sz="2000" b="1">
                              <a:effectLst/>
                              <a:latin typeface="Verdana" charset="0"/>
                              <a:ea typeface="Times New Roman" charset="0"/>
                              <a:cs typeface="Times New Roman" charset="0"/>
                            </a:rPr>
                            <a:t>Statement</a:t>
                          </a:r>
                          <a:endParaRPr lang="en-US" sz="2000">
                            <a:effectLst/>
                            <a:latin typeface="Cambria" charset="0"/>
                            <a:ea typeface="Times New Roman" charset="0"/>
                            <a:cs typeface="Times New Roman" charset="0"/>
                          </a:endParaRPr>
                        </a:p>
                      </a:txBody>
                      <a:tcPr marL="44011" marR="440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Times New Roman" charset="0"/>
                              <a:cs typeface="Times New Roman" charset="0"/>
                            </a:rPr>
                            <a:t>Reason</a:t>
                          </a:r>
                          <a:endParaRPr lang="en-US" sz="2000">
                            <a:effectLst/>
                            <a:latin typeface="Cambria" charset="0"/>
                            <a:ea typeface="Times New Roman" charset="0"/>
                            <a:cs typeface="Times New Roman" charset="0"/>
                          </a:endParaRPr>
                        </a:p>
                      </a:txBody>
                      <a:tcPr marL="44011" marR="440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2"/>
                      </a:ext>
                    </a:extLst>
                  </a:tr>
                  <a:tr h="523175">
                    <a:tc>
                      <a:txBody>
                        <a:bodyPr/>
                        <a:lstStyle/>
                        <a:p>
                          <a:pPr marL="0" marR="0" algn="ctr">
                            <a:spcBef>
                              <a:spcPts val="0"/>
                            </a:spcBef>
                            <a:spcAft>
                              <a:spcPts val="0"/>
                            </a:spcAft>
                          </a:pPr>
                          <a:r>
                            <a:rPr lang="en-US" sz="2000" u="none" strike="noStrike">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44011" marR="440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u="none" strike="noStrike">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44011" marR="440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23175">
                    <a:tc>
                      <a:txBody>
                        <a:bodyPr/>
                        <a:lstStyle/>
                        <a:p>
                          <a:pPr marL="0" marR="0" algn="ctr">
                            <a:spcBef>
                              <a:spcPts val="0"/>
                            </a:spcBef>
                            <a:spcAft>
                              <a:spcPts val="0"/>
                            </a:spcAft>
                          </a:pPr>
                          <a:r>
                            <a:rPr lang="en-US" sz="2000" u="none" strike="noStrike">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44011" marR="440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u="none" strike="noStrike">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44011" marR="440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23175">
                    <a:tc>
                      <a:txBody>
                        <a:bodyPr/>
                        <a:lstStyle/>
                        <a:p>
                          <a:pPr marL="0" marR="0" algn="ctr">
                            <a:spcBef>
                              <a:spcPts val="0"/>
                            </a:spcBef>
                            <a:spcAft>
                              <a:spcPts val="0"/>
                            </a:spcAft>
                          </a:pPr>
                          <a:r>
                            <a:rPr lang="en-US" sz="2000" u="none" strike="noStrike">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44011" marR="440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u="none" strike="noStrike" dirty="0">
                              <a:effectLst/>
                              <a:latin typeface="Verdana" charset="0"/>
                              <a:ea typeface="Times New Roman" charset="0"/>
                              <a:cs typeface="Times New Roman" charset="0"/>
                            </a:rPr>
                            <a:t> </a:t>
                          </a:r>
                          <a:endParaRPr lang="en-US" sz="2000" dirty="0">
                            <a:effectLst/>
                            <a:latin typeface="Cambria" charset="0"/>
                            <a:ea typeface="Times New Roman" charset="0"/>
                            <a:cs typeface="Times New Roman" charset="0"/>
                          </a:endParaRPr>
                        </a:p>
                      </a:txBody>
                      <a:tcPr marL="44011" marR="440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23175">
                    <a:tc>
                      <a:txBody>
                        <a:bodyPr/>
                        <a:lstStyle/>
                        <a:p>
                          <a:pPr marL="0" marR="0" algn="ctr">
                            <a:spcBef>
                              <a:spcPts val="0"/>
                            </a:spcBef>
                            <a:spcAft>
                              <a:spcPts val="0"/>
                            </a:spcAft>
                          </a:pPr>
                          <a:r>
                            <a:rPr lang="en-US" sz="2000" u="none" strike="noStrike">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44011" marR="440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u="none" strike="noStrike" dirty="0">
                              <a:effectLst/>
                              <a:latin typeface="Verdana" charset="0"/>
                              <a:ea typeface="Times New Roman" charset="0"/>
                              <a:cs typeface="Times New Roman" charset="0"/>
                            </a:rPr>
                            <a:t> </a:t>
                          </a:r>
                          <a:endParaRPr lang="en-US" sz="2000" dirty="0">
                            <a:effectLst/>
                            <a:latin typeface="Cambria" charset="0"/>
                            <a:ea typeface="Times New Roman" charset="0"/>
                            <a:cs typeface="Times New Roman" charset="0"/>
                          </a:endParaRPr>
                        </a:p>
                      </a:txBody>
                      <a:tcPr marL="44011" marR="440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428882502"/>
                  </p:ext>
                </p:extLst>
              </p:nvPr>
            </p:nvGraphicFramePr>
            <p:xfrm>
              <a:off x="594340" y="361510"/>
              <a:ext cx="7676562" cy="6104392"/>
            </p:xfrm>
            <a:graphic>
              <a:graphicData uri="http://schemas.openxmlformats.org/drawingml/2006/table">
                <a:tbl>
                  <a:tblPr firstRow="1" firstCol="1" bandRow="1"/>
                  <a:tblGrid>
                    <a:gridCol w="3310137">
                      <a:extLst>
                        <a:ext uri="{9D8B030D-6E8A-4147-A177-3AD203B41FA5}">
                          <a16:colId xmlns:a16="http://schemas.microsoft.com/office/drawing/2014/main" val="20000"/>
                        </a:ext>
                      </a:extLst>
                    </a:gridCol>
                    <a:gridCol w="4366425">
                      <a:extLst>
                        <a:ext uri="{9D8B030D-6E8A-4147-A177-3AD203B41FA5}">
                          <a16:colId xmlns:a16="http://schemas.microsoft.com/office/drawing/2014/main" val="20001"/>
                        </a:ext>
                      </a:extLst>
                    </a:gridCol>
                  </a:tblGrid>
                  <a:tr h="402486">
                    <a:tc gridSpan="2">
                      <a:txBody>
                        <a:bodyPr/>
                        <a:lstStyle/>
                        <a:p>
                          <a:pPr marL="0" marR="0" algn="ctr">
                            <a:spcBef>
                              <a:spcPts val="0"/>
                            </a:spcBef>
                            <a:spcAft>
                              <a:spcPts val="0"/>
                            </a:spcAft>
                          </a:pPr>
                          <a:r>
                            <a:rPr lang="en-US" sz="2000" b="1">
                              <a:effectLst/>
                              <a:latin typeface="Verdana" charset="0"/>
                              <a:ea typeface="Times New Roman" charset="0"/>
                              <a:cs typeface="Times New Roman" charset="0"/>
                            </a:rPr>
                            <a:t>Proof E</a:t>
                          </a:r>
                          <a:endParaRPr lang="en-US" sz="2000">
                            <a:effectLst/>
                            <a:latin typeface="Cambria" charset="0"/>
                            <a:ea typeface="Times New Roman" charset="0"/>
                            <a:cs typeface="Times New Roman" charset="0"/>
                          </a:endParaRPr>
                        </a:p>
                      </a:txBody>
                      <a:tcPr marL="44011" marR="440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val="10000"/>
                      </a:ext>
                    </a:extLst>
                  </a:tr>
                  <a:tr h="3247708">
                    <a:tc gridSpan="2">
                      <a:txBody>
                        <a:bodyPr/>
                        <a:lstStyle/>
                        <a:p>
                          <a:endParaRPr lang="en-US"/>
                        </a:p>
                      </a:txBody>
                      <a:tcPr marL="44011" marR="440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79" t="-13321" r="-159" b="-75985"/>
                          </a:stretch>
                        </a:blipFill>
                      </a:tcPr>
                    </a:tc>
                    <a:tc hMerge="1">
                      <a:txBody>
                        <a:bodyPr/>
                        <a:lstStyle/>
                        <a:p>
                          <a:endParaRPr lang="en-US"/>
                        </a:p>
                      </a:txBody>
                      <a:tcPr/>
                    </a:tc>
                    <a:extLst>
                      <a:ext uri="{0D108BD9-81ED-4DB2-BD59-A6C34878D82A}">
                        <a16:rowId xmlns:a16="http://schemas.microsoft.com/office/drawing/2014/main" val="10001"/>
                      </a:ext>
                    </a:extLst>
                  </a:tr>
                  <a:tr h="361498">
                    <a:tc>
                      <a:txBody>
                        <a:bodyPr/>
                        <a:lstStyle/>
                        <a:p>
                          <a:pPr marL="0" marR="0" algn="ctr">
                            <a:spcBef>
                              <a:spcPts val="0"/>
                            </a:spcBef>
                            <a:spcAft>
                              <a:spcPts val="0"/>
                            </a:spcAft>
                          </a:pPr>
                          <a:r>
                            <a:rPr lang="en-US" sz="2000" b="1">
                              <a:effectLst/>
                              <a:latin typeface="Verdana" charset="0"/>
                              <a:ea typeface="Times New Roman" charset="0"/>
                              <a:cs typeface="Times New Roman" charset="0"/>
                            </a:rPr>
                            <a:t>Statement</a:t>
                          </a:r>
                          <a:endParaRPr lang="en-US" sz="2000">
                            <a:effectLst/>
                            <a:latin typeface="Cambria" charset="0"/>
                            <a:ea typeface="Times New Roman" charset="0"/>
                            <a:cs typeface="Times New Roman" charset="0"/>
                          </a:endParaRPr>
                        </a:p>
                      </a:txBody>
                      <a:tcPr marL="44011" marR="440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Times New Roman" charset="0"/>
                              <a:cs typeface="Times New Roman" charset="0"/>
                            </a:rPr>
                            <a:t>Reason</a:t>
                          </a:r>
                          <a:endParaRPr lang="en-US" sz="2000">
                            <a:effectLst/>
                            <a:latin typeface="Cambria" charset="0"/>
                            <a:ea typeface="Times New Roman" charset="0"/>
                            <a:cs typeface="Times New Roman" charset="0"/>
                          </a:endParaRPr>
                        </a:p>
                      </a:txBody>
                      <a:tcPr marL="44011" marR="440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2"/>
                      </a:ext>
                    </a:extLst>
                  </a:tr>
                  <a:tr h="523175">
                    <a:tc>
                      <a:txBody>
                        <a:bodyPr/>
                        <a:lstStyle/>
                        <a:p>
                          <a:pPr marL="0" marR="0" algn="ctr">
                            <a:spcBef>
                              <a:spcPts val="0"/>
                            </a:spcBef>
                            <a:spcAft>
                              <a:spcPts val="0"/>
                            </a:spcAft>
                          </a:pPr>
                          <a:r>
                            <a:rPr lang="en-US" sz="2000" u="none" strike="noStrike">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44011" marR="440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u="none" strike="noStrike">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44011" marR="440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23175">
                    <a:tc>
                      <a:txBody>
                        <a:bodyPr/>
                        <a:lstStyle/>
                        <a:p>
                          <a:pPr marL="0" marR="0" algn="ctr">
                            <a:spcBef>
                              <a:spcPts val="0"/>
                            </a:spcBef>
                            <a:spcAft>
                              <a:spcPts val="0"/>
                            </a:spcAft>
                          </a:pPr>
                          <a:r>
                            <a:rPr lang="en-US" sz="2000" u="none" strike="noStrike">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44011" marR="440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u="none" strike="noStrike">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44011" marR="440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23175">
                    <a:tc>
                      <a:txBody>
                        <a:bodyPr/>
                        <a:lstStyle/>
                        <a:p>
                          <a:pPr marL="0" marR="0" algn="ctr">
                            <a:spcBef>
                              <a:spcPts val="0"/>
                            </a:spcBef>
                            <a:spcAft>
                              <a:spcPts val="0"/>
                            </a:spcAft>
                          </a:pPr>
                          <a:r>
                            <a:rPr lang="en-US" sz="2000" u="none" strike="noStrike">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44011" marR="440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u="none" strike="noStrike" dirty="0">
                              <a:effectLst/>
                              <a:latin typeface="Verdana" charset="0"/>
                              <a:ea typeface="Times New Roman" charset="0"/>
                              <a:cs typeface="Times New Roman" charset="0"/>
                            </a:rPr>
                            <a:t> </a:t>
                          </a:r>
                          <a:endParaRPr lang="en-US" sz="2000" dirty="0">
                            <a:effectLst/>
                            <a:latin typeface="Cambria" charset="0"/>
                            <a:ea typeface="Times New Roman" charset="0"/>
                            <a:cs typeface="Times New Roman" charset="0"/>
                          </a:endParaRPr>
                        </a:p>
                      </a:txBody>
                      <a:tcPr marL="44011" marR="440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23175">
                    <a:tc>
                      <a:txBody>
                        <a:bodyPr/>
                        <a:lstStyle/>
                        <a:p>
                          <a:pPr marL="0" marR="0" algn="ctr">
                            <a:spcBef>
                              <a:spcPts val="0"/>
                            </a:spcBef>
                            <a:spcAft>
                              <a:spcPts val="0"/>
                            </a:spcAft>
                          </a:pPr>
                          <a:r>
                            <a:rPr lang="en-US" sz="2000" u="none" strike="noStrike">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44011" marR="440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u="none" strike="noStrike" dirty="0">
                              <a:effectLst/>
                              <a:latin typeface="Verdana" charset="0"/>
                              <a:ea typeface="Times New Roman" charset="0"/>
                              <a:cs typeface="Times New Roman" charset="0"/>
                            </a:rPr>
                            <a:t> </a:t>
                          </a:r>
                          <a:endParaRPr lang="en-US" sz="2000" dirty="0">
                            <a:effectLst/>
                            <a:latin typeface="Cambria" charset="0"/>
                            <a:ea typeface="Times New Roman" charset="0"/>
                            <a:cs typeface="Times New Roman" charset="0"/>
                          </a:endParaRPr>
                        </a:p>
                      </a:txBody>
                      <a:tcPr marL="44011" marR="440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mc:Fallback>
      </mc:AlternateContent>
      <p:pic>
        <p:nvPicPr>
          <p:cNvPr id="5121" name="Picture 22"/>
          <p:cNvPicPr>
            <a:picLocks noChangeAspect="1" noChangeArrowheads="1"/>
          </p:cNvPicPr>
          <p:nvPr/>
        </p:nvPicPr>
        <p:blipFill>
          <a:blip r:embed="rId5" cstate="screen">
            <a:extLst>
              <a:ext uri="{28A0092B-C50C-407E-A947-70E740481C1C}">
                <a14:useLocalDpi xmlns:a14="http://schemas.microsoft.com/office/drawing/2010/main"/>
              </a:ext>
            </a:extLst>
          </a:blip>
          <a:srcRect l="2890" r="9367" b="9595"/>
          <a:stretch>
            <a:fillRect/>
          </a:stretch>
        </p:blipFill>
        <p:spPr bwMode="auto">
          <a:xfrm>
            <a:off x="4742587" y="822236"/>
            <a:ext cx="3045126" cy="3091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75057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41031"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02805"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173</a:t>
            </a:r>
          </a:p>
        </p:txBody>
      </p:sp>
      <p:sp>
        <p:nvSpPr>
          <p:cNvPr id="6" name="Google Shape;278;g104476d1465_1_17">
            <a:extLst>
              <a:ext uri="{FF2B5EF4-FFF2-40B4-BE49-F238E27FC236}">
                <a16:creationId xmlns:a16="http://schemas.microsoft.com/office/drawing/2014/main" id="{44C210D6-0F1D-3545-B73D-9B9FC6EA0352}"/>
              </a:ext>
            </a:extLst>
          </p:cNvPr>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869674773"/>
                  </p:ext>
                </p:extLst>
              </p:nvPr>
            </p:nvGraphicFramePr>
            <p:xfrm>
              <a:off x="574066" y="307555"/>
              <a:ext cx="7907484" cy="6150244"/>
            </p:xfrm>
            <a:graphic>
              <a:graphicData uri="http://schemas.openxmlformats.org/drawingml/2006/table">
                <a:tbl>
                  <a:tblPr firstRow="1" firstCol="1" bandRow="1"/>
                  <a:tblGrid>
                    <a:gridCol w="3308173">
                      <a:extLst>
                        <a:ext uri="{9D8B030D-6E8A-4147-A177-3AD203B41FA5}">
                          <a16:colId xmlns:a16="http://schemas.microsoft.com/office/drawing/2014/main" val="20000"/>
                        </a:ext>
                      </a:extLst>
                    </a:gridCol>
                    <a:gridCol w="4599311">
                      <a:extLst>
                        <a:ext uri="{9D8B030D-6E8A-4147-A177-3AD203B41FA5}">
                          <a16:colId xmlns:a16="http://schemas.microsoft.com/office/drawing/2014/main" val="20001"/>
                        </a:ext>
                      </a:extLst>
                    </a:gridCol>
                  </a:tblGrid>
                  <a:tr h="351250">
                    <a:tc gridSpan="2">
                      <a:txBody>
                        <a:bodyPr/>
                        <a:lstStyle/>
                        <a:p>
                          <a:pPr marL="0" marR="0" algn="ctr">
                            <a:spcBef>
                              <a:spcPts val="0"/>
                            </a:spcBef>
                            <a:spcAft>
                              <a:spcPts val="0"/>
                            </a:spcAft>
                          </a:pPr>
                          <a:r>
                            <a:rPr lang="en-US" sz="2000" b="1">
                              <a:effectLst/>
                              <a:latin typeface="Verdana" charset="0"/>
                              <a:ea typeface="Times New Roman" charset="0"/>
                              <a:cs typeface="Times New Roman" charset="0"/>
                            </a:rPr>
                            <a:t>Proof F</a:t>
                          </a:r>
                          <a:endParaRPr lang="en-US" sz="2000">
                            <a:effectLst/>
                            <a:latin typeface="Cambria" charset="0"/>
                            <a:ea typeface="Times New Roman" charset="0"/>
                            <a:cs typeface="Times New Roman" charset="0"/>
                          </a:endParaRPr>
                        </a:p>
                      </a:txBody>
                      <a:tcPr marL="37466" marR="374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val="10000"/>
                      </a:ext>
                    </a:extLst>
                  </a:tr>
                  <a:tr h="3579540">
                    <a:tc gridSpan="2">
                      <a:txBody>
                        <a:bodyPr/>
                        <a:lstStyle/>
                        <a:p>
                          <a:pPr marL="0" marR="0">
                            <a:spcBef>
                              <a:spcPts val="0"/>
                            </a:spcBef>
                            <a:spcAft>
                              <a:spcPts val="0"/>
                            </a:spcAft>
                          </a:pPr>
                          <a:endParaRPr lang="en-US" sz="2000" dirty="0">
                            <a:effectLst/>
                            <a:latin typeface="Verdana" charset="0"/>
                            <a:ea typeface="Times New Roman" charset="0"/>
                            <a:cs typeface="Times New Roman" charset="0"/>
                          </a:endParaRPr>
                        </a:p>
                        <a:p>
                          <a:pPr marL="0" marR="0">
                            <a:spcBef>
                              <a:spcPts val="0"/>
                            </a:spcBef>
                            <a:spcAft>
                              <a:spcPts val="0"/>
                            </a:spcAft>
                          </a:pPr>
                          <a:r>
                            <a:rPr lang="en-US" sz="2000" dirty="0">
                              <a:effectLst/>
                              <a:latin typeface="Verdana" charset="0"/>
                              <a:ea typeface="Times New Roman" charset="0"/>
                              <a:cs typeface="Times New Roman" charset="0"/>
                            </a:rPr>
                            <a:t>Given: </a:t>
                          </a:r>
                          <a14:m>
                            <m:oMath xmlns:m="http://schemas.openxmlformats.org/officeDocument/2006/math">
                              <m:acc>
                                <m:accPr>
                                  <m:chr m:val="⃡"/>
                                  <m:ctrlPr>
                                    <a:rPr lang="en-US" sz="2000" i="1">
                                      <a:effectLst/>
                                      <a:latin typeface="Cambria Math" panose="02040503050406030204" pitchFamily="18" charset="0"/>
                                      <a:ea typeface="Times New Roman" charset="0"/>
                                      <a:cs typeface="Times New Roman" charset="0"/>
                                    </a:rPr>
                                  </m:ctrlPr>
                                </m:accPr>
                                <m:e>
                                  <m:r>
                                    <a:rPr lang="en-US" sz="2000" i="1">
                                      <a:effectLst/>
                                      <a:latin typeface="Cambria Math" charset="0"/>
                                      <a:ea typeface="Times New Roman" charset="0"/>
                                      <a:cs typeface="Times New Roman" charset="0"/>
                                    </a:rPr>
                                    <m:t>𝐺𝑅</m:t>
                                  </m:r>
                                </m:e>
                              </m:acc>
                              <m:r>
                                <a:rPr lang="en-US" sz="2000" i="1">
                                  <a:effectLst/>
                                  <a:latin typeface="Cambria Math" charset="0"/>
                                  <a:ea typeface="Times New Roman" charset="0"/>
                                  <a:cs typeface="Times New Roman" charset="0"/>
                                </a:rPr>
                                <m:t>∥</m:t>
                              </m:r>
                              <m:acc>
                                <m:accPr>
                                  <m:chr m:val="⃡"/>
                                  <m:ctrlPr>
                                    <a:rPr lang="en-US" sz="2000" i="1">
                                      <a:effectLst/>
                                      <a:latin typeface="Cambria Math" panose="02040503050406030204" pitchFamily="18" charset="0"/>
                                      <a:ea typeface="Cambria" charset="0"/>
                                      <a:cs typeface="Times New Roman" charset="0"/>
                                    </a:rPr>
                                  </m:ctrlPr>
                                </m:accPr>
                                <m:e>
                                  <m:r>
                                    <a:rPr lang="en-US" sz="2000" i="1">
                                      <a:effectLst/>
                                      <a:latin typeface="Cambria Math" charset="0"/>
                                      <a:ea typeface="Times New Roman" charset="0"/>
                                      <a:cs typeface="Times New Roman" charset="0"/>
                                    </a:rPr>
                                    <m:t>𝐹𝐾</m:t>
                                  </m:r>
                                </m:e>
                              </m:acc>
                            </m:oMath>
                          </a14:m>
                          <a:endParaRPr lang="en-US" sz="2000" dirty="0">
                            <a:effectLst/>
                            <a:latin typeface="Cambria" charset="0"/>
                            <a:ea typeface="Times New Roman" charset="0"/>
                            <a:cs typeface="Times New Roman" charset="0"/>
                          </a:endParaRPr>
                        </a:p>
                        <a:p>
                          <a:pPr marL="0" marR="0">
                            <a:spcBef>
                              <a:spcPts val="0"/>
                            </a:spcBef>
                            <a:spcAft>
                              <a:spcPts val="0"/>
                            </a:spcAft>
                          </a:pPr>
                          <a:r>
                            <a:rPr lang="en-US" sz="2000" dirty="0">
                              <a:effectLst/>
                              <a:latin typeface="Cambria" charset="0"/>
                              <a:ea typeface="Times New Roman" charset="0"/>
                              <a:cs typeface="Times New Roman" charset="0"/>
                            </a:rPr>
                            <a:t> </a:t>
                          </a:r>
                        </a:p>
                        <a:p>
                          <a:pPr marL="0" marR="0">
                            <a:spcBef>
                              <a:spcPts val="0"/>
                            </a:spcBef>
                            <a:spcAft>
                              <a:spcPts val="0"/>
                            </a:spcAft>
                          </a:pPr>
                          <a:r>
                            <a:rPr lang="en-US" sz="2000" dirty="0">
                              <a:effectLst/>
                              <a:latin typeface="Cambria" charset="0"/>
                              <a:ea typeface="Times New Roman" charset="0"/>
                              <a:cs typeface="Times New Roman" charset="0"/>
                            </a:rPr>
                            <a:t> </a:t>
                          </a:r>
                        </a:p>
                        <a:p>
                          <a:pPr marL="0" marR="0">
                            <a:spcBef>
                              <a:spcPts val="0"/>
                            </a:spcBef>
                            <a:spcAft>
                              <a:spcPts val="0"/>
                            </a:spcAft>
                          </a:pPr>
                          <a:r>
                            <a:rPr lang="en-US" sz="2000" dirty="0">
                              <a:effectLst/>
                              <a:latin typeface="Verdana" charset="0"/>
                              <a:ea typeface="Times New Roman" charset="0"/>
                              <a:cs typeface="Times New Roman" charset="0"/>
                            </a:rPr>
                            <a:t>Prove: </a:t>
                          </a:r>
                          <a14:m>
                            <m:oMath xmlns:m="http://schemas.openxmlformats.org/officeDocument/2006/math">
                              <m:r>
                                <a:rPr lang="en-US" sz="2000" i="1">
                                  <a:effectLst/>
                                  <a:latin typeface="Cambria Math" charset="0"/>
                                  <a:ea typeface="Times New Roman" charset="0"/>
                                  <a:cs typeface="Times New Roman" charset="0"/>
                                </a:rPr>
                                <m:t>∠</m:t>
                              </m:r>
                              <m:r>
                                <a:rPr lang="en-US" sz="2000" i="1">
                                  <a:effectLst/>
                                  <a:latin typeface="Cambria Math" charset="0"/>
                                  <a:ea typeface="Times New Roman" charset="0"/>
                                  <a:cs typeface="Times New Roman" charset="0"/>
                                </a:rPr>
                                <m:t>𝐺𝑁𝐷</m:t>
                              </m:r>
                            </m:oMath>
                          </a14:m>
                          <a:r>
                            <a:rPr lang="en-US" sz="2000" dirty="0">
                              <a:effectLst/>
                              <a:latin typeface="Verdana" charset="0"/>
                              <a:ea typeface="Times New Roman" charset="0"/>
                              <a:cs typeface="Times New Roman" charset="0"/>
                            </a:rPr>
                            <a:t> and </a:t>
                          </a:r>
                          <a14:m>
                            <m:oMath xmlns:m="http://schemas.openxmlformats.org/officeDocument/2006/math">
                              <m:r>
                                <a:rPr lang="en-US" sz="2000" i="1">
                                  <a:effectLst/>
                                  <a:latin typeface="Cambria Math" charset="0"/>
                                  <a:ea typeface="Times New Roman" charset="0"/>
                                  <a:cs typeface="Times New Roman" charset="0"/>
                                </a:rPr>
                                <m:t>∠</m:t>
                              </m:r>
                              <m:r>
                                <a:rPr lang="en-US" sz="2000" i="1">
                                  <a:effectLst/>
                                  <a:latin typeface="Cambria Math" charset="0"/>
                                  <a:ea typeface="Times New Roman" charset="0"/>
                                  <a:cs typeface="Times New Roman" charset="0"/>
                                </a:rPr>
                                <m:t>𝑃𝐷𝐾</m:t>
                              </m:r>
                            </m:oMath>
                          </a14:m>
                          <a:r>
                            <a:rPr lang="en-US" sz="2000" dirty="0">
                              <a:effectLst/>
                              <a:latin typeface="Verdana" charset="0"/>
                              <a:ea typeface="Times New Roman" charset="0"/>
                              <a:cs typeface="Times New Roman" charset="0"/>
                            </a:rPr>
                            <a:t> are </a:t>
                          </a:r>
                          <a:endParaRPr lang="en-US" sz="2000" dirty="0">
                            <a:effectLst/>
                            <a:latin typeface="Cambria" charset="0"/>
                            <a:ea typeface="Times New Roman" charset="0"/>
                            <a:cs typeface="Times New Roman" charset="0"/>
                          </a:endParaRPr>
                        </a:p>
                        <a:p>
                          <a:pPr marL="0" marR="0">
                            <a:spcBef>
                              <a:spcPts val="0"/>
                            </a:spcBef>
                            <a:spcAft>
                              <a:spcPts val="0"/>
                            </a:spcAft>
                          </a:pPr>
                          <a:r>
                            <a:rPr lang="en-US" sz="2000" dirty="0">
                              <a:effectLst/>
                              <a:latin typeface="Verdana" charset="0"/>
                              <a:ea typeface="Times New Roman" charset="0"/>
                              <a:cs typeface="Times New Roman" charset="0"/>
                            </a:rPr>
                            <a:t>supplementary</a:t>
                          </a:r>
                          <a:endParaRPr lang="en-US" sz="2000" dirty="0">
                            <a:effectLst/>
                            <a:latin typeface="Cambria" charset="0"/>
                            <a:ea typeface="Times New Roman" charset="0"/>
                            <a:cs typeface="Times New Roman" charset="0"/>
                          </a:endParaRPr>
                        </a:p>
                        <a:p>
                          <a:pPr marL="0" marR="0">
                            <a:spcBef>
                              <a:spcPts val="0"/>
                            </a:spcBef>
                            <a:spcAft>
                              <a:spcPts val="0"/>
                            </a:spcAft>
                          </a:pPr>
                          <a:r>
                            <a:rPr lang="en-US" sz="2000" dirty="0">
                              <a:effectLst/>
                              <a:latin typeface="Cambria" charset="0"/>
                              <a:ea typeface="Times New Roman" charset="0"/>
                              <a:cs typeface="Times New Roman" charset="0"/>
                            </a:rPr>
                            <a:t> </a:t>
                          </a:r>
                        </a:p>
                        <a:p>
                          <a:pPr marL="0" marR="0">
                            <a:spcBef>
                              <a:spcPts val="0"/>
                            </a:spcBef>
                            <a:spcAft>
                              <a:spcPts val="0"/>
                            </a:spcAft>
                          </a:pPr>
                          <a:r>
                            <a:rPr lang="en-US" sz="2000" dirty="0">
                              <a:effectLst/>
                              <a:latin typeface="Cambria" charset="0"/>
                              <a:ea typeface="Times New Roman" charset="0"/>
                              <a:cs typeface="Times New Roman" charset="0"/>
                            </a:rPr>
                            <a:t> </a:t>
                          </a:r>
                        </a:p>
                      </a:txBody>
                      <a:tcPr marL="37466" marR="374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1"/>
                      </a:ext>
                    </a:extLst>
                  </a:tr>
                  <a:tr h="351250">
                    <a:tc>
                      <a:txBody>
                        <a:bodyPr/>
                        <a:lstStyle/>
                        <a:p>
                          <a:pPr marL="0" marR="0" algn="ctr">
                            <a:spcBef>
                              <a:spcPts val="0"/>
                            </a:spcBef>
                            <a:spcAft>
                              <a:spcPts val="0"/>
                            </a:spcAft>
                          </a:pPr>
                          <a:r>
                            <a:rPr lang="en-US" sz="2000" b="1" dirty="0">
                              <a:effectLst/>
                              <a:latin typeface="Verdana" charset="0"/>
                              <a:ea typeface="Times New Roman" charset="0"/>
                              <a:cs typeface="Times New Roman" charset="0"/>
                            </a:rPr>
                            <a:t>Statement</a:t>
                          </a:r>
                          <a:endParaRPr lang="en-US" sz="2000" dirty="0">
                            <a:effectLst/>
                            <a:latin typeface="Cambria" charset="0"/>
                            <a:ea typeface="Times New Roman" charset="0"/>
                            <a:cs typeface="Times New Roman" charset="0"/>
                          </a:endParaRPr>
                        </a:p>
                      </a:txBody>
                      <a:tcPr marL="37466" marR="374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Times New Roman" charset="0"/>
                              <a:cs typeface="Times New Roman" charset="0"/>
                            </a:rPr>
                            <a:t>Reason</a:t>
                          </a:r>
                          <a:endParaRPr lang="en-US" sz="2000">
                            <a:effectLst/>
                            <a:latin typeface="Cambria" charset="0"/>
                            <a:ea typeface="Times New Roman" charset="0"/>
                            <a:cs typeface="Times New Roman" charset="0"/>
                          </a:endParaRPr>
                        </a:p>
                      </a:txBody>
                      <a:tcPr marL="37466" marR="374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2"/>
                      </a:ext>
                    </a:extLst>
                  </a:tr>
                  <a:tr h="438133">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37466" marR="374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37466" marR="374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86519">
                    <a:tc>
                      <a:txBody>
                        <a:bodyPr/>
                        <a:lstStyle/>
                        <a:p>
                          <a:pPr marL="0" marR="0">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37466" marR="374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37466" marR="374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01262">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37466" marR="374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Times New Roman" charset="0"/>
                              <a:cs typeface="Times New Roman" charset="0"/>
                            </a:rPr>
                            <a:t> </a:t>
                          </a:r>
                          <a:endParaRPr lang="en-US" sz="2000" dirty="0">
                            <a:effectLst/>
                            <a:latin typeface="Cambria" charset="0"/>
                            <a:ea typeface="Times New Roman" charset="0"/>
                            <a:cs typeface="Times New Roman" charset="0"/>
                          </a:endParaRPr>
                        </a:p>
                      </a:txBody>
                      <a:tcPr marL="37466" marR="374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42290">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37466" marR="374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Times New Roman" charset="0"/>
                              <a:cs typeface="Times New Roman" charset="0"/>
                            </a:rPr>
                            <a:t> </a:t>
                          </a:r>
                          <a:endParaRPr lang="en-US" sz="2000" dirty="0">
                            <a:effectLst/>
                            <a:latin typeface="Cambria" charset="0"/>
                            <a:ea typeface="Times New Roman" charset="0"/>
                            <a:cs typeface="Times New Roman" charset="0"/>
                          </a:endParaRPr>
                        </a:p>
                      </a:txBody>
                      <a:tcPr marL="37466" marR="374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869674773"/>
                  </p:ext>
                </p:extLst>
              </p:nvPr>
            </p:nvGraphicFramePr>
            <p:xfrm>
              <a:off x="574066" y="307555"/>
              <a:ext cx="7907484" cy="6150244"/>
            </p:xfrm>
            <a:graphic>
              <a:graphicData uri="http://schemas.openxmlformats.org/drawingml/2006/table">
                <a:tbl>
                  <a:tblPr firstRow="1" firstCol="1" bandRow="1"/>
                  <a:tblGrid>
                    <a:gridCol w="3308173">
                      <a:extLst>
                        <a:ext uri="{9D8B030D-6E8A-4147-A177-3AD203B41FA5}">
                          <a16:colId xmlns:a16="http://schemas.microsoft.com/office/drawing/2014/main" val="20000"/>
                        </a:ext>
                      </a:extLst>
                    </a:gridCol>
                    <a:gridCol w="4599311">
                      <a:extLst>
                        <a:ext uri="{9D8B030D-6E8A-4147-A177-3AD203B41FA5}">
                          <a16:colId xmlns:a16="http://schemas.microsoft.com/office/drawing/2014/main" val="20001"/>
                        </a:ext>
                      </a:extLst>
                    </a:gridCol>
                  </a:tblGrid>
                  <a:tr h="351250">
                    <a:tc gridSpan="2">
                      <a:txBody>
                        <a:bodyPr/>
                        <a:lstStyle/>
                        <a:p>
                          <a:pPr marL="0" marR="0" algn="ctr">
                            <a:spcBef>
                              <a:spcPts val="0"/>
                            </a:spcBef>
                            <a:spcAft>
                              <a:spcPts val="0"/>
                            </a:spcAft>
                          </a:pPr>
                          <a:r>
                            <a:rPr lang="en-US" sz="2000" b="1">
                              <a:effectLst/>
                              <a:latin typeface="Verdana" charset="0"/>
                              <a:ea typeface="Times New Roman" charset="0"/>
                              <a:cs typeface="Times New Roman" charset="0"/>
                            </a:rPr>
                            <a:t>Proof F</a:t>
                          </a:r>
                          <a:endParaRPr lang="en-US" sz="2000">
                            <a:effectLst/>
                            <a:latin typeface="Cambria" charset="0"/>
                            <a:ea typeface="Times New Roman" charset="0"/>
                            <a:cs typeface="Times New Roman" charset="0"/>
                          </a:endParaRPr>
                        </a:p>
                      </a:txBody>
                      <a:tcPr marL="37466" marR="374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val="10000"/>
                      </a:ext>
                    </a:extLst>
                  </a:tr>
                  <a:tr h="3579540">
                    <a:tc gridSpan="2">
                      <a:txBody>
                        <a:bodyPr/>
                        <a:lstStyle/>
                        <a:p>
                          <a:endParaRPr lang="en-US"/>
                        </a:p>
                      </a:txBody>
                      <a:tcPr marL="37466" marR="374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77" t="-11395" r="-154" b="-62245"/>
                          </a:stretch>
                        </a:blipFill>
                      </a:tcPr>
                    </a:tc>
                    <a:tc hMerge="1">
                      <a:txBody>
                        <a:bodyPr/>
                        <a:lstStyle/>
                        <a:p>
                          <a:endParaRPr lang="en-US"/>
                        </a:p>
                      </a:txBody>
                      <a:tcPr/>
                    </a:tc>
                    <a:extLst>
                      <a:ext uri="{0D108BD9-81ED-4DB2-BD59-A6C34878D82A}">
                        <a16:rowId xmlns:a16="http://schemas.microsoft.com/office/drawing/2014/main" val="10001"/>
                      </a:ext>
                    </a:extLst>
                  </a:tr>
                  <a:tr h="351250">
                    <a:tc>
                      <a:txBody>
                        <a:bodyPr/>
                        <a:lstStyle/>
                        <a:p>
                          <a:pPr marL="0" marR="0" algn="ctr">
                            <a:spcBef>
                              <a:spcPts val="0"/>
                            </a:spcBef>
                            <a:spcAft>
                              <a:spcPts val="0"/>
                            </a:spcAft>
                          </a:pPr>
                          <a:r>
                            <a:rPr lang="en-US" sz="2000" b="1" dirty="0">
                              <a:effectLst/>
                              <a:latin typeface="Verdana" charset="0"/>
                              <a:ea typeface="Times New Roman" charset="0"/>
                              <a:cs typeface="Times New Roman" charset="0"/>
                            </a:rPr>
                            <a:t>Statement</a:t>
                          </a:r>
                          <a:endParaRPr lang="en-US" sz="2000" dirty="0">
                            <a:effectLst/>
                            <a:latin typeface="Cambria" charset="0"/>
                            <a:ea typeface="Times New Roman" charset="0"/>
                            <a:cs typeface="Times New Roman" charset="0"/>
                          </a:endParaRPr>
                        </a:p>
                      </a:txBody>
                      <a:tcPr marL="37466" marR="374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Times New Roman" charset="0"/>
                              <a:cs typeface="Times New Roman" charset="0"/>
                            </a:rPr>
                            <a:t>Reason</a:t>
                          </a:r>
                          <a:endParaRPr lang="en-US" sz="2000">
                            <a:effectLst/>
                            <a:latin typeface="Cambria" charset="0"/>
                            <a:ea typeface="Times New Roman" charset="0"/>
                            <a:cs typeface="Times New Roman" charset="0"/>
                          </a:endParaRPr>
                        </a:p>
                      </a:txBody>
                      <a:tcPr marL="37466" marR="374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2"/>
                      </a:ext>
                    </a:extLst>
                  </a:tr>
                  <a:tr h="438133">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37466" marR="374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37466" marR="374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86519">
                    <a:tc>
                      <a:txBody>
                        <a:bodyPr/>
                        <a:lstStyle/>
                        <a:p>
                          <a:pPr marL="0" marR="0">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37466" marR="374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37466" marR="374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01262">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37466" marR="374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Times New Roman" charset="0"/>
                              <a:cs typeface="Times New Roman" charset="0"/>
                            </a:rPr>
                            <a:t> </a:t>
                          </a:r>
                          <a:endParaRPr lang="en-US" sz="2000" dirty="0">
                            <a:effectLst/>
                            <a:latin typeface="Cambria" charset="0"/>
                            <a:ea typeface="Times New Roman" charset="0"/>
                            <a:cs typeface="Times New Roman" charset="0"/>
                          </a:endParaRPr>
                        </a:p>
                      </a:txBody>
                      <a:tcPr marL="37466" marR="374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42290">
                    <a:tc>
                      <a:txBody>
                        <a:bodyPr/>
                        <a:lstStyle/>
                        <a:p>
                          <a:pPr marL="0" marR="0" algn="ctr">
                            <a:spcBef>
                              <a:spcPts val="0"/>
                            </a:spcBef>
                            <a:spcAft>
                              <a:spcPts val="0"/>
                            </a:spcAft>
                          </a:pPr>
                          <a:r>
                            <a:rPr lang="en-US" sz="2000">
                              <a:effectLst/>
                              <a:latin typeface="Verdana" charset="0"/>
                              <a:ea typeface="Times New Roman" charset="0"/>
                              <a:cs typeface="Times New Roman" charset="0"/>
                            </a:rPr>
                            <a:t> </a:t>
                          </a:r>
                          <a:endParaRPr lang="en-US" sz="2000">
                            <a:effectLst/>
                            <a:latin typeface="Cambria" charset="0"/>
                            <a:ea typeface="Times New Roman" charset="0"/>
                            <a:cs typeface="Times New Roman" charset="0"/>
                          </a:endParaRPr>
                        </a:p>
                      </a:txBody>
                      <a:tcPr marL="37466" marR="374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Times New Roman" charset="0"/>
                              <a:cs typeface="Times New Roman" charset="0"/>
                            </a:rPr>
                            <a:t> </a:t>
                          </a:r>
                          <a:endParaRPr lang="en-US" sz="2000" dirty="0">
                            <a:effectLst/>
                            <a:latin typeface="Cambria" charset="0"/>
                            <a:ea typeface="Times New Roman" charset="0"/>
                            <a:cs typeface="Times New Roman" charset="0"/>
                          </a:endParaRPr>
                        </a:p>
                      </a:txBody>
                      <a:tcPr marL="37466" marR="374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mc:Fallback>
      </mc:AlternateContent>
      <p:pic>
        <p:nvPicPr>
          <p:cNvPr id="6145" name="Picture 10"/>
          <p:cNvPicPr>
            <a:picLocks noChangeAspect="1" noChangeArrowheads="1"/>
          </p:cNvPicPr>
          <p:nvPr/>
        </p:nvPicPr>
        <p:blipFill>
          <a:blip r:embed="rId5">
            <a:extLst>
              <a:ext uri="{28A0092B-C50C-407E-A947-70E740481C1C}">
                <a14:useLocalDpi xmlns:a14="http://schemas.microsoft.com/office/drawing/2010/main"/>
              </a:ext>
            </a:extLst>
          </a:blip>
          <a:srcRect l="2425" b="9158"/>
          <a:stretch>
            <a:fillRect/>
          </a:stretch>
        </p:blipFill>
        <p:spPr bwMode="auto">
          <a:xfrm>
            <a:off x="4500510" y="697549"/>
            <a:ext cx="3656524" cy="34683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2792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1493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7200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173</a:t>
            </a:r>
          </a:p>
        </p:txBody>
      </p:sp>
      <p:sp>
        <p:nvSpPr>
          <p:cNvPr id="6" name="Google Shape;278;g104476d1465_1_17">
            <a:extLst>
              <a:ext uri="{FF2B5EF4-FFF2-40B4-BE49-F238E27FC236}">
                <a16:creationId xmlns:a16="http://schemas.microsoft.com/office/drawing/2014/main" id="{44C210D6-0F1D-3545-B73D-9B9FC6EA0352}"/>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3285521606"/>
                  </p:ext>
                </p:extLst>
              </p:nvPr>
            </p:nvGraphicFramePr>
            <p:xfrm>
              <a:off x="610116" y="330803"/>
              <a:ext cx="7738277" cy="6135097"/>
            </p:xfrm>
            <a:graphic>
              <a:graphicData uri="http://schemas.openxmlformats.org/drawingml/2006/table">
                <a:tbl>
                  <a:tblPr firstRow="1" firstCol="1" bandRow="1"/>
                  <a:tblGrid>
                    <a:gridCol w="3191376">
                      <a:extLst>
                        <a:ext uri="{9D8B030D-6E8A-4147-A177-3AD203B41FA5}">
                          <a16:colId xmlns:a16="http://schemas.microsoft.com/office/drawing/2014/main" val="20000"/>
                        </a:ext>
                      </a:extLst>
                    </a:gridCol>
                    <a:gridCol w="4546901">
                      <a:extLst>
                        <a:ext uri="{9D8B030D-6E8A-4147-A177-3AD203B41FA5}">
                          <a16:colId xmlns:a16="http://schemas.microsoft.com/office/drawing/2014/main" val="20001"/>
                        </a:ext>
                      </a:extLst>
                    </a:gridCol>
                  </a:tblGrid>
                  <a:tr h="409707">
                    <a:tc gridSpan="2">
                      <a:txBody>
                        <a:bodyPr/>
                        <a:lstStyle/>
                        <a:p>
                          <a:pPr marL="0" marR="0" algn="ctr">
                            <a:spcBef>
                              <a:spcPts val="0"/>
                            </a:spcBef>
                            <a:spcAft>
                              <a:spcPts val="0"/>
                            </a:spcAft>
                          </a:pPr>
                          <a:r>
                            <a:rPr lang="en-US" sz="2000" b="1">
                              <a:effectLst/>
                              <a:latin typeface="Verdana" charset="0"/>
                              <a:ea typeface="Verdana" charset="0"/>
                              <a:cs typeface="Verdana" charset="0"/>
                            </a:rPr>
                            <a:t>Proof G</a:t>
                          </a:r>
                          <a:endParaRPr lang="en-US" sz="2000">
                            <a:effectLst/>
                            <a:latin typeface="Verdana" charset="0"/>
                            <a:ea typeface="Verdana" charset="0"/>
                            <a:cs typeface="Verdana" charset="0"/>
                          </a:endParaRPr>
                        </a:p>
                      </a:txBody>
                      <a:tcPr marL="37364" marR="373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val="10000"/>
                      </a:ext>
                    </a:extLst>
                  </a:tr>
                  <a:tr h="3187810">
                    <a:tc gridSpan="2">
                      <a:txBody>
                        <a:bodyPr/>
                        <a:lstStyle/>
                        <a:p>
                          <a:pPr marL="0" marR="0" algn="ctr">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p>
                          <a:pPr marL="857250" marR="0" indent="-857250">
                            <a:spcBef>
                              <a:spcPts val="0"/>
                            </a:spcBef>
                            <a:spcAft>
                              <a:spcPts val="0"/>
                            </a:spcAft>
                          </a:pPr>
                          <a:r>
                            <a:rPr lang="en-US" sz="2000" dirty="0">
                              <a:effectLst/>
                              <a:latin typeface="Verdana" charset="0"/>
                              <a:ea typeface="Verdana" charset="0"/>
                              <a:cs typeface="Verdana" charset="0"/>
                            </a:rPr>
                            <a:t>Given:</a:t>
                          </a:r>
                        </a:p>
                        <a:p>
                          <a:pPr marL="45085" marR="0" indent="-45085">
                            <a:spcBef>
                              <a:spcPts val="0"/>
                            </a:spcBef>
                            <a:spcAft>
                              <a:spcPts val="0"/>
                            </a:spcAft>
                          </a:pPr>
                          <a:r>
                            <a:rPr lang="en-US" sz="2000" dirty="0">
                              <a:effectLst/>
                              <a:latin typeface="Verdana" charset="0"/>
                              <a:ea typeface="Verdana" charset="0"/>
                              <a:cs typeface="Verdana" charset="0"/>
                            </a:rPr>
                            <a:t> </a:t>
                          </a:r>
                          <a14:m>
                            <m:oMath xmlns:m="http://schemas.openxmlformats.org/officeDocument/2006/math">
                              <m:r>
                                <a:rPr lang="en-US" sz="2000" i="1">
                                  <a:effectLst/>
                                  <a:latin typeface="Cambria Math" panose="02040503050406030204" pitchFamily="18" charset="0"/>
                                  <a:ea typeface="Verdana" charset="0"/>
                                  <a:cs typeface="Verdana" charset="0"/>
                                </a:rPr>
                                <m:t>∠</m:t>
                              </m:r>
                              <m:r>
                                <a:rPr lang="en-US" sz="2000" i="1">
                                  <a:effectLst/>
                                  <a:latin typeface="Cambria Math" panose="02040503050406030204" pitchFamily="18" charset="0"/>
                                  <a:ea typeface="Verdana" charset="0"/>
                                  <a:cs typeface="Verdana" charset="0"/>
                                </a:rPr>
                                <m:t>𝑇𝐶𝑆</m:t>
                              </m:r>
                              <m:r>
                                <a:rPr lang="en-US" sz="2000" i="1">
                                  <a:effectLst/>
                                  <a:latin typeface="Cambria Math" panose="02040503050406030204" pitchFamily="18" charset="0"/>
                                  <a:ea typeface="Verdana" charset="0"/>
                                  <a:cs typeface="Verdana" charset="0"/>
                                </a:rPr>
                                <m:t>≅∠</m:t>
                              </m:r>
                              <m:r>
                                <a:rPr lang="en-US" sz="2000" i="1">
                                  <a:effectLst/>
                                  <a:latin typeface="Cambria Math" panose="02040503050406030204" pitchFamily="18" charset="0"/>
                                  <a:ea typeface="Verdana" charset="0"/>
                                  <a:cs typeface="Verdana" charset="0"/>
                                </a:rPr>
                                <m:t>𝐻𝑆𝐶</m:t>
                              </m:r>
                            </m:oMath>
                          </a14:m>
                          <a:r>
                            <a:rPr lang="en-US" sz="2000" dirty="0">
                              <a:effectLst/>
                              <a:latin typeface="Verdana" charset="0"/>
                              <a:ea typeface="Verdana" charset="0"/>
                              <a:cs typeface="Verdana" charset="0"/>
                            </a:rPr>
                            <a:t>,</a:t>
                          </a:r>
                        </a:p>
                        <a:p>
                          <a:pPr marL="45085" marR="0" indent="-45085">
                            <a:spcBef>
                              <a:spcPts val="0"/>
                            </a:spcBef>
                            <a:spcAft>
                              <a:spcPts val="0"/>
                            </a:spcAft>
                          </a:pPr>
                          <a:r>
                            <a:rPr lang="en-US" sz="2000" dirty="0">
                              <a:effectLst/>
                              <a:latin typeface="Verdana" charset="0"/>
                              <a:ea typeface="Verdana" charset="0"/>
                              <a:cs typeface="Verdana" charset="0"/>
                            </a:rPr>
                            <a:t> </a:t>
                          </a:r>
                          <a14:m>
                            <m:oMath xmlns:m="http://schemas.openxmlformats.org/officeDocument/2006/math">
                              <m:r>
                                <a:rPr lang="en-US" sz="2000" i="1">
                                  <a:effectLst/>
                                  <a:latin typeface="Cambria Math" panose="02040503050406030204" pitchFamily="18" charset="0"/>
                                  <a:ea typeface="Verdana" charset="0"/>
                                  <a:cs typeface="Verdana" charset="0"/>
                                </a:rPr>
                                <m:t>∠</m:t>
                              </m:r>
                              <m:r>
                                <a:rPr lang="en-US" sz="2000" i="1">
                                  <a:effectLst/>
                                  <a:latin typeface="Cambria Math" panose="02040503050406030204" pitchFamily="18" charset="0"/>
                                  <a:ea typeface="Verdana" charset="0"/>
                                  <a:cs typeface="Verdana" charset="0"/>
                                </a:rPr>
                                <m:t>𝐻𝑆𝐾</m:t>
                              </m:r>
                              <m:r>
                                <a:rPr lang="en-US" sz="2000" i="1">
                                  <a:effectLst/>
                                  <a:latin typeface="Cambria Math" panose="02040503050406030204" pitchFamily="18" charset="0"/>
                                  <a:ea typeface="Verdana" charset="0"/>
                                  <a:cs typeface="Verdana" charset="0"/>
                                </a:rPr>
                                <m:t>≅∠</m:t>
                              </m:r>
                              <m:r>
                                <a:rPr lang="en-US" sz="2000" i="1">
                                  <a:effectLst/>
                                  <a:latin typeface="Cambria Math" panose="02040503050406030204" pitchFamily="18" charset="0"/>
                                  <a:ea typeface="Verdana" charset="0"/>
                                  <a:cs typeface="Verdana" charset="0"/>
                                </a:rPr>
                                <m:t>𝑆𝐾𝐺</m:t>
                              </m:r>
                            </m:oMath>
                          </a14:m>
                          <a:endParaRPr lang="en-US" sz="2000" dirty="0">
                            <a:effectLst/>
                            <a:latin typeface="Verdana" charset="0"/>
                            <a:ea typeface="Verdana" charset="0"/>
                            <a:cs typeface="Verdana" charset="0"/>
                          </a:endParaRPr>
                        </a:p>
                        <a:p>
                          <a:pPr marL="0" marR="0">
                            <a:spcBef>
                              <a:spcPts val="0"/>
                            </a:spcBef>
                            <a:spcAft>
                              <a:spcPts val="0"/>
                            </a:spcAft>
                          </a:pPr>
                          <a:r>
                            <a:rPr lang="en-US" sz="2000" dirty="0">
                              <a:effectLst/>
                              <a:latin typeface="Verdana" charset="0"/>
                              <a:ea typeface="Verdana" charset="0"/>
                              <a:cs typeface="Verdana" charset="0"/>
                            </a:rPr>
                            <a:t>Prove: </a:t>
                          </a:r>
                          <a14:m>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panose="02040503050406030204" pitchFamily="18" charset="0"/>
                                      <a:ea typeface="Verdana" charset="0"/>
                                      <a:cs typeface="Verdana" charset="0"/>
                                    </a:rPr>
                                    <m:t>𝑅𝑇</m:t>
                                  </m:r>
                                </m:e>
                              </m:acc>
                              <m:r>
                                <a:rPr lang="en-US" sz="2000" i="1">
                                  <a:effectLst/>
                                  <a:latin typeface="Cambria Math" panose="02040503050406030204" pitchFamily="18" charset="0"/>
                                  <a:ea typeface="Verdana" charset="0"/>
                                  <a:cs typeface="Verdana" charset="0"/>
                                </a:rPr>
                                <m:t>∥</m:t>
                              </m:r>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panose="02040503050406030204" pitchFamily="18" charset="0"/>
                                      <a:ea typeface="Verdana" charset="0"/>
                                      <a:cs typeface="Verdana" charset="0"/>
                                    </a:rPr>
                                    <m:t>𝑍𝐺</m:t>
                                  </m:r>
                                </m:e>
                              </m:acc>
                            </m:oMath>
                          </a14:m>
                          <a:endParaRPr lang="en-US" sz="2000" dirty="0">
                            <a:effectLst/>
                            <a:latin typeface="Verdana" charset="0"/>
                            <a:ea typeface="Verdana" charset="0"/>
                            <a:cs typeface="Verdana" charset="0"/>
                          </a:endParaRPr>
                        </a:p>
                        <a:p>
                          <a:pPr marL="0" marR="0">
                            <a:spcBef>
                              <a:spcPts val="0"/>
                            </a:spcBef>
                            <a:spcAft>
                              <a:spcPts val="0"/>
                            </a:spcAft>
                          </a:pPr>
                          <a:r>
                            <a:rPr lang="en-US" sz="2000" dirty="0">
                              <a:effectLst/>
                              <a:latin typeface="Verdana" charset="0"/>
                              <a:ea typeface="Verdana" charset="0"/>
                              <a:cs typeface="Verdana" charset="0"/>
                            </a:rPr>
                            <a:t> </a:t>
                          </a:r>
                        </a:p>
                      </a:txBody>
                      <a:tcPr marL="37364" marR="373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1"/>
                      </a:ext>
                    </a:extLst>
                  </a:tr>
                  <a:tr h="409707">
                    <a:tc>
                      <a:txBody>
                        <a:bodyPr/>
                        <a:lstStyle/>
                        <a:p>
                          <a:pPr marL="0" marR="0" algn="ctr">
                            <a:spcBef>
                              <a:spcPts val="0"/>
                            </a:spcBef>
                            <a:spcAft>
                              <a:spcPts val="0"/>
                            </a:spcAft>
                          </a:pPr>
                          <a:r>
                            <a:rPr lang="en-US" sz="2000" b="1">
                              <a:effectLst/>
                              <a:latin typeface="Verdana" charset="0"/>
                              <a:ea typeface="Verdana" charset="0"/>
                              <a:cs typeface="Verdana" charset="0"/>
                            </a:rPr>
                            <a:t>Statement</a:t>
                          </a:r>
                          <a:endParaRPr lang="en-US" sz="2000">
                            <a:effectLst/>
                            <a:latin typeface="Verdana" charset="0"/>
                            <a:ea typeface="Verdana" charset="0"/>
                            <a:cs typeface="Verdana" charset="0"/>
                          </a:endParaRPr>
                        </a:p>
                      </a:txBody>
                      <a:tcPr marL="37364" marR="373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Reason</a:t>
                          </a:r>
                          <a:endParaRPr lang="en-US" sz="2000">
                            <a:effectLst/>
                            <a:latin typeface="Verdana" charset="0"/>
                            <a:ea typeface="Verdana" charset="0"/>
                            <a:cs typeface="Verdana" charset="0"/>
                          </a:endParaRPr>
                        </a:p>
                      </a:txBody>
                      <a:tcPr marL="37364" marR="373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2"/>
                      </a:ext>
                    </a:extLst>
                  </a:tr>
                  <a:tr h="495395">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7364" marR="37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7364" marR="37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65089">
                    <a:tc>
                      <a:txBody>
                        <a:bodyPr/>
                        <a:lstStyle/>
                        <a:p>
                          <a:pPr marL="0" marR="0">
                            <a:spcBef>
                              <a:spcPts val="0"/>
                            </a:spcBef>
                            <a:spcAft>
                              <a:spcPts val="0"/>
                            </a:spcAft>
                          </a:pPr>
                          <a:r>
                            <a:rPr lang="en-US" sz="2000">
                              <a:effectLst/>
                              <a:latin typeface="Verdana" charset="0"/>
                              <a:ea typeface="Verdana" charset="0"/>
                              <a:cs typeface="Verdana" charset="0"/>
                            </a:rPr>
                            <a:t> </a:t>
                          </a:r>
                        </a:p>
                      </a:txBody>
                      <a:tcPr marL="37364" marR="37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7364" marR="37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17998">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7364" marR="37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Verdana" charset="0"/>
                              <a:cs typeface="Verdana" charset="0"/>
                            </a:rPr>
                            <a:t> </a:t>
                          </a:r>
                        </a:p>
                      </a:txBody>
                      <a:tcPr marL="37364" marR="37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49391">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7364" marR="37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Verdana" charset="0"/>
                              <a:cs typeface="Verdana" charset="0"/>
                            </a:rPr>
                            <a:t> </a:t>
                          </a:r>
                        </a:p>
                      </a:txBody>
                      <a:tcPr marL="37364" marR="37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3285521606"/>
                  </p:ext>
                </p:extLst>
              </p:nvPr>
            </p:nvGraphicFramePr>
            <p:xfrm>
              <a:off x="610116" y="330803"/>
              <a:ext cx="7738277" cy="6135097"/>
            </p:xfrm>
            <a:graphic>
              <a:graphicData uri="http://schemas.openxmlformats.org/drawingml/2006/table">
                <a:tbl>
                  <a:tblPr firstRow="1" firstCol="1" bandRow="1"/>
                  <a:tblGrid>
                    <a:gridCol w="3191376">
                      <a:extLst>
                        <a:ext uri="{9D8B030D-6E8A-4147-A177-3AD203B41FA5}">
                          <a16:colId xmlns:a16="http://schemas.microsoft.com/office/drawing/2014/main" val="20000"/>
                        </a:ext>
                      </a:extLst>
                    </a:gridCol>
                    <a:gridCol w="4546901">
                      <a:extLst>
                        <a:ext uri="{9D8B030D-6E8A-4147-A177-3AD203B41FA5}">
                          <a16:colId xmlns:a16="http://schemas.microsoft.com/office/drawing/2014/main" val="20001"/>
                        </a:ext>
                      </a:extLst>
                    </a:gridCol>
                  </a:tblGrid>
                  <a:tr h="409707">
                    <a:tc gridSpan="2">
                      <a:txBody>
                        <a:bodyPr/>
                        <a:lstStyle/>
                        <a:p>
                          <a:pPr marL="0" marR="0" algn="ctr">
                            <a:spcBef>
                              <a:spcPts val="0"/>
                            </a:spcBef>
                            <a:spcAft>
                              <a:spcPts val="0"/>
                            </a:spcAft>
                          </a:pPr>
                          <a:r>
                            <a:rPr lang="en-US" sz="2000" b="1">
                              <a:effectLst/>
                              <a:latin typeface="Verdana" charset="0"/>
                              <a:ea typeface="Verdana" charset="0"/>
                              <a:cs typeface="Verdana" charset="0"/>
                            </a:rPr>
                            <a:t>Proof G</a:t>
                          </a:r>
                          <a:endParaRPr lang="en-US" sz="2000">
                            <a:effectLst/>
                            <a:latin typeface="Verdana" charset="0"/>
                            <a:ea typeface="Verdana" charset="0"/>
                            <a:cs typeface="Verdana" charset="0"/>
                          </a:endParaRPr>
                        </a:p>
                      </a:txBody>
                      <a:tcPr marL="37364" marR="373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val="10000"/>
                      </a:ext>
                    </a:extLst>
                  </a:tr>
                  <a:tr h="3187810">
                    <a:tc gridSpan="2">
                      <a:txBody>
                        <a:bodyPr/>
                        <a:lstStyle/>
                        <a:p>
                          <a:endParaRPr lang="en-US"/>
                        </a:p>
                      </a:txBody>
                      <a:tcPr marL="37364" marR="373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79" t="-13576" r="-157" b="-80115"/>
                          </a:stretch>
                        </a:blipFill>
                      </a:tcPr>
                    </a:tc>
                    <a:tc hMerge="1">
                      <a:txBody>
                        <a:bodyPr/>
                        <a:lstStyle/>
                        <a:p>
                          <a:endParaRPr lang="en-US"/>
                        </a:p>
                      </a:txBody>
                      <a:tcPr/>
                    </a:tc>
                    <a:extLst>
                      <a:ext uri="{0D108BD9-81ED-4DB2-BD59-A6C34878D82A}">
                        <a16:rowId xmlns:a16="http://schemas.microsoft.com/office/drawing/2014/main" val="10001"/>
                      </a:ext>
                    </a:extLst>
                  </a:tr>
                  <a:tr h="409707">
                    <a:tc>
                      <a:txBody>
                        <a:bodyPr/>
                        <a:lstStyle/>
                        <a:p>
                          <a:pPr marL="0" marR="0" algn="ctr">
                            <a:spcBef>
                              <a:spcPts val="0"/>
                            </a:spcBef>
                            <a:spcAft>
                              <a:spcPts val="0"/>
                            </a:spcAft>
                          </a:pPr>
                          <a:r>
                            <a:rPr lang="en-US" sz="2000" b="1">
                              <a:effectLst/>
                              <a:latin typeface="Verdana" charset="0"/>
                              <a:ea typeface="Verdana" charset="0"/>
                              <a:cs typeface="Verdana" charset="0"/>
                            </a:rPr>
                            <a:t>Statement</a:t>
                          </a:r>
                          <a:endParaRPr lang="en-US" sz="2000">
                            <a:effectLst/>
                            <a:latin typeface="Verdana" charset="0"/>
                            <a:ea typeface="Verdana" charset="0"/>
                            <a:cs typeface="Verdana" charset="0"/>
                          </a:endParaRPr>
                        </a:p>
                      </a:txBody>
                      <a:tcPr marL="37364" marR="373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Reason</a:t>
                          </a:r>
                          <a:endParaRPr lang="en-US" sz="2000">
                            <a:effectLst/>
                            <a:latin typeface="Verdana" charset="0"/>
                            <a:ea typeface="Verdana" charset="0"/>
                            <a:cs typeface="Verdana" charset="0"/>
                          </a:endParaRPr>
                        </a:p>
                      </a:txBody>
                      <a:tcPr marL="37364" marR="373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2"/>
                      </a:ext>
                    </a:extLst>
                  </a:tr>
                  <a:tr h="495395">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7364" marR="37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7364" marR="37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65089">
                    <a:tc>
                      <a:txBody>
                        <a:bodyPr/>
                        <a:lstStyle/>
                        <a:p>
                          <a:pPr marL="0" marR="0">
                            <a:spcBef>
                              <a:spcPts val="0"/>
                            </a:spcBef>
                            <a:spcAft>
                              <a:spcPts val="0"/>
                            </a:spcAft>
                          </a:pPr>
                          <a:r>
                            <a:rPr lang="en-US" sz="2000">
                              <a:effectLst/>
                              <a:latin typeface="Verdana" charset="0"/>
                              <a:ea typeface="Verdana" charset="0"/>
                              <a:cs typeface="Verdana" charset="0"/>
                            </a:rPr>
                            <a:t> </a:t>
                          </a:r>
                        </a:p>
                      </a:txBody>
                      <a:tcPr marL="37364" marR="37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7364" marR="37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17998">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7364" marR="37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Verdana" charset="0"/>
                              <a:cs typeface="Verdana" charset="0"/>
                            </a:rPr>
                            <a:t> </a:t>
                          </a:r>
                        </a:p>
                      </a:txBody>
                      <a:tcPr marL="37364" marR="37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49391">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7364" marR="37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Verdana" charset="0"/>
                              <a:cs typeface="Verdana" charset="0"/>
                            </a:rPr>
                            <a:t> </a:t>
                          </a:r>
                        </a:p>
                      </a:txBody>
                      <a:tcPr marL="37364" marR="37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mc:Fallback>
      </mc:AlternateContent>
      <p:pic>
        <p:nvPicPr>
          <p:cNvPr id="7169" name="Picture 3"/>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3396888" y="814137"/>
            <a:ext cx="4901324" cy="29911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97656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8433" y="621493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0207" y="647200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174</a:t>
            </a:r>
          </a:p>
        </p:txBody>
      </p:sp>
      <p:sp>
        <p:nvSpPr>
          <p:cNvPr id="6" name="Google Shape;278;g104476d1465_1_17">
            <a:extLst>
              <a:ext uri="{FF2B5EF4-FFF2-40B4-BE49-F238E27FC236}">
                <a16:creationId xmlns:a16="http://schemas.microsoft.com/office/drawing/2014/main" id="{44C210D6-0F1D-3545-B73D-9B9FC6EA0352}"/>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4166572236"/>
                  </p:ext>
                </p:extLst>
              </p:nvPr>
            </p:nvGraphicFramePr>
            <p:xfrm>
              <a:off x="621856" y="341587"/>
              <a:ext cx="7859695" cy="6124313"/>
            </p:xfrm>
            <a:graphic>
              <a:graphicData uri="http://schemas.openxmlformats.org/drawingml/2006/table">
                <a:tbl>
                  <a:tblPr firstRow="1" firstCol="1" bandRow="1"/>
                  <a:tblGrid>
                    <a:gridCol w="3332453">
                      <a:extLst>
                        <a:ext uri="{9D8B030D-6E8A-4147-A177-3AD203B41FA5}">
                          <a16:colId xmlns:a16="http://schemas.microsoft.com/office/drawing/2014/main" val="20000"/>
                        </a:ext>
                      </a:extLst>
                    </a:gridCol>
                    <a:gridCol w="4527242">
                      <a:extLst>
                        <a:ext uri="{9D8B030D-6E8A-4147-A177-3AD203B41FA5}">
                          <a16:colId xmlns:a16="http://schemas.microsoft.com/office/drawing/2014/main" val="20001"/>
                        </a:ext>
                      </a:extLst>
                    </a:gridCol>
                  </a:tblGrid>
                  <a:tr h="356783">
                    <a:tc gridSpan="2">
                      <a:txBody>
                        <a:bodyPr/>
                        <a:lstStyle/>
                        <a:p>
                          <a:pPr marL="0" marR="0" algn="ctr">
                            <a:spcBef>
                              <a:spcPts val="0"/>
                            </a:spcBef>
                            <a:spcAft>
                              <a:spcPts val="0"/>
                            </a:spcAft>
                          </a:pPr>
                          <a:r>
                            <a:rPr lang="en-US" sz="2000" b="1">
                              <a:effectLst/>
                              <a:latin typeface="Verdana" charset="0"/>
                              <a:ea typeface="Verdana" charset="0"/>
                              <a:cs typeface="Verdana" charset="0"/>
                            </a:rPr>
                            <a:t>Proof H</a:t>
                          </a:r>
                          <a:endParaRPr lang="en-US" sz="2000">
                            <a:effectLst/>
                            <a:latin typeface="Verdana" charset="0"/>
                            <a:ea typeface="Verdana" charset="0"/>
                            <a:cs typeface="Verdana" charset="0"/>
                          </a:endParaRPr>
                        </a:p>
                      </a:txBody>
                      <a:tcPr marL="38001" marR="380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val="10000"/>
                      </a:ext>
                    </a:extLst>
                  </a:tr>
                  <a:tr h="3427635">
                    <a:tc gridSpan="2">
                      <a:txBody>
                        <a:bodyPr/>
                        <a:lstStyle/>
                        <a:p>
                          <a:pPr marL="0" marR="0">
                            <a:spcBef>
                              <a:spcPts val="0"/>
                            </a:spcBef>
                            <a:spcAft>
                              <a:spcPts val="0"/>
                            </a:spcAft>
                          </a:pPr>
                          <a:endParaRPr lang="en-US" sz="2000" dirty="0">
                            <a:effectLst/>
                            <a:latin typeface="Verdana" charset="0"/>
                            <a:ea typeface="Verdana" charset="0"/>
                            <a:cs typeface="Verdana" charset="0"/>
                          </a:endParaRPr>
                        </a:p>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Given: </a:t>
                          </a:r>
                          <a14:m>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panose="02040503050406030204" pitchFamily="18" charset="0"/>
                                      <a:ea typeface="Verdana" charset="0"/>
                                      <a:cs typeface="Verdana" charset="0"/>
                                    </a:rPr>
                                    <m:t>𝐺𝑅</m:t>
                                  </m:r>
                                </m:e>
                              </m:acc>
                              <m:r>
                                <a:rPr lang="en-US" sz="2000" i="1">
                                  <a:effectLst/>
                                  <a:latin typeface="Cambria Math" panose="02040503050406030204" pitchFamily="18" charset="0"/>
                                  <a:ea typeface="Verdana" charset="0"/>
                                  <a:cs typeface="Verdana" charset="0"/>
                                </a:rPr>
                                <m:t>⊥</m:t>
                              </m:r>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panose="02040503050406030204" pitchFamily="18" charset="0"/>
                                      <a:ea typeface="Verdana" charset="0"/>
                                      <a:cs typeface="Verdana" charset="0"/>
                                    </a:rPr>
                                    <m:t>𝐵𝑃</m:t>
                                  </m:r>
                                </m:e>
                              </m:acc>
                            </m:oMath>
                          </a14:m>
                          <a:r>
                            <a:rPr lang="en-US" sz="2000" dirty="0">
                              <a:effectLst/>
                              <a:latin typeface="Verdana" charset="0"/>
                              <a:ea typeface="Verdana" charset="0"/>
                              <a:cs typeface="Verdana" charset="0"/>
                            </a:rPr>
                            <a:t> and </a:t>
                          </a:r>
                          <a14:m>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panose="02040503050406030204" pitchFamily="18" charset="0"/>
                                      <a:ea typeface="Verdana" charset="0"/>
                                      <a:cs typeface="Verdana" charset="0"/>
                                    </a:rPr>
                                    <m:t>𝐹𝐾</m:t>
                                  </m:r>
                                </m:e>
                              </m:acc>
                              <m:r>
                                <a:rPr lang="en-US" sz="2000" i="1">
                                  <a:effectLst/>
                                  <a:latin typeface="Cambria Math" panose="02040503050406030204" pitchFamily="18" charset="0"/>
                                  <a:ea typeface="Verdana" charset="0"/>
                                  <a:cs typeface="Verdana" charset="0"/>
                                </a:rPr>
                                <m:t>⊥</m:t>
                              </m:r>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panose="02040503050406030204" pitchFamily="18" charset="0"/>
                                      <a:ea typeface="Verdana" charset="0"/>
                                      <a:cs typeface="Verdana" charset="0"/>
                                    </a:rPr>
                                    <m:t>𝐵𝑃</m:t>
                                  </m:r>
                                </m:e>
                              </m:acc>
                            </m:oMath>
                          </a14:m>
                          <a:endParaRPr lang="en-US" sz="2000" dirty="0">
                            <a:effectLst/>
                            <a:latin typeface="Verdana" charset="0"/>
                            <a:ea typeface="Verdana" charset="0"/>
                            <a:cs typeface="Verdana" charset="0"/>
                          </a:endParaRPr>
                        </a:p>
                        <a:p>
                          <a:pPr marL="0" marR="0">
                            <a:spcBef>
                              <a:spcPts val="0"/>
                            </a:spcBef>
                            <a:spcAft>
                              <a:spcPts val="0"/>
                            </a:spcAft>
                          </a:pPr>
                          <a:r>
                            <a:rPr lang="en-US" sz="2000" dirty="0">
                              <a:effectLst/>
                              <a:latin typeface="Verdana" charset="0"/>
                              <a:ea typeface="Verdana" charset="0"/>
                              <a:cs typeface="Verdana" charset="0"/>
                            </a:rPr>
                            <a:t>Prove: </a:t>
                          </a:r>
                          <a14:m>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panose="02040503050406030204" pitchFamily="18" charset="0"/>
                                      <a:ea typeface="Verdana" charset="0"/>
                                      <a:cs typeface="Verdana" charset="0"/>
                                    </a:rPr>
                                    <m:t>𝐺𝑅</m:t>
                                  </m:r>
                                </m:e>
                              </m:acc>
                              <m:r>
                                <a:rPr lang="en-US" sz="2000" i="1">
                                  <a:effectLst/>
                                  <a:latin typeface="Cambria Math" panose="02040503050406030204" pitchFamily="18" charset="0"/>
                                  <a:ea typeface="Verdana" charset="0"/>
                                  <a:cs typeface="Verdana" charset="0"/>
                                </a:rPr>
                                <m:t>∥</m:t>
                              </m:r>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panose="02040503050406030204" pitchFamily="18" charset="0"/>
                                      <a:ea typeface="Verdana" charset="0"/>
                                      <a:cs typeface="Verdana" charset="0"/>
                                    </a:rPr>
                                    <m:t>𝐹𝐾</m:t>
                                  </m:r>
                                </m:e>
                              </m:acc>
                            </m:oMath>
                          </a14:m>
                          <a:endParaRPr lang="en-US" sz="2000" dirty="0">
                            <a:effectLst/>
                            <a:latin typeface="Verdana" charset="0"/>
                            <a:ea typeface="Verdana" charset="0"/>
                            <a:cs typeface="Verdana" charset="0"/>
                          </a:endParaRPr>
                        </a:p>
                        <a:p>
                          <a:pPr marL="0" marR="0" algn="ctr">
                            <a:spcBef>
                              <a:spcPts val="0"/>
                            </a:spcBef>
                            <a:spcAft>
                              <a:spcPts val="0"/>
                            </a:spcAft>
                          </a:pPr>
                          <a:r>
                            <a:rPr lang="en-US" sz="2000" dirty="0">
                              <a:effectLst/>
                              <a:latin typeface="Verdana" charset="0"/>
                              <a:ea typeface="Verdana" charset="0"/>
                              <a:cs typeface="Verdana" charset="0"/>
                            </a:rPr>
                            <a:t> </a:t>
                          </a:r>
                        </a:p>
                        <a:p>
                          <a:pPr marL="0" marR="0" algn="ctr">
                            <a:spcBef>
                              <a:spcPts val="0"/>
                            </a:spcBef>
                            <a:spcAft>
                              <a:spcPts val="0"/>
                            </a:spcAft>
                          </a:pPr>
                          <a:r>
                            <a:rPr lang="en-US" sz="2000" dirty="0">
                              <a:effectLst/>
                              <a:latin typeface="Verdana" charset="0"/>
                              <a:ea typeface="Verdana" charset="0"/>
                              <a:cs typeface="Verdana" charset="0"/>
                            </a:rPr>
                            <a:t> </a:t>
                          </a:r>
                        </a:p>
                        <a:p>
                          <a:pPr marL="0" marR="0" algn="ctr">
                            <a:spcBef>
                              <a:spcPts val="0"/>
                            </a:spcBef>
                            <a:spcAft>
                              <a:spcPts val="0"/>
                            </a:spcAft>
                          </a:pPr>
                          <a:endParaRPr lang="en-US" sz="2000" dirty="0">
                            <a:effectLst/>
                            <a:latin typeface="Verdana" charset="0"/>
                            <a:ea typeface="Verdana" charset="0"/>
                            <a:cs typeface="Verdana" charset="0"/>
                          </a:endParaRPr>
                        </a:p>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txBody>
                      <a:tcPr marL="38001" marR="380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1"/>
                      </a:ext>
                    </a:extLst>
                  </a:tr>
                  <a:tr h="356783">
                    <a:tc>
                      <a:txBody>
                        <a:bodyPr/>
                        <a:lstStyle/>
                        <a:p>
                          <a:pPr marL="0" marR="0" algn="ctr">
                            <a:spcBef>
                              <a:spcPts val="0"/>
                            </a:spcBef>
                            <a:spcAft>
                              <a:spcPts val="0"/>
                            </a:spcAft>
                          </a:pPr>
                          <a:r>
                            <a:rPr lang="en-US" sz="2000" b="1" dirty="0">
                              <a:effectLst/>
                              <a:latin typeface="Verdana" charset="0"/>
                              <a:ea typeface="Verdana" charset="0"/>
                              <a:cs typeface="Verdana" charset="0"/>
                            </a:rPr>
                            <a:t>Statement</a:t>
                          </a:r>
                          <a:endParaRPr lang="en-US" sz="2000" dirty="0">
                            <a:effectLst/>
                            <a:latin typeface="Verdana" charset="0"/>
                            <a:ea typeface="Verdana" charset="0"/>
                            <a:cs typeface="Verdana" charset="0"/>
                          </a:endParaRPr>
                        </a:p>
                      </a:txBody>
                      <a:tcPr marL="38001" marR="380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Reason</a:t>
                          </a:r>
                          <a:endParaRPr lang="en-US" sz="2000">
                            <a:effectLst/>
                            <a:latin typeface="Verdana" charset="0"/>
                            <a:ea typeface="Verdana" charset="0"/>
                            <a:cs typeface="Verdana" charset="0"/>
                          </a:endParaRPr>
                        </a:p>
                      </a:txBody>
                      <a:tcPr marL="38001" marR="380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2"/>
                      </a:ext>
                    </a:extLst>
                  </a:tr>
                  <a:tr h="516104">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8001" marR="3800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8001" marR="3800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68194">
                    <a:tc>
                      <a:txBody>
                        <a:bodyPr/>
                        <a:lstStyle/>
                        <a:p>
                          <a:pPr marL="0" marR="0" algn="ctr">
                            <a:spcBef>
                              <a:spcPts val="0"/>
                            </a:spcBef>
                            <a:spcAft>
                              <a:spcPts val="0"/>
                            </a:spcAft>
                          </a:pPr>
                          <a:r>
                            <a:rPr lang="en-US" sz="2000" dirty="0">
                              <a:effectLst/>
                              <a:latin typeface="Verdana" charset="0"/>
                              <a:ea typeface="Verdana" charset="0"/>
                              <a:cs typeface="Verdana" charset="0"/>
                            </a:rPr>
                            <a:t> </a:t>
                          </a:r>
                        </a:p>
                      </a:txBody>
                      <a:tcPr marL="38001" marR="3800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8001" marR="3800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30620">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8001" marR="3800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Verdana" charset="0"/>
                              <a:cs typeface="Verdana" charset="0"/>
                            </a:rPr>
                            <a:t> </a:t>
                          </a:r>
                        </a:p>
                      </a:txBody>
                      <a:tcPr marL="38001" marR="3800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68194">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8001" marR="3800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Verdana" charset="0"/>
                              <a:cs typeface="Verdana" charset="0"/>
                            </a:rPr>
                            <a:t> </a:t>
                          </a:r>
                        </a:p>
                      </a:txBody>
                      <a:tcPr marL="38001" marR="3800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4166572236"/>
                  </p:ext>
                </p:extLst>
              </p:nvPr>
            </p:nvGraphicFramePr>
            <p:xfrm>
              <a:off x="621856" y="341587"/>
              <a:ext cx="7859695" cy="6124313"/>
            </p:xfrm>
            <a:graphic>
              <a:graphicData uri="http://schemas.openxmlformats.org/drawingml/2006/table">
                <a:tbl>
                  <a:tblPr firstRow="1" firstCol="1" bandRow="1"/>
                  <a:tblGrid>
                    <a:gridCol w="3332453">
                      <a:extLst>
                        <a:ext uri="{9D8B030D-6E8A-4147-A177-3AD203B41FA5}">
                          <a16:colId xmlns:a16="http://schemas.microsoft.com/office/drawing/2014/main" val="20000"/>
                        </a:ext>
                      </a:extLst>
                    </a:gridCol>
                    <a:gridCol w="4527242">
                      <a:extLst>
                        <a:ext uri="{9D8B030D-6E8A-4147-A177-3AD203B41FA5}">
                          <a16:colId xmlns:a16="http://schemas.microsoft.com/office/drawing/2014/main" val="20001"/>
                        </a:ext>
                      </a:extLst>
                    </a:gridCol>
                  </a:tblGrid>
                  <a:tr h="356783">
                    <a:tc gridSpan="2">
                      <a:txBody>
                        <a:bodyPr/>
                        <a:lstStyle/>
                        <a:p>
                          <a:pPr marL="0" marR="0" algn="ctr">
                            <a:spcBef>
                              <a:spcPts val="0"/>
                            </a:spcBef>
                            <a:spcAft>
                              <a:spcPts val="0"/>
                            </a:spcAft>
                          </a:pPr>
                          <a:r>
                            <a:rPr lang="en-US" sz="2000" b="1">
                              <a:effectLst/>
                              <a:latin typeface="Verdana" charset="0"/>
                              <a:ea typeface="Verdana" charset="0"/>
                              <a:cs typeface="Verdana" charset="0"/>
                            </a:rPr>
                            <a:t>Proof H</a:t>
                          </a:r>
                          <a:endParaRPr lang="en-US" sz="2000">
                            <a:effectLst/>
                            <a:latin typeface="Verdana" charset="0"/>
                            <a:ea typeface="Verdana" charset="0"/>
                            <a:cs typeface="Verdana" charset="0"/>
                          </a:endParaRPr>
                        </a:p>
                      </a:txBody>
                      <a:tcPr marL="38001" marR="380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val="10000"/>
                      </a:ext>
                    </a:extLst>
                  </a:tr>
                  <a:tr h="3427635">
                    <a:tc gridSpan="2">
                      <a:txBody>
                        <a:bodyPr/>
                        <a:lstStyle/>
                        <a:p>
                          <a:endParaRPr lang="en-US"/>
                        </a:p>
                      </a:txBody>
                      <a:tcPr marL="38001" marR="380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55" t="-12100" r="-155" b="-68683"/>
                          </a:stretch>
                        </a:blipFill>
                      </a:tcPr>
                    </a:tc>
                    <a:tc hMerge="1">
                      <a:txBody>
                        <a:bodyPr/>
                        <a:lstStyle/>
                        <a:p>
                          <a:endParaRPr lang="en-US"/>
                        </a:p>
                      </a:txBody>
                      <a:tcPr/>
                    </a:tc>
                    <a:extLst>
                      <a:ext uri="{0D108BD9-81ED-4DB2-BD59-A6C34878D82A}">
                        <a16:rowId xmlns:a16="http://schemas.microsoft.com/office/drawing/2014/main" val="10001"/>
                      </a:ext>
                    </a:extLst>
                  </a:tr>
                  <a:tr h="356783">
                    <a:tc>
                      <a:txBody>
                        <a:bodyPr/>
                        <a:lstStyle/>
                        <a:p>
                          <a:pPr marL="0" marR="0" algn="ctr">
                            <a:spcBef>
                              <a:spcPts val="0"/>
                            </a:spcBef>
                            <a:spcAft>
                              <a:spcPts val="0"/>
                            </a:spcAft>
                          </a:pPr>
                          <a:r>
                            <a:rPr lang="en-US" sz="2000" b="1" dirty="0">
                              <a:effectLst/>
                              <a:latin typeface="Verdana" charset="0"/>
                              <a:ea typeface="Verdana" charset="0"/>
                              <a:cs typeface="Verdana" charset="0"/>
                            </a:rPr>
                            <a:t>Statement</a:t>
                          </a:r>
                          <a:endParaRPr lang="en-US" sz="2000" dirty="0">
                            <a:effectLst/>
                            <a:latin typeface="Verdana" charset="0"/>
                            <a:ea typeface="Verdana" charset="0"/>
                            <a:cs typeface="Verdana" charset="0"/>
                          </a:endParaRPr>
                        </a:p>
                      </a:txBody>
                      <a:tcPr marL="38001" marR="380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Reason</a:t>
                          </a:r>
                          <a:endParaRPr lang="en-US" sz="2000">
                            <a:effectLst/>
                            <a:latin typeface="Verdana" charset="0"/>
                            <a:ea typeface="Verdana" charset="0"/>
                            <a:cs typeface="Verdana" charset="0"/>
                          </a:endParaRPr>
                        </a:p>
                      </a:txBody>
                      <a:tcPr marL="38001" marR="380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2"/>
                      </a:ext>
                    </a:extLst>
                  </a:tr>
                  <a:tr h="516104">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8001" marR="3800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8001" marR="3800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68194">
                    <a:tc>
                      <a:txBody>
                        <a:bodyPr/>
                        <a:lstStyle/>
                        <a:p>
                          <a:pPr marL="0" marR="0" algn="ctr">
                            <a:spcBef>
                              <a:spcPts val="0"/>
                            </a:spcBef>
                            <a:spcAft>
                              <a:spcPts val="0"/>
                            </a:spcAft>
                          </a:pPr>
                          <a:r>
                            <a:rPr lang="en-US" sz="2000" dirty="0">
                              <a:effectLst/>
                              <a:latin typeface="Verdana" charset="0"/>
                              <a:ea typeface="Verdana" charset="0"/>
                              <a:cs typeface="Verdana" charset="0"/>
                            </a:rPr>
                            <a:t> </a:t>
                          </a:r>
                        </a:p>
                      </a:txBody>
                      <a:tcPr marL="38001" marR="3800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8001" marR="3800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30620">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8001" marR="3800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Verdana" charset="0"/>
                              <a:cs typeface="Verdana" charset="0"/>
                            </a:rPr>
                            <a:t> </a:t>
                          </a:r>
                        </a:p>
                      </a:txBody>
                      <a:tcPr marL="38001" marR="3800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68194">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8001" marR="3800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Verdana" charset="0"/>
                              <a:cs typeface="Verdana" charset="0"/>
                            </a:rPr>
                            <a:t> </a:t>
                          </a:r>
                        </a:p>
                      </a:txBody>
                      <a:tcPr marL="38001" marR="3800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mc:Fallback>
      </mc:AlternateContent>
      <p:pic>
        <p:nvPicPr>
          <p:cNvPr id="8193" name="Picture 13"/>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4763363" y="809295"/>
            <a:ext cx="3302831" cy="32594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90988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90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174</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82" name="Google Shape;282;g104476d1465_1_17"/>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174</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34800" y="-185683"/>
            <a:ext cx="93808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3.9.3 Wrap-Up: Cool Down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05350" y="60449"/>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593248" y="1386149"/>
            <a:ext cx="10486232" cy="1323439"/>
          </a:xfrm>
          <a:prstGeom prst="rect">
            <a:avLst/>
          </a:prstGeom>
          <a:noFill/>
        </p:spPr>
        <p:txBody>
          <a:bodyPr wrap="square" rtlCol="0">
            <a:spAutoFit/>
          </a:bodyPr>
          <a:lstStyle/>
          <a:p>
            <a:pPr marL="457200" indent="-457200" fontAlgn="base">
              <a:buFont typeface="+mj-lt"/>
              <a:buAutoNum type="arabicPeriod"/>
            </a:pPr>
            <a:r>
              <a:rPr lang="en-US" sz="2000" dirty="0">
                <a:latin typeface="Verdana" charset="0"/>
                <a:ea typeface="Verdana" charset="0"/>
                <a:cs typeface="Verdana" charset="0"/>
              </a:rPr>
              <a:t>Write an explanation to a classmate who might have missed today’s lesson, in your own words, about what you’ve learned about angle relationship proofs. Include things that are easy to remember and common errors to watch out for.</a:t>
            </a:r>
          </a:p>
        </p:txBody>
      </p:sp>
      <p:sp>
        <p:nvSpPr>
          <p:cNvPr id="8" name="Google Shape;278;g104476d1465_1_17">
            <a:extLst>
              <a:ext uri="{FF2B5EF4-FFF2-40B4-BE49-F238E27FC236}">
                <a16:creationId xmlns:a16="http://schemas.microsoft.com/office/drawing/2014/main" id="{31AAE36C-5822-464A-8B2B-DAD96F65814D}"/>
              </a:ext>
            </a:extLst>
          </p:cNvPr>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2767</TotalTime>
  <Words>635</Words>
  <Application>Microsoft Office PowerPoint</Application>
  <PresentationFormat>Widescreen</PresentationFormat>
  <Paragraphs>222</Paragraphs>
  <Slides>17</Slides>
  <Notes>17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vt:lpstr>
      <vt:lpstr>Arial Black</vt:lpstr>
      <vt:lpstr>Calibri</vt:lpstr>
      <vt:lpstr>Cambria</vt:lpstr>
      <vt:lpstr>Cambria Math</vt:lpstr>
      <vt:lpstr>Century Gothic</vt:lpstr>
      <vt:lpstr>Verdana</vt:lpstr>
      <vt:lpstr>Wingdings</vt:lpstr>
      <vt:lpstr>1_Office Theme</vt:lpstr>
      <vt:lpstr>Geometry  Unit 3, Lesson 9  Angle Relationship Proofs – Part 2  Volume 1, pg. 169  </vt:lpstr>
      <vt:lpstr>Benchmarks</vt:lpstr>
      <vt:lpstr>PowerPoint Presentation</vt:lpstr>
      <vt:lpstr>PowerPoint Presentation</vt:lpstr>
      <vt:lpstr>Warm-Up</vt:lpstr>
      <vt:lpstr>PowerPoint Presentation</vt:lpstr>
      <vt:lpstr>Activity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Morgan Palomino</cp:lastModifiedBy>
  <cp:revision>22</cp:revision>
  <dcterms:created xsi:type="dcterms:W3CDTF">2015-03-17T18:51:18Z</dcterms:created>
  <dcterms:modified xsi:type="dcterms:W3CDTF">2023-02-27T17:19:11Z</dcterms:modified>
</cp:coreProperties>
</file>