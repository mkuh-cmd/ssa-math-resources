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85" r:id="rId4"/>
    <p:sldId id="286" r:id="rId5"/>
    <p:sldId id="261" r:id="rId6"/>
    <p:sldId id="287" r:id="rId7"/>
    <p:sldId id="332" r:id="rId8"/>
    <p:sldId id="333" r:id="rId9"/>
    <p:sldId id="334" r:id="rId10"/>
    <p:sldId id="335" r:id="rId11"/>
    <p:sldId id="336" r:id="rId12"/>
    <p:sldId id="337" r:id="rId13"/>
    <p:sldId id="338" r:id="rId14"/>
    <p:sldId id="339" r:id="rId15"/>
    <p:sldId id="343" r:id="rId16"/>
    <p:sldId id="340" r:id="rId17"/>
    <p:sldId id="341" r:id="rId18"/>
    <p:sldId id="342" r:id="rId19"/>
    <p:sldId id="344" r:id="rId20"/>
    <p:sldId id="306" r:id="rId21"/>
    <p:sldId id="307" r:id="rId22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5" roundtripDataSignature="AMtx7miXGu+iP6Z2M0kNO/4dLqrShsAM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CBD1E"/>
    <a:srgbClr val="C9DF6F"/>
    <a:srgbClr val="417DBF"/>
    <a:srgbClr val="3F2A67"/>
    <a:srgbClr val="E24E5F"/>
    <a:srgbClr val="26B7D4"/>
    <a:srgbClr val="54B5D1"/>
    <a:srgbClr val="33BEA6"/>
    <a:srgbClr val="2DA48F"/>
    <a:srgbClr val="52BD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91F0D33-8C57-4600-99A7-42BC86742BE1}">
  <a:tblStyle styleId="{A91F0D33-8C57-4600-99A7-42BC86742BE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8804"/>
    <p:restoredTop sz="94767"/>
  </p:normalViewPr>
  <p:slideViewPr>
    <p:cSldViewPr snapToGrid="0">
      <p:cViewPr varScale="1">
        <p:scale>
          <a:sx n="84" d="100"/>
          <a:sy n="84" d="100"/>
        </p:scale>
        <p:origin x="200" y="71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56" Type="http://schemas.openxmlformats.org/officeDocument/2006/relationships/presProps" Target="presProps.xml"/><Relationship Id="rId57" Type="http://schemas.openxmlformats.org/officeDocument/2006/relationships/viewProps" Target="viewProps.xml"/><Relationship Id="rId58" Type="http://schemas.openxmlformats.org/officeDocument/2006/relationships/theme" Target="theme/theme1.xml"/><Relationship Id="rId59" Type="http://schemas.openxmlformats.org/officeDocument/2006/relationships/tableStyles" Target="tableStyles.xml"/><Relationship Id="rId55" Type="http://customschemas.google.com/relationships/presentationmetadata" Target="metadata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04476d1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104476d1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286833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68404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33789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6499148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4505064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507107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5030849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8239973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0065326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4021568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2087884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9634823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6946121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0070642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1820016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0892087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668810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7328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Relationship Id="rId3" Type="http://schemas.openxmlformats.org/officeDocument/2006/relationships/image" Target="../media/image4.png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Relationship Id="rId3" Type="http://schemas.openxmlformats.org/officeDocument/2006/relationships/image" Target="../media/image4.png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eg"/><Relationship Id="rId3" Type="http://schemas.openxmlformats.org/officeDocument/2006/relationships/image" Target="../media/image4.png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eg"/><Relationship Id="rId3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6"/>
          <p:cNvSpPr txBox="1">
            <a:spLocks noGrp="1"/>
          </p:cNvSpPr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0" name="Google Shape;20;p7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7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7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7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9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9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7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8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8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8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1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5" name="Google Shape;45;p8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8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7" name="Google Shape;47;p8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4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3" name="Google Shape;63;p8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4" name="Google Shape;64;p8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5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8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p8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6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7"/>
          <p:cNvSpPr txBox="1">
            <a:spLocks noGrp="1"/>
          </p:cNvSpPr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7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88" descr="A picture containing text, sign, seat&#10;&#10;Description automatically generated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8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Divider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89" descr="ANation-PPT22_5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9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9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89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0" descr="ANation-PPT22_6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0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0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90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91" descr="ANation-PPT22_2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1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1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91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Divider 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92" descr="ANation-PPT2_7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2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2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92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4" Type="http://schemas.openxmlformats.org/officeDocument/2006/relationships/image" Target="../media/image12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4" Type="http://schemas.openxmlformats.org/officeDocument/2006/relationships/image" Target="../media/image14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4" Type="http://schemas.openxmlformats.org/officeDocument/2006/relationships/image" Target="../media/image15.png"/><Relationship Id="rId5" Type="http://schemas.openxmlformats.org/officeDocument/2006/relationships/image" Target="../media/image150.png"/><Relationship Id="rId6" Type="http://schemas.openxmlformats.org/officeDocument/2006/relationships/image" Target="../media/image16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4" Type="http://schemas.openxmlformats.org/officeDocument/2006/relationships/image" Target="../media/image17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4" Type="http://schemas.openxmlformats.org/officeDocument/2006/relationships/image" Target="../media/image18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4" Type="http://schemas.openxmlformats.org/officeDocument/2006/relationships/image" Target="../media/image19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4" Type="http://schemas.openxmlformats.org/officeDocument/2006/relationships/image" Target="../media/image20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4" Type="http://schemas.openxmlformats.org/officeDocument/2006/relationships/image" Target="../media/image10.png"/><Relationship Id="rId5" Type="http://schemas.openxmlformats.org/officeDocument/2006/relationships/image" Target="../media/image22.png"/><Relationship Id="rId6" Type="http://schemas.openxmlformats.org/officeDocument/2006/relationships/image" Target="../media/image210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4" Type="http://schemas.openxmlformats.org/officeDocument/2006/relationships/image" Target="../media/image10.png"/><Relationship Id="rId5" Type="http://schemas.openxmlformats.org/officeDocument/2006/relationships/image" Target="../media/image230.png"/><Relationship Id="rId6" Type="http://schemas.openxmlformats.org/officeDocument/2006/relationships/image" Target="../media/image24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4" Type="http://schemas.openxmlformats.org/officeDocument/2006/relationships/image" Target="../media/image25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4" Type="http://schemas.openxmlformats.org/officeDocument/2006/relationships/image" Target="../media/image26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4" Type="http://schemas.openxmlformats.org/officeDocument/2006/relationships/image" Target="../media/image26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104476d1465_0_0"/>
          <p:cNvSpPr txBox="1">
            <a:spLocks noGrp="1"/>
          </p:cNvSpPr>
          <p:nvPr>
            <p:ph type="ctrTitle" idx="4294967295"/>
          </p:nvPr>
        </p:nvSpPr>
        <p:spPr>
          <a:xfrm>
            <a:off x="5742834" y="2054277"/>
            <a:ext cx="4925167" cy="3194455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Geometry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lang="en-US" sz="38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3, Lesson 5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Converse of the Alternate Interior Angles Theorem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2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1, pg. 149</a:t>
            </a: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endParaRPr lang="en-US" sz="34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75000"/>
              </a:lnSpc>
            </a:pPr>
            <a:endParaRPr sz="3100" dirty="0">
              <a:solidFill>
                <a:srgbClr val="417DBF"/>
              </a:solidFill>
            </a:endParaRPr>
          </a:p>
        </p:txBody>
      </p:sp>
      <p:cxnSp>
        <p:nvCxnSpPr>
          <p:cNvPr id="262" name="Google Shape;262;g104476d1465_0_0"/>
          <p:cNvCxnSpPr/>
          <p:nvPr/>
        </p:nvCxnSpPr>
        <p:spPr>
          <a:xfrm>
            <a:off x="-1573225" y="3938167"/>
            <a:ext cx="11526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" name="Google Shape;309;g104476d1465_1_39">
            <a:extLst>
              <a:ext uri="{FF2B5EF4-FFF2-40B4-BE49-F238E27FC236}">
                <a16:creationId xmlns:a16="http://schemas.microsoft.com/office/drawing/2014/main" xmlns="" id="{566F1422-A32C-7745-9E85-5AF7B9DBC697}"/>
              </a:ext>
            </a:extLst>
          </p:cNvPr>
          <p:cNvSpPr/>
          <p:nvPr/>
        </p:nvSpPr>
        <p:spPr>
          <a:xfrm>
            <a:off x="0" y="0"/>
            <a:ext cx="4094106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" name="Picture 2" descr="A blue sign with white text&#10;&#10;Description automatically generated with medium confidence">
            <a:extLst>
              <a:ext uri="{FF2B5EF4-FFF2-40B4-BE49-F238E27FC236}">
                <a16:creationId xmlns:a16="http://schemas.microsoft.com/office/drawing/2014/main" xmlns="" id="{5DE477E5-56CA-9D49-B76A-D5EDA7B79A4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8753" y="1522577"/>
            <a:ext cx="3270825" cy="381284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79" name="Google Shape;279;g104476d1465_1_17"/>
          <p:cNvSpPr txBox="1">
            <a:spLocks noGrp="1"/>
          </p:cNvSpPr>
          <p:nvPr>
            <p:ph type="title" idx="4294967295"/>
          </p:nvPr>
        </p:nvSpPr>
        <p:spPr>
          <a:xfrm>
            <a:off x="1124050" y="136649"/>
            <a:ext cx="75099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5400"/>
            </a:pPr>
            <a:r>
              <a:rPr lang="en-US" sz="47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Benchmarks</a:t>
            </a:r>
            <a:endParaRPr sz="37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0550" y="372424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82" name="Google Shape;282;g104476d1465_1_17"/>
          <p:cNvSpPr txBox="1"/>
          <p:nvPr/>
        </p:nvSpPr>
        <p:spPr>
          <a:xfrm>
            <a:off x="8889924" y="6457798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149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3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0;g104476d1465_1_17">
            <a:extLst>
              <a:ext uri="{FF2B5EF4-FFF2-40B4-BE49-F238E27FC236}">
                <a16:creationId xmlns:a16="http://schemas.microsoft.com/office/drawing/2014/main" xmlns="" id="{527A9F9F-07B8-ED47-B967-E5507C67DBC5}"/>
              </a:ext>
            </a:extLst>
          </p:cNvPr>
          <p:cNvSpPr txBox="1">
            <a:spLocks/>
          </p:cNvSpPr>
          <p:nvPr/>
        </p:nvSpPr>
        <p:spPr>
          <a:xfrm>
            <a:off x="514000" y="1631321"/>
            <a:ext cx="1111415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95250" indent="0">
              <a:buNone/>
            </a:pPr>
            <a:r>
              <a:rPr lang="en-US" sz="2400" dirty="0">
                <a:latin typeface="Verdana" charset="0"/>
                <a:ea typeface="Verdana" charset="0"/>
                <a:cs typeface="Verdana" charset="0"/>
              </a:rPr>
              <a:t>MA.912.GR.1.1 </a:t>
            </a:r>
          </a:p>
          <a:p>
            <a:pPr marL="458788" indent="0">
              <a:buNone/>
            </a:pPr>
            <a:r>
              <a:rPr lang="en-US" sz="2400" dirty="0">
                <a:latin typeface="Verdana" charset="0"/>
                <a:ea typeface="Verdana" charset="0"/>
                <a:cs typeface="Verdana" charset="0"/>
              </a:rPr>
              <a:t>Prove relationships and theorems about lines and angles. Solve mathematical and real-world problems involving postulates, relationships, and theorems of lines and angles.</a:t>
            </a:r>
          </a:p>
          <a:p>
            <a:pPr marL="95250" indent="0">
              <a:buNone/>
            </a:pPr>
            <a:r>
              <a:rPr lang="en-US" sz="2400" dirty="0">
                <a:latin typeface="Verdana" charset="0"/>
                <a:ea typeface="Verdana" charset="0"/>
                <a:cs typeface="Verdana" charset="0"/>
              </a:rPr>
              <a:t> </a:t>
            </a:r>
          </a:p>
          <a:p>
            <a:pPr marL="95250" indent="0">
              <a:buNone/>
            </a:pPr>
            <a:r>
              <a:rPr lang="en-US" sz="2400" dirty="0">
                <a:latin typeface="Verdana" charset="0"/>
                <a:ea typeface="Verdana" charset="0"/>
                <a:cs typeface="Verdana" charset="0"/>
              </a:rPr>
              <a:t>MA.912.LT.4.3 </a:t>
            </a:r>
          </a:p>
          <a:p>
            <a:pPr marL="458788" indent="0">
              <a:buNone/>
            </a:pPr>
            <a:r>
              <a:rPr lang="en-US" sz="2400" dirty="0">
                <a:latin typeface="Verdana" charset="0"/>
                <a:ea typeface="Verdana" charset="0"/>
                <a:cs typeface="Verdana" charset="0"/>
              </a:rPr>
              <a:t>Identify and accurately interpret “if…then,” “if and only if,” “all” and “not” statements. Find the converse, inverse, and contrapositive of a statement.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0550" y="372424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3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95;g103996e1364_0_10">
            <a:extLst>
              <a:ext uri="{FF2B5EF4-FFF2-40B4-BE49-F238E27FC236}">
                <a16:creationId xmlns:a16="http://schemas.microsoft.com/office/drawing/2014/main" xmlns="" id="{08B3C7FF-E6D0-2145-9A84-003D15672764}"/>
              </a:ext>
            </a:extLst>
          </p:cNvPr>
          <p:cNvSpPr txBox="1">
            <a:spLocks/>
          </p:cNvSpPr>
          <p:nvPr/>
        </p:nvSpPr>
        <p:spPr>
          <a:xfrm>
            <a:off x="1125199" y="129791"/>
            <a:ext cx="8579239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0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and Reasoning Standards</a:t>
            </a:r>
          </a:p>
        </p:txBody>
      </p:sp>
      <p:sp>
        <p:nvSpPr>
          <p:cNvPr id="10" name="Google Shape;282;g104476d1465_1_17">
            <a:extLst>
              <a:ext uri="{FF2B5EF4-FFF2-40B4-BE49-F238E27FC236}">
                <a16:creationId xmlns:a16="http://schemas.microsoft.com/office/drawing/2014/main" xmlns="" id="{E701C7D4-7BD4-5F4C-ACEB-5781D00837A2}"/>
              </a:ext>
            </a:extLst>
          </p:cNvPr>
          <p:cNvSpPr txBox="1"/>
          <p:nvPr/>
        </p:nvSpPr>
        <p:spPr>
          <a:xfrm>
            <a:off x="8889924" y="6457798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cs-CZ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cs-CZ" i="1" dirty="0">
                <a:latin typeface="Calibri"/>
                <a:ea typeface="Calibri"/>
                <a:cs typeface="Calibri"/>
                <a:sym typeface="Calibri"/>
              </a:rPr>
              <a:t> 1, </a:t>
            </a:r>
            <a:r>
              <a:rPr lang="cs-CZ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cs-CZ" i="1" dirty="0">
                <a:latin typeface="Calibri"/>
                <a:ea typeface="Calibri"/>
                <a:cs typeface="Calibri"/>
                <a:sym typeface="Calibri"/>
              </a:rPr>
              <a:t>. 149</a:t>
            </a:r>
          </a:p>
        </p:txBody>
      </p:sp>
      <p:sp>
        <p:nvSpPr>
          <p:cNvPr id="11" name="Google Shape;296;g103996e1364_0_10">
            <a:extLst>
              <a:ext uri="{FF2B5EF4-FFF2-40B4-BE49-F238E27FC236}">
                <a16:creationId xmlns:a16="http://schemas.microsoft.com/office/drawing/2014/main" xmlns="" id="{A6E18E39-B007-D647-9935-55A748533A45}"/>
              </a:ext>
            </a:extLst>
          </p:cNvPr>
          <p:cNvSpPr txBox="1">
            <a:spLocks/>
          </p:cNvSpPr>
          <p:nvPr/>
        </p:nvSpPr>
        <p:spPr>
          <a:xfrm>
            <a:off x="1101760" y="1596514"/>
            <a:ext cx="10422164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MA.K12.MTR.1.1 Actively participate in effortful learning both individually and collectively.</a:t>
            </a:r>
          </a:p>
          <a:p>
            <a:pPr marL="457200">
              <a:buSzPts val="523"/>
            </a:pP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MA.K12.MTR.4.1 Engage in discussions that reflect on the mathematical thinking of self and others.</a:t>
            </a:r>
          </a:p>
          <a:p>
            <a:pPr marL="457200">
              <a:buSzPts val="523"/>
            </a:pP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MA.K12.MTR.5.1 Use patterns and structure to help understand and connect mathematical concepts.</a:t>
            </a:r>
          </a:p>
          <a:p>
            <a:pPr>
              <a:buSzPts val="523"/>
            </a:pP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MA.K12.MTR.6.1 Assess the reasonableness of solutions.</a:t>
            </a:r>
          </a:p>
        </p:txBody>
      </p:sp>
      <p:sp>
        <p:nvSpPr>
          <p:cNvPr id="9" name="Google Shape;278;g104476d1465_1_17">
            <a:extLst>
              <a:ext uri="{FF2B5EF4-FFF2-40B4-BE49-F238E27FC236}">
                <a16:creationId xmlns:a16="http://schemas.microsoft.com/office/drawing/2014/main" xmlns="" id="{0EC4A24D-AC58-5143-9A1A-1E71E28DFCF5}"/>
              </a:ext>
            </a:extLst>
          </p:cNvPr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80842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0" name="Google Shape;301;g103996e1364_0_16">
            <a:extLst>
              <a:ext uri="{FF2B5EF4-FFF2-40B4-BE49-F238E27FC236}">
                <a16:creationId xmlns:a16="http://schemas.microsoft.com/office/drawing/2014/main" xmlns="" id="{5771FBFA-7311-BB45-8AFF-04B380531EE6}"/>
              </a:ext>
            </a:extLst>
          </p:cNvPr>
          <p:cNvSpPr txBox="1">
            <a:spLocks/>
          </p:cNvSpPr>
          <p:nvPr/>
        </p:nvSpPr>
        <p:spPr>
          <a:xfrm>
            <a:off x="1113375" y="38885"/>
            <a:ext cx="79584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7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Targets</a:t>
            </a:r>
          </a:p>
        </p:txBody>
      </p:sp>
      <p:pic>
        <p:nvPicPr>
          <p:cNvPr id="12" name="Google Shape;303;g103996e1364_0_16">
            <a:extLst>
              <a:ext uri="{FF2B5EF4-FFF2-40B4-BE49-F238E27FC236}">
                <a16:creationId xmlns:a16="http://schemas.microsoft.com/office/drawing/2014/main" xmlns="" id="{81DC7EB0-4FED-FC45-BAEC-D699ED5C2169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1213" y="328085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3" name="Google Shape;282;g104476d1465_1_17">
            <a:extLst>
              <a:ext uri="{FF2B5EF4-FFF2-40B4-BE49-F238E27FC236}">
                <a16:creationId xmlns:a16="http://schemas.microsoft.com/office/drawing/2014/main" xmlns="" id="{3ECD2D46-55D5-C547-91DD-0801CE9D6AD7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cs-CZ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cs-CZ" i="1" dirty="0">
                <a:latin typeface="Calibri"/>
                <a:ea typeface="Calibri"/>
                <a:cs typeface="Calibri"/>
                <a:sym typeface="Calibri"/>
              </a:rPr>
              <a:t> 1, </a:t>
            </a:r>
            <a:r>
              <a:rPr lang="cs-CZ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cs-CZ" i="1" dirty="0">
                <a:latin typeface="Calibri"/>
                <a:ea typeface="Calibri"/>
                <a:cs typeface="Calibri"/>
                <a:sym typeface="Calibri"/>
              </a:rPr>
              <a:t>. 149</a:t>
            </a:r>
          </a:p>
        </p:txBody>
      </p:sp>
      <p:sp>
        <p:nvSpPr>
          <p:cNvPr id="14" name="Google Shape;302;g103996e1364_0_16">
            <a:extLst>
              <a:ext uri="{FF2B5EF4-FFF2-40B4-BE49-F238E27FC236}">
                <a16:creationId xmlns:a16="http://schemas.microsoft.com/office/drawing/2014/main" xmlns="" id="{9B7C98EC-F13C-9146-B728-D7044DB4247D}"/>
              </a:ext>
            </a:extLst>
          </p:cNvPr>
          <p:cNvSpPr txBox="1">
            <a:spLocks/>
          </p:cNvSpPr>
          <p:nvPr/>
        </p:nvSpPr>
        <p:spPr>
          <a:xfrm>
            <a:off x="514000" y="1608425"/>
            <a:ext cx="11009924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42900" indent="-342900">
              <a:buFont typeface="Wingdings" charset="2"/>
              <a:buChar char="q"/>
            </a:pPr>
            <a:r>
              <a:rPr lang="en-US" sz="2400" dirty="0">
                <a:latin typeface="Verdana" charset="0"/>
                <a:ea typeface="Verdana" charset="0"/>
                <a:cs typeface="Verdana" charset="0"/>
              </a:rPr>
              <a:t>I can write and use the converse of a postulate or theorem.</a:t>
            </a:r>
          </a:p>
          <a:p>
            <a:endParaRPr lang="en-US" sz="2400" dirty="0">
              <a:latin typeface="Verdana" charset="0"/>
              <a:ea typeface="Verdana" charset="0"/>
              <a:cs typeface="Verdana" charset="0"/>
            </a:endParaRPr>
          </a:p>
          <a:p>
            <a:pPr marL="342900" indent="-342900">
              <a:buFont typeface="Wingdings" charset="2"/>
              <a:buChar char="q"/>
            </a:pPr>
            <a:r>
              <a:rPr lang="en-US" sz="2400" dirty="0">
                <a:latin typeface="Verdana" charset="0"/>
                <a:ea typeface="Verdana" charset="0"/>
                <a:cs typeface="Verdana" charset="0"/>
              </a:rPr>
              <a:t>I can use postulates and theorems about parallel lines to determine if lines are parallel. </a:t>
            </a:r>
          </a:p>
        </p:txBody>
      </p:sp>
      <p:sp>
        <p:nvSpPr>
          <p:cNvPr id="8" name="Google Shape;278;g104476d1465_1_17">
            <a:extLst>
              <a:ext uri="{FF2B5EF4-FFF2-40B4-BE49-F238E27FC236}">
                <a16:creationId xmlns:a16="http://schemas.microsoft.com/office/drawing/2014/main" xmlns="" id="{7BA09A98-EDA0-5343-AD77-8F8E8C4F0E72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71420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14777"/>
            <a:ext cx="2731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312" name="Google Shape;312;g104476d1465_1_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35550" y="2879325"/>
            <a:ext cx="1031750" cy="1031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xmlns="" id="{B595484E-1C62-AC4F-B448-37E60F77A8C0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cs-CZ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cs-CZ" i="1" dirty="0">
                <a:latin typeface="Calibri"/>
                <a:ea typeface="Calibri"/>
                <a:cs typeface="Calibri"/>
                <a:sym typeface="Calibri"/>
              </a:rPr>
              <a:t> 1, </a:t>
            </a:r>
            <a:r>
              <a:rPr lang="cs-CZ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cs-CZ" i="1" dirty="0">
                <a:latin typeface="Calibri"/>
                <a:ea typeface="Calibri"/>
                <a:cs typeface="Calibri"/>
                <a:sym typeface="Calibri"/>
              </a:rPr>
              <a:t>. 150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5211" y="6200723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xmlns="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052650" y="60449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3.5.1 Warm-Up: Notice and Wonder</a:t>
            </a:r>
          </a:p>
        </p:txBody>
      </p:sp>
      <p:pic>
        <p:nvPicPr>
          <p:cNvPr id="13" name="Google Shape;326;g103996e1364_0_25">
            <a:extLst>
              <a:ext uri="{FF2B5EF4-FFF2-40B4-BE49-F238E27FC236}">
                <a16:creationId xmlns:a16="http://schemas.microsoft.com/office/drawing/2014/main" xmlns="" id="{0B25478F-1F7B-DF44-A9BD-898178E878B3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5350" y="197609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5" name="Google Shape;282;g104476d1465_1_17">
            <a:extLst>
              <a:ext uri="{FF2B5EF4-FFF2-40B4-BE49-F238E27FC236}">
                <a16:creationId xmlns:a16="http://schemas.microsoft.com/office/drawing/2014/main" xmlns="" id="{5B627696-920F-B441-B5C1-01510F09761A}"/>
              </a:ext>
            </a:extLst>
          </p:cNvPr>
          <p:cNvSpPr txBox="1"/>
          <p:nvPr/>
        </p:nvSpPr>
        <p:spPr>
          <a:xfrm>
            <a:off x="8886985" y="6457798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cs-CZ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cs-CZ" i="1" dirty="0">
                <a:latin typeface="Calibri"/>
                <a:ea typeface="Calibri"/>
                <a:cs typeface="Calibri"/>
                <a:sym typeface="Calibri"/>
              </a:rPr>
              <a:t> 1, </a:t>
            </a:r>
            <a:r>
              <a:rPr lang="cs-CZ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cs-CZ" i="1" dirty="0">
                <a:latin typeface="Calibri"/>
                <a:ea typeface="Calibri"/>
                <a:cs typeface="Calibri"/>
                <a:sym typeface="Calibri"/>
              </a:rPr>
              <a:t>. 150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E1D7562E-134F-D14B-AF1A-DF40E11EF758}"/>
              </a:ext>
            </a:extLst>
          </p:cNvPr>
          <p:cNvSpPr txBox="1"/>
          <p:nvPr/>
        </p:nvSpPr>
        <p:spPr>
          <a:xfrm>
            <a:off x="534255" y="1523310"/>
            <a:ext cx="7857578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The game </a:t>
            </a:r>
            <a:r>
              <a:rPr lang="en-US" sz="2000" i="1" dirty="0">
                <a:latin typeface="Verdana" charset="0"/>
                <a:ea typeface="Verdana" charset="0"/>
                <a:cs typeface="Verdana" charset="0"/>
              </a:rPr>
              <a:t>Donkey Kong</a:t>
            </a: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 was released for sale in the U.S. in 1981 by Nintendo, a Japanese playing card and toy company turned video game developer. Mario, circled in yellow, is shown in the image running and climbing up the platforms and ladders.</a:t>
            </a:r>
          </a:p>
        </p:txBody>
      </p:sp>
      <p:sp>
        <p:nvSpPr>
          <p:cNvPr id="9" name="Google Shape;278;g104476d1465_1_17">
            <a:extLst>
              <a:ext uri="{FF2B5EF4-FFF2-40B4-BE49-F238E27FC236}">
                <a16:creationId xmlns:a16="http://schemas.microsoft.com/office/drawing/2014/main" xmlns="" id="{C2564F7E-689E-724F-BBC4-EC8DFC52E66C}"/>
              </a:ext>
            </a:extLst>
          </p:cNvPr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370058" y="1082069"/>
            <a:ext cx="3387751" cy="3511114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02814" y="3154526"/>
            <a:ext cx="10650206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What do you notice about the different platforms Mario                                  is running on?</a:t>
            </a:r>
          </a:p>
          <a:p>
            <a:pPr marL="342900" indent="-342900">
              <a:buFont typeface="+mj-lt"/>
              <a:buAutoNum type="arabicPeriod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What do you wonder?</a:t>
            </a:r>
          </a:p>
          <a:p>
            <a:pPr marL="342900" indent="-342900">
              <a:buFont typeface="+mj-lt"/>
              <a:buAutoNum type="arabicPeriod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How can you determine if any of the platforms or ladders are parallel? </a:t>
            </a:r>
          </a:p>
        </p:txBody>
      </p:sp>
    </p:spTree>
    <p:extLst>
      <p:ext uri="{BB962C8B-B14F-4D97-AF65-F5344CB8AC3E}">
        <p14:creationId xmlns:p14="http://schemas.microsoft.com/office/powerpoint/2010/main" val="2949029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39693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Exploration</a:t>
            </a:r>
            <a:endParaRPr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xmlns="" id="{B595484E-1C62-AC4F-B448-37E60F77A8C0}"/>
              </a:ext>
            </a:extLst>
          </p:cNvPr>
          <p:cNvSpPr txBox="1"/>
          <p:nvPr/>
        </p:nvSpPr>
        <p:spPr>
          <a:xfrm>
            <a:off x="8889924" y="64658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cs-CZ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cs-CZ" i="1" dirty="0">
                <a:latin typeface="Calibri"/>
                <a:ea typeface="Calibri"/>
                <a:cs typeface="Calibri"/>
                <a:sym typeface="Calibri"/>
              </a:rPr>
              <a:t> 1, </a:t>
            </a:r>
            <a:r>
              <a:rPr lang="cs-CZ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cs-CZ" i="1" dirty="0">
                <a:latin typeface="Calibri"/>
                <a:ea typeface="Calibri"/>
                <a:cs typeface="Calibri"/>
                <a:sym typeface="Calibri"/>
              </a:rPr>
              <a:t>. 150</a:t>
            </a:r>
          </a:p>
        </p:txBody>
      </p:sp>
      <p:pic>
        <p:nvPicPr>
          <p:cNvPr id="1026" name="Picture 2" descr="Icon&#10;&#10;Description automatically generated">
            <a:extLst>
              <a:ext uri="{FF2B5EF4-FFF2-40B4-BE49-F238E27FC236}">
                <a16:creationId xmlns:a16="http://schemas.microsoft.com/office/drawing/2014/main" xmlns="" id="{467567E5-BEAF-E24A-A492-D25759172D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630950" y="2814305"/>
            <a:ext cx="1156228" cy="115622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386786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06711" y="6200723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xmlns="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048605" y="98718"/>
            <a:ext cx="10204413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2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3.5.2 Exploration: Congruent Angles Formed by Two Lines and a Transversal</a:t>
            </a:r>
          </a:p>
        </p:txBody>
      </p:sp>
      <p:sp>
        <p:nvSpPr>
          <p:cNvPr id="15" name="Google Shape;282;g104476d1465_1_17">
            <a:extLst>
              <a:ext uri="{FF2B5EF4-FFF2-40B4-BE49-F238E27FC236}">
                <a16:creationId xmlns:a16="http://schemas.microsoft.com/office/drawing/2014/main" xmlns="" id="{5B627696-920F-B441-B5C1-01510F09761A}"/>
              </a:ext>
            </a:extLst>
          </p:cNvPr>
          <p:cNvSpPr txBox="1"/>
          <p:nvPr/>
        </p:nvSpPr>
        <p:spPr>
          <a:xfrm>
            <a:off x="8868485" y="6457798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cs-CZ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cs-CZ" i="1" dirty="0">
                <a:latin typeface="Calibri"/>
                <a:ea typeface="Calibri"/>
                <a:cs typeface="Calibri"/>
                <a:sym typeface="Calibri"/>
              </a:rPr>
              <a:t> 1, </a:t>
            </a:r>
            <a:r>
              <a:rPr lang="cs-CZ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cs-CZ" i="1" dirty="0">
                <a:latin typeface="Calibri"/>
                <a:ea typeface="Calibri"/>
                <a:cs typeface="Calibri"/>
                <a:sym typeface="Calibri"/>
              </a:rPr>
              <a:t>. 150</a:t>
            </a:r>
          </a:p>
        </p:txBody>
      </p:sp>
      <p:pic>
        <p:nvPicPr>
          <p:cNvPr id="7" name="Picture 2" descr="Icon&#10;&#10;Description automatically generated">
            <a:extLst>
              <a:ext uri="{FF2B5EF4-FFF2-40B4-BE49-F238E27FC236}">
                <a16:creationId xmlns:a16="http://schemas.microsoft.com/office/drawing/2014/main" xmlns="" id="{A741EC39-D81C-A945-833B-CFC11AA40A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96352" y="308574"/>
            <a:ext cx="752254" cy="75225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xmlns="" id="{152D1D4D-DCB8-A246-B186-D40316579D77}"/>
                  </a:ext>
                </a:extLst>
              </p:cNvPr>
              <p:cNvSpPr txBox="1"/>
              <p:nvPr/>
            </p:nvSpPr>
            <p:spPr>
              <a:xfrm>
                <a:off x="540566" y="1634275"/>
                <a:ext cx="11066145" cy="47463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acc>
                      <m:accPr>
                        <m:chr m:val="⃡"/>
                        <m:ctrlP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𝑇𝑀</m:t>
                        </m:r>
                      </m:e>
                    </m:acc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, </a:t>
                </a:r>
                <a14:m>
                  <m:oMath xmlns:m="http://schemas.openxmlformats.org/officeDocument/2006/math">
                    <m:acc>
                      <m:accPr>
                        <m:chr m:val="⃡"/>
                        <m:ctrlP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𝑊𝑁</m:t>
                        </m:r>
                      </m:e>
                    </m:acc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, and </a:t>
                </a:r>
                <a14:m>
                  <m:oMath xmlns:m="http://schemas.openxmlformats.org/officeDocument/2006/math">
                    <m:acc>
                      <m:accPr>
                        <m:chr m:val="⃡"/>
                        <m:ctrlP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𝑌𝐿</m:t>
                        </m:r>
                      </m:e>
                    </m:acc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are shown. </a:t>
                </a:r>
                <a14:m>
                  <m:oMath xmlns:m="http://schemas.openxmlformats.org/officeDocument/2006/math">
                    <m:acc>
                      <m:accPr>
                        <m:chr m:val="⃡"/>
                        <m:ctrlP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𝑌𝐿</m:t>
                        </m:r>
                      </m:e>
                    </m:acc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intersects </a:t>
                </a:r>
                <a14:m>
                  <m:oMath xmlns:m="http://schemas.openxmlformats.org/officeDocument/2006/math">
                    <m:acc>
                      <m:accPr>
                        <m:chr m:val="⃡"/>
                        <m:ctrlP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𝑇𝑀</m:t>
                        </m:r>
                      </m:e>
                    </m:acc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 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and </a:t>
                </a:r>
                <a14:m>
                  <m:oMath xmlns:m="http://schemas.openxmlformats.org/officeDocument/2006/math">
                    <m:acc>
                      <m:accPr>
                        <m:chr m:val="⃡"/>
                        <m:ctrlP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𝑊𝑁</m:t>
                        </m:r>
                      </m:e>
                    </m:acc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</a:t>
                </a: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8788"/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Work with your partner to conjecture if the given information in each row of the table is sufficient to show that the lines are parallel.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52D1D4D-DCB8-A246-B186-D40316579D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566" y="1634275"/>
                <a:ext cx="11066145" cy="4746364"/>
              </a:xfrm>
              <a:prstGeom prst="rect">
                <a:avLst/>
              </a:prstGeom>
              <a:blipFill>
                <a:blip r:embed="rId5"/>
                <a:stretch>
                  <a:fillRect l="-551" b="-12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Google Shape;278;g104476d1465_1_17">
            <a:extLst>
              <a:ext uri="{FF2B5EF4-FFF2-40B4-BE49-F238E27FC236}">
                <a16:creationId xmlns:a16="http://schemas.microsoft.com/office/drawing/2014/main" xmlns="" id="{6200F4BF-3C27-A748-A63E-5BC45D572750}"/>
              </a:ext>
            </a:extLst>
          </p:cNvPr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10735" y="2176035"/>
            <a:ext cx="5654254" cy="3419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77137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xmlns="" id="{647643F2-AA27-F54D-9B18-929351C91D74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cs-CZ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cs-CZ" i="1" dirty="0">
                <a:latin typeface="Calibri"/>
                <a:ea typeface="Calibri"/>
                <a:cs typeface="Calibri"/>
                <a:sym typeface="Calibri"/>
              </a:rPr>
              <a:t> 1, </a:t>
            </a:r>
            <a:r>
              <a:rPr lang="cs-CZ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cs-CZ" i="1" dirty="0">
                <a:latin typeface="Calibri"/>
                <a:ea typeface="Calibri"/>
                <a:cs typeface="Calibri"/>
                <a:sym typeface="Calibri"/>
              </a:rPr>
              <a:t>. 150</a:t>
            </a:r>
          </a:p>
        </p:txBody>
      </p:sp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xmlns="" id="{B7C7682D-5C91-9243-8900-6899F3FEF344}"/>
              </a:ext>
            </a:extLst>
          </p:cNvPr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4527877"/>
                  </p:ext>
                </p:extLst>
              </p:nvPr>
            </p:nvGraphicFramePr>
            <p:xfrm>
              <a:off x="707023" y="454653"/>
              <a:ext cx="8781356" cy="5164484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3113501">
                      <a:extLst>
                        <a:ext uri="{9D8B030D-6E8A-4147-A177-3AD203B41FA5}">
                          <a16:colId xmlns:a16="http://schemas.microsoft.com/office/drawing/2014/main" xmlns="" val="20000"/>
                        </a:ext>
                      </a:extLst>
                    </a:gridCol>
                    <a:gridCol w="2818738">
                      <a:extLst>
                        <a:ext uri="{9D8B030D-6E8A-4147-A177-3AD203B41FA5}">
                          <a16:colId xmlns:a16="http://schemas.microsoft.com/office/drawing/2014/main" xmlns="" val="20001"/>
                        </a:ext>
                      </a:extLst>
                    </a:gridCol>
                    <a:gridCol w="2849117">
                      <a:extLst>
                        <a:ext uri="{9D8B030D-6E8A-4147-A177-3AD203B41FA5}">
                          <a16:colId xmlns:a16="http://schemas.microsoft.com/office/drawing/2014/main" xmlns="" val="20002"/>
                        </a:ext>
                      </a:extLst>
                    </a:gridCol>
                  </a:tblGrid>
                  <a:tr h="383264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200" b="1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Angles</a:t>
                          </a:r>
                          <a:endParaRPr lang="en-US" sz="22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75008" marR="75008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200" b="1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Type of Angles</a:t>
                          </a:r>
                          <a:endParaRPr lang="en-US" sz="22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75008" marR="75008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200" b="1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Sufficient?</a:t>
                          </a:r>
                          <a:endParaRPr lang="en-US" sz="22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75008" marR="75008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0"/>
                      </a:ext>
                    </a:extLst>
                  </a:tr>
                  <a:tr h="79687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200" i="1">
                                    <a:effectLst/>
                                    <a:latin typeface="Cambria Math" charset="0"/>
                                    <a:ea typeface="Times New Roman" charset="0"/>
                                    <a:cs typeface="Times New Roman" charset="0"/>
                                  </a:rPr>
                                  <m:t>∠</m:t>
                                </m:r>
                                <m:r>
                                  <a:rPr lang="en-US" sz="2200" i="1">
                                    <a:effectLst/>
                                    <a:latin typeface="Cambria Math" charset="0"/>
                                    <a:ea typeface="Times New Roman" charset="0"/>
                                    <a:cs typeface="Times New Roman" charset="0"/>
                                  </a:rPr>
                                  <m:t>𝑇𝐾𝐿</m:t>
                                </m:r>
                                <m:r>
                                  <a:rPr lang="en-US" sz="2200" i="1">
                                    <a:effectLst/>
                                    <a:latin typeface="Cambria Math" charset="0"/>
                                    <a:ea typeface="Times New Roman" charset="0"/>
                                    <a:cs typeface="Times New Roman" charset="0"/>
                                  </a:rPr>
                                  <m:t>≅∠</m:t>
                                </m:r>
                                <m:r>
                                  <a:rPr lang="en-US" sz="2200" i="1">
                                    <a:effectLst/>
                                    <a:latin typeface="Cambria Math" charset="0"/>
                                    <a:ea typeface="Times New Roman" charset="0"/>
                                    <a:cs typeface="Times New Roman" charset="0"/>
                                  </a:rPr>
                                  <m:t>𝑊𝐵𝐾</m:t>
                                </m:r>
                              </m:oMath>
                            </m:oMathPara>
                          </a14:m>
                          <a:endParaRPr lang="en-US" sz="22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75008" marR="75008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200" dirty="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 </a:t>
                          </a:r>
                          <a:endParaRPr lang="en-US" sz="22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200" dirty="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 </a:t>
                          </a:r>
                          <a:endParaRPr lang="en-US" sz="22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75008" marR="75008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charset="0"/>
                            <a:buChar char="o"/>
                          </a:pPr>
                          <a:r>
                            <a:rPr lang="en-US" sz="220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Yes</a:t>
                          </a:r>
                          <a:endParaRPr lang="en-US" sz="22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charset="0"/>
                            <a:buChar char="o"/>
                          </a:pPr>
                          <a:r>
                            <a:rPr lang="en-US" sz="220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No </a:t>
                          </a:r>
                          <a:endParaRPr lang="en-US" sz="22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75008" marR="75008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1"/>
                      </a:ext>
                    </a:extLst>
                  </a:tr>
                  <a:tr h="79687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200" i="1">
                                    <a:effectLst/>
                                    <a:latin typeface="Cambria Math" charset="0"/>
                                    <a:ea typeface="Times New Roman" charset="0"/>
                                    <a:cs typeface="Times New Roman" charset="0"/>
                                  </a:rPr>
                                  <m:t>∠</m:t>
                                </m:r>
                                <m:r>
                                  <a:rPr lang="en-US" sz="2200" i="1">
                                    <a:effectLst/>
                                    <a:latin typeface="Cambria Math" charset="0"/>
                                    <a:ea typeface="Times New Roman" charset="0"/>
                                    <a:cs typeface="Times New Roman" charset="0"/>
                                  </a:rPr>
                                  <m:t>𝑀𝐾𝐵</m:t>
                                </m:r>
                                <m:r>
                                  <a:rPr lang="en-US" sz="2200">
                                    <a:effectLst/>
                                    <a:latin typeface="Cambria Math" charset="0"/>
                                    <a:ea typeface="Times New Roman" charset="0"/>
                                    <a:cs typeface="Times New Roman" charset="0"/>
                                  </a:rPr>
                                  <m:t> </m:t>
                                </m:r>
                                <m:r>
                                  <a:rPr lang="en-US" sz="2200" i="1">
                                    <a:effectLst/>
                                    <a:latin typeface="Cambria Math" charset="0"/>
                                    <a:ea typeface="Times New Roman" charset="0"/>
                                    <a:cs typeface="Times New Roman" charset="0"/>
                                  </a:rPr>
                                  <m:t>≅∠</m:t>
                                </m:r>
                                <m:r>
                                  <a:rPr lang="en-US" sz="2200" i="1">
                                    <a:effectLst/>
                                    <a:latin typeface="Cambria Math" charset="0"/>
                                    <a:ea typeface="Times New Roman" charset="0"/>
                                    <a:cs typeface="Times New Roman" charset="0"/>
                                  </a:rPr>
                                  <m:t>𝑊𝐵𝐾</m:t>
                                </m:r>
                              </m:oMath>
                            </m:oMathPara>
                          </a14:m>
                          <a:endParaRPr lang="en-US" sz="22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75008" marR="75008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20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 </a:t>
                          </a:r>
                          <a:endParaRPr lang="en-US" sz="22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20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 </a:t>
                          </a:r>
                          <a:endParaRPr lang="en-US" sz="22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75008" marR="75008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charset="0"/>
                            <a:buChar char="o"/>
                          </a:pPr>
                          <a:r>
                            <a:rPr lang="en-US" sz="220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Yes</a:t>
                          </a:r>
                          <a:endParaRPr lang="en-US" sz="22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charset="0"/>
                            <a:buChar char="o"/>
                          </a:pPr>
                          <a:r>
                            <a:rPr lang="en-US" sz="220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No </a:t>
                          </a:r>
                          <a:endParaRPr lang="en-US" sz="22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75008" marR="75008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2"/>
                      </a:ext>
                    </a:extLst>
                  </a:tr>
                  <a:tr h="79687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200" i="1">
                                    <a:effectLst/>
                                    <a:latin typeface="Cambria Math" charset="0"/>
                                    <a:ea typeface="Times New Roman" charset="0"/>
                                    <a:cs typeface="Times New Roman" charset="0"/>
                                  </a:rPr>
                                  <m:t>∠</m:t>
                                </m:r>
                                <m:r>
                                  <a:rPr lang="en-US" sz="2200" i="1">
                                    <a:effectLst/>
                                    <a:latin typeface="Cambria Math" charset="0"/>
                                    <a:ea typeface="Times New Roman" charset="0"/>
                                    <a:cs typeface="Times New Roman" charset="0"/>
                                  </a:rPr>
                                  <m:t>𝑀𝐾𝐵</m:t>
                                </m:r>
                                <m:r>
                                  <a:rPr lang="en-US" sz="2200">
                                    <a:effectLst/>
                                    <a:latin typeface="Cambria Math" charset="0"/>
                                    <a:ea typeface="Times New Roman" charset="0"/>
                                    <a:cs typeface="Times New Roman" charset="0"/>
                                  </a:rPr>
                                  <m:t> </m:t>
                                </m:r>
                                <m:r>
                                  <a:rPr lang="en-US" sz="2200" i="1">
                                    <a:effectLst/>
                                    <a:latin typeface="Cambria Math" charset="0"/>
                                    <a:ea typeface="Times New Roman" charset="0"/>
                                    <a:cs typeface="Times New Roman" charset="0"/>
                                  </a:rPr>
                                  <m:t>≅∠</m:t>
                                </m:r>
                                <m:r>
                                  <a:rPr lang="en-US" sz="2200" i="1">
                                    <a:effectLst/>
                                    <a:latin typeface="Cambria Math" charset="0"/>
                                    <a:ea typeface="Times New Roman" charset="0"/>
                                    <a:cs typeface="Times New Roman" charset="0"/>
                                  </a:rPr>
                                  <m:t>𝑇𝐾𝐿</m:t>
                                </m:r>
                              </m:oMath>
                            </m:oMathPara>
                          </a14:m>
                          <a:endParaRPr lang="en-US" sz="22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75008" marR="75008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20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 </a:t>
                          </a:r>
                          <a:endParaRPr lang="en-US" sz="22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20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 </a:t>
                          </a:r>
                          <a:endParaRPr lang="en-US" sz="22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75008" marR="75008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charset="0"/>
                            <a:buChar char="o"/>
                          </a:pPr>
                          <a:r>
                            <a:rPr lang="en-US" sz="220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Yes</a:t>
                          </a:r>
                          <a:endParaRPr lang="en-US" sz="22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charset="0"/>
                            <a:buChar char="o"/>
                          </a:pPr>
                          <a:r>
                            <a:rPr lang="en-US" sz="220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No </a:t>
                          </a:r>
                          <a:endParaRPr lang="en-US" sz="22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75008" marR="75008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3"/>
                      </a:ext>
                    </a:extLst>
                  </a:tr>
                  <a:tr h="79687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200" i="1">
                                    <a:effectLst/>
                                    <a:latin typeface="Cambria Math" charset="0"/>
                                    <a:ea typeface="Times New Roman" charset="0"/>
                                    <a:cs typeface="Times New Roman" charset="0"/>
                                  </a:rPr>
                                  <m:t>∠</m:t>
                                </m:r>
                                <m:r>
                                  <a:rPr lang="en-US" sz="2200" i="1">
                                    <a:effectLst/>
                                    <a:latin typeface="Cambria Math" charset="0"/>
                                    <a:ea typeface="Times New Roman" charset="0"/>
                                    <a:cs typeface="Times New Roman" charset="0"/>
                                  </a:rPr>
                                  <m:t>𝑇𝐾𝐿</m:t>
                                </m:r>
                                <m:r>
                                  <a:rPr lang="en-US" sz="2200">
                                    <a:effectLst/>
                                    <a:latin typeface="Cambria Math" charset="0"/>
                                    <a:ea typeface="Times New Roman" charset="0"/>
                                    <a:cs typeface="Times New Roman" charset="0"/>
                                  </a:rPr>
                                  <m:t> </m:t>
                                </m:r>
                                <m:r>
                                  <a:rPr lang="en-US" sz="2200" i="1">
                                    <a:effectLst/>
                                    <a:latin typeface="Cambria Math" charset="0"/>
                                    <a:ea typeface="Times New Roman" charset="0"/>
                                    <a:cs typeface="Times New Roman" charset="0"/>
                                  </a:rPr>
                                  <m:t>≅∠</m:t>
                                </m:r>
                                <m:r>
                                  <a:rPr lang="en-US" sz="2200" i="1">
                                    <a:effectLst/>
                                    <a:latin typeface="Cambria Math" charset="0"/>
                                    <a:ea typeface="Times New Roman" charset="0"/>
                                    <a:cs typeface="Times New Roman" charset="0"/>
                                  </a:rPr>
                                  <m:t>𝑌𝐵𝑁</m:t>
                                </m:r>
                              </m:oMath>
                            </m:oMathPara>
                          </a14:m>
                          <a:endParaRPr lang="en-US" sz="22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75008" marR="75008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20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 </a:t>
                          </a:r>
                          <a:endParaRPr lang="en-US" sz="22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20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 </a:t>
                          </a:r>
                          <a:endParaRPr lang="en-US" sz="22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75008" marR="75008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charset="0"/>
                            <a:buChar char="o"/>
                          </a:pPr>
                          <a:r>
                            <a:rPr lang="en-US" sz="220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Yes</a:t>
                          </a:r>
                          <a:endParaRPr lang="en-US" sz="22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charset="0"/>
                            <a:buChar char="o"/>
                          </a:pPr>
                          <a:r>
                            <a:rPr lang="en-US" sz="220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No </a:t>
                          </a:r>
                          <a:endParaRPr lang="en-US" sz="22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75008" marR="75008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4"/>
                      </a:ext>
                    </a:extLst>
                  </a:tr>
                  <a:tr h="79687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2200" i="1">
                                  <a:effectLst/>
                                  <a:latin typeface="Cambria Math" charset="0"/>
                                  <a:ea typeface="Times New Roman" charset="0"/>
                                  <a:cs typeface="Times New Roman" charset="0"/>
                                </a:rPr>
                                <m:t>∠</m:t>
                              </m:r>
                              <m:r>
                                <a:rPr lang="en-US" sz="2200" i="1">
                                  <a:effectLst/>
                                  <a:latin typeface="Cambria Math" charset="0"/>
                                  <a:ea typeface="Times New Roman" charset="0"/>
                                  <a:cs typeface="Times New Roman" charset="0"/>
                                </a:rPr>
                                <m:t>𝑊𝐵𝐾</m:t>
                              </m:r>
                            </m:oMath>
                          </a14:m>
                          <a:r>
                            <a:rPr lang="en-US" sz="220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 and </a:t>
                          </a:r>
                          <a14:m>
                            <m:oMath xmlns:m="http://schemas.openxmlformats.org/officeDocument/2006/math">
                              <m:r>
                                <a:rPr lang="en-US" sz="2200" i="1">
                                  <a:effectLst/>
                                  <a:latin typeface="Cambria Math" charset="0"/>
                                  <a:ea typeface="Times New Roman" charset="0"/>
                                  <a:cs typeface="Times New Roman" charset="0"/>
                                </a:rPr>
                                <m:t>∠</m:t>
                              </m:r>
                              <m:r>
                                <a:rPr lang="en-US" sz="2200" i="1">
                                  <a:effectLst/>
                                  <a:latin typeface="Cambria Math" charset="0"/>
                                  <a:ea typeface="Times New Roman" charset="0"/>
                                  <a:cs typeface="Times New Roman" charset="0"/>
                                </a:rPr>
                                <m:t>𝑁𝐵𝐾</m:t>
                              </m:r>
                            </m:oMath>
                          </a14:m>
                          <a:r>
                            <a:rPr lang="en-US" sz="220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 are supplementary.</a:t>
                          </a:r>
                          <a:endParaRPr lang="en-US" sz="22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75008" marR="75008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20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 </a:t>
                          </a:r>
                          <a:endParaRPr lang="en-US" sz="22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75008" marR="75008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charset="0"/>
                            <a:buChar char="o"/>
                          </a:pPr>
                          <a:r>
                            <a:rPr lang="en-US" sz="220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Yes</a:t>
                          </a:r>
                          <a:endParaRPr lang="en-US" sz="22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charset="0"/>
                            <a:buChar char="o"/>
                          </a:pPr>
                          <a:r>
                            <a:rPr lang="en-US" sz="220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No </a:t>
                          </a:r>
                          <a:endParaRPr lang="en-US" sz="22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75008" marR="75008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5"/>
                      </a:ext>
                    </a:extLst>
                  </a:tr>
                  <a:tr h="79687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2200" i="1">
                                  <a:effectLst/>
                                  <a:latin typeface="Cambria Math" charset="0"/>
                                  <a:ea typeface="Times New Roman" charset="0"/>
                                  <a:cs typeface="Times New Roman" charset="0"/>
                                </a:rPr>
                                <m:t>∠</m:t>
                              </m:r>
                              <m:r>
                                <a:rPr lang="en-US" sz="2200" i="1">
                                  <a:effectLst/>
                                  <a:latin typeface="Cambria Math" charset="0"/>
                                  <a:ea typeface="Times New Roman" charset="0"/>
                                  <a:cs typeface="Times New Roman" charset="0"/>
                                </a:rPr>
                                <m:t>𝑇𝐾𝐿</m:t>
                              </m:r>
                            </m:oMath>
                          </a14:m>
                          <a:r>
                            <a:rPr lang="en-US" sz="220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 and </a:t>
                          </a:r>
                          <a14:m>
                            <m:oMath xmlns:m="http://schemas.openxmlformats.org/officeDocument/2006/math">
                              <m:r>
                                <a:rPr lang="en-US" sz="2200" i="1">
                                  <a:effectLst/>
                                  <a:latin typeface="Cambria Math" charset="0"/>
                                  <a:ea typeface="Times New Roman" charset="0"/>
                                  <a:cs typeface="Times New Roman" charset="0"/>
                                </a:rPr>
                                <m:t>∠</m:t>
                              </m:r>
                              <m:r>
                                <a:rPr lang="en-US" sz="2200" i="1">
                                  <a:effectLst/>
                                  <a:latin typeface="Cambria Math" charset="0"/>
                                  <a:ea typeface="Times New Roman" charset="0"/>
                                  <a:cs typeface="Times New Roman" charset="0"/>
                                </a:rPr>
                                <m:t>𝑊𝐵𝑌</m:t>
                              </m:r>
                            </m:oMath>
                          </a14:m>
                          <a:r>
                            <a:rPr lang="en-US" sz="220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 are supplementary.</a:t>
                          </a:r>
                          <a:endParaRPr lang="en-US" sz="22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75008" marR="75008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20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 </a:t>
                          </a:r>
                          <a:endParaRPr lang="en-US" sz="22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75008" marR="75008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charset="0"/>
                            <a:buChar char="o"/>
                          </a:pPr>
                          <a:r>
                            <a:rPr lang="en-US" sz="2200" dirty="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Yes</a:t>
                          </a:r>
                          <a:endParaRPr lang="en-US" sz="22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charset="0"/>
                            <a:buChar char="o"/>
                          </a:pPr>
                          <a:r>
                            <a:rPr lang="en-US" sz="2200" dirty="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No </a:t>
                          </a:r>
                          <a:endParaRPr lang="en-US" sz="22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75008" marR="75008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4527877"/>
                  </p:ext>
                </p:extLst>
              </p:nvPr>
            </p:nvGraphicFramePr>
            <p:xfrm>
              <a:off x="707023" y="454653"/>
              <a:ext cx="8781356" cy="5164484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3113501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818738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849117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383264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200" b="1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Angles</a:t>
                          </a:r>
                          <a:endParaRPr lang="en-US" sz="22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75008" marR="75008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200" b="1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Type of Angles</a:t>
                          </a:r>
                          <a:endParaRPr lang="en-US" sz="22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75008" marR="75008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200" b="1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Sufficient?</a:t>
                          </a:r>
                          <a:endParaRPr lang="en-US" sz="22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75008" marR="75008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79687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75008" marR="75008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96" t="-58779" r="-182583" b="-5122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200" dirty="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 </a:t>
                          </a:r>
                          <a:endParaRPr lang="en-US" sz="22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200" dirty="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 </a:t>
                          </a:r>
                          <a:endParaRPr lang="en-US" sz="22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75008" marR="75008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charset="0"/>
                            <a:buChar char="o"/>
                          </a:pPr>
                          <a:r>
                            <a:rPr lang="en-US" sz="220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Yes</a:t>
                          </a:r>
                          <a:endParaRPr lang="en-US" sz="22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charset="0"/>
                            <a:buChar char="o"/>
                          </a:pPr>
                          <a:r>
                            <a:rPr lang="en-US" sz="220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No </a:t>
                          </a:r>
                          <a:endParaRPr lang="en-US" sz="22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75008" marR="75008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79687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75008" marR="75008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96" t="-158779" r="-182583" b="-4122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20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 </a:t>
                          </a:r>
                          <a:endParaRPr lang="en-US" sz="22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20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 </a:t>
                          </a:r>
                          <a:endParaRPr lang="en-US" sz="22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75008" marR="75008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charset="0"/>
                            <a:buChar char="o"/>
                          </a:pPr>
                          <a:r>
                            <a:rPr lang="en-US" sz="220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Yes</a:t>
                          </a:r>
                          <a:endParaRPr lang="en-US" sz="22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charset="0"/>
                            <a:buChar char="o"/>
                          </a:pPr>
                          <a:r>
                            <a:rPr lang="en-US" sz="220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No </a:t>
                          </a:r>
                          <a:endParaRPr lang="en-US" sz="22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75008" marR="75008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79687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75008" marR="75008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96" t="-260769" r="-182583" b="-31538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20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 </a:t>
                          </a:r>
                          <a:endParaRPr lang="en-US" sz="22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20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 </a:t>
                          </a:r>
                          <a:endParaRPr lang="en-US" sz="22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75008" marR="75008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charset="0"/>
                            <a:buChar char="o"/>
                          </a:pPr>
                          <a:r>
                            <a:rPr lang="en-US" sz="220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Yes</a:t>
                          </a:r>
                          <a:endParaRPr lang="en-US" sz="22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charset="0"/>
                            <a:buChar char="o"/>
                          </a:pPr>
                          <a:r>
                            <a:rPr lang="en-US" sz="220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No </a:t>
                          </a:r>
                          <a:endParaRPr lang="en-US" sz="22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75008" marR="75008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79687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75008" marR="75008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96" t="-358015" r="-182583" b="-2129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20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 </a:t>
                          </a:r>
                          <a:endParaRPr lang="en-US" sz="22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20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 </a:t>
                          </a:r>
                          <a:endParaRPr lang="en-US" sz="22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75008" marR="75008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charset="0"/>
                            <a:buChar char="o"/>
                          </a:pPr>
                          <a:r>
                            <a:rPr lang="en-US" sz="220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Yes</a:t>
                          </a:r>
                          <a:endParaRPr lang="en-US" sz="22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charset="0"/>
                            <a:buChar char="o"/>
                          </a:pPr>
                          <a:r>
                            <a:rPr lang="en-US" sz="220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No </a:t>
                          </a:r>
                          <a:endParaRPr lang="en-US" sz="22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75008" marR="75008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79687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75008" marR="75008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96" t="-458015" r="-182583" b="-1129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20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 </a:t>
                          </a:r>
                          <a:endParaRPr lang="en-US" sz="22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75008" marR="75008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charset="0"/>
                            <a:buChar char="o"/>
                          </a:pPr>
                          <a:r>
                            <a:rPr lang="en-US" sz="220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Yes</a:t>
                          </a:r>
                          <a:endParaRPr lang="en-US" sz="22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charset="0"/>
                            <a:buChar char="o"/>
                          </a:pPr>
                          <a:r>
                            <a:rPr lang="en-US" sz="220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No </a:t>
                          </a:r>
                          <a:endParaRPr lang="en-US" sz="22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75008" marR="75008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79687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75008" marR="75008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96" t="-558015" r="-182583" b="-129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20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 </a:t>
                          </a:r>
                          <a:endParaRPr lang="en-US" sz="22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75008" marR="75008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charset="0"/>
                            <a:buChar char="o"/>
                          </a:pPr>
                          <a:r>
                            <a:rPr lang="en-US" sz="2200" dirty="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Yes</a:t>
                          </a:r>
                          <a:endParaRPr lang="en-US" sz="22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charset="0"/>
                            <a:buChar char="o"/>
                          </a:pPr>
                          <a:r>
                            <a:rPr lang="en-US" sz="2200" dirty="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No </a:t>
                          </a:r>
                          <a:endParaRPr lang="en-US" sz="22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75008" marR="75008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9278955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39693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Activity</a:t>
            </a:r>
            <a:endParaRPr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xmlns="" id="{B595484E-1C62-AC4F-B448-37E60F77A8C0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cs-CZ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cs-CZ" i="1" dirty="0">
                <a:latin typeface="Calibri"/>
                <a:ea typeface="Calibri"/>
                <a:cs typeface="Calibri"/>
                <a:sym typeface="Calibri"/>
              </a:rPr>
              <a:t> 1, </a:t>
            </a:r>
            <a:r>
              <a:rPr lang="cs-CZ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cs-CZ" i="1" dirty="0">
                <a:latin typeface="Calibri"/>
                <a:ea typeface="Calibri"/>
                <a:cs typeface="Calibri"/>
                <a:sym typeface="Calibri"/>
              </a:rPr>
              <a:t>. 151</a:t>
            </a:r>
          </a:p>
        </p:txBody>
      </p:sp>
      <p:pic>
        <p:nvPicPr>
          <p:cNvPr id="5122" name="Picture 2" descr="Icon&#10;&#10;Description automatically generated">
            <a:extLst>
              <a:ext uri="{FF2B5EF4-FFF2-40B4-BE49-F238E27FC236}">
                <a16:creationId xmlns:a16="http://schemas.microsoft.com/office/drawing/2014/main" xmlns="" id="{217F3A92-AA2C-4D41-A73D-4DC6608D68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208903" y="2852923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24313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192083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xmlns="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052650" y="99546"/>
            <a:ext cx="9389208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2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3.5.3 Activity: Converses of Parallel Lines Postulates and Theorems</a:t>
            </a:r>
          </a:p>
        </p:txBody>
      </p:sp>
      <p:sp>
        <p:nvSpPr>
          <p:cNvPr id="15" name="Google Shape;282;g104476d1465_1_17">
            <a:extLst>
              <a:ext uri="{FF2B5EF4-FFF2-40B4-BE49-F238E27FC236}">
                <a16:creationId xmlns:a16="http://schemas.microsoft.com/office/drawing/2014/main" xmlns="" id="{5B627696-920F-B441-B5C1-01510F09761A}"/>
              </a:ext>
            </a:extLst>
          </p:cNvPr>
          <p:cNvSpPr txBox="1"/>
          <p:nvPr/>
        </p:nvSpPr>
        <p:spPr>
          <a:xfrm>
            <a:off x="8889924" y="6449158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cs-CZ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cs-CZ" i="1" dirty="0">
                <a:latin typeface="Calibri"/>
                <a:ea typeface="Calibri"/>
                <a:cs typeface="Calibri"/>
                <a:sym typeface="Calibri"/>
              </a:rPr>
              <a:t> 1, </a:t>
            </a:r>
            <a:r>
              <a:rPr lang="cs-CZ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cs-CZ" i="1" dirty="0">
                <a:latin typeface="Calibri"/>
                <a:ea typeface="Calibri"/>
                <a:cs typeface="Calibri"/>
                <a:sym typeface="Calibri"/>
              </a:rPr>
              <a:t>. 151</a:t>
            </a:r>
          </a:p>
        </p:txBody>
      </p:sp>
      <p:pic>
        <p:nvPicPr>
          <p:cNvPr id="9" name="Picture 2" descr="Icon&#10;&#10;Description automatically generated">
            <a:extLst>
              <a:ext uri="{FF2B5EF4-FFF2-40B4-BE49-F238E27FC236}">
                <a16:creationId xmlns:a16="http://schemas.microsoft.com/office/drawing/2014/main" xmlns="" id="{37999C4E-6AE0-FA43-BC73-665C08EC57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02842" y="356496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A3547ABD-563B-A148-B65C-C7679A7B43D4}"/>
              </a:ext>
            </a:extLst>
          </p:cNvPr>
          <p:cNvSpPr txBox="1"/>
          <p:nvPr/>
        </p:nvSpPr>
        <p:spPr>
          <a:xfrm>
            <a:off x="540565" y="1478417"/>
            <a:ext cx="1153836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Work with your partner or group to write the converse of the postulate or theorem your group is assigned. Then, draw a picture to represent the relationship described. </a:t>
            </a:r>
          </a:p>
        </p:txBody>
      </p:sp>
      <p:sp>
        <p:nvSpPr>
          <p:cNvPr id="11" name="Google Shape;278;g104476d1465_1_17">
            <a:extLst>
              <a:ext uri="{FF2B5EF4-FFF2-40B4-BE49-F238E27FC236}">
                <a16:creationId xmlns:a16="http://schemas.microsoft.com/office/drawing/2014/main" xmlns="" id="{52361296-D9C8-B349-AAC1-3DD5FF74197C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7467431"/>
              </p:ext>
            </p:extLst>
          </p:nvPr>
        </p:nvGraphicFramePr>
        <p:xfrm>
          <a:off x="1914587" y="2393387"/>
          <a:ext cx="7665333" cy="3591611"/>
        </p:xfrm>
        <a:graphic>
          <a:graphicData uri="http://schemas.openxmlformats.org/drawingml/2006/table">
            <a:tbl>
              <a:tblPr firstRow="1" firstCol="1" bandRow="1"/>
              <a:tblGrid>
                <a:gridCol w="3828081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3837252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215793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Postulate or Theorem</a:t>
                      </a:r>
                      <a:endParaRPr lang="en-US" sz="2000">
                        <a:effectLst/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38142" marR="3814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Converse</a:t>
                      </a:r>
                      <a:endParaRPr lang="en-US" sz="2000">
                        <a:effectLst/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38142" marR="3814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883403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If two parallel lines are intersected by a transversal, then alternate interior angles are congruent.</a:t>
                      </a:r>
                    </a:p>
                  </a:txBody>
                  <a:tcPr marL="38142" marR="3814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 </a:t>
                      </a:r>
                    </a:p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 </a:t>
                      </a:r>
                    </a:p>
                  </a:txBody>
                  <a:tcPr marL="38142" marR="3814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15294">
                <a:tc gridSpan="2"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Picture</a:t>
                      </a:r>
                      <a:endParaRPr lang="en-US" sz="2000" dirty="0">
                        <a:effectLst/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38142" marR="3814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1762811">
                <a:tc gridSpan="2"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 </a:t>
                      </a:r>
                    </a:p>
                  </a:txBody>
                  <a:tcPr marL="38142" marR="3814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60546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xmlns="" id="{647643F2-AA27-F54D-9B18-929351C91D74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cs-CZ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cs-CZ" i="1" dirty="0">
                <a:latin typeface="Calibri"/>
                <a:ea typeface="Calibri"/>
                <a:cs typeface="Calibri"/>
                <a:sym typeface="Calibri"/>
              </a:rPr>
              <a:t> 1, </a:t>
            </a:r>
            <a:r>
              <a:rPr lang="cs-CZ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cs-CZ" i="1" dirty="0">
                <a:latin typeface="Calibri"/>
                <a:ea typeface="Calibri"/>
                <a:cs typeface="Calibri"/>
                <a:sym typeface="Calibri"/>
              </a:rPr>
              <a:t>. 151</a:t>
            </a:r>
          </a:p>
        </p:txBody>
      </p:sp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xmlns="" id="{44C210D6-0F1D-3545-B73D-9B9FC6EA0352}"/>
              </a:ext>
            </a:extLst>
          </p:cNvPr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0094870"/>
              </p:ext>
            </p:extLst>
          </p:nvPr>
        </p:nvGraphicFramePr>
        <p:xfrm>
          <a:off x="1011368" y="630499"/>
          <a:ext cx="7470183" cy="4351338"/>
        </p:xfrm>
        <a:graphic>
          <a:graphicData uri="http://schemas.openxmlformats.org/drawingml/2006/table">
            <a:tbl>
              <a:tblPr firstRow="1" firstCol="1" bandRow="1"/>
              <a:tblGrid>
                <a:gridCol w="3741419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3728764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483918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Postulate or Theorem</a:t>
                      </a:r>
                      <a:endParaRPr lang="en-US" sz="2000">
                        <a:effectLst/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60490" marR="6049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Converse</a:t>
                      </a:r>
                      <a:endParaRPr lang="en-US" sz="2000" dirty="0">
                        <a:effectLst/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60490" marR="6049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657306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If two parallel lines are intersected by a transversal, then corresponding angles are congruent.</a:t>
                      </a:r>
                    </a:p>
                  </a:txBody>
                  <a:tcPr marL="60490" marR="6049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 </a:t>
                      </a:r>
                    </a:p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 </a:t>
                      </a:r>
                    </a:p>
                  </a:txBody>
                  <a:tcPr marL="60490" marR="6049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482237">
                <a:tc gridSpan="2"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Picture</a:t>
                      </a:r>
                      <a:endParaRPr lang="en-US" sz="2000" dirty="0">
                        <a:effectLst/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60490" marR="6049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1727877">
                <a:tc gridSpan="2"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 </a:t>
                      </a:r>
                    </a:p>
                  </a:txBody>
                  <a:tcPr marL="60490" marR="6049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951350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xmlns="" id="{647643F2-AA27-F54D-9B18-929351C91D74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cs-CZ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cs-CZ" i="1" dirty="0">
                <a:latin typeface="Calibri"/>
                <a:ea typeface="Calibri"/>
                <a:cs typeface="Calibri"/>
                <a:sym typeface="Calibri"/>
              </a:rPr>
              <a:t> 1, </a:t>
            </a:r>
            <a:r>
              <a:rPr lang="cs-CZ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cs-CZ" i="1" dirty="0">
                <a:latin typeface="Calibri"/>
                <a:ea typeface="Calibri"/>
                <a:cs typeface="Calibri"/>
                <a:sym typeface="Calibri"/>
              </a:rPr>
              <a:t>. 151</a:t>
            </a:r>
          </a:p>
        </p:txBody>
      </p:sp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xmlns="" id="{44C210D6-0F1D-3545-B73D-9B9FC6EA0352}"/>
              </a:ext>
            </a:extLst>
          </p:cNvPr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5895675"/>
              </p:ext>
            </p:extLst>
          </p:nvPr>
        </p:nvGraphicFramePr>
        <p:xfrm>
          <a:off x="914401" y="441877"/>
          <a:ext cx="7415492" cy="4351338"/>
        </p:xfrm>
        <a:graphic>
          <a:graphicData uri="http://schemas.openxmlformats.org/drawingml/2006/table">
            <a:tbl>
              <a:tblPr firstRow="1" firstCol="1" bandRow="1"/>
              <a:tblGrid>
                <a:gridCol w="3698901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3716591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448153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Postulate or Theorem</a:t>
                      </a:r>
                      <a:endParaRPr lang="en-US" sz="2000">
                        <a:effectLst/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56019" marR="5601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Converse</a:t>
                      </a:r>
                      <a:endParaRPr lang="en-US" sz="2000">
                        <a:effectLst/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56019" marR="5601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693541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If two parallel lines are intersected by a transversal, then consecutive exterior angles are supplementary.</a:t>
                      </a:r>
                    </a:p>
                  </a:txBody>
                  <a:tcPr marL="56019" marR="5601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 </a:t>
                      </a:r>
                    </a:p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 </a:t>
                      </a:r>
                    </a:p>
                  </a:txBody>
                  <a:tcPr marL="56019" marR="5601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446597">
                <a:tc gridSpan="2"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Picture</a:t>
                      </a:r>
                      <a:endParaRPr lang="en-US" sz="2000">
                        <a:effectLst/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56019" marR="5601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1763047">
                <a:tc gridSpan="2"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 </a:t>
                      </a:r>
                    </a:p>
                  </a:txBody>
                  <a:tcPr marL="56019" marR="5601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395439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xmlns="" id="{647643F2-AA27-F54D-9B18-929351C91D74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cs-CZ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cs-CZ" i="1" dirty="0">
                <a:latin typeface="Calibri"/>
                <a:ea typeface="Calibri"/>
                <a:cs typeface="Calibri"/>
                <a:sym typeface="Calibri"/>
              </a:rPr>
              <a:t> 1, </a:t>
            </a:r>
            <a:r>
              <a:rPr lang="cs-CZ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cs-CZ" i="1" dirty="0">
                <a:latin typeface="Calibri"/>
                <a:ea typeface="Calibri"/>
                <a:cs typeface="Calibri"/>
                <a:sym typeface="Calibri"/>
              </a:rPr>
              <a:t>. 152</a:t>
            </a:r>
          </a:p>
        </p:txBody>
      </p:sp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xmlns="" id="{44C210D6-0F1D-3545-B73D-9B9FC6EA0352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2578192"/>
              </p:ext>
            </p:extLst>
          </p:nvPr>
        </p:nvGraphicFramePr>
        <p:xfrm>
          <a:off x="924706" y="432677"/>
          <a:ext cx="7342717" cy="4351338"/>
        </p:xfrm>
        <a:graphic>
          <a:graphicData uri="http://schemas.openxmlformats.org/drawingml/2006/table">
            <a:tbl>
              <a:tblPr firstRow="1" firstCol="1" bandRow="1"/>
              <a:tblGrid>
                <a:gridCol w="36576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3685117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44455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Postulate or Theorem</a:t>
                      </a:r>
                      <a:endParaRPr lang="en-US" sz="2000">
                        <a:effectLst/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55569" marR="5556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Converse</a:t>
                      </a:r>
                      <a:endParaRPr lang="en-US" sz="2000" dirty="0">
                        <a:effectLst/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55569" marR="5556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694845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If two parallel lines are intersected by a transversal, then alternate exterior angles are congruent.</a:t>
                      </a:r>
                    </a:p>
                  </a:txBody>
                  <a:tcPr marL="55569" marR="5556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 </a:t>
                      </a:r>
                    </a:p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 </a:t>
                      </a:r>
                    </a:p>
                  </a:txBody>
                  <a:tcPr marL="55569" marR="5556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447122">
                <a:tc gridSpan="2"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Picture</a:t>
                      </a:r>
                      <a:endParaRPr lang="en-US" sz="2000">
                        <a:effectLst/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55569" marR="5556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1764821">
                <a:tc gridSpan="2"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 </a:t>
                      </a:r>
                    </a:p>
                  </a:txBody>
                  <a:tcPr marL="55569" marR="5556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380202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xmlns="" id="{647643F2-AA27-F54D-9B18-929351C91D74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cs-CZ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cs-CZ" i="1" dirty="0">
                <a:latin typeface="Calibri"/>
                <a:ea typeface="Calibri"/>
                <a:cs typeface="Calibri"/>
                <a:sym typeface="Calibri"/>
              </a:rPr>
              <a:t> 1, </a:t>
            </a:r>
            <a:r>
              <a:rPr lang="cs-CZ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cs-CZ" i="1" dirty="0">
                <a:latin typeface="Calibri"/>
                <a:ea typeface="Calibri"/>
                <a:cs typeface="Calibri"/>
                <a:sym typeface="Calibri"/>
              </a:rPr>
              <a:t>. 152</a:t>
            </a:r>
          </a:p>
        </p:txBody>
      </p:sp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xmlns="" id="{44C210D6-0F1D-3545-B73D-9B9FC6EA0352}"/>
              </a:ext>
            </a:extLst>
          </p:cNvPr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1486282"/>
              </p:ext>
            </p:extLst>
          </p:nvPr>
        </p:nvGraphicFramePr>
        <p:xfrm>
          <a:off x="1003946" y="477398"/>
          <a:ext cx="7477605" cy="4351337"/>
        </p:xfrm>
        <a:graphic>
          <a:graphicData uri="http://schemas.openxmlformats.org/drawingml/2006/table">
            <a:tbl>
              <a:tblPr firstRow="1" firstCol="1" bandRow="1"/>
              <a:tblGrid>
                <a:gridCol w="371784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375976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45921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Postulate or Theorem</a:t>
                      </a:r>
                      <a:endParaRPr lang="en-US" sz="2000">
                        <a:effectLst/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57401" marR="5740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Converse</a:t>
                      </a:r>
                      <a:endParaRPr lang="en-US" sz="2000" dirty="0">
                        <a:effectLst/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57401" marR="5740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730012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If two parallel lines are intersected by a transversal, then consecutive interior angles are supplementary.</a:t>
                      </a:r>
                    </a:p>
                  </a:txBody>
                  <a:tcPr marL="57401" marR="5740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 </a:t>
                      </a:r>
                    </a:p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 </a:t>
                      </a:r>
                    </a:p>
                  </a:txBody>
                  <a:tcPr marL="57401" marR="5740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456021">
                <a:tc gridSpan="2"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Picture</a:t>
                      </a:r>
                      <a:endParaRPr lang="en-US" sz="2000">
                        <a:effectLst/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57401" marR="5740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1706094">
                <a:tc gridSpan="2"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 </a:t>
                      </a:r>
                    </a:p>
                  </a:txBody>
                  <a:tcPr marL="57401" marR="5740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958024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225955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Practice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xmlns="" id="{33005AFD-D615-1344-BDC0-5A40F6454816}"/>
              </a:ext>
            </a:extLst>
          </p:cNvPr>
          <p:cNvSpPr txBox="1"/>
          <p:nvPr/>
        </p:nvSpPr>
        <p:spPr>
          <a:xfrm>
            <a:off x="8889924" y="64658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cs-CZ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cs-CZ" i="1" dirty="0">
                <a:latin typeface="Calibri"/>
                <a:ea typeface="Calibri"/>
                <a:cs typeface="Calibri"/>
                <a:sym typeface="Calibri"/>
              </a:rPr>
              <a:t> 1, </a:t>
            </a:r>
            <a:r>
              <a:rPr lang="cs-CZ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cs-CZ" i="1" dirty="0">
                <a:latin typeface="Calibri"/>
                <a:ea typeface="Calibri"/>
                <a:cs typeface="Calibri"/>
                <a:sym typeface="Calibri"/>
              </a:rPr>
              <a:t>. 152</a:t>
            </a:r>
          </a:p>
        </p:txBody>
      </p:sp>
      <p:pic>
        <p:nvPicPr>
          <p:cNvPr id="9218" name="Picture 2" descr="Icon&#10;&#10;Description automatically generated">
            <a:extLst>
              <a:ext uri="{FF2B5EF4-FFF2-40B4-BE49-F238E27FC236}">
                <a16:creationId xmlns:a16="http://schemas.microsoft.com/office/drawing/2014/main" xmlns="" id="{B02E8C6A-53AD-AA4E-A4ED-406F3B0E37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512723" y="2852923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997507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07684" y="2133405"/>
            <a:ext cx="4448154" cy="3944030"/>
          </a:xfrm>
          <a:prstGeom prst="rect">
            <a:avLst/>
          </a:prstGeom>
        </p:spPr>
      </p:pic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xmlns="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052650" y="-37087"/>
            <a:ext cx="9846408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2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3.5.4 Guided Practice: Determining if Lines are Parallel</a:t>
            </a:r>
          </a:p>
        </p:txBody>
      </p:sp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xmlns="" id="{B2B1ECCC-8E07-F247-BB16-7B958B8E6B20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cs-CZ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cs-CZ" i="1" dirty="0">
                <a:latin typeface="Calibri"/>
                <a:ea typeface="Calibri"/>
                <a:cs typeface="Calibri"/>
                <a:sym typeface="Calibri"/>
              </a:rPr>
              <a:t> 1, </a:t>
            </a:r>
            <a:r>
              <a:rPr lang="cs-CZ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cs-CZ" i="1" dirty="0">
                <a:latin typeface="Calibri"/>
                <a:ea typeface="Calibri"/>
                <a:cs typeface="Calibri"/>
                <a:sym typeface="Calibri"/>
              </a:rPr>
              <a:t>. 152</a:t>
            </a:r>
          </a:p>
        </p:txBody>
      </p:sp>
      <p:pic>
        <p:nvPicPr>
          <p:cNvPr id="8" name="Picture 2" descr="Icon&#10;&#10;Description automatically generated">
            <a:extLst>
              <a:ext uri="{FF2B5EF4-FFF2-40B4-BE49-F238E27FC236}">
                <a16:creationId xmlns:a16="http://schemas.microsoft.com/office/drawing/2014/main" xmlns="" id="{B3C42596-1BDF-794D-A82A-7C54635CB8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02842" y="128939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xmlns="" id="{31D40250-DEDD-2C41-8538-3D4DD18CCC4A}"/>
                  </a:ext>
                </a:extLst>
              </p:cNvPr>
              <p:cNvSpPr txBox="1"/>
              <p:nvPr/>
            </p:nvSpPr>
            <p:spPr>
              <a:xfrm>
                <a:off x="593247" y="1386149"/>
                <a:ext cx="9509397" cy="7472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acc>
                      <m:accPr>
                        <m:chr m:val="⃡"/>
                        <m:ctrlP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𝑉𝑆</m:t>
                        </m:r>
                      </m:e>
                    </m:acc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, </a:t>
                </a:r>
                <a14:m>
                  <m:oMath xmlns:m="http://schemas.openxmlformats.org/officeDocument/2006/math">
                    <m:acc>
                      <m:accPr>
                        <m:chr m:val="⃡"/>
                        <m:ctrlP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𝑊𝐾</m:t>
                        </m:r>
                      </m:e>
                    </m:acc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, </a:t>
                </a:r>
                <a14:m>
                  <m:oMath xmlns:m="http://schemas.openxmlformats.org/officeDocument/2006/math">
                    <m:acc>
                      <m:accPr>
                        <m:chr m:val="⃡"/>
                        <m:ctrlP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𝑀𝐵</m:t>
                        </m:r>
                      </m:e>
                    </m:acc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, and </a:t>
                </a:r>
                <a14:m>
                  <m:oMath xmlns:m="http://schemas.openxmlformats.org/officeDocument/2006/math">
                    <m:acc>
                      <m:accPr>
                        <m:chr m:val="⃡"/>
                        <m:ctrlP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𝑁𝑅</m:t>
                        </m:r>
                      </m:e>
                    </m:acc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are shown where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𝑚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∠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𝑉𝐻𝐵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=98°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𝑚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∠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𝑅𝑌𝑆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=78°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𝑚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∠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𝑁𝑋𝐾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=102°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,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𝑚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∠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𝑊𝑍𝑀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=82°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1D40250-DEDD-2C41-8538-3D4DD18CCC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3247" y="1386149"/>
                <a:ext cx="9509397" cy="747256"/>
              </a:xfrm>
              <a:prstGeom prst="rect">
                <a:avLst/>
              </a:prstGeom>
              <a:blipFill>
                <a:blip r:embed="rId6"/>
                <a:stretch>
                  <a:fillRect l="-641" b="-130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Google Shape;278;g104476d1465_1_17">
            <a:extLst>
              <a:ext uri="{FF2B5EF4-FFF2-40B4-BE49-F238E27FC236}">
                <a16:creationId xmlns:a16="http://schemas.microsoft.com/office/drawing/2014/main" xmlns="" id="{A3E0058B-C607-174E-B439-E4D3192A9DBC}"/>
              </a:ext>
            </a:extLst>
          </p:cNvPr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77746" y="6000669"/>
            <a:ext cx="790803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8788"/>
            <a:r>
              <a:rPr lang="en-US" sz="2000" dirty="0">
                <a:latin typeface="Verdana" charset="0"/>
                <a:ea typeface="Times New Roman" charset="0"/>
                <a:cs typeface="Times New Roman" charset="0"/>
              </a:rPr>
              <a:t>Which pair(s) of lines are parallel? Justify your answer.</a:t>
            </a:r>
            <a:endParaRPr lang="en-US" sz="2000" dirty="0">
              <a:latin typeface="Cambria" charset="0"/>
              <a:ea typeface="Times New Roman" charset="0"/>
              <a:cs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78107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685154" y="823897"/>
            <a:ext cx="5887293" cy="4580714"/>
          </a:xfrm>
          <a:prstGeom prst="rect">
            <a:avLst/>
          </a:prstGeom>
        </p:spPr>
      </p:pic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xmlns="" id="{647643F2-AA27-F54D-9B18-929351C91D74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cs-CZ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cs-CZ" i="1" dirty="0">
                <a:latin typeface="Calibri"/>
                <a:ea typeface="Calibri"/>
                <a:cs typeface="Calibri"/>
                <a:sym typeface="Calibri"/>
              </a:rPr>
              <a:t> 1, </a:t>
            </a:r>
            <a:r>
              <a:rPr lang="cs-CZ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cs-CZ" i="1" dirty="0">
                <a:latin typeface="Calibri"/>
                <a:ea typeface="Calibri"/>
                <a:cs typeface="Calibri"/>
                <a:sym typeface="Calibri"/>
              </a:rPr>
              <a:t>. 153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xmlns="" id="{A3BC97A7-8575-5A46-8E72-A886A83AEC7E}"/>
                  </a:ext>
                </a:extLst>
              </p:cNvPr>
              <p:cNvSpPr txBox="1"/>
              <p:nvPr/>
            </p:nvSpPr>
            <p:spPr>
              <a:xfrm>
                <a:off x="465232" y="386405"/>
                <a:ext cx="8327136" cy="4374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2"/>
                </a:pPr>
                <a14:m>
                  <m:oMath xmlns:m="http://schemas.openxmlformats.org/officeDocument/2006/math">
                    <m:acc>
                      <m:accPr>
                        <m:chr m:val="⃡"/>
                        <m:ctrlP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𝐾𝐿</m:t>
                        </m:r>
                      </m:e>
                    </m:acc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, </a:t>
                </a:r>
                <a14:m>
                  <m:oMath xmlns:m="http://schemas.openxmlformats.org/officeDocument/2006/math">
                    <m:acc>
                      <m:accPr>
                        <m:chr m:val="⃡"/>
                        <m:ctrlP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𝑁𝑊</m:t>
                        </m:r>
                      </m:e>
                    </m:acc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, and </a:t>
                </a:r>
                <a14:m>
                  <m:oMath xmlns:m="http://schemas.openxmlformats.org/officeDocument/2006/math">
                    <m:acc>
                      <m:accPr>
                        <m:chr m:val="⃡"/>
                        <m:ctrlP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𝑃𝑋</m:t>
                        </m:r>
                      </m:e>
                    </m:acc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are shown. 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3BC97A7-8575-5A46-8E72-A886A83AEC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5232" y="386405"/>
                <a:ext cx="8327136" cy="437492"/>
              </a:xfrm>
              <a:prstGeom prst="rect">
                <a:avLst/>
              </a:prstGeom>
              <a:blipFill>
                <a:blip r:embed="rId5"/>
                <a:stretch>
                  <a:fillRect l="-732" b="-236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xmlns="" id="{2152CD2B-A4D4-A94A-8235-80385DFE97AA}"/>
              </a:ext>
            </a:extLst>
          </p:cNvPr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/>
              <p:cNvSpPr/>
              <p:nvPr/>
            </p:nvSpPr>
            <p:spPr>
              <a:xfrm>
                <a:off x="465231" y="5712531"/>
                <a:ext cx="9932381" cy="74526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57200"/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Determine if the given condition could be used to justify that </a:t>
                </a:r>
                <a14:m>
                  <m:oMath xmlns:m="http://schemas.openxmlformats.org/officeDocument/2006/math">
                    <m:acc>
                      <m:accPr>
                        <m:chr m:val="⃡"/>
                        <m:ctrlP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𝐾𝐿</m:t>
                        </m:r>
                      </m:e>
                    </m:acc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 ∥ </m:t>
                    </m:r>
                    <m:acc>
                      <m:accPr>
                        <m:chr m:val="⃡"/>
                        <m:ctrlP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𝑁𝑊</m:t>
                        </m:r>
                      </m:e>
                    </m:acc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 Then, justify your answer.</a:t>
                </a:r>
              </a:p>
            </p:txBody>
          </p:sp>
        </mc:Choice>
        <mc:Fallback xmlns=""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5231" y="5712531"/>
                <a:ext cx="9932381" cy="745269"/>
              </a:xfrm>
              <a:prstGeom prst="rect">
                <a:avLst/>
              </a:prstGeom>
              <a:blipFill>
                <a:blip r:embed="rId6"/>
                <a:stretch>
                  <a:fillRect b="-139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038078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xmlns="" id="{647643F2-AA27-F54D-9B18-929351C91D74}"/>
              </a:ext>
            </a:extLst>
          </p:cNvPr>
          <p:cNvSpPr txBox="1"/>
          <p:nvPr/>
        </p:nvSpPr>
        <p:spPr>
          <a:xfrm>
            <a:off x="8889924" y="64658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cs-CZ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cs-CZ" i="1" dirty="0">
                <a:latin typeface="Calibri"/>
                <a:ea typeface="Calibri"/>
                <a:cs typeface="Calibri"/>
                <a:sym typeface="Calibri"/>
              </a:rPr>
              <a:t> 1, </a:t>
            </a:r>
            <a:r>
              <a:rPr lang="cs-CZ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cs-CZ" i="1" dirty="0">
                <a:latin typeface="Calibri"/>
                <a:ea typeface="Calibri"/>
                <a:cs typeface="Calibri"/>
                <a:sym typeface="Calibri"/>
              </a:rPr>
              <a:t>. 153</a:t>
            </a:r>
          </a:p>
        </p:txBody>
      </p:sp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xmlns="" id="{2152CD2B-A4D4-A94A-8235-80385DFE97AA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16322630"/>
                  </p:ext>
                </p:extLst>
              </p:nvPr>
            </p:nvGraphicFramePr>
            <p:xfrm>
              <a:off x="692230" y="500996"/>
              <a:ext cx="8645971" cy="492641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3556050">
                      <a:extLst>
                        <a:ext uri="{9D8B030D-6E8A-4147-A177-3AD203B41FA5}">
                          <a16:colId xmlns:a16="http://schemas.microsoft.com/office/drawing/2014/main" xmlns="" val="20000"/>
                        </a:ext>
                      </a:extLst>
                    </a:gridCol>
                    <a:gridCol w="2249616">
                      <a:extLst>
                        <a:ext uri="{9D8B030D-6E8A-4147-A177-3AD203B41FA5}">
                          <a16:colId xmlns:a16="http://schemas.microsoft.com/office/drawing/2014/main" xmlns="" val="20001"/>
                        </a:ext>
                      </a:extLst>
                    </a:gridCol>
                    <a:gridCol w="2840305">
                      <a:extLst>
                        <a:ext uri="{9D8B030D-6E8A-4147-A177-3AD203B41FA5}">
                          <a16:colId xmlns:a16="http://schemas.microsoft.com/office/drawing/2014/main" xmlns="" val="20002"/>
                        </a:ext>
                      </a:extLst>
                    </a:gridCol>
                  </a:tblGrid>
                  <a:tr h="406005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Condition</a:t>
                          </a:r>
                          <a:endParaRPr lang="en-US" sz="20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52910" marR="5291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Is</a:t>
                          </a:r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acc>
                                <m:accPr>
                                  <m:chr m:val="⃡"/>
                                  <m:ctrlPr>
                                    <a:rPr lang="en-US" sz="2000" b="1" i="1">
                                      <a:effectLst/>
                                      <a:latin typeface="Cambria Math" charset="0"/>
                                      <a:ea typeface="Verdana" charset="0"/>
                                      <a:cs typeface="Verdana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000" b="1" i="1">
                                      <a:effectLst/>
                                      <a:latin typeface="Cambria Math" charset="0"/>
                                      <a:ea typeface="Verdana" charset="0"/>
                                      <a:cs typeface="Verdana" charset="0"/>
                                    </a:rPr>
                                    <m:t>𝑲𝑳</m:t>
                                  </m:r>
                                </m:e>
                              </m:acc>
                              <m:r>
                                <a:rPr lang="en-US" sz="2000" b="1" i="1">
                                  <a:effectLst/>
                                  <a:latin typeface="Cambria Math" charset="0"/>
                                  <a:ea typeface="Verdana" charset="0"/>
                                  <a:cs typeface="Verdana" charset="0"/>
                                </a:rPr>
                                <m:t>∥</m:t>
                              </m:r>
                            </m:oMath>
                          </a14:m>
                          <a:r>
                            <a:rPr lang="en-US" sz="2000" b="1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acc>
                                <m:accPr>
                                  <m:chr m:val="⃡"/>
                                  <m:ctrlPr>
                                    <a:rPr lang="en-US" sz="2000" b="1" i="1">
                                      <a:effectLst/>
                                      <a:latin typeface="Cambria Math" charset="0"/>
                                      <a:ea typeface="Verdana" charset="0"/>
                                      <a:cs typeface="Verdana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000" b="1" i="1">
                                      <a:effectLst/>
                                      <a:latin typeface="Cambria Math" charset="0"/>
                                      <a:ea typeface="Verdana" charset="0"/>
                                      <a:cs typeface="Verdana" charset="0"/>
                                    </a:rPr>
                                    <m:t>𝑵𝑾</m:t>
                                  </m:r>
                                </m:e>
                              </m:acc>
                            </m:oMath>
                          </a14:m>
                          <a:r>
                            <a:rPr lang="en-US" sz="2000" b="1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?</a:t>
                          </a:r>
                          <a:endParaRPr lang="en-US" sz="20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52910" marR="5291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Justification</a:t>
                          </a:r>
                          <a:endParaRPr lang="en-US" sz="20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52910" marR="5291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0"/>
                      </a:ext>
                    </a:extLst>
                  </a:tr>
                  <a:tr h="904081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∠</m:t>
                                </m:r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𝑃𝐻𝐿</m:t>
                                </m:r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≅∠</m:t>
                                </m:r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𝑊𝐺𝑋</m:t>
                                </m:r>
                              </m:oMath>
                            </m:oMathPara>
                          </a14:m>
                          <a:endParaRPr lang="en-US" sz="20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52910" marR="5291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charset="0"/>
                            <a:buChar char="o"/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Yes</a:t>
                          </a:r>
                        </a:p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charset="0"/>
                            <a:buChar char="o"/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No</a:t>
                          </a:r>
                        </a:p>
                      </a:txBody>
                      <a:tcPr marL="52910" marR="5291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</a:txBody>
                      <a:tcPr marL="52910" marR="5291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1"/>
                      </a:ext>
                    </a:extLst>
                  </a:tr>
                  <a:tr h="904081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𝑚</m:t>
                                </m:r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∠</m:t>
                                </m:r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𝐾𝐻𝑃</m:t>
                                </m:r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+</m:t>
                                </m:r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𝑚</m:t>
                                </m:r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∠</m:t>
                                </m:r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𝑁𝐺𝑋</m:t>
                                </m:r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=180°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52910" marR="5291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charset="0"/>
                            <a:buChar char="o"/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Yes</a:t>
                          </a:r>
                        </a:p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charset="0"/>
                            <a:buChar char="o"/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No</a:t>
                          </a:r>
                        </a:p>
                      </a:txBody>
                      <a:tcPr marL="52910" marR="5291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</a:txBody>
                      <a:tcPr marL="52910" marR="5291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2"/>
                      </a:ext>
                    </a:extLst>
                  </a:tr>
                  <a:tr h="904081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∠</m:t>
                                </m:r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𝐾𝐻𝐺</m:t>
                                </m:r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≅∠</m:t>
                                </m:r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𝑊𝐺𝐻</m:t>
                                </m:r>
                              </m:oMath>
                            </m:oMathPara>
                          </a14:m>
                          <a:endParaRPr lang="en-US" sz="20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52910" marR="5291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charset="0"/>
                            <a:buChar char="o"/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Yes</a:t>
                          </a:r>
                        </a:p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charset="0"/>
                            <a:buChar char="o"/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No</a:t>
                          </a:r>
                        </a:p>
                      </a:txBody>
                      <a:tcPr marL="52910" marR="5291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</a:txBody>
                      <a:tcPr marL="52910" marR="5291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3"/>
                      </a:ext>
                    </a:extLst>
                  </a:tr>
                  <a:tr h="904081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effectLst/>
                                  <a:latin typeface="Cambria Math" charset="0"/>
                                  <a:ea typeface="Verdana" charset="0"/>
                                  <a:cs typeface="Verdana" charset="0"/>
                                </a:rPr>
                                <m:t>∠</m:t>
                              </m:r>
                              <m:r>
                                <a:rPr lang="en-US" sz="2000" i="1">
                                  <a:effectLst/>
                                  <a:latin typeface="Cambria Math" charset="0"/>
                                  <a:ea typeface="Verdana" charset="0"/>
                                  <a:cs typeface="Verdana" charset="0"/>
                                </a:rPr>
                                <m:t>𝑁𝐺𝑋</m:t>
                              </m:r>
                            </m:oMath>
                          </a14:m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 and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effectLst/>
                                  <a:latin typeface="Cambria Math" charset="0"/>
                                  <a:ea typeface="Verdana" charset="0"/>
                                  <a:cs typeface="Verdana" charset="0"/>
                                </a:rPr>
                                <m:t>∠</m:t>
                              </m:r>
                              <m:r>
                                <a:rPr lang="en-US" sz="2000" i="1">
                                  <a:effectLst/>
                                  <a:latin typeface="Cambria Math" charset="0"/>
                                  <a:ea typeface="Verdana" charset="0"/>
                                  <a:cs typeface="Verdana" charset="0"/>
                                </a:rPr>
                                <m:t>𝑊𝐺𝑋</m:t>
                              </m:r>
                            </m:oMath>
                          </a14:m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 are supplementary.</a:t>
                          </a:r>
                        </a:p>
                      </a:txBody>
                      <a:tcPr marL="52910" marR="5291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charset="0"/>
                            <a:buChar char="o"/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Yes</a:t>
                          </a:r>
                        </a:p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charset="0"/>
                            <a:buChar char="o"/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No</a:t>
                          </a:r>
                        </a:p>
                      </a:txBody>
                      <a:tcPr marL="52910" marR="5291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</a:txBody>
                      <a:tcPr marL="52910" marR="5291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4"/>
                      </a:ext>
                    </a:extLst>
                  </a:tr>
                  <a:tr h="904081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∠</m:t>
                                </m:r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𝐿𝐻𝐺</m:t>
                                </m:r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≅∠</m:t>
                                </m:r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𝐾𝐻𝑃</m:t>
                                </m:r>
                              </m:oMath>
                            </m:oMathPara>
                          </a14:m>
                          <a:endParaRPr lang="en-US" sz="20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52910" marR="5291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charset="0"/>
                            <a:buChar char="o"/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Yes</a:t>
                          </a:r>
                        </a:p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charset="0"/>
                            <a:buChar char="o"/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No</a:t>
                          </a:r>
                        </a:p>
                      </a:txBody>
                      <a:tcPr marL="52910" marR="5291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1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52910" marR="5291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16322630"/>
                  </p:ext>
                </p:extLst>
              </p:nvPr>
            </p:nvGraphicFramePr>
            <p:xfrm>
              <a:off x="692230" y="500996"/>
              <a:ext cx="8645971" cy="492641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355605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249616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840305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406005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Condition</a:t>
                          </a:r>
                          <a:endParaRPr lang="en-US" sz="20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52910" marR="5291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2910" marR="5291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58537" t="-7463" r="-126829" b="-11134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Justification</a:t>
                          </a:r>
                          <a:endParaRPr lang="en-US" sz="20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52910" marR="5291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90408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2910" marR="5291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71" t="-48649" r="-143322" b="-4040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charset="0"/>
                            <a:buChar char="o"/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Yes</a:t>
                          </a:r>
                        </a:p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charset="0"/>
                            <a:buChar char="o"/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No</a:t>
                          </a:r>
                        </a:p>
                      </a:txBody>
                      <a:tcPr marL="52910" marR="5291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</a:txBody>
                      <a:tcPr marL="52910" marR="5291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90408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2910" marR="5291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71" t="-147651" r="-143322" b="-30134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charset="0"/>
                            <a:buChar char="o"/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Yes</a:t>
                          </a:r>
                        </a:p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charset="0"/>
                            <a:buChar char="o"/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No</a:t>
                          </a:r>
                        </a:p>
                      </a:txBody>
                      <a:tcPr marL="52910" marR="5291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</a:txBody>
                      <a:tcPr marL="52910" marR="5291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90408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2910" marR="5291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71" t="-249324" r="-143322" b="-20337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charset="0"/>
                            <a:buChar char="o"/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Yes</a:t>
                          </a:r>
                        </a:p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charset="0"/>
                            <a:buChar char="o"/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No</a:t>
                          </a:r>
                        </a:p>
                      </a:txBody>
                      <a:tcPr marL="52910" marR="5291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</a:txBody>
                      <a:tcPr marL="52910" marR="5291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90408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2910" marR="5291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71" t="-346980" r="-143322" b="-1020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charset="0"/>
                            <a:buChar char="o"/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Yes</a:t>
                          </a:r>
                        </a:p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charset="0"/>
                            <a:buChar char="o"/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No</a:t>
                          </a:r>
                        </a:p>
                      </a:txBody>
                      <a:tcPr marL="52910" marR="5291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</a:txBody>
                      <a:tcPr marL="52910" marR="5291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90408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2910" marR="5291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71" t="-450000" r="-143322" b="-270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charset="0"/>
                            <a:buChar char="o"/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Yes</a:t>
                          </a:r>
                        </a:p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charset="0"/>
                            <a:buChar char="o"/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No</a:t>
                          </a:r>
                        </a:p>
                      </a:txBody>
                      <a:tcPr marL="52910" marR="5291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1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52910" marR="5291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02988838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5"/>
            <a:ext cx="2731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0" name="Google Shape;310;g104476d1465_1_39"/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cs-CZ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cs-CZ" i="1" dirty="0">
                <a:latin typeface="Calibri"/>
                <a:ea typeface="Calibri"/>
                <a:cs typeface="Calibri"/>
                <a:sym typeface="Calibri"/>
              </a:rPr>
              <a:t> 1, </a:t>
            </a:r>
            <a:r>
              <a:rPr lang="cs-CZ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cs-CZ" i="1" dirty="0">
                <a:latin typeface="Calibri"/>
                <a:ea typeface="Calibri"/>
                <a:cs typeface="Calibri"/>
                <a:sym typeface="Calibri"/>
              </a:rPr>
              <a:t>. 153</a:t>
            </a:r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250339" y="2779100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450;g103996e1364_0_457">
            <a:extLst>
              <a:ext uri="{FF2B5EF4-FFF2-40B4-BE49-F238E27FC236}">
                <a16:creationId xmlns:a16="http://schemas.microsoft.com/office/drawing/2014/main" xmlns="" id="{DE95225C-59B5-E847-AFA2-B83DCFFA10D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29333" y="2933695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67690871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104476d1465_1_17"/>
          <p:cNvSpPr txBox="1"/>
          <p:nvPr/>
        </p:nvSpPr>
        <p:spPr>
          <a:xfrm>
            <a:off x="8889924" y="64658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cs-CZ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cs-CZ" i="1" dirty="0">
                <a:latin typeface="Calibri"/>
                <a:ea typeface="Calibri"/>
                <a:cs typeface="Calibri"/>
                <a:sym typeface="Calibri"/>
              </a:rPr>
              <a:t> 1, </a:t>
            </a:r>
            <a:r>
              <a:rPr lang="cs-CZ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cs-CZ" i="1" dirty="0">
                <a:latin typeface="Calibri"/>
                <a:ea typeface="Calibri"/>
                <a:cs typeface="Calibri"/>
                <a:sym typeface="Calibri"/>
              </a:rPr>
              <a:t>. 153</a:t>
            </a: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456;g103996e1364_0_463">
            <a:extLst>
              <a:ext uri="{FF2B5EF4-FFF2-40B4-BE49-F238E27FC236}">
                <a16:creationId xmlns:a16="http://schemas.microsoft.com/office/drawing/2014/main" xmlns="" id="{68C03D65-F0BF-3F41-B52A-024F47388982}"/>
              </a:ext>
            </a:extLst>
          </p:cNvPr>
          <p:cNvSpPr txBox="1">
            <a:spLocks/>
          </p:cNvSpPr>
          <p:nvPr/>
        </p:nvSpPr>
        <p:spPr>
          <a:xfrm>
            <a:off x="1134800" y="-177584"/>
            <a:ext cx="8923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3.5.5 Wrap-Up: </a:t>
            </a:r>
            <a:r>
              <a:rPr lang="en-US" sz="3600" b="1" dirty="0" smtClean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Cool Down</a:t>
            </a:r>
            <a:endParaRPr lang="en-US" sz="36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9" name="Google Shape;458;g103996e1364_0_463">
            <a:extLst>
              <a:ext uri="{FF2B5EF4-FFF2-40B4-BE49-F238E27FC236}">
                <a16:creationId xmlns:a16="http://schemas.microsoft.com/office/drawing/2014/main" xmlns="" id="{EEA44D6C-2366-AC41-B1B5-EDDC34786A6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5350" y="6855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Google Shape;278;g104476d1465_1_17">
            <a:extLst>
              <a:ext uri="{FF2B5EF4-FFF2-40B4-BE49-F238E27FC236}">
                <a16:creationId xmlns:a16="http://schemas.microsoft.com/office/drawing/2014/main" xmlns="" id="{31AAE36C-5822-464A-8B2B-DAD96F65814D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763535" y="1148116"/>
            <a:ext cx="1032428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fontAlgn="base">
              <a:buFont typeface="+mj-lt"/>
              <a:buAutoNum type="arabicPeriod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Write a short note to a friend who missed today’s class summarizing what you learned.</a:t>
            </a:r>
          </a:p>
        </p:txBody>
      </p:sp>
    </p:spTree>
    <p:extLst>
      <p:ext uri="{BB962C8B-B14F-4D97-AF65-F5344CB8AC3E}">
        <p14:creationId xmlns:p14="http://schemas.microsoft.com/office/powerpoint/2010/main" val="553995615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1284</TotalTime>
  <Words>777</Words>
  <Application>Microsoft Macintosh PowerPoint</Application>
  <PresentationFormat>Widescreen</PresentationFormat>
  <Paragraphs>185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32" baseType="lpstr">
      <vt:lpstr>Arial</vt:lpstr>
      <vt:lpstr>Arial Black</vt:lpstr>
      <vt:lpstr>Calibri</vt:lpstr>
      <vt:lpstr>Cambria</vt:lpstr>
      <vt:lpstr>Cambria Math</vt:lpstr>
      <vt:lpstr>Century Gothic</vt:lpstr>
      <vt:lpstr>Courier New</vt:lpstr>
      <vt:lpstr>Times New Roman</vt:lpstr>
      <vt:lpstr>Verdana</vt:lpstr>
      <vt:lpstr>Wingdings</vt:lpstr>
      <vt:lpstr>1_Office Theme</vt:lpstr>
      <vt:lpstr>Geometry  Unit 3, Lesson 5  Converse of the Alternate Interior Angles Theorem  Volume 1, pg. 149  </vt:lpstr>
      <vt:lpstr>Benchmarks</vt:lpstr>
      <vt:lpstr>PowerPoint Presentation</vt:lpstr>
      <vt:lpstr>PowerPoint Presentation</vt:lpstr>
      <vt:lpstr>Warm-Up</vt:lpstr>
      <vt:lpstr>PowerPoint Presentation</vt:lpstr>
      <vt:lpstr>Exploration</vt:lpstr>
      <vt:lpstr>PowerPoint Presentation</vt:lpstr>
      <vt:lpstr>PowerPoint Presentation</vt:lpstr>
      <vt:lpstr>Activity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Guided Practice</vt:lpstr>
      <vt:lpstr>PowerPoint Presentation</vt:lpstr>
      <vt:lpstr>PowerPoint Presentation</vt:lpstr>
      <vt:lpstr>PowerPoint Presentation</vt:lpstr>
      <vt:lpstr>Wrap-Up</vt:lpstr>
      <vt:lpstr>PowerPoint Presentation</vt:lpstr>
    </vt:vector>
  </TitlesOfParts>
  <LinksUpToDate>false</LinksUpToDate>
  <SharedDoc>false</SharedDoc>
  <HyperlinksChanged>false</HyperlinksChanged>
  <AppVersion>15.0032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Algebra 2 Unit 4 Lesson 4</dc:title>
  <dc:creator>Karen McKenzie</dc:creator>
  <cp:lastModifiedBy>jslater9816@gmail.com</cp:lastModifiedBy>
  <cp:revision>24</cp:revision>
  <dcterms:created xsi:type="dcterms:W3CDTF">2015-03-17T18:51:18Z</dcterms:created>
  <dcterms:modified xsi:type="dcterms:W3CDTF">2022-07-25T21:30:21Z</dcterms:modified>
</cp:coreProperties>
</file>