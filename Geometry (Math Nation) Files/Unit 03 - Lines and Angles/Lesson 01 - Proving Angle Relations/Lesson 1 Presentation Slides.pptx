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54" r:id="rId15"/>
    <p:sldId id="355" r:id="rId16"/>
    <p:sldId id="356" r:id="rId17"/>
    <p:sldId id="353" r:id="rId18"/>
    <p:sldId id="339" r:id="rId19"/>
    <p:sldId id="340" r:id="rId20"/>
    <p:sldId id="341" r:id="rId21"/>
    <p:sldId id="342" r:id="rId22"/>
    <p:sldId id="343" r:id="rId23"/>
    <p:sldId id="357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06" r:id="rId33"/>
    <p:sldId id="307" r:id="rId34"/>
    <p:sldId id="310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6B9A3D"/>
    <a:srgbClr val="E2EED5"/>
    <a:srgbClr val="FCBD1E"/>
    <a:srgbClr val="C9DF6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3"/>
    <p:restoredTop sz="94695"/>
  </p:normalViewPr>
  <p:slideViewPr>
    <p:cSldViewPr snapToGrid="0">
      <p:cViewPr varScale="1">
        <p:scale>
          <a:sx n="78" d="100"/>
          <a:sy n="78" d="100"/>
        </p:scale>
        <p:origin x="31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9502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2983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6447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047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558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201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412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970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3780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8378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1696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77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76786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188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90212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87655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853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4664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186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666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9721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5532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6436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2232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0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Angle Relations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125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872672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125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125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problems that use the relationships of congruent supplements, congruent complements, and vertical angles.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the relationships of congruent supplements, congruent complements, and vertical angles in proofs.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86222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94251"/>
            <a:ext cx="1048427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equations are shown.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Of the four equations, choose one that does not belong.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your reasoning for choosing the equation you did.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58299" y="1914184"/>
                <a:ext cx="4572000" cy="22467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</a:rPr>
                        <m:t>𝑦</m:t>
                      </m:r>
                      <m:r>
                        <a:rPr lang="en-US" sz="2000" i="1">
                          <a:latin typeface="Cambria Math" charset="0"/>
                        </a:rPr>
                        <m:t>=2</m:t>
                      </m:r>
                      <m:r>
                        <a:rPr lang="en-US" sz="2000" i="1">
                          <a:latin typeface="Cambria Math" charset="0"/>
                        </a:rPr>
                        <m:t>𝑥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latin typeface="Verdana" charset="0"/>
                  </a:rPr>
                  <a:t> 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</a:rPr>
                        <m:t>𝑦</m:t>
                      </m:r>
                      <m:r>
                        <a:rPr lang="en-US" sz="2000" i="1">
                          <a:latin typeface="Cambria Math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</a:rPr>
                        <m:t>+9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latin typeface="Verdana" charset="0"/>
                  </a:rPr>
                  <a:t> 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</a:rPr>
                        <m:t>𝑦</m:t>
                      </m:r>
                      <m:r>
                        <a:rPr lang="en-US" sz="2000" i="1">
                          <a:latin typeface="Cambria Math" charset="0"/>
                        </a:rPr>
                        <m:t>=−4</m:t>
                      </m:r>
                      <m:r>
                        <a:rPr lang="en-US" sz="2000" i="1">
                          <a:latin typeface="Cambria Math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</a:rPr>
                        <m:t>+2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>
                    <a:latin typeface="Verdana" charset="0"/>
                  </a:rPr>
                  <a:t> 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charset="0"/>
                        </a:rPr>
                        <m:t>𝑦</m:t>
                      </m:r>
                      <m:r>
                        <a:rPr lang="en-US" sz="2000" i="1">
                          <a:latin typeface="Cambria Math" charset="0"/>
                        </a:rPr>
                        <m:t>=3</m:t>
                      </m:r>
                      <m:r>
                        <a:rPr lang="en-US" sz="2000" i="1">
                          <a:latin typeface="Cambria Math" charset="0"/>
                        </a:rPr>
                        <m:t>𝑥</m:t>
                      </m:r>
                      <m:r>
                        <a:rPr lang="en-US" sz="2000" i="1">
                          <a:latin typeface="Cambria Math" charset="0"/>
                        </a:rPr>
                        <m:t>−2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299" y="1914184"/>
                <a:ext cx="4572000" cy="2246769"/>
              </a:xfrm>
              <a:prstGeom prst="rect">
                <a:avLst/>
              </a:prstGeom>
              <a:blipFill>
                <a:blip r:embed="rId5"/>
                <a:stretch>
                  <a:fillRect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126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58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449"/>
            <a:ext cx="112622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3.1.2 Exploration: Complementary 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126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57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0565" y="2810684"/>
                <a:ext cx="11087585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Right 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𝑅𝐿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inside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inside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𝐷𝑅𝐿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𝐶𝑋𝐻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810684"/>
                <a:ext cx="11087585" cy="745269"/>
              </a:xfrm>
              <a:prstGeom prst="rect">
                <a:avLst/>
              </a:prstGeom>
              <a:blipFill>
                <a:blip r:embed="rId5"/>
                <a:stretch>
                  <a:fillRect l="-605" t="-820" b="-1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6200F4BF-3C27-A748-A63E-5BC45D57275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3275" y="3695400"/>
            <a:ext cx="4901718" cy="2505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4"/>
              <p:cNvSpPr txBox="1"/>
              <p:nvPr/>
            </p:nvSpPr>
            <p:spPr>
              <a:xfrm>
                <a:off x="1389433" y="1488214"/>
                <a:ext cx="6629400" cy="1011302"/>
              </a:xfrm>
              <a:prstGeom prst="roundRect">
                <a:avLst/>
              </a:prstGeom>
              <a:solidFill>
                <a:srgbClr val="E2EE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i="1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	Complementary angles</a:t>
                </a:r>
                <a:r>
                  <a:rPr lang="en-US" sz="2000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 are two angles 	whose 	measures sum to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B9A3D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90°</m:t>
                    </m:r>
                  </m:oMath>
                </a14:m>
                <a:r>
                  <a:rPr lang="en-US" sz="2000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433" y="1488214"/>
                <a:ext cx="6629400" cy="101130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786" y="1727738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93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24704" y="3268355"/>
                <a:ext cx="1070344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definition of complementary angles to explain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complementary angles.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𝐿𝑅𝐾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04" y="3268355"/>
                <a:ext cx="10703445" cy="2246769"/>
              </a:xfrm>
              <a:prstGeom prst="rect">
                <a:avLst/>
              </a:prstGeom>
              <a:blipFill>
                <a:blip r:embed="rId4"/>
                <a:stretch>
                  <a:fillRect l="-626" t="-1897" r="-1139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2832" y="326405"/>
            <a:ext cx="4901718" cy="250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3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40202" y="3203005"/>
                <a:ext cx="105837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must be the same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𝐿𝑅𝐾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02" y="3203005"/>
                <a:ext cx="10583721" cy="707886"/>
              </a:xfrm>
              <a:prstGeom prst="rect">
                <a:avLst/>
              </a:prstGeom>
              <a:blipFill>
                <a:blip r:embed="rId4"/>
                <a:stretch>
                  <a:fillRect l="-634"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2832" y="326405"/>
            <a:ext cx="4901718" cy="250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82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82315"/>
                <a:ext cx="10520725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𝐹𝐺𝐻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inside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82315"/>
                <a:ext cx="10520725" cy="437492"/>
              </a:xfrm>
              <a:prstGeom prst="rect">
                <a:avLst/>
              </a:prstGeom>
              <a:blipFill>
                <a:blip r:embed="rId4"/>
                <a:stretch>
                  <a:fillRect l="-579" b="-25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333" y="1127583"/>
            <a:ext cx="5811600" cy="3217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59142" y="4782695"/>
                <a:ext cx="684867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17575" indent="-6889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relationship do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have?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42" y="4782695"/>
                <a:ext cx="6848670" cy="400110"/>
              </a:xfrm>
              <a:prstGeom prst="rect">
                <a:avLst/>
              </a:prstGeom>
              <a:blipFill>
                <a:blip r:embed="rId6"/>
                <a:stretch>
                  <a:fillRect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33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22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229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40204" y="382314"/>
            <a:ext cx="7927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paragraph proof.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05153" y="1123468"/>
                <a:ext cx="7462548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a(n)                  angle. Therefore, by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definition,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=________°.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By the angle addition postulate,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Therefore, by the substitution property of equality,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=_________°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By the definition of                             angles,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                            angles.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153" y="1123468"/>
                <a:ext cx="7462548" cy="4093428"/>
              </a:xfrm>
              <a:prstGeom prst="rect">
                <a:avLst/>
              </a:prstGeom>
              <a:blipFill>
                <a:blip r:embed="rId4"/>
                <a:stretch>
                  <a:fillRect l="-899" t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7514" y="782425"/>
            <a:ext cx="1461848" cy="12182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7667" y="3307652"/>
            <a:ext cx="2421504" cy="9121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5006" y="4215811"/>
            <a:ext cx="2421504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6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24704" y="382314"/>
                <a:ext cx="10703445" cy="3825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On a piece of patty paper, trace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Determine which rigid transformations can be used to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patty paper or a compass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so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𝐺𝐻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inside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04" y="382314"/>
                <a:ext cx="10703445" cy="3825021"/>
              </a:xfrm>
              <a:prstGeom prst="rect">
                <a:avLst/>
              </a:prstGeom>
              <a:blipFill>
                <a:blip r:embed="rId4"/>
                <a:stretch>
                  <a:fillRect l="-626" t="-1116" r="-342" b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503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1705" y="619214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3479" y="64492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82314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5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paragraph proof.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32133" y="1000318"/>
                <a:ext cx="11499572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by the transitive property of equality. By the angle addition postulate,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𝑊𝐺𝐻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Therefore, by the transitive property of equality,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are </a:t>
                </a:r>
              </a:p>
              <a:p>
                <a:pPr marL="91440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                      angles by the definition of</a:t>
                </a:r>
              </a:p>
              <a:p>
                <a:pPr marL="91440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                      angles. 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33" y="1000318"/>
                <a:ext cx="11499572" cy="2862322"/>
              </a:xfrm>
              <a:prstGeom prst="rect">
                <a:avLst/>
              </a:prstGeom>
              <a:blipFill>
                <a:blip r:embed="rId4"/>
                <a:stretch>
                  <a:fillRect t="-1064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673" y="2289404"/>
            <a:ext cx="2421504" cy="9121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673" y="3201540"/>
            <a:ext cx="2421504" cy="912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11599" y="4502550"/>
                <a:ext cx="11520105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by the transitive property of equality,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∠_________=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𝑌𝑁𝐷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by the substitution property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𝐹𝐺𝐻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𝑊𝐺𝐻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Therefore,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by the subtraction property of equality.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99" y="4502550"/>
                <a:ext cx="11520105" cy="1323439"/>
              </a:xfrm>
              <a:prstGeom prst="rect">
                <a:avLst/>
              </a:prstGeom>
              <a:blipFill>
                <a:blip r:embed="rId6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4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127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497921" y="724117"/>
            <a:ext cx="6629400" cy="1248737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Congruent Complements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Complements of congruent angles are 	congruent.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9942" y="946555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386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82315"/>
                <a:ext cx="1108758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congruent complements theorem to complete the statements.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complementary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𝐿𝐺𝑋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complementary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82315"/>
                <a:ext cx="11087585" cy="1938992"/>
              </a:xfrm>
              <a:prstGeom prst="rect">
                <a:avLst/>
              </a:prstGeom>
              <a:blipFill>
                <a:blip r:embed="rId4"/>
                <a:stretch>
                  <a:fillRect l="-605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404182" y="2553958"/>
            <a:ext cx="6629400" cy="1750084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22238"/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A </a:t>
            </a:r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corollary</a:t>
            </a:r>
            <a:r>
              <a:rPr lang="en-US" sz="2000" b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is a true statement that is a simple deduction from a theorem or postulate.</a:t>
            </a:r>
            <a:r>
              <a:rPr lang="en-US" sz="2000" b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Its proof requires only a few simple statements in addition to the proof of the original theorem or postulate.</a:t>
            </a:r>
          </a:p>
        </p:txBody>
      </p:sp>
      <p:sp>
        <p:nvSpPr>
          <p:cNvPr id="8" name="Text Box 24"/>
          <p:cNvSpPr txBox="1"/>
          <p:nvPr/>
        </p:nvSpPr>
        <p:spPr>
          <a:xfrm>
            <a:off x="1404182" y="4471473"/>
            <a:ext cx="6629400" cy="1444097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Corollary to Congruent Complements 	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Complements of the same angle are 	congruent.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1702" y="466316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395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21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22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82315"/>
                <a:ext cx="1108758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corollary to congruent complements theorem to complete the statement.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complementary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𝐿𝐺𝑋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𝑊𝐵𝐾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𝐿𝐺𝑋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82315"/>
                <a:ext cx="11087585" cy="2246769"/>
              </a:xfrm>
              <a:prstGeom prst="rect">
                <a:avLst/>
              </a:prstGeom>
              <a:blipFill>
                <a:blip r:embed="rId4"/>
                <a:stretch>
                  <a:fillRect l="-605" t="-1902" r="-220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8668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128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423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8550"/>
            <a:ext cx="109672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3.1.3 Exploration: Supplementary 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128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0564" y="2868246"/>
                <a:ext cx="1006352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𝐻𝐷𝑌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𝐻𝐷𝑌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𝐻𝐷𝑌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2868246"/>
                <a:ext cx="10063525" cy="707886"/>
              </a:xfrm>
              <a:prstGeom prst="rect">
                <a:avLst/>
              </a:prstGeom>
              <a:blipFill>
                <a:blip r:embed="rId5"/>
                <a:stretch>
                  <a:fillRect l="-606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6200F4BF-3C27-A748-A63E-5BC45D57275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4"/>
              <p:cNvSpPr txBox="1"/>
              <p:nvPr/>
            </p:nvSpPr>
            <p:spPr>
              <a:xfrm>
                <a:off x="1389433" y="1441522"/>
                <a:ext cx="6629400" cy="1011302"/>
              </a:xfrm>
              <a:prstGeom prst="roundRect">
                <a:avLst/>
              </a:prstGeom>
              <a:solidFill>
                <a:srgbClr val="E2EE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i="1" dirty="0">
                    <a:solidFill>
                      <a:srgbClr val="6B9A3D"/>
                    </a:solidFill>
                  </a:rPr>
                  <a:t>	Supplementary angles</a:t>
                </a:r>
                <a:r>
                  <a:rPr lang="en-US" sz="2000" dirty="0">
                    <a:solidFill>
                      <a:srgbClr val="6B9A3D"/>
                    </a:solidFill>
                  </a:rPr>
                  <a:t> are two angles whose 	measures sum is exactly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6B9A3D"/>
                        </a:solidFill>
                        <a:latin typeface="Cambria Math" charset="0"/>
                      </a:rPr>
                      <m:t>180°</m:t>
                    </m:r>
                  </m:oMath>
                </a14:m>
                <a:r>
                  <a:rPr lang="en-US" sz="2000" dirty="0">
                    <a:solidFill>
                      <a:srgbClr val="6B9A3D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433" y="1441522"/>
                <a:ext cx="6629400" cy="10113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786" y="1681046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8090" y="3705937"/>
            <a:ext cx="6892087" cy="263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0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770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24705" y="3169579"/>
                <a:ext cx="1057699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what relationship, if any,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can be concluded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05" y="3169579"/>
                <a:ext cx="10576995" cy="1938992"/>
              </a:xfrm>
              <a:prstGeom prst="rect">
                <a:avLst/>
              </a:prstGeom>
              <a:blipFill>
                <a:blip r:embed="rId4"/>
                <a:stretch>
                  <a:fillRect l="-634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8090" y="234317"/>
            <a:ext cx="6892087" cy="263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50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21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22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40202" y="382315"/>
                <a:ext cx="10687947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Ask two classmates their conclusion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𝐾𝐹𝑋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Record their conclusion and write your summary of their reason. 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You are the only person who should write in the first two columns of the table.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 the person initial next to your summary stating that your summary was correct.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your classmates’ conclusions with your partner.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02" y="382315"/>
                <a:ext cx="10687947" cy="4093428"/>
              </a:xfrm>
              <a:prstGeom prst="rect">
                <a:avLst/>
              </a:prstGeom>
              <a:blipFill>
                <a:blip r:embed="rId4"/>
                <a:stretch>
                  <a:fillRect l="-627" t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67491"/>
              </p:ext>
            </p:extLst>
          </p:nvPr>
        </p:nvGraphicFramePr>
        <p:xfrm>
          <a:off x="1389433" y="1931048"/>
          <a:ext cx="7886700" cy="1544840"/>
        </p:xfrm>
        <a:graphic>
          <a:graphicData uri="http://schemas.openxmlformats.org/drawingml/2006/table">
            <a:tbl>
              <a:tblPr bandRow="1"/>
              <a:tblGrid>
                <a:gridCol w="2255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66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Conclusion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My Summary of Their Reason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0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0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9647" marR="5964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20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52207" y="1868799"/>
                <a:ext cx="1108758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congruent supplements theorem to complete the statements.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𝐻𝑇𝑀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𝐿𝑋𝐺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𝐵𝐾𝑊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𝐿𝑋𝐺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𝐵𝐾𝑊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07" y="1868799"/>
                <a:ext cx="11087585" cy="2246769"/>
              </a:xfrm>
              <a:prstGeom prst="rect">
                <a:avLst/>
              </a:prstGeom>
              <a:blipFill>
                <a:blip r:embed="rId4"/>
                <a:stretch>
                  <a:fillRect l="-605"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DA31F723-A3C2-40E6-97D9-C98CD03E2872}"/>
              </a:ext>
            </a:extLst>
          </p:cNvPr>
          <p:cNvSpPr txBox="1"/>
          <p:nvPr/>
        </p:nvSpPr>
        <p:spPr>
          <a:xfrm>
            <a:off x="552207" y="400608"/>
            <a:ext cx="6629400" cy="1210344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Congruent Supplements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Supplements of congruent angles are 	congruent.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31A357-15E4-4F08-8028-9AECABD18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727" y="592303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2479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2155777"/>
                <a:ext cx="11087585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corollary to congruent supplements theorem to complete the statement.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𝐻𝑇𝑀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𝐿𝑋𝐺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𝐵𝐾𝑊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𝐿𝑋𝐺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congruent to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2155777"/>
                <a:ext cx="11087585" cy="2246769"/>
              </a:xfrm>
              <a:prstGeom prst="rect">
                <a:avLst/>
              </a:prstGeom>
              <a:blipFill>
                <a:blip r:embed="rId4"/>
                <a:stretch>
                  <a:fillRect l="-605" t="-1902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B7C7682D-5C91-9243-8900-6899F3FEF34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>
            <a:extLst>
              <a:ext uri="{FF2B5EF4-FFF2-40B4-BE49-F238E27FC236}">
                <a16:creationId xmlns:a16="http://schemas.microsoft.com/office/drawing/2014/main" id="{DAFC60A7-A77D-40CB-8931-5A21EB010570}"/>
              </a:ext>
            </a:extLst>
          </p:cNvPr>
          <p:cNvSpPr txBox="1"/>
          <p:nvPr/>
        </p:nvSpPr>
        <p:spPr>
          <a:xfrm>
            <a:off x="540565" y="400199"/>
            <a:ext cx="6629400" cy="1348639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Corollary to Congruent Supplements 	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Supplements of the same angle are 	congruent.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12732C-6FD5-4218-96ED-E69CD2A4C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85" y="59189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4778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130</a:t>
            </a:r>
          </a:p>
        </p:txBody>
      </p:sp>
    </p:spTree>
    <p:extLst>
      <p:ext uri="{BB962C8B-B14F-4D97-AF65-F5344CB8AC3E}">
        <p14:creationId xmlns:p14="http://schemas.microsoft.com/office/powerpoint/2010/main" val="198865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121998"/>
            <a:ext cx="938920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3.1.4 Guided Instruction: Angles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95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93248" y="1394250"/>
            <a:ext cx="10364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Two adjacent angles that form a straight angle are called a linear pair.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Text Box 24"/>
          <p:cNvSpPr txBox="1"/>
          <p:nvPr/>
        </p:nvSpPr>
        <p:spPr>
          <a:xfrm>
            <a:off x="1389433" y="2619577"/>
            <a:ext cx="6629400" cy="1052177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A </a:t>
            </a:r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linear pair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 is two adjacent angles formed by two intersecting lines.</a:t>
            </a:r>
          </a:p>
        </p:txBody>
      </p:sp>
      <p:sp>
        <p:nvSpPr>
          <p:cNvPr id="11" name="Text Box 24"/>
          <p:cNvSpPr txBox="1"/>
          <p:nvPr/>
        </p:nvSpPr>
        <p:spPr>
          <a:xfrm>
            <a:off x="1389433" y="4202107"/>
            <a:ext cx="6629400" cy="1287836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Linear Pair Postulate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angles form a linear pair, then they 	are supplementary.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953" y="4393802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3487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990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4697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96970"/>
            <a:ext cx="11162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phrases in the word bank to complete the proof. Some phrases may be used more than once.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47216"/>
              </p:ext>
            </p:extLst>
          </p:nvPr>
        </p:nvGraphicFramePr>
        <p:xfrm>
          <a:off x="2525701" y="1319553"/>
          <a:ext cx="7140597" cy="2040890"/>
        </p:xfrm>
        <a:graphic>
          <a:graphicData uri="http://schemas.openxmlformats.org/drawingml/2006/table">
            <a:tbl>
              <a:tblPr firstRow="1" firstCol="1" bandRow="1"/>
              <a:tblGrid>
                <a:gridCol w="361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45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Word Bank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Definition of Linear Pair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Linear Pair Postulate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Supplements of the same angle are congruent.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Complements of the same angle are congruent.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947953" y="3675141"/>
                <a:ext cx="5826894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Verdana" charset="0"/>
                    <a:ea typeface="Times New Roman" charset="0"/>
                    <a:cs typeface="Times New Roman" charset="0"/>
                  </a:rPr>
                  <a:t>Given: 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∠2</m:t>
                    </m:r>
                  </m:oMath>
                </a14:m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 form a linear pair.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∠4</m:t>
                    </m:r>
                  </m:oMath>
                </a14:m>
                <a:r>
                  <a:rPr lang="en-US" sz="2000" dirty="0">
                    <a:latin typeface="Verdana" charset="0"/>
                    <a:ea typeface="Times New Roman" charset="0"/>
                    <a:cs typeface="Times New Roman" charset="0"/>
                  </a:rPr>
                  <a:t> form a linear pair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:r>
                  <a:rPr lang="en-US" sz="2000" b="1" dirty="0">
                    <a:latin typeface="Verdana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:r>
                  <a:rPr lang="en-US" sz="2000" b="1" dirty="0">
                    <a:latin typeface="Verdana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  <a:p>
                <a:r>
                  <a:rPr lang="en-US" sz="2000" b="1" dirty="0">
                    <a:latin typeface="Verdana" charset="0"/>
                    <a:ea typeface="Times New Roman" charset="0"/>
                    <a:cs typeface="Times New Roman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Times New Roman" charset="0"/>
                        <a:cs typeface="Times New Roman" charset="0"/>
                      </a:rPr>
                      <m:t>∠2≅∠4</m:t>
                    </m:r>
                  </m:oMath>
                </a14:m>
                <a:endParaRPr lang="en-US" sz="2000" dirty="0">
                  <a:latin typeface="Cambria" charset="0"/>
                  <a:ea typeface="Times New Roman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953" y="3675141"/>
                <a:ext cx="5826894" cy="2246769"/>
              </a:xfrm>
              <a:prstGeom prst="rect">
                <a:avLst/>
              </a:prstGeom>
              <a:blipFill>
                <a:blip r:embed="rId4"/>
                <a:stretch>
                  <a:fillRect l="-1152" t="-1630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9286" y="3675141"/>
            <a:ext cx="4469200" cy="262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6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59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637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130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8646416"/>
                  </p:ext>
                </p:extLst>
              </p:nvPr>
            </p:nvGraphicFramePr>
            <p:xfrm>
              <a:off x="808583" y="474420"/>
              <a:ext cx="8438656" cy="46272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5312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074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1915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273" marR="62273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273" marR="622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1. ∠2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∠3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form a linear pair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∠3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∠4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form a linear pair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Given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3.</m:t>
                              </m:r>
                              <m:r>
                                <a:rPr lang="en-US" sz="2100" i="0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 ∠</m:t>
                              </m:r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∠3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 angles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∠3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∠4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are supplementary angles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∠2≅∠4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8646416"/>
                  </p:ext>
                </p:extLst>
              </p:nvPr>
            </p:nvGraphicFramePr>
            <p:xfrm>
              <a:off x="808583" y="474420"/>
              <a:ext cx="8438656" cy="462721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5312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074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273" marR="62273" marT="0" marB="0">
                        <a:lnL>
                          <a:noFill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273" marR="62273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6A6A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47518" r="-52863" b="-402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Given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146479" r="-5286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Given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248227" r="-52863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345775" r="-52863" b="-100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61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" t="-448936" r="-52863" b="-14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</a:t>
                          </a:r>
                        </a:p>
                      </a:txBody>
                      <a:tcPr marL="62273" marR="6227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30523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0565" y="1955268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∠2 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and</m:t>
                    </m:r>
                    <m:r>
                      <m:rPr>
                        <m:nor/>
                      </m:rPr>
                      <a:rPr lang="en-US" sz="2000">
                        <a:latin typeface="Verdana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also known as _______________ angles.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955268"/>
                <a:ext cx="8327136" cy="400110"/>
              </a:xfrm>
              <a:prstGeom prst="rect">
                <a:avLst/>
              </a:prstGeom>
              <a:blipFill>
                <a:blip r:embed="rId4"/>
                <a:stretch>
                  <a:fillRect l="-73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389433" y="2781031"/>
            <a:ext cx="6629400" cy="1287836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17575"/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Vertical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pPr marL="917575"/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If two lines intersect, then vertical angles are congruent.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6953" y="2972726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Box 24"/>
          <p:cNvSpPr txBox="1"/>
          <p:nvPr/>
        </p:nvSpPr>
        <p:spPr>
          <a:xfrm>
            <a:off x="1389433" y="563296"/>
            <a:ext cx="6629400" cy="1011302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917575"/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Vertical angles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 are the opposite angles formed when two lines intersect.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2786" y="771824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3956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131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563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8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100676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3.1.5 Try It: Solving Problems Using Angle Relationships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76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593248" y="138614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angles are shown with the given information.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8A539B00-8E96-3740-8C2B-62EF12D58B8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118488" y="2003963"/>
                <a:ext cx="4572000" cy="7078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supplementary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488" y="2003963"/>
                <a:ext cx="4572000" cy="707886"/>
              </a:xfrm>
              <a:prstGeom prst="rect">
                <a:avLst/>
              </a:prstGeom>
              <a:blipFill>
                <a:blip r:embed="rId5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66" y="2857624"/>
            <a:ext cx="8216900" cy="172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65457" y="4719457"/>
                <a:ext cx="341939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90513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𝑧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57" y="4719457"/>
                <a:ext cx="3419398" cy="400110"/>
              </a:xfrm>
              <a:prstGeom prst="rect">
                <a:avLst/>
              </a:prstGeom>
              <a:blipFill>
                <a:blip r:embed="rId7"/>
                <a:stretch>
                  <a:fillRect t="-7576" r="-107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845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65232" y="349830"/>
                <a:ext cx="11162918" cy="5361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Right 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𝑋𝑃𝐹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𝐵𝑊𝑌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𝑃𝐻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inside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𝑋𝑃𝐹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=39°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𝐻𝑃𝐹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𝐾𝑊𝑌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𝐵𝑊𝐾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49830"/>
                <a:ext cx="11162918" cy="5361917"/>
              </a:xfrm>
              <a:prstGeom prst="rect">
                <a:avLst/>
              </a:prstGeom>
              <a:blipFill>
                <a:blip r:embed="rId4"/>
                <a:stretch>
                  <a:fillRect l="-600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E55548A-47DB-5443-92E0-7B6639097BA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350" y="1499585"/>
            <a:ext cx="72009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97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580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7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3.1.6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7" y="1386149"/>
            <a:ext cx="102763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angles are shown with the given information.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7040371"/>
                  </p:ext>
                </p:extLst>
              </p:nvPr>
            </p:nvGraphicFramePr>
            <p:xfrm>
              <a:off x="2144754" y="1889771"/>
              <a:ext cx="7146730" cy="15653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1467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052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𝐴𝐵𝐶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complementary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𝑀𝑁𝑂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𝑀𝑁𝑂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is complementary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𝑃𝑄𝑅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𝐴𝐵𝐶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=(5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−3)°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𝑀𝑁𝑂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=2(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+22)°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.</a:t>
                          </a: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7040371"/>
                  </p:ext>
                </p:extLst>
              </p:nvPr>
            </p:nvGraphicFramePr>
            <p:xfrm>
              <a:off x="2144754" y="1889771"/>
              <a:ext cx="7146730" cy="15653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1467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05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7568" b="-2662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142623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242623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42623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7774" y="3598353"/>
            <a:ext cx="6598085" cy="27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909207" y="3197178"/>
                <a:ext cx="795849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𝑃𝑄𝑅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7" y="3197178"/>
                <a:ext cx="7958494" cy="1938992"/>
              </a:xfrm>
              <a:prstGeom prst="rect">
                <a:avLst/>
              </a:prstGeom>
              <a:blipFill>
                <a:blip r:embed="rId4"/>
                <a:stretch>
                  <a:fillRect l="-842" t="-1881" b="-4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70AEB55-C0B0-E249-801E-7B66B61DDE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5091" y="290376"/>
            <a:ext cx="6598085" cy="27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1668</Words>
  <Application>Microsoft Office PowerPoint</Application>
  <PresentationFormat>Widescreen</PresentationFormat>
  <Paragraphs>283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3, Lesson 1  Proving Angle Relations  Volume 1, pg. 125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28</cp:revision>
  <dcterms:created xsi:type="dcterms:W3CDTF">2015-03-17T18:51:18Z</dcterms:created>
  <dcterms:modified xsi:type="dcterms:W3CDTF">2023-02-27T17:57:47Z</dcterms:modified>
</cp:coreProperties>
</file>