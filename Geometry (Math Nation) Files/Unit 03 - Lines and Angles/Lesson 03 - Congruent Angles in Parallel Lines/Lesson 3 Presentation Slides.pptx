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332" r:id="rId8"/>
    <p:sldId id="333" r:id="rId9"/>
    <p:sldId id="334" r:id="rId10"/>
    <p:sldId id="335" r:id="rId11"/>
    <p:sldId id="342" r:id="rId12"/>
    <p:sldId id="336" r:id="rId13"/>
    <p:sldId id="337" r:id="rId14"/>
    <p:sldId id="338" r:id="rId15"/>
    <p:sldId id="343" r:id="rId16"/>
    <p:sldId id="339" r:id="rId17"/>
    <p:sldId id="340" r:id="rId18"/>
    <p:sldId id="341" r:id="rId19"/>
    <p:sldId id="344" r:id="rId20"/>
    <p:sldId id="345" r:id="rId21"/>
    <p:sldId id="302" r:id="rId22"/>
    <p:sldId id="303" r:id="rId23"/>
    <p:sldId id="309" r:id="rId24"/>
    <p:sldId id="306" r:id="rId25"/>
    <p:sldId id="30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FCBD1E"/>
    <a:srgbClr val="C9DF6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468"/>
    <p:restoredTop sz="94695"/>
  </p:normalViewPr>
  <p:slideViewPr>
    <p:cSldViewPr snapToGrid="0">
      <p:cViewPr varScale="1">
        <p:scale>
          <a:sx n="77" d="100"/>
          <a:sy n="77" d="100"/>
        </p:scale>
        <p:origin x="264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657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95816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3612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19156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7092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78585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1896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976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6562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78343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2005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5816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87693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9006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0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3,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Congruent Angles in Parallel Lines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138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MA.912.GR.1.1 </a:t>
            </a:r>
          </a:p>
          <a:p>
            <a:pPr marL="458788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Prove relationships and theorems about lines and angles. Solve mathematical and real-world problems involving postulates, relationships, and theorems of lines and angles.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37892"/>
            <a:ext cx="928716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138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EC4A24D-AC58-5143-9A1A-1E71E28DFCF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138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use postulates and theorems to find unknown angle measures when parallel lines are intersected by a transversal.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BA09A98-EDA0-5343-AD77-8F8E8C4F0E7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68550"/>
            <a:ext cx="1011187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3.3.1 Warm-Up: Using Math in Making Guitars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2057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93248" y="1394251"/>
            <a:ext cx="1103490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Patrick Evans is a production manager at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Maton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Guitars in Australia. Country music star Keith Urban uses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Maton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guitars. The precision necessary in making each guitar requires mathematics, or “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maths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,” as Australians call it. 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was one thing you found interesting about the process of making a guitar?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C2564F7E-689E-724F-BBC4-EC8DFC52E66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139</a:t>
            </a:r>
          </a:p>
        </p:txBody>
      </p:sp>
    </p:spTree>
    <p:extLst>
      <p:ext uri="{BB962C8B-B14F-4D97-AF65-F5344CB8AC3E}">
        <p14:creationId xmlns:p14="http://schemas.microsoft.com/office/powerpoint/2010/main" val="862231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43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49" y="-85855"/>
            <a:ext cx="978741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3.3.2 Guided Instruction: Angle Relationships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214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61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139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93249" y="1386150"/>
                <a:ext cx="5106806" cy="2013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each diagram,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𝑇𝑀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|| 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𝑁𝑊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𝑌𝐿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transversal.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7575" lvl="1" indent="-45878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patty paper to determine if the angles marked using color are congruent.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9" y="1386150"/>
                <a:ext cx="5106806" cy="2013756"/>
              </a:xfrm>
              <a:prstGeom prst="rect">
                <a:avLst/>
              </a:prstGeom>
              <a:blipFill>
                <a:blip r:embed="rId5"/>
                <a:stretch>
                  <a:fillRect l="-1313" b="-4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F7A98FFB-A3E6-7642-B96E-3A3B8C27BD7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386150"/>
            <a:ext cx="5106806" cy="483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038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140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5612" y="251135"/>
            <a:ext cx="6097883" cy="640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76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764607" y="2272651"/>
            <a:ext cx="10326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Which diagram shows a pair of angles that are alternate exterior angles?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Text Box 24"/>
          <p:cNvSpPr txBox="1"/>
          <p:nvPr/>
        </p:nvSpPr>
        <p:spPr>
          <a:xfrm>
            <a:off x="1479992" y="258745"/>
            <a:ext cx="6629400" cy="1776298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Alternate Exterior Angles Theorem</a:t>
            </a:r>
            <a:endParaRPr lang="en-US" sz="2000" dirty="0">
              <a:solidFill>
                <a:srgbClr val="417DBF"/>
              </a:solidFill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If two parallel lines are intersected by a 	transversal, then alternate exterior 	angles 	are congruent.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9943" y="481184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/>
          <p:cNvSpPr/>
          <p:nvPr/>
        </p:nvSpPr>
        <p:spPr>
          <a:xfrm>
            <a:off x="1216557" y="2672761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Courier New" charset="0"/>
              <a:buChar char="o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Diagram A</a:t>
            </a:r>
          </a:p>
          <a:p>
            <a:pPr marL="342900" indent="-342900">
              <a:buFont typeface="Courier New" charset="0"/>
              <a:buChar char="o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Diagram B</a:t>
            </a:r>
          </a:p>
          <a:p>
            <a:pPr marL="342900" indent="-342900">
              <a:buFont typeface="Courier New" charset="0"/>
              <a:buChar char="o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Diagram C</a:t>
            </a:r>
          </a:p>
          <a:p>
            <a:pPr marL="342900" indent="-342900">
              <a:buFont typeface="Courier New" charset="0"/>
              <a:buChar char="o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Diagram D</a:t>
            </a:r>
          </a:p>
        </p:txBody>
      </p:sp>
    </p:spTree>
    <p:extLst>
      <p:ext uri="{BB962C8B-B14F-4D97-AF65-F5344CB8AC3E}">
        <p14:creationId xmlns:p14="http://schemas.microsoft.com/office/powerpoint/2010/main" val="1102263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764608" y="2272651"/>
            <a:ext cx="10355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Which diagram shows a pair of angles that are alternate interior angles?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Text Box 24"/>
          <p:cNvSpPr txBox="1"/>
          <p:nvPr/>
        </p:nvSpPr>
        <p:spPr>
          <a:xfrm>
            <a:off x="1479992" y="258745"/>
            <a:ext cx="6629400" cy="1776298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Alternate Interior Angles Theorem</a:t>
            </a:r>
            <a:endParaRPr lang="en-US" sz="2000" dirty="0">
              <a:solidFill>
                <a:srgbClr val="417DBF"/>
              </a:solidFill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If two parallel lines are intersected by a 	transversal, then alternate interior angles 	are congruent.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9943" y="481184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/>
          <p:cNvSpPr/>
          <p:nvPr/>
        </p:nvSpPr>
        <p:spPr>
          <a:xfrm>
            <a:off x="1071716" y="2672761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Courier New" charset="0"/>
              <a:buChar char="o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Diagram A</a:t>
            </a:r>
          </a:p>
          <a:p>
            <a:pPr marL="342900" indent="-342900">
              <a:buFont typeface="Courier New" charset="0"/>
              <a:buChar char="o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Diagram B</a:t>
            </a:r>
          </a:p>
          <a:p>
            <a:pPr marL="342900" indent="-342900">
              <a:buFont typeface="Courier New" charset="0"/>
              <a:buChar char="o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Diagram C</a:t>
            </a:r>
          </a:p>
          <a:p>
            <a:pPr marL="342900" indent="-342900">
              <a:buFont typeface="Courier New" charset="0"/>
              <a:buChar char="o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Diagram D</a:t>
            </a:r>
          </a:p>
        </p:txBody>
      </p:sp>
    </p:spTree>
    <p:extLst>
      <p:ext uri="{BB962C8B-B14F-4D97-AF65-F5344CB8AC3E}">
        <p14:creationId xmlns:p14="http://schemas.microsoft.com/office/powerpoint/2010/main" val="566895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65232" y="296970"/>
                <a:ext cx="8327136" cy="437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𝐾𝐿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|| 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𝑁𝑊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where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𝑋𝑃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transversal.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296970"/>
                <a:ext cx="8327136" cy="437492"/>
              </a:xfrm>
              <a:prstGeom prst="rect">
                <a:avLst/>
              </a:prstGeom>
              <a:blipFill>
                <a:blip r:embed="rId4"/>
                <a:stretch>
                  <a:fillRect l="-732" b="-253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9100" y="734462"/>
            <a:ext cx="5359400" cy="4597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5232" y="5413981"/>
            <a:ext cx="110586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/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Work with your partner to name each pair of angles as corresponding, alternate exterior, alternate interior angles, or none of these.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147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141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0072810"/>
                  </p:ext>
                </p:extLst>
              </p:nvPr>
            </p:nvGraphicFramePr>
            <p:xfrm>
              <a:off x="1156652" y="508312"/>
              <a:ext cx="7972600" cy="588676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963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762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462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Angles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9525" marR="6952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Type 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9525" marR="6952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8512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𝑊𝐺𝑋</m:t>
                              </m:r>
                            </m:oMath>
                          </a14:m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𝐾𝐻𝑃</m:t>
                              </m:r>
                            </m:oMath>
                          </a14:m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9525" marR="695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Corresponding angles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exterior angles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interior angles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None of the above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9525" marR="6952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8512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𝐿𝐻𝐺</m:t>
                              </m:r>
                            </m:oMath>
                          </a14:m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𝑊𝐺𝑋</m:t>
                              </m:r>
                            </m:oMath>
                          </a14:m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9525" marR="695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Corresponding angles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exterior angles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interior angles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None of the above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9525" marR="6952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38512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𝑁𝐺𝑋</m:t>
                              </m:r>
                            </m:oMath>
                          </a14:m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𝐾𝐻𝑃</m:t>
                              </m:r>
                            </m:oMath>
                          </a14:m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9525" marR="695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Corresponding angles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exterior angles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interior angles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None of the above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9525" marR="6952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38512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𝐾𝐻𝐺</m:t>
                              </m:r>
                            </m:oMath>
                          </a14:m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∠</m:t>
                              </m:r>
                              <m:r>
                                <a:rPr lang="en-US" sz="22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𝑊𝐺𝐻</m:t>
                              </m:r>
                            </m:oMath>
                          </a14:m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9525" marR="695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Corresponding angles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exterior angles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interior angles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None of the above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9525" marR="6952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0072810"/>
                  </p:ext>
                </p:extLst>
              </p:nvPr>
            </p:nvGraphicFramePr>
            <p:xfrm>
              <a:off x="1156652" y="508312"/>
              <a:ext cx="7972600" cy="588676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963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762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462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Angles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9525" marR="6952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2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Type 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9525" marR="6952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851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9525" marR="695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4" t="-31278" r="-128397" b="-3105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Corresponding angles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exterior angles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interior angles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None of the above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9525" marR="6952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851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9525" marR="695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4" t="-130702" r="-128397" b="-2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Corresponding angles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exterior angles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interior angles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None of the above</a:t>
                          </a:r>
                          <a:endParaRPr lang="en-US" sz="22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9525" marR="6952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3851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9525" marR="695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4" t="-231718" r="-128397" b="-1101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Corresponding angles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exterior angles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interior angles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None of the above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9525" marR="6952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3851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9525" marR="695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4" t="-330263" r="-128397" b="-9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Corresponding angles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exterior angles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Alternate interior angles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charset="0"/>
                            <a:buChar char="o"/>
                          </a:pPr>
                          <a:r>
                            <a:rPr lang="en-US" sz="22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None of the above</a:t>
                          </a:r>
                          <a:endParaRPr lang="en-US" sz="22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9525" marR="6952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54448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0983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2757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65232" y="288870"/>
                <a:ext cx="8327136" cy="745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𝐹𝐻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|| 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𝑀𝑌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Prove: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𝐷𝐾𝐻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≅∠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𝑅𝐶𝑀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288870"/>
                <a:ext cx="8327136" cy="745269"/>
              </a:xfrm>
              <a:prstGeom prst="rect">
                <a:avLst/>
              </a:prstGeom>
              <a:blipFill>
                <a:blip r:embed="rId4"/>
                <a:stretch>
                  <a:fillRect l="-805" b="-1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8500" y="1384424"/>
            <a:ext cx="4800600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42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5731" y="622157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77505" y="647864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465232" y="288869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Fill in the table to complete the proof.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132551E-02DD-6A43-9F52-A70D434DE09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455316"/>
              </p:ext>
            </p:extLst>
          </p:nvPr>
        </p:nvGraphicFramePr>
        <p:xfrm>
          <a:off x="1150493" y="864485"/>
          <a:ext cx="7447817" cy="5526392"/>
        </p:xfrm>
        <a:graphic>
          <a:graphicData uri="http://schemas.openxmlformats.org/drawingml/2006/table">
            <a:tbl>
              <a:tblPr firstRow="1" firstCol="1" bandRow="1"/>
              <a:tblGrid>
                <a:gridCol w="3784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3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5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Statement</a:t>
                      </a:r>
                      <a:endParaRPr lang="en-US" sz="21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1561" marR="515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Reason</a:t>
                      </a:r>
                      <a:endParaRPr lang="en-US" sz="21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1561" marR="515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970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1.</a:t>
                      </a:r>
                      <a:endParaRPr lang="en-US" sz="21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1561" marR="515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1. Given</a:t>
                      </a:r>
                      <a:endParaRPr lang="en-US" sz="21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1561" marR="515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970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2.</a:t>
                      </a:r>
                      <a:endParaRPr lang="en-US" sz="21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1561" marR="515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57188" marR="0" indent="-357188"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21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2. Vertical angles are congruent.</a:t>
                      </a:r>
                      <a:endParaRPr lang="en-US" sz="21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1561" marR="515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970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3.</a:t>
                      </a:r>
                      <a:endParaRPr lang="en-US" sz="21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1561" marR="515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3.</a:t>
                      </a:r>
                      <a:endParaRPr lang="en-US" sz="21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1561" marR="515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970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4.</a:t>
                      </a:r>
                      <a:endParaRPr lang="en-US" sz="21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1561" marR="515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57188" marR="0" indent="-357188"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r>
                        <a:rPr lang="en-US" sz="21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4. Transitive Property of Congruence</a:t>
                      </a:r>
                      <a:endParaRPr lang="en-US" sz="21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1561" marR="5156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690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142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893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449"/>
            <a:ext cx="1054610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3.3.3 Try It: Angles and Parallel Lines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142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39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593248" y="1386149"/>
                <a:ext cx="11005504" cy="439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𝐹𝑌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|| 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𝐻𝑇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𝐵𝐺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𝐾𝑃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transversals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𝐵𝑀𝐹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=76°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𝐾𝑋𝑌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=117°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149"/>
                <a:ext cx="11005504" cy="439479"/>
              </a:xfrm>
              <a:prstGeom prst="rect">
                <a:avLst/>
              </a:prstGeom>
              <a:blipFill>
                <a:blip r:embed="rId5"/>
                <a:stretch>
                  <a:fillRect l="-554" b="-23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8A539B00-8E96-3740-8C2B-62EF12D58B8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7824" y="2133406"/>
            <a:ext cx="6157985" cy="425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359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465232" y="357930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	Complete the table.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E55548A-47DB-5443-92E0-7B6639097BA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1494340"/>
                  </p:ext>
                </p:extLst>
              </p:nvPr>
            </p:nvGraphicFramePr>
            <p:xfrm>
              <a:off x="1356683" y="989271"/>
              <a:ext cx="7581288" cy="430540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3903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422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125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>
                              <a:effectLst/>
                              <a:latin typeface="Verdana" charset="0"/>
                            </a:rPr>
                            <a:t>Angle</a:t>
                          </a:r>
                          <a:endParaRPr lang="en-US" sz="230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charset="0"/>
                            </a:rPr>
                            <a:t>Angle Measure</a:t>
                          </a:r>
                          <a:endParaRPr lang="en-US" sz="2300" dirty="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7082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2300" i="1">
                                    <a:effectLst/>
                                    <a:latin typeface="Cambria Math" charset="0"/>
                                  </a:rPr>
                                  <m:t>𝑀𝑅𝑊</m:t>
                                </m:r>
                              </m:oMath>
                            </m:oMathPara>
                          </a14:m>
                          <a:endParaRPr lang="en-US" sz="230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>
                            <a:effectLst/>
                            <a:latin typeface="Cambri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7082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2300" i="1">
                                    <a:effectLst/>
                                    <a:latin typeface="Cambria Math" charset="0"/>
                                  </a:rPr>
                                  <m:t>𝑃𝑊𝑇</m:t>
                                </m:r>
                              </m:oMath>
                            </m:oMathPara>
                          </a14:m>
                          <a:endParaRPr lang="en-US" sz="230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7082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2300" i="1">
                                    <a:effectLst/>
                                    <a:latin typeface="Cambria Math" charset="0"/>
                                  </a:rPr>
                                  <m:t>𝑌𝑋𝑊</m:t>
                                </m:r>
                              </m:oMath>
                            </m:oMathPara>
                          </a14:m>
                          <a:endParaRPr lang="en-US" sz="230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>
                            <a:effectLst/>
                            <a:latin typeface="Cambri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7082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2300" i="1">
                                    <a:effectLst/>
                                    <a:latin typeface="Cambria Math" charset="0"/>
                                  </a:rPr>
                                  <m:t>𝑅𝑀𝑋</m:t>
                                </m:r>
                              </m:oMath>
                            </m:oMathPara>
                          </a14:m>
                          <a:endParaRPr lang="en-US" sz="230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7082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3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2300" i="1">
                                    <a:effectLst/>
                                    <a:latin typeface="Cambria Math" charset="0"/>
                                  </a:rPr>
                                  <m:t>𝑃𝑊𝑅</m:t>
                                </m:r>
                              </m:oMath>
                            </m:oMathPara>
                          </a14:m>
                          <a:endParaRPr lang="en-US" sz="230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81494340"/>
                  </p:ext>
                </p:extLst>
              </p:nvPr>
            </p:nvGraphicFramePr>
            <p:xfrm>
              <a:off x="1356683" y="989271"/>
              <a:ext cx="7581288" cy="430540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3903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422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125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>
                              <a:effectLst/>
                              <a:latin typeface="Verdana" charset="0"/>
                            </a:rPr>
                            <a:t>Angle</a:t>
                          </a:r>
                          <a:endParaRPr lang="en-US" sz="230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b="1" dirty="0">
                              <a:effectLst/>
                              <a:latin typeface="Verdana" charset="0"/>
                            </a:rPr>
                            <a:t>Angle Measure</a:t>
                          </a:r>
                          <a:endParaRPr lang="en-US" sz="2300" dirty="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708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2" t="-63780" r="-238859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>
                            <a:effectLst/>
                            <a:latin typeface="Cambri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708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2" t="-165079" r="-238859" b="-30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708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2" t="-262992" r="-238859" b="-200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>
                            <a:effectLst/>
                            <a:latin typeface="Cambri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708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2" t="-365873" r="-238859" b="-10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708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2" t="-462205" r="-238859" b="-15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3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300" dirty="0">
                            <a:effectLst/>
                            <a:latin typeface="Cambria" charset="0"/>
                          </a:endParaRPr>
                        </a:p>
                      </a:txBody>
                      <a:tcPr marL="79447" marR="7944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27604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/>
              <p:nvPr/>
            </p:nvSpPr>
            <p:spPr>
              <a:xfrm>
                <a:off x="465231" y="349829"/>
                <a:ext cx="11289233" cy="400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𝐴𝐵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|| 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𝐶𝐷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𝐺𝐻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𝐸𝐹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transversals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𝐵𝑁𝑅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=107°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𝑅𝑆𝑀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=32°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347CCE-34A7-8044-BA67-B5895157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1" y="349829"/>
                <a:ext cx="11289233" cy="400815"/>
              </a:xfrm>
              <a:prstGeom prst="rect">
                <a:avLst/>
              </a:prstGeom>
              <a:blipFill>
                <a:blip r:embed="rId4"/>
                <a:stretch>
                  <a:fillRect l="-540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E55548A-47DB-5443-92E0-7B6639097BA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4725" y="1145093"/>
            <a:ext cx="5688151" cy="531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222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465232" y="357930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	Complete the table.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E55548A-47DB-5443-92E0-7B6639097BA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996607"/>
                  </p:ext>
                </p:extLst>
              </p:nvPr>
            </p:nvGraphicFramePr>
            <p:xfrm>
              <a:off x="958196" y="1325686"/>
              <a:ext cx="7341209" cy="421472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612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992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2648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Angle Measure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Postulate or Theorem Used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22061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𝑁𝑅𝐶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22061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𝐵𝑀𝐻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2061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𝐷𝑅𝐹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22061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𝐺𝑀𝐴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996607"/>
                  </p:ext>
                </p:extLst>
              </p:nvPr>
            </p:nvGraphicFramePr>
            <p:xfrm>
              <a:off x="958196" y="1325686"/>
              <a:ext cx="7341209" cy="421472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1612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992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2648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Angle Measure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Postulate or Theorem Used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2206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3" t="-57237" r="-13256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2206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3" t="-158278" r="-132563" b="-2019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206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3" t="-256579" r="-132563" b="-100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2206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3" t="-358940" r="-132563" b="-13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99469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143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52650" y="5487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3.3.4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54875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36194" y="64633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93248" y="1380576"/>
                <a:ext cx="8327136" cy="400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𝐵𝐺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𝐹𝐻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𝑇𝐷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 transversal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𝐻𝑋𝐷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=134°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0576"/>
                <a:ext cx="8327136" cy="400815"/>
              </a:xfrm>
              <a:prstGeom prst="rect">
                <a:avLst/>
              </a:prstGeom>
              <a:blipFill>
                <a:blip r:embed="rId5"/>
                <a:stretch>
                  <a:fillRect l="-732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B65A09A0-1E94-F34F-9AC7-848B14CF3F5C}"/>
              </a:ext>
            </a:extLst>
          </p:cNvPr>
          <p:cNvSpPr/>
          <p:nvPr/>
        </p:nvSpPr>
        <p:spPr>
          <a:xfrm>
            <a:off x="0" y="-13675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7578" y="1899948"/>
            <a:ext cx="6236447" cy="455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465231" y="398597"/>
            <a:ext cx="94014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Find the measure of each angle. Then, state the angle relationships used to determine the value.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C20EB48B-0C2A-FF47-ACB6-866A7F95956C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0083192"/>
                  </p:ext>
                </p:extLst>
              </p:nvPr>
            </p:nvGraphicFramePr>
            <p:xfrm>
              <a:off x="1244885" y="1411999"/>
              <a:ext cx="6767830" cy="40259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54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135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340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Angle Measure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</a:rPr>
                            <a:t>Angle Relationships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𝐺𝐾𝑋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𝐹𝑋𝐾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𝐵𝐾𝑇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0083192"/>
                  </p:ext>
                </p:extLst>
              </p:nvPr>
            </p:nvGraphicFramePr>
            <p:xfrm>
              <a:off x="1244885" y="1411999"/>
              <a:ext cx="6767830" cy="40259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543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135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340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</a:rPr>
                            <a:t>Angle Measure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</a:rPr>
                            <a:t>Angle Relationships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9" t="-67778" r="-155275" b="-2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9" t="-166851" r="-155275" b="-100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9" t="-268333" r="-155275" b="-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7842"/>
            <a:ext cx="2731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143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49851" y="1675350"/>
            <a:ext cx="4741022" cy="4048513"/>
          </a:xfrm>
          <a:prstGeom prst="rect">
            <a:avLst/>
          </a:prstGeom>
        </p:spPr>
      </p:pic>
      <p:sp>
        <p:nvSpPr>
          <p:cNvPr id="282" name="Google Shape;282;g104476d1465_1_17"/>
          <p:cNvSpPr txBox="1"/>
          <p:nvPr/>
        </p:nvSpPr>
        <p:spPr>
          <a:xfrm>
            <a:off x="8856873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143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5099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799" y="-82447"/>
            <a:ext cx="948403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3.3.5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350" y="20675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93248" y="1386150"/>
                <a:ext cx="8327136" cy="439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𝑀𝑁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∥ </m:t>
                    </m:r>
                    <m:acc>
                      <m:accPr>
                        <m:chr m:val="⃡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𝑃𝑄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𝑃𝑇𝑆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=100°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150"/>
                <a:ext cx="8327136" cy="439479"/>
              </a:xfrm>
              <a:prstGeom prst="rect">
                <a:avLst/>
              </a:prstGeom>
              <a:blipFill>
                <a:blip r:embed="rId6"/>
                <a:stretch>
                  <a:fillRect l="-732" b="-23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31AAE36C-5822-464A-8B2B-DAD96F65814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CBD1E"/>
          </a:solidFill>
          <a:ln w="9525" cap="flat" cmpd="sng">
            <a:solidFill>
              <a:srgbClr val="FCBD1E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052650" y="2218149"/>
                <a:ext cx="6631260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relation to the parallel lines, what angle relationship do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𝑇𝑆𝑁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𝑃𝑇𝑆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have?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𝑇𝑆𝑁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650" y="2218149"/>
                <a:ext cx="6631260" cy="1631216"/>
              </a:xfrm>
              <a:prstGeom prst="rect">
                <a:avLst/>
              </a:prstGeom>
              <a:blipFill>
                <a:blip r:embed="rId7"/>
                <a:stretch>
                  <a:fillRect l="-1012" t="-2622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1296</TotalTime>
  <Words>893</Words>
  <Application>Microsoft Office PowerPoint</Application>
  <PresentationFormat>Widescreen</PresentationFormat>
  <Paragraphs>184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Arial Black</vt:lpstr>
      <vt:lpstr>Calibri</vt:lpstr>
      <vt:lpstr>Cambria</vt:lpstr>
      <vt:lpstr>Cambria Math</vt:lpstr>
      <vt:lpstr>Century Gothic</vt:lpstr>
      <vt:lpstr>Courier New</vt:lpstr>
      <vt:lpstr>Verdana</vt:lpstr>
      <vt:lpstr>Wingdings</vt:lpstr>
      <vt:lpstr>1_Office Theme</vt:lpstr>
      <vt:lpstr>Geometry  Unit 3, Lesson 3  Congruent Angles in Parallel Lines  Volume 1, pg. 138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26</cp:revision>
  <dcterms:created xsi:type="dcterms:W3CDTF">2015-03-17T18:51:18Z</dcterms:created>
  <dcterms:modified xsi:type="dcterms:W3CDTF">2022-07-03T04:53:11Z</dcterms:modified>
</cp:coreProperties>
</file>