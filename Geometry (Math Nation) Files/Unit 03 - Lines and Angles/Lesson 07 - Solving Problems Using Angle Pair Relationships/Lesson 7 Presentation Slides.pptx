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314" r:id="rId9"/>
    <p:sldId id="315" r:id="rId10"/>
    <p:sldId id="316" r:id="rId11"/>
    <p:sldId id="332" r:id="rId12"/>
    <p:sldId id="333" r:id="rId13"/>
    <p:sldId id="334" r:id="rId14"/>
    <p:sldId id="302" r:id="rId15"/>
    <p:sldId id="303" r:id="rId16"/>
    <p:sldId id="309" r:id="rId17"/>
    <p:sldId id="335" r:id="rId18"/>
    <p:sldId id="336" r:id="rId19"/>
    <p:sldId id="337" r:id="rId20"/>
    <p:sldId id="306" r:id="rId21"/>
    <p:sldId id="307" r:id="rId22"/>
    <p:sldId id="310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BD1E"/>
    <a:srgbClr val="C9DF6F"/>
    <a:srgbClr val="417DBF"/>
    <a:srgbClr val="3F2A67"/>
    <a:srgbClr val="E24E5F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1"/>
    <p:restoredTop sz="94680"/>
  </p:normalViewPr>
  <p:slideViewPr>
    <p:cSldViewPr snapToGrid="0">
      <p:cViewPr varScale="1">
        <p:scale>
          <a:sx n="79" d="100"/>
          <a:sy n="79" d="100"/>
        </p:scale>
        <p:origin x="826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67260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046879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26222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0458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53217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96990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593468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8492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0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3, Lesson 7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Solving Problems Using Angle Pair Relationships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158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753" y="15225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4475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80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8425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MA.912.GR.1.1 </a:t>
            </a:r>
          </a:p>
          <a:p>
            <a:pPr marL="468313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Prove relationships and theorems about lines and angles. Solve mathematical and real-world problems involving postulates, relationships, and theorems of lines and angles.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80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199" y="137892"/>
            <a:ext cx="866772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158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01760" y="1604615"/>
            <a:ext cx="1052639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0EC4A24D-AC58-5143-9A1A-1E71E28DFCF5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13375" y="30784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213" y="31998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158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14000" y="1600324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71500" indent="-5715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solve mathematical and real-world problems involving angle pair relationships formed by transversals and parallel lines. 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7BA09A98-EDA0-5343-AD77-8F8E8C4F0E72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158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2650" y="2101377"/>
            <a:ext cx="6241288" cy="4556523"/>
          </a:xfrm>
          <a:prstGeom prst="rect">
            <a:avLst/>
          </a:prstGeom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-57538"/>
            <a:ext cx="111393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3.7.1 Warm-Up: Angle Pair Relationships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5350" y="19760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158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593248" y="1386149"/>
            <a:ext cx="88457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The image shows two streets intersected by a third street. Various points of interest are located at the intersections.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C2564F7E-689E-724F-BBC4-EC8DFC52E66C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7991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79765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158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5" y="520518"/>
            <a:ext cx="10973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Match the listed points of interest with their angle relationship listed in the right column. Write the letter of the angle relationship on the line.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2950EAF9-F430-CC4A-9F7C-2EC37538C1F0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7062205"/>
              </p:ext>
            </p:extLst>
          </p:nvPr>
        </p:nvGraphicFramePr>
        <p:xfrm>
          <a:off x="981889" y="1344890"/>
          <a:ext cx="7821957" cy="3790950"/>
        </p:xfrm>
        <a:graphic>
          <a:graphicData uri="http://schemas.openxmlformats.org/drawingml/2006/table">
            <a:tbl>
              <a:tblPr firstRow="1" firstCol="1" bandRow="1"/>
              <a:tblGrid>
                <a:gridCol w="4284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74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29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charset="0"/>
                        </a:rPr>
                        <a:t>Points of Interest</a:t>
                      </a:r>
                      <a:endParaRPr lang="en-US" sz="2000" dirty="0">
                        <a:effectLst/>
                        <a:latin typeface="Cambri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</a:rPr>
                        <a:t>Angle Relationship</a:t>
                      </a:r>
                      <a:endParaRPr lang="en-US" sz="2000">
                        <a:effectLst/>
                        <a:latin typeface="Cambri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789940" marR="0" indent="-889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</a:rPr>
                        <a:t>Museum and Worship Center</a:t>
                      </a:r>
                      <a:endParaRPr lang="en-US" sz="2000">
                        <a:effectLst/>
                        <a:latin typeface="Cambri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lvl="0" indent="-4572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lphaLcPeriod"/>
                      </a:pPr>
                      <a:r>
                        <a:rPr lang="en-US" sz="2000" dirty="0">
                          <a:effectLst/>
                          <a:latin typeface="Verdana" charset="0"/>
                        </a:rPr>
                        <a:t>Alternate Interior </a:t>
                      </a:r>
                      <a:endParaRPr lang="en-US" sz="2000" dirty="0">
                        <a:effectLst/>
                        <a:latin typeface="Cambria" charset="0"/>
                      </a:endParaRPr>
                    </a:p>
                    <a:p>
                      <a:pPr marL="27432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</a:rPr>
                        <a:t>  Angles</a:t>
                      </a:r>
                      <a:endParaRPr lang="en-US" sz="2000" dirty="0">
                        <a:effectLst/>
                        <a:latin typeface="Cambri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78105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</a:rPr>
                        <a:t>Bank and Day Care</a:t>
                      </a:r>
                      <a:endParaRPr lang="en-US" sz="2000">
                        <a:effectLst/>
                        <a:latin typeface="Cambri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lvl="0" indent="-4572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lphaLcPeriod" startAt="2"/>
                      </a:pPr>
                      <a:r>
                        <a:rPr lang="en-US" sz="2000" dirty="0">
                          <a:effectLst/>
                          <a:latin typeface="Verdana" charset="0"/>
                        </a:rPr>
                        <a:t>Consecutive Interior</a:t>
                      </a:r>
                      <a:endParaRPr lang="en-US" sz="2000" dirty="0">
                        <a:effectLst/>
                        <a:latin typeface="Cambria" charset="0"/>
                      </a:endParaRPr>
                    </a:p>
                    <a:p>
                      <a:pPr marL="27432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</a:rPr>
                        <a:t>  Angles</a:t>
                      </a:r>
                      <a:endParaRPr lang="en-US" sz="2000" dirty="0">
                        <a:effectLst/>
                        <a:latin typeface="Cambri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78105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</a:rPr>
                        <a:t>Park and Coffee Shop</a:t>
                      </a:r>
                      <a:endParaRPr lang="en-US" sz="2000" dirty="0">
                        <a:effectLst/>
                        <a:latin typeface="Cambri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lvl="0" indent="-4572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lphaLcPeriod" startAt="3"/>
                      </a:pPr>
                      <a:r>
                        <a:rPr lang="en-US" sz="2000" dirty="0">
                          <a:effectLst/>
                          <a:latin typeface="Verdana" charset="0"/>
                        </a:rPr>
                        <a:t>Corresponding Angles</a:t>
                      </a:r>
                      <a:endParaRPr lang="en-US" sz="2000" dirty="0">
                        <a:effectLst/>
                        <a:latin typeface="Cambri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789940" marR="0" indent="-889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</a:rPr>
                        <a:t>Fire Station and Worship Center</a:t>
                      </a:r>
                      <a:endParaRPr lang="en-US" sz="2000">
                        <a:effectLst/>
                        <a:latin typeface="Cambri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lvl="0" indent="-4572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lphaLcPeriod" startAt="4"/>
                      </a:pPr>
                      <a:r>
                        <a:rPr lang="en-US" sz="2000" dirty="0">
                          <a:effectLst/>
                          <a:latin typeface="Verdana" charset="0"/>
                        </a:rPr>
                        <a:t>Vertical Angles</a:t>
                      </a:r>
                      <a:endParaRPr lang="en-US" sz="2000" dirty="0">
                        <a:effectLst/>
                        <a:latin typeface="Cambri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847090" marR="0" indent="-889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</a:rPr>
                        <a:t>Community Center and Day Care</a:t>
                      </a:r>
                      <a:endParaRPr lang="en-US" sz="2000" dirty="0">
                        <a:effectLst/>
                        <a:latin typeface="Cambri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lvl="0" indent="-4572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lphaLcPeriod" startAt="5"/>
                      </a:pPr>
                      <a:r>
                        <a:rPr lang="en-US" sz="2000" dirty="0">
                          <a:effectLst/>
                          <a:latin typeface="Verdana" charset="0"/>
                        </a:rPr>
                        <a:t>Alternate Exterior </a:t>
                      </a:r>
                      <a:endParaRPr lang="en-US" sz="2000" dirty="0">
                        <a:effectLst/>
                        <a:latin typeface="Cambria" charset="0"/>
                      </a:endParaRPr>
                    </a:p>
                    <a:p>
                      <a:pPr marL="27432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</a:rPr>
                        <a:t>  Angles</a:t>
                      </a:r>
                      <a:endParaRPr lang="en-US" sz="2000" dirty="0">
                        <a:effectLst/>
                        <a:latin typeface="Cambri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8382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</a:rPr>
                        <a:t>Bank and Museum</a:t>
                      </a:r>
                      <a:endParaRPr lang="en-US" sz="2000" dirty="0">
                        <a:effectLst/>
                        <a:latin typeface="Cambri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lvl="0" indent="-4572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lphaLcPeriod" startAt="6"/>
                      </a:pPr>
                      <a:r>
                        <a:rPr lang="en-US" sz="2000" dirty="0">
                          <a:effectLst/>
                          <a:latin typeface="Verdana" charset="0"/>
                        </a:rPr>
                        <a:t>Linear Pair</a:t>
                      </a:r>
                      <a:endParaRPr lang="en-US" sz="2000" dirty="0">
                        <a:effectLst/>
                        <a:latin typeface="Cambri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7" name="Straight Connector 6"/>
          <p:cNvCxnSpPr/>
          <p:nvPr/>
        </p:nvCxnSpPr>
        <p:spPr>
          <a:xfrm>
            <a:off x="1010464" y="2166164"/>
            <a:ext cx="685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000939" y="3299742"/>
            <a:ext cx="685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010464" y="3929031"/>
            <a:ext cx="685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010464" y="4524380"/>
            <a:ext cx="685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010464" y="5046597"/>
            <a:ext cx="685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010464" y="2775771"/>
            <a:ext cx="685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159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87105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49" y="90929"/>
            <a:ext cx="994964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3.7.2 Collaboration: Solving Problems Using Angle Relationships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89924" y="644418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159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34839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540564" y="1490390"/>
                <a:ext cx="11087585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Work with your partner to solve each problem.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 err="1">
                    <a:latin typeface="Verdana" charset="0"/>
                    <a:ea typeface="Verdana" charset="0"/>
                    <a:cs typeface="Verdana" charset="0"/>
                  </a:rPr>
                  <a:t>Mako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a steel roller coaster located at Sea World in Orlando. Some of the support beams are shown in the diagram using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𝐾𝐿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𝐿𝑅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𝐹𝑅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4" y="1490390"/>
                <a:ext cx="11087585" cy="1323439"/>
              </a:xfrm>
              <a:prstGeom prst="rect">
                <a:avLst/>
              </a:prstGeom>
              <a:blipFill>
                <a:blip r:embed="rId5"/>
                <a:stretch>
                  <a:fillRect l="-605" t="-2294" b="-68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D252DD22-4545-6844-9D1D-323C0B41ADF5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6100854" y="3174890"/>
                <a:ext cx="5527295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4288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Determine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that shows that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𝐾𝐿</m:t>
                        </m:r>
                      </m:e>
                    </m:acc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∥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𝐹𝑅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𝐾𝐿𝑅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=(7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−5.6)°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        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𝐹𝑅𝐿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=(3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+5.6)°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0854" y="3174890"/>
                <a:ext cx="5527295" cy="1015663"/>
              </a:xfrm>
              <a:prstGeom prst="rect">
                <a:avLst/>
              </a:prstGeom>
              <a:blipFill>
                <a:blip r:embed="rId6"/>
                <a:stretch>
                  <a:fillRect l="-992" t="-3614" r="-6725" b="-10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0565" y="3195367"/>
            <a:ext cx="5349494" cy="332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984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7162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159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789"/>
                <a:ext cx="10965056" cy="13241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Most of the streets in Miami are on a grid. </a:t>
                </a:r>
                <a:r>
                  <a:rPr lang="en-US" sz="2000" dirty="0" err="1">
                    <a:latin typeface="Verdana" charset="0"/>
                    <a:ea typeface="Verdana" charset="0"/>
                    <a:cs typeface="Verdana" charset="0"/>
                  </a:rPr>
                  <a:t>Beacom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Blvd. is one of the few streets that does not run north to south or east to west. The diagram shows a map of </a:t>
                </a:r>
                <a:r>
                  <a:rPr lang="en-US" sz="2000" dirty="0" err="1">
                    <a:latin typeface="Verdana" charset="0"/>
                    <a:ea typeface="Verdana" charset="0"/>
                    <a:cs typeface="Verdana" charset="0"/>
                  </a:rPr>
                  <a:t>Beacom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Blvd.,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𝐻𝐺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between SW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4</m:t>
                    </m:r>
                  </m:oMath>
                </a14:m>
                <a:r>
                  <a:rPr lang="en-US" sz="2000" baseline="30000" dirty="0" err="1">
                    <a:latin typeface="Verdana" charset="0"/>
                    <a:ea typeface="Verdana" charset="0"/>
                    <a:cs typeface="Verdana" charset="0"/>
                  </a:rPr>
                  <a:t>th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Street,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𝑊𝑇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SW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6</m:t>
                    </m:r>
                  </m:oMath>
                </a14:m>
                <a:r>
                  <a:rPr lang="en-US" sz="2000" baseline="30000" dirty="0" err="1">
                    <a:latin typeface="Verdana" charset="0"/>
                    <a:ea typeface="Verdana" charset="0"/>
                    <a:cs typeface="Verdana" charset="0"/>
                  </a:rPr>
                  <a:t>th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Street,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𝐵𝑅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 just a few blocks from Miami Senior High School.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789"/>
                <a:ext cx="10965056" cy="1324145"/>
              </a:xfrm>
              <a:prstGeom prst="rect">
                <a:avLst/>
              </a:prstGeom>
              <a:blipFill>
                <a:blip r:embed="rId4"/>
                <a:stretch>
                  <a:fillRect l="-612" t="-2752" b="-68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24B490A-71D6-FD45-903D-95450FDFCF80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0565" y="2463916"/>
            <a:ext cx="4845232" cy="357267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5527961" y="2669742"/>
                <a:ext cx="5977660" cy="13234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Given that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𝑊𝑇</m:t>
                        </m:r>
                      </m:e>
                    </m:acc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∥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𝐵𝑅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determine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𝐻𝑀𝐵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=(2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−7)°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     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𝑊𝐾𝐺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=(4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+25)°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      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𝐾𝑀𝐵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=(6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−29)°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7961" y="2669742"/>
                <a:ext cx="5977660" cy="1323439"/>
              </a:xfrm>
              <a:prstGeom prst="rect">
                <a:avLst/>
              </a:prstGeom>
              <a:blipFill>
                <a:blip r:embed="rId6"/>
                <a:stretch>
                  <a:fillRect l="-1122" t="-3226" b="-7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6770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160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540565" y="418890"/>
            <a:ext cx="83271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Determine the measure of each angle.</a:t>
            </a:r>
          </a:p>
          <a:p>
            <a:pPr marL="457200" indent="-457200">
              <a:buFont typeface="+mj-lt"/>
              <a:buAutoNum type="alphaLcPeriod" startAt="2"/>
            </a:pP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24B490A-71D6-FD45-903D-95450FDFCF8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-694868" y="1115106"/>
                <a:ext cx="4572000" cy="286232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charset="0"/>
                          <a:ea typeface="Verdana" charset="0"/>
                          <a:cs typeface="Verdana" charset="0"/>
                        </a:rPr>
                        <m:t>𝑚</m:t>
                      </m:r>
                      <m:r>
                        <a:rPr lang="en-US" sz="2000" i="1">
                          <a:latin typeface="Cambria Math" charset="0"/>
                          <a:ea typeface="Verdana" charset="0"/>
                          <a:cs typeface="Verdana" charset="0"/>
                        </a:rPr>
                        <m:t>∠</m:t>
                      </m:r>
                      <m:r>
                        <a:rPr lang="en-US" sz="2000" i="1">
                          <a:latin typeface="Cambria Math" charset="0"/>
                          <a:ea typeface="Verdana" charset="0"/>
                          <a:cs typeface="Verdana" charset="0"/>
                        </a:rPr>
                        <m:t>𝐻𝑀𝐵</m:t>
                      </m:r>
                    </m:oMath>
                  </m:oMathPara>
                </a14:m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charset="0"/>
                          <a:ea typeface="Verdana" charset="0"/>
                          <a:cs typeface="Verdana" charset="0"/>
                        </a:rPr>
                        <m:t>𝑚</m:t>
                      </m:r>
                      <m:r>
                        <a:rPr lang="en-US" sz="2000" i="1">
                          <a:latin typeface="Cambria Math" charset="0"/>
                          <a:ea typeface="Verdana" charset="0"/>
                          <a:cs typeface="Verdana" charset="0"/>
                        </a:rPr>
                        <m:t>∠</m:t>
                      </m:r>
                      <m:r>
                        <a:rPr lang="en-US" sz="2000" i="1">
                          <a:latin typeface="Cambria Math" charset="0"/>
                          <a:ea typeface="Verdana" charset="0"/>
                          <a:cs typeface="Verdana" charset="0"/>
                        </a:rPr>
                        <m:t>𝐻𝑀𝑅</m:t>
                      </m:r>
                    </m:oMath>
                  </m:oMathPara>
                </a14:m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charset="0"/>
                          <a:ea typeface="Verdana" charset="0"/>
                          <a:cs typeface="Verdana" charset="0"/>
                        </a:rPr>
                        <m:t>𝑚</m:t>
                      </m:r>
                      <m:r>
                        <a:rPr lang="en-US" sz="2000" i="1">
                          <a:latin typeface="Cambria Math" charset="0"/>
                          <a:ea typeface="Verdana" charset="0"/>
                          <a:cs typeface="Verdana" charset="0"/>
                        </a:rPr>
                        <m:t>∠</m:t>
                      </m:r>
                      <m:r>
                        <a:rPr lang="en-US" sz="2000" i="1">
                          <a:latin typeface="Cambria Math" charset="0"/>
                          <a:ea typeface="Verdana" charset="0"/>
                          <a:cs typeface="Verdana" charset="0"/>
                        </a:rPr>
                        <m:t>𝑇𝐾𝑀</m:t>
                      </m:r>
                    </m:oMath>
                  </m:oMathPara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94868" y="1115106"/>
                <a:ext cx="4572000" cy="286232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8408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160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4" y="410790"/>
                <a:ext cx="11087585" cy="57607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𝐾𝑅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𝑃𝑌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𝑀𝑇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shown with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𝐿𝑊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𝐿𝑊𝐻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=(4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−9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3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)°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        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𝑊𝐿𝐻</m:t>
                    </m:r>
                    <m:r>
                      <a:rPr lang="en-US" sz="200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=(3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𝑦</m:t>
                    </m:r>
                    <m:r>
                      <a:rPr lang="en-US" sz="200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+3)°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𝐿𝐻𝑊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𝑊𝐿𝐻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82663" indent="-574675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82663" indent="-574675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82663" indent="-574675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82663" indent="-574675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82663" indent="-574675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82663" indent="-574675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82663" indent="-574675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82663" indent="-574675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82663" indent="-574675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82663" indent="-574675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82663" indent="-574675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82663" indent="-574675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82663" indent="-574675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82663" indent="-574675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82663" indent="-574675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Determine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that shows that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𝑃𝑌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∥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𝐾𝑅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4" y="410790"/>
                <a:ext cx="11087585" cy="5760744"/>
              </a:xfrm>
              <a:prstGeom prst="rect">
                <a:avLst/>
              </a:prstGeom>
              <a:blipFill>
                <a:blip r:embed="rId4"/>
                <a:stretch>
                  <a:fillRect l="-550" b="-10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24B490A-71D6-FD45-903D-95450FDFCF80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26908" y="1778353"/>
            <a:ext cx="6154451" cy="402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9656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161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540565" y="410789"/>
            <a:ext cx="8327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20750" indent="-528638">
              <a:buFont typeface="+mj-lt"/>
              <a:buAutoNum type="alphaL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Determine the measure of each angle.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24B490A-71D6-FD45-903D-95450FDFCF80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-229919" y="1097640"/>
                <a:ext cx="4572000" cy="347787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charset="0"/>
                          <a:ea typeface="Verdana" charset="0"/>
                          <a:cs typeface="Verdana" charset="0"/>
                        </a:rPr>
                        <m:t>𝑚</m:t>
                      </m:r>
                      <m:r>
                        <a:rPr lang="en-US" sz="2000" i="1">
                          <a:latin typeface="Cambria Math" charset="0"/>
                          <a:ea typeface="Verdana" charset="0"/>
                          <a:cs typeface="Verdana" charset="0"/>
                        </a:rPr>
                        <m:t>∠</m:t>
                      </m:r>
                      <m:r>
                        <a:rPr lang="en-US" sz="2000" i="1">
                          <a:latin typeface="Cambria Math" charset="0"/>
                          <a:ea typeface="Verdana" charset="0"/>
                          <a:cs typeface="Verdana" charset="0"/>
                        </a:rPr>
                        <m:t>𝑅𝐿𝑊</m:t>
                      </m:r>
                    </m:oMath>
                  </m:oMathPara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charset="0"/>
                          <a:ea typeface="Verdana" charset="0"/>
                          <a:cs typeface="Verdana" charset="0"/>
                        </a:rPr>
                        <m:t>𝑚</m:t>
                      </m:r>
                      <m:r>
                        <a:rPr lang="en-US" sz="2000" i="1">
                          <a:latin typeface="Cambria Math" charset="0"/>
                          <a:ea typeface="Verdana" charset="0"/>
                          <a:cs typeface="Verdana" charset="0"/>
                        </a:rPr>
                        <m:t>∠</m:t>
                      </m:r>
                      <m:r>
                        <a:rPr lang="en-US" sz="2000" i="1">
                          <a:latin typeface="Cambria Math" charset="0"/>
                          <a:ea typeface="Verdana" charset="0"/>
                          <a:cs typeface="Verdana" charset="0"/>
                        </a:rPr>
                        <m:t>𝑃𝐻𝑇</m:t>
                      </m:r>
                    </m:oMath>
                  </m:oMathPara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charset="0"/>
                          <a:ea typeface="Verdana" charset="0"/>
                          <a:cs typeface="Verdana" charset="0"/>
                        </a:rPr>
                        <m:t>𝑚</m:t>
                      </m:r>
                      <m:r>
                        <a:rPr lang="en-US" sz="2000" i="1">
                          <a:latin typeface="Cambria Math" charset="0"/>
                          <a:ea typeface="Verdana" charset="0"/>
                          <a:cs typeface="Verdana" charset="0"/>
                        </a:rPr>
                        <m:t>∠</m:t>
                      </m:r>
                      <m:r>
                        <a:rPr lang="en-US" sz="2000" i="1">
                          <a:latin typeface="Cambria Math" charset="0"/>
                          <a:ea typeface="Verdana" charset="0"/>
                          <a:cs typeface="Verdana" charset="0"/>
                        </a:rPr>
                        <m:t>𝐾𝐿𝑀</m:t>
                      </m:r>
                    </m:oMath>
                  </m:oMathPara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29919" y="1097640"/>
                <a:ext cx="4572000" cy="34778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30525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E3C8BB3-D8AE-154C-9B2D-B1D7451436FE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161</a:t>
            </a: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9514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052650" y="54875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3.7.3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54875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F9486181-07A1-C74B-A129-E8949F43C159}"/>
              </a:ext>
            </a:extLst>
          </p:cNvPr>
          <p:cNvSpPr txBox="1"/>
          <p:nvPr/>
        </p:nvSpPr>
        <p:spPr>
          <a:xfrm>
            <a:off x="883619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161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593248" y="1380576"/>
                <a:ext cx="10876946" cy="7452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𝑋𝐵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𝑇𝑉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𝑅𝑊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shown.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𝑋𝐵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||</m:t>
                    </m:r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𝑇𝑉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where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𝑅𝑊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a transversal with  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𝑋𝐻𝑅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=(9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+21)°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𝐻𝐾𝑉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=(4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+3)°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80576"/>
                <a:ext cx="10876946" cy="745269"/>
              </a:xfrm>
              <a:prstGeom prst="rect">
                <a:avLst/>
              </a:prstGeom>
              <a:blipFill>
                <a:blip r:embed="rId5"/>
                <a:stretch>
                  <a:fillRect l="-560" b="-130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B65A09A0-1E94-F34F-9AC7-848B14CF3F5C}"/>
              </a:ext>
            </a:extLst>
          </p:cNvPr>
          <p:cNvSpPr/>
          <p:nvPr/>
        </p:nvSpPr>
        <p:spPr>
          <a:xfrm>
            <a:off x="0" y="-13675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2651" y="2640701"/>
            <a:ext cx="6983159" cy="3610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2203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43977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161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C20EB48B-0C2A-FF47-ACB6-866A7F95956C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67126298"/>
                  </p:ext>
                </p:extLst>
              </p:nvPr>
            </p:nvGraphicFramePr>
            <p:xfrm>
              <a:off x="865833" y="4773564"/>
              <a:ext cx="4339084" cy="135128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16954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6954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91294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𝑚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𝑋𝐻𝑅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𝑚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𝐻𝐾𝑉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3834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𝑚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𝑇𝐾𝑊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𝑚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𝐵𝐻𝐾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67126298"/>
                  </p:ext>
                </p:extLst>
              </p:nvPr>
            </p:nvGraphicFramePr>
            <p:xfrm>
              <a:off x="865833" y="4773564"/>
              <a:ext cx="4339084" cy="135128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16954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6954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91294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r="-100000" b="-4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l="-100000" b="-48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383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t="-208333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l="-100000" t="-20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022170" y="3424950"/>
                <a:ext cx="7736670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Determine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342900" indent="-3429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342900" indent="-3429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Find the measure of each angle.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170" y="3424950"/>
                <a:ext cx="7736670" cy="1015663"/>
              </a:xfrm>
              <a:prstGeom prst="rect">
                <a:avLst/>
              </a:prstGeom>
              <a:blipFill>
                <a:blip r:embed="rId5"/>
                <a:stretch>
                  <a:fillRect l="-867" t="-4217" b="-10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3534" y="287331"/>
            <a:ext cx="5673943" cy="2933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6146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162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/>
              <p:nvPr/>
            </p:nvSpPr>
            <p:spPr>
              <a:xfrm>
                <a:off x="465232" y="398598"/>
                <a:ext cx="8327136" cy="4394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𝑆𝑌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∥</m:t>
                    </m:r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𝐻𝑍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𝑌𝑅𝐶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=64°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𝑅𝐶𝐻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=(8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−4)°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2" y="398598"/>
                <a:ext cx="8327136" cy="439479"/>
              </a:xfrm>
              <a:prstGeom prst="rect">
                <a:avLst/>
              </a:prstGeom>
              <a:blipFill>
                <a:blip r:embed="rId4"/>
                <a:stretch>
                  <a:fillRect l="-732" b="-236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C20EB48B-0C2A-FF47-ACB6-866A7F95956C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26989" y="969303"/>
            <a:ext cx="5803622" cy="32842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778079" y="4206807"/>
                <a:ext cx="6700601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Find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  <a:p>
                <a:pPr marL="342900" indent="-3429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342900" indent="-3429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Find the measure of each angle.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079" y="4206807"/>
                <a:ext cx="6700601" cy="1015663"/>
              </a:xfrm>
              <a:prstGeom prst="rect">
                <a:avLst/>
              </a:prstGeom>
              <a:blipFill>
                <a:blip r:embed="rId6"/>
                <a:stretch>
                  <a:fillRect l="-1001" t="-4192" b="-101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43392980"/>
                  </p:ext>
                </p:extLst>
              </p:nvPr>
            </p:nvGraphicFramePr>
            <p:xfrm>
              <a:off x="370845" y="5357829"/>
              <a:ext cx="5329060" cy="109997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66453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6645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4998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𝑚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𝑍𝐶𝐴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765" marR="63765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𝑚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𝐹𝑅𝑆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765" marR="63765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4998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𝑚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𝑌𝑅𝐹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765" marR="63765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𝑚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𝐻𝐶𝐴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765" marR="63765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43392980"/>
                  </p:ext>
                </p:extLst>
              </p:nvPr>
            </p:nvGraphicFramePr>
            <p:xfrm>
              <a:off x="370845" y="5357829"/>
              <a:ext cx="5329060" cy="109997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66453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6645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4998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765" marR="63765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7"/>
                          <a:stretch>
                            <a:fillRect r="-10000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765" marR="63765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7"/>
                          <a:stretch>
                            <a:fillRect l="-100000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4998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765" marR="63765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7"/>
                          <a:stretch>
                            <a:fillRect t="-100000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765" marR="63765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7"/>
                          <a:stretch>
                            <a:fillRect l="-100000" t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23051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162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/>
              <p:nvPr/>
            </p:nvSpPr>
            <p:spPr>
              <a:xfrm>
                <a:off x="465231" y="406699"/>
                <a:ext cx="9312949" cy="7452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RW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∥</m:t>
                    </m:r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𝑋𝐻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𝑅𝑌𝐾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𝐶𝑌𝑊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𝐺𝑌𝐵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=43°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𝑌𝐵𝐺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=72°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𝐿𝐺𝐻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=(6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𝑡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+11)°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1" y="406699"/>
                <a:ext cx="9312949" cy="745269"/>
              </a:xfrm>
              <a:prstGeom prst="rect">
                <a:avLst/>
              </a:prstGeom>
              <a:blipFill>
                <a:blip r:embed="rId4"/>
                <a:stretch>
                  <a:fillRect l="-654" r="-131" b="-13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C20EB48B-0C2A-FF47-ACB6-866A7F95956C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28010" y="1288528"/>
            <a:ext cx="5336540" cy="340614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49375" y="4694670"/>
            <a:ext cx="77321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/>
            <a:r>
              <a:rPr lang="en-US" sz="2000" dirty="0">
                <a:latin typeface="Verdana" charset="0"/>
                <a:ea typeface="Times New Roman" charset="0"/>
                <a:cs typeface="Times New Roman" charset="0"/>
              </a:rPr>
              <a:t>Find the value of each variable. Show your work.</a:t>
            </a:r>
            <a:endParaRPr lang="en-US" sz="2000" dirty="0">
              <a:latin typeface="Cambria" charset="0"/>
              <a:ea typeface="Times New Roman" charset="0"/>
              <a:cs typeface="Times New Roman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8938346"/>
                  </p:ext>
                </p:extLst>
              </p:nvPr>
            </p:nvGraphicFramePr>
            <p:xfrm>
              <a:off x="-2030250" y="5173860"/>
              <a:ext cx="6286500" cy="144852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62865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482842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𝑡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82842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82842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8938346"/>
                  </p:ext>
                </p:extLst>
              </p:nvPr>
            </p:nvGraphicFramePr>
            <p:xfrm>
              <a:off x="-2030250" y="5173860"/>
              <a:ext cx="6286500" cy="144852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62865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4828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6"/>
                          <a:stretch>
                            <a:fillRect b="-198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828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6"/>
                          <a:stretch>
                            <a:fillRect t="-101266" b="-1012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828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6"/>
                          <a:stretch>
                            <a:fillRect t="-198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558805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922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4930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163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/>
              <p:nvPr/>
            </p:nvSpPr>
            <p:spPr>
              <a:xfrm>
                <a:off x="465232" y="406698"/>
                <a:ext cx="11362974" cy="7472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Harmon Lane,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𝐶𝐻</m:t>
                        </m:r>
                      </m:e>
                    </m:acc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,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crosses the streets Camelot Drive,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𝑀𝑊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University Drive,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 </m:t>
                    </m:r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𝑇𝐺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as shown.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𝑇𝑃𝐷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=55°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𝑀𝐷𝑃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=(5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−16)°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2" y="406698"/>
                <a:ext cx="11362974" cy="747256"/>
              </a:xfrm>
              <a:prstGeom prst="rect">
                <a:avLst/>
              </a:prstGeom>
              <a:blipFill>
                <a:blip r:embed="rId4"/>
                <a:stretch>
                  <a:fillRect l="-590" t="-820" r="-483" b="-13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C20EB48B-0C2A-FF47-ACB6-866A7F95956C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81160" y="1670446"/>
            <a:ext cx="5732780" cy="43690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839164" y="1926752"/>
                <a:ext cx="3088596" cy="10163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Determine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that shows  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𝑀𝑊</m:t>
                        </m:r>
                      </m:e>
                    </m:acc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∥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𝑇𝐺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164" y="1926752"/>
                <a:ext cx="3088596" cy="1016368"/>
              </a:xfrm>
              <a:prstGeom prst="rect">
                <a:avLst/>
              </a:prstGeom>
              <a:blipFill>
                <a:blip r:embed="rId6"/>
                <a:stretch>
                  <a:fillRect l="-2174" t="-2994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95323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163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04476d1465_1_17"/>
          <p:cNvSpPr txBox="1"/>
          <p:nvPr/>
        </p:nvSpPr>
        <p:spPr>
          <a:xfrm>
            <a:off x="8858037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163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6263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34800" y="-82447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3.7.4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6044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93247" y="1386150"/>
            <a:ext cx="1089878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Draw an </a:t>
            </a:r>
            <a:r>
              <a:rPr lang="en-US" sz="2000" b="1" dirty="0">
                <a:latin typeface="Verdana" charset="0"/>
                <a:ea typeface="Verdana" charset="0"/>
                <a:cs typeface="Verdana" charset="0"/>
              </a:rPr>
              <a:t>X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on each line to indicate where your current learning is related to each target.</a:t>
            </a: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 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I can use corresponding angles to determine angle measurements.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I can use alternate interior angles to determine angle measurements.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31AAE36C-5822-464A-8B2B-DAD96F65814D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16466" y="2783714"/>
            <a:ext cx="7937634" cy="115173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4187" y="4642994"/>
            <a:ext cx="7937634" cy="1151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5099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56873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163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770AEB55-C0B0-E249-801E-7B66B61DDE11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40565" y="395550"/>
            <a:ext cx="1095030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I can use alternate exterior angles to determine angle measurements.</a:t>
            </a: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I can use consecutive interior angles to determine angle measurements.</a:t>
            </a: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I can use consecutive exterior angles to determine angle measurements.</a:t>
            </a: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38671" y="860421"/>
            <a:ext cx="7937634" cy="115173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38671" y="2672101"/>
            <a:ext cx="7937634" cy="115173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38671" y="4601237"/>
            <a:ext cx="7937634" cy="1151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39640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1270</TotalTime>
  <Words>981</Words>
  <Application>Microsoft Office PowerPoint</Application>
  <PresentationFormat>Widescreen</PresentationFormat>
  <Paragraphs>179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Arial Black</vt:lpstr>
      <vt:lpstr>Calibri</vt:lpstr>
      <vt:lpstr>Cambria</vt:lpstr>
      <vt:lpstr>Cambria Math</vt:lpstr>
      <vt:lpstr>Century Gothic</vt:lpstr>
      <vt:lpstr>Verdana</vt:lpstr>
      <vt:lpstr>Wingdings</vt:lpstr>
      <vt:lpstr>1_Office Theme</vt:lpstr>
      <vt:lpstr>Geometry  Unit 3, Lesson 7  Solving Problems Using Angle Pair Relationships  Volume 1, pg. 158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Cassie O'Connor</cp:lastModifiedBy>
  <cp:revision>25</cp:revision>
  <dcterms:created xsi:type="dcterms:W3CDTF">2015-03-17T18:51:18Z</dcterms:created>
  <dcterms:modified xsi:type="dcterms:W3CDTF">2022-07-03T04:57:21Z</dcterms:modified>
</cp:coreProperties>
</file>