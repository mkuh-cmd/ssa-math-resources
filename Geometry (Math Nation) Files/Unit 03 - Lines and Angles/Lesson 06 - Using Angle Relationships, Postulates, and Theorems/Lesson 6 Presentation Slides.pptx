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85" r:id="rId4"/>
    <p:sldId id="286" r:id="rId5"/>
    <p:sldId id="261" r:id="rId6"/>
    <p:sldId id="287" r:id="rId7"/>
    <p:sldId id="332" r:id="rId8"/>
    <p:sldId id="333" r:id="rId9"/>
    <p:sldId id="334" r:id="rId10"/>
    <p:sldId id="302" r:id="rId11"/>
    <p:sldId id="303" r:id="rId12"/>
    <p:sldId id="309" r:id="rId13"/>
    <p:sldId id="335" r:id="rId14"/>
    <p:sldId id="306" r:id="rId15"/>
    <p:sldId id="307"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BD1E"/>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021"/>
    <p:restoredTop sz="94695"/>
  </p:normalViewPr>
  <p:slideViewPr>
    <p:cSldViewPr snapToGrid="0">
      <p:cViewPr varScale="1">
        <p:scale>
          <a:sx n="79" d="100"/>
          <a:sy n="79" d="100"/>
        </p:scale>
        <p:origin x="11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57"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34267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4474351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0051155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540458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8547707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70.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8.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5.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3, Lesson 6</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Using Angle Relationships, Postulates, and Theorems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154</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64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424"/>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154</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0324"/>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MA.912.GR.1.1 </a:t>
            </a:r>
          </a:p>
          <a:p>
            <a:pPr marL="458788" indent="0">
              <a:buNone/>
            </a:pPr>
            <a:r>
              <a:rPr lang="en-US" sz="2400" dirty="0">
                <a:latin typeface="Verdana" charset="0"/>
                <a:ea typeface="Verdana" charset="0"/>
                <a:cs typeface="Verdana" charset="0"/>
              </a:rPr>
              <a:t>Prove relationships and theorems about lines and angles. Solve mathematical and real-world problems involving postulates, relationships, and theorems of lines and angles.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199" y="137892"/>
            <a:ext cx="868247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154</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604615"/>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78;g104476d1465_1_17">
            <a:extLst>
              <a:ext uri="{FF2B5EF4-FFF2-40B4-BE49-F238E27FC236}">
                <a16:creationId xmlns:a16="http://schemas.microsoft.com/office/drawing/2014/main" id="{0EC4A24D-AC58-5143-9A1A-1E71E28DFCF5}"/>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31213" y="32808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154</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14000" y="1608425"/>
            <a:ext cx="111141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solve mathematical and real-world problems involving postulates, relationships, and theorems of lines and angles. </a:t>
            </a:r>
          </a:p>
        </p:txBody>
      </p:sp>
      <p:sp>
        <p:nvSpPr>
          <p:cNvPr id="8" name="Google Shape;278;g104476d1465_1_17">
            <a:extLst>
              <a:ext uri="{FF2B5EF4-FFF2-40B4-BE49-F238E27FC236}">
                <a16:creationId xmlns:a16="http://schemas.microsoft.com/office/drawing/2014/main" id="{7BA09A98-EDA0-5343-AD77-8F8E8C4F0E72}"/>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154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1011"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49" y="-72283"/>
            <a:ext cx="981691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3.6.1 Warm-Up: Would You Rather?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05350" y="197609"/>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72785"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154</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593248" y="1386149"/>
                <a:ext cx="10763010"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Two ramps set up to move boxes up to a </a:t>
                </a:r>
                <a14:m>
                  <m:oMath xmlns:m="http://schemas.openxmlformats.org/officeDocument/2006/math">
                    <m:r>
                      <a:rPr lang="en-US" sz="2000" i="1">
                        <a:latin typeface="Cambria Math" charset="0"/>
                        <a:ea typeface="Verdana" charset="0"/>
                        <a:cs typeface="Verdana" charset="0"/>
                      </a:rPr>
                      <m:t>4</m:t>
                    </m:r>
                  </m:oMath>
                </a14:m>
                <a:r>
                  <a:rPr lang="en-US" sz="2000" dirty="0">
                    <a:latin typeface="Verdana" charset="0"/>
                    <a:ea typeface="Verdana" charset="0"/>
                    <a:cs typeface="Verdana" charset="0"/>
                  </a:rPr>
                  <a:t> foot (</a:t>
                </a:r>
                <a:r>
                  <a:rPr lang="en-US" sz="2000" dirty="0" err="1">
                    <a:latin typeface="Verdana" charset="0"/>
                    <a:ea typeface="Verdana" charset="0"/>
                    <a:cs typeface="Verdana" charset="0"/>
                  </a:rPr>
                  <a:t>ft</a:t>
                </a:r>
                <a:r>
                  <a:rPr lang="en-US" sz="2000" dirty="0">
                    <a:latin typeface="Verdana" charset="0"/>
                    <a:ea typeface="Verdana" charset="0"/>
                    <a:cs typeface="Verdana" charset="0"/>
                  </a:rPr>
                  <a:t>) high platform are shown.</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593248" y="1386149"/>
                <a:ext cx="10763010" cy="400110"/>
              </a:xfrm>
              <a:prstGeom prst="rect">
                <a:avLst/>
              </a:prstGeom>
              <a:blipFill>
                <a:blip r:embed="rId5"/>
                <a:stretch>
                  <a:fillRect l="-623" t="-9091" b="-27273"/>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C2564F7E-689E-724F-BBC4-EC8DFC52E66C}"/>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945800" y="2260724"/>
            <a:ext cx="7366000" cy="2324100"/>
          </a:xfrm>
          <a:prstGeom prst="rect">
            <a:avLst/>
          </a:prstGeom>
        </p:spPr>
      </p:pic>
      <mc:AlternateContent xmlns:mc="http://schemas.openxmlformats.org/markup-compatibility/2006" xmlns:a14="http://schemas.microsoft.com/office/drawing/2010/main">
        <mc:Choice Requires="a14">
          <p:sp>
            <p:nvSpPr>
              <p:cNvPr id="4" name="Rectangle 3"/>
              <p:cNvSpPr/>
              <p:nvPr/>
            </p:nvSpPr>
            <p:spPr>
              <a:xfrm>
                <a:off x="1052649" y="4721093"/>
                <a:ext cx="9949647" cy="1015663"/>
              </a:xfrm>
              <a:prstGeom prst="rect">
                <a:avLst/>
              </a:prstGeom>
            </p:spPr>
            <p:txBody>
              <a:bodyPr wrap="square">
                <a:spAutoFit/>
              </a:bodyPr>
              <a:lstStyle/>
              <a:p>
                <a:pPr marL="458788" indent="-458788">
                  <a:buFont typeface="+mj-lt"/>
                  <a:buAutoNum type="alphaLcPeriod"/>
                </a:pPr>
                <a:r>
                  <a:rPr lang="en-US" sz="2000" dirty="0">
                    <a:latin typeface="Verdana" charset="0"/>
                    <a:ea typeface="Verdana" charset="0"/>
                    <a:cs typeface="Verdana" charset="0"/>
                  </a:rPr>
                  <a:t>Would you rather push a </a:t>
                </a:r>
                <a14:m>
                  <m:oMath xmlns:m="http://schemas.openxmlformats.org/officeDocument/2006/math">
                    <m:r>
                      <a:rPr lang="en-US" sz="2000" i="1">
                        <a:latin typeface="Cambria Math" charset="0"/>
                        <a:ea typeface="Verdana" charset="0"/>
                        <a:cs typeface="Verdana" charset="0"/>
                      </a:rPr>
                      <m:t>50</m:t>
                    </m:r>
                  </m:oMath>
                </a14:m>
                <a:r>
                  <a:rPr lang="en-US" sz="2000" dirty="0">
                    <a:latin typeface="Verdana" charset="0"/>
                    <a:ea typeface="Verdana" charset="0"/>
                    <a:cs typeface="Verdana" charset="0"/>
                  </a:rPr>
                  <a:t> pound (</a:t>
                </a:r>
                <a:r>
                  <a:rPr lang="en-US" sz="2000" dirty="0" err="1">
                    <a:latin typeface="Verdana" charset="0"/>
                    <a:ea typeface="Verdana" charset="0"/>
                    <a:cs typeface="Verdana" charset="0"/>
                  </a:rPr>
                  <a:t>lb</a:t>
                </a:r>
                <a:r>
                  <a:rPr lang="en-US" sz="2000" dirty="0">
                    <a:latin typeface="Verdana" charset="0"/>
                    <a:ea typeface="Verdana" charset="0"/>
                    <a:cs typeface="Verdana" charset="0"/>
                  </a:rPr>
                  <a:t>) box up Ramp A or Ramp B? </a:t>
                </a:r>
              </a:p>
              <a:p>
                <a:pPr marL="458788" indent="-458788">
                  <a:buFont typeface="+mj-lt"/>
                  <a:buAutoNum type="alphaLcPeriod"/>
                </a:pPr>
                <a:endParaRPr lang="en-US" sz="2000" dirty="0">
                  <a:latin typeface="Verdana" charset="0"/>
                  <a:ea typeface="Verdana" charset="0"/>
                  <a:cs typeface="Verdana" charset="0"/>
                </a:endParaRPr>
              </a:p>
              <a:p>
                <a:pPr marL="458788" indent="-458788">
                  <a:buFont typeface="+mj-lt"/>
                  <a:buAutoNum type="alphaLcPeriod"/>
                </a:pPr>
                <a:r>
                  <a:rPr lang="en-US" sz="2000" dirty="0">
                    <a:latin typeface="Verdana" charset="0"/>
                    <a:ea typeface="Verdana" charset="0"/>
                    <a:cs typeface="Verdana" charset="0"/>
                  </a:rPr>
                  <a:t>Justify your choice.</a:t>
                </a:r>
              </a:p>
            </p:txBody>
          </p:sp>
        </mc:Choice>
        <mc:Fallback xmlns="">
          <p:sp>
            <p:nvSpPr>
              <p:cNvPr id="4" name="Rectangle 3"/>
              <p:cNvSpPr>
                <a:spLocks noRot="1" noChangeAspect="1" noMove="1" noResize="1" noEditPoints="1" noAdjustHandles="1" noChangeArrowheads="1" noChangeShapeType="1" noTextEdit="1"/>
              </p:cNvSpPr>
              <p:nvPr/>
            </p:nvSpPr>
            <p:spPr>
              <a:xfrm>
                <a:off x="1052649" y="4721093"/>
                <a:ext cx="9949647" cy="1015663"/>
              </a:xfrm>
              <a:prstGeom prst="rect">
                <a:avLst/>
              </a:prstGeom>
              <a:blipFill>
                <a:blip r:embed="rId7"/>
                <a:stretch>
                  <a:fillRect l="-674" t="-3593" b="-10180"/>
                </a:stretch>
              </a:blipFill>
            </p:spPr>
            <p:txBody>
              <a:bodyPr/>
              <a:lstStyle/>
              <a:p>
                <a:r>
                  <a:rPr lang="en-US">
                    <a:noFill/>
                  </a:rPr>
                  <a:t> </a:t>
                </a:r>
              </a:p>
            </p:txBody>
          </p:sp>
        </mc:Fallback>
      </mc:AlternateContent>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155</a:t>
            </a: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5016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49" y="68550"/>
            <a:ext cx="1003813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3.6.2 Activity: Solving Using Angle Relationships, Postulates, and Theorems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155</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35649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3547ABD-563B-A148-B65C-C7679A7B43D4}"/>
                  </a:ext>
                </a:extLst>
              </p:cNvPr>
              <p:cNvSpPr txBox="1"/>
              <p:nvPr/>
            </p:nvSpPr>
            <p:spPr>
              <a:xfrm>
                <a:off x="593248" y="1440745"/>
                <a:ext cx="10930676" cy="1015663"/>
              </a:xfrm>
              <a:prstGeom prst="rect">
                <a:avLst/>
              </a:prstGeom>
              <a:noFill/>
            </p:spPr>
            <p:txBody>
              <a:bodyPr wrap="square" rtlCol="0">
                <a:spAutoFit/>
              </a:bodyPr>
              <a:lstStyle/>
              <a:p>
                <a:r>
                  <a:rPr lang="en-US" sz="2000" dirty="0">
                    <a:latin typeface="Verdana" charset="0"/>
                    <a:ea typeface="Verdana" charset="0"/>
                    <a:cs typeface="Verdana" charset="0"/>
                  </a:rPr>
                  <a:t>With your partner, sort the cards to match each image with the type of angle pair represented and the value of </a:t>
                </a:r>
                <a14:m>
                  <m:oMath xmlns:m="http://schemas.openxmlformats.org/officeDocument/2006/math">
                    <m:r>
                      <a:rPr lang="en-US" sz="2000" i="1">
                        <a:latin typeface="Cambria Math" charset="0"/>
                        <a:ea typeface="Verdana" charset="0"/>
                        <a:cs typeface="Verdana" charset="0"/>
                      </a:rPr>
                      <m:t>𝑥</m:t>
                    </m:r>
                  </m:oMath>
                </a14:m>
                <a:r>
                  <a:rPr lang="en-US" sz="2000" dirty="0">
                    <a:latin typeface="Verdana" charset="0"/>
                    <a:ea typeface="Verdana" charset="0"/>
                    <a:cs typeface="Verdana" charset="0"/>
                  </a:rPr>
                  <a:t>. Record your answers in the table, showing your work in the last column.</a:t>
                </a:r>
              </a:p>
            </p:txBody>
          </p:sp>
        </mc:Choice>
        <mc:Fallback xmlns="">
          <p:sp>
            <p:nvSpPr>
              <p:cNvPr id="10" name="TextBox 9">
                <a:extLst>
                  <a:ext uri="{FF2B5EF4-FFF2-40B4-BE49-F238E27FC236}">
                    <a16:creationId xmlns:a16="http://schemas.microsoft.com/office/drawing/2014/main" id="{A3547ABD-563B-A148-B65C-C7679A7B43D4}"/>
                  </a:ext>
                </a:extLst>
              </p:cNvPr>
              <p:cNvSpPr txBox="1">
                <a:spLocks noRot="1" noChangeAspect="1" noMove="1" noResize="1" noEditPoints="1" noAdjustHandles="1" noChangeArrowheads="1" noChangeShapeType="1" noTextEdit="1"/>
              </p:cNvSpPr>
              <p:nvPr/>
            </p:nvSpPr>
            <p:spPr>
              <a:xfrm>
                <a:off x="593248" y="1440745"/>
                <a:ext cx="10930676" cy="1015663"/>
              </a:xfrm>
              <a:prstGeom prst="rect">
                <a:avLst/>
              </a:prstGeom>
              <a:blipFill>
                <a:blip r:embed="rId5"/>
                <a:stretch>
                  <a:fillRect l="-558" t="-2994" b="-9581"/>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52361296-D9C8-B349-AAC1-3DD5FF74197C}"/>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1138502764"/>
              </p:ext>
            </p:extLst>
          </p:nvPr>
        </p:nvGraphicFramePr>
        <p:xfrm>
          <a:off x="1052649" y="2502903"/>
          <a:ext cx="8189098" cy="3368070"/>
        </p:xfrm>
        <a:graphic>
          <a:graphicData uri="http://schemas.openxmlformats.org/drawingml/2006/table">
            <a:tbl>
              <a:tblPr bandRow="1"/>
              <a:tblGrid>
                <a:gridCol w="2729444">
                  <a:extLst>
                    <a:ext uri="{9D8B030D-6E8A-4147-A177-3AD203B41FA5}">
                      <a16:colId xmlns:a16="http://schemas.microsoft.com/office/drawing/2014/main" val="20000"/>
                    </a:ext>
                  </a:extLst>
                </a:gridCol>
                <a:gridCol w="1706763">
                  <a:extLst>
                    <a:ext uri="{9D8B030D-6E8A-4147-A177-3AD203B41FA5}">
                      <a16:colId xmlns:a16="http://schemas.microsoft.com/office/drawing/2014/main" val="20001"/>
                    </a:ext>
                  </a:extLst>
                </a:gridCol>
                <a:gridCol w="3752891">
                  <a:extLst>
                    <a:ext uri="{9D8B030D-6E8A-4147-A177-3AD203B41FA5}">
                      <a16:colId xmlns:a16="http://schemas.microsoft.com/office/drawing/2014/main" val="20002"/>
                    </a:ext>
                  </a:extLst>
                </a:gridCol>
              </a:tblGrid>
              <a:tr h="545365">
                <a:tc>
                  <a:txBody>
                    <a:bodyPr/>
                    <a:lstStyle/>
                    <a:p>
                      <a:pPr marL="0" marR="0" algn="ctr">
                        <a:spcBef>
                          <a:spcPts val="0"/>
                        </a:spcBef>
                        <a:spcAft>
                          <a:spcPts val="1000"/>
                        </a:spcAft>
                      </a:pPr>
                      <a:r>
                        <a:rPr lang="en-US" sz="2000" b="1">
                          <a:solidFill>
                            <a:srgbClr val="000000"/>
                          </a:solidFill>
                          <a:effectLst/>
                          <a:latin typeface="Verdana" charset="0"/>
                          <a:ea typeface="Verdana" charset="0"/>
                          <a:cs typeface="Verdana" charset="0"/>
                        </a:rPr>
                        <a:t>Type of Angle Pair</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charset="0"/>
                          <a:ea typeface="Verdana" charset="0"/>
                          <a:cs typeface="Verdana" charset="0"/>
                        </a:rPr>
                        <a:t>Letter of Image</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dirty="0">
                          <a:solidFill>
                            <a:srgbClr val="000000"/>
                          </a:solidFill>
                          <a:effectLst/>
                          <a:latin typeface="Verdana" charset="0"/>
                          <a:ea typeface="Verdana" charset="0"/>
                          <a:cs typeface="Verdana" charset="0"/>
                        </a:rPr>
                        <a:t>Work and Answer</a:t>
                      </a:r>
                      <a:endParaRPr lang="en-US" sz="2000" dirty="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919490">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19490">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dirty="0">
                          <a:solidFill>
                            <a:srgbClr val="000000"/>
                          </a:solidFill>
                          <a:effectLst/>
                          <a:latin typeface="Verdana" charset="0"/>
                          <a:ea typeface="Verdana" charset="0"/>
                          <a:cs typeface="Verdana" charset="0"/>
                        </a:rPr>
                        <a:t> </a:t>
                      </a:r>
                      <a:endParaRPr lang="en-US" sz="2000" dirty="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19490">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dirty="0">
                          <a:solidFill>
                            <a:srgbClr val="000000"/>
                          </a:solidFill>
                          <a:effectLst/>
                          <a:latin typeface="Verdana" charset="0"/>
                          <a:ea typeface="Verdana" charset="0"/>
                          <a:cs typeface="Verdana" charset="0"/>
                        </a:rPr>
                        <a:t> </a:t>
                      </a:r>
                      <a:endParaRPr lang="en-US" sz="2000" dirty="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6540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155</a:t>
            </a:r>
          </a:p>
        </p:txBody>
      </p:sp>
      <p:sp>
        <p:nvSpPr>
          <p:cNvPr id="6" name="Google Shape;278;g104476d1465_1_17">
            <a:extLst>
              <a:ext uri="{FF2B5EF4-FFF2-40B4-BE49-F238E27FC236}">
                <a16:creationId xmlns:a16="http://schemas.microsoft.com/office/drawing/2014/main" id="{44C210D6-0F1D-3545-B73D-9B9FC6EA0352}"/>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7" name="Table 6"/>
          <p:cNvGraphicFramePr>
            <a:graphicFrameLocks noGrp="1"/>
          </p:cNvGraphicFramePr>
          <p:nvPr>
            <p:extLst>
              <p:ext uri="{D42A27DB-BD31-4B8C-83A1-F6EECF244321}">
                <p14:modId xmlns:p14="http://schemas.microsoft.com/office/powerpoint/2010/main" val="3614986265"/>
              </p:ext>
            </p:extLst>
          </p:nvPr>
        </p:nvGraphicFramePr>
        <p:xfrm>
          <a:off x="593248" y="480571"/>
          <a:ext cx="8189098" cy="5579391"/>
        </p:xfrm>
        <a:graphic>
          <a:graphicData uri="http://schemas.openxmlformats.org/drawingml/2006/table">
            <a:tbl>
              <a:tblPr bandRow="1"/>
              <a:tblGrid>
                <a:gridCol w="2729444">
                  <a:extLst>
                    <a:ext uri="{9D8B030D-6E8A-4147-A177-3AD203B41FA5}">
                      <a16:colId xmlns:a16="http://schemas.microsoft.com/office/drawing/2014/main" val="20000"/>
                    </a:ext>
                  </a:extLst>
                </a:gridCol>
                <a:gridCol w="1706763">
                  <a:extLst>
                    <a:ext uri="{9D8B030D-6E8A-4147-A177-3AD203B41FA5}">
                      <a16:colId xmlns:a16="http://schemas.microsoft.com/office/drawing/2014/main" val="20001"/>
                    </a:ext>
                  </a:extLst>
                </a:gridCol>
                <a:gridCol w="3752891">
                  <a:extLst>
                    <a:ext uri="{9D8B030D-6E8A-4147-A177-3AD203B41FA5}">
                      <a16:colId xmlns:a16="http://schemas.microsoft.com/office/drawing/2014/main" val="20002"/>
                    </a:ext>
                  </a:extLst>
                </a:gridCol>
              </a:tblGrid>
              <a:tr h="793271">
                <a:tc>
                  <a:txBody>
                    <a:bodyPr/>
                    <a:lstStyle/>
                    <a:p>
                      <a:pPr marL="0" marR="0" algn="ctr">
                        <a:spcBef>
                          <a:spcPts val="0"/>
                        </a:spcBef>
                        <a:spcAft>
                          <a:spcPts val="1000"/>
                        </a:spcAft>
                      </a:pPr>
                      <a:r>
                        <a:rPr lang="en-US" sz="2000" b="1">
                          <a:solidFill>
                            <a:srgbClr val="000000"/>
                          </a:solidFill>
                          <a:effectLst/>
                          <a:latin typeface="Verdana" charset="0"/>
                          <a:ea typeface="Verdana" charset="0"/>
                          <a:cs typeface="Verdana" charset="0"/>
                        </a:rPr>
                        <a:t>Type of Angle Pair</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charset="0"/>
                          <a:ea typeface="Verdana" charset="0"/>
                          <a:cs typeface="Verdana" charset="0"/>
                        </a:rPr>
                        <a:t>Letter of Image</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charset="0"/>
                          <a:ea typeface="Verdana" charset="0"/>
                          <a:cs typeface="Verdana" charset="0"/>
                        </a:rPr>
                        <a:t>Work and Answer</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196530">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96530">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dirty="0">
                          <a:solidFill>
                            <a:srgbClr val="000000"/>
                          </a:solidFill>
                          <a:effectLst/>
                          <a:latin typeface="Verdana" charset="0"/>
                          <a:ea typeface="Verdana" charset="0"/>
                          <a:cs typeface="Verdana" charset="0"/>
                        </a:rPr>
                        <a:t> </a:t>
                      </a:r>
                      <a:endParaRPr lang="en-US" sz="2000" dirty="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dirty="0">
                          <a:solidFill>
                            <a:srgbClr val="000000"/>
                          </a:solidFill>
                          <a:effectLst/>
                          <a:latin typeface="Verdana" charset="0"/>
                          <a:ea typeface="Verdana" charset="0"/>
                          <a:cs typeface="Verdana" charset="0"/>
                        </a:rPr>
                        <a:t> </a:t>
                      </a:r>
                      <a:endParaRPr lang="en-US" sz="2000" dirty="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96530">
                <a:tc>
                  <a:txBody>
                    <a:bodyPr/>
                    <a:lstStyle/>
                    <a:p>
                      <a:pPr marL="0" marR="0" algn="ctr">
                        <a:spcBef>
                          <a:spcPts val="0"/>
                        </a:spcBef>
                        <a:spcAft>
                          <a:spcPts val="1000"/>
                        </a:spcAft>
                      </a:pP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endParaRPr lang="en-US" sz="2000" dirty="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196530">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dirty="0">
                          <a:solidFill>
                            <a:srgbClr val="000000"/>
                          </a:solidFill>
                          <a:effectLst/>
                          <a:latin typeface="Verdana" charset="0"/>
                          <a:ea typeface="Verdana" charset="0"/>
                          <a:cs typeface="Verdana" charset="0"/>
                        </a:rPr>
                        <a:t> </a:t>
                      </a:r>
                      <a:endParaRPr lang="en-US" sz="2000" dirty="0">
                        <a:effectLst/>
                        <a:latin typeface="Cambria" charset="0"/>
                        <a:ea typeface="Times New Roman" charset="0"/>
                        <a:cs typeface="Cambria" charset="0"/>
                      </a:endParaRPr>
                    </a:p>
                  </a:txBody>
                  <a:tcPr marL="36295" marR="362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5370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156</a:t>
            </a:r>
          </a:p>
        </p:txBody>
      </p:sp>
    </p:spTree>
    <p:extLst>
      <p:ext uri="{BB962C8B-B14F-4D97-AF65-F5344CB8AC3E}">
        <p14:creationId xmlns:p14="http://schemas.microsoft.com/office/powerpoint/2010/main" val="1790839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918350" y="815850"/>
            <a:ext cx="4551844" cy="4592007"/>
          </a:xfrm>
          <a:prstGeom prst="rect">
            <a:avLst/>
          </a:prstGeom>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19515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052650" y="68550"/>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3.6.3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5">
            <a:alphaModFix/>
          </a:blip>
          <a:srcRect/>
          <a:stretch/>
        </p:blipFill>
        <p:spPr>
          <a:xfrm>
            <a:off x="305350" y="68550"/>
            <a:ext cx="747300" cy="747300"/>
          </a:xfrm>
          <a:prstGeom prst="rect">
            <a:avLst/>
          </a:prstGeom>
          <a:noFill/>
          <a:ln>
            <a:noFill/>
          </a:ln>
        </p:spPr>
      </p:pic>
      <p:sp>
        <p:nvSpPr>
          <p:cNvPr id="11" name="Google Shape;282;g104476d1465_1_17">
            <a:extLst>
              <a:ext uri="{FF2B5EF4-FFF2-40B4-BE49-F238E27FC236}">
                <a16:creationId xmlns:a16="http://schemas.microsoft.com/office/drawing/2014/main" id="{F9486181-07A1-C74B-A129-E8949F43C159}"/>
              </a:ext>
            </a:extLst>
          </p:cNvPr>
          <p:cNvSpPr txBox="1"/>
          <p:nvPr/>
        </p:nvSpPr>
        <p:spPr>
          <a:xfrm>
            <a:off x="8836194"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156</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593249" y="1394250"/>
                <a:ext cx="6500725" cy="439479"/>
              </a:xfrm>
              <a:prstGeom prst="rect">
                <a:avLst/>
              </a:prstGeom>
              <a:noFill/>
            </p:spPr>
            <p:txBody>
              <a:bodyPr wrap="square" rtlCol="0">
                <a:spAutoFit/>
              </a:bodyPr>
              <a:lstStyle/>
              <a:p>
                <a:pPr marL="457200" indent="-457200">
                  <a:buFont typeface="+mj-lt"/>
                  <a:buAutoNum type="arabicPeriod"/>
                </a:pP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𝑃𝑄</m:t>
                        </m:r>
                      </m:e>
                    </m:acc>
                    <m:r>
                      <a:rPr lang="en-US" sz="2000" i="1">
                        <a:latin typeface="Cambria Math" panose="02040503050406030204" pitchFamily="18" charset="0"/>
                        <a:ea typeface="Verdana" charset="0"/>
                        <a:cs typeface="Verdana" charset="0"/>
                      </a:rPr>
                      <m:t> ∥ </m:t>
                    </m:r>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𝑅𝑆</m:t>
                        </m:r>
                      </m:e>
                    </m:acc>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where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𝐴𝐷</m:t>
                        </m:r>
                      </m:e>
                    </m:acc>
                  </m:oMath>
                </a14:m>
                <a:r>
                  <a:rPr lang="en-US" sz="2000" dirty="0">
                    <a:latin typeface="Verdana" charset="0"/>
                    <a:ea typeface="Verdana" charset="0"/>
                    <a:cs typeface="Verdana" charset="0"/>
                  </a:rPr>
                  <a:t> is a transversal.</a:t>
                </a: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593249" y="1394250"/>
                <a:ext cx="6500725" cy="439479"/>
              </a:xfrm>
              <a:prstGeom prst="rect">
                <a:avLst/>
              </a:prstGeom>
              <a:blipFill>
                <a:blip r:embed="rId6"/>
                <a:stretch>
                  <a:fillRect l="-937" b="-23611"/>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B65A09A0-1E94-F34F-9AC7-848B14CF3F5C}"/>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3" name="Rectangle 2"/>
              <p:cNvSpPr/>
              <p:nvPr/>
            </p:nvSpPr>
            <p:spPr>
              <a:xfrm>
                <a:off x="1052650" y="2267897"/>
                <a:ext cx="4572000" cy="2862322"/>
              </a:xfrm>
              <a:prstGeom prst="rect">
                <a:avLst/>
              </a:prstGeom>
            </p:spPr>
            <p:txBody>
              <a:bodyPr>
                <a:spAutoFit/>
              </a:bodyPr>
              <a:lstStyle/>
              <a:p>
                <a:pPr marL="458788" indent="-444500">
                  <a:buFont typeface="+mj-lt"/>
                  <a:buAutoNum type="alphaLcPeriod"/>
                </a:pPr>
                <a:r>
                  <a:rPr lang="en-US" sz="2000" dirty="0">
                    <a:latin typeface="Verdana" charset="0"/>
                    <a:ea typeface="Verdana" charset="0"/>
                    <a:cs typeface="Verdana" charset="0"/>
                  </a:rPr>
                  <a:t>Determine the value of </a:t>
                </a:r>
                <a14:m>
                  <m:oMath xmlns:m="http://schemas.openxmlformats.org/officeDocument/2006/math">
                    <m:r>
                      <a:rPr lang="en-US" sz="2000" i="1">
                        <a:latin typeface="Cambria Math" panose="02040503050406030204" pitchFamily="18" charset="0"/>
                        <a:ea typeface="Verdana" charset="0"/>
                        <a:cs typeface="Verdana" charset="0"/>
                      </a:rPr>
                      <m:t>𝑎</m:t>
                    </m:r>
                  </m:oMath>
                </a14:m>
                <a:r>
                  <a:rPr lang="en-US" sz="2000" dirty="0">
                    <a:latin typeface="Verdana" charset="0"/>
                    <a:ea typeface="Verdana" charset="0"/>
                    <a:cs typeface="Verdana" charset="0"/>
                  </a:rPr>
                  <a:t>. </a:t>
                </a:r>
              </a:p>
              <a:p>
                <a:pPr marL="458788" indent="-444500">
                  <a:buFont typeface="+mj-lt"/>
                  <a:buAutoNum type="alphaLcPeriod"/>
                </a:pPr>
                <a:endParaRPr lang="en-US" sz="2000" dirty="0">
                  <a:latin typeface="Verdana" charset="0"/>
                  <a:ea typeface="Verdana" charset="0"/>
                  <a:cs typeface="Verdana" charset="0"/>
                </a:endParaRPr>
              </a:p>
              <a:p>
                <a:pPr marL="458788" indent="-444500">
                  <a:buFont typeface="+mj-lt"/>
                  <a:buAutoNum type="alphaLcPeriod"/>
                </a:pPr>
                <a:endParaRPr lang="en-US" sz="2000" dirty="0">
                  <a:latin typeface="Verdana" charset="0"/>
                  <a:ea typeface="Verdana" charset="0"/>
                  <a:cs typeface="Verdana" charset="0"/>
                </a:endParaRPr>
              </a:p>
              <a:p>
                <a:pPr marL="458788" indent="-444500">
                  <a:buFont typeface="+mj-lt"/>
                  <a:buAutoNum type="alphaLcPeriod"/>
                </a:pPr>
                <a:endParaRPr lang="en-US" sz="2000" dirty="0">
                  <a:latin typeface="Verdana" charset="0"/>
                  <a:ea typeface="Verdana" charset="0"/>
                  <a:cs typeface="Verdana" charset="0"/>
                </a:endParaRPr>
              </a:p>
              <a:p>
                <a:pPr marL="458788" indent="-444500">
                  <a:buFont typeface="+mj-lt"/>
                  <a:buAutoNum type="alphaLcPeriod"/>
                </a:pPr>
                <a:r>
                  <a:rPr lang="en-US" sz="2000" dirty="0">
                    <a:latin typeface="Verdana" charset="0"/>
                    <a:ea typeface="Verdana" charset="0"/>
                    <a:cs typeface="Verdana" charset="0"/>
                  </a:rPr>
                  <a:t>What is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𝐴𝐵𝑄</m:t>
                    </m:r>
                  </m:oMath>
                </a14:m>
                <a:r>
                  <a:rPr lang="en-US" sz="2000" dirty="0">
                    <a:latin typeface="Verdana" charset="0"/>
                    <a:ea typeface="Verdana" charset="0"/>
                    <a:cs typeface="Verdana" charset="0"/>
                  </a:rPr>
                  <a:t>?	</a:t>
                </a:r>
              </a:p>
              <a:p>
                <a:pPr marL="458788" indent="-444500">
                  <a:buFont typeface="+mj-lt"/>
                  <a:buAutoNum type="alphaLcPeriod"/>
                </a:pPr>
                <a:endParaRPr lang="en-US" sz="2000" dirty="0">
                  <a:latin typeface="Verdana" charset="0"/>
                  <a:ea typeface="Verdana" charset="0"/>
                  <a:cs typeface="Verdana" charset="0"/>
                </a:endParaRPr>
              </a:p>
              <a:p>
                <a:pPr marL="458788" indent="-444500">
                  <a:buFont typeface="+mj-lt"/>
                  <a:buAutoNum type="alphaLcPeriod"/>
                </a:pPr>
                <a:endParaRPr lang="en-US" sz="2000" dirty="0">
                  <a:latin typeface="Verdana" charset="0"/>
                  <a:ea typeface="Verdana" charset="0"/>
                  <a:cs typeface="Verdana" charset="0"/>
                </a:endParaRPr>
              </a:p>
              <a:p>
                <a:pPr marL="458788" indent="-444500">
                  <a:buFont typeface="+mj-lt"/>
                  <a:buAutoNum type="alphaLcPeriod"/>
                </a:pPr>
                <a:endParaRPr lang="en-US" sz="2000" dirty="0">
                  <a:latin typeface="Verdana" charset="0"/>
                  <a:ea typeface="Verdana" charset="0"/>
                  <a:cs typeface="Verdana" charset="0"/>
                </a:endParaRPr>
              </a:p>
              <a:p>
                <a:pPr marL="458788" indent="-444500">
                  <a:buFont typeface="+mj-lt"/>
                  <a:buAutoNum type="alphaLcPeriod"/>
                </a:pPr>
                <a:r>
                  <a:rPr lang="en-US" sz="2000" dirty="0">
                    <a:latin typeface="Verdana" charset="0"/>
                    <a:ea typeface="Verdana" charset="0"/>
                    <a:cs typeface="Verdana" charset="0"/>
                  </a:rPr>
                  <a:t>What is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𝐵𝐶𝑅</m:t>
                    </m:r>
                  </m:oMath>
                </a14:m>
                <a:r>
                  <a:rPr lang="en-US" sz="2000" dirty="0">
                    <a:latin typeface="Verdana" charset="0"/>
                    <a:ea typeface="Verdana" charset="0"/>
                    <a:cs typeface="Verdana" charset="0"/>
                  </a:rPr>
                  <a:t>?</a:t>
                </a:r>
              </a:p>
            </p:txBody>
          </p:sp>
        </mc:Choice>
        <mc:Fallback xmlns="">
          <p:sp>
            <p:nvSpPr>
              <p:cNvPr id="3" name="Rectangle 2"/>
              <p:cNvSpPr>
                <a:spLocks noRot="1" noChangeAspect="1" noMove="1" noResize="1" noEditPoints="1" noAdjustHandles="1" noChangeArrowheads="1" noChangeShapeType="1" noTextEdit="1"/>
              </p:cNvSpPr>
              <p:nvPr/>
            </p:nvSpPr>
            <p:spPr>
              <a:xfrm>
                <a:off x="1052650" y="2267897"/>
                <a:ext cx="4572000" cy="2862322"/>
              </a:xfrm>
              <a:prstGeom prst="rect">
                <a:avLst/>
              </a:prstGeom>
              <a:blipFill>
                <a:blip r:embed="rId7"/>
                <a:stretch>
                  <a:fillRect l="-1200" t="-1489" b="-2979"/>
                </a:stretch>
              </a:blipFill>
            </p:spPr>
            <p:txBody>
              <a:bodyPr/>
              <a:lstStyle/>
              <a:p>
                <a:r>
                  <a:rPr lang="en-US">
                    <a:noFill/>
                  </a:rPr>
                  <a:t> </a:t>
                </a:r>
              </a:p>
            </p:txBody>
          </p:sp>
        </mc:Fallback>
      </mc:AlternateContent>
    </p:spTree>
    <p:extLst>
      <p:ext uri="{BB962C8B-B14F-4D97-AF65-F5344CB8AC3E}">
        <p14:creationId xmlns:p14="http://schemas.microsoft.com/office/powerpoint/2010/main" val="3101299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951924" y="948449"/>
            <a:ext cx="4572000" cy="4953000"/>
          </a:xfrm>
          <a:prstGeom prst="rect">
            <a:avLst/>
          </a:prstGeom>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156</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465232" y="398597"/>
                <a:ext cx="8327136" cy="5056128"/>
              </a:xfrm>
              <a:prstGeom prst="rect">
                <a:avLst/>
              </a:prstGeom>
              <a:noFill/>
            </p:spPr>
            <p:txBody>
              <a:bodyPr wrap="square" rtlCol="0">
                <a:spAutoFit/>
              </a:bodyPr>
              <a:lstStyle/>
              <a:p>
                <a:pPr marL="457200" indent="-457200">
                  <a:buFont typeface="+mj-lt"/>
                  <a:buAutoNum type="arabicPeriod" startAt="2"/>
                </a:pP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𝐹𝐺</m:t>
                        </m:r>
                      </m:e>
                    </m:acc>
                    <m:r>
                      <a:rPr lang="en-US" sz="2000" i="1">
                        <a:latin typeface="Cambria Math" panose="02040503050406030204" pitchFamily="18" charset="0"/>
                        <a:ea typeface="Verdana" charset="0"/>
                        <a:cs typeface="Verdana" charset="0"/>
                      </a:rPr>
                      <m:t> ∥ </m:t>
                    </m:r>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𝐽𝐾</m:t>
                        </m:r>
                      </m:e>
                    </m:acc>
                  </m:oMath>
                </a14:m>
                <a:r>
                  <a:rPr lang="en-US" sz="2000" dirty="0">
                    <a:latin typeface="Verdana" charset="0"/>
                    <a:ea typeface="Verdana" charset="0"/>
                    <a:cs typeface="Verdana" charset="0"/>
                  </a:rPr>
                  <a:t> where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𝑀𝑈</m:t>
                        </m:r>
                      </m:e>
                    </m:acc>
                  </m:oMath>
                </a14:m>
                <a:r>
                  <a:rPr lang="en-US" sz="2000" dirty="0">
                    <a:latin typeface="Verdana" charset="0"/>
                    <a:ea typeface="Verdana" charset="0"/>
                    <a:cs typeface="Verdana" charset="0"/>
                  </a:rPr>
                  <a:t> is a transversal.</a:t>
                </a:r>
              </a:p>
              <a:p>
                <a:pPr marL="457200" indent="-457200">
                  <a:buFont typeface="+mj-lt"/>
                  <a:buAutoNum type="arabicPeriod" startAt="2"/>
                </a:pPr>
                <a:endParaRPr lang="en-US" sz="2000" dirty="0">
                  <a:latin typeface="Verdana" charset="0"/>
                  <a:ea typeface="Verdana" charset="0"/>
                  <a:cs typeface="Verdana" charset="0"/>
                </a:endParaRPr>
              </a:p>
              <a:p>
                <a:pPr marL="917575" indent="-444500">
                  <a:buFont typeface="+mj-lt"/>
                  <a:buAutoNum type="alphaLcPeriod"/>
                </a:pPr>
                <a:r>
                  <a:rPr lang="en-US" sz="2000" dirty="0">
                    <a:latin typeface="Verdana" charset="0"/>
                    <a:ea typeface="Verdana" charset="0"/>
                    <a:cs typeface="Verdana" charset="0"/>
                  </a:rPr>
                  <a:t>Determine the value of </a:t>
                </a:r>
                <a14:m>
                  <m:oMath xmlns:m="http://schemas.openxmlformats.org/officeDocument/2006/math">
                    <m:r>
                      <a:rPr lang="en-US" sz="2000" i="1">
                        <a:latin typeface="Cambria Math" panose="02040503050406030204" pitchFamily="18" charset="0"/>
                        <a:ea typeface="Verdana" charset="0"/>
                        <a:cs typeface="Verdana" charset="0"/>
                      </a:rPr>
                      <m:t>𝑎</m:t>
                    </m:r>
                  </m:oMath>
                </a14:m>
                <a:r>
                  <a:rPr lang="en-US" sz="2000" dirty="0">
                    <a:latin typeface="Verdana" charset="0"/>
                    <a:ea typeface="Verdana" charset="0"/>
                    <a:cs typeface="Verdana" charset="0"/>
                  </a:rPr>
                  <a:t>.</a:t>
                </a: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r>
                  <a:rPr lang="en-US" sz="2000" dirty="0">
                    <a:latin typeface="Verdana" charset="0"/>
                    <a:ea typeface="Verdana" charset="0"/>
                    <a:cs typeface="Verdana" charset="0"/>
                  </a:rPr>
                  <a:t>What is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𝐹𝑁𝑇</m:t>
                    </m:r>
                  </m:oMath>
                </a14:m>
                <a:r>
                  <a:rPr lang="en-US" sz="2000" dirty="0">
                    <a:latin typeface="Verdana" charset="0"/>
                    <a:ea typeface="Verdana" charset="0"/>
                    <a:cs typeface="Verdana" charset="0"/>
                  </a:rPr>
                  <a:t>?</a:t>
                </a: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r>
                  <a:rPr lang="en-US" sz="2000" dirty="0">
                    <a:latin typeface="Verdana" charset="0"/>
                    <a:ea typeface="Verdana" charset="0"/>
                    <a:cs typeface="Verdana" charset="0"/>
                  </a:rPr>
                  <a:t>What is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𝐾𝑇𝑈</m:t>
                    </m:r>
                  </m:oMath>
                </a14:m>
                <a:r>
                  <a:rPr lang="en-US" sz="2000" dirty="0">
                    <a:latin typeface="Verdana" charset="0"/>
                    <a:ea typeface="Verdana" charset="0"/>
                    <a:cs typeface="Verdana" charset="0"/>
                  </a:rPr>
                  <a:t>?</a:t>
                </a:r>
              </a:p>
              <a:p>
                <a:pPr lvl="0"/>
                <a:endParaRPr lang="en-US" sz="2000"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id="{08C67FCF-92C3-654A-BF40-5BDF7A4F9271}"/>
                  </a:ext>
                </a:extLst>
              </p:cNvPr>
              <p:cNvSpPr txBox="1">
                <a:spLocks noRot="1" noChangeAspect="1" noMove="1" noResize="1" noEditPoints="1" noAdjustHandles="1" noChangeArrowheads="1" noChangeShapeType="1" noTextEdit="1"/>
              </p:cNvSpPr>
              <p:nvPr/>
            </p:nvSpPr>
            <p:spPr>
              <a:xfrm>
                <a:off x="465232" y="398597"/>
                <a:ext cx="8327136" cy="5056128"/>
              </a:xfrm>
              <a:prstGeom prst="rect">
                <a:avLst/>
              </a:prstGeom>
              <a:blipFill>
                <a:blip r:embed="rId5"/>
                <a:stretch>
                  <a:fillRect l="-73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C20EB48B-0C2A-FF47-ACB6-866A7F95956C}"/>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843614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443595" y="412574"/>
            <a:ext cx="4466480" cy="4077095"/>
          </a:xfrm>
          <a:prstGeom prst="rect">
            <a:avLst/>
          </a:prstGeom>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157</a:t>
            </a:r>
          </a:p>
        </p:txBody>
      </p:sp>
      <p:sp>
        <p:nvSpPr>
          <p:cNvPr id="5" name="TextBox 4">
            <a:extLst>
              <a:ext uri="{FF2B5EF4-FFF2-40B4-BE49-F238E27FC236}">
                <a16:creationId xmlns:a16="http://schemas.microsoft.com/office/drawing/2014/main" id="{08C67FCF-92C3-654A-BF40-5BDF7A4F9271}"/>
              </a:ext>
            </a:extLst>
          </p:cNvPr>
          <p:cNvSpPr txBox="1"/>
          <p:nvPr/>
        </p:nvSpPr>
        <p:spPr>
          <a:xfrm>
            <a:off x="442209" y="1173848"/>
            <a:ext cx="6782377" cy="2554545"/>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Sheridan Street and Richmond Street are parallel, and both are intersected by University Boulevard.</a:t>
            </a:r>
          </a:p>
          <a:p>
            <a:pPr lvl="0"/>
            <a:endParaRPr lang="en-US" sz="2000" dirty="0">
              <a:latin typeface="Verdana" charset="0"/>
              <a:ea typeface="Verdana" charset="0"/>
              <a:cs typeface="Verdana" charset="0"/>
            </a:endParaRPr>
          </a:p>
          <a:p>
            <a:pPr marL="458788"/>
            <a:r>
              <a:rPr lang="en-US" sz="2000" dirty="0">
                <a:latin typeface="Verdana" charset="0"/>
                <a:ea typeface="Verdana" charset="0"/>
                <a:cs typeface="Verdana" charset="0"/>
              </a:rPr>
              <a:t>Two cars are heading west, one on Sheridan St. and one on Richmond St. Both cars turn north onto University Blvd. What is the measure of the angle of their turn onto University Blvd.? </a:t>
            </a:r>
          </a:p>
        </p:txBody>
      </p:sp>
      <p:sp>
        <p:nvSpPr>
          <p:cNvPr id="6" name="Google Shape;278;g104476d1465_1_17">
            <a:extLst>
              <a:ext uri="{FF2B5EF4-FFF2-40B4-BE49-F238E27FC236}">
                <a16:creationId xmlns:a16="http://schemas.microsoft.com/office/drawing/2014/main" id="{C20EB48B-0C2A-FF47-ACB6-866A7F95956C}"/>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41683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157</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566675" y="807749"/>
            <a:ext cx="4343400" cy="4470400"/>
          </a:xfrm>
          <a:prstGeom prst="rect">
            <a:avLst/>
          </a:prstGeom>
        </p:spPr>
      </p:pic>
      <p:sp>
        <p:nvSpPr>
          <p:cNvPr id="282" name="Google Shape;282;g104476d1465_1_17"/>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157</a:t>
            </a: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34800" y="-185683"/>
            <a:ext cx="969051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3.6.4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5">
            <a:alphaModFix/>
          </a:blip>
          <a:srcRect/>
          <a:stretch/>
        </p:blipFill>
        <p:spPr>
          <a:xfrm>
            <a:off x="305350" y="6044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562788" y="1512438"/>
                <a:ext cx="7135870" cy="3825021"/>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Given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𝑀𝑁</m:t>
                        </m:r>
                      </m:e>
                    </m:acc>
                    <m:r>
                      <a:rPr lang="en-US" sz="2000" i="1">
                        <a:latin typeface="Cambria Math" panose="02040503050406030204" pitchFamily="18" charset="0"/>
                        <a:ea typeface="Verdana" charset="0"/>
                        <a:cs typeface="Verdana" charset="0"/>
                      </a:rPr>
                      <m:t>∥</m:t>
                    </m:r>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𝑃𝑄</m:t>
                        </m:r>
                      </m:e>
                    </m:acc>
                  </m:oMath>
                </a14:m>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𝑃𝑇𝑆</m:t>
                    </m:r>
                    <m:r>
                      <a:rPr lang="en-US" sz="2000" i="1">
                        <a:latin typeface="Cambria Math" panose="02040503050406030204" pitchFamily="18" charset="0"/>
                        <a:ea typeface="Verdana" charset="0"/>
                        <a:cs typeface="Verdana" charset="0"/>
                      </a:rPr>
                      <m:t>=(14</m:t>
                    </m:r>
                    <m:r>
                      <a:rPr lang="en-US" sz="2000" i="1">
                        <a:latin typeface="Cambria Math" panose="02040503050406030204" pitchFamily="18" charset="0"/>
                        <a:ea typeface="Verdana" charset="0"/>
                        <a:cs typeface="Verdana" charset="0"/>
                      </a:rPr>
                      <m:t>𝑥</m:t>
                    </m:r>
                    <m:r>
                      <a:rPr lang="en-US" sz="2000" i="1">
                        <a:latin typeface="Cambria Math" panose="02040503050406030204" pitchFamily="18" charset="0"/>
                        <a:ea typeface="Verdana" charset="0"/>
                        <a:cs typeface="Verdana" charset="0"/>
                      </a:rPr>
                      <m:t>−10)°</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𝑁𝑆𝑇</m:t>
                    </m:r>
                    <m:r>
                      <a:rPr lang="en-US" sz="2000" i="1">
                        <a:latin typeface="Cambria Math" panose="02040503050406030204" pitchFamily="18" charset="0"/>
                        <a:ea typeface="Verdana" charset="0"/>
                        <a:cs typeface="Verdana" charset="0"/>
                      </a:rPr>
                      <m:t>=(9</m:t>
                    </m:r>
                    <m:r>
                      <a:rPr lang="en-US" sz="2000" i="1">
                        <a:latin typeface="Cambria Math" panose="02040503050406030204" pitchFamily="18" charset="0"/>
                        <a:ea typeface="Verdana" charset="0"/>
                        <a:cs typeface="Verdana" charset="0"/>
                      </a:rPr>
                      <m:t>𝑥</m:t>
                    </m:r>
                    <m:r>
                      <a:rPr lang="en-US" sz="2000" i="1">
                        <a:latin typeface="Cambria Math" panose="02040503050406030204" pitchFamily="18" charset="0"/>
                        <a:ea typeface="Verdana" charset="0"/>
                        <a:cs typeface="Verdana" charset="0"/>
                      </a:rPr>
                      <m:t>+35)°, </m:t>
                    </m:r>
                  </m:oMath>
                </a14:m>
                <a:r>
                  <a:rPr lang="en-US" sz="2000" dirty="0">
                    <a:latin typeface="Verdana" charset="0"/>
                    <a:ea typeface="Verdana" charset="0"/>
                    <a:cs typeface="Verdana" charset="0"/>
                  </a:rPr>
                  <a:t>find each angle measure.</a:t>
                </a:r>
              </a:p>
              <a:p>
                <a:endParaRPr lang="en-US" sz="2000" i="1" dirty="0">
                  <a:latin typeface="Verdana" charset="0"/>
                  <a:ea typeface="Verdana" charset="0"/>
                  <a:cs typeface="Verdana" charset="0"/>
                </a:endParaRPr>
              </a:p>
              <a:p>
                <a:pPr marL="457200" indent="-457200">
                  <a:buFont typeface="+mj-lt"/>
                  <a:buAutoNum type="alphaLcPeriod"/>
                </a:pPr>
                <a14:m>
                  <m:oMath xmlns:m="http://schemas.openxmlformats.org/officeDocument/2006/math">
                    <m:r>
                      <m:rPr>
                        <m:sty m:val="p"/>
                      </m:rPr>
                      <a:rPr lang="en-US" sz="2000">
                        <a:latin typeface="Cambria Math" panose="02040503050406030204" pitchFamily="18" charset="0"/>
                        <a:ea typeface="Verdana" charset="0"/>
                        <a:cs typeface="Verdana" charset="0"/>
                      </a:rPr>
                      <m:t>m</m:t>
                    </m:r>
                    <m:r>
                      <a:rPr lang="en-US" sz="2000">
                        <a:latin typeface="Cambria Math" panose="02040503050406030204" pitchFamily="18" charset="0"/>
                        <a:ea typeface="Verdana" charset="0"/>
                        <a:cs typeface="Verdana" charset="0"/>
                      </a:rPr>
                      <m:t>∠</m:t>
                    </m:r>
                    <m:r>
                      <m:rPr>
                        <m:sty m:val="p"/>
                      </m:rPr>
                      <a:rPr lang="en-US" sz="2000">
                        <a:latin typeface="Cambria Math" panose="02040503050406030204" pitchFamily="18" charset="0"/>
                        <a:ea typeface="Verdana" charset="0"/>
                        <a:cs typeface="Verdana" charset="0"/>
                      </a:rPr>
                      <m:t>MSR</m:t>
                    </m:r>
                  </m:oMath>
                </a14:m>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14:m>
                  <m:oMath xmlns:m="http://schemas.openxmlformats.org/officeDocument/2006/math">
                    <m:r>
                      <m:rPr>
                        <m:sty m:val="p"/>
                      </m:rPr>
                      <a:rPr lang="en-US" sz="2000">
                        <a:latin typeface="Cambria Math" panose="02040503050406030204" pitchFamily="18" charset="0"/>
                        <a:ea typeface="Verdana" charset="0"/>
                        <a:cs typeface="Verdana" charset="0"/>
                      </a:rPr>
                      <m:t>m</m:t>
                    </m:r>
                    <m:r>
                      <a:rPr lang="en-US" sz="2000">
                        <a:latin typeface="Cambria Math" panose="02040503050406030204" pitchFamily="18" charset="0"/>
                        <a:ea typeface="Verdana" charset="0"/>
                        <a:cs typeface="Verdana" charset="0"/>
                      </a:rPr>
                      <m:t>∠</m:t>
                    </m:r>
                    <m:r>
                      <m:rPr>
                        <m:sty m:val="p"/>
                      </m:rPr>
                      <a:rPr lang="en-US" sz="2000">
                        <a:latin typeface="Cambria Math" panose="02040503050406030204" pitchFamily="18" charset="0"/>
                        <a:ea typeface="Verdana" charset="0"/>
                        <a:cs typeface="Verdana" charset="0"/>
                      </a:rPr>
                      <m:t>STQ</m:t>
                    </m:r>
                  </m:oMath>
                </a14:m>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562788" y="1512438"/>
                <a:ext cx="7135870" cy="3825021"/>
              </a:xfrm>
              <a:prstGeom prst="rect">
                <a:avLst/>
              </a:prstGeom>
              <a:blipFill>
                <a:blip r:embed="rId6"/>
                <a:stretch>
                  <a:fillRect l="-939" t="-159"/>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31AAE36C-5822-464A-8B2B-DAD96F65814D}"/>
              </a:ext>
            </a:extLst>
          </p:cNvPr>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2011</TotalTime>
  <Words>541</Words>
  <Application>Microsoft Office PowerPoint</Application>
  <PresentationFormat>Widescreen</PresentationFormat>
  <Paragraphs>116</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Arial Black</vt:lpstr>
      <vt:lpstr>Calibri</vt:lpstr>
      <vt:lpstr>Cambria</vt:lpstr>
      <vt:lpstr>Cambria Math</vt:lpstr>
      <vt:lpstr>Century Gothic</vt:lpstr>
      <vt:lpstr>Verdana</vt:lpstr>
      <vt:lpstr>Wingdings</vt:lpstr>
      <vt:lpstr>1_Office Theme</vt:lpstr>
      <vt:lpstr>Geometry  Unit 3, Lesson 6  Using Angle Relationships, Postulates, and Theorems  Volume 1, pg. 154  </vt:lpstr>
      <vt:lpstr>Benchmark</vt:lpstr>
      <vt:lpstr>PowerPoint Presentation</vt:lpstr>
      <vt:lpstr>PowerPoint Presentation</vt:lpstr>
      <vt:lpstr>Warm-Up</vt:lpstr>
      <vt:lpstr>PowerPoint Presentation</vt:lpstr>
      <vt:lpstr>Activity</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21</cp:revision>
  <dcterms:created xsi:type="dcterms:W3CDTF">2015-03-17T18:51:18Z</dcterms:created>
  <dcterms:modified xsi:type="dcterms:W3CDTF">2022-07-03T04:54:56Z</dcterms:modified>
</cp:coreProperties>
</file>