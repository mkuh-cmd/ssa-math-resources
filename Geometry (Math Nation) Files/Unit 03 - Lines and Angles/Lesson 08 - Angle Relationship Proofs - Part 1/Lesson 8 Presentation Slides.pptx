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85" r:id="rId4"/>
    <p:sldId id="286" r:id="rId5"/>
    <p:sldId id="261" r:id="rId6"/>
    <p:sldId id="287" r:id="rId7"/>
    <p:sldId id="314" r:id="rId8"/>
    <p:sldId id="315" r:id="rId9"/>
    <p:sldId id="316" r:id="rId10"/>
    <p:sldId id="332" r:id="rId11"/>
    <p:sldId id="333" r:id="rId12"/>
    <p:sldId id="334" r:id="rId13"/>
    <p:sldId id="335" r:id="rId14"/>
    <p:sldId id="336" r:id="rId15"/>
    <p:sldId id="342" r:id="rId16"/>
    <p:sldId id="337" r:id="rId17"/>
    <p:sldId id="338" r:id="rId18"/>
    <p:sldId id="339" r:id="rId19"/>
    <p:sldId id="340" r:id="rId20"/>
    <p:sldId id="341" r:id="rId21"/>
    <p:sldId id="306" r:id="rId22"/>
    <p:sldId id="307" r:id="rId2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BD1E"/>
    <a:srgbClr val="C9DF6F"/>
    <a:srgbClr val="417DBF"/>
    <a:srgbClr val="3F2A67"/>
    <a:srgbClr val="E24E5F"/>
    <a:srgbClr val="26B7D4"/>
    <a:srgbClr val="54B5D1"/>
    <a:srgbClr val="33BEA6"/>
    <a:srgbClr val="2DA48F"/>
    <a:srgbClr val="52BD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950"/>
    <p:restoredTop sz="94695"/>
  </p:normalViewPr>
  <p:slideViewPr>
    <p:cSldViewPr snapToGrid="0">
      <p:cViewPr varScale="1">
        <p:scale>
          <a:sx n="76" d="100"/>
          <a:sy n="76" d="100"/>
        </p:scale>
        <p:origin x="442" y="5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56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0380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99906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34147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789808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824852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503380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7278680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998982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0221690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1376805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022594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280649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96641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305647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70.png"/><Relationship Id="rId5" Type="http://schemas.openxmlformats.org/officeDocument/2006/relationships/image" Target="../media/image17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0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3.pn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7.png"/><Relationship Id="rId5" Type="http://schemas.openxmlformats.org/officeDocument/2006/relationships/image" Target="../media/image25.png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742834" y="2054277"/>
            <a:ext cx="4925167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Geometry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3, Lesson 8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Angle Relationship Proofs – Part 1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164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8753" y="1522577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124050" y="144750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Benchmarks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8052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164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514000" y="1608425"/>
            <a:ext cx="1111415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95250" indent="0">
              <a:buNone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MA.912.GR.1.1 </a:t>
            </a:r>
          </a:p>
          <a:p>
            <a:pPr marL="463550" indent="0">
              <a:buNone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Prove relationships and theorems about lines and angles. Solve mathematical and real-world problems involving postulates, relationships, and theorems of lines and angles. </a:t>
            </a:r>
          </a:p>
          <a:p>
            <a:pPr marL="95250" indent="0">
              <a:buNone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 </a:t>
            </a:r>
          </a:p>
          <a:p>
            <a:pPr marL="95250" indent="0">
              <a:buNone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MA.912.LT.4.10 </a:t>
            </a:r>
          </a:p>
          <a:p>
            <a:pPr marL="463550" indent="0">
              <a:buNone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Judge the validity of arguments and give counterexamples to disprove statements.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72424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25200" y="129791"/>
            <a:ext cx="94641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E701C7D4-7BD4-5F4C-ACEB-5781D00837A2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164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101760" y="1596514"/>
            <a:ext cx="1042216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1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 marL="457200">
              <a:buSzPts val="523"/>
            </a:pPr>
            <a:endParaRPr lang="en-US" sz="1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1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 Demonstrate understanding by representing problems in multiple ways.</a:t>
            </a:r>
          </a:p>
          <a:p>
            <a:pPr marL="457200">
              <a:buSzPts val="523"/>
            </a:pPr>
            <a:endParaRPr lang="en-US" sz="1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1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 marL="457200">
              <a:buSzPts val="523"/>
            </a:pPr>
            <a:endParaRPr lang="en-US" sz="1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1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  <a:p>
            <a:pPr>
              <a:buSzPts val="523"/>
            </a:pPr>
            <a:endParaRPr lang="en-US" sz="1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1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MA.K12.MTR.6.1 Assess the reasonableness of solutions.</a:t>
            </a:r>
          </a:p>
        </p:txBody>
      </p:sp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id="{0EC4A24D-AC58-5143-9A1A-1E71E28DFCF5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1493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13375" y="38885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1213" y="32808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id="{3ECD2D46-55D5-C547-91DD-0801CE9D6AD7}"/>
              </a:ext>
            </a:extLst>
          </p:cNvPr>
          <p:cNvSpPr txBox="1"/>
          <p:nvPr/>
        </p:nvSpPr>
        <p:spPr>
          <a:xfrm>
            <a:off x="8889924" y="647200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164</a:t>
            </a:r>
          </a:p>
        </p:txBody>
      </p:sp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514000" y="1608425"/>
            <a:ext cx="1111415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indent="-342900">
              <a:buFont typeface="Wingdings" charset="2"/>
              <a:buChar char="q"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I can prove relationships using parallel lines and their transversals.  </a:t>
            </a:r>
          </a:p>
        </p:txBody>
      </p:sp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id="{7BA09A98-EDA0-5343-AD77-8F8E8C4F0E72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164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41471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49" y="-34686"/>
            <a:ext cx="9669427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3.8.1 Warm-Up: Would You Rather?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5350" y="20571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903245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164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1D7562E-134F-D14B-AF1A-DF40E11EF758}"/>
                  </a:ext>
                </a:extLst>
              </p:cNvPr>
              <p:cNvSpPr txBox="1"/>
              <p:nvPr/>
            </p:nvSpPr>
            <p:spPr>
              <a:xfrm>
                <a:off x="593248" y="1394250"/>
                <a:ext cx="10412862" cy="3785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The meals at two restaurants range from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$8.00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to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$25.00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Servers are paid based on the following.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63550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Would you rather work as a server at Restaurant A or at Restaurant B? Justify your choice.</a:t>
                </a:r>
              </a:p>
              <a:p>
                <a:pPr marL="46355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1D7562E-134F-D14B-AF1A-DF40E11EF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248" y="1394250"/>
                <a:ext cx="10412862" cy="3785652"/>
              </a:xfrm>
              <a:prstGeom prst="rect">
                <a:avLst/>
              </a:prstGeom>
              <a:blipFill>
                <a:blip r:embed="rId5"/>
                <a:stretch>
                  <a:fillRect l="-644" t="-11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id="{C2564F7E-689E-724F-BBC4-EC8DFC52E66C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35320052"/>
                  </p:ext>
                </p:extLst>
              </p:nvPr>
            </p:nvGraphicFramePr>
            <p:xfrm>
              <a:off x="2459949" y="2428520"/>
              <a:ext cx="6854825" cy="112522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42741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42741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112522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u="sng" dirty="0">
                              <a:effectLst/>
                              <a:latin typeface="Verdana" charset="0"/>
                            </a:rPr>
                            <a:t>Restaurant A</a:t>
                          </a:r>
                          <a:endParaRPr lang="en-US" sz="2000" dirty="0">
                            <a:effectLst/>
                            <a:latin typeface="Cambria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charset="0"/>
                                </a:rPr>
                                <m:t>$18 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charset="0"/>
                            </a:rPr>
                            <a:t>per hour</a:t>
                          </a:r>
                          <a:endParaRPr lang="en-US" sz="2000" dirty="0">
                            <a:effectLst/>
                            <a:latin typeface="Cambria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</a:rPr>
                            <a:t>No tipping allowed</a:t>
                          </a:r>
                          <a:endParaRPr lang="en-US" sz="2000" dirty="0">
                            <a:effectLst/>
                            <a:latin typeface="Cambri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u="sng" dirty="0">
                              <a:effectLst/>
                              <a:latin typeface="Verdana" charset="0"/>
                            </a:rPr>
                            <a:t>Restaurant B</a:t>
                          </a:r>
                          <a:endParaRPr lang="en-US" sz="2000" dirty="0">
                            <a:effectLst/>
                            <a:latin typeface="Cambria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charset="0"/>
                                </a:rPr>
                                <m:t>$10.50 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charset="0"/>
                            </a:rPr>
                            <a:t>per hour</a:t>
                          </a:r>
                          <a:endParaRPr lang="en-US" sz="2000" dirty="0">
                            <a:effectLst/>
                            <a:latin typeface="Cambria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</a:rPr>
                            <a:t>Tipping encouraged</a:t>
                          </a:r>
                          <a:endParaRPr lang="en-US" sz="2000" dirty="0">
                            <a:effectLst/>
                            <a:latin typeface="Cambri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35320052"/>
                  </p:ext>
                </p:extLst>
              </p:nvPr>
            </p:nvGraphicFramePr>
            <p:xfrm>
              <a:off x="2459949" y="2428520"/>
              <a:ext cx="6854825" cy="112522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42741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42741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11252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78" t="-541" r="-100355" b="-43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00178" t="-541" r="-355" b="-43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5258" y="2766145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165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0821C8B-4657-A74D-94B5-D6CF373A17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3114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07887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20876" y="2001786"/>
            <a:ext cx="4292600" cy="4076700"/>
          </a:xfrm>
          <a:prstGeom prst="rect">
            <a:avLst/>
          </a:prstGeom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13476" y="6197826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50" y="68550"/>
            <a:ext cx="894675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3.8.2 Collaboration: Parallel Lines</a:t>
            </a:r>
          </a:p>
        </p:txBody>
      </p:sp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875250" y="6454901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165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A80EBD0F-404F-0B4B-AC09-DA5A6DF60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2842" y="356496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44DF7DE-9172-3E4E-B74A-7A51585FB6EA}"/>
                  </a:ext>
                </a:extLst>
              </p:cNvPr>
              <p:cNvSpPr txBox="1"/>
              <p:nvPr/>
            </p:nvSpPr>
            <p:spPr>
              <a:xfrm>
                <a:off x="593247" y="1394251"/>
                <a:ext cx="11175965" cy="7452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Contradictory information is given for the figure. </a:t>
                </a:r>
                <a14:m>
                  <m:oMath xmlns:m="http://schemas.openxmlformats.org/officeDocument/2006/math">
                    <m:acc>
                      <m:accPr>
                        <m:chr m:val="⃡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𝐾𝐸</m:t>
                        </m:r>
                      </m:e>
                    </m:acc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∥</m:t>
                    </m:r>
                    <m:acc>
                      <m:accPr>
                        <m:chr m:val="⃡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𝐻𝐷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𝐾𝑅𝐴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≅∠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𝐵𝐺𝐸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𝑇𝑅𝐺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a supplement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𝑅𝐺𝑊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𝐷𝑊𝑍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=87°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44DF7DE-9172-3E4E-B74A-7A51585FB6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247" y="1394251"/>
                <a:ext cx="11175965" cy="745269"/>
              </a:xfrm>
              <a:prstGeom prst="rect">
                <a:avLst/>
              </a:prstGeom>
              <a:blipFill>
                <a:blip r:embed="rId6"/>
                <a:stretch>
                  <a:fillRect l="-600" t="-820" r="-872" b="-139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Google Shape;278;g104476d1465_1_17">
            <a:extLst>
              <a:ext uri="{FF2B5EF4-FFF2-40B4-BE49-F238E27FC236}">
                <a16:creationId xmlns:a16="http://schemas.microsoft.com/office/drawing/2014/main" id="{D252DD22-4545-6844-9D1D-323C0B41ADF5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1052650" y="2719951"/>
            <a:ext cx="626822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lphaL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What piece of information is contradictory?</a:t>
            </a:r>
          </a:p>
          <a:p>
            <a:pPr marL="342900" indent="-342900">
              <a:buFont typeface="+mj-lt"/>
              <a:buAutoNum type="alphaL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342900" indent="-342900">
              <a:buFont typeface="+mj-lt"/>
              <a:buAutoNum type="alphaL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How do you know it is contradictory?</a:t>
            </a:r>
          </a:p>
          <a:p>
            <a:pPr marL="342900" indent="-342900">
              <a:buFont typeface="+mj-lt"/>
              <a:buAutoNum type="alphaL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342900" indent="-342900">
              <a:buFont typeface="+mj-lt"/>
              <a:buAutoNum type="alphaL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Share your contradiction with your partner. Discuss any differences.</a:t>
            </a:r>
          </a:p>
        </p:txBody>
      </p:sp>
    </p:spTree>
    <p:extLst>
      <p:ext uri="{BB962C8B-B14F-4D97-AF65-F5344CB8AC3E}">
        <p14:creationId xmlns:p14="http://schemas.microsoft.com/office/powerpoint/2010/main" val="16744370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165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AA35BC6-D428-FC41-BDE5-6438AB8840FC}"/>
                  </a:ext>
                </a:extLst>
              </p:cNvPr>
              <p:cNvSpPr txBox="1"/>
              <p:nvPr/>
            </p:nvSpPr>
            <p:spPr>
              <a:xfrm>
                <a:off x="971200" y="410789"/>
                <a:ext cx="10552724" cy="7472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lphaLcPeriod" startAt="4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Create four different pieces of information about this figure using </a:t>
                </a:r>
                <a14:m>
                  <m:oMath xmlns:m="http://schemas.openxmlformats.org/officeDocument/2006/math">
                    <m:acc>
                      <m:accPr>
                        <m:chr m:val="⃡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𝐴𝑉</m:t>
                        </m:r>
                      </m:e>
                    </m:acc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∥</m:t>
                    </m:r>
                    <m:acc>
                      <m:accPr>
                        <m:chr m:val="⃡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𝐵𝑍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One of the pieces of information should be contradictory.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AA35BC6-D428-FC41-BDE5-6438AB884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200" y="410789"/>
                <a:ext cx="10552724" cy="747256"/>
              </a:xfrm>
              <a:prstGeom prst="rect">
                <a:avLst/>
              </a:prstGeom>
              <a:blipFill>
                <a:blip r:embed="rId4"/>
                <a:stretch>
                  <a:fillRect l="-635" b="-13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D24B490A-71D6-FD45-903D-95450FDFCF80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5068565"/>
              </p:ext>
            </p:extLst>
          </p:nvPr>
        </p:nvGraphicFramePr>
        <p:xfrm>
          <a:off x="1667648" y="1471789"/>
          <a:ext cx="5777827" cy="3657600"/>
        </p:xfrm>
        <a:graphic>
          <a:graphicData uri="http://schemas.openxmlformats.org/drawingml/2006/table">
            <a:tbl>
              <a:tblPr firstRow="1" firstCol="1" bandRow="1"/>
              <a:tblGrid>
                <a:gridCol w="57778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97478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1.</a:t>
                      </a:r>
                      <a:endParaRPr lang="en-US" sz="20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 </a:t>
                      </a:r>
                      <a:endParaRPr lang="en-US" sz="20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 </a:t>
                      </a:r>
                      <a:endParaRPr lang="en-US" sz="20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8802" marR="5880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7478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2.</a:t>
                      </a:r>
                      <a:endParaRPr lang="en-US" sz="20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 </a:t>
                      </a:r>
                      <a:endParaRPr lang="en-US" sz="20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 </a:t>
                      </a:r>
                      <a:endParaRPr lang="en-US" sz="20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8802" marR="5880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7478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3.</a:t>
                      </a:r>
                      <a:endParaRPr lang="en-US" sz="2000" dirty="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 </a:t>
                      </a:r>
                      <a:endParaRPr lang="en-US" sz="2000" dirty="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 </a:t>
                      </a:r>
                      <a:endParaRPr lang="en-US" sz="2000" dirty="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8802" marR="5880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7478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4.</a:t>
                      </a:r>
                      <a:endParaRPr lang="en-US" sz="2000" dirty="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 </a:t>
                      </a:r>
                      <a:endParaRPr lang="en-US" sz="2000" dirty="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 </a:t>
                      </a:r>
                      <a:endParaRPr lang="en-US" sz="2000" dirty="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8802" marR="5880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18468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165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A35BC6-D428-FC41-BDE5-6438AB8840FC}"/>
              </a:ext>
            </a:extLst>
          </p:cNvPr>
          <p:cNvSpPr txBox="1"/>
          <p:nvPr/>
        </p:nvSpPr>
        <p:spPr>
          <a:xfrm>
            <a:off x="971200" y="418891"/>
            <a:ext cx="106569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lphaLcPeriod" startAt="5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Trade information with a partner and see if your partner can find the contradiction. Write their contradiction in the table. </a:t>
            </a: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D24B490A-71D6-FD45-903D-95450FDFCF80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3809830"/>
              </p:ext>
            </p:extLst>
          </p:nvPr>
        </p:nvGraphicFramePr>
        <p:xfrm>
          <a:off x="1622778" y="1327827"/>
          <a:ext cx="7267146" cy="2623185"/>
        </p:xfrm>
        <a:graphic>
          <a:graphicData uri="http://schemas.openxmlformats.org/drawingml/2006/table">
            <a:tbl>
              <a:tblPr firstRow="1" firstCol="1" bandRow="1"/>
              <a:tblGrid>
                <a:gridCol w="51967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704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5979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Partner’s Contradiction</a:t>
                      </a:r>
                      <a:endParaRPr lang="en-US" sz="2000" dirty="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Partner’s Initials</a:t>
                      </a:r>
                      <a:endParaRPr lang="en-US" sz="20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6339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 </a:t>
                      </a:r>
                      <a:endParaRPr lang="en-US" sz="20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 </a:t>
                      </a:r>
                      <a:endParaRPr lang="en-US" sz="20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 </a:t>
                      </a:r>
                      <a:endParaRPr lang="en-US" sz="20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 </a:t>
                      </a:r>
                      <a:endParaRPr lang="en-US" sz="2000" dirty="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86815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78776" y="1119402"/>
            <a:ext cx="5333311" cy="4449257"/>
          </a:xfrm>
          <a:prstGeom prst="rect">
            <a:avLst/>
          </a:prstGeom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12088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73862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166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A35BC6-D428-FC41-BDE5-6438AB8840FC}"/>
              </a:ext>
            </a:extLst>
          </p:cNvPr>
          <p:cNvSpPr txBox="1"/>
          <p:nvPr/>
        </p:nvSpPr>
        <p:spPr>
          <a:xfrm>
            <a:off x="540564" y="418890"/>
            <a:ext cx="1107152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Terrence was organizing a card sort for the proof, but his cards fell on the floor and are now out of order. </a:t>
            </a: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D24B490A-71D6-FD45-903D-95450FDFCF80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21659938"/>
                  </p:ext>
                </p:extLst>
              </p:nvPr>
            </p:nvGraphicFramePr>
            <p:xfrm>
              <a:off x="1088406" y="1267785"/>
              <a:ext cx="7886700" cy="160001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78867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770611">
                    <a:tc>
                      <a:txBody>
                        <a:bodyPr/>
                        <a:lstStyle/>
                        <a:p>
                          <a:pPr marL="857250" marR="0" indent="-85725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  <a:p>
                          <a:pPr marL="857250" marR="0" indent="-85725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Given: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⃡"/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Verdana" charset="0"/>
                                      <a:cs typeface="Verdana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i="1">
                                      <a:effectLst/>
                                      <a:latin typeface="Cambria Math" charset="0"/>
                                      <a:ea typeface="Verdana" charset="0"/>
                                      <a:cs typeface="Verdana" charset="0"/>
                                    </a:rPr>
                                    <m:t>𝑃𝑇</m:t>
                                  </m:r>
                                </m:e>
                              </m:acc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∥</m:t>
                              </m:r>
                              <m:acc>
                                <m:accPr>
                                  <m:chr m:val="⃡"/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Verdana" charset="0"/>
                                      <a:cs typeface="Verdana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i="1">
                                      <a:effectLst/>
                                      <a:latin typeface="Cambria Math" charset="0"/>
                                      <a:ea typeface="Verdana" charset="0"/>
                                      <a:cs typeface="Verdana" charset="0"/>
                                    </a:rPr>
                                    <m:t>𝑅𝐻</m:t>
                                  </m:r>
                                </m:e>
                              </m:acc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and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∠</m:t>
                              </m:r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𝐶𝐵𝐺</m:t>
                              </m:r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≅∠</m:t>
                              </m:r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𝐶𝑌𝐺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61722" marR="6172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2538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Prove: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⃡"/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Verdana" charset="0"/>
                                      <a:cs typeface="Verdana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i="1">
                                      <a:effectLst/>
                                      <a:latin typeface="Cambria Math" charset="0"/>
                                      <a:ea typeface="Verdana" charset="0"/>
                                      <a:cs typeface="Verdana" charset="0"/>
                                    </a:rPr>
                                    <m:t>𝑊𝑍</m:t>
                                  </m:r>
                                </m:e>
                              </m:acc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∥</m:t>
                              </m:r>
                              <m:acc>
                                <m:accPr>
                                  <m:chr m:val="⃡"/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Verdana" charset="0"/>
                                      <a:cs typeface="Verdana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i="1">
                                      <a:effectLst/>
                                      <a:latin typeface="Cambria Math" charset="0"/>
                                      <a:ea typeface="Verdana" charset="0"/>
                                      <a:cs typeface="Verdana" charset="0"/>
                                    </a:rPr>
                                    <m:t>𝐴𝑁</m:t>
                                  </m:r>
                                </m:e>
                              </m:acc>
                            </m:oMath>
                          </a14:m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61722" marR="6172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21659938"/>
                  </p:ext>
                </p:extLst>
              </p:nvPr>
            </p:nvGraphicFramePr>
            <p:xfrm>
              <a:off x="1088406" y="1267785"/>
              <a:ext cx="7886700" cy="160001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78867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95142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1722" marR="6172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5"/>
                          <a:stretch>
                            <a:fillRect b="-6815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4858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1722" marR="6172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5"/>
                          <a:stretch>
                            <a:fillRect t="-1467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8112907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166</a:t>
            </a: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D24B490A-71D6-FD45-903D-95450FDFCF80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3359883"/>
                  </p:ext>
                </p:extLst>
              </p:nvPr>
            </p:nvGraphicFramePr>
            <p:xfrm>
              <a:off x="731091" y="239153"/>
              <a:ext cx="8209034" cy="6238896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74002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46901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11669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Statement</a:t>
                          </a:r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0561" marR="5056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Reason</a:t>
                          </a:r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0561" marR="5056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23337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A. 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𝑚</m:t>
                              </m:r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∠</m:t>
                              </m:r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𝐶𝐵𝐺</m:t>
                              </m:r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=</m:t>
                              </m:r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𝑚</m:t>
                              </m:r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∠</m:t>
                              </m:r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𝐶𝑌𝐺</m:t>
                              </m:r>
                            </m:oMath>
                          </a14:m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0561" marR="5056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K. Definition of Supplementary Angles</a:t>
                          </a:r>
                        </a:p>
                      </a:txBody>
                      <a:tcPr marL="50561" marR="5056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23337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B.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∠</m:t>
                              </m:r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𝐶𝐵𝐺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and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∠</m:t>
                              </m:r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𝐵𝐺𝑌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are supplementary</a:t>
                          </a:r>
                        </a:p>
                      </a:txBody>
                      <a:tcPr marL="50561" marR="5056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L. Substitution Property of Equality</a:t>
                          </a:r>
                        </a:p>
                      </a:txBody>
                      <a:tcPr marL="50561" marR="5056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1246674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C.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∠</m:t>
                              </m:r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𝐶𝐵𝐺</m:t>
                              </m:r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≅∠</m:t>
                              </m:r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𝐶𝑌𝐺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0561" marR="5056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M. If two lines are intersected by a transversal so that consecutive interior angles are supplementary, then the lines are parallel.</a:t>
                          </a:r>
                        </a:p>
                      </a:txBody>
                      <a:tcPr marL="50561" marR="5056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623337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D.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∠</m:t>
                              </m:r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𝐶𝑌𝐺</m:t>
                              </m:r>
                            </m:oMath>
                          </a14:m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and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∠</m:t>
                              </m:r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𝐵𝐺𝑌</m:t>
                              </m:r>
                            </m:oMath>
                          </a14:m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are supplementary</a:t>
                          </a:r>
                        </a:p>
                      </a:txBody>
                      <a:tcPr marL="50561" marR="5056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N. Definition of Congruence </a:t>
                          </a:r>
                        </a:p>
                      </a:txBody>
                      <a:tcPr marL="50561" marR="5056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51536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E.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⃡"/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Verdana" charset="0"/>
                                      <a:cs typeface="Verdana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i="1">
                                      <a:effectLst/>
                                      <a:latin typeface="Cambria Math" charset="0"/>
                                      <a:ea typeface="Verdana" charset="0"/>
                                      <a:cs typeface="Verdana" charset="0"/>
                                    </a:rPr>
                                    <m:t>𝑊𝑍</m:t>
                                  </m:r>
                                </m:e>
                              </m:acc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∥</m:t>
                              </m:r>
                              <m:acc>
                                <m:accPr>
                                  <m:chr m:val="⃡"/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Verdana" charset="0"/>
                                      <a:cs typeface="Verdana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i="1">
                                      <a:effectLst/>
                                      <a:latin typeface="Cambria Math" charset="0"/>
                                      <a:ea typeface="Verdana" charset="0"/>
                                      <a:cs typeface="Verdana" charset="0"/>
                                    </a:rPr>
                                    <m:t>𝐴𝑁</m:t>
                                  </m:r>
                                </m:e>
                              </m:acc>
                            </m:oMath>
                          </a14:m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0561" marR="5056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P. Given</a:t>
                          </a:r>
                        </a:p>
                      </a:txBody>
                      <a:tcPr marL="50561" marR="5056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1246674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F.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𝑚</m:t>
                              </m:r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∠</m:t>
                              </m:r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𝐶𝐵𝐺</m:t>
                              </m:r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+</m:t>
                              </m:r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𝑚</m:t>
                              </m:r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∠</m:t>
                              </m:r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𝐵𝐺𝑌</m:t>
                              </m:r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=180</m:t>
                              </m:r>
                            </m:oMath>
                          </a14:m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</a:t>
                          </a:r>
                        </a:p>
                      </a:txBody>
                      <a:tcPr marL="50561" marR="5056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R. If two parallel lines are intersected by a transversal, then the consecutive interior angles are supplementary.</a:t>
                          </a:r>
                        </a:p>
                      </a:txBody>
                      <a:tcPr marL="50561" marR="5056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623337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G.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⃡"/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Verdana" charset="0"/>
                                      <a:cs typeface="Verdana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i="1">
                                      <a:effectLst/>
                                      <a:latin typeface="Cambria Math" charset="0"/>
                                      <a:ea typeface="Verdana" charset="0"/>
                                      <a:cs typeface="Verdana" charset="0"/>
                                    </a:rPr>
                                    <m:t>𝑃𝑇</m:t>
                                  </m:r>
                                </m:e>
                              </m:acc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∥</m:t>
                              </m:r>
                              <m:acc>
                                <m:accPr>
                                  <m:chr m:val="⃡"/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Verdana" charset="0"/>
                                      <a:cs typeface="Verdana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i="1">
                                      <a:effectLst/>
                                      <a:latin typeface="Cambria Math" charset="0"/>
                                      <a:ea typeface="Verdana" charset="0"/>
                                      <a:cs typeface="Verdana" charset="0"/>
                                    </a:rPr>
                                    <m:t>𝑅𝐻</m:t>
                                  </m:r>
                                </m:e>
                              </m:acc>
                            </m:oMath>
                          </a14:m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0561" marR="5056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S. Definition of Supplementary Angles</a:t>
                          </a:r>
                        </a:p>
                      </a:txBody>
                      <a:tcPr marL="50561" marR="5056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311669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H.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𝑚</m:t>
                              </m:r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∠</m:t>
                              </m:r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𝐶𝑌𝐺</m:t>
                              </m:r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+</m:t>
                              </m:r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𝑚</m:t>
                              </m:r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∠</m:t>
                              </m:r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𝐵𝐺𝑌</m:t>
                              </m:r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=180</m:t>
                              </m:r>
                            </m:oMath>
                          </a14:m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0561" marR="5056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T. Given</a:t>
                          </a:r>
                        </a:p>
                      </a:txBody>
                      <a:tcPr marL="50561" marR="5056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3359883"/>
                  </p:ext>
                </p:extLst>
              </p:nvPr>
            </p:nvGraphicFramePr>
            <p:xfrm>
              <a:off x="731091" y="239153"/>
              <a:ext cx="8209034" cy="6238896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74002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46901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11669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Statement</a:t>
                          </a:r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0561" marR="5056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Reason</a:t>
                          </a:r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0561" marR="5056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2333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561" marR="5056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63" t="-61765" r="-119870" b="-8784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K. Definition of Supplementary Angles</a:t>
                          </a:r>
                        </a:p>
                      </a:txBody>
                      <a:tcPr marL="50561" marR="5056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2333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561" marR="5056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63" t="-160194" r="-119870" b="-7699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L. Substitution Property of Equality</a:t>
                          </a:r>
                        </a:p>
                      </a:txBody>
                      <a:tcPr marL="50561" marR="5056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152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561" marR="5056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63" t="-107200" r="-119870" b="-2172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M. If two lines are intersected by a transversal so that consecutive interior angles are supplementary, then the lines are parallel.</a:t>
                          </a:r>
                        </a:p>
                      </a:txBody>
                      <a:tcPr marL="50561" marR="5056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62333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561" marR="5056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63" t="-507843" r="-119870" b="-43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N. Definition of Congruence </a:t>
                          </a:r>
                        </a:p>
                      </a:txBody>
                      <a:tcPr marL="50561" marR="5056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5153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561" marR="5056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63" t="-1068966" r="-119870" b="-6603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P. Given</a:t>
                          </a:r>
                        </a:p>
                      </a:txBody>
                      <a:tcPr marL="50561" marR="5056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124667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561" marR="5056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63" t="-330732" r="-119870" b="-868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R. If two parallel lines are intersected by a transversal, then the consecutive interior angles are supplementary.</a:t>
                          </a:r>
                        </a:p>
                      </a:txBody>
                      <a:tcPr marL="50561" marR="5056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62333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561" marR="5056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63" t="-865686" r="-119870" b="-745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S. Definition of Supplementary Angles</a:t>
                          </a:r>
                        </a:p>
                      </a:txBody>
                      <a:tcPr marL="50561" marR="5056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31166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561" marR="5056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63" t="-1931373" r="-119870" b="-490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T. Given</a:t>
                          </a:r>
                        </a:p>
                      </a:txBody>
                      <a:tcPr marL="50561" marR="5056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5698328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3207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384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166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A35BC6-D428-FC41-BDE5-6438AB8840FC}"/>
              </a:ext>
            </a:extLst>
          </p:cNvPr>
          <p:cNvSpPr txBox="1"/>
          <p:nvPr/>
        </p:nvSpPr>
        <p:spPr>
          <a:xfrm>
            <a:off x="540564" y="418890"/>
            <a:ext cx="109872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Work with your partner to correctly place the statements and reasons in the correct order by writing the letter.</a:t>
            </a: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D24B490A-71D6-FD45-903D-95450FDFCF80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5335162"/>
              </p:ext>
            </p:extLst>
          </p:nvPr>
        </p:nvGraphicFramePr>
        <p:xfrm>
          <a:off x="1317753" y="1439272"/>
          <a:ext cx="6772760" cy="4457056"/>
        </p:xfrm>
        <a:graphic>
          <a:graphicData uri="http://schemas.openxmlformats.org/drawingml/2006/table">
            <a:tbl>
              <a:tblPr firstRow="1" firstCol="1" bandRow="1"/>
              <a:tblGrid>
                <a:gridCol w="33786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941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908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Statement</a:t>
                      </a:r>
                      <a:endParaRPr lang="en-US" sz="20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1759" marR="3175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Reason</a:t>
                      </a:r>
                      <a:endParaRPr lang="en-US" sz="20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1759" marR="3175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9032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1. </a:t>
                      </a:r>
                      <a:endParaRPr lang="en-US" sz="20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1759" marR="3175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1. </a:t>
                      </a:r>
                      <a:endParaRPr lang="en-US" sz="20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1759" marR="3175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9032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2. </a:t>
                      </a:r>
                      <a:endParaRPr lang="en-US" sz="20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1759" marR="3175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2. </a:t>
                      </a:r>
                      <a:endParaRPr lang="en-US" sz="20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1759" marR="3175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9032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3. </a:t>
                      </a:r>
                      <a:endParaRPr lang="en-US" sz="2000" dirty="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1759" marR="3175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3. </a:t>
                      </a:r>
                      <a:endParaRPr lang="en-US" sz="20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1759" marR="3175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9032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4. </a:t>
                      </a:r>
                      <a:endParaRPr lang="en-US" sz="20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1759" marR="3175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4. </a:t>
                      </a:r>
                      <a:endParaRPr lang="en-US" sz="20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1759" marR="3175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9032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5. </a:t>
                      </a:r>
                      <a:endParaRPr lang="en-US" sz="20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1759" marR="3175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5. </a:t>
                      </a:r>
                      <a:endParaRPr lang="en-US" sz="20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1759" marR="3175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9032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6.</a:t>
                      </a:r>
                      <a:endParaRPr lang="en-US" sz="20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1759" marR="3175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6.</a:t>
                      </a:r>
                      <a:endParaRPr lang="en-US" sz="20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1759" marR="3175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9032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7.</a:t>
                      </a:r>
                      <a:endParaRPr lang="en-US" sz="20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1759" marR="3175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7.</a:t>
                      </a:r>
                      <a:endParaRPr lang="en-US" sz="20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1759" marR="3175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9032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8.</a:t>
                      </a:r>
                      <a:endParaRPr lang="en-US" sz="20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1759" marR="3175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8.</a:t>
                      </a:r>
                      <a:endParaRPr lang="en-US" sz="2000" dirty="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1759" marR="3175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1714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62441" y="1961011"/>
            <a:ext cx="6005261" cy="4457806"/>
          </a:xfrm>
          <a:prstGeom prst="rect">
            <a:avLst/>
          </a:prstGeom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167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AA35BC6-D428-FC41-BDE5-6438AB8840FC}"/>
                  </a:ext>
                </a:extLst>
              </p:cNvPr>
              <p:cNvSpPr txBox="1"/>
              <p:nvPr/>
            </p:nvSpPr>
            <p:spPr>
              <a:xfrm>
                <a:off x="540564" y="418890"/>
                <a:ext cx="9680067" cy="14001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Work with your partner to complete the proof in a different way.</a:t>
                </a: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pPr marL="463550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Given: </a:t>
                </a:r>
                <a14:m>
                  <m:oMath xmlns:m="http://schemas.openxmlformats.org/officeDocument/2006/math">
                    <m:acc>
                      <m:accPr>
                        <m:chr m:val="⃡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𝑃𝑇</m:t>
                        </m:r>
                      </m:e>
                    </m:acc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∥</m:t>
                    </m:r>
                    <m:acc>
                      <m:accPr>
                        <m:chr m:val="⃡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𝑅𝐻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𝐶𝐵𝐺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≅∠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𝐶𝑌𝐺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</a:t>
                </a:r>
              </a:p>
              <a:p>
                <a:pPr marL="463550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Prove: </a:t>
                </a:r>
                <a14:m>
                  <m:oMath xmlns:m="http://schemas.openxmlformats.org/officeDocument/2006/math">
                    <m:acc>
                      <m:accPr>
                        <m:chr m:val="⃡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𝑊𝑍</m:t>
                        </m:r>
                      </m:e>
                    </m:acc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∥</m:t>
                    </m:r>
                    <m:acc>
                      <m:accPr>
                        <m:chr m:val="⃡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𝐴𝑁</m:t>
                        </m:r>
                      </m:e>
                    </m:acc>
                  </m:oMath>
                </a14:m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AA35BC6-D428-FC41-BDE5-6438AB884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4" y="418890"/>
                <a:ext cx="9680067" cy="1400192"/>
              </a:xfrm>
              <a:prstGeom prst="rect">
                <a:avLst/>
              </a:prstGeom>
              <a:blipFill>
                <a:blip r:embed="rId5"/>
                <a:stretch>
                  <a:fillRect l="-693" t="-3057" b="-69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D24B490A-71D6-FD45-903D-95450FDFCF80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369627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167</a:t>
            </a: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D24B490A-71D6-FD45-903D-95450FDFCF80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95222772"/>
                  </p:ext>
                </p:extLst>
              </p:nvPr>
            </p:nvGraphicFramePr>
            <p:xfrm>
              <a:off x="777587" y="442178"/>
              <a:ext cx="8090115" cy="4802507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406199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02812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1077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Statement</a:t>
                          </a:r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6661" marR="5666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Reason</a:t>
                          </a:r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6661" marR="5666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81252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1.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⃡"/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Verdana" charset="0"/>
                                      <a:cs typeface="Verdana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i="1">
                                      <a:effectLst/>
                                      <a:latin typeface="Cambria Math" charset="0"/>
                                      <a:ea typeface="Verdana" charset="0"/>
                                      <a:cs typeface="Verdana" charset="0"/>
                                    </a:rPr>
                                    <m:t>𝑃𝑇</m:t>
                                  </m:r>
                                </m:e>
                              </m:acc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∥</m:t>
                              </m:r>
                              <m:acc>
                                <m:accPr>
                                  <m:chr m:val="⃡"/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Verdana" charset="0"/>
                                      <a:cs typeface="Verdana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i="1">
                                      <a:effectLst/>
                                      <a:latin typeface="Cambria Math" charset="0"/>
                                      <a:ea typeface="Verdana" charset="0"/>
                                      <a:cs typeface="Verdana" charset="0"/>
                                    </a:rPr>
                                    <m:t>𝑅𝐻</m:t>
                                  </m:r>
                                </m:e>
                              </m:acc>
                            </m:oMath>
                          </a14:m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6661" marR="5666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1. Given</a:t>
                          </a:r>
                        </a:p>
                      </a:txBody>
                      <a:tcPr marL="56661" marR="5666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258682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2.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∠</m:t>
                              </m:r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𝐶𝐵𝐺</m:t>
                              </m:r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≅∠___________</m:t>
                              </m:r>
                            </m:oMath>
                          </a14:m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6661" marR="5666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2. If two parallel lines are intersected by a transversal, then corresponding angles are congruent.</a:t>
                          </a:r>
                        </a:p>
                      </a:txBody>
                      <a:tcPr marL="56661" marR="5666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41915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3.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∠</m:t>
                              </m:r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𝐶𝐵𝐺</m:t>
                              </m:r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≅∠</m:t>
                              </m:r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𝐶𝑌𝐺</m:t>
                              </m:r>
                            </m:oMath>
                          </a14:m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6661" marR="5666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3. Given</a:t>
                          </a:r>
                        </a:p>
                      </a:txBody>
                      <a:tcPr marL="56661" marR="5666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1054944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4. </a:t>
                          </a:r>
                        </a:p>
                      </a:txBody>
                      <a:tcPr marL="56661" marR="5666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4. Transitive Property of Congruence</a:t>
                          </a:r>
                        </a:p>
                      </a:txBody>
                      <a:tcPr marL="56661" marR="5666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1054944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5.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 </m:t>
                              </m:r>
                              <m:acc>
                                <m:accPr>
                                  <m:chr m:val="⃡"/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Verdana" charset="0"/>
                                      <a:cs typeface="Verdana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i="1">
                                      <a:effectLst/>
                                      <a:latin typeface="Cambria Math" charset="0"/>
                                      <a:ea typeface="Verdana" charset="0"/>
                                      <a:cs typeface="Verdana" charset="0"/>
                                    </a:rPr>
                                    <m:t>𝑊𝑍</m:t>
                                  </m:r>
                                </m:e>
                              </m:acc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∥</m:t>
                              </m:r>
                              <m:acc>
                                <m:accPr>
                                  <m:chr m:val="⃡"/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Verdana" charset="0"/>
                                      <a:cs typeface="Verdana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i="1">
                                      <a:effectLst/>
                                      <a:latin typeface="Cambria Math" charset="0"/>
                                      <a:ea typeface="Verdana" charset="0"/>
                                      <a:cs typeface="Verdana" charset="0"/>
                                    </a:rPr>
                                    <m:t>𝐴𝑁</m:t>
                                  </m:r>
                                </m:e>
                              </m:acc>
                            </m:oMath>
                          </a14:m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6661" marR="5666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5.</a:t>
                          </a:r>
                        </a:p>
                      </a:txBody>
                      <a:tcPr marL="56661" marR="5666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95222772"/>
                  </p:ext>
                </p:extLst>
              </p:nvPr>
            </p:nvGraphicFramePr>
            <p:xfrm>
              <a:off x="777587" y="442178"/>
              <a:ext cx="8090115" cy="4802507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406199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02812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1077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Statement</a:t>
                          </a:r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6661" marR="5666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Reason</a:t>
                          </a:r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6661" marR="5666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812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6661" marR="5666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50" t="-88750" r="-99400" b="-80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1. Given</a:t>
                          </a:r>
                        </a:p>
                      </a:txBody>
                      <a:tcPr marL="56661" marR="5666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25868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6661" marR="5666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50" t="-73301" r="-99400" b="-2126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2. If two parallel lines are intersected by a transversal, then corresponding angles are congruent.</a:t>
                          </a:r>
                        </a:p>
                      </a:txBody>
                      <a:tcPr marL="56661" marR="5666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4191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6661" marR="5666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50" t="-401124" r="-99400" b="-3921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3. Given</a:t>
                          </a:r>
                        </a:p>
                      </a:txBody>
                      <a:tcPr marL="56661" marR="5666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1054944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4. </a:t>
                          </a:r>
                        </a:p>
                      </a:txBody>
                      <a:tcPr marL="56661" marR="5666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4. Transitive Property of Congruence</a:t>
                          </a:r>
                        </a:p>
                      </a:txBody>
                      <a:tcPr marL="56661" marR="5666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105494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6661" marR="5666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50" t="-358382" r="-99400" b="-11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5.</a:t>
                          </a:r>
                        </a:p>
                      </a:txBody>
                      <a:tcPr marL="56661" marR="5666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0318577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:a16="http://schemas.microsoft.com/office/drawing/2014/main" id="{2AC58C8F-2DD8-F347-9ECA-58EE9E1B7E9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19075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167</a:t>
            </a:r>
          </a:p>
        </p:txBody>
      </p:sp>
    </p:spTree>
    <p:extLst>
      <p:ext uri="{BB962C8B-B14F-4D97-AF65-F5344CB8AC3E}">
        <p14:creationId xmlns:p14="http://schemas.microsoft.com/office/powerpoint/2010/main" val="12004594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72050" y="1239845"/>
            <a:ext cx="4956100" cy="4840573"/>
          </a:xfrm>
          <a:prstGeom prst="rect">
            <a:avLst/>
          </a:prstGeom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052650" y="-85855"/>
            <a:ext cx="1028886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3.8.3 Guided Instruction: Proofs Involving Angle Relationship</a:t>
            </a:r>
          </a:p>
        </p:txBody>
      </p:sp>
      <p:pic>
        <p:nvPicPr>
          <p:cNvPr id="9" name="Google Shape;345;g103996e1364_0_321">
            <a:extLst>
              <a:ext uri="{FF2B5EF4-FFF2-40B4-BE49-F238E27FC236}">
                <a16:creationId xmlns:a16="http://schemas.microsoft.com/office/drawing/2014/main" id="{CBDD45DF-949B-9F42-BFF6-A7167F0CF79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05350" y="121409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B2B1ECCC-8E07-F247-BB16-7B958B8E6B20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167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1B13E8-EC8D-E443-A329-C5E3593DD13A}"/>
                  </a:ext>
                </a:extLst>
              </p:cNvPr>
              <p:cNvSpPr txBox="1"/>
              <p:nvPr/>
            </p:nvSpPr>
            <p:spPr>
              <a:xfrm>
                <a:off x="593247" y="1386149"/>
                <a:ext cx="6397487" cy="16705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Complete the flowchart proof.</a:t>
                </a: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pPr marL="463550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Given: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𝑅𝑁𝐷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𝐹𝐷𝑃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are supplementary. </a:t>
                </a:r>
              </a:p>
              <a:p>
                <a:pPr marL="463550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pPr marL="463550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Prove: </a:t>
                </a:r>
                <a14:m>
                  <m:oMath xmlns:m="http://schemas.openxmlformats.org/officeDocument/2006/math">
                    <m:acc>
                      <m:accPr>
                        <m:chr m:val="⃡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𝐺𝑅</m:t>
                        </m:r>
                      </m:e>
                    </m:acc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∥</m:t>
                    </m:r>
                    <m:acc>
                      <m:accPr>
                        <m:chr m:val="⃡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𝐹𝐾</m:t>
                        </m:r>
                      </m:e>
                    </m:acc>
                  </m:oMath>
                </a14:m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1B13E8-EC8D-E443-A329-C5E3593DD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247" y="1386149"/>
                <a:ext cx="6397487" cy="1670586"/>
              </a:xfrm>
              <a:prstGeom prst="rect">
                <a:avLst/>
              </a:prstGeom>
              <a:blipFill>
                <a:blip r:embed="rId6"/>
                <a:stretch>
                  <a:fillRect l="-1048" t="-2190" b="-54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id="{F7A98FFB-A3E6-7642-B96E-3A3B8C27BD7F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897678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168</a:t>
            </a: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D132551E-02DD-6A43-9F52-A70D434DE096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56040" y="117331"/>
            <a:ext cx="4096484" cy="6631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97230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168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465232" y="296970"/>
                <a:ext cx="11480962" cy="23235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Choose from the bank of statements and reasons to complete the paragraph proof.</a:t>
                </a: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pPr marL="463550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Given:</a:t>
                </a:r>
                <a14:m>
                  <m:oMath xmlns:m="http://schemas.openxmlformats.org/officeDocument/2006/math">
                    <m:acc>
                      <m:accPr>
                        <m:chr m:val="⃡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𝑃𝑇</m:t>
                        </m:r>
                      </m:e>
                    </m:acc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∥</m:t>
                    </m:r>
                    <m:acc>
                      <m:accPr>
                        <m:chr m:val="⃡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𝑅𝐻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</a:p>
              <a:p>
                <a:pPr marL="463550"/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𝑃𝐶𝑊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≅∠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𝐻𝐺𝑁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</a:t>
                </a:r>
              </a:p>
              <a:p>
                <a:pPr marL="463550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pPr marL="463550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Prove: </a:t>
                </a:r>
                <a14:m>
                  <m:oMath xmlns:m="http://schemas.openxmlformats.org/officeDocument/2006/math">
                    <m:acc>
                      <m:accPr>
                        <m:chr m:val="⃡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𝑊𝑍</m:t>
                        </m:r>
                      </m:e>
                    </m:acc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∥</m:t>
                    </m:r>
                    <m:acc>
                      <m:accPr>
                        <m:chr m:val="⃡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𝐴𝑁</m:t>
                        </m:r>
                      </m:e>
                    </m:acc>
                  </m:oMath>
                </a14:m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232" y="296970"/>
                <a:ext cx="11480962" cy="2323521"/>
              </a:xfrm>
              <a:prstGeom prst="rect">
                <a:avLst/>
              </a:prstGeom>
              <a:blipFill>
                <a:blip r:embed="rId4"/>
                <a:stretch>
                  <a:fillRect l="-584" t="-18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D132551E-02DD-6A43-9F52-A70D434DE096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96888" y="873880"/>
            <a:ext cx="5331262" cy="4212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600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3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798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168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465232" y="288869"/>
                <a:ext cx="11162918" cy="25939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It is given that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___________________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</a:t>
                </a: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Therefore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𝑅𝐵𝐶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≅∠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𝑃𝐶𝑊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because if two parallel lines are intersected by a transversal then_______________________. </a:t>
                </a: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It is also given that _______________. By the ___________, it can be written that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𝑅𝐵𝐶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≅ 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𝐻𝐺𝑁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 Therefore, it can be concluded that </a:t>
                </a:r>
                <a14:m>
                  <m:oMath xmlns:m="http://schemas.openxmlformats.org/officeDocument/2006/math">
                    <m:acc>
                      <m:accPr>
                        <m:chr m:val="⃡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𝑊𝑍</m:t>
                        </m:r>
                      </m:e>
                    </m:acc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∥</m:t>
                    </m:r>
                    <m:acc>
                      <m:accPr>
                        <m:chr m:val="⃡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𝐴𝑁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because if two lines are intersected by a transversal so that __________________ then the lines are parallel.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232" y="288869"/>
                <a:ext cx="11162918" cy="2593915"/>
              </a:xfrm>
              <a:prstGeom prst="rect">
                <a:avLst/>
              </a:prstGeom>
              <a:blipFill>
                <a:blip r:embed="rId4"/>
                <a:stretch>
                  <a:fillRect l="-546" t="-1174" b="-3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D132551E-02DD-6A43-9F52-A70D434DE096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61496967"/>
                  </p:ext>
                </p:extLst>
              </p:nvPr>
            </p:nvGraphicFramePr>
            <p:xfrm>
              <a:off x="603648" y="3407238"/>
              <a:ext cx="8276094" cy="2376805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70255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57353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57200">
                    <a:tc grid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Statements and Reasons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919605"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Symbol" charset="2"/>
                            <a:buChar char=""/>
                          </a:pPr>
                          <a14:m>
                            <m:oMath xmlns:m="http://schemas.openxmlformats.org/officeDocument/2006/math">
                              <m:acc>
                                <m:accPr>
                                  <m:chr m:val="⃡"/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Times New Roman" charset="0"/>
                                      <a:cs typeface="Times New Roman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i="1">
                                      <a:effectLst/>
                                      <a:latin typeface="Cambria Math" charset="0"/>
                                      <a:ea typeface="Times New Roman" charset="0"/>
                                      <a:cs typeface="Times New Roman" charset="0"/>
                                    </a:rPr>
                                    <m:t>𝑃𝑇</m:t>
                                  </m:r>
                                </m:e>
                              </m:acc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Times New Roman" charset="0"/>
                                  <a:cs typeface="Times New Roman" charset="0"/>
                                </a:rPr>
                                <m:t>∥</m:t>
                              </m:r>
                              <m:acc>
                                <m:accPr>
                                  <m:chr m:val="⃡"/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Times New Roman" charset="0"/>
                                      <a:cs typeface="Times New Roman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i="1">
                                      <a:effectLst/>
                                      <a:latin typeface="Cambria Math" charset="0"/>
                                      <a:ea typeface="Times New Roman" charset="0"/>
                                      <a:cs typeface="Times New Roman" charset="0"/>
                                    </a:rPr>
                                    <m:t>𝑅𝐻</m:t>
                                  </m:r>
                                </m:e>
                              </m:acc>
                            </m:oMath>
                          </a14:m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Symbol" charset="2"/>
                            <a:buChar char=""/>
                          </a:pPr>
                          <a14:m>
                            <m:oMath xmlns:m="http://schemas.openxmlformats.org/officeDocument/2006/math">
                              <m:acc>
                                <m:accPr>
                                  <m:chr m:val="⃡"/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Times New Roman" charset="0"/>
                                      <a:cs typeface="Times New Roman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i="1">
                                      <a:effectLst/>
                                      <a:latin typeface="Cambria Math" charset="0"/>
                                      <a:ea typeface="Times New Roman" charset="0"/>
                                      <a:cs typeface="Times New Roman" charset="0"/>
                                    </a:rPr>
                                    <m:t>𝑊𝑍</m:t>
                                  </m:r>
                                </m:e>
                              </m:acc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Times New Roman" charset="0"/>
                                  <a:cs typeface="Times New Roman" charset="0"/>
                                </a:rPr>
                                <m:t>∥</m:t>
                              </m:r>
                              <m:acc>
                                <m:accPr>
                                  <m:chr m:val="⃡"/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Times New Roman" charset="0"/>
                                      <a:cs typeface="Times New Roman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i="1">
                                      <a:effectLst/>
                                      <a:latin typeface="Cambria Math" charset="0"/>
                                      <a:ea typeface="Times New Roman" charset="0"/>
                                      <a:cs typeface="Times New Roman" charset="0"/>
                                    </a:rPr>
                                    <m:t>𝐴𝑁</m:t>
                                  </m:r>
                                </m:e>
                              </m:acc>
                            </m:oMath>
                          </a14:m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Symbol" charset="2"/>
                            <a:buChar char=""/>
                          </a:pP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Times New Roman" charset="0"/>
                                  <a:cs typeface="Times New Roman" charset="0"/>
                                </a:rPr>
                                <m:t>∠</m:t>
                              </m:r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Times New Roman" charset="0"/>
                                  <a:cs typeface="Times New Roman" charset="0"/>
                                </a:rPr>
                                <m:t>𝑃𝐶𝑊</m:t>
                              </m:r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Times New Roman" charset="0"/>
                                  <a:cs typeface="Times New Roman" charset="0"/>
                                </a:rPr>
                                <m:t>≅∠</m:t>
                              </m:r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Times New Roman" charset="0"/>
                                  <a:cs typeface="Times New Roman" charset="0"/>
                                </a:rPr>
                                <m:t>𝐻𝐺𝑁</m:t>
                              </m:r>
                            </m:oMath>
                          </a14:m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Symbol" charset="2"/>
                            <a:buChar char=""/>
                          </a:pP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Times New Roman" charset="0"/>
                                  <a:cs typeface="Times New Roman" charset="0"/>
                                </a:rPr>
                                <m:t>∠</m:t>
                              </m:r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Times New Roman" charset="0"/>
                                  <a:cs typeface="Times New Roman" charset="0"/>
                                </a:rPr>
                                <m:t>𝑍𝐵𝐺</m:t>
                              </m:r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Times New Roman" charset="0"/>
                                  <a:cs typeface="Times New Roman" charset="0"/>
                                </a:rPr>
                                <m:t>≅∠</m:t>
                              </m:r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Times New Roman" charset="0"/>
                                  <a:cs typeface="Times New Roman" charset="0"/>
                                </a:rPr>
                                <m:t>𝐻𝐺𝑁</m:t>
                              </m:r>
                            </m:oMath>
                          </a14:m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Symbol" charset="2"/>
                            <a:buChar char=""/>
                          </a:pP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Times New Roman" charset="0"/>
                                  <a:cs typeface="Times New Roman" charset="0"/>
                                </a:rPr>
                                <m:t>∠</m:t>
                              </m:r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Times New Roman" charset="0"/>
                                  <a:cs typeface="Times New Roman" charset="0"/>
                                </a:rPr>
                                <m:t>𝐺𝑁𝐷</m:t>
                              </m:r>
                            </m:oMath>
                          </a14:m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Symbol" charset="2"/>
                            <a:buChar char=""/>
                          </a:pP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Times New Roman" charset="0"/>
                                  <a:cs typeface="Times New Roman" charset="0"/>
                                </a:rPr>
                                <m:t>∠</m:t>
                              </m:r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Times New Roman" charset="0"/>
                                  <a:cs typeface="Times New Roman" charset="0"/>
                                </a:rPr>
                                <m:t>𝐹𝐷𝑃</m:t>
                              </m:r>
                            </m:oMath>
                          </a14:m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Symbol" charset="2"/>
                            <a:buChar char=""/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Definition of Congruence</a:t>
                          </a: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Symbol" charset="2"/>
                            <a:buChar char=""/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Transitive Property of Congruence </a:t>
                          </a: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Symbol" charset="2"/>
                            <a:buChar char=""/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Definition of Supplementary Angles</a:t>
                          </a: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Symbol" charset="2"/>
                            <a:buChar char=""/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Corresponding angles are congruent</a:t>
                          </a: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Symbol" charset="2"/>
                            <a:buChar char=""/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Alternate exterior angles are congruent</a:t>
                          </a: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Symbol" charset="2"/>
                            <a:buChar char=""/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Alternate interior angles are congruent</a:t>
                          </a: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61496967"/>
                  </p:ext>
                </p:extLst>
              </p:nvPr>
            </p:nvGraphicFramePr>
            <p:xfrm>
              <a:off x="603648" y="3407238"/>
              <a:ext cx="8276094" cy="2376805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70255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57353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57200">
                    <a:tc grid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Statements and Reasons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91960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451" t="-24051" r="-206998" b="-72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Symbol" charset="2"/>
                            <a:buChar char=""/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Definition of Congruence</a:t>
                          </a: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Symbol" charset="2"/>
                            <a:buChar char=""/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Transitive Property of Congruence </a:t>
                          </a: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Symbol" charset="2"/>
                            <a:buChar char=""/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Definition of Supplementary Angles</a:t>
                          </a: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Symbol" charset="2"/>
                            <a:buChar char=""/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Corresponding angles are congruent</a:t>
                          </a: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Symbol" charset="2"/>
                            <a:buChar char=""/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Alternate exterior angles are congruent</a:t>
                          </a: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Symbol" charset="2"/>
                            <a:buChar char=""/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Alternate interior angles are congruent</a:t>
                          </a: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8090789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0" name="Google Shape;310;g104476d1465_1_39"/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169</a:t>
            </a:r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104476d1465_1_17"/>
          <p:cNvSpPr txBox="1"/>
          <p:nvPr/>
        </p:nvSpPr>
        <p:spPr>
          <a:xfrm>
            <a:off x="8855907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169</a:t>
            </a: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94133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134800" y="-74346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3.8.4 Wrap-Up: Reflection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350" y="6855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370EDB7-6994-3D43-ABF9-E04CBAFB9CD9}"/>
              </a:ext>
            </a:extLst>
          </p:cNvPr>
          <p:cNvSpPr txBox="1"/>
          <p:nvPr/>
        </p:nvSpPr>
        <p:spPr>
          <a:xfrm>
            <a:off x="477619" y="1251354"/>
            <a:ext cx="500878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Circle the icon that best describes your understanding of each concept. </a:t>
            </a:r>
          </a:p>
        </p:txBody>
      </p:sp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id="{31AAE36C-5822-464A-8B2B-DAD96F65814D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18545" y="1251354"/>
            <a:ext cx="5771362" cy="4623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1325</TotalTime>
  <Words>1049</Words>
  <Application>Microsoft Office PowerPoint</Application>
  <PresentationFormat>Widescreen</PresentationFormat>
  <Paragraphs>199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2" baseType="lpstr">
      <vt:lpstr>Arial</vt:lpstr>
      <vt:lpstr>Arial Black</vt:lpstr>
      <vt:lpstr>Calibri</vt:lpstr>
      <vt:lpstr>Cambria</vt:lpstr>
      <vt:lpstr>Cambria Math</vt:lpstr>
      <vt:lpstr>Century Gothic</vt:lpstr>
      <vt:lpstr>Symbol</vt:lpstr>
      <vt:lpstr>Verdana</vt:lpstr>
      <vt:lpstr>Wingdings</vt:lpstr>
      <vt:lpstr>1_Office Theme</vt:lpstr>
      <vt:lpstr>Geometry  Unit 3, Lesson 8  Angle Relationship Proofs – Part 1  Volume 1, pg. 164  </vt:lpstr>
      <vt:lpstr>Benchmarks</vt:lpstr>
      <vt:lpstr>PowerPoint Presentation</vt:lpstr>
      <vt:lpstr>PowerPoint Presentation</vt:lpstr>
      <vt:lpstr>Warm-Up</vt:lpstr>
      <vt:lpstr>PowerPoint Presentation</vt:lpstr>
      <vt:lpstr>Collaboration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Guided Instruction</vt:lpstr>
      <vt:lpstr>PowerPoint Presentation</vt:lpstr>
      <vt:lpstr>PowerPoint Presentation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Morgan Palomino</cp:lastModifiedBy>
  <cp:revision>24</cp:revision>
  <dcterms:created xsi:type="dcterms:W3CDTF">2015-03-17T18:51:18Z</dcterms:created>
  <dcterms:modified xsi:type="dcterms:W3CDTF">2023-03-01T21:18:47Z</dcterms:modified>
</cp:coreProperties>
</file>