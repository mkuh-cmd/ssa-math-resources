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36" r:id="rId8"/>
    <p:sldId id="315" r:id="rId9"/>
    <p:sldId id="316" r:id="rId10"/>
    <p:sldId id="332" r:id="rId11"/>
    <p:sldId id="334" r:id="rId12"/>
    <p:sldId id="335" r:id="rId13"/>
    <p:sldId id="337" r:id="rId14"/>
    <p:sldId id="338" r:id="rId15"/>
    <p:sldId id="339" r:id="rId16"/>
    <p:sldId id="340" r:id="rId17"/>
    <p:sldId id="341" r:id="rId18"/>
    <p:sldId id="302" r:id="rId19"/>
    <p:sldId id="303" r:id="rId20"/>
    <p:sldId id="309" r:id="rId21"/>
    <p:sldId id="342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32"/>
    <p:restoredTop sz="94767"/>
  </p:normalViewPr>
  <p:slideViewPr>
    <p:cSldViewPr snapToGrid="0">
      <p:cViewPr varScale="1">
        <p:scale>
          <a:sx n="86" d="100"/>
          <a:sy n="86" d="100"/>
        </p:scale>
        <p:origin x="248" y="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575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4885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473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9726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37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5177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427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5131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7993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697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70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image" Target="../media/image270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Vertical and Corresponding Angles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132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MA.912.GR.1.1 </a:t>
            </a:r>
          </a:p>
          <a:p>
            <a:pPr marL="46831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lines and angles. Solve mathematical and real-world problems involving postulates, relationships, and theorems of lines and 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53499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132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132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vertical angles to solve problems. 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corresponding angles formed by parallel lines and a transversal to solve problems.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7BA09A98-EDA0-5343-AD77-8F8E8C4F0E7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-57535"/>
            <a:ext cx="91089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3.2.1 Warm-Up: Shape Sequence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93248" y="1386150"/>
            <a:ext cx="106935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sequence of three shapes created using rectangles is shown.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many rectangles will have to be added for the next step in the sequence?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many rectangles will be in Figure 11?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C2564F7E-689E-724F-BBC4-EC8DFC52E6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160" y="2156399"/>
            <a:ext cx="74168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133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931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94482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3.2.2 Exploration: Parallel Lines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9461204" cy="782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𝐷𝑃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shown,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𝐷𝑃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intersects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𝐽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𝐷𝑃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intersects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9461204" cy="782650"/>
              </a:xfrm>
              <a:prstGeom prst="rect">
                <a:avLst/>
              </a:prstGeom>
              <a:blipFill>
                <a:blip r:embed="rId4"/>
                <a:stretch>
                  <a:fillRect r="-193" b="-13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D252DD22-4545-6844-9D1D-323C0B41AD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750" y="2308450"/>
            <a:ext cx="7315200" cy="4025900"/>
          </a:xfrm>
          <a:prstGeom prst="rect">
            <a:avLst/>
          </a:prstGeom>
        </p:spPr>
      </p:pic>
      <p:pic>
        <p:nvPicPr>
          <p:cNvPr id="1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9847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71621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3424949"/>
                <a:ext cx="11069282" cy="2741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rigid transformations can be used to map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so that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𝐽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coincides with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can you use a translation to map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so that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𝐽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coincides with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diagram,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also known as a transversal,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parallel lines denoted as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𝐹𝐵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||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𝑋𝑌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424949"/>
                <a:ext cx="11069282" cy="2741456"/>
              </a:xfrm>
              <a:prstGeom prst="rect">
                <a:avLst/>
              </a:prstGeom>
              <a:blipFill>
                <a:blip r:embed="rId4"/>
                <a:stretch>
                  <a:fillRect l="-606" t="-222" b="-2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130" y="269255"/>
            <a:ext cx="5734007" cy="315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1688395"/>
                <a:ext cx="10983359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translation of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so that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𝐽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coincides with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name the new angles in the chart.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1688395"/>
                <a:ext cx="10983359" cy="745269"/>
              </a:xfrm>
              <a:prstGeom prst="rect">
                <a:avLst/>
              </a:prstGeom>
              <a:blipFill>
                <a:blip r:embed="rId4"/>
                <a:stretch>
                  <a:fillRect l="-611" t="-820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1389433" y="394481"/>
            <a:ext cx="6629400" cy="1011302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	A </a:t>
            </a:r>
            <a:r>
              <a:rPr lang="en-US" sz="2000" b="1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transversal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is a line that intersects two 	or more lines in the same plane at 	different points.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2786" y="634005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2165933"/>
                  </p:ext>
                </p:extLst>
              </p:nvPr>
            </p:nvGraphicFramePr>
            <p:xfrm>
              <a:off x="1303709" y="2716274"/>
              <a:ext cx="6715125" cy="229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147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40042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261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Pre-image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Image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𝑃𝐽𝐹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𝐽𝐾𝑌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𝐷𝐽𝐵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𝑋𝐾𝐷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2165933"/>
                  </p:ext>
                </p:extLst>
              </p:nvPr>
            </p:nvGraphicFramePr>
            <p:xfrm>
              <a:off x="1303709" y="2716274"/>
              <a:ext cx="6715125" cy="2298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147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004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Pre-image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Image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4" t="-75610" r="-103125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7496" t="-175610" r="-358" b="-2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4" t="-275610" r="-103125" b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5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7496" t="-375610" r="-358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997765" y="5320186"/>
            <a:ext cx="81573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3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angles listed in the table above are corresponding angles.	 </a:t>
            </a:r>
          </a:p>
        </p:txBody>
      </p:sp>
    </p:spTree>
    <p:extLst>
      <p:ext uri="{BB962C8B-B14F-4D97-AF65-F5344CB8AC3E}">
        <p14:creationId xmlns:p14="http://schemas.microsoft.com/office/powerpoint/2010/main" val="211374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35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612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134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52804" y="2108816"/>
            <a:ext cx="111048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statement.</a:t>
            </a:r>
          </a:p>
          <a:p>
            <a:pPr marL="347663">
              <a:lnSpc>
                <a:spcPct val="200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Given that corresponding angles of parallel lines can be mapped to each other using rigid transformations, it can </a:t>
            </a:r>
          </a:p>
          <a:p>
            <a:pPr marL="347663">
              <a:lnSpc>
                <a:spcPct val="200000"/>
              </a:lnSpc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7663">
              <a:lnSpc>
                <a:spcPct val="200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be concluded that the angles are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9902" y="4293395"/>
            <a:ext cx="3479800" cy="1320800"/>
          </a:xfrm>
          <a:prstGeom prst="rect">
            <a:avLst/>
          </a:prstGeom>
        </p:spPr>
      </p:pic>
      <p:sp>
        <p:nvSpPr>
          <p:cNvPr id="7" name="Text Box 24">
            <a:extLst>
              <a:ext uri="{FF2B5EF4-FFF2-40B4-BE49-F238E27FC236}">
                <a16:creationId xmlns:a16="http://schemas.microsoft.com/office/drawing/2014/main" xmlns="" id="{B78FA783-2959-4BCB-8B21-449477061BFB}"/>
              </a:ext>
            </a:extLst>
          </p:cNvPr>
          <p:cNvSpPr txBox="1"/>
          <p:nvPr/>
        </p:nvSpPr>
        <p:spPr>
          <a:xfrm>
            <a:off x="976478" y="615183"/>
            <a:ext cx="6629400" cy="1290144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	Corresponding angles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are angles that 	are in the same position on two parallel 	lines in relation to a transversal.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9868489-3F5E-4A5B-9A86-67241074E27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9831" y="854707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7844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134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24B490A-71D6-FD45-903D-95450FDFCF8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58419" y="465528"/>
                <a:ext cx="3949341" cy="10530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figure shown,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𝑊𝐾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||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𝑁𝑇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transversal.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19" y="465528"/>
                <a:ext cx="3949341" cy="1053045"/>
              </a:xfrm>
              <a:prstGeom prst="rect">
                <a:avLst/>
              </a:prstGeom>
              <a:blipFill>
                <a:blip r:embed="rId4"/>
                <a:stretch>
                  <a:fillRect l="-1698" t="-3468" b="-9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1338" y="311731"/>
            <a:ext cx="3979821" cy="33863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54659" y="3698069"/>
            <a:ext cx="7726679" cy="275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For each angle, name a corresponding angle and a vertical angle.</a:t>
            </a:r>
          </a:p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Discuss your answers with your partner and make changes, if necessary.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9422566"/>
                  </p:ext>
                </p:extLst>
              </p:nvPr>
            </p:nvGraphicFramePr>
            <p:xfrm>
              <a:off x="1490992" y="4540641"/>
              <a:ext cx="7232185" cy="10679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757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4597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45976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245976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246684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19077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𝑻𝑷𝑹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𝑾𝑯𝑷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𝑲𝑯𝑷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∠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</a:rPr>
                                  <m:t>𝑵𝑷𝑹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815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</a:rPr>
                            <a:t>Corresponding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815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Vertical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9422566"/>
                  </p:ext>
                </p:extLst>
              </p:nvPr>
            </p:nvGraphicFramePr>
            <p:xfrm>
              <a:off x="1490992" y="4540641"/>
              <a:ext cx="7232185" cy="10679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75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459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459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459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466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1373" t="-1961" r="-302451" b="-280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80000" t="-1961" r="-200976" b="-280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81863" t="-1961" r="-101961" b="-280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79512" t="-1961" r="-1463" b="-2803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15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</a:rPr>
                            <a:t>Corresponding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15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</a:rPr>
                            <a:t>Vertical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charset="0"/>
                            <a:ea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53534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135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5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5319" y="3176518"/>
            <a:ext cx="5515846" cy="3024205"/>
          </a:xfrm>
          <a:prstGeom prst="rect">
            <a:avLst/>
          </a:prstGeom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37087"/>
            <a:ext cx="1073131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3.2.3 Guided Practice: Angles in Parallel Lines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135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40566" y="3413532"/>
                <a:ext cx="5037768" cy="1090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𝑋𝐵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such that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𝑋𝐵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413532"/>
                <a:ext cx="5037768" cy="1090427"/>
              </a:xfrm>
              <a:prstGeom prst="rect">
                <a:avLst/>
              </a:prstGeom>
              <a:blipFill>
                <a:blip r:embed="rId6"/>
                <a:stretch>
                  <a:fillRect l="-1211" b="-9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A3E0058B-C607-174E-B439-E4D3192A9DB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Text Box 24"/>
          <p:cNvSpPr txBox="1"/>
          <p:nvPr/>
        </p:nvSpPr>
        <p:spPr>
          <a:xfrm>
            <a:off x="1604601" y="1329661"/>
            <a:ext cx="6629400" cy="1628481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Corresponding Angles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If two parallel lines are intersected by a 	transversal, then corresponding angles 	are congruent.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6622" y="1552099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0588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25479" y="386406"/>
                <a:ext cx="916241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determine the measurement of each angle.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9" y="386406"/>
                <a:ext cx="9162417" cy="707886"/>
              </a:xfrm>
              <a:prstGeom prst="rect">
                <a:avLst/>
              </a:prstGeom>
              <a:blipFill>
                <a:blip r:embed="rId4"/>
                <a:stretch>
                  <a:fillRect l="-732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152CD2B-A4D4-A94A-8235-80385DFE97A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1375856"/>
                  </p:ext>
                </p:extLst>
              </p:nvPr>
            </p:nvGraphicFramePr>
            <p:xfrm>
              <a:off x="-434690" y="1402068"/>
              <a:ext cx="4884420" cy="391681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88442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</a:tblGrid>
                  <a:tr h="1445388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𝐻𝐾𝑉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2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48285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𝑇𝐾𝑊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88571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𝑋𝐻𝐾</m:t>
                                </m:r>
                                <m:r>
                                  <a:rPr lang="en-US" sz="18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1375856"/>
                  </p:ext>
                </p:extLst>
              </p:nvPr>
            </p:nvGraphicFramePr>
            <p:xfrm>
              <a:off x="-434690" y="1402068"/>
              <a:ext cx="4884420" cy="391681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8844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4453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b="-1705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28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97942" b="-670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885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2950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3445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40720" y="394506"/>
                <a:ext cx="10194312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how to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find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𝑋𝐻𝑅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knowing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𝑋𝐻𝑅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allows all of the angles to be determined.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20" y="394506"/>
                <a:ext cx="10194312" cy="3477875"/>
              </a:xfrm>
              <a:prstGeom prst="rect">
                <a:avLst/>
              </a:prstGeom>
              <a:blipFill>
                <a:blip r:embed="rId4"/>
                <a:stretch>
                  <a:fillRect l="-658" t="-1228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836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46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7173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94507"/>
                <a:ext cx="11162918" cy="1090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𝐷𝐾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lie on a plane such that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𝑀𝑁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𝐷𝐾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transversal.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intersects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𝐷𝐾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𝑃𝑌𝑁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+36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°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𝑁𝑌𝐹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°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𝐾𝐹𝑊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=44°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4507"/>
                <a:ext cx="11162918" cy="1090427"/>
              </a:xfrm>
              <a:prstGeom prst="rect">
                <a:avLst/>
              </a:prstGeom>
              <a:blipFill>
                <a:blip r:embed="rId4"/>
                <a:stretch>
                  <a:fillRect l="-546" b="-8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2152CD2B-A4D4-A94A-8235-80385DFE97A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25480" y="1803085"/>
                <a:ext cx="8016240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a diagram that represents the given information. 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 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𝑃𝑌𝑀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80" y="1803085"/>
                <a:ext cx="8016240" cy="4093428"/>
              </a:xfrm>
              <a:prstGeom prst="rect">
                <a:avLst/>
              </a:prstGeom>
              <a:blipFill>
                <a:blip r:embed="rId5"/>
                <a:stretch>
                  <a:fillRect l="-837" t="-1043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284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136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3.2.4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836194" y="64714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94250"/>
                <a:ext cx="5279552" cy="140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𝑆𝑁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𝐷𝑋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lie on a plane, such that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𝑆𝑁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𝐷𝑋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transversals.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𝐵𝐾𝑁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=99°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𝐾𝑅𝐻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=99°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94250"/>
                <a:ext cx="5279552" cy="1402179"/>
              </a:xfrm>
              <a:prstGeom prst="rect">
                <a:avLst/>
              </a:prstGeom>
              <a:blipFill>
                <a:blip r:embed="rId5"/>
                <a:stretch>
                  <a:fillRect l="-1155" r="-9931" b="-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B65A09A0-1E94-F34F-9AC7-848B14CF3F5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4286" y="811798"/>
            <a:ext cx="5783865" cy="37454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52650" y="4079631"/>
                <a:ext cx="4572000" cy="22467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𝐾𝑍𝑀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𝑍𝐻𝑋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𝐷𝑅𝑆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50" y="4079631"/>
                <a:ext cx="4572000" cy="2246769"/>
              </a:xfrm>
              <a:prstGeom prst="rect">
                <a:avLst/>
              </a:prstGeom>
              <a:blipFill>
                <a:blip r:embed="rId7"/>
                <a:stretch>
                  <a:fillRect l="-1467" t="-1897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940720" y="1213294"/>
                <a:ext cx="5630768" cy="1092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CD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𝑇𝐹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||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𝐶𝑊𝑅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𝑇𝐾𝐵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=43°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20" y="1213294"/>
                <a:ext cx="5630768" cy="1092415"/>
              </a:xfrm>
              <a:prstGeom prst="rect">
                <a:avLst/>
              </a:prstGeom>
              <a:blipFill>
                <a:blip r:embed="rId4"/>
                <a:stretch>
                  <a:fillRect l="-1082" b="-8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2396" y="406698"/>
            <a:ext cx="4975754" cy="3152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13050" y="3563929"/>
                <a:ext cx="804299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Jasmyn’s and Drew’s justifications of the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𝐶𝐿𝐻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050" y="3563929"/>
                <a:ext cx="8042993" cy="707886"/>
              </a:xfrm>
              <a:prstGeom prst="rect">
                <a:avLst/>
              </a:prstGeom>
              <a:blipFill>
                <a:blip r:embed="rId6"/>
                <a:stretch>
                  <a:fillRect l="-834" t="-5172" r="-455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5223612"/>
                  </p:ext>
                </p:extLst>
              </p:nvPr>
            </p:nvGraphicFramePr>
            <p:xfrm>
              <a:off x="1747590" y="4432393"/>
              <a:ext cx="7373911" cy="1219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0003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7387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667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Jasmyn’s Answer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Drew’s Answer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9435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𝐶𝐿𝐻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=51°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𝐶𝐿𝐻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𝐶𝑊𝑅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are corresponding angles.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𝐶𝐿𝐻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=43°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𝑇𝐾𝐵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𝐶𝑊𝑅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are corresponding angles.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5223612"/>
                  </p:ext>
                </p:extLst>
              </p:nvPr>
            </p:nvGraphicFramePr>
            <p:xfrm>
              <a:off x="1747590" y="4432393"/>
              <a:ext cx="7373911" cy="1219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000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38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Jasmyn’s Answer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Drew’s Answer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64" t="-41722" r="-99507" b="-16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995" t="-41722" r="-332" b="-16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/>
          <p:cNvSpPr/>
          <p:nvPr/>
        </p:nvSpPr>
        <p:spPr>
          <a:xfrm>
            <a:off x="1604397" y="5884306"/>
            <a:ext cx="76450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Explain which student you agree with, including your reasoning.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955960" y="406698"/>
                <a:ext cx="783640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measure of the following angles.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𝐾𝑁𝐿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____________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𝐻𝑁𝐹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____________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8313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𝑀𝐿𝑁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____________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60" y="406698"/>
                <a:ext cx="7836408" cy="5016758"/>
              </a:xfrm>
              <a:prstGeom prst="rect">
                <a:avLst/>
              </a:prstGeom>
              <a:blipFill>
                <a:blip r:embed="rId4"/>
                <a:stretch>
                  <a:fillRect l="-856" t="-851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2425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7434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3.2.5 Wrap-Up: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2716" y="1251354"/>
            <a:ext cx="824138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Draw an example of vertical angles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.</a:t>
            </a: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 fontAlgn="base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Draw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an example of corresponding angles.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905</Words>
  <Application>Microsoft Macintosh PowerPoint</Application>
  <PresentationFormat>Widescreen</PresentationFormat>
  <Paragraphs>204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1_Office Theme</vt:lpstr>
      <vt:lpstr>Geometry  Unit 3, Lesson 2  Vertical and Corresponding Angles  Volume 1, pg. 132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26</cp:revision>
  <dcterms:created xsi:type="dcterms:W3CDTF">2015-03-17T18:51:18Z</dcterms:created>
  <dcterms:modified xsi:type="dcterms:W3CDTF">2022-07-25T21:09:59Z</dcterms:modified>
</cp:coreProperties>
</file>