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11" r:id="rId8"/>
    <p:sldId id="312" r:id="rId9"/>
    <p:sldId id="288" r:id="rId10"/>
    <p:sldId id="313" r:id="rId11"/>
    <p:sldId id="314" r:id="rId12"/>
    <p:sldId id="315" r:id="rId13"/>
    <p:sldId id="316" r:id="rId14"/>
    <p:sldId id="318" r:id="rId15"/>
    <p:sldId id="317" r:id="rId16"/>
    <p:sldId id="289" r:id="rId17"/>
    <p:sldId id="290" r:id="rId18"/>
    <p:sldId id="319" r:id="rId19"/>
    <p:sldId id="320" r:id="rId20"/>
    <p:sldId id="308" r:id="rId21"/>
    <p:sldId id="321" r:id="rId22"/>
    <p:sldId id="323" r:id="rId23"/>
    <p:sldId id="322" r:id="rId24"/>
    <p:sldId id="306" r:id="rId25"/>
    <p:sldId id="307" r:id="rId26"/>
  </p:sldIdLst>
  <p:sldSz cx="12192000" cy="6858000"/>
  <p:notesSz cx="6858000" cy="9144000"/>
  <p:embeddedFontLst>
    <p:embeddedFont>
      <p:font typeface="Arial Black" panose="020B0A040201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21" autoAdjust="0"/>
    <p:restoredTop sz="94754"/>
  </p:normalViewPr>
  <p:slideViewPr>
    <p:cSldViewPr snapToGrid="0">
      <p:cViewPr varScale="1">
        <p:scale>
          <a:sx n="82" d="100"/>
          <a:sy n="82" d="100"/>
        </p:scale>
        <p:origin x="59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88745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4812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04370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615624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35399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81155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051619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45320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30322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6291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625461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Introduction to Euclidean Geometry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83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MA.912.GR.1.1</a:t>
            </a:r>
          </a:p>
          <a:p>
            <a:pPr indent="0">
              <a:lnSpc>
                <a:spcPct val="100000"/>
              </a:lnSpc>
              <a:spcBef>
                <a:spcPts val="0"/>
              </a:spcBef>
              <a:buNone/>
            </a:pPr>
            <a:r>
              <a:rPr lang="en-US" sz="2800" dirty="0">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 </a:t>
            </a:r>
          </a:p>
          <a:p>
            <a:pPr indent="0">
              <a:lnSpc>
                <a:spcPct val="100000"/>
              </a:lnSpc>
              <a:spcBef>
                <a:spcPts val="0"/>
              </a:spcBef>
              <a:buNone/>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0" indent="0">
              <a:lnSpc>
                <a:spcPct val="100000"/>
              </a:lnSpc>
              <a:spcBef>
                <a:spcPts val="0"/>
              </a:spcBef>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MA.912.LT.4.10</a:t>
            </a:r>
          </a:p>
          <a:p>
            <a:pPr indent="0">
              <a:lnSpc>
                <a:spcPct val="100000"/>
              </a:lnSpc>
              <a:spcBef>
                <a:spcPts val="0"/>
              </a:spcBef>
              <a:buNone/>
            </a:pPr>
            <a:r>
              <a:rPr lang="en-US" sz="2800" dirty="0">
                <a:latin typeface="Verdana" panose="020B0604030504040204" pitchFamily="34" charset="0"/>
                <a:ea typeface="Verdana" panose="020B0604030504040204" pitchFamily="34" charset="0"/>
                <a:cs typeface="Verdana" panose="020B0604030504040204" pitchFamily="34" charset="0"/>
              </a:rPr>
              <a:t>Judge the validity of arguments and give counterexamples to disprove statements.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37892"/>
            <a:ext cx="89332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41338">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distinguish between definition, postulate, and theorem. </a:t>
            </a:r>
          </a:p>
          <a:p>
            <a:pPr marL="541338" indent="-541338">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41338" indent="-541338">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understand the role of proof.</a:t>
            </a:r>
          </a:p>
          <a:p>
            <a:pPr marL="541338" indent="-541338">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41338" indent="-541338">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relate properties of equality to the properties of congruence.</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2125"/>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4616"/>
            <a:ext cx="80193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2.1.1 Warm-Up: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Number Cubes Math</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792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593248" y="1394251"/>
            <a:ext cx="7063146"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picture of 16 number cubes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sum of the number cubes. Show your work or explain your thinking.</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If all of the number cubes with 3 dots were changed to number cubes with 6 dots, how would you find the new sum? Show your work or explain your thinking.</a:t>
            </a: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Picture 8">
            <a:extLst>
              <a:ext uri="{FF2B5EF4-FFF2-40B4-BE49-F238E27FC236}">
                <a16:creationId xmlns:a16="http://schemas.microsoft.com/office/drawing/2014/main" id="{2C9DAAAA-C153-AE48-9E35-8BE7BE7B587B}"/>
              </a:ext>
            </a:extLst>
          </p:cNvPr>
          <p:cNvPicPr/>
          <p:nvPr/>
        </p:nvPicPr>
        <p:blipFill>
          <a:blip r:embed="rId5" cstate="screen">
            <a:extLst>
              <a:ext uri="{28A0092B-C50C-407E-A947-70E740481C1C}">
                <a14:useLocalDpi xmlns:a14="http://schemas.microsoft.com/office/drawing/2010/main"/>
              </a:ext>
            </a:extLst>
          </a:blip>
          <a:stretch>
            <a:fillRect/>
          </a:stretch>
        </p:blipFill>
        <p:spPr>
          <a:xfrm>
            <a:off x="7978452" y="1394251"/>
            <a:ext cx="3545472" cy="3514386"/>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063"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68550"/>
            <a:ext cx="1057341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2.1.1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What is Euclidean Geometry?</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1667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3247" y="1394250"/>
                <a:ext cx="10928589" cy="440120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Euclidean geometry is the study of planes and solid figures on the basis of axioms and theorems compiled by the Greek mathematician Euclid. Rather than using algorithms to solve problems like you may have done in other math courses, Euclidean geometry emphasizes using facts, ideas, and assumptions.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Each of Euclid’s </a:t>
                </a:r>
                <a14:m>
                  <m:oMath xmlns:m="http://schemas.openxmlformats.org/officeDocument/2006/math">
                    <m:r>
                      <a:rPr lang="en-US" sz="2000" i="1">
                        <a:latin typeface="Cambria Math"/>
                      </a:rPr>
                      <m:t>13</m:t>
                    </m:r>
                  </m:oMath>
                </a14:m>
                <a:r>
                  <a:rPr lang="en-US" sz="2000" dirty="0">
                    <a:latin typeface="Verdana" panose="020B0604030504040204" pitchFamily="34" charset="0"/>
                    <a:ea typeface="Verdana" panose="020B0604030504040204" pitchFamily="34" charset="0"/>
                    <a:cs typeface="Verdana" panose="020B0604030504040204" pitchFamily="34" charset="0"/>
                  </a:rPr>
                  <a:t> books have proofs. Each proof shows how a hypothesis is true. The proof uses definitions, postulates, and proven theorems to explain why the hypothesis is true. </a:t>
                </a:r>
              </a:p>
              <a:p>
                <a:endParaRPr lang="en-US" sz="2000" b="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7" y="1394250"/>
                <a:ext cx="10928589" cy="4401205"/>
              </a:xfrm>
              <a:prstGeom prst="rect">
                <a:avLst/>
              </a:prstGeom>
              <a:blipFill>
                <a:blip r:embed="rId5"/>
                <a:stretch>
                  <a:fillRect l="-558" t="-831"/>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19FE075-E2FF-7B4C-8C80-17BA7226159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9" name="Group 8">
            <a:extLst>
              <a:ext uri="{FF2B5EF4-FFF2-40B4-BE49-F238E27FC236}">
                <a16:creationId xmlns:a16="http://schemas.microsoft.com/office/drawing/2014/main" id="{629AE4B3-C2C8-714E-88C1-DBC685F33193}"/>
              </a:ext>
            </a:extLst>
          </p:cNvPr>
          <p:cNvGrpSpPr/>
          <p:nvPr/>
        </p:nvGrpSpPr>
        <p:grpSpPr>
          <a:xfrm>
            <a:off x="1048606" y="2952805"/>
            <a:ext cx="8280000" cy="1284095"/>
            <a:chOff x="455358" y="-600931"/>
            <a:chExt cx="8280000" cy="1284255"/>
          </a:xfrm>
          <a:effectLst>
            <a:outerShdw blurRad="50800" dist="38100" dir="2700000" algn="tl" rotWithShape="0">
              <a:prstClr val="black">
                <a:alpha val="40000"/>
              </a:prstClr>
            </a:outerShdw>
          </a:effectLst>
        </p:grpSpPr>
        <p:sp>
          <p:nvSpPr>
            <p:cNvPr id="12" name="Rounded Rectangle 11">
              <a:extLst>
                <a:ext uri="{FF2B5EF4-FFF2-40B4-BE49-F238E27FC236}">
                  <a16:creationId xmlns:a16="http://schemas.microsoft.com/office/drawing/2014/main" id="{59EC52A2-1562-BC43-BB15-E534B2039E0F}"/>
                </a:ext>
              </a:extLst>
            </p:cNvPr>
            <p:cNvSpPr/>
            <p:nvPr/>
          </p:nvSpPr>
          <p:spPr>
            <a:xfrm>
              <a:off x="455358" y="-600931"/>
              <a:ext cx="8280000" cy="1284255"/>
            </a:xfrm>
            <a:prstGeom prst="roundRect">
              <a:avLst>
                <a:gd name="adj" fmla="val 16667"/>
              </a:avLst>
            </a:prstGeom>
            <a:solidFill>
              <a:srgbClr val="F7D1D5"/>
            </a:solidFill>
            <a:ln>
              <a:noFill/>
            </a:ln>
          </p:spPr>
          <p:txBody>
            <a:bodyPr spcFirstLastPara="1" wrap="square" lIns="91425" tIns="108000" rIns="91425" bIns="0" anchor="t" anchorCtr="0">
              <a:spAutoFit/>
            </a:bodyPr>
            <a:lstStyle/>
            <a:p>
              <a:pPr marL="714375">
                <a:spcAft>
                  <a:spcPts val="1000"/>
                </a:spcAft>
              </a:pP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Euclid is known as the father of Geometry. He wrote </a:t>
              </a:r>
              <a:b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13 books using an axiomatic system to construct bodies of knowledge.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3" name="image20.png" descr="A picture containing icon&#10;&#10;Description automatically generated">
              <a:extLst>
                <a:ext uri="{FF2B5EF4-FFF2-40B4-BE49-F238E27FC236}">
                  <a16:creationId xmlns:a16="http://schemas.microsoft.com/office/drawing/2014/main" id="{2EB1152E-051D-8B4D-8392-1208E353992B}"/>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11302" y="-258220"/>
              <a:ext cx="598828" cy="598828"/>
            </a:xfrm>
            <a:prstGeom prst="rect">
              <a:avLst/>
            </a:prstGeom>
            <a:ln/>
            <a:effectLst>
              <a:outerShdw blurRad="50800" dist="38100" dir="2700000" algn="tl" rotWithShape="0">
                <a:prstClr val="black">
                  <a:alpha val="40000"/>
                </a:prstClr>
              </a:outerShdw>
            </a:effectLst>
          </p:spPr>
        </p:pic>
      </p:grpSp>
      <p:sp>
        <p:nvSpPr>
          <p:cNvPr id="14" name="Google Shape;282;g104476d1465_1_17">
            <a:extLst>
              <a:ext uri="{FF2B5EF4-FFF2-40B4-BE49-F238E27FC236}">
                <a16:creationId xmlns:a16="http://schemas.microsoft.com/office/drawing/2014/main" id="{256A6887-D976-CC41-94DD-07AA0E2433B4}"/>
              </a:ext>
            </a:extLst>
          </p:cNvPr>
          <p:cNvSpPr txBox="1"/>
          <p:nvPr/>
        </p:nvSpPr>
        <p:spPr>
          <a:xfrm>
            <a:off x="8887837"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19733"/>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0565" y="1515608"/>
            <a:ext cx="11065362"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first postulate in Euclid’s Book 1 is shown.</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A straight line segment can be drawn joining any two points.</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straightedge to show the postulate using the points shown.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a postulate is something that is self-evident. Summarize your discussion.</a:t>
            </a:r>
          </a:p>
          <a:p>
            <a:pPr marL="457200" indent="-457200">
              <a:buFont typeface="+mj-lt"/>
              <a:buAutoNum type="arabicPeriod"/>
            </a:pPr>
            <a:endParaRPr lang="en-US" sz="2000" b="1"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1" name="Group 10">
            <a:extLst>
              <a:ext uri="{FF2B5EF4-FFF2-40B4-BE49-F238E27FC236}">
                <a16:creationId xmlns:a16="http://schemas.microsoft.com/office/drawing/2014/main" id="{AFEEAD03-74E9-5744-9871-04AF367606C6}"/>
              </a:ext>
            </a:extLst>
          </p:cNvPr>
          <p:cNvGrpSpPr/>
          <p:nvPr/>
        </p:nvGrpSpPr>
        <p:grpSpPr>
          <a:xfrm>
            <a:off x="1104133" y="362818"/>
            <a:ext cx="7200000" cy="1054079"/>
            <a:chOff x="2031300" y="3252877"/>
            <a:chExt cx="7200000" cy="1054225"/>
          </a:xfrm>
        </p:grpSpPr>
        <p:sp>
          <p:nvSpPr>
            <p:cNvPr id="13" name="Rectangle 12">
              <a:extLst>
                <a:ext uri="{FF2B5EF4-FFF2-40B4-BE49-F238E27FC236}">
                  <a16:creationId xmlns:a16="http://schemas.microsoft.com/office/drawing/2014/main" id="{C9B9C48E-7B48-444D-B41F-F71EB09C6FBD}"/>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70BD0689-AC29-3C4D-959E-02025D4D1B4C}"/>
                </a:ext>
              </a:extLst>
            </p:cNvPr>
            <p:cNvGrpSpPr/>
            <p:nvPr/>
          </p:nvGrpSpPr>
          <p:grpSpPr>
            <a:xfrm>
              <a:off x="2031300" y="3252877"/>
              <a:ext cx="7200000" cy="1054225"/>
              <a:chOff x="2031300" y="3252877"/>
              <a:chExt cx="7200000" cy="1054225"/>
            </a:xfrm>
          </p:grpSpPr>
          <p:sp>
            <p:nvSpPr>
              <p:cNvPr id="16" name="Rectangle 15">
                <a:extLst>
                  <a:ext uri="{FF2B5EF4-FFF2-40B4-BE49-F238E27FC236}">
                    <a16:creationId xmlns:a16="http://schemas.microsoft.com/office/drawing/2014/main" id="{9F408AC4-4CB2-7644-8DB9-C01BCE38A2A6}"/>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30AF9BF3-1EAA-254F-A5EA-A465BA13F671}"/>
                  </a:ext>
                </a:extLst>
              </p:cNvPr>
              <p:cNvGrpSpPr/>
              <p:nvPr/>
            </p:nvGrpSpPr>
            <p:grpSpPr>
              <a:xfrm>
                <a:off x="2031300" y="3252877"/>
                <a:ext cx="7200000" cy="1054225"/>
                <a:chOff x="2031300" y="3252877"/>
                <a:chExt cx="7200000" cy="1054225"/>
              </a:xfrm>
            </p:grpSpPr>
            <p:sp>
              <p:nvSpPr>
                <p:cNvPr id="18" name="Rectangle 17">
                  <a:extLst>
                    <a:ext uri="{FF2B5EF4-FFF2-40B4-BE49-F238E27FC236}">
                      <a16:creationId xmlns:a16="http://schemas.microsoft.com/office/drawing/2014/main" id="{FEFE79B8-AD6D-A442-9790-27ACEB762A55}"/>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AAD27D4B-7C79-1440-8BD3-EBF5D925C45D}"/>
                    </a:ext>
                  </a:extLst>
                </p:cNvPr>
                <p:cNvGrpSpPr/>
                <p:nvPr/>
              </p:nvGrpSpPr>
              <p:grpSpPr>
                <a:xfrm>
                  <a:off x="2031300" y="3252878"/>
                  <a:ext cx="7200000" cy="1054222"/>
                  <a:chOff x="2031300" y="3262288"/>
                  <a:chExt cx="7200000" cy="1035400"/>
                </a:xfrm>
              </p:grpSpPr>
              <p:sp>
                <p:nvSpPr>
                  <p:cNvPr id="20" name="Rectangle 19">
                    <a:extLst>
                      <a:ext uri="{FF2B5EF4-FFF2-40B4-BE49-F238E27FC236}">
                        <a16:creationId xmlns:a16="http://schemas.microsoft.com/office/drawing/2014/main" id="{A05946C3-012D-0942-A123-EAF5DC7F1F98}"/>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8AEA19A0-72A6-1546-8782-984DA7D3AB57}"/>
                      </a:ext>
                    </a:extLst>
                  </p:cNvPr>
                  <p:cNvGrpSpPr/>
                  <p:nvPr/>
                </p:nvGrpSpPr>
                <p:grpSpPr>
                  <a:xfrm>
                    <a:off x="2031300" y="3262288"/>
                    <a:ext cx="7200000" cy="1035400"/>
                    <a:chOff x="2031300" y="3373600"/>
                    <a:chExt cx="7200000" cy="1035400"/>
                  </a:xfrm>
                </p:grpSpPr>
                <p:sp>
                  <p:nvSpPr>
                    <p:cNvPr id="22" name="Rectangle 21">
                      <a:extLst>
                        <a:ext uri="{FF2B5EF4-FFF2-40B4-BE49-F238E27FC236}">
                          <a16:creationId xmlns:a16="http://schemas.microsoft.com/office/drawing/2014/main" id="{2DA21616-6DE1-7D43-A9CC-933321FC6ED7}"/>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3DC3E3F7-72B7-474F-9B48-0DF0B9E2A2B2}"/>
                        </a:ext>
                      </a:extLst>
                    </p:cNvPr>
                    <p:cNvGrpSpPr/>
                    <p:nvPr/>
                  </p:nvGrpSpPr>
                  <p:grpSpPr>
                    <a:xfrm>
                      <a:off x="2031300" y="3373600"/>
                      <a:ext cx="7200000" cy="961389"/>
                      <a:chOff x="2031300" y="3373600"/>
                      <a:chExt cx="7200000" cy="961389"/>
                    </a:xfrm>
                  </p:grpSpPr>
                  <p:sp>
                    <p:nvSpPr>
                      <p:cNvPr id="24" name="Rectangle 23">
                        <a:extLst>
                          <a:ext uri="{FF2B5EF4-FFF2-40B4-BE49-F238E27FC236}">
                            <a16:creationId xmlns:a16="http://schemas.microsoft.com/office/drawing/2014/main" id="{552923DB-3FDD-DB45-A402-49CC93AEE07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a:extLst>
                          <a:ext uri="{FF2B5EF4-FFF2-40B4-BE49-F238E27FC236}">
                            <a16:creationId xmlns:a16="http://schemas.microsoft.com/office/drawing/2014/main" id="{DE721A34-F5D7-6843-ADEB-387F89F92368}"/>
                          </a:ext>
                        </a:extLst>
                      </p:cNvPr>
                      <p:cNvGrpSpPr/>
                      <p:nvPr/>
                    </p:nvGrpSpPr>
                    <p:grpSpPr>
                      <a:xfrm>
                        <a:off x="2031300" y="3373600"/>
                        <a:ext cx="7200000" cy="961389"/>
                        <a:chOff x="0" y="0"/>
                        <a:chExt cx="7200000" cy="961389"/>
                      </a:xfrm>
                    </p:grpSpPr>
                    <p:sp>
                      <p:nvSpPr>
                        <p:cNvPr id="26" name="Rectangle 25">
                          <a:extLst>
                            <a:ext uri="{FF2B5EF4-FFF2-40B4-BE49-F238E27FC236}">
                              <a16:creationId xmlns:a16="http://schemas.microsoft.com/office/drawing/2014/main" id="{0F38E026-E2B0-C040-8C12-B82BD175FD95}"/>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a:extLst>
                            <a:ext uri="{FF2B5EF4-FFF2-40B4-BE49-F238E27FC236}">
                              <a16:creationId xmlns:a16="http://schemas.microsoft.com/office/drawing/2014/main" id="{50516F12-0EFF-1C46-8FB7-A0E615070CC7}"/>
                            </a:ext>
                          </a:extLst>
                        </p:cNvPr>
                        <p:cNvSpPr/>
                        <p:nvPr/>
                      </p:nvSpPr>
                      <p:spPr>
                        <a:xfrm>
                          <a:off x="0" y="74037"/>
                          <a:ext cx="7200000" cy="887352"/>
                        </a:xfrm>
                        <a:prstGeom prst="roundRect">
                          <a:avLst>
                            <a:gd name="adj" fmla="val 16667"/>
                          </a:avLst>
                        </a:prstGeom>
                        <a:solidFill>
                          <a:srgbClr val="E2EED5"/>
                        </a:solidFill>
                        <a:ln>
                          <a:noFill/>
                        </a:ln>
                      </p:spPr>
                      <p:txBody>
                        <a:bodyPr spcFirstLastPara="1" wrap="square" lIns="91425" tIns="72000" rIns="91425" bIns="0" anchor="ctr" anchorCtr="0">
                          <a:spAutoFit/>
                        </a:bodyPr>
                        <a:lstStyle/>
                        <a:p>
                          <a:pPr marL="571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postulate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an idea that is assumed to be true or something that is self-evident.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grpSp>
              </p:grpSp>
            </p:grpSp>
          </p:grpSp>
        </p:grpSp>
      </p:grpSp>
      <p:grpSp>
        <p:nvGrpSpPr>
          <p:cNvPr id="4" name="Group 3"/>
          <p:cNvGrpSpPr/>
          <p:nvPr/>
        </p:nvGrpSpPr>
        <p:grpSpPr>
          <a:xfrm>
            <a:off x="2901685" y="3254724"/>
            <a:ext cx="3604895" cy="833120"/>
            <a:chOff x="2545240" y="3296292"/>
            <a:chExt cx="3604895" cy="833120"/>
          </a:xfrm>
        </p:grpSpPr>
        <p:grpSp>
          <p:nvGrpSpPr>
            <p:cNvPr id="2" name="Group 1"/>
            <p:cNvGrpSpPr/>
            <p:nvPr/>
          </p:nvGrpSpPr>
          <p:grpSpPr>
            <a:xfrm>
              <a:off x="2545240" y="3600125"/>
              <a:ext cx="438150" cy="529287"/>
              <a:chOff x="2545240" y="3600125"/>
              <a:chExt cx="438150" cy="529287"/>
            </a:xfrm>
          </p:grpSpPr>
          <p:sp>
            <p:nvSpPr>
              <p:cNvPr id="28" name="Oval 27">
                <a:extLst>
                  <a:ext uri="{FF2B5EF4-FFF2-40B4-BE49-F238E27FC236}">
                    <a16:creationId xmlns:a16="http://schemas.microsoft.com/office/drawing/2014/main" id="{D17EE235-5BC7-7F41-BAA9-115ACFFEF828}"/>
                  </a:ext>
                </a:extLst>
              </p:cNvPr>
              <p:cNvSpPr/>
              <p:nvPr/>
            </p:nvSpPr>
            <p:spPr>
              <a:xfrm>
                <a:off x="2792890" y="4037972"/>
                <a:ext cx="9144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30" name="Text Box 2">
                    <a:extLst>
                      <a:ext uri="{FF2B5EF4-FFF2-40B4-BE49-F238E27FC236}">
                        <a16:creationId xmlns:a16="http://schemas.microsoft.com/office/drawing/2014/main" id="{8EEFD03F-DE77-A041-80E6-5FDD1E2FDBB8}"/>
                      </a:ext>
                    </a:extLst>
                  </p:cNvPr>
                  <p:cNvSpPr txBox="1">
                    <a:spLocks noChangeArrowheads="1"/>
                  </p:cNvSpPr>
                  <p:nvPr/>
                </p:nvSpPr>
                <p:spPr bwMode="auto">
                  <a:xfrm>
                    <a:off x="2545240" y="3600125"/>
                    <a:ext cx="438150" cy="528350"/>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m:t>
                          </m:r>
                        </m:oMath>
                      </m:oMathPara>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0" name="Text Box 2">
                    <a:extLst>
                      <a:ext uri="{FF2B5EF4-FFF2-40B4-BE49-F238E27FC236}">
                        <a16:creationId xmlns:a16="http://schemas.microsoft.com/office/drawing/2014/main" id="{8EEFD03F-DE77-A041-80E6-5FDD1E2FDBB8}"/>
                      </a:ext>
                    </a:extLst>
                  </p:cNvPr>
                  <p:cNvSpPr txBox="1">
                    <a:spLocks noRot="1" noChangeAspect="1" noMove="1" noResize="1" noEditPoints="1" noAdjustHandles="1" noChangeArrowheads="1" noChangeShapeType="1" noTextEdit="1"/>
                  </p:cNvSpPr>
                  <p:nvPr/>
                </p:nvSpPr>
                <p:spPr bwMode="auto">
                  <a:xfrm>
                    <a:off x="2545240" y="3600125"/>
                    <a:ext cx="438150" cy="528350"/>
                  </a:xfrm>
                  <a:prstGeom prst="rect">
                    <a:avLst/>
                  </a:prstGeom>
                  <a:blipFill>
                    <a:blip r:embed="rId4"/>
                    <a:stretch>
                      <a:fillRect/>
                    </a:stretch>
                  </a:blipFill>
                  <a:ln w="9525">
                    <a:noFill/>
                    <a:miter lim="800000"/>
                    <a:headEnd/>
                    <a:tailEnd/>
                  </a:ln>
                </p:spPr>
                <p:txBody>
                  <a:bodyPr/>
                  <a:lstStyle/>
                  <a:p>
                    <a:r>
                      <a:rPr lang="en-US">
                        <a:noFill/>
                      </a:rPr>
                      <a:t> </a:t>
                    </a:r>
                  </a:p>
                </p:txBody>
              </p:sp>
            </mc:Fallback>
          </mc:AlternateContent>
        </p:grpSp>
        <p:grpSp>
          <p:nvGrpSpPr>
            <p:cNvPr id="3" name="Group 2"/>
            <p:cNvGrpSpPr/>
            <p:nvPr/>
          </p:nvGrpSpPr>
          <p:grpSpPr>
            <a:xfrm>
              <a:off x="5621815" y="3296292"/>
              <a:ext cx="528320" cy="528350"/>
              <a:chOff x="5621815" y="3296292"/>
              <a:chExt cx="528320" cy="528350"/>
            </a:xfrm>
          </p:grpSpPr>
          <p:sp>
            <p:nvSpPr>
              <p:cNvPr id="29" name="Oval 28">
                <a:extLst>
                  <a:ext uri="{FF2B5EF4-FFF2-40B4-BE49-F238E27FC236}">
                    <a16:creationId xmlns:a16="http://schemas.microsoft.com/office/drawing/2014/main" id="{07861216-0304-DC46-85CD-E176CEB98DE7}"/>
                  </a:ext>
                </a:extLst>
              </p:cNvPr>
              <p:cNvSpPr/>
              <p:nvPr/>
            </p:nvSpPr>
            <p:spPr>
              <a:xfrm>
                <a:off x="5621815" y="3453137"/>
                <a:ext cx="9144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31" name="Text Box 2">
                    <a:extLst>
                      <a:ext uri="{FF2B5EF4-FFF2-40B4-BE49-F238E27FC236}">
                        <a16:creationId xmlns:a16="http://schemas.microsoft.com/office/drawing/2014/main" id="{6E7854A2-3112-0743-BAA4-D1F0452E3859}"/>
                      </a:ext>
                    </a:extLst>
                  </p:cNvPr>
                  <p:cNvSpPr txBox="1">
                    <a:spLocks noChangeArrowheads="1"/>
                  </p:cNvSpPr>
                  <p:nvPr/>
                </p:nvSpPr>
                <p:spPr bwMode="auto">
                  <a:xfrm>
                    <a:off x="5711985" y="3296292"/>
                    <a:ext cx="438150" cy="528350"/>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1" name="Text Box 2">
                    <a:extLst>
                      <a:ext uri="{FF2B5EF4-FFF2-40B4-BE49-F238E27FC236}">
                        <a16:creationId xmlns:a16="http://schemas.microsoft.com/office/drawing/2014/main" id="{6E7854A2-3112-0743-BAA4-D1F0452E3859}"/>
                      </a:ext>
                    </a:extLst>
                  </p:cNvPr>
                  <p:cNvSpPr txBox="1">
                    <a:spLocks noRot="1" noChangeAspect="1" noMove="1" noResize="1" noEditPoints="1" noAdjustHandles="1" noChangeArrowheads="1" noChangeShapeType="1" noTextEdit="1"/>
                  </p:cNvSpPr>
                  <p:nvPr/>
                </p:nvSpPr>
                <p:spPr bwMode="auto">
                  <a:xfrm>
                    <a:off x="5711985" y="3296292"/>
                    <a:ext cx="438150" cy="528350"/>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p:grpSp>
      </p:grpSp>
      <p:grpSp>
        <p:nvGrpSpPr>
          <p:cNvPr id="32" name="Group 31">
            <a:extLst>
              <a:ext uri="{FF2B5EF4-FFF2-40B4-BE49-F238E27FC236}">
                <a16:creationId xmlns:a16="http://schemas.microsoft.com/office/drawing/2014/main" id="{70FEA9BB-EE0F-EF4C-A5C0-18AB5FCB3222}"/>
              </a:ext>
            </a:extLst>
          </p:cNvPr>
          <p:cNvGrpSpPr/>
          <p:nvPr/>
        </p:nvGrpSpPr>
        <p:grpSpPr>
          <a:xfrm>
            <a:off x="924133" y="3043834"/>
            <a:ext cx="7740000" cy="3076841"/>
            <a:chOff x="2031300" y="3252877"/>
            <a:chExt cx="7740000" cy="3077267"/>
          </a:xfrm>
        </p:grpSpPr>
        <p:sp>
          <p:nvSpPr>
            <p:cNvPr id="33" name="Rectangle 32">
              <a:extLst>
                <a:ext uri="{FF2B5EF4-FFF2-40B4-BE49-F238E27FC236}">
                  <a16:creationId xmlns:a16="http://schemas.microsoft.com/office/drawing/2014/main" id="{5060142A-BEA8-144F-B432-DC72A018D5C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4" name="Group 33">
              <a:extLst>
                <a:ext uri="{FF2B5EF4-FFF2-40B4-BE49-F238E27FC236}">
                  <a16:creationId xmlns:a16="http://schemas.microsoft.com/office/drawing/2014/main" id="{78BE514B-5DF4-DE40-86C8-3C2616917D87}"/>
                </a:ext>
              </a:extLst>
            </p:cNvPr>
            <p:cNvGrpSpPr/>
            <p:nvPr/>
          </p:nvGrpSpPr>
          <p:grpSpPr>
            <a:xfrm>
              <a:off x="2031300" y="3252877"/>
              <a:ext cx="7740000" cy="3077267"/>
              <a:chOff x="2031300" y="3252877"/>
              <a:chExt cx="7740000" cy="3077267"/>
            </a:xfrm>
          </p:grpSpPr>
          <p:sp>
            <p:nvSpPr>
              <p:cNvPr id="35" name="Rectangle 34">
                <a:extLst>
                  <a:ext uri="{FF2B5EF4-FFF2-40B4-BE49-F238E27FC236}">
                    <a16:creationId xmlns:a16="http://schemas.microsoft.com/office/drawing/2014/main" id="{18BC8910-11F4-764D-A55D-6FF7839026B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6" name="Group 35">
                <a:extLst>
                  <a:ext uri="{FF2B5EF4-FFF2-40B4-BE49-F238E27FC236}">
                    <a16:creationId xmlns:a16="http://schemas.microsoft.com/office/drawing/2014/main" id="{B06094DA-28AE-5E46-9D3E-77024ABAA2CE}"/>
                  </a:ext>
                </a:extLst>
              </p:cNvPr>
              <p:cNvGrpSpPr/>
              <p:nvPr/>
            </p:nvGrpSpPr>
            <p:grpSpPr>
              <a:xfrm>
                <a:off x="2031300" y="3252877"/>
                <a:ext cx="7740000" cy="3077267"/>
                <a:chOff x="2031300" y="3252877"/>
                <a:chExt cx="7740000" cy="3077267"/>
              </a:xfrm>
            </p:grpSpPr>
            <p:sp>
              <p:nvSpPr>
                <p:cNvPr id="37" name="Rectangle 36">
                  <a:extLst>
                    <a:ext uri="{FF2B5EF4-FFF2-40B4-BE49-F238E27FC236}">
                      <a16:creationId xmlns:a16="http://schemas.microsoft.com/office/drawing/2014/main" id="{F7EF4707-7F22-574F-973E-4E52D0B93EF1}"/>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8" name="Group 37">
                  <a:extLst>
                    <a:ext uri="{FF2B5EF4-FFF2-40B4-BE49-F238E27FC236}">
                      <a16:creationId xmlns:a16="http://schemas.microsoft.com/office/drawing/2014/main" id="{46BD70A5-846A-2343-A5F3-9360F1D88483}"/>
                    </a:ext>
                  </a:extLst>
                </p:cNvPr>
                <p:cNvGrpSpPr/>
                <p:nvPr/>
              </p:nvGrpSpPr>
              <p:grpSpPr>
                <a:xfrm>
                  <a:off x="2031300" y="3252877"/>
                  <a:ext cx="7740000" cy="3077267"/>
                  <a:chOff x="2031300" y="3252877"/>
                  <a:chExt cx="7740000" cy="3077267"/>
                </a:xfrm>
              </p:grpSpPr>
              <p:sp>
                <p:nvSpPr>
                  <p:cNvPr id="39" name="Rectangle 38">
                    <a:extLst>
                      <a:ext uri="{FF2B5EF4-FFF2-40B4-BE49-F238E27FC236}">
                        <a16:creationId xmlns:a16="http://schemas.microsoft.com/office/drawing/2014/main" id="{8BDEA89D-85BB-ED49-ADA8-4555D64CE07A}"/>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0" name="Group 39">
                    <a:extLst>
                      <a:ext uri="{FF2B5EF4-FFF2-40B4-BE49-F238E27FC236}">
                        <a16:creationId xmlns:a16="http://schemas.microsoft.com/office/drawing/2014/main" id="{4182173B-979E-AF46-8876-D94F92AF1ACE}"/>
                      </a:ext>
                    </a:extLst>
                  </p:cNvPr>
                  <p:cNvGrpSpPr/>
                  <p:nvPr/>
                </p:nvGrpSpPr>
                <p:grpSpPr>
                  <a:xfrm>
                    <a:off x="2031300" y="3252877"/>
                    <a:ext cx="7740000" cy="3077267"/>
                    <a:chOff x="2031300" y="3252877"/>
                    <a:chExt cx="7740000" cy="3077267"/>
                  </a:xfrm>
                </p:grpSpPr>
                <p:sp>
                  <p:nvSpPr>
                    <p:cNvPr id="41" name="Rectangle 40">
                      <a:extLst>
                        <a:ext uri="{FF2B5EF4-FFF2-40B4-BE49-F238E27FC236}">
                          <a16:creationId xmlns:a16="http://schemas.microsoft.com/office/drawing/2014/main" id="{1221461D-7420-B54A-8615-F66BA7211C6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2" name="Group 41">
                      <a:extLst>
                        <a:ext uri="{FF2B5EF4-FFF2-40B4-BE49-F238E27FC236}">
                          <a16:creationId xmlns:a16="http://schemas.microsoft.com/office/drawing/2014/main" id="{8D4BA7C6-24B8-5F44-9F6A-D31BFBF87C12}"/>
                        </a:ext>
                      </a:extLst>
                    </p:cNvPr>
                    <p:cNvGrpSpPr/>
                    <p:nvPr/>
                  </p:nvGrpSpPr>
                  <p:grpSpPr>
                    <a:xfrm>
                      <a:off x="2031300" y="3252879"/>
                      <a:ext cx="7740000" cy="3077265"/>
                      <a:chOff x="2031300" y="3262288"/>
                      <a:chExt cx="7740000" cy="3022325"/>
                    </a:xfrm>
                  </p:grpSpPr>
                  <p:sp>
                    <p:nvSpPr>
                      <p:cNvPr id="43" name="Rectangle 42">
                        <a:extLst>
                          <a:ext uri="{FF2B5EF4-FFF2-40B4-BE49-F238E27FC236}">
                            <a16:creationId xmlns:a16="http://schemas.microsoft.com/office/drawing/2014/main" id="{16BB9691-10A4-D24D-A0D0-AD3BA76C811E}"/>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4" name="Group 43">
                        <a:extLst>
                          <a:ext uri="{FF2B5EF4-FFF2-40B4-BE49-F238E27FC236}">
                            <a16:creationId xmlns:a16="http://schemas.microsoft.com/office/drawing/2014/main" id="{57359830-B2F3-2D48-853D-C08B4093EDAB}"/>
                          </a:ext>
                        </a:extLst>
                      </p:cNvPr>
                      <p:cNvGrpSpPr/>
                      <p:nvPr/>
                    </p:nvGrpSpPr>
                    <p:grpSpPr>
                      <a:xfrm>
                        <a:off x="2031300" y="3262288"/>
                        <a:ext cx="7740000" cy="3022325"/>
                        <a:chOff x="2031300" y="3373600"/>
                        <a:chExt cx="7740000" cy="3022325"/>
                      </a:xfrm>
                    </p:grpSpPr>
                    <p:sp>
                      <p:nvSpPr>
                        <p:cNvPr id="45" name="Rectangle 44">
                          <a:extLst>
                            <a:ext uri="{FF2B5EF4-FFF2-40B4-BE49-F238E27FC236}">
                              <a16:creationId xmlns:a16="http://schemas.microsoft.com/office/drawing/2014/main" id="{10046988-5330-8F4E-A0F2-9830EAE8CB5D}"/>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6" name="Group 45">
                          <a:extLst>
                            <a:ext uri="{FF2B5EF4-FFF2-40B4-BE49-F238E27FC236}">
                              <a16:creationId xmlns:a16="http://schemas.microsoft.com/office/drawing/2014/main" id="{9485EDCC-A47A-AE4F-A67C-57BEF9C25870}"/>
                            </a:ext>
                          </a:extLst>
                        </p:cNvPr>
                        <p:cNvGrpSpPr/>
                        <p:nvPr/>
                      </p:nvGrpSpPr>
                      <p:grpSpPr>
                        <a:xfrm>
                          <a:off x="2031300" y="3373600"/>
                          <a:ext cx="7740000" cy="3022325"/>
                          <a:chOff x="2031300" y="3373600"/>
                          <a:chExt cx="7740000" cy="3022325"/>
                        </a:xfrm>
                      </p:grpSpPr>
                      <p:sp>
                        <p:nvSpPr>
                          <p:cNvPr id="47" name="Rectangle 46">
                            <a:extLst>
                              <a:ext uri="{FF2B5EF4-FFF2-40B4-BE49-F238E27FC236}">
                                <a16:creationId xmlns:a16="http://schemas.microsoft.com/office/drawing/2014/main" id="{2EC71EC1-0010-E749-A9E9-D28324A8A97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8" name="Group 47">
                            <a:extLst>
                              <a:ext uri="{FF2B5EF4-FFF2-40B4-BE49-F238E27FC236}">
                                <a16:creationId xmlns:a16="http://schemas.microsoft.com/office/drawing/2014/main" id="{E76E8A1D-594E-F446-8532-03C114A865DA}"/>
                              </a:ext>
                            </a:extLst>
                          </p:cNvPr>
                          <p:cNvGrpSpPr/>
                          <p:nvPr/>
                        </p:nvGrpSpPr>
                        <p:grpSpPr>
                          <a:xfrm>
                            <a:off x="2031300" y="3373600"/>
                            <a:ext cx="7740000" cy="3022325"/>
                            <a:chOff x="0" y="0"/>
                            <a:chExt cx="7740000" cy="3022325"/>
                          </a:xfrm>
                        </p:grpSpPr>
                        <p:sp>
                          <p:nvSpPr>
                            <p:cNvPr id="49" name="Rectangle 48">
                              <a:extLst>
                                <a:ext uri="{FF2B5EF4-FFF2-40B4-BE49-F238E27FC236}">
                                  <a16:creationId xmlns:a16="http://schemas.microsoft.com/office/drawing/2014/main" id="{2B63E697-66F0-554C-856D-BDE3E3E00E4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50" name="Rounded Rectangle 49">
                              <a:extLst>
                                <a:ext uri="{FF2B5EF4-FFF2-40B4-BE49-F238E27FC236}">
                                  <a16:creationId xmlns:a16="http://schemas.microsoft.com/office/drawing/2014/main" id="{1AEE25A6-C6C9-F74B-ACFE-7936A8508879}"/>
                                </a:ext>
                              </a:extLst>
                            </p:cNvPr>
                            <p:cNvSpPr/>
                            <p:nvPr/>
                          </p:nvSpPr>
                          <p:spPr>
                            <a:xfrm>
                              <a:off x="180000" y="2134972"/>
                              <a:ext cx="7560000" cy="887353"/>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1143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theorem</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an idea that has to be shown to be true through a chain of reasoning, often called a proof.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grpSp>
                  </p:grpSp>
                </p:grpSp>
              </p:grpSp>
            </p:grpSp>
          </p:grpSp>
        </p:grpSp>
      </p:grpSp>
      <p:sp>
        <p:nvSpPr>
          <p:cNvPr id="51" name="Google Shape;282;g104476d1465_1_17">
            <a:extLst>
              <a:ext uri="{FF2B5EF4-FFF2-40B4-BE49-F238E27FC236}">
                <a16:creationId xmlns:a16="http://schemas.microsoft.com/office/drawing/2014/main" id="{52E507E5-AC97-4D46-9210-928DD942FCD4}"/>
              </a:ext>
            </a:extLst>
          </p:cNvPr>
          <p:cNvSpPr txBox="1"/>
          <p:nvPr/>
        </p:nvSpPr>
        <p:spPr>
          <a:xfrm>
            <a:off x="8867701" y="647680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782"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07450" y="1794473"/>
            <a:ext cx="8327136"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vertical angles are </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0" name="Group 59">
            <a:extLst>
              <a:ext uri="{FF2B5EF4-FFF2-40B4-BE49-F238E27FC236}">
                <a16:creationId xmlns:a16="http://schemas.microsoft.com/office/drawing/2014/main" id="{BCF8E986-B7BB-1A48-88A7-D56BBA1EBC51}"/>
              </a:ext>
            </a:extLst>
          </p:cNvPr>
          <p:cNvGrpSpPr/>
          <p:nvPr/>
        </p:nvGrpSpPr>
        <p:grpSpPr>
          <a:xfrm>
            <a:off x="5511786" y="2425107"/>
            <a:ext cx="3207672" cy="2463308"/>
            <a:chOff x="36302" y="0"/>
            <a:chExt cx="2123612" cy="1630942"/>
          </a:xfrm>
        </p:grpSpPr>
        <p:grpSp>
          <p:nvGrpSpPr>
            <p:cNvPr id="61" name="Group 60">
              <a:extLst>
                <a:ext uri="{FF2B5EF4-FFF2-40B4-BE49-F238E27FC236}">
                  <a16:creationId xmlns:a16="http://schemas.microsoft.com/office/drawing/2014/main" id="{17C2391A-0A0A-B442-B16A-23D622FC10DA}"/>
                </a:ext>
              </a:extLst>
            </p:cNvPr>
            <p:cNvGrpSpPr/>
            <p:nvPr/>
          </p:nvGrpSpPr>
          <p:grpSpPr>
            <a:xfrm>
              <a:off x="325779" y="0"/>
              <a:ext cx="1626842" cy="1630942"/>
              <a:chOff x="0" y="0"/>
              <a:chExt cx="1626842" cy="1630942"/>
            </a:xfrm>
          </p:grpSpPr>
          <p:sp>
            <p:nvSpPr>
              <p:cNvPr id="64" name="Pie 63">
                <a:extLst>
                  <a:ext uri="{FF2B5EF4-FFF2-40B4-BE49-F238E27FC236}">
                    <a16:creationId xmlns:a16="http://schemas.microsoft.com/office/drawing/2014/main" id="{9A180659-287F-A246-8511-5799BD597957}"/>
                  </a:ext>
                </a:extLst>
              </p:cNvPr>
              <p:cNvSpPr/>
              <p:nvPr/>
            </p:nvSpPr>
            <p:spPr>
              <a:xfrm rot="18497757">
                <a:off x="952" y="11057"/>
                <a:ext cx="1621790" cy="1617980"/>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 name="Pie 64">
                <a:extLst>
                  <a:ext uri="{FF2B5EF4-FFF2-40B4-BE49-F238E27FC236}">
                    <a16:creationId xmlns:a16="http://schemas.microsoft.com/office/drawing/2014/main" id="{082F5566-A368-9E46-B3AE-EFDC007AF1EE}"/>
                  </a:ext>
                </a:extLst>
              </p:cNvPr>
              <p:cNvSpPr/>
              <p:nvPr/>
            </p:nvSpPr>
            <p:spPr>
              <a:xfrm rot="1554400">
                <a:off x="5052" y="2596"/>
                <a:ext cx="1621790" cy="1617980"/>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6" name="Pie 65">
                <a:extLst>
                  <a:ext uri="{FF2B5EF4-FFF2-40B4-BE49-F238E27FC236}">
                    <a16:creationId xmlns:a16="http://schemas.microsoft.com/office/drawing/2014/main" id="{2E920D51-A9C0-D745-B9D2-644A81FB2620}"/>
                  </a:ext>
                </a:extLst>
              </p:cNvPr>
              <p:cNvSpPr/>
              <p:nvPr/>
            </p:nvSpPr>
            <p:spPr>
              <a:xfrm rot="12327779">
                <a:off x="0" y="0"/>
                <a:ext cx="1621790" cy="1617980"/>
              </a:xfrm>
              <a:prstGeom prst="pie">
                <a:avLst>
                  <a:gd name="adj1" fmla="val 10570855"/>
                  <a:gd name="adj2" fmla="val 18416632"/>
                </a:avLst>
              </a:prstGeom>
              <a:solidFill>
                <a:srgbClr val="0061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7" name="Pie 66">
                <a:extLst>
                  <a:ext uri="{FF2B5EF4-FFF2-40B4-BE49-F238E27FC236}">
                    <a16:creationId xmlns:a16="http://schemas.microsoft.com/office/drawing/2014/main" id="{F755749B-3916-434F-9122-6CCF416C081D}"/>
                  </a:ext>
                </a:extLst>
              </p:cNvPr>
              <p:cNvSpPr/>
              <p:nvPr/>
            </p:nvSpPr>
            <p:spPr>
              <a:xfrm rot="7611516">
                <a:off x="2194" y="7910"/>
                <a:ext cx="1621790" cy="1617980"/>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62" name="Straight Connector 61">
              <a:extLst>
                <a:ext uri="{FF2B5EF4-FFF2-40B4-BE49-F238E27FC236}">
                  <a16:creationId xmlns:a16="http://schemas.microsoft.com/office/drawing/2014/main" id="{63EF8599-5DA2-E945-A4EF-027977F60513}"/>
                </a:ext>
              </a:extLst>
            </p:cNvPr>
            <p:cNvCxnSpPr/>
            <p:nvPr/>
          </p:nvCxnSpPr>
          <p:spPr>
            <a:xfrm flipV="1">
              <a:off x="75734" y="292608"/>
              <a:ext cx="2084180" cy="1050559"/>
            </a:xfrm>
            <a:prstGeom prst="line">
              <a:avLst/>
            </a:prstGeom>
            <a:ln w="28575"/>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3BE8FA90-35E8-A744-8894-F622FF2C7A00}"/>
                </a:ext>
              </a:extLst>
            </p:cNvPr>
            <p:cNvCxnSpPr/>
            <p:nvPr/>
          </p:nvCxnSpPr>
          <p:spPr>
            <a:xfrm>
              <a:off x="36302" y="365760"/>
              <a:ext cx="2123204" cy="817957"/>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2" name="Group 1">
            <a:extLst>
              <a:ext uri="{FF2B5EF4-FFF2-40B4-BE49-F238E27FC236}">
                <a16:creationId xmlns:a16="http://schemas.microsoft.com/office/drawing/2014/main" id="{4E04D8BC-1750-834C-BF60-ECDEC9A60E47}"/>
              </a:ext>
            </a:extLst>
          </p:cNvPr>
          <p:cNvGrpSpPr/>
          <p:nvPr/>
        </p:nvGrpSpPr>
        <p:grpSpPr>
          <a:xfrm>
            <a:off x="691341" y="1920460"/>
            <a:ext cx="4463117" cy="3689108"/>
            <a:chOff x="2739390" y="1913255"/>
            <a:chExt cx="3665220" cy="3029585"/>
          </a:xfrm>
        </p:grpSpPr>
        <p:sp>
          <p:nvSpPr>
            <p:cNvPr id="68" name="Text Box 2">
              <a:extLst>
                <a:ext uri="{FF2B5EF4-FFF2-40B4-BE49-F238E27FC236}">
                  <a16:creationId xmlns:a16="http://schemas.microsoft.com/office/drawing/2014/main" id="{E431B1B3-1109-B341-8170-0DA4DE8A13EA}"/>
                </a:ext>
              </a:extLst>
            </p:cNvPr>
            <p:cNvSpPr txBox="1">
              <a:spLocks noChangeArrowheads="1"/>
            </p:cNvSpPr>
            <p:nvPr/>
          </p:nvSpPr>
          <p:spPr bwMode="auto">
            <a:xfrm>
              <a:off x="3763962" y="2498090"/>
              <a:ext cx="628650" cy="379130"/>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dirty="0">
                  <a:latin typeface="Verdana" panose="020B0604030504040204" pitchFamily="34" charset="0"/>
                  <a:ea typeface="Times New Roman" panose="02020603050405020304" pitchFamily="18" charset="0"/>
                  <a:cs typeface="Times New Roman" panose="02020603050405020304" pitchFamily="18" charset="0"/>
                </a:rPr>
                <a:t>and</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69" name="Text Box 2">
              <a:extLst>
                <a:ext uri="{FF2B5EF4-FFF2-40B4-BE49-F238E27FC236}">
                  <a16:creationId xmlns:a16="http://schemas.microsoft.com/office/drawing/2014/main" id="{857D8940-42F5-A840-A2F8-DABB2BF3D923}"/>
                </a:ext>
              </a:extLst>
            </p:cNvPr>
            <p:cNvSpPr txBox="1">
              <a:spLocks noChangeArrowheads="1"/>
            </p:cNvSpPr>
            <p:nvPr/>
          </p:nvSpPr>
          <p:spPr bwMode="auto">
            <a:xfrm>
              <a:off x="5140014" y="2600325"/>
              <a:ext cx="628650" cy="328580"/>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70" name="Text Box 2">
              <a:extLst>
                <a:ext uri="{FF2B5EF4-FFF2-40B4-BE49-F238E27FC236}">
                  <a16:creationId xmlns:a16="http://schemas.microsoft.com/office/drawing/2014/main" id="{1959E124-60F5-8745-9C3F-D6C28A79401C}"/>
                </a:ext>
              </a:extLst>
            </p:cNvPr>
            <p:cNvSpPr txBox="1">
              <a:spLocks noChangeArrowheads="1"/>
            </p:cNvSpPr>
            <p:nvPr/>
          </p:nvSpPr>
          <p:spPr bwMode="auto">
            <a:xfrm>
              <a:off x="4268470" y="3555365"/>
              <a:ext cx="628650" cy="379130"/>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dirty="0">
                  <a:latin typeface="Verdana" panose="020B0604030504040204" pitchFamily="34" charset="0"/>
                  <a:ea typeface="Times New Roman" panose="02020603050405020304" pitchFamily="18" charset="0"/>
                  <a:cs typeface="Times New Roman" panose="02020603050405020304" pitchFamily="18" charset="0"/>
                </a:rPr>
                <a:t>and</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71" name="Pie 70">
              <a:extLst>
                <a:ext uri="{FF2B5EF4-FFF2-40B4-BE49-F238E27FC236}">
                  <a16:creationId xmlns:a16="http://schemas.microsoft.com/office/drawing/2014/main" id="{831C05AE-8A65-9B40-838E-9D60DF877E29}"/>
                </a:ext>
              </a:extLst>
            </p:cNvPr>
            <p:cNvSpPr/>
            <p:nvPr/>
          </p:nvSpPr>
          <p:spPr>
            <a:xfrm rot="18497757">
              <a:off x="2953385" y="1918970"/>
              <a:ext cx="1621155" cy="1617345"/>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2" name="Pie 71">
              <a:extLst>
                <a:ext uri="{FF2B5EF4-FFF2-40B4-BE49-F238E27FC236}">
                  <a16:creationId xmlns:a16="http://schemas.microsoft.com/office/drawing/2014/main" id="{F6565C37-C46B-4746-9D26-0209F3E04037}"/>
                </a:ext>
              </a:extLst>
            </p:cNvPr>
            <p:cNvSpPr/>
            <p:nvPr/>
          </p:nvSpPr>
          <p:spPr>
            <a:xfrm rot="7611516">
              <a:off x="3566018" y="1915160"/>
              <a:ext cx="1621155" cy="1617345"/>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3" name="Pie 72">
              <a:extLst>
                <a:ext uri="{FF2B5EF4-FFF2-40B4-BE49-F238E27FC236}">
                  <a16:creationId xmlns:a16="http://schemas.microsoft.com/office/drawing/2014/main" id="{E0946BA2-5E36-7E4C-AF07-62B54D819A5F}"/>
                </a:ext>
              </a:extLst>
            </p:cNvPr>
            <p:cNvSpPr/>
            <p:nvPr/>
          </p:nvSpPr>
          <p:spPr>
            <a:xfrm rot="1554400">
              <a:off x="2739390" y="3325495"/>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4" name="Pie 73">
              <a:extLst>
                <a:ext uri="{FF2B5EF4-FFF2-40B4-BE49-F238E27FC236}">
                  <a16:creationId xmlns:a16="http://schemas.microsoft.com/office/drawing/2014/main" id="{555A4015-9573-974B-8C36-34F7BB14BB9E}"/>
                </a:ext>
              </a:extLst>
            </p:cNvPr>
            <p:cNvSpPr/>
            <p:nvPr/>
          </p:nvSpPr>
          <p:spPr>
            <a:xfrm rot="12327779">
              <a:off x="4783455" y="2530475"/>
              <a:ext cx="1621155" cy="1617345"/>
            </a:xfrm>
            <a:prstGeom prst="pie">
              <a:avLst>
                <a:gd name="adj1" fmla="val 10570855"/>
                <a:gd name="adj2" fmla="val 18416632"/>
              </a:avLst>
            </a:prstGeom>
            <a:solidFill>
              <a:srgbClr val="0061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75" name="Google Shape;282;g104476d1465_1_17">
            <a:extLst>
              <a:ext uri="{FF2B5EF4-FFF2-40B4-BE49-F238E27FC236}">
                <a16:creationId xmlns:a16="http://schemas.microsoft.com/office/drawing/2014/main" id="{AF5C71F6-D370-1A4C-964E-CFAC39372480}"/>
              </a:ext>
            </a:extLst>
          </p:cNvPr>
          <p:cNvSpPr txBox="1"/>
          <p:nvPr/>
        </p:nvSpPr>
        <p:spPr>
          <a:xfrm>
            <a:off x="888955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grpSp>
        <p:nvGrpSpPr>
          <p:cNvPr id="3" name="Group 2"/>
          <p:cNvGrpSpPr/>
          <p:nvPr/>
        </p:nvGrpSpPr>
        <p:grpSpPr>
          <a:xfrm>
            <a:off x="1065559" y="341964"/>
            <a:ext cx="7210918" cy="1008380"/>
            <a:chOff x="1165542" y="333739"/>
            <a:chExt cx="7210918" cy="1008380"/>
          </a:xfrm>
        </p:grpSpPr>
        <p:grpSp>
          <p:nvGrpSpPr>
            <p:cNvPr id="6" name="Group 5">
              <a:extLst>
                <a:ext uri="{FF2B5EF4-FFF2-40B4-BE49-F238E27FC236}">
                  <a16:creationId xmlns:a16="http://schemas.microsoft.com/office/drawing/2014/main" id="{6DBE1D3B-C08A-504B-825D-8C835DD0D96F}"/>
                </a:ext>
              </a:extLst>
            </p:cNvPr>
            <p:cNvGrpSpPr/>
            <p:nvPr/>
          </p:nvGrpSpPr>
          <p:grpSpPr>
            <a:xfrm>
              <a:off x="1165542" y="333739"/>
              <a:ext cx="7210918" cy="1008380"/>
              <a:chOff x="2031300" y="3275735"/>
              <a:chExt cx="7211330" cy="1008525"/>
            </a:xfrm>
            <a:effectLst>
              <a:outerShdw blurRad="50800" dist="38100" dir="2700000" algn="tl" rotWithShape="0">
                <a:prstClr val="black">
                  <a:alpha val="40000"/>
                </a:prstClr>
              </a:outerShdw>
            </a:effectLst>
          </p:grpSpPr>
          <p:grpSp>
            <p:nvGrpSpPr>
              <p:cNvPr id="8" name="Group 7">
                <a:extLst>
                  <a:ext uri="{FF2B5EF4-FFF2-40B4-BE49-F238E27FC236}">
                    <a16:creationId xmlns:a16="http://schemas.microsoft.com/office/drawing/2014/main" id="{CCEFDBF7-869C-FD42-8020-728C56F3ADBC}"/>
                  </a:ext>
                </a:extLst>
              </p:cNvPr>
              <p:cNvGrpSpPr/>
              <p:nvPr/>
            </p:nvGrpSpPr>
            <p:grpSpPr>
              <a:xfrm>
                <a:off x="2031300" y="3275735"/>
                <a:ext cx="7211330" cy="1008525"/>
                <a:chOff x="2031300" y="3275735"/>
                <a:chExt cx="7211330" cy="1008525"/>
              </a:xfrm>
            </p:grpSpPr>
            <p:sp>
              <p:nvSpPr>
                <p:cNvPr id="9" name="Rectangle 8">
                  <a:extLst>
                    <a:ext uri="{FF2B5EF4-FFF2-40B4-BE49-F238E27FC236}">
                      <a16:creationId xmlns:a16="http://schemas.microsoft.com/office/drawing/2014/main" id="{9ABBCFFF-7801-8C47-AF52-3F1567A1796B}"/>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5CC7F8EB-F895-9A4D-97B5-527E7ABDD5CD}"/>
                    </a:ext>
                  </a:extLst>
                </p:cNvPr>
                <p:cNvGrpSpPr/>
                <p:nvPr/>
              </p:nvGrpSpPr>
              <p:grpSpPr>
                <a:xfrm>
                  <a:off x="2031300" y="3275735"/>
                  <a:ext cx="7211330" cy="1008525"/>
                  <a:chOff x="2031300" y="3275735"/>
                  <a:chExt cx="7211330" cy="1008525"/>
                </a:xfrm>
              </p:grpSpPr>
              <p:sp>
                <p:nvSpPr>
                  <p:cNvPr id="11" name="Rectangle 10">
                    <a:extLst>
                      <a:ext uri="{FF2B5EF4-FFF2-40B4-BE49-F238E27FC236}">
                        <a16:creationId xmlns:a16="http://schemas.microsoft.com/office/drawing/2014/main" id="{CD81E362-99CF-9845-9E7B-7C209937481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F06C65DA-FA35-2244-9B88-472EC82B4202}"/>
                      </a:ext>
                    </a:extLst>
                  </p:cNvPr>
                  <p:cNvGrpSpPr/>
                  <p:nvPr/>
                </p:nvGrpSpPr>
                <p:grpSpPr>
                  <a:xfrm>
                    <a:off x="2031300" y="3275735"/>
                    <a:ext cx="7211330" cy="1008525"/>
                    <a:chOff x="2031300" y="3275735"/>
                    <a:chExt cx="7211330" cy="1008525"/>
                  </a:xfrm>
                </p:grpSpPr>
                <p:sp>
                  <p:nvSpPr>
                    <p:cNvPr id="14" name="Rectangle 13">
                      <a:extLst>
                        <a:ext uri="{FF2B5EF4-FFF2-40B4-BE49-F238E27FC236}">
                          <a16:creationId xmlns:a16="http://schemas.microsoft.com/office/drawing/2014/main" id="{5D397AB7-02A2-7F42-875F-810972A01350}"/>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97BBC9DD-149B-1D48-BCBC-9F61AF65A49C}"/>
                        </a:ext>
                      </a:extLst>
                    </p:cNvPr>
                    <p:cNvGrpSpPr/>
                    <p:nvPr/>
                  </p:nvGrpSpPr>
                  <p:grpSpPr>
                    <a:xfrm>
                      <a:off x="2031300" y="3275735"/>
                      <a:ext cx="7211330" cy="1008525"/>
                      <a:chOff x="2031300" y="3275735"/>
                      <a:chExt cx="7211330" cy="1008525"/>
                    </a:xfrm>
                  </p:grpSpPr>
                  <p:sp>
                    <p:nvSpPr>
                      <p:cNvPr id="16" name="Rectangle 15">
                        <a:extLst>
                          <a:ext uri="{FF2B5EF4-FFF2-40B4-BE49-F238E27FC236}">
                            <a16:creationId xmlns:a16="http://schemas.microsoft.com/office/drawing/2014/main" id="{22FE7952-A1D1-444D-B9EB-DC9A9F2FD3D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09603D36-37DC-2D47-B642-8B48CBC63AAD}"/>
                          </a:ext>
                        </a:extLst>
                      </p:cNvPr>
                      <p:cNvGrpSpPr/>
                      <p:nvPr/>
                    </p:nvGrpSpPr>
                    <p:grpSpPr>
                      <a:xfrm>
                        <a:off x="2031300" y="3275735"/>
                        <a:ext cx="7211330" cy="1008525"/>
                        <a:chOff x="2031300" y="3275735"/>
                        <a:chExt cx="7211330" cy="1008525"/>
                      </a:xfrm>
                    </p:grpSpPr>
                    <p:sp>
                      <p:nvSpPr>
                        <p:cNvPr id="18" name="Rectangle 17">
                          <a:extLst>
                            <a:ext uri="{FF2B5EF4-FFF2-40B4-BE49-F238E27FC236}">
                              <a16:creationId xmlns:a16="http://schemas.microsoft.com/office/drawing/2014/main" id="{58CE930B-BCCA-984F-995B-B2905950DC5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32410B7F-7B42-EB40-BB8E-B2D1AC98DC24}"/>
                            </a:ext>
                          </a:extLst>
                        </p:cNvPr>
                        <p:cNvGrpSpPr/>
                        <p:nvPr/>
                      </p:nvGrpSpPr>
                      <p:grpSpPr>
                        <a:xfrm>
                          <a:off x="2031300" y="3275735"/>
                          <a:ext cx="7211330" cy="1008525"/>
                          <a:chOff x="2031300" y="3275735"/>
                          <a:chExt cx="7211330" cy="1008525"/>
                        </a:xfrm>
                      </p:grpSpPr>
                      <p:sp>
                        <p:nvSpPr>
                          <p:cNvPr id="20" name="Rectangle 19">
                            <a:extLst>
                              <a:ext uri="{FF2B5EF4-FFF2-40B4-BE49-F238E27FC236}">
                                <a16:creationId xmlns:a16="http://schemas.microsoft.com/office/drawing/2014/main" id="{454F914A-6005-924D-B95F-9E8EAC19964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9D4965A8-D3B7-394C-8794-BCF8674C070F}"/>
                              </a:ext>
                            </a:extLst>
                          </p:cNvPr>
                          <p:cNvGrpSpPr/>
                          <p:nvPr/>
                        </p:nvGrpSpPr>
                        <p:grpSpPr>
                          <a:xfrm>
                            <a:off x="2031300" y="3275735"/>
                            <a:ext cx="7211330" cy="1008525"/>
                            <a:chOff x="2031300" y="3275735"/>
                            <a:chExt cx="7211330" cy="1008525"/>
                          </a:xfrm>
                        </p:grpSpPr>
                        <p:sp>
                          <p:nvSpPr>
                            <p:cNvPr id="22" name="Rectangle 21">
                              <a:extLst>
                                <a:ext uri="{FF2B5EF4-FFF2-40B4-BE49-F238E27FC236}">
                                  <a16:creationId xmlns:a16="http://schemas.microsoft.com/office/drawing/2014/main" id="{A0C23AED-1C5D-9A46-9AA0-6ACED614069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E3D2B6AC-8198-3347-BFAE-3B1615E0712D}"/>
                                </a:ext>
                              </a:extLst>
                            </p:cNvPr>
                            <p:cNvGrpSpPr/>
                            <p:nvPr/>
                          </p:nvGrpSpPr>
                          <p:grpSpPr>
                            <a:xfrm>
                              <a:off x="2031300" y="3275735"/>
                              <a:ext cx="7211330" cy="1008525"/>
                              <a:chOff x="2031300" y="3275735"/>
                              <a:chExt cx="7211330" cy="1008525"/>
                            </a:xfrm>
                          </p:grpSpPr>
                          <p:sp>
                            <p:nvSpPr>
                              <p:cNvPr id="24" name="Rectangle 23">
                                <a:extLst>
                                  <a:ext uri="{FF2B5EF4-FFF2-40B4-BE49-F238E27FC236}">
                                    <a16:creationId xmlns:a16="http://schemas.microsoft.com/office/drawing/2014/main" id="{2100C486-23A2-E246-ACD0-12BBF39D3FA4}"/>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a:extLst>
                                  <a:ext uri="{FF2B5EF4-FFF2-40B4-BE49-F238E27FC236}">
                                    <a16:creationId xmlns:a16="http://schemas.microsoft.com/office/drawing/2014/main" id="{CF89BA2F-DD5B-DC4B-9272-C30BD3190FEF}"/>
                                  </a:ext>
                                </a:extLst>
                              </p:cNvPr>
                              <p:cNvGrpSpPr/>
                              <p:nvPr/>
                            </p:nvGrpSpPr>
                            <p:grpSpPr>
                              <a:xfrm>
                                <a:off x="2031300" y="3275735"/>
                                <a:ext cx="7211330" cy="1008525"/>
                                <a:chOff x="2031300" y="3275735"/>
                                <a:chExt cx="7211330" cy="1008525"/>
                              </a:xfrm>
                            </p:grpSpPr>
                            <p:sp>
                              <p:nvSpPr>
                                <p:cNvPr id="26" name="Rectangle 25">
                                  <a:extLst>
                                    <a:ext uri="{FF2B5EF4-FFF2-40B4-BE49-F238E27FC236}">
                                      <a16:creationId xmlns:a16="http://schemas.microsoft.com/office/drawing/2014/main" id="{3C006765-FF9C-C240-BAC5-8DB31ABD1D3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7" name="Group 26">
                                  <a:extLst>
                                    <a:ext uri="{FF2B5EF4-FFF2-40B4-BE49-F238E27FC236}">
                                      <a16:creationId xmlns:a16="http://schemas.microsoft.com/office/drawing/2014/main" id="{08A70CA1-B108-2A4A-BF7D-6C8AE0A6D626}"/>
                                    </a:ext>
                                  </a:extLst>
                                </p:cNvPr>
                                <p:cNvGrpSpPr/>
                                <p:nvPr/>
                              </p:nvGrpSpPr>
                              <p:grpSpPr>
                                <a:xfrm>
                                  <a:off x="2031300" y="3275735"/>
                                  <a:ext cx="7211330" cy="1008525"/>
                                  <a:chOff x="0" y="0"/>
                                  <a:chExt cx="7211330" cy="1008525"/>
                                </a:xfrm>
                              </p:grpSpPr>
                              <p:sp>
                                <p:nvSpPr>
                                  <p:cNvPr id="28" name="Rectangle 27">
                                    <a:extLst>
                                      <a:ext uri="{FF2B5EF4-FFF2-40B4-BE49-F238E27FC236}">
                                        <a16:creationId xmlns:a16="http://schemas.microsoft.com/office/drawing/2014/main" id="{6FDEBEF4-14A6-824E-A628-970FF5C546EC}"/>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9" name="Group 28">
                                    <a:extLst>
                                      <a:ext uri="{FF2B5EF4-FFF2-40B4-BE49-F238E27FC236}">
                                        <a16:creationId xmlns:a16="http://schemas.microsoft.com/office/drawing/2014/main" id="{C7099C4B-C5B9-C84E-B5C5-DC943D50CDB7}"/>
                                      </a:ext>
                                    </a:extLst>
                                  </p:cNvPr>
                                  <p:cNvGrpSpPr/>
                                  <p:nvPr/>
                                </p:nvGrpSpPr>
                                <p:grpSpPr>
                                  <a:xfrm>
                                    <a:off x="0" y="0"/>
                                    <a:ext cx="7211330" cy="1008525"/>
                                    <a:chOff x="0" y="0"/>
                                    <a:chExt cx="7211330" cy="1008525"/>
                                  </a:xfrm>
                                </p:grpSpPr>
                                <p:sp>
                                  <p:nvSpPr>
                                    <p:cNvPr id="31" name="Rectangle 30">
                                      <a:extLst>
                                        <a:ext uri="{FF2B5EF4-FFF2-40B4-BE49-F238E27FC236}">
                                          <a16:creationId xmlns:a16="http://schemas.microsoft.com/office/drawing/2014/main" id="{AD8ED891-9B1F-C548-BA97-E8C39CCF4C1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32" name="Rectangle 31">
                                      <a:extLst>
                                        <a:ext uri="{FF2B5EF4-FFF2-40B4-BE49-F238E27FC236}">
                                          <a16:creationId xmlns:a16="http://schemas.microsoft.com/office/drawing/2014/main" id="{E89A96E8-1695-CE47-AE19-28B72597E03F}"/>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33" name="Rounded Rectangle 32">
                                      <a:extLst>
                                        <a:ext uri="{FF2B5EF4-FFF2-40B4-BE49-F238E27FC236}">
                                          <a16:creationId xmlns:a16="http://schemas.microsoft.com/office/drawing/2014/main" id="{E0E96BCA-A27C-1447-A00B-495186D958A4}"/>
                                        </a:ext>
                                      </a:extLst>
                                    </p:cNvPr>
                                    <p:cNvSpPr/>
                                    <p:nvPr/>
                                  </p:nvSpPr>
                                  <p:spPr>
                                    <a:xfrm>
                                      <a:off x="10920" y="86042"/>
                                      <a:ext cx="7200410" cy="922483"/>
                                    </a:xfrm>
                                    <a:prstGeom prst="roundRect">
                                      <a:avLst>
                                        <a:gd name="adj" fmla="val 16667"/>
                                      </a:avLst>
                                    </a:prstGeom>
                                    <a:solidFill>
                                      <a:srgbClr val="B8E6F5"/>
                                    </a:solidFill>
                                    <a:ln>
                                      <a:noFill/>
                                    </a:ln>
                                  </p:spPr>
                                  <p:txBody>
                                    <a:bodyPr spcFirstLastPara="1" wrap="square" lIns="91425" tIns="108000" rIns="91425" bIns="108000" anchor="ctr" anchorCtr="0">
                                      <a:spAutoFit/>
                                    </a:bodyPr>
                                    <a:lstStyle/>
                                    <a:p>
                                      <a:pPr marL="685800"/>
                                      <a:r>
                                        <a:rPr lang="en-US" sz="2000" b="1" dirty="0">
                                          <a:solidFill>
                                            <a:srgbClr val="01619E"/>
                                          </a:solidFill>
                                          <a:latin typeface="Verdana" panose="020B0604030504040204" pitchFamily="34" charset="0"/>
                                          <a:ea typeface="Times New Roman" panose="02020603050405020304" pitchFamily="18" charset="0"/>
                                          <a:cs typeface="Times New Roman" panose="02020603050405020304" pitchFamily="18" charset="0"/>
                                        </a:rPr>
                                        <a:t>Vertical Angles Theorem</a:t>
                                      </a:r>
                                      <a:r>
                                        <a:rPr lang="en-US" sz="2000" dirty="0">
                                          <a:solidFill>
                                            <a:srgbClr val="01619E"/>
                                          </a:solidFill>
                                          <a:latin typeface="Verdana" panose="020B0604030504040204" pitchFamily="34" charset="0"/>
                                          <a:ea typeface="Times New Roman" panose="02020603050405020304" pitchFamily="18" charset="0"/>
                                          <a:cs typeface="Times New Roman" panose="02020603050405020304" pitchFamily="18" charset="0"/>
                                        </a:rPr>
                                        <a:t>: If two lines intersect, then vertical angles are congruent.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grpSp>
                      </p:grpSp>
                    </p:grpSp>
                  </p:grpSp>
                </p:grpSp>
              </p:grpSp>
            </p:grpSp>
          </p:grpSp>
        </p:grpSp>
        <p:pic>
          <p:nvPicPr>
            <p:cNvPr id="48" name="Shape 60" descr="Icon&#10;&#10;Description automatically generated">
              <a:extLst>
                <a:ext uri="{FF2B5EF4-FFF2-40B4-BE49-F238E27FC236}">
                  <a16:creationId xmlns:a16="http://schemas.microsoft.com/office/drawing/2014/main" id="{A2433A34-BD92-7843-9071-E656D571821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286336" y="583731"/>
              <a:ext cx="598828" cy="598777"/>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5" y="382315"/>
            <a:ext cx="8327136"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pictorial proof of the vertical angles theorem is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82663"/>
            <a:r>
              <a:rPr lang="en-US" sz="2400" dirty="0">
                <a:latin typeface="Verdana" panose="020B0604030504040204" pitchFamily="34" charset="0"/>
                <a:ea typeface="Verdana" panose="020B0604030504040204" pitchFamily="34" charset="0"/>
                <a:cs typeface="Verdana" panose="020B0604030504040204" pitchFamily="34" charset="0"/>
              </a:rPr>
              <a:t>Therefore,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In the same manner,</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7BFD29C2-D171-7E4D-A4DD-C3033252D0AB}"/>
              </a:ext>
            </a:extLst>
          </p:cNvPr>
          <p:cNvGrpSpPr/>
          <p:nvPr/>
        </p:nvGrpSpPr>
        <p:grpSpPr>
          <a:xfrm>
            <a:off x="776050" y="787873"/>
            <a:ext cx="6311596" cy="6286899"/>
            <a:chOff x="0" y="0"/>
            <a:chExt cx="5941760" cy="5918093"/>
          </a:xfrm>
        </p:grpSpPr>
        <p:sp>
          <p:nvSpPr>
            <p:cNvPr id="8" name="Pie 7">
              <a:extLst>
                <a:ext uri="{FF2B5EF4-FFF2-40B4-BE49-F238E27FC236}">
                  <a16:creationId xmlns:a16="http://schemas.microsoft.com/office/drawing/2014/main" id="{E248EDBC-0004-5547-AF74-FBED9F08CDF8}"/>
                </a:ext>
              </a:extLst>
            </p:cNvPr>
            <p:cNvSpPr/>
            <p:nvPr/>
          </p:nvSpPr>
          <p:spPr>
            <a:xfrm rot="18497757">
              <a:off x="994077" y="1876"/>
              <a:ext cx="1621471" cy="1617720"/>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Text Box 2">
              <a:extLst>
                <a:ext uri="{FF2B5EF4-FFF2-40B4-BE49-F238E27FC236}">
                  <a16:creationId xmlns:a16="http://schemas.microsoft.com/office/drawing/2014/main" id="{6632A79C-A260-A14B-AF19-DFF5A4E553F1}"/>
                </a:ext>
              </a:extLst>
            </p:cNvPr>
            <p:cNvSpPr txBox="1">
              <a:spLocks noChangeArrowheads="1"/>
            </p:cNvSpPr>
            <p:nvPr/>
          </p:nvSpPr>
          <p:spPr bwMode="auto">
            <a:xfrm>
              <a:off x="1769140" y="611476"/>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Pie 9">
              <a:extLst>
                <a:ext uri="{FF2B5EF4-FFF2-40B4-BE49-F238E27FC236}">
                  <a16:creationId xmlns:a16="http://schemas.microsoft.com/office/drawing/2014/main" id="{0A685C5B-3E6E-CF41-ACA3-1EA4E3462E97}"/>
                </a:ext>
              </a:extLst>
            </p:cNvPr>
            <p:cNvSpPr/>
            <p:nvPr/>
          </p:nvSpPr>
          <p:spPr>
            <a:xfrm rot="1554400">
              <a:off x="2117483" y="419887"/>
              <a:ext cx="1621471" cy="1617720"/>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 Box 2">
              <a:extLst>
                <a:ext uri="{FF2B5EF4-FFF2-40B4-BE49-F238E27FC236}">
                  <a16:creationId xmlns:a16="http://schemas.microsoft.com/office/drawing/2014/main" id="{F6FB6E5D-4847-0B48-ACC1-6465011C9692}"/>
                </a:ext>
              </a:extLst>
            </p:cNvPr>
            <p:cNvSpPr txBox="1">
              <a:spLocks noChangeArrowheads="1"/>
            </p:cNvSpPr>
            <p:nvPr/>
          </p:nvSpPr>
          <p:spPr bwMode="auto">
            <a:xfrm>
              <a:off x="3676317" y="611476"/>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a:latin typeface="Verdana" panose="020B0604030504040204" pitchFamily="34" charset="0"/>
                  <a:ea typeface="Times New Roman" panose="02020603050405020304" pitchFamily="18" charset="0"/>
                  <a:cs typeface="Times New Roman" panose="02020603050405020304" pitchFamily="18" charset="0"/>
                </a:rPr>
                <a:t>=</a:t>
              </a:r>
              <a:endParaRPr lang="en-US" sz="24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Pie 12">
              <a:extLst>
                <a:ext uri="{FF2B5EF4-FFF2-40B4-BE49-F238E27FC236}">
                  <a16:creationId xmlns:a16="http://schemas.microsoft.com/office/drawing/2014/main" id="{AFD2A72F-E089-2E46-BAAD-9A3AA00A16B7}"/>
                </a:ext>
              </a:extLst>
            </p:cNvPr>
            <p:cNvSpPr/>
            <p:nvPr/>
          </p:nvSpPr>
          <p:spPr>
            <a:xfrm rot="3140703">
              <a:off x="4237600" y="276061"/>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Pie 13">
              <a:extLst>
                <a:ext uri="{FF2B5EF4-FFF2-40B4-BE49-F238E27FC236}">
                  <a16:creationId xmlns:a16="http://schemas.microsoft.com/office/drawing/2014/main" id="{321F4778-7E75-6342-9C89-8B50CD913F19}"/>
                </a:ext>
              </a:extLst>
            </p:cNvPr>
            <p:cNvSpPr/>
            <p:nvPr/>
          </p:nvSpPr>
          <p:spPr>
            <a:xfrm rot="7798638">
              <a:off x="-1876" y="1354880"/>
              <a:ext cx="1621471" cy="1617720"/>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Text Box 2">
              <a:extLst>
                <a:ext uri="{FF2B5EF4-FFF2-40B4-BE49-F238E27FC236}">
                  <a16:creationId xmlns:a16="http://schemas.microsoft.com/office/drawing/2014/main" id="{8771963C-756B-EA4E-889B-1F3581ECFE72}"/>
                </a:ext>
              </a:extLst>
            </p:cNvPr>
            <p:cNvSpPr txBox="1">
              <a:spLocks noChangeArrowheads="1"/>
            </p:cNvSpPr>
            <p:nvPr/>
          </p:nvSpPr>
          <p:spPr bwMode="auto">
            <a:xfrm>
              <a:off x="1769140" y="1952596"/>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a:latin typeface="Verdana" panose="020B0604030504040204" pitchFamily="34" charset="0"/>
                  <a:ea typeface="Times New Roman" panose="02020603050405020304" pitchFamily="18" charset="0"/>
                  <a:cs typeface="Times New Roman" panose="02020603050405020304" pitchFamily="18" charset="0"/>
                </a:rPr>
                <a:t>+</a:t>
              </a:r>
              <a:endParaRPr lang="en-US" sz="24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Pie 15">
              <a:extLst>
                <a:ext uri="{FF2B5EF4-FFF2-40B4-BE49-F238E27FC236}">
                  <a16:creationId xmlns:a16="http://schemas.microsoft.com/office/drawing/2014/main" id="{1E154CFB-9937-CD47-9D6D-24D35538D4C5}"/>
                </a:ext>
              </a:extLst>
            </p:cNvPr>
            <p:cNvSpPr/>
            <p:nvPr/>
          </p:nvSpPr>
          <p:spPr>
            <a:xfrm rot="1554400">
              <a:off x="2143609" y="1691339"/>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 Box 2">
              <a:extLst>
                <a:ext uri="{FF2B5EF4-FFF2-40B4-BE49-F238E27FC236}">
                  <a16:creationId xmlns:a16="http://schemas.microsoft.com/office/drawing/2014/main" id="{8983B89B-7944-C446-A194-E8E82E0E160E}"/>
                </a:ext>
              </a:extLst>
            </p:cNvPr>
            <p:cNvSpPr txBox="1">
              <a:spLocks noChangeArrowheads="1"/>
            </p:cNvSpPr>
            <p:nvPr/>
          </p:nvSpPr>
          <p:spPr bwMode="auto">
            <a:xfrm>
              <a:off x="3702443" y="1926470"/>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a:latin typeface="Verdana" panose="020B0604030504040204" pitchFamily="34" charset="0"/>
                  <a:ea typeface="Times New Roman" panose="02020603050405020304" pitchFamily="18" charset="0"/>
                  <a:cs typeface="Times New Roman" panose="02020603050405020304" pitchFamily="18" charset="0"/>
                </a:rPr>
                <a:t>=</a:t>
              </a:r>
              <a:endParaRPr lang="en-US" sz="24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Pie 17">
              <a:extLst>
                <a:ext uri="{FF2B5EF4-FFF2-40B4-BE49-F238E27FC236}">
                  <a16:creationId xmlns:a16="http://schemas.microsoft.com/office/drawing/2014/main" id="{98378514-A277-504E-A76F-EC464E08CD3E}"/>
                </a:ext>
              </a:extLst>
            </p:cNvPr>
            <p:cNvSpPr/>
            <p:nvPr/>
          </p:nvSpPr>
          <p:spPr>
            <a:xfrm rot="3140703">
              <a:off x="4272435" y="1556220"/>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Pie 18">
              <a:extLst>
                <a:ext uri="{FF2B5EF4-FFF2-40B4-BE49-F238E27FC236}">
                  <a16:creationId xmlns:a16="http://schemas.microsoft.com/office/drawing/2014/main" id="{6B66D4CC-B768-8943-BC12-B9B419F6FC5F}"/>
                </a:ext>
              </a:extLst>
            </p:cNvPr>
            <p:cNvSpPr/>
            <p:nvPr/>
          </p:nvSpPr>
          <p:spPr>
            <a:xfrm rot="18497757">
              <a:off x="2558552" y="2492614"/>
              <a:ext cx="1621471" cy="1617720"/>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Pie 19">
              <a:extLst>
                <a:ext uri="{FF2B5EF4-FFF2-40B4-BE49-F238E27FC236}">
                  <a16:creationId xmlns:a16="http://schemas.microsoft.com/office/drawing/2014/main" id="{E77B39FE-CFA6-A844-BBC4-BE32E13A4784}"/>
                </a:ext>
              </a:extLst>
            </p:cNvPr>
            <p:cNvSpPr/>
            <p:nvPr/>
          </p:nvSpPr>
          <p:spPr>
            <a:xfrm rot="7798638">
              <a:off x="3838144" y="2495788"/>
              <a:ext cx="1621471" cy="1617720"/>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 Box 2">
              <a:extLst>
                <a:ext uri="{FF2B5EF4-FFF2-40B4-BE49-F238E27FC236}">
                  <a16:creationId xmlns:a16="http://schemas.microsoft.com/office/drawing/2014/main" id="{524CC459-27F1-304F-8A44-D175589470A5}"/>
                </a:ext>
              </a:extLst>
            </p:cNvPr>
            <p:cNvSpPr txBox="1">
              <a:spLocks noChangeArrowheads="1"/>
            </p:cNvSpPr>
            <p:nvPr/>
          </p:nvSpPr>
          <p:spPr bwMode="auto">
            <a:xfrm>
              <a:off x="3728569" y="3076087"/>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a:latin typeface="Verdana" panose="020B0604030504040204" pitchFamily="34" charset="0"/>
                  <a:ea typeface="Times New Roman" panose="02020603050405020304" pitchFamily="18" charset="0"/>
                  <a:cs typeface="Times New Roman" panose="02020603050405020304" pitchFamily="18" charset="0"/>
                </a:rPr>
                <a:t>=</a:t>
              </a:r>
              <a:endParaRPr lang="en-US" sz="24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2" name="Pie 21">
              <a:extLst>
                <a:ext uri="{FF2B5EF4-FFF2-40B4-BE49-F238E27FC236}">
                  <a16:creationId xmlns:a16="http://schemas.microsoft.com/office/drawing/2014/main" id="{16D28A6D-8BD2-8D41-89A2-74E5306B4B0A}"/>
                </a:ext>
              </a:extLst>
            </p:cNvPr>
            <p:cNvSpPr/>
            <p:nvPr/>
          </p:nvSpPr>
          <p:spPr>
            <a:xfrm rot="1554400">
              <a:off x="2021688" y="4300373"/>
              <a:ext cx="1621471" cy="1617720"/>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 Box 2">
              <a:extLst>
                <a:ext uri="{FF2B5EF4-FFF2-40B4-BE49-F238E27FC236}">
                  <a16:creationId xmlns:a16="http://schemas.microsoft.com/office/drawing/2014/main" id="{4D245F7F-7601-5549-87CD-12BABC39CB99}"/>
                </a:ext>
              </a:extLst>
            </p:cNvPr>
            <p:cNvSpPr txBox="1">
              <a:spLocks noChangeArrowheads="1"/>
            </p:cNvSpPr>
            <p:nvPr/>
          </p:nvSpPr>
          <p:spPr bwMode="auto">
            <a:xfrm>
              <a:off x="3658899" y="4483254"/>
              <a:ext cx="628650" cy="43458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400">
                  <a:latin typeface="Verdana" panose="020B0604030504040204" pitchFamily="34" charset="0"/>
                  <a:ea typeface="Times New Roman" panose="02020603050405020304" pitchFamily="18" charset="0"/>
                  <a:cs typeface="Times New Roman" panose="02020603050405020304" pitchFamily="18" charset="0"/>
                </a:rPr>
                <a:t>=</a:t>
              </a:r>
              <a:endParaRPr lang="en-US" sz="24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4" name="Pie 23">
              <a:extLst>
                <a:ext uri="{FF2B5EF4-FFF2-40B4-BE49-F238E27FC236}">
                  <a16:creationId xmlns:a16="http://schemas.microsoft.com/office/drawing/2014/main" id="{4F0532C3-6D13-8F49-8F77-561F4C845899}"/>
                </a:ext>
              </a:extLst>
            </p:cNvPr>
            <p:cNvSpPr/>
            <p:nvPr/>
          </p:nvSpPr>
          <p:spPr>
            <a:xfrm rot="12405662">
              <a:off x="4320289" y="3542729"/>
              <a:ext cx="1621471" cy="1617720"/>
            </a:xfrm>
            <a:prstGeom prst="pie">
              <a:avLst>
                <a:gd name="adj1" fmla="val 10570855"/>
                <a:gd name="adj2" fmla="val 18416632"/>
              </a:avLst>
            </a:prstGeom>
            <a:solidFill>
              <a:srgbClr val="0061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5" name="Google Shape;282;g104476d1465_1_17">
            <a:extLst>
              <a:ext uri="{FF2B5EF4-FFF2-40B4-BE49-F238E27FC236}">
                <a16:creationId xmlns:a16="http://schemas.microsoft.com/office/drawing/2014/main" id="{9033CAFA-DC80-A548-84A6-7F9D13396C5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1780730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0131337-F0A1-214A-85FE-946BEF8EDB72}"/>
              </a:ext>
            </a:extLst>
          </p:cNvPr>
          <p:cNvGraphicFramePr>
            <a:graphicFrameLocks noGrp="1"/>
          </p:cNvGraphicFramePr>
          <p:nvPr>
            <p:extLst>
              <p:ext uri="{D42A27DB-BD31-4B8C-83A1-F6EECF244321}">
                <p14:modId xmlns:p14="http://schemas.microsoft.com/office/powerpoint/2010/main" val="3717596567"/>
              </p:ext>
            </p:extLst>
          </p:nvPr>
        </p:nvGraphicFramePr>
        <p:xfrm>
          <a:off x="1104133" y="1571883"/>
          <a:ext cx="7200000" cy="4248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2620691343"/>
                    </a:ext>
                  </a:extLst>
                </a:gridCol>
                <a:gridCol w="3600000">
                  <a:extLst>
                    <a:ext uri="{9D8B030D-6E8A-4147-A177-3AD203B41FA5}">
                      <a16:colId xmlns:a16="http://schemas.microsoft.com/office/drawing/2014/main" val="2010515766"/>
                    </a:ext>
                  </a:extLst>
                </a:gridCol>
              </a:tblGrid>
              <a:tr h="468000">
                <a:tc>
                  <a:txBody>
                    <a:bodyPr/>
                    <a:lstStyle/>
                    <a:p>
                      <a:pPr marL="0" marR="0" algn="ctr">
                        <a:spcBef>
                          <a:spcPts val="0"/>
                        </a:spcBef>
                        <a:spcAft>
                          <a:spcPts val="0"/>
                        </a:spcAft>
                      </a:pPr>
                      <a:r>
                        <a:rPr lang="en-US" sz="2000" b="1" dirty="0">
                          <a:effectLst/>
                          <a:latin typeface="Verdana" pitchFamily="34" charset="0"/>
                          <a:ea typeface="Verdana" pitchFamily="34" charset="0"/>
                          <a:cs typeface="Verdana" panose="020B0604030504040204" pitchFamily="34" charset="0"/>
                        </a:rPr>
                        <a:t>Picture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2057898"/>
                  </a:ext>
                </a:extLst>
              </a:tr>
              <a:tr h="1260000">
                <a:tc>
                  <a:txBody>
                    <a:bodyPr/>
                    <a:lstStyle/>
                    <a:p>
                      <a:pPr marL="0" marR="0" algn="ctr">
                        <a:spcBef>
                          <a:spcPts val="0"/>
                        </a:spcBef>
                        <a:spcAft>
                          <a:spcPts val="0"/>
                        </a:spcAft>
                      </a:pPr>
                      <a:r>
                        <a:rPr lang="en-US" sz="2000">
                          <a:effectLst/>
                          <a:latin typeface="Verdana" pitchFamily="34" charset="0"/>
                          <a:ea typeface="Verdana"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Verdana" panose="020B0604030504040204" pitchFamily="34" charset="0"/>
                        </a:rPr>
                        <a:t>The yellow angle and the red angle are being added.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481372"/>
                  </a:ext>
                </a:extLst>
              </a:tr>
              <a:tr h="1260000">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817677"/>
                  </a:ext>
                </a:extLst>
              </a:tr>
              <a:tr h="1260000">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9195127"/>
                  </a:ext>
                </a:extLst>
              </a:tr>
            </a:tbl>
          </a:graphicData>
        </a:graphic>
      </p:graphicFrame>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4" y="382314"/>
            <a:ext cx="10983359" cy="923330"/>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pictorial proof of the vertical angles theorem below. Complete the description for each picture shown in the pictorial proof.</a:t>
            </a:r>
          </a:p>
          <a:p>
            <a:r>
              <a:rPr lang="en-US" dirty="0"/>
              <a:t> </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42433F50-D3CA-7043-BAFD-CC94238DA399}"/>
              </a:ext>
            </a:extLst>
          </p:cNvPr>
          <p:cNvGrpSpPr/>
          <p:nvPr/>
        </p:nvGrpSpPr>
        <p:grpSpPr>
          <a:xfrm>
            <a:off x="358318" y="1699894"/>
            <a:ext cx="4278656" cy="4939213"/>
            <a:chOff x="-56380" y="-52618"/>
            <a:chExt cx="3640724" cy="4202392"/>
          </a:xfrm>
        </p:grpSpPr>
        <p:sp>
          <p:nvSpPr>
            <p:cNvPr id="8" name="Pie 7">
              <a:extLst>
                <a:ext uri="{FF2B5EF4-FFF2-40B4-BE49-F238E27FC236}">
                  <a16:creationId xmlns:a16="http://schemas.microsoft.com/office/drawing/2014/main" id="{A2D3801A-A19A-3140-977B-D0D9CBF9F4D9}"/>
                </a:ext>
              </a:extLst>
            </p:cNvPr>
            <p:cNvSpPr/>
            <p:nvPr/>
          </p:nvSpPr>
          <p:spPr>
            <a:xfrm rot="18497757">
              <a:off x="802489" y="-50713"/>
              <a:ext cx="1621155" cy="1617345"/>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Text Box 2">
              <a:extLst>
                <a:ext uri="{FF2B5EF4-FFF2-40B4-BE49-F238E27FC236}">
                  <a16:creationId xmlns:a16="http://schemas.microsoft.com/office/drawing/2014/main" id="{E9414351-1A1C-C546-926E-EBB5152F7854}"/>
                </a:ext>
              </a:extLst>
            </p:cNvPr>
            <p:cNvSpPr txBox="1">
              <a:spLocks noChangeArrowheads="1"/>
            </p:cNvSpPr>
            <p:nvPr/>
          </p:nvSpPr>
          <p:spPr bwMode="auto">
            <a:xfrm>
              <a:off x="1642641" y="602430"/>
              <a:ext cx="628650" cy="34042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Pie 9">
              <a:extLst>
                <a:ext uri="{FF2B5EF4-FFF2-40B4-BE49-F238E27FC236}">
                  <a16:creationId xmlns:a16="http://schemas.microsoft.com/office/drawing/2014/main" id="{11195C5A-DED7-D446-B555-DFEC02FE45DE}"/>
                </a:ext>
              </a:extLst>
            </p:cNvPr>
            <p:cNvSpPr/>
            <p:nvPr/>
          </p:nvSpPr>
          <p:spPr>
            <a:xfrm rot="1554400">
              <a:off x="1934603" y="367298"/>
              <a:ext cx="1621471" cy="1617720"/>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Pie 10">
              <a:extLst>
                <a:ext uri="{FF2B5EF4-FFF2-40B4-BE49-F238E27FC236}">
                  <a16:creationId xmlns:a16="http://schemas.microsoft.com/office/drawing/2014/main" id="{7F001155-A605-F349-9A3B-43B21BE8D8F8}"/>
                </a:ext>
              </a:extLst>
            </p:cNvPr>
            <p:cNvSpPr/>
            <p:nvPr/>
          </p:nvSpPr>
          <p:spPr>
            <a:xfrm rot="7798638">
              <a:off x="-58256" y="1112546"/>
              <a:ext cx="1621471" cy="1617720"/>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Text Box 2">
              <a:extLst>
                <a:ext uri="{FF2B5EF4-FFF2-40B4-BE49-F238E27FC236}">
                  <a16:creationId xmlns:a16="http://schemas.microsoft.com/office/drawing/2014/main" id="{FBF22A6B-9EF8-6243-A9C3-DC6B02319941}"/>
                </a:ext>
              </a:extLst>
            </p:cNvPr>
            <p:cNvSpPr txBox="1">
              <a:spLocks noChangeArrowheads="1"/>
            </p:cNvSpPr>
            <p:nvPr/>
          </p:nvSpPr>
          <p:spPr bwMode="auto">
            <a:xfrm>
              <a:off x="1667654" y="1753804"/>
              <a:ext cx="628650" cy="34042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Pie 13">
              <a:extLst>
                <a:ext uri="{FF2B5EF4-FFF2-40B4-BE49-F238E27FC236}">
                  <a16:creationId xmlns:a16="http://schemas.microsoft.com/office/drawing/2014/main" id="{942444AA-4781-E140-B9E8-706772144D90}"/>
                </a:ext>
              </a:extLst>
            </p:cNvPr>
            <p:cNvSpPr/>
            <p:nvPr/>
          </p:nvSpPr>
          <p:spPr>
            <a:xfrm rot="1554400">
              <a:off x="1963189" y="1449005"/>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 name="Group 14">
              <a:extLst>
                <a:ext uri="{FF2B5EF4-FFF2-40B4-BE49-F238E27FC236}">
                  <a16:creationId xmlns:a16="http://schemas.microsoft.com/office/drawing/2014/main" id="{512506A7-7F31-0144-9B8C-ABDB36B63E55}"/>
                </a:ext>
              </a:extLst>
            </p:cNvPr>
            <p:cNvGrpSpPr/>
            <p:nvPr/>
          </p:nvGrpSpPr>
          <p:grpSpPr>
            <a:xfrm>
              <a:off x="1115996" y="2517972"/>
              <a:ext cx="1828800" cy="1631802"/>
              <a:chOff x="0" y="-182674"/>
              <a:chExt cx="1828800" cy="1631802"/>
            </a:xfrm>
          </p:grpSpPr>
          <p:sp>
            <p:nvSpPr>
              <p:cNvPr id="16" name="Pie 15">
                <a:extLst>
                  <a:ext uri="{FF2B5EF4-FFF2-40B4-BE49-F238E27FC236}">
                    <a16:creationId xmlns:a16="http://schemas.microsoft.com/office/drawing/2014/main" id="{96AABB85-2B70-1046-AAC3-96D32B353493}"/>
                  </a:ext>
                </a:extLst>
              </p:cNvPr>
              <p:cNvSpPr/>
              <p:nvPr/>
            </p:nvSpPr>
            <p:spPr>
              <a:xfrm rot="20054302">
                <a:off x="115503" y="-182674"/>
                <a:ext cx="1621155" cy="1617345"/>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Pie 16">
                <a:extLst>
                  <a:ext uri="{FF2B5EF4-FFF2-40B4-BE49-F238E27FC236}">
                    <a16:creationId xmlns:a16="http://schemas.microsoft.com/office/drawing/2014/main" id="{9587B22D-383C-EF40-8EBB-F1100FDAD2D1}"/>
                  </a:ext>
                </a:extLst>
              </p:cNvPr>
              <p:cNvSpPr/>
              <p:nvPr/>
            </p:nvSpPr>
            <p:spPr>
              <a:xfrm rot="3140703">
                <a:off x="103287" y="-170122"/>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8" name="Straight Connector 17">
                <a:extLst>
                  <a:ext uri="{FF2B5EF4-FFF2-40B4-BE49-F238E27FC236}">
                    <a16:creationId xmlns:a16="http://schemas.microsoft.com/office/drawing/2014/main" id="{E02CF0DB-D55A-C44C-9F83-972877373991}"/>
                  </a:ext>
                </a:extLst>
              </p:cNvPr>
              <p:cNvCxnSpPr/>
              <p:nvPr/>
            </p:nvCxnSpPr>
            <p:spPr>
              <a:xfrm flipV="1">
                <a:off x="0" y="638547"/>
                <a:ext cx="1828800" cy="0"/>
              </a:xfrm>
              <a:prstGeom prst="line">
                <a:avLst/>
              </a:prstGeom>
              <a:ln w="28575"/>
            </p:spPr>
            <p:style>
              <a:lnRef idx="1">
                <a:schemeClr val="dk1"/>
              </a:lnRef>
              <a:fillRef idx="0">
                <a:schemeClr val="dk1"/>
              </a:fillRef>
              <a:effectRef idx="0">
                <a:schemeClr val="dk1"/>
              </a:effectRef>
              <a:fontRef idx="minor">
                <a:schemeClr val="tx1"/>
              </a:fontRef>
            </p:style>
          </p:cxnSp>
        </p:grpSp>
      </p:grpSp>
      <p:sp>
        <p:nvSpPr>
          <p:cNvPr id="19" name="Google Shape;282;g104476d1465_1_17">
            <a:extLst>
              <a:ext uri="{FF2B5EF4-FFF2-40B4-BE49-F238E27FC236}">
                <a16:creationId xmlns:a16="http://schemas.microsoft.com/office/drawing/2014/main" id="{B261613B-8401-5C4A-A62E-EDBEF545A0F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188328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0A6F9C-CD55-9841-ACF7-C62E75D8CF0F}"/>
              </a:ext>
            </a:extLst>
          </p:cNvPr>
          <p:cNvGraphicFramePr>
            <a:graphicFrameLocks noGrp="1"/>
          </p:cNvGraphicFramePr>
          <p:nvPr>
            <p:extLst>
              <p:ext uri="{D42A27DB-BD31-4B8C-83A1-F6EECF244321}">
                <p14:modId xmlns:p14="http://schemas.microsoft.com/office/powerpoint/2010/main" val="1568538349"/>
              </p:ext>
            </p:extLst>
          </p:nvPr>
        </p:nvGraphicFramePr>
        <p:xfrm>
          <a:off x="1094000" y="403411"/>
          <a:ext cx="7200000" cy="3780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941254683"/>
                    </a:ext>
                  </a:extLst>
                </a:gridCol>
                <a:gridCol w="3600000">
                  <a:extLst>
                    <a:ext uri="{9D8B030D-6E8A-4147-A177-3AD203B41FA5}">
                      <a16:colId xmlns:a16="http://schemas.microsoft.com/office/drawing/2014/main" val="1650245625"/>
                    </a:ext>
                  </a:extLst>
                </a:gridCol>
              </a:tblGrid>
              <a:tr h="1260000">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3993312"/>
                  </a:ext>
                </a:extLst>
              </a:tr>
              <a:tr h="1260000">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0925065"/>
                  </a:ext>
                </a:extLst>
              </a:tr>
              <a:tr h="1260000">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8041344"/>
                  </a:ext>
                </a:extLst>
              </a:tr>
            </a:tbl>
          </a:graphicData>
        </a:graphic>
      </p:graphicFrame>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3786" y="618093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19544" y="4283689"/>
            <a:ext cx="10808289"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Proofs play an important role in the course of geometry. Proofs can take on many forms. They are the set of logical steps that explain why something is true.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When programmers write a new game, they use a set of logical steps. When you tie your shoes, you use a set of logical steps.</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6" name="Group 15">
            <a:extLst>
              <a:ext uri="{FF2B5EF4-FFF2-40B4-BE49-F238E27FC236}">
                <a16:creationId xmlns:a16="http://schemas.microsoft.com/office/drawing/2014/main" id="{2346F97F-65DC-B846-A22D-1BFE03FBE3FD}"/>
              </a:ext>
            </a:extLst>
          </p:cNvPr>
          <p:cNvGrpSpPr/>
          <p:nvPr/>
        </p:nvGrpSpPr>
        <p:grpSpPr>
          <a:xfrm>
            <a:off x="1136015" y="608077"/>
            <a:ext cx="3480544" cy="4170589"/>
            <a:chOff x="-159920" y="45991"/>
            <a:chExt cx="3480627" cy="4170711"/>
          </a:xfrm>
        </p:grpSpPr>
        <p:sp>
          <p:nvSpPr>
            <p:cNvPr id="17" name="Pie 16">
              <a:extLst>
                <a:ext uri="{FF2B5EF4-FFF2-40B4-BE49-F238E27FC236}">
                  <a16:creationId xmlns:a16="http://schemas.microsoft.com/office/drawing/2014/main" id="{B21DD195-B4B6-814A-8417-19B6997FE1A6}"/>
                </a:ext>
              </a:extLst>
            </p:cNvPr>
            <p:cNvSpPr/>
            <p:nvPr/>
          </p:nvSpPr>
          <p:spPr>
            <a:xfrm rot="20054302">
              <a:off x="742056" y="45991"/>
              <a:ext cx="1621155" cy="1617345"/>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Pie 17">
              <a:extLst>
                <a:ext uri="{FF2B5EF4-FFF2-40B4-BE49-F238E27FC236}">
                  <a16:creationId xmlns:a16="http://schemas.microsoft.com/office/drawing/2014/main" id="{1AA43C59-76E3-824E-9D07-2CC6D98C7E77}"/>
                </a:ext>
              </a:extLst>
            </p:cNvPr>
            <p:cNvSpPr/>
            <p:nvPr/>
          </p:nvSpPr>
          <p:spPr>
            <a:xfrm rot="3140703">
              <a:off x="742056" y="48963"/>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Connector 18">
              <a:extLst>
                <a:ext uri="{FF2B5EF4-FFF2-40B4-BE49-F238E27FC236}">
                  <a16:creationId xmlns:a16="http://schemas.microsoft.com/office/drawing/2014/main" id="{147171AD-692F-2545-9F2F-C68F61BBE9DF}"/>
                </a:ext>
              </a:extLst>
            </p:cNvPr>
            <p:cNvCxnSpPr/>
            <p:nvPr/>
          </p:nvCxnSpPr>
          <p:spPr>
            <a:xfrm flipV="1">
              <a:off x="631768" y="859427"/>
              <a:ext cx="1828800" cy="0"/>
            </a:xfrm>
            <a:prstGeom prst="line">
              <a:avLst/>
            </a:prstGeom>
            <a:ln w="28575"/>
          </p:spPr>
          <p:style>
            <a:lnRef idx="1">
              <a:schemeClr val="dk1"/>
            </a:lnRef>
            <a:fillRef idx="0">
              <a:schemeClr val="dk1"/>
            </a:fillRef>
            <a:effectRef idx="0">
              <a:schemeClr val="dk1"/>
            </a:effectRef>
            <a:fontRef idx="minor">
              <a:schemeClr val="tx1"/>
            </a:fontRef>
          </p:style>
        </p:cxnSp>
        <p:sp>
          <p:nvSpPr>
            <p:cNvPr id="20" name="Pie 19">
              <a:extLst>
                <a:ext uri="{FF2B5EF4-FFF2-40B4-BE49-F238E27FC236}">
                  <a16:creationId xmlns:a16="http://schemas.microsoft.com/office/drawing/2014/main" id="{5517A97D-21AD-AD4E-BF54-4094CBB46A87}"/>
                </a:ext>
              </a:extLst>
            </p:cNvPr>
            <p:cNvSpPr/>
            <p:nvPr/>
          </p:nvSpPr>
          <p:spPr>
            <a:xfrm rot="18497757">
              <a:off x="507076" y="873656"/>
              <a:ext cx="1621155" cy="1617345"/>
            </a:xfrm>
            <a:prstGeom prst="pie">
              <a:avLst>
                <a:gd name="adj1" fmla="val 12342339"/>
                <a:gd name="adj2" fmla="val 15252131"/>
              </a:avLst>
            </a:prstGeom>
            <a:solidFill>
              <a:srgbClr val="FEBD1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Pie 20">
              <a:extLst>
                <a:ext uri="{FF2B5EF4-FFF2-40B4-BE49-F238E27FC236}">
                  <a16:creationId xmlns:a16="http://schemas.microsoft.com/office/drawing/2014/main" id="{EBF0BA40-EE29-A44A-8539-551525CCEF89}"/>
                </a:ext>
              </a:extLst>
            </p:cNvPr>
            <p:cNvSpPr/>
            <p:nvPr/>
          </p:nvSpPr>
          <p:spPr>
            <a:xfrm rot="7798638">
              <a:off x="999894" y="877049"/>
              <a:ext cx="1621155" cy="1617345"/>
            </a:xfrm>
            <a:prstGeom prst="pie">
              <a:avLst>
                <a:gd name="adj1" fmla="val 12342339"/>
                <a:gd name="adj2" fmla="val 15252131"/>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 Box 2">
              <a:extLst>
                <a:ext uri="{FF2B5EF4-FFF2-40B4-BE49-F238E27FC236}">
                  <a16:creationId xmlns:a16="http://schemas.microsoft.com/office/drawing/2014/main" id="{0E331998-2372-DC47-9F3A-112621D436B8}"/>
                </a:ext>
              </a:extLst>
            </p:cNvPr>
            <p:cNvSpPr txBox="1">
              <a:spLocks noChangeArrowheads="1"/>
            </p:cNvSpPr>
            <p:nvPr/>
          </p:nvSpPr>
          <p:spPr bwMode="auto">
            <a:xfrm>
              <a:off x="1346661" y="1472452"/>
              <a:ext cx="628650" cy="40012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000">
                  <a:latin typeface="Verdana" panose="020B0604030504040204" pitchFamily="34" charset="0"/>
                  <a:ea typeface="Times New Roman" panose="02020603050405020304" pitchFamily="18" charset="0"/>
                  <a:cs typeface="Times New Roman" panose="02020603050405020304" pitchFamily="18" charset="0"/>
                </a:rPr>
                <a:t>=</a:t>
              </a:r>
              <a:endParaRPr lang="en-US">
                <a:latin typeface="Cambria" panose="02040503050406030204" pitchFamily="18" charset="0"/>
                <a:ea typeface="Times New Roman" panose="02020603050405020304" pitchFamily="18" charset="0"/>
                <a:cs typeface="Times New Roman" panose="02020603050405020304" pitchFamily="18" charset="0"/>
              </a:endParaRPr>
            </a:p>
          </p:txBody>
        </p:sp>
        <p:sp>
          <p:nvSpPr>
            <p:cNvPr id="23" name="Pie 22">
              <a:extLst>
                <a:ext uri="{FF2B5EF4-FFF2-40B4-BE49-F238E27FC236}">
                  <a16:creationId xmlns:a16="http://schemas.microsoft.com/office/drawing/2014/main" id="{6BD10AA3-CE82-F14B-90CB-0B46532997DF}"/>
                </a:ext>
              </a:extLst>
            </p:cNvPr>
            <p:cNvSpPr/>
            <p:nvPr/>
          </p:nvSpPr>
          <p:spPr>
            <a:xfrm rot="1554400">
              <a:off x="-159920" y="2599357"/>
              <a:ext cx="1621155" cy="1617345"/>
            </a:xfrm>
            <a:prstGeom prst="pie">
              <a:avLst>
                <a:gd name="adj1" fmla="val 10570855"/>
                <a:gd name="adj2" fmla="val 18416632"/>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4" name="Pie 23">
              <a:extLst>
                <a:ext uri="{FF2B5EF4-FFF2-40B4-BE49-F238E27FC236}">
                  <a16:creationId xmlns:a16="http://schemas.microsoft.com/office/drawing/2014/main" id="{D5F94BCB-6DEB-B341-8741-54516F6B811F}"/>
                </a:ext>
              </a:extLst>
            </p:cNvPr>
            <p:cNvSpPr/>
            <p:nvPr/>
          </p:nvSpPr>
          <p:spPr>
            <a:xfrm rot="12405662">
              <a:off x="1699236" y="1790252"/>
              <a:ext cx="1621471" cy="1617720"/>
            </a:xfrm>
            <a:prstGeom prst="pie">
              <a:avLst>
                <a:gd name="adj1" fmla="val 10570855"/>
                <a:gd name="adj2" fmla="val 18416632"/>
              </a:avLst>
            </a:prstGeom>
            <a:solidFill>
              <a:srgbClr val="0061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Text Box 2">
              <a:extLst>
                <a:ext uri="{FF2B5EF4-FFF2-40B4-BE49-F238E27FC236}">
                  <a16:creationId xmlns:a16="http://schemas.microsoft.com/office/drawing/2014/main" id="{B3CE9E25-5D8E-CB4E-92FB-04C468ADB03E}"/>
                </a:ext>
              </a:extLst>
            </p:cNvPr>
            <p:cNvSpPr txBox="1">
              <a:spLocks noChangeArrowheads="1"/>
            </p:cNvSpPr>
            <p:nvPr/>
          </p:nvSpPr>
          <p:spPr bwMode="auto">
            <a:xfrm>
              <a:off x="1409617" y="2804404"/>
              <a:ext cx="628650" cy="40012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26" name="Google Shape;282;g104476d1465_1_17">
            <a:extLst>
              <a:ext uri="{FF2B5EF4-FFF2-40B4-BE49-F238E27FC236}">
                <a16:creationId xmlns:a16="http://schemas.microsoft.com/office/drawing/2014/main" id="{734FE694-950D-D541-BBD6-69007E61BC1D}"/>
              </a:ext>
            </a:extLst>
          </p:cNvPr>
          <p:cNvSpPr txBox="1"/>
          <p:nvPr/>
        </p:nvSpPr>
        <p:spPr>
          <a:xfrm>
            <a:off x="8865560" y="643801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3606419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D3F6018-4A0A-584A-9119-D1B8DB3D0F38}"/>
              </a:ext>
            </a:extLst>
          </p:cNvPr>
          <p:cNvGraphicFramePr>
            <a:graphicFrameLocks noGrp="1"/>
          </p:cNvGraphicFramePr>
          <p:nvPr>
            <p:extLst>
              <p:ext uri="{D42A27DB-BD31-4B8C-83A1-F6EECF244321}">
                <p14:modId xmlns:p14="http://schemas.microsoft.com/office/powerpoint/2010/main" val="1052712680"/>
              </p:ext>
            </p:extLst>
          </p:nvPr>
        </p:nvGraphicFramePr>
        <p:xfrm>
          <a:off x="1090471" y="1319735"/>
          <a:ext cx="7380000" cy="4495216"/>
        </p:xfrm>
        <a:graphic>
          <a:graphicData uri="http://schemas.openxmlformats.org/drawingml/2006/table">
            <a:tbl>
              <a:tblPr firstRow="1" firstCol="1" bandRow="1">
                <a:tableStyleId>{A91F0D33-8C57-4600-99A7-42BC86742BE1}</a:tableStyleId>
              </a:tblPr>
              <a:tblGrid>
                <a:gridCol w="1260000">
                  <a:extLst>
                    <a:ext uri="{9D8B030D-6E8A-4147-A177-3AD203B41FA5}">
                      <a16:colId xmlns:a16="http://schemas.microsoft.com/office/drawing/2014/main" val="1144873586"/>
                    </a:ext>
                  </a:extLst>
                </a:gridCol>
                <a:gridCol w="3600000">
                  <a:extLst>
                    <a:ext uri="{9D8B030D-6E8A-4147-A177-3AD203B41FA5}">
                      <a16:colId xmlns:a16="http://schemas.microsoft.com/office/drawing/2014/main" val="1338084581"/>
                    </a:ext>
                  </a:extLst>
                </a:gridCol>
                <a:gridCol w="2520000">
                  <a:extLst>
                    <a:ext uri="{9D8B030D-6E8A-4147-A177-3AD203B41FA5}">
                      <a16:colId xmlns:a16="http://schemas.microsoft.com/office/drawing/2014/main" val="48698520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Picture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71658367"/>
                  </a:ext>
                </a:extLst>
              </a:tr>
              <a:tr h="2013608">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Make a loop in one lace.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6557160"/>
                  </a:ext>
                </a:extLst>
              </a:tr>
              <a:tr h="2013608">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Cross the laces and pull them tight.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6086864"/>
                  </a:ext>
                </a:extLst>
              </a:tr>
            </a:tbl>
          </a:graphicData>
        </a:graphic>
      </p:graphicFrame>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4" y="382315"/>
            <a:ext cx="10983359" cy="8309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place the steps in tying a pair of shoes in order.</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id="{403EE6ED-0EA3-2C40-B44F-33B0301667AA}"/>
              </a:ext>
            </a:extLst>
          </p:cNvPr>
          <p:cNvPicPr/>
          <p:nvPr/>
        </p:nvPicPr>
        <p:blipFill>
          <a:blip r:embed="rId4" cstate="screen">
            <a:extLst>
              <a:ext uri="{28A0092B-C50C-407E-A947-70E740481C1C}">
                <a14:useLocalDpi xmlns:a14="http://schemas.microsoft.com/office/drawing/2010/main"/>
              </a:ext>
            </a:extLst>
          </a:blip>
          <a:stretch>
            <a:fillRect/>
          </a:stretch>
        </p:blipFill>
        <p:spPr>
          <a:xfrm>
            <a:off x="6245461" y="2057400"/>
            <a:ext cx="1934864" cy="1371600"/>
          </a:xfrm>
          <a:prstGeom prst="rect">
            <a:avLst/>
          </a:prstGeom>
        </p:spPr>
      </p:pic>
      <p:pic>
        <p:nvPicPr>
          <p:cNvPr id="8" name="Picture 7">
            <a:extLst>
              <a:ext uri="{FF2B5EF4-FFF2-40B4-BE49-F238E27FC236}">
                <a16:creationId xmlns:a16="http://schemas.microsoft.com/office/drawing/2014/main" id="{E395FC40-887F-884D-97EA-C8CF5A0EEA79}"/>
              </a:ext>
            </a:extLst>
          </p:cNvPr>
          <p:cNvPicPr/>
          <p:nvPr/>
        </p:nvPicPr>
        <p:blipFill>
          <a:blip r:embed="rId5"/>
          <a:stretch>
            <a:fillRect/>
          </a:stretch>
        </p:blipFill>
        <p:spPr>
          <a:xfrm>
            <a:off x="6069893" y="4097364"/>
            <a:ext cx="2286000" cy="1371600"/>
          </a:xfrm>
          <a:prstGeom prst="rect">
            <a:avLst/>
          </a:prstGeom>
        </p:spPr>
      </p:pic>
      <p:sp>
        <p:nvSpPr>
          <p:cNvPr id="13" name="Google Shape;282;g104476d1465_1_17">
            <a:extLst>
              <a:ext uri="{FF2B5EF4-FFF2-40B4-BE49-F238E27FC236}">
                <a16:creationId xmlns:a16="http://schemas.microsoft.com/office/drawing/2014/main" id="{A7F5F339-B221-E24D-B732-1ABC4A134909}"/>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spTree>
    <p:extLst>
      <p:ext uri="{BB962C8B-B14F-4D97-AF65-F5344CB8AC3E}">
        <p14:creationId xmlns:p14="http://schemas.microsoft.com/office/powerpoint/2010/main" val="2131641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64084" y="4897823"/>
            <a:ext cx="10959839" cy="1015663"/>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someone who learned to tie their shoes using a different method may have difficulty putting these steps in a logical order. Summarize your discussion.</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14335760-2A06-F442-8A8D-30F2F5E0D876}"/>
              </a:ext>
            </a:extLst>
          </p:cNvPr>
          <p:cNvGraphicFramePr>
            <a:graphicFrameLocks noGrp="1"/>
          </p:cNvGraphicFramePr>
          <p:nvPr>
            <p:extLst>
              <p:ext uri="{D42A27DB-BD31-4B8C-83A1-F6EECF244321}">
                <p14:modId xmlns:p14="http://schemas.microsoft.com/office/powerpoint/2010/main" val="2880933546"/>
              </p:ext>
            </p:extLst>
          </p:nvPr>
        </p:nvGraphicFramePr>
        <p:xfrm>
          <a:off x="1091040" y="364081"/>
          <a:ext cx="7380000" cy="4335267"/>
        </p:xfrm>
        <a:graphic>
          <a:graphicData uri="http://schemas.openxmlformats.org/drawingml/2006/table">
            <a:tbl>
              <a:tblPr firstRow="1" firstCol="1" bandRow="1">
                <a:tableStyleId>{A91F0D33-8C57-4600-99A7-42BC86742BE1}</a:tableStyleId>
              </a:tblPr>
              <a:tblGrid>
                <a:gridCol w="1260000">
                  <a:extLst>
                    <a:ext uri="{9D8B030D-6E8A-4147-A177-3AD203B41FA5}">
                      <a16:colId xmlns:a16="http://schemas.microsoft.com/office/drawing/2014/main" val="3841344279"/>
                    </a:ext>
                  </a:extLst>
                </a:gridCol>
                <a:gridCol w="3600000">
                  <a:extLst>
                    <a:ext uri="{9D8B030D-6E8A-4147-A177-3AD203B41FA5}">
                      <a16:colId xmlns:a16="http://schemas.microsoft.com/office/drawing/2014/main" val="2698215820"/>
                    </a:ext>
                  </a:extLst>
                </a:gridCol>
                <a:gridCol w="2520000">
                  <a:extLst>
                    <a:ext uri="{9D8B030D-6E8A-4147-A177-3AD203B41FA5}">
                      <a16:colId xmlns:a16="http://schemas.microsoft.com/office/drawing/2014/main" val="60146308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Picture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657401">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Pull both loops tight.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430364"/>
                  </a:ext>
                </a:extLst>
              </a:tr>
              <a:tr h="2209866">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Wrap the other lace around the loop and push some lace through the hole that is made at the bottom to make a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second loop.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39361"/>
                  </a:ext>
                </a:extLst>
              </a:tr>
            </a:tbl>
          </a:graphicData>
        </a:graphic>
      </p:graphicFrame>
      <p:pic>
        <p:nvPicPr>
          <p:cNvPr id="9" name="Picture 8">
            <a:extLst>
              <a:ext uri="{FF2B5EF4-FFF2-40B4-BE49-F238E27FC236}">
                <a16:creationId xmlns:a16="http://schemas.microsoft.com/office/drawing/2014/main" id="{B802D258-577B-F648-B8A3-1EAC2BF508C5}"/>
              </a:ext>
            </a:extLst>
          </p:cNvPr>
          <p:cNvPicPr/>
          <p:nvPr/>
        </p:nvPicPr>
        <p:blipFill>
          <a:blip r:embed="rId4" cstate="screen">
            <a:extLst>
              <a:ext uri="{28A0092B-C50C-407E-A947-70E740481C1C}">
                <a14:useLocalDpi xmlns:a14="http://schemas.microsoft.com/office/drawing/2010/main"/>
              </a:ext>
            </a:extLst>
          </a:blip>
          <a:stretch>
            <a:fillRect/>
          </a:stretch>
        </p:blipFill>
        <p:spPr>
          <a:xfrm>
            <a:off x="6069894" y="2876977"/>
            <a:ext cx="2286000" cy="1371600"/>
          </a:xfrm>
          <a:prstGeom prst="rect">
            <a:avLst/>
          </a:prstGeom>
        </p:spPr>
      </p:pic>
      <p:sp>
        <p:nvSpPr>
          <p:cNvPr id="10" name="Google Shape;282;g104476d1465_1_17">
            <a:extLst>
              <a:ext uri="{FF2B5EF4-FFF2-40B4-BE49-F238E27FC236}">
                <a16:creationId xmlns:a16="http://schemas.microsoft.com/office/drawing/2014/main" id="{82CA780C-C3A3-8C4B-9737-EB766BEA48D7}"/>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pic>
        <p:nvPicPr>
          <p:cNvPr id="11" name="Picture 10">
            <a:extLst>
              <a:ext uri="{FF2B5EF4-FFF2-40B4-BE49-F238E27FC236}">
                <a16:creationId xmlns:a16="http://schemas.microsoft.com/office/drawing/2014/main" id="{2FA78C87-528E-7845-9161-818F46EBB7DE}"/>
              </a:ext>
            </a:extLst>
          </p:cNvPr>
          <p:cNvPicPr/>
          <p:nvPr/>
        </p:nvPicPr>
        <p:blipFill>
          <a:blip r:embed="rId5" cstate="screen">
            <a:extLst>
              <a:ext uri="{28A0092B-C50C-407E-A947-70E740481C1C}">
                <a14:useLocalDpi xmlns:a14="http://schemas.microsoft.com/office/drawing/2010/main"/>
              </a:ext>
            </a:extLst>
          </a:blip>
          <a:stretch>
            <a:fillRect/>
          </a:stretch>
        </p:blipFill>
        <p:spPr>
          <a:xfrm>
            <a:off x="6069894" y="961065"/>
            <a:ext cx="2286000" cy="1371600"/>
          </a:xfrm>
          <a:prstGeom prst="rect">
            <a:avLst/>
          </a:prstGeom>
        </p:spPr>
      </p:pic>
    </p:spTree>
    <p:extLst>
      <p:ext uri="{BB962C8B-B14F-4D97-AF65-F5344CB8AC3E}">
        <p14:creationId xmlns:p14="http://schemas.microsoft.com/office/powerpoint/2010/main" val="3838048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F05055E8-7041-0440-B909-83FFB44075E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a:extLst>
              <a:ext uri="{FF2B5EF4-FFF2-40B4-BE49-F238E27FC236}">
                <a16:creationId xmlns:a16="http://schemas.microsoft.com/office/drawing/2014/main" id="{D43A1D94-743B-2242-B0BC-A35F52599B50}"/>
              </a:ext>
            </a:extLst>
          </p:cNvPr>
          <p:cNvPicPr/>
          <p:nvPr/>
        </p:nvPicPr>
        <p:blipFill>
          <a:blip r:embed="rId3"/>
          <a:stretch>
            <a:fillRect/>
          </a:stretch>
        </p:blipFill>
        <p:spPr>
          <a:xfrm>
            <a:off x="6197027" y="2396689"/>
            <a:ext cx="5713048" cy="2969412"/>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69215"/>
            <a:ext cx="10370526"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2.1.3 Guided Instruction: Properties of Equality and Congruence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5">
            <a:alphaModFix/>
          </a:blip>
          <a:srcRect/>
          <a:stretch/>
        </p:blipFill>
        <p:spPr>
          <a:xfrm>
            <a:off x="305350" y="12951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40564" y="1097477"/>
                <a:ext cx="10882611"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geometry, there are different notations for congruence and equality. For example, </a:t>
                </a:r>
                <a14:m>
                  <m:oMath xmlns:m="http://schemas.openxmlformats.org/officeDocument/2006/math">
                    <m:r>
                      <a:rPr lang="en-US" sz="2000" i="1">
                        <a:latin typeface="Cambria Math"/>
                      </a:rPr>
                      <m:t>∠</m:t>
                    </m:r>
                    <m:r>
                      <a:rPr lang="en-US" sz="2000" i="1">
                        <a:latin typeface="Cambria Math"/>
                      </a:rPr>
                      <m:t>𝐵𝑀𝑌</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a:rPr>
                      <m:t>∠</m:t>
                    </m:r>
                    <m:r>
                      <a:rPr lang="en-US" sz="2000" i="1">
                        <a:latin typeface="Cambria Math"/>
                      </a:rPr>
                      <m:t>𝐿𝐾𝑊</m:t>
                    </m:r>
                  </m:oMath>
                </a14:m>
                <a:r>
                  <a:rPr lang="en-US" sz="2000" dirty="0">
                    <a:latin typeface="Verdana" panose="020B0604030504040204" pitchFamily="34" charset="0"/>
                    <a:ea typeface="Verdana" panose="020B0604030504040204" pitchFamily="34" charset="0"/>
                    <a:cs typeface="Verdana" panose="020B0604030504040204" pitchFamily="34" charset="0"/>
                  </a:rPr>
                  <a:t> have the same measure, so the angle measurements are equal. This is written as </a:t>
                </a:r>
                <a14:m>
                  <m:oMath xmlns:m="http://schemas.openxmlformats.org/officeDocument/2006/math">
                    <m:r>
                      <a:rPr lang="en-US" sz="2000" i="1">
                        <a:latin typeface="Cambria Math"/>
                      </a:rPr>
                      <m:t>𝑚</m:t>
                    </m:r>
                    <m:r>
                      <a:rPr lang="en-US" sz="2000" i="1">
                        <a:latin typeface="Cambria Math"/>
                      </a:rPr>
                      <m:t>∠</m:t>
                    </m:r>
                    <m:r>
                      <a:rPr lang="en-US" sz="2000" i="1">
                        <a:latin typeface="Cambria Math"/>
                      </a:rPr>
                      <m:t>𝐵𝑀𝑌</m:t>
                    </m:r>
                    <m:r>
                      <a:rPr lang="en-US" sz="2000" i="1">
                        <a:latin typeface="Cambria Math"/>
                      </a:rPr>
                      <m:t>=</m:t>
                    </m:r>
                    <m:r>
                      <a:rPr lang="en-US" sz="2000" i="1">
                        <a:latin typeface="Cambria Math"/>
                      </a:rPr>
                      <m:t>𝑚</m:t>
                    </m:r>
                    <m:r>
                      <a:rPr lang="en-US" sz="2000" i="1">
                        <a:latin typeface="Cambria Math"/>
                      </a:rPr>
                      <m:t>∠</m:t>
                    </m:r>
                    <m:r>
                      <a:rPr lang="en-US" sz="2000" i="1">
                        <a:latin typeface="Cambria Math"/>
                      </a:rPr>
                      <m:t>𝐿𝐾𝑊</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It can also be said that the angles are congruent, which is written as </a:t>
                </a:r>
                <a14:m>
                  <m:oMath xmlns:m="http://schemas.openxmlformats.org/officeDocument/2006/math">
                    <m:r>
                      <a:rPr lang="en-US" sz="2000" i="1">
                        <a:latin typeface="Cambria Math"/>
                      </a:rPr>
                      <m:t>∠</m:t>
                    </m:r>
                    <m:r>
                      <a:rPr lang="en-US" sz="2000" i="1">
                        <a:latin typeface="Cambria Math"/>
                      </a:rPr>
                      <m:t>𝐵𝑀𝑌</m:t>
                    </m:r>
                    <m:r>
                      <a:rPr lang="en-US" sz="2000" i="1">
                        <a:latin typeface="Cambria Math"/>
                      </a:rPr>
                      <m:t>≅∠</m:t>
                    </m:r>
                    <m:r>
                      <a:rPr lang="en-US" sz="2000" i="1">
                        <a:latin typeface="Cambria Math"/>
                      </a:rPr>
                      <m:t>𝐿𝐾𝑊</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Equality and congruence may seem to be the </a:t>
                </a:r>
              </a:p>
              <a:p>
                <a:r>
                  <a:rPr lang="en-US" sz="2000" dirty="0">
                    <a:latin typeface="Verdana" panose="020B0604030504040204" pitchFamily="34" charset="0"/>
                    <a:ea typeface="Verdana" panose="020B0604030504040204" pitchFamily="34" charset="0"/>
                    <a:cs typeface="Verdana" panose="020B0604030504040204" pitchFamily="34" charset="0"/>
                  </a:rPr>
                  <a:t>same, but equality is used when relationships </a:t>
                </a:r>
              </a:p>
              <a:p>
                <a:r>
                  <a:rPr lang="en-US" sz="2000" dirty="0">
                    <a:latin typeface="Verdana" panose="020B0604030504040204" pitchFamily="34" charset="0"/>
                    <a:ea typeface="Verdana" panose="020B0604030504040204" pitchFamily="34" charset="0"/>
                    <a:cs typeface="Verdana" panose="020B0604030504040204" pitchFamily="34" charset="0"/>
                  </a:rPr>
                  <a:t>can be expressed using numbers. Congruence is </a:t>
                </a:r>
              </a:p>
              <a:p>
                <a:r>
                  <a:rPr lang="en-US" sz="2000" dirty="0">
                    <a:latin typeface="Verdana" panose="020B0604030504040204" pitchFamily="34" charset="0"/>
                    <a:ea typeface="Verdana" panose="020B0604030504040204" pitchFamily="34" charset="0"/>
                    <a:cs typeface="Verdana" panose="020B0604030504040204" pitchFamily="34" charset="0"/>
                  </a:rPr>
                  <a:t>used when the relationship is not </a:t>
                </a:r>
              </a:p>
              <a:p>
                <a:r>
                  <a:rPr lang="en-US" sz="2000" dirty="0">
                    <a:latin typeface="Verdana" panose="020B0604030504040204" pitchFamily="34" charset="0"/>
                    <a:ea typeface="Verdana" panose="020B0604030504040204" pitchFamily="34" charset="0"/>
                    <a:cs typeface="Verdana" panose="020B0604030504040204" pitchFamily="34" charset="0"/>
                  </a:rPr>
                  <a:t>noted using numbers.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40564" y="1097477"/>
                <a:ext cx="10882611" cy="3170099"/>
              </a:xfrm>
              <a:prstGeom prst="rect">
                <a:avLst/>
              </a:prstGeom>
              <a:blipFill>
                <a:blip r:embed="rId6"/>
                <a:stretch>
                  <a:fillRect l="-616" t="-962" b="-2500"/>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4A548F76-6218-C749-A54D-FA76C4CA871C}"/>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1163"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505801" y="383463"/>
            <a:ext cx="8327136" cy="550920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property, complete the example(s).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Reflexive property</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Symmetric property</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1600" dirty="0"/>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32ED284-18B8-0F47-8864-166F7780B6CC}"/>
                  </a:ext>
                </a:extLst>
              </p:cNvPr>
              <p:cNvGraphicFramePr>
                <a:graphicFrameLocks noGrp="1"/>
              </p:cNvGraphicFramePr>
              <p:nvPr>
                <p:extLst>
                  <p:ext uri="{D42A27DB-BD31-4B8C-83A1-F6EECF244321}">
                    <p14:modId xmlns:p14="http://schemas.microsoft.com/office/powerpoint/2010/main" val="704698468"/>
                  </p:ext>
                </p:extLst>
              </p:nvPr>
            </p:nvGraphicFramePr>
            <p:xfrm>
              <a:off x="1596040" y="1634328"/>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389607815"/>
                        </a:ext>
                      </a:extLst>
                    </a:gridCol>
                    <a:gridCol w="3240000">
                      <a:extLst>
                        <a:ext uri="{9D8B030D-6E8A-4147-A177-3AD203B41FA5}">
                          <a16:colId xmlns:a16="http://schemas.microsoft.com/office/drawing/2014/main" val="2912401043"/>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30329183"/>
                      </a:ext>
                    </a:extLst>
                  </a:tr>
                  <a:tr h="108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𝑊𝐻𝐷</m:t>
                                </m:r>
                                <m:r>
                                  <a:rPr lang="en-US" sz="2000">
                                    <a:effectLst/>
                                    <a:latin typeface="Cambria Math"/>
                                  </a:rPr>
                                  <m:t>=</m:t>
                                </m:r>
                                <m:r>
                                  <a:rPr lang="en-US" sz="2000">
                                    <a:effectLst/>
                                    <a:latin typeface="Cambria Math"/>
                                  </a:rPr>
                                  <m:t>𝑚</m:t>
                                </m:r>
                                <m:r>
                                  <a:rPr lang="en-US" sz="2000">
                                    <a:effectLst/>
                                    <a:latin typeface="Cambria Math"/>
                                  </a:rPr>
                                  <m:t>∠_________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r>
                                  <a:rPr lang="en-US" sz="2000">
                                    <a:effectLst/>
                                    <a:latin typeface="Cambria Math"/>
                                  </a:rPr>
                                  <m:t>𝑊𝐻𝐷</m:t>
                                </m:r>
                                <m:r>
                                  <a:rPr lang="en-US" sz="2000">
                                    <a:effectLst/>
                                    <a:latin typeface="Cambria Math"/>
                                  </a:rPr>
                                  <m:t>≅∠________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55534"/>
                      </a:ext>
                    </a:extLst>
                  </a:tr>
                </a:tbl>
              </a:graphicData>
            </a:graphic>
          </p:graphicFrame>
        </mc:Choice>
        <mc:Fallback xmlns="">
          <p:graphicFrame>
            <p:nvGraphicFramePr>
              <p:cNvPr id="2" name="Table 1">
                <a:extLst>
                  <a:ext uri="{FF2B5EF4-FFF2-40B4-BE49-F238E27FC236}">
                    <a16:creationId xmlns:a16="http://schemas.microsoft.com/office/drawing/2014/main" id="{932ED284-18B8-0F47-8864-166F7780B6CC}"/>
                  </a:ext>
                </a:extLst>
              </p:cNvPr>
              <p:cNvGraphicFramePr>
                <a:graphicFrameLocks noGrp="1"/>
              </p:cNvGraphicFramePr>
              <p:nvPr>
                <p:extLst>
                  <p:ext uri="{D42A27DB-BD31-4B8C-83A1-F6EECF244321}">
                    <p14:modId xmlns:p14="http://schemas.microsoft.com/office/powerpoint/2010/main" val="704698468"/>
                  </p:ext>
                </p:extLst>
              </p:nvPr>
            </p:nvGraphicFramePr>
            <p:xfrm>
              <a:off x="1596040" y="1634328"/>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389607815"/>
                        </a:ext>
                      </a:extLst>
                    </a:gridCol>
                    <a:gridCol w="3240000">
                      <a:extLst>
                        <a:ext uri="{9D8B030D-6E8A-4147-A177-3AD203B41FA5}">
                          <a16:colId xmlns:a16="http://schemas.microsoft.com/office/drawing/2014/main" val="2912401043"/>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30329183"/>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88" t="-44382" r="-100564" b="-168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188" t="-44382" r="-564" b="-1685"/>
                          </a:stretch>
                        </a:blipFill>
                      </a:tcPr>
                    </a:tc>
                    <a:extLst>
                      <a:ext uri="{0D108BD9-81ED-4DB2-BD59-A6C34878D82A}">
                        <a16:rowId xmlns:a16="http://schemas.microsoft.com/office/drawing/2014/main" val="31295553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645669F-6701-D34C-8E79-81935FC26F60}"/>
                  </a:ext>
                </a:extLst>
              </p:cNvPr>
              <p:cNvGraphicFramePr>
                <a:graphicFrameLocks noGrp="1"/>
              </p:cNvGraphicFramePr>
              <p:nvPr>
                <p:extLst>
                  <p:ext uri="{D42A27DB-BD31-4B8C-83A1-F6EECF244321}">
                    <p14:modId xmlns:p14="http://schemas.microsoft.com/office/powerpoint/2010/main" val="3149294314"/>
                  </p:ext>
                </p:extLst>
              </p:nvPr>
            </p:nvGraphicFramePr>
            <p:xfrm>
              <a:off x="1596040" y="4191683"/>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17006752"/>
                        </a:ext>
                      </a:extLst>
                    </a:gridCol>
                    <a:gridCol w="3240000">
                      <a:extLst>
                        <a:ext uri="{9D8B030D-6E8A-4147-A177-3AD203B41FA5}">
                          <a16:colId xmlns:a16="http://schemas.microsoft.com/office/drawing/2014/main" val="2251060559"/>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11587190"/>
                      </a:ext>
                    </a:extLst>
                  </a:tr>
                  <a:tr h="1080000">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𝐶𝐾𝑅</m:t>
                              </m:r>
                              <m:r>
                                <a:rPr lang="en-US" sz="2000">
                                  <a:effectLst/>
                                  <a:latin typeface="Cambria Math"/>
                                </a:rPr>
                                <m:t>=59°</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______________.</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m:t>
                              </m:r>
                              <m:r>
                                <a:rPr lang="en-US" sz="2000">
                                  <a:effectLst/>
                                  <a:latin typeface="Cambria Math"/>
                                </a:rPr>
                                <m:t>𝐶𝐾𝑅</m:t>
                              </m:r>
                              <m:r>
                                <a:rPr lang="en-US" sz="2000">
                                  <a:effectLst/>
                                  <a:latin typeface="Cambria Math"/>
                                </a:rPr>
                                <m:t>≅∠</m:t>
                              </m:r>
                              <m:r>
                                <a:rPr lang="en-US" sz="2000">
                                  <a:effectLst/>
                                  <a:latin typeface="Cambria Math"/>
                                </a:rPr>
                                <m:t>𝐻𝐷𝐸</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______________.</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028251"/>
                      </a:ext>
                    </a:extLst>
                  </a:tr>
                </a:tbl>
              </a:graphicData>
            </a:graphic>
          </p:graphicFrame>
        </mc:Choice>
        <mc:Fallback xmlns="">
          <p:graphicFrame>
            <p:nvGraphicFramePr>
              <p:cNvPr id="3" name="Table 2">
                <a:extLst>
                  <a:ext uri="{FF2B5EF4-FFF2-40B4-BE49-F238E27FC236}">
                    <a16:creationId xmlns:a16="http://schemas.microsoft.com/office/drawing/2014/main" id="{C645669F-6701-D34C-8E79-81935FC26F60}"/>
                  </a:ext>
                </a:extLst>
              </p:cNvPr>
              <p:cNvGraphicFramePr>
                <a:graphicFrameLocks noGrp="1"/>
              </p:cNvGraphicFramePr>
              <p:nvPr>
                <p:extLst>
                  <p:ext uri="{D42A27DB-BD31-4B8C-83A1-F6EECF244321}">
                    <p14:modId xmlns:p14="http://schemas.microsoft.com/office/powerpoint/2010/main" val="3149294314"/>
                  </p:ext>
                </p:extLst>
              </p:nvPr>
            </p:nvGraphicFramePr>
            <p:xfrm>
              <a:off x="1596040" y="4191683"/>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17006752"/>
                        </a:ext>
                      </a:extLst>
                    </a:gridCol>
                    <a:gridCol w="3240000">
                      <a:extLst>
                        <a:ext uri="{9D8B030D-6E8A-4147-A177-3AD203B41FA5}">
                          <a16:colId xmlns:a16="http://schemas.microsoft.com/office/drawing/2014/main" val="2251060559"/>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11587190"/>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88" t="-43820" r="-100564" b="-168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188" t="-43820" r="-564" b="-1685"/>
                          </a:stretch>
                        </a:blipFill>
                      </a:tcPr>
                    </a:tc>
                    <a:extLst>
                      <a:ext uri="{0D108BD9-81ED-4DB2-BD59-A6C34878D82A}">
                        <a16:rowId xmlns:a16="http://schemas.microsoft.com/office/drawing/2014/main" val="3913028251"/>
                      </a:ext>
                    </a:extLst>
                  </a:tr>
                </a:tbl>
              </a:graphicData>
            </a:graphic>
          </p:graphicFrame>
        </mc:Fallback>
      </mc:AlternateContent>
      <p:sp>
        <p:nvSpPr>
          <p:cNvPr id="8" name="Google Shape;282;g104476d1465_1_17">
            <a:extLst>
              <a:ext uri="{FF2B5EF4-FFF2-40B4-BE49-F238E27FC236}">
                <a16:creationId xmlns:a16="http://schemas.microsoft.com/office/drawing/2014/main" id="{EB2EDD9E-97F0-C547-83C6-64FDF45C832D}"/>
              </a:ext>
            </a:extLst>
          </p:cNvPr>
          <p:cNvSpPr txBox="1"/>
          <p:nvPr/>
        </p:nvSpPr>
        <p:spPr>
          <a:xfrm>
            <a:off x="88329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Tree>
    <p:extLst>
      <p:ext uri="{BB962C8B-B14F-4D97-AF65-F5344CB8AC3E}">
        <p14:creationId xmlns:p14="http://schemas.microsoft.com/office/powerpoint/2010/main" val="2878749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507272" y="383462"/>
            <a:ext cx="8327136" cy="3416320"/>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Transitive property</a:t>
            </a: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Substitution property</a:t>
            </a: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4B797E7-AA4C-5F4D-A246-074DF5899D4D}"/>
                  </a:ext>
                </a:extLst>
              </p:cNvPr>
              <p:cNvGraphicFramePr>
                <a:graphicFrameLocks noGrp="1"/>
              </p:cNvGraphicFramePr>
              <p:nvPr>
                <p:extLst>
                  <p:ext uri="{D42A27DB-BD31-4B8C-83A1-F6EECF244321}">
                    <p14:modId xmlns:p14="http://schemas.microsoft.com/office/powerpoint/2010/main" val="2374656656"/>
                  </p:ext>
                </p:extLst>
              </p:nvPr>
            </p:nvGraphicFramePr>
            <p:xfrm>
              <a:off x="1571592" y="934174"/>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074678610"/>
                        </a:ext>
                      </a:extLst>
                    </a:gridCol>
                    <a:gridCol w="3240000">
                      <a:extLst>
                        <a:ext uri="{9D8B030D-6E8A-4147-A177-3AD203B41FA5}">
                          <a16:colId xmlns:a16="http://schemas.microsoft.com/office/drawing/2014/main" val="127353454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91589426"/>
                      </a:ext>
                    </a:extLst>
                  </a:tr>
                  <a:tr h="108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𝐶𝑅𝐾</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𝐻𝑊𝐷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𝐻𝑊𝐷</m:t>
                              </m:r>
                              <m:r>
                                <a:rPr lang="en-US" sz="2000">
                                  <a:effectLst/>
                                  <a:latin typeface="Cambria Math"/>
                                </a:rPr>
                                <m:t>=90°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𝐶𝑅𝐾</m:t>
                              </m:r>
                              <m:r>
                                <a:rPr lang="en-US" sz="2000">
                                  <a:effectLst/>
                                  <a:latin typeface="Cambria Math"/>
                                </a:rPr>
                                <m:t>=_______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m:t>
                              </m:r>
                              <m:r>
                                <a:rPr lang="en-US" sz="2000">
                                  <a:effectLst/>
                                  <a:latin typeface="Cambria Math"/>
                                </a:rPr>
                                <m:t>𝐶𝑅𝐾</m:t>
                              </m:r>
                              <m:r>
                                <a:rPr lang="en-US" sz="2000">
                                  <a:effectLst/>
                                  <a:latin typeface="Cambria Math"/>
                                </a:rPr>
                                <m:t>≅∠</m:t>
                              </m:r>
                              <m:r>
                                <a:rPr lang="en-US" sz="2000">
                                  <a:effectLst/>
                                  <a:latin typeface="Cambria Math"/>
                                </a:rPr>
                                <m:t>𝐻𝑊𝐷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a:rPr>
                                <m:t>∠</m:t>
                              </m:r>
                              <m:r>
                                <a:rPr lang="en-US" sz="2000">
                                  <a:effectLst/>
                                  <a:latin typeface="Cambria Math"/>
                                </a:rPr>
                                <m:t>𝐻𝑊𝐷</m:t>
                              </m:r>
                              <m:r>
                                <a:rPr lang="en-US" sz="2000">
                                  <a:effectLst/>
                                  <a:latin typeface="Cambria Math"/>
                                </a:rPr>
                                <m:t>≅∠</m:t>
                              </m:r>
                              <m:r>
                                <a:rPr lang="en-US" sz="2000">
                                  <a:effectLst/>
                                  <a:latin typeface="Cambria Math"/>
                                </a:rPr>
                                <m:t>𝑀𝑃𝑋</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a:effectLst/>
                                  <a:latin typeface="Cambria Math"/>
                                </a:rPr>
                                <m:t>∠</m:t>
                              </m:r>
                              <m:r>
                                <a:rPr lang="en-US" sz="2000">
                                  <a:effectLst/>
                                  <a:latin typeface="Cambria Math"/>
                                </a:rPr>
                                <m:t>𝐶𝑅𝐾</m:t>
                              </m:r>
                              <m:r>
                                <a:rPr lang="en-US" sz="2000">
                                  <a:effectLst/>
                                  <a:latin typeface="Cambria Math"/>
                                </a:rPr>
                                <m:t>≅_______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5281471"/>
                      </a:ext>
                    </a:extLst>
                  </a:tr>
                </a:tbl>
              </a:graphicData>
            </a:graphic>
          </p:graphicFrame>
        </mc:Choice>
        <mc:Fallback xmlns="">
          <p:graphicFrame>
            <p:nvGraphicFramePr>
              <p:cNvPr id="2" name="Table 1">
                <a:extLst>
                  <a:ext uri="{FF2B5EF4-FFF2-40B4-BE49-F238E27FC236}">
                    <a16:creationId xmlns:a16="http://schemas.microsoft.com/office/drawing/2014/main" id="{94B797E7-AA4C-5F4D-A246-074DF5899D4D}"/>
                  </a:ext>
                </a:extLst>
              </p:cNvPr>
              <p:cNvGraphicFramePr>
                <a:graphicFrameLocks noGrp="1"/>
              </p:cNvGraphicFramePr>
              <p:nvPr>
                <p:extLst>
                  <p:ext uri="{D42A27DB-BD31-4B8C-83A1-F6EECF244321}">
                    <p14:modId xmlns:p14="http://schemas.microsoft.com/office/powerpoint/2010/main" val="2374656656"/>
                  </p:ext>
                </p:extLst>
              </p:nvPr>
            </p:nvGraphicFramePr>
            <p:xfrm>
              <a:off x="1571592" y="934174"/>
              <a:ext cx="6480000" cy="15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074678610"/>
                        </a:ext>
                      </a:extLst>
                    </a:gridCol>
                    <a:gridCol w="3240000">
                      <a:extLst>
                        <a:ext uri="{9D8B030D-6E8A-4147-A177-3AD203B41FA5}">
                          <a16:colId xmlns:a16="http://schemas.microsoft.com/office/drawing/2014/main" val="127353454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Congruence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91589426"/>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88" t="-44382" r="-100564" b="-618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188" t="-44382" r="-564" b="-6180"/>
                          </a:stretch>
                        </a:blipFill>
                      </a:tcPr>
                    </a:tc>
                    <a:extLst>
                      <a:ext uri="{0D108BD9-81ED-4DB2-BD59-A6C34878D82A}">
                        <a16:rowId xmlns:a16="http://schemas.microsoft.com/office/drawing/2014/main" val="263528147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AB6321E-32DD-2840-803F-875AF5C3CF54}"/>
                  </a:ext>
                </a:extLst>
              </p:cNvPr>
              <p:cNvGraphicFramePr>
                <a:graphicFrameLocks noGrp="1"/>
              </p:cNvGraphicFramePr>
              <p:nvPr>
                <p:extLst>
                  <p:ext uri="{D42A27DB-BD31-4B8C-83A1-F6EECF244321}">
                    <p14:modId xmlns:p14="http://schemas.microsoft.com/office/powerpoint/2010/main" val="3211950075"/>
                  </p:ext>
                </p:extLst>
              </p:nvPr>
            </p:nvGraphicFramePr>
            <p:xfrm>
              <a:off x="1555081" y="3882672"/>
              <a:ext cx="6480000" cy="1548000"/>
            </p:xfrm>
            <a:graphic>
              <a:graphicData uri="http://schemas.openxmlformats.org/drawingml/2006/table">
                <a:tbl>
                  <a:tblPr firstRow="1" firstCol="1" bandRow="1">
                    <a:tableStyleId>{A91F0D33-8C57-4600-99A7-42BC86742BE1}</a:tableStyleId>
                  </a:tblPr>
                  <a:tblGrid>
                    <a:gridCol w="6480000">
                      <a:extLst>
                        <a:ext uri="{9D8B030D-6E8A-4147-A177-3AD203B41FA5}">
                          <a16:colId xmlns:a16="http://schemas.microsoft.com/office/drawing/2014/main" val="412737078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95057263"/>
                      </a:ext>
                    </a:extLst>
                  </a:tr>
                  <a:tr h="1080000">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𝐶𝑅𝐾</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𝐻𝑊𝐷</m:t>
                              </m:r>
                              <m:r>
                                <a:rPr lang="en-US" sz="2000">
                                  <a:effectLst/>
                                  <a:latin typeface="Cambria Math"/>
                                </a:rPr>
                                <m:t>=156°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𝐶𝑅𝐾</m:t>
                              </m:r>
                              <m:r>
                                <a:rPr lang="en-US" sz="2000">
                                  <a:effectLst/>
                                  <a:latin typeface="Cambria Math"/>
                                </a:rPr>
                                <m:t>=84°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a:effectLst/>
                                  <a:latin typeface="Cambria Math"/>
                                </a:rPr>
                                <m:t>______+</m:t>
                              </m:r>
                              <m:r>
                                <a:rPr lang="en-US" sz="2000">
                                  <a:effectLst/>
                                  <a:latin typeface="Cambria Math"/>
                                </a:rPr>
                                <m:t>𝑚</m:t>
                              </m:r>
                              <m:r>
                                <a:rPr lang="en-US" sz="2000">
                                  <a:effectLst/>
                                  <a:latin typeface="Cambria Math"/>
                                </a:rPr>
                                <m:t>∠</m:t>
                              </m:r>
                              <m:r>
                                <a:rPr lang="en-US" sz="2000">
                                  <a:effectLst/>
                                  <a:latin typeface="Cambria Math"/>
                                </a:rPr>
                                <m:t>𝐻𝑊𝐷</m:t>
                              </m:r>
                              <m:r>
                                <a:rPr lang="en-US" sz="2000">
                                  <a:effectLst/>
                                  <a:latin typeface="Cambria Math"/>
                                </a:rPr>
                                <m:t>=156°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130741"/>
                      </a:ext>
                    </a:extLst>
                  </a:tr>
                </a:tbl>
              </a:graphicData>
            </a:graphic>
          </p:graphicFrame>
        </mc:Choice>
        <mc:Fallback xmlns="">
          <p:graphicFrame>
            <p:nvGraphicFramePr>
              <p:cNvPr id="3" name="Table 2">
                <a:extLst>
                  <a:ext uri="{FF2B5EF4-FFF2-40B4-BE49-F238E27FC236}">
                    <a16:creationId xmlns:a16="http://schemas.microsoft.com/office/drawing/2014/main" id="{3AB6321E-32DD-2840-803F-875AF5C3CF54}"/>
                  </a:ext>
                </a:extLst>
              </p:cNvPr>
              <p:cNvGraphicFramePr>
                <a:graphicFrameLocks noGrp="1"/>
              </p:cNvGraphicFramePr>
              <p:nvPr>
                <p:extLst>
                  <p:ext uri="{D42A27DB-BD31-4B8C-83A1-F6EECF244321}">
                    <p14:modId xmlns:p14="http://schemas.microsoft.com/office/powerpoint/2010/main" val="3211950075"/>
                  </p:ext>
                </p:extLst>
              </p:nvPr>
            </p:nvGraphicFramePr>
            <p:xfrm>
              <a:off x="1555081" y="3882672"/>
              <a:ext cx="6480000" cy="1548000"/>
            </p:xfrm>
            <a:graphic>
              <a:graphicData uri="http://schemas.openxmlformats.org/drawingml/2006/table">
                <a:tbl>
                  <a:tblPr firstRow="1" firstCol="1" bandRow="1">
                    <a:tableStyleId>{A91F0D33-8C57-4600-99A7-42BC86742BE1}</a:tableStyleId>
                  </a:tblPr>
                  <a:tblGrid>
                    <a:gridCol w="6480000">
                      <a:extLst>
                        <a:ext uri="{9D8B030D-6E8A-4147-A177-3AD203B41FA5}">
                          <a16:colId xmlns:a16="http://schemas.microsoft.com/office/drawing/2014/main" val="412737078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95057263"/>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88" t="-43820" r="-282" b="-1685"/>
                          </a:stretch>
                        </a:blipFill>
                      </a:tcPr>
                    </a:tc>
                    <a:extLst>
                      <a:ext uri="{0D108BD9-81ED-4DB2-BD59-A6C34878D82A}">
                        <a16:rowId xmlns:a16="http://schemas.microsoft.com/office/drawing/2014/main" val="1218130741"/>
                      </a:ext>
                    </a:extLst>
                  </a:tr>
                </a:tbl>
              </a:graphicData>
            </a:graphic>
          </p:graphicFrame>
        </mc:Fallback>
      </mc:AlternateContent>
      <p:sp>
        <p:nvSpPr>
          <p:cNvPr id="9" name="Google Shape;282;g104476d1465_1_17">
            <a:extLst>
              <a:ext uri="{FF2B5EF4-FFF2-40B4-BE49-F238E27FC236}">
                <a16:creationId xmlns:a16="http://schemas.microsoft.com/office/drawing/2014/main" id="{C8D7ACB5-3BC2-4047-9DC9-ECD3A2196D2D}"/>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Tree>
    <p:extLst>
      <p:ext uri="{BB962C8B-B14F-4D97-AF65-F5344CB8AC3E}">
        <p14:creationId xmlns:p14="http://schemas.microsoft.com/office/powerpoint/2010/main" val="32458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19544" y="381933"/>
                <a:ext cx="11004379" cy="523220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conclusion for each statement. Then, name the property.</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conditional statement,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a:rPr>
                      <m:t>𝑚</m:t>
                    </m:r>
                    <m:r>
                      <a:rPr lang="en-US" sz="2000" i="1">
                        <a:latin typeface="Cambria Math"/>
                      </a:rPr>
                      <m:t>∠</m:t>
                    </m:r>
                    <m:r>
                      <a:rPr lang="en-US" sz="2000" i="1">
                        <a:latin typeface="Cambria Math"/>
                      </a:rPr>
                      <m:t>𝐶𝑅𝐾</m:t>
                    </m:r>
                    <m:r>
                      <a:rPr lang="en-US" sz="2000" i="1">
                        <a:latin typeface="Cambria Math"/>
                      </a:rPr>
                      <m:t>=</m:t>
                    </m:r>
                    <m:r>
                      <a:rPr lang="en-US" sz="2000" i="1">
                        <a:latin typeface="Cambria Math"/>
                      </a:rPr>
                      <m:t>𝑚</m:t>
                    </m:r>
                    <m:r>
                      <a:rPr lang="en-US" sz="2000" i="1">
                        <a:latin typeface="Cambria Math"/>
                      </a:rPr>
                      <m:t>∠</m:t>
                    </m:r>
                    <m:r>
                      <a:rPr lang="en-US" sz="2000" i="1">
                        <a:latin typeface="Cambria Math"/>
                      </a:rPr>
                      <m:t>𝐻𝑊𝐷</m:t>
                    </m:r>
                  </m:oMath>
                </a14:m>
                <a:r>
                  <a:rPr lang="en-US" sz="2000" dirty="0">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latin typeface="Cambria Math"/>
                      </a:rPr>
                      <m:t>∠</m:t>
                    </m:r>
                    <m:r>
                      <a:rPr lang="en-US" sz="2000" i="1">
                        <a:latin typeface="Cambria Math"/>
                      </a:rPr>
                      <m:t>𝐶𝑅𝐾</m:t>
                    </m:r>
                    <m:r>
                      <a:rPr lang="en-US" sz="2000" i="1">
                        <a:latin typeface="Cambria Math"/>
                      </a:rPr>
                      <m:t>≅∠</m:t>
                    </m:r>
                    <m:r>
                      <a:rPr lang="en-US" sz="2000" i="1">
                        <a:latin typeface="Cambria Math"/>
                      </a:rPr>
                      <m:t>𝐻𝑊𝐷</m:t>
                    </m:r>
                  </m:oMath>
                </a14:m>
                <a:r>
                  <a:rPr lang="en-US" sz="2000" dirty="0">
                    <a:latin typeface="Verdana" panose="020B0604030504040204" pitchFamily="34" charset="0"/>
                    <a:ea typeface="Verdana" panose="020B0604030504040204" pitchFamily="34" charset="0"/>
                    <a:cs typeface="Verdana" panose="020B0604030504040204" pitchFamily="34" charset="0"/>
                  </a:rPr>
                  <a:t>.” Summarize your discussion.</a:t>
                </a:r>
              </a:p>
              <a:p>
                <a:pPr lvl="0"/>
                <a:endParaRPr lang="en-US" dirty="0"/>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19544" y="381933"/>
                <a:ext cx="11004379" cy="5232202"/>
              </a:xfrm>
              <a:prstGeom prst="rect">
                <a:avLst/>
              </a:prstGeom>
              <a:blipFill>
                <a:blip r:embed="rId4"/>
                <a:stretch>
                  <a:fillRect l="-609" t="-81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DE69B4F-7A99-C840-8686-4756FE82EBC2}"/>
                  </a:ext>
                </a:extLst>
              </p:cNvPr>
              <p:cNvGraphicFramePr>
                <a:graphicFrameLocks noGrp="1"/>
              </p:cNvGraphicFramePr>
              <p:nvPr>
                <p:extLst>
                  <p:ext uri="{D42A27DB-BD31-4B8C-83A1-F6EECF244321}">
                    <p14:modId xmlns:p14="http://schemas.microsoft.com/office/powerpoint/2010/main" val="929097252"/>
                  </p:ext>
                </p:extLst>
              </p:nvPr>
            </p:nvGraphicFramePr>
            <p:xfrm>
              <a:off x="1107713" y="851052"/>
              <a:ext cx="7560000" cy="3708000"/>
            </p:xfrm>
            <a:graphic>
              <a:graphicData uri="http://schemas.openxmlformats.org/drawingml/2006/table">
                <a:tbl>
                  <a:tblPr firstRow="1" firstCol="1" bandRow="1">
                    <a:tableStyleId>{A91F0D33-8C57-4600-99A7-42BC86742BE1}</a:tableStyleId>
                  </a:tblPr>
                  <a:tblGrid>
                    <a:gridCol w="5040000">
                      <a:extLst>
                        <a:ext uri="{9D8B030D-6E8A-4147-A177-3AD203B41FA5}">
                          <a16:colId xmlns:a16="http://schemas.microsoft.com/office/drawing/2014/main" val="3103264091"/>
                        </a:ext>
                      </a:extLst>
                    </a:gridCol>
                    <a:gridCol w="2520000">
                      <a:extLst>
                        <a:ext uri="{9D8B030D-6E8A-4147-A177-3AD203B41FA5}">
                          <a16:colId xmlns:a16="http://schemas.microsoft.com/office/drawing/2014/main" val="210740065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40402938"/>
                      </a:ext>
                    </a:extLst>
                  </a:tr>
                  <a:tr h="162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𝐹𝐷𝑇</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𝐵𝑌𝐻</m:t>
                              </m:r>
                              <m:r>
                                <a:rPr lang="en-US" sz="2000">
                                  <a:effectLst/>
                                  <a:latin typeface="Cambria Math"/>
                                </a:rPr>
                                <m:t>=245°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p>
                        <a:p>
                          <a:pPr marL="0" marR="0">
                            <a:spcBef>
                              <a:spcPts val="0"/>
                            </a:spcBef>
                            <a:spcAft>
                              <a:spcPts val="0"/>
                            </a:spcAft>
                          </a:pPr>
                          <a14:m>
                            <m:oMath xmlns:m="http://schemas.openxmlformats.org/officeDocument/2006/math">
                              <m:r>
                                <a:rPr lang="en-US" sz="2000">
                                  <a:effectLst/>
                                  <a:latin typeface="Cambria Math"/>
                                </a:rPr>
                                <m:t>245°=</m:t>
                              </m:r>
                              <m:r>
                                <a:rPr lang="en-US" sz="2000">
                                  <a:effectLst/>
                                  <a:latin typeface="Cambria Math"/>
                                </a:rPr>
                                <m:t>𝑚</m:t>
                              </m:r>
                              <m:r>
                                <a:rPr lang="en-US" sz="2000">
                                  <a:effectLst/>
                                  <a:latin typeface="Cambria Math"/>
                                </a:rPr>
                                <m:t>∠</m:t>
                              </m:r>
                              <m:r>
                                <a:rPr lang="en-US" sz="2000">
                                  <a:effectLst/>
                                  <a:latin typeface="Cambria Math"/>
                                </a:rPr>
                                <m:t>𝑀𝑃𝑊</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452260"/>
                      </a:ext>
                    </a:extLst>
                  </a:tr>
                  <a:tr h="162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𝐹𝐷𝑇</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𝐵𝑌𝐻</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𝑅𝐿𝐶</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𝐾𝑁𝑊</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𝑅𝐿𝐶</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𝐵𝑌𝐻</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4811594"/>
                      </a:ext>
                    </a:extLst>
                  </a:tr>
                </a:tbl>
              </a:graphicData>
            </a:graphic>
          </p:graphicFrame>
        </mc:Choice>
        <mc:Fallback xmlns="">
          <p:graphicFrame>
            <p:nvGraphicFramePr>
              <p:cNvPr id="2" name="Table 1">
                <a:extLst>
                  <a:ext uri="{FF2B5EF4-FFF2-40B4-BE49-F238E27FC236}">
                    <a16:creationId xmlns:a16="http://schemas.microsoft.com/office/drawing/2014/main" id="{2DE69B4F-7A99-C840-8686-4756FE82EBC2}"/>
                  </a:ext>
                </a:extLst>
              </p:cNvPr>
              <p:cNvGraphicFramePr>
                <a:graphicFrameLocks noGrp="1"/>
              </p:cNvGraphicFramePr>
              <p:nvPr>
                <p:extLst>
                  <p:ext uri="{D42A27DB-BD31-4B8C-83A1-F6EECF244321}">
                    <p14:modId xmlns:p14="http://schemas.microsoft.com/office/powerpoint/2010/main" val="929097252"/>
                  </p:ext>
                </p:extLst>
              </p:nvPr>
            </p:nvGraphicFramePr>
            <p:xfrm>
              <a:off x="1107713" y="851052"/>
              <a:ext cx="7560000" cy="3708000"/>
            </p:xfrm>
            <a:graphic>
              <a:graphicData uri="http://schemas.openxmlformats.org/drawingml/2006/table">
                <a:tbl>
                  <a:tblPr firstRow="1" firstCol="1" bandRow="1">
                    <a:tableStyleId>{A91F0D33-8C57-4600-99A7-42BC86742BE1}</a:tableStyleId>
                  </a:tblPr>
                  <a:tblGrid>
                    <a:gridCol w="5040000">
                      <a:extLst>
                        <a:ext uri="{9D8B030D-6E8A-4147-A177-3AD203B41FA5}">
                          <a16:colId xmlns:a16="http://schemas.microsoft.com/office/drawing/2014/main" val="3103264091"/>
                        </a:ext>
                      </a:extLst>
                    </a:gridCol>
                    <a:gridCol w="2520000">
                      <a:extLst>
                        <a:ext uri="{9D8B030D-6E8A-4147-A177-3AD203B41FA5}">
                          <a16:colId xmlns:a16="http://schemas.microsoft.com/office/drawing/2014/main" val="210740065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40402938"/>
                      </a:ext>
                    </a:extLst>
                  </a:tr>
                  <a:tr h="162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21" t="-29323" r="-50423" b="-10150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452260"/>
                      </a:ext>
                    </a:extLst>
                  </a:tr>
                  <a:tr h="162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21" t="-129323" r="-50423" b="-150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4811594"/>
                      </a:ext>
                    </a:extLst>
                  </a:tr>
                </a:tbl>
              </a:graphicData>
            </a:graphic>
          </p:graphicFrame>
        </mc:Fallback>
      </mc:AlternateContent>
      <p:sp>
        <p:nvSpPr>
          <p:cNvPr id="8" name="Google Shape;282;g104476d1465_1_17">
            <a:extLst>
              <a:ext uri="{FF2B5EF4-FFF2-40B4-BE49-F238E27FC236}">
                <a16:creationId xmlns:a16="http://schemas.microsoft.com/office/drawing/2014/main" id="{543E8233-A9B1-BC46-A677-86CE9454EE6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09034" y="376611"/>
                <a:ext cx="11119115"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geometry, there is a formal difference between equality and congruence. Equality refers to measurements, which is why </a:t>
                </a:r>
                <a14:m>
                  <m:oMath xmlns:m="http://schemas.openxmlformats.org/officeDocument/2006/math">
                    <m:r>
                      <a:rPr lang="en-US" sz="2400" i="1">
                        <a:latin typeface="Cambria Math"/>
                      </a:rPr>
                      <m:t>𝑚</m:t>
                    </m:r>
                    <m:r>
                      <a:rPr lang="en-US" sz="2400" i="1">
                        <a:latin typeface="Cambria Math"/>
                      </a:rPr>
                      <m:t>∠</m:t>
                    </m:r>
                    <m:r>
                      <a:rPr lang="en-US" sz="2400" i="1">
                        <a:latin typeface="Cambria Math"/>
                      </a:rPr>
                      <m:t>𝐶𝑅𝐾</m:t>
                    </m:r>
                    <m:r>
                      <a:rPr lang="en-US" sz="2400" i="1">
                        <a:latin typeface="Cambria Math"/>
                      </a:rPr>
                      <m:t>=</m:t>
                    </m:r>
                    <m:r>
                      <a:rPr lang="en-US" sz="2400" i="1">
                        <a:latin typeface="Cambria Math"/>
                      </a:rPr>
                      <m:t>𝑚</m:t>
                    </m:r>
                    <m:r>
                      <a:rPr lang="en-US" sz="2400" i="1">
                        <a:latin typeface="Cambria Math"/>
                      </a:rPr>
                      <m:t>∠</m:t>
                    </m:r>
                    <m:r>
                      <a:rPr lang="en-US" sz="2400" i="1">
                        <a:latin typeface="Cambria Math"/>
                      </a:rPr>
                      <m:t>𝐻𝑊𝐷</m:t>
                    </m:r>
                  </m:oMath>
                </a14:m>
                <a:r>
                  <a:rPr lang="en-US" sz="2400" dirty="0">
                    <a:latin typeface="Verdana" panose="020B0604030504040204" pitchFamily="34" charset="0"/>
                    <a:ea typeface="Verdana" panose="020B0604030504040204" pitchFamily="34" charset="0"/>
                    <a:cs typeface="Verdana" panose="020B0604030504040204" pitchFamily="34" charset="0"/>
                  </a:rPr>
                  <a:t> includes the </a:t>
                </a:r>
                <a14:m>
                  <m:oMath xmlns:m="http://schemas.openxmlformats.org/officeDocument/2006/math">
                    <m:r>
                      <a:rPr lang="en-US" sz="2400" i="1">
                        <a:latin typeface="Cambria Math"/>
                      </a:rPr>
                      <m:t>𝑚</m:t>
                    </m:r>
                  </m:oMath>
                </a14:m>
                <a:r>
                  <a:rPr lang="en-US" sz="2400" dirty="0">
                    <a:latin typeface="Verdana" panose="020B0604030504040204" pitchFamily="34" charset="0"/>
                    <a:ea typeface="Verdana" panose="020B0604030504040204" pitchFamily="34" charset="0"/>
                    <a:cs typeface="Verdana" panose="020B0604030504040204" pitchFamily="34" charset="0"/>
                  </a:rPr>
                  <a:t> for measurement. On the other hand, congruence means the shape is the same, which can be shown using isometry. In other words, the figure coincides exactly when superimposed. </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09034" y="376611"/>
                <a:ext cx="11119115" cy="2308324"/>
              </a:xfrm>
              <a:prstGeom prst="rect">
                <a:avLst/>
              </a:prstGeom>
              <a:blipFill>
                <a:blip r:embed="rId4"/>
                <a:stretch>
                  <a:fillRect l="-877" t="-2116" b="-529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91D817A0-25BC-2148-91A8-32EAEE802C1A}"/>
              </a:ext>
            </a:extLst>
          </p:cNvPr>
          <p:cNvGrpSpPr/>
          <p:nvPr/>
        </p:nvGrpSpPr>
        <p:grpSpPr>
          <a:xfrm>
            <a:off x="609924" y="2684935"/>
            <a:ext cx="8280000" cy="2203146"/>
            <a:chOff x="0" y="0"/>
            <a:chExt cx="8280000" cy="2203146"/>
          </a:xfrm>
        </p:grpSpPr>
        <p:grpSp>
          <p:nvGrpSpPr>
            <p:cNvPr id="8" name="Group 7">
              <a:extLst>
                <a:ext uri="{FF2B5EF4-FFF2-40B4-BE49-F238E27FC236}">
                  <a16:creationId xmlns:a16="http://schemas.microsoft.com/office/drawing/2014/main" id="{C6139DA6-9ED5-3B48-AEF4-A06E3E041A0A}"/>
                </a:ext>
              </a:extLst>
            </p:cNvPr>
            <p:cNvGrpSpPr/>
            <p:nvPr/>
          </p:nvGrpSpPr>
          <p:grpSpPr>
            <a:xfrm>
              <a:off x="0" y="0"/>
              <a:ext cx="8280000" cy="2203146"/>
              <a:chOff x="2031300" y="3386808"/>
              <a:chExt cx="8280000" cy="2203146"/>
            </a:xfrm>
          </p:grpSpPr>
          <p:grpSp>
            <p:nvGrpSpPr>
              <p:cNvPr id="10" name="Group 9">
                <a:extLst>
                  <a:ext uri="{FF2B5EF4-FFF2-40B4-BE49-F238E27FC236}">
                    <a16:creationId xmlns:a16="http://schemas.microsoft.com/office/drawing/2014/main" id="{28E3C8F2-C2CF-6A4B-9BA0-7525C1D0299E}"/>
                  </a:ext>
                </a:extLst>
              </p:cNvPr>
              <p:cNvGrpSpPr/>
              <p:nvPr/>
            </p:nvGrpSpPr>
            <p:grpSpPr>
              <a:xfrm>
                <a:off x="2031300" y="3386808"/>
                <a:ext cx="8280000" cy="2203146"/>
                <a:chOff x="0" y="0"/>
                <a:chExt cx="8280000" cy="2203146"/>
              </a:xfrm>
            </p:grpSpPr>
            <p:sp>
              <p:nvSpPr>
                <p:cNvPr id="11" name="Rectangle 10">
                  <a:extLst>
                    <a:ext uri="{FF2B5EF4-FFF2-40B4-BE49-F238E27FC236}">
                      <a16:creationId xmlns:a16="http://schemas.microsoft.com/office/drawing/2014/main" id="{702B4FF0-EB53-9648-8509-4AD5A708B79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5139CD5F-09B5-C24B-81EC-4CB15C42F40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ounded Rectangle 13">
                  <a:extLst>
                    <a:ext uri="{FF2B5EF4-FFF2-40B4-BE49-F238E27FC236}">
                      <a16:creationId xmlns:a16="http://schemas.microsoft.com/office/drawing/2014/main" id="{E66DD459-F486-974F-BC67-A3724A066AE1}"/>
                    </a:ext>
                  </a:extLst>
                </p:cNvPr>
                <p:cNvSpPr/>
                <p:nvPr/>
              </p:nvSpPr>
              <p:spPr>
                <a:xfrm>
                  <a:off x="0" y="227176"/>
                  <a:ext cx="8280000" cy="197597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1120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If two figures have equal measurements, then by the</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definition of congruence</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the figures are congruent. </a:t>
                  </a:r>
                  <a:b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If congruence is shown through a series of transformations, then 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definition of congruence in terms of rigid motions</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was applied.</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9" name="image15.png" descr="Icon&#10;&#10;Description automatically generated">
              <a:extLst>
                <a:ext uri="{FF2B5EF4-FFF2-40B4-BE49-F238E27FC236}">
                  <a16:creationId xmlns:a16="http://schemas.microsoft.com/office/drawing/2014/main" id="{33947D1C-CAE6-DB4E-8EDD-2DBB6F521F2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05579" y="409599"/>
              <a:ext cx="623142" cy="623142"/>
            </a:xfrm>
            <a:prstGeom prst="rect">
              <a:avLst/>
            </a:prstGeom>
            <a:ln/>
            <a:effectLst>
              <a:outerShdw blurRad="50800" dist="38100" dir="2700000" algn="tl" rotWithShape="0">
                <a:prstClr val="black">
                  <a:alpha val="40000"/>
                </a:prstClr>
              </a:outerShdw>
            </a:effectLst>
          </p:spPr>
        </p:pic>
      </p:grpSp>
      <p:sp>
        <p:nvSpPr>
          <p:cNvPr id="15" name="Google Shape;282;g104476d1465_1_17">
            <a:extLst>
              <a:ext uri="{FF2B5EF4-FFF2-40B4-BE49-F238E27FC236}">
                <a16:creationId xmlns:a16="http://schemas.microsoft.com/office/drawing/2014/main" id="{D1B00281-9C49-7747-BAC6-828A3B76C16D}"/>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Tree>
    <p:extLst>
      <p:ext uri="{BB962C8B-B14F-4D97-AF65-F5344CB8AC3E}">
        <p14:creationId xmlns:p14="http://schemas.microsoft.com/office/powerpoint/2010/main" val="2503205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505800" y="390189"/>
            <a:ext cx="11122350" cy="5632311"/>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definition of congruence can be used to change from congruence to equality.</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r>
              <a:rPr lang="en-US" sz="2400" dirty="0">
                <a:latin typeface="Verdana" pitchFamily="34" charset="0"/>
                <a:ea typeface="Verdana" pitchFamily="34" charset="0"/>
              </a:rPr>
              <a:t>Or, the definition of congruence can be used to change from equality to congruence.</a:t>
            </a: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itchFamily="34" charset="0"/>
              <a:ea typeface="Verdana"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AA5E9A6-5C5C-A746-B57D-70CB3D5AC151}"/>
                  </a:ext>
                </a:extLst>
              </p:cNvPr>
              <p:cNvGraphicFramePr>
                <a:graphicFrameLocks noGrp="1"/>
              </p:cNvGraphicFramePr>
              <p:nvPr>
                <p:extLst>
                  <p:ext uri="{D42A27DB-BD31-4B8C-83A1-F6EECF244321}">
                    <p14:modId xmlns:p14="http://schemas.microsoft.com/office/powerpoint/2010/main" val="2220944931"/>
                  </p:ext>
                </p:extLst>
              </p:nvPr>
            </p:nvGraphicFramePr>
            <p:xfrm>
              <a:off x="638032" y="1356486"/>
              <a:ext cx="7560000" cy="1764000"/>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4230990545"/>
                        </a:ext>
                      </a:extLst>
                    </a:gridCol>
                    <a:gridCol w="3780000">
                      <a:extLst>
                        <a:ext uri="{9D8B030D-6E8A-4147-A177-3AD203B41FA5}">
                          <a16:colId xmlns:a16="http://schemas.microsoft.com/office/drawing/2014/main" val="70702573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33555423"/>
                      </a:ext>
                    </a:extLst>
                  </a:tr>
                  <a:tr h="648000">
                    <a:tc>
                      <a:txBody>
                        <a:bodyPr/>
                        <a:lstStyle/>
                        <a:p>
                          <a:r>
                            <a:rPr lang="en-US" sz="2000" dirty="0">
                              <a:effectLst/>
                              <a:latin typeface="Verdana" panose="020B0604030504040204" pitchFamily="34" charset="0"/>
                              <a:ea typeface="Verdana" panose="020B0604030504040204" pitchFamily="34" charset="0"/>
                              <a:cs typeface="Verdana" panose="020B0604030504040204" pitchFamily="34" charset="0"/>
                            </a:rPr>
                            <a:t>1. </a:t>
                          </a:r>
                          <a14:m>
                            <m:oMath xmlns:m="http://schemas.openxmlformats.org/officeDocument/2006/math">
                              <m:r>
                                <a:rPr lang="en-US" sz="2000" b="0" i="1" u="none" strike="noStrike" cap="none" smtClean="0">
                                  <a:solidFill>
                                    <a:srgbClr val="000000"/>
                                  </a:solidFill>
                                  <a:effectLst/>
                                  <a:latin typeface="Cambria Math"/>
                                  <a:ea typeface="Arial"/>
                                  <a:cs typeface="Arial"/>
                                  <a:sym typeface="Arial"/>
                                </a:rPr>
                                <m:t>∠</m:t>
                              </m:r>
                              <m:r>
                                <a:rPr lang="en-US" sz="2000" b="0" i="1" u="none" strike="noStrike" cap="none" smtClean="0">
                                  <a:solidFill>
                                    <a:srgbClr val="000000"/>
                                  </a:solidFill>
                                  <a:effectLst/>
                                  <a:latin typeface="Cambria Math"/>
                                  <a:ea typeface="Arial"/>
                                  <a:cs typeface="Arial"/>
                                  <a:sym typeface="Arial"/>
                                </a:rPr>
                                <m:t>𝐶𝑅𝐾</m:t>
                              </m:r>
                              <m:r>
                                <a:rPr lang="en-US" sz="2000" b="0" i="1" u="none" strike="noStrike" cap="none" smtClean="0">
                                  <a:solidFill>
                                    <a:srgbClr val="000000"/>
                                  </a:solidFill>
                                  <a:effectLst/>
                                  <a:latin typeface="Cambria Math"/>
                                  <a:ea typeface="Arial"/>
                                  <a:cs typeface="Arial"/>
                                  <a:sym typeface="Arial"/>
                                </a:rPr>
                                <m:t>≅∠</m:t>
                              </m:r>
                              <m:r>
                                <a:rPr lang="en-US" sz="2000" b="0" i="1" u="none" strike="noStrike" cap="none" smtClean="0">
                                  <a:solidFill>
                                    <a:srgbClr val="000000"/>
                                  </a:solidFill>
                                  <a:effectLst/>
                                  <a:latin typeface="Cambria Math"/>
                                  <a:ea typeface="Arial"/>
                                  <a:cs typeface="Arial"/>
                                  <a:sym typeface="Arial"/>
                                </a:rPr>
                                <m:t>𝐻𝑊𝐷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1. Given</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968493"/>
                      </a:ext>
                    </a:extLst>
                  </a:tr>
                  <a:tr h="648000">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2. </a:t>
                          </a:r>
                          <a14:m>
                            <m:oMath xmlns:m="http://schemas.openxmlformats.org/officeDocument/2006/math">
                              <m:r>
                                <a:rPr lang="en-US" sz="2000" b="0" i="1" u="none" strike="noStrike" cap="none" smtClean="0">
                                  <a:solidFill>
                                    <a:srgbClr val="000000"/>
                                  </a:solidFill>
                                  <a:effectLst/>
                                  <a:latin typeface="Cambria Math"/>
                                  <a:ea typeface="Arial"/>
                                  <a:cs typeface="Arial"/>
                                  <a:sym typeface="Arial"/>
                                </a:rPr>
                                <m:t>𝑚</m:t>
                              </m:r>
                              <m:r>
                                <a:rPr lang="en-US" sz="2000" b="0" i="1" u="none" strike="noStrike" cap="none" smtClean="0">
                                  <a:solidFill>
                                    <a:srgbClr val="000000"/>
                                  </a:solidFill>
                                  <a:effectLst/>
                                  <a:latin typeface="Cambria Math"/>
                                  <a:ea typeface="Arial"/>
                                  <a:cs typeface="Arial"/>
                                  <a:sym typeface="Arial"/>
                                </a:rPr>
                                <m:t>∠</m:t>
                              </m:r>
                              <m:r>
                                <a:rPr lang="en-US" sz="2000" b="0" i="1" u="none" strike="noStrike" cap="none" smtClean="0">
                                  <a:solidFill>
                                    <a:srgbClr val="000000"/>
                                  </a:solidFill>
                                  <a:effectLst/>
                                  <a:latin typeface="Cambria Math"/>
                                  <a:ea typeface="Arial"/>
                                  <a:cs typeface="Arial"/>
                                  <a:sym typeface="Arial"/>
                                </a:rPr>
                                <m:t>𝐶𝑅𝐾</m:t>
                              </m:r>
                              <m:r>
                                <a:rPr lang="en-US" sz="2000" b="0" i="1" u="none" strike="noStrike" cap="none" smtClean="0">
                                  <a:solidFill>
                                    <a:srgbClr val="000000"/>
                                  </a:solidFill>
                                  <a:effectLst/>
                                  <a:latin typeface="Cambria Math"/>
                                  <a:ea typeface="Arial"/>
                                  <a:cs typeface="Arial"/>
                                  <a:sym typeface="Arial"/>
                                </a:rPr>
                                <m:t>=</m:t>
                              </m:r>
                              <m:r>
                                <a:rPr lang="en-US" sz="2000" b="0" i="1" u="none" strike="noStrike" cap="none" smtClean="0">
                                  <a:solidFill>
                                    <a:srgbClr val="000000"/>
                                  </a:solidFill>
                                  <a:effectLst/>
                                  <a:latin typeface="Cambria Math"/>
                                  <a:ea typeface="Arial"/>
                                  <a:cs typeface="Arial"/>
                                  <a:sym typeface="Arial"/>
                                </a:rPr>
                                <m:t>𝑚</m:t>
                              </m:r>
                              <m:r>
                                <a:rPr lang="en-US" sz="2000" b="0" i="1" u="none" strike="noStrike" cap="none" smtClean="0">
                                  <a:solidFill>
                                    <a:srgbClr val="000000"/>
                                  </a:solidFill>
                                  <a:effectLst/>
                                  <a:latin typeface="Cambria Math"/>
                                  <a:ea typeface="Arial"/>
                                  <a:cs typeface="Arial"/>
                                  <a:sym typeface="Arial"/>
                                </a:rPr>
                                <m:t>∠</m:t>
                              </m:r>
                              <m:r>
                                <a:rPr lang="en-US" sz="2000" b="0" i="1" u="none" strike="noStrike" cap="none" smtClean="0">
                                  <a:solidFill>
                                    <a:srgbClr val="000000"/>
                                  </a:solidFill>
                                  <a:effectLst/>
                                  <a:latin typeface="Cambria Math"/>
                                  <a:ea typeface="Arial"/>
                                  <a:cs typeface="Arial"/>
                                  <a:sym typeface="Arial"/>
                                </a:rPr>
                                <m:t>𝐻𝑊𝐷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2. Definition of congruence</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334269"/>
                      </a:ext>
                    </a:extLst>
                  </a:tr>
                </a:tbl>
              </a:graphicData>
            </a:graphic>
          </p:graphicFrame>
        </mc:Choice>
        <mc:Fallback xmlns="">
          <p:graphicFrame>
            <p:nvGraphicFramePr>
              <p:cNvPr id="3" name="Table 2">
                <a:extLst>
                  <a:ext uri="{FF2B5EF4-FFF2-40B4-BE49-F238E27FC236}">
                    <a16:creationId xmlns:a16="http://schemas.microsoft.com/office/drawing/2014/main" id="{2AA5E9A6-5C5C-A746-B57D-70CB3D5AC151}"/>
                  </a:ext>
                </a:extLst>
              </p:cNvPr>
              <p:cNvGraphicFramePr>
                <a:graphicFrameLocks noGrp="1"/>
              </p:cNvGraphicFramePr>
              <p:nvPr>
                <p:extLst>
                  <p:ext uri="{D42A27DB-BD31-4B8C-83A1-F6EECF244321}">
                    <p14:modId xmlns:p14="http://schemas.microsoft.com/office/powerpoint/2010/main" val="2220944931"/>
                  </p:ext>
                </p:extLst>
              </p:nvPr>
            </p:nvGraphicFramePr>
            <p:xfrm>
              <a:off x="638032" y="1356486"/>
              <a:ext cx="7560000" cy="1764000"/>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4230990545"/>
                        </a:ext>
                      </a:extLst>
                    </a:gridCol>
                    <a:gridCol w="3780000">
                      <a:extLst>
                        <a:ext uri="{9D8B030D-6E8A-4147-A177-3AD203B41FA5}">
                          <a16:colId xmlns:a16="http://schemas.microsoft.com/office/drawing/2014/main" val="70702573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33555423"/>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1" t="-74528" r="-100322" b="-104717"/>
                          </a:stretch>
                        </a:blipFill>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1. Given</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968493"/>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1" t="-172897" r="-100322" b="-3738"/>
                          </a:stretch>
                        </a:blipFill>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2. Definition of congruence</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3342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557BD9BA-FC25-F146-B984-F4BE2581F3B0}"/>
                  </a:ext>
                </a:extLst>
              </p:cNvPr>
              <p:cNvGraphicFramePr>
                <a:graphicFrameLocks noGrp="1"/>
              </p:cNvGraphicFramePr>
              <p:nvPr>
                <p:extLst>
                  <p:ext uri="{D42A27DB-BD31-4B8C-83A1-F6EECF244321}">
                    <p14:modId xmlns:p14="http://schemas.microsoft.com/office/powerpoint/2010/main" val="955261502"/>
                  </p:ext>
                </p:extLst>
              </p:nvPr>
            </p:nvGraphicFramePr>
            <p:xfrm>
              <a:off x="638032" y="4629463"/>
              <a:ext cx="7560000" cy="1764000"/>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1142743544"/>
                        </a:ext>
                      </a:extLst>
                    </a:gridCol>
                    <a:gridCol w="3780000">
                      <a:extLst>
                        <a:ext uri="{9D8B030D-6E8A-4147-A177-3AD203B41FA5}">
                          <a16:colId xmlns:a16="http://schemas.microsoft.com/office/drawing/2014/main" val="226066950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26381296"/>
                      </a:ext>
                    </a:extLst>
                  </a:tr>
                  <a:tr h="648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1. </a:t>
                          </a:r>
                          <a14:m>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𝑚</m:t>
                              </m:r>
                              <m:r>
                                <a:rPr lang="en-US" sz="2000" b="0" i="1" u="none" strike="noStrike" cap="none" smtClean="0">
                                  <a:solidFill>
                                    <a:srgbClr val="000000"/>
                                  </a:solidFill>
                                  <a:effectLst/>
                                  <a:latin typeface="Cambria Math" panose="02040503050406030204" pitchFamily="18" charset="0"/>
                                  <a:ea typeface="Arial"/>
                                  <a:cs typeface="Arial"/>
                                  <a:sym typeface="Arial"/>
                                </a:rPr>
                                <m:t>∠</m:t>
                              </m:r>
                              <m:r>
                                <a:rPr lang="en-US" sz="2000" b="0" i="1" u="none" strike="noStrike" cap="none" smtClean="0">
                                  <a:solidFill>
                                    <a:srgbClr val="000000"/>
                                  </a:solidFill>
                                  <a:effectLst/>
                                  <a:latin typeface="Cambria Math" panose="02040503050406030204" pitchFamily="18" charset="0"/>
                                  <a:ea typeface="Arial"/>
                                  <a:cs typeface="Arial"/>
                                  <a:sym typeface="Arial"/>
                                </a:rPr>
                                <m:t>𝐶𝑅𝐾</m:t>
                              </m:r>
                              <m:r>
                                <a:rPr lang="en-US" sz="2000" b="0" i="1" u="none" strike="noStrike" cap="none" smtClean="0">
                                  <a:solidFill>
                                    <a:srgbClr val="000000"/>
                                  </a:solidFill>
                                  <a:effectLst/>
                                  <a:latin typeface="Cambria Math" panose="02040503050406030204" pitchFamily="18" charset="0"/>
                                  <a:ea typeface="Arial"/>
                                  <a:cs typeface="Arial"/>
                                  <a:sym typeface="Arial"/>
                                </a:rPr>
                                <m:t>=</m:t>
                              </m:r>
                              <m:r>
                                <a:rPr lang="en-US" sz="2000" b="0" i="1" u="none" strike="noStrike" cap="none" smtClean="0">
                                  <a:solidFill>
                                    <a:srgbClr val="000000"/>
                                  </a:solidFill>
                                  <a:effectLst/>
                                  <a:latin typeface="Cambria Math" panose="02040503050406030204" pitchFamily="18" charset="0"/>
                                  <a:ea typeface="Arial"/>
                                  <a:cs typeface="Arial"/>
                                  <a:sym typeface="Arial"/>
                                </a:rPr>
                                <m:t>𝑚</m:t>
                              </m:r>
                              <m:r>
                                <a:rPr lang="en-US" sz="2000" b="0" i="1" u="none" strike="noStrike" cap="none" smtClean="0">
                                  <a:solidFill>
                                    <a:srgbClr val="000000"/>
                                  </a:solidFill>
                                  <a:effectLst/>
                                  <a:latin typeface="Cambria Math" panose="02040503050406030204" pitchFamily="18" charset="0"/>
                                  <a:ea typeface="Arial"/>
                                  <a:cs typeface="Arial"/>
                                  <a:sym typeface="Arial"/>
                                </a:rPr>
                                <m:t>∠</m:t>
                              </m:r>
                              <m:r>
                                <a:rPr lang="en-US" sz="2000" b="0" i="1" u="none" strike="noStrike" cap="none" smtClean="0">
                                  <a:solidFill>
                                    <a:srgbClr val="000000"/>
                                  </a:solidFill>
                                  <a:effectLst/>
                                  <a:latin typeface="Cambria Math" panose="02040503050406030204" pitchFamily="18" charset="0"/>
                                  <a:ea typeface="Arial"/>
                                  <a:cs typeface="Arial"/>
                                  <a:sym typeface="Arial"/>
                                </a:rPr>
                                <m:t>𝐻𝑊𝐷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1. Given</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572439"/>
                      </a:ext>
                    </a:extLst>
                  </a:tr>
                  <a:tr h="648000">
                    <a:tc>
                      <a:txBody>
                        <a:bodyPr/>
                        <a:lstStyle/>
                        <a:p>
                          <a:r>
                            <a:rPr lang="en-US" sz="2000" dirty="0">
                              <a:latin typeface="Verdana" panose="020B0604030504040204" pitchFamily="34" charset="0"/>
                              <a:ea typeface="Verdana" panose="020B0604030504040204" pitchFamily="34" charset="0"/>
                              <a:cs typeface="Verdana" panose="020B0604030504040204" pitchFamily="34" charset="0"/>
                            </a:rPr>
                            <a:t>2.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𝐶𝑅𝐾</m:t>
                              </m:r>
                              <m:r>
                                <a:rPr lang="en-US" sz="2000" i="1">
                                  <a:latin typeface="Cambria Math" panose="02040503050406030204" pitchFamily="18" charset="0"/>
                                </a:rPr>
                                <m:t>≅∠</m:t>
                              </m:r>
                              <m:r>
                                <a:rPr lang="en-US" sz="2000" i="1">
                                  <a:latin typeface="Cambria Math" panose="02040503050406030204" pitchFamily="18" charset="0"/>
                                </a:rPr>
                                <m:t>𝐻𝑊𝐷</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2. Definition of congruence</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282424"/>
                      </a:ext>
                    </a:extLst>
                  </a:tr>
                </a:tbl>
              </a:graphicData>
            </a:graphic>
          </p:graphicFrame>
        </mc:Choice>
        <mc:Fallback xmlns="">
          <p:graphicFrame>
            <p:nvGraphicFramePr>
              <p:cNvPr id="10" name="Table 9">
                <a:extLst>
                  <a:ext uri="{FF2B5EF4-FFF2-40B4-BE49-F238E27FC236}">
                    <a16:creationId xmlns:a16="http://schemas.microsoft.com/office/drawing/2014/main" id="{557BD9BA-FC25-F146-B984-F4BE2581F3B0}"/>
                  </a:ext>
                </a:extLst>
              </p:cNvPr>
              <p:cNvGraphicFramePr>
                <a:graphicFrameLocks noGrp="1"/>
              </p:cNvGraphicFramePr>
              <p:nvPr>
                <p:extLst>
                  <p:ext uri="{D42A27DB-BD31-4B8C-83A1-F6EECF244321}">
                    <p14:modId xmlns:p14="http://schemas.microsoft.com/office/powerpoint/2010/main" val="955261502"/>
                  </p:ext>
                </p:extLst>
              </p:nvPr>
            </p:nvGraphicFramePr>
            <p:xfrm>
              <a:off x="638032" y="4629463"/>
              <a:ext cx="7560000" cy="1764000"/>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1142743544"/>
                        </a:ext>
                      </a:extLst>
                    </a:gridCol>
                    <a:gridCol w="3780000">
                      <a:extLst>
                        <a:ext uri="{9D8B030D-6E8A-4147-A177-3AD203B41FA5}">
                          <a16:colId xmlns:a16="http://schemas.microsoft.com/office/drawing/2014/main" val="226066950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26381296"/>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61" t="-74528" r="-100322" b="-103774"/>
                          </a:stretch>
                        </a:blipFill>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1. Given</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572439"/>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61" t="-172897" r="-100322" b="-2804"/>
                          </a:stretch>
                        </a:blipFill>
                      </a:tcPr>
                    </a:tc>
                    <a:tc>
                      <a:txBody>
                        <a:bodyPr/>
                        <a:lstStyle/>
                        <a:p>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2. Definition of congruence</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282424"/>
                      </a:ext>
                    </a:extLst>
                  </a:tr>
                </a:tbl>
              </a:graphicData>
            </a:graphic>
          </p:graphicFrame>
        </mc:Fallback>
      </mc:AlternateContent>
    </p:spTree>
    <p:extLst>
      <p:ext uri="{BB962C8B-B14F-4D97-AF65-F5344CB8AC3E}">
        <p14:creationId xmlns:p14="http://schemas.microsoft.com/office/powerpoint/2010/main" val="4288616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806" y="620472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6580" y="64618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817432EF-05D3-C949-8D62-63A9227AAEAC}"/>
              </a:ext>
            </a:extLst>
          </p:cNvPr>
          <p:cNvGrpSpPr/>
          <p:nvPr/>
        </p:nvGrpSpPr>
        <p:grpSpPr>
          <a:xfrm>
            <a:off x="587701" y="425900"/>
            <a:ext cx="8280000" cy="2316488"/>
            <a:chOff x="-323626" y="0"/>
            <a:chExt cx="8280626" cy="2316842"/>
          </a:xfrm>
        </p:grpSpPr>
        <p:sp>
          <p:nvSpPr>
            <p:cNvPr id="8" name="Rounded Rectangle 7">
              <a:extLst>
                <a:ext uri="{FF2B5EF4-FFF2-40B4-BE49-F238E27FC236}">
                  <a16:creationId xmlns:a16="http://schemas.microsoft.com/office/drawing/2014/main" id="{7D6C3147-4048-4643-85CE-19AB7568D3AD}"/>
                </a:ext>
              </a:extLst>
            </p:cNvPr>
            <p:cNvSpPr/>
            <p:nvPr/>
          </p:nvSpPr>
          <p:spPr>
            <a:xfrm>
              <a:off x="-323626" y="0"/>
              <a:ext cx="8280626" cy="2316842"/>
            </a:xfrm>
            <a:prstGeom prst="roundRect">
              <a:avLst>
                <a:gd name="adj" fmla="val 16667"/>
              </a:avLst>
            </a:prstGeom>
            <a:solidFill>
              <a:srgbClr val="F7D1D5"/>
            </a:solidFill>
            <a:ln>
              <a:noFill/>
            </a:ln>
            <a:effectLst>
              <a:outerShdw blurRad="50800" dist="38100" dir="2700000" algn="tl" rotWithShape="0">
                <a:prstClr val="black">
                  <a:alpha val="40000"/>
                </a:prstClr>
              </a:outerShdw>
            </a:effectLst>
          </p:spPr>
          <p:txBody>
            <a:bodyPr spcFirstLastPara="1" wrap="square" lIns="91425" tIns="72000" rIns="91425" bIns="0" anchor="t" anchorCtr="0">
              <a:spAutoFit/>
            </a:bodyPr>
            <a:lstStyle/>
            <a:p>
              <a:pPr marL="711200">
                <a:spcAft>
                  <a:spcPts val="1000"/>
                </a:spcAft>
              </a:pP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Gottfried Wilhelm Leibniz (1646-1716) introduced a symbol using one horizontal bar under the tilde for congruence in an unpublished manuscript of 1679. </a:t>
              </a:r>
              <a:b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In 1824, Carl Brandan Mollweide (1774-1825) used </a:t>
              </a:r>
              <a:b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the modern congruent symbol with two horizontal bars under a tilde in the book, </a:t>
              </a:r>
              <a:r>
                <a:rPr lang="en-US" sz="2000" i="1" dirty="0" err="1">
                  <a:solidFill>
                    <a:srgbClr val="E04F5F"/>
                  </a:solidFill>
                  <a:latin typeface="Verdana" panose="020B0604030504040204" pitchFamily="34" charset="0"/>
                  <a:ea typeface="Verdana" panose="020B0604030504040204" pitchFamily="34" charset="0"/>
                  <a:cs typeface="Verdana" panose="020B0604030504040204" pitchFamily="34" charset="0"/>
                </a:rPr>
                <a:t>Euklid's</a:t>
              </a:r>
              <a:r>
                <a:rPr lang="en-US" sz="2000" i="1" dirty="0">
                  <a:solidFill>
                    <a:srgbClr val="E04F5F"/>
                  </a:solidFill>
                  <a:latin typeface="Verdana" panose="020B0604030504040204" pitchFamily="34" charset="0"/>
                  <a:ea typeface="Verdana" panose="020B0604030504040204" pitchFamily="34" charset="0"/>
                  <a:cs typeface="Verdana" panose="020B0604030504040204" pitchFamily="34" charset="0"/>
                </a:rPr>
                <a:t> </a:t>
              </a:r>
              <a:r>
                <a:rPr lang="en-US" sz="2000" i="1" dirty="0" err="1">
                  <a:solidFill>
                    <a:srgbClr val="E04F5F"/>
                  </a:solidFill>
                  <a:latin typeface="Verdana" panose="020B0604030504040204" pitchFamily="34" charset="0"/>
                  <a:ea typeface="Verdana" panose="020B0604030504040204" pitchFamily="34" charset="0"/>
                  <a:cs typeface="Verdana" panose="020B0604030504040204" pitchFamily="34" charset="0"/>
                </a:rPr>
                <a:t>Elemente</a:t>
              </a:r>
              <a:r>
                <a:rPr lang="en-US" sz="2000" i="1" dirty="0">
                  <a:solidFill>
                    <a:srgbClr val="E04F5F"/>
                  </a:solidFill>
                  <a:latin typeface="Verdana" panose="020B0604030504040204" pitchFamily="34" charset="0"/>
                  <a:ea typeface="Verdana" panose="020B0604030504040204" pitchFamily="34" charset="0"/>
                  <a:cs typeface="Verdana" panose="020B0604030504040204" pitchFamily="34" charset="0"/>
                </a:rPr>
                <a: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image20.png" descr="A picture containing icon&#10;&#10;Description automatically generated">
              <a:extLst>
                <a:ext uri="{FF2B5EF4-FFF2-40B4-BE49-F238E27FC236}">
                  <a16:creationId xmlns:a16="http://schemas.microsoft.com/office/drawing/2014/main" id="{F348A86C-08BA-8B4E-9AF7-273AF3376F1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01660" y="180018"/>
              <a:ext cx="628639" cy="628639"/>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404981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52650" y="138654"/>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2.1.4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4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102828"/>
            <a:ext cx="832713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4B22719A-09EB-0743-97F7-643452720273}"/>
              </a:ext>
            </a:extLst>
          </p:cNvPr>
          <p:cNvGraphicFramePr>
            <a:graphicFrameLocks noGrp="1"/>
          </p:cNvGraphicFramePr>
          <p:nvPr>
            <p:extLst>
              <p:ext uri="{D42A27DB-BD31-4B8C-83A1-F6EECF244321}">
                <p14:modId xmlns:p14="http://schemas.microsoft.com/office/powerpoint/2010/main" val="747907645"/>
              </p:ext>
            </p:extLst>
          </p:nvPr>
        </p:nvGraphicFramePr>
        <p:xfrm>
          <a:off x="679000" y="1653928"/>
          <a:ext cx="8280000" cy="4363719"/>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1381349284"/>
                    </a:ext>
                  </a:extLst>
                </a:gridCol>
                <a:gridCol w="2700000">
                  <a:extLst>
                    <a:ext uri="{9D8B030D-6E8A-4147-A177-3AD203B41FA5}">
                      <a16:colId xmlns:a16="http://schemas.microsoft.com/office/drawing/2014/main" val="3820476743"/>
                    </a:ext>
                  </a:extLst>
                </a:gridCol>
                <a:gridCol w="2700000">
                  <a:extLst>
                    <a:ext uri="{9D8B030D-6E8A-4147-A177-3AD203B41FA5}">
                      <a16:colId xmlns:a16="http://schemas.microsoft.com/office/drawing/2014/main" val="28060514"/>
                    </a:ext>
                  </a:extLst>
                </a:gridCol>
              </a:tblGrid>
              <a:tr h="191966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terms and information used in the Exploration and Guided Instruction that I knew were…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wondered during the Exploration or Guided Instruction was…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learned during the Exploration or Guided Instruction was…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85003269"/>
                  </a:ext>
                </a:extLst>
              </a:tr>
              <a:tr h="2443479">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012647"/>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2427</TotalTime>
  <Words>1570</Words>
  <Application>Microsoft Office PowerPoint</Application>
  <PresentationFormat>Widescreen</PresentationFormat>
  <Paragraphs>310</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Calibri</vt:lpstr>
      <vt:lpstr>Arial</vt:lpstr>
      <vt:lpstr>Cambria Math</vt:lpstr>
      <vt:lpstr>Century Gothic</vt:lpstr>
      <vt:lpstr>Cambria</vt:lpstr>
      <vt:lpstr>Wingdings</vt:lpstr>
      <vt:lpstr>Verdana</vt:lpstr>
      <vt:lpstr>Arial Black</vt:lpstr>
      <vt:lpstr>1_Office Theme</vt:lpstr>
      <vt:lpstr>Geometry  Unit 2, Lesson 1  Introduction to Euclidean Geometry  Volume 1, pg. 83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29</cp:revision>
  <dcterms:created xsi:type="dcterms:W3CDTF">2015-03-17T18:51:18Z</dcterms:created>
  <dcterms:modified xsi:type="dcterms:W3CDTF">2023-02-27T18:41:20Z</dcterms:modified>
</cp:coreProperties>
</file>