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6"/>
  </p:notesMasterIdLst>
  <p:sldIdLst>
    <p:sldId id="256" r:id="rId2"/>
    <p:sldId id="257" r:id="rId3"/>
    <p:sldId id="285" r:id="rId4"/>
    <p:sldId id="286" r:id="rId5"/>
    <p:sldId id="261" r:id="rId6"/>
    <p:sldId id="287" r:id="rId7"/>
    <p:sldId id="288" r:id="rId8"/>
    <p:sldId id="311" r:id="rId9"/>
    <p:sldId id="312" r:id="rId10"/>
    <p:sldId id="313" r:id="rId11"/>
    <p:sldId id="326" r:id="rId12"/>
    <p:sldId id="327" r:id="rId13"/>
    <p:sldId id="332" r:id="rId14"/>
    <p:sldId id="329" r:id="rId15"/>
    <p:sldId id="328" r:id="rId16"/>
    <p:sldId id="331" r:id="rId17"/>
    <p:sldId id="289" r:id="rId18"/>
    <p:sldId id="290" r:id="rId19"/>
    <p:sldId id="308" r:id="rId20"/>
    <p:sldId id="323" r:id="rId21"/>
    <p:sldId id="324" r:id="rId22"/>
    <p:sldId id="325" r:id="rId23"/>
    <p:sldId id="306" r:id="rId24"/>
    <p:sldId id="307" r:id="rId25"/>
  </p:sldIdLst>
  <p:sldSz cx="12192000" cy="6858000"/>
  <p:notesSz cx="6858000" cy="9144000"/>
  <p:embeddedFontLst>
    <p:embeddedFont>
      <p:font typeface="Arial Black" panose="020B0A04020102020204" pitchFamily="34" charset="0"/>
      <p:bold r:id="rId27"/>
    </p:embeddedFont>
    <p:embeddedFont>
      <p:font typeface="Calibri" panose="020F0502020204030204" pitchFamily="34" charset="0"/>
      <p:regular r:id="rId28"/>
      <p:bold r:id="rId29"/>
      <p:italic r:id="rId30"/>
      <p:boldItalic r:id="rId31"/>
    </p:embeddedFont>
    <p:embeddedFont>
      <p:font typeface="Cambria" panose="02040503050406030204" pitchFamily="18" charset="0"/>
      <p:regular r:id="rId32"/>
      <p:bold r:id="rId33"/>
      <p:italic r:id="rId34"/>
      <p:boldItalic r:id="rId35"/>
    </p:embeddedFont>
    <p:embeddedFont>
      <p:font typeface="Cambria Math" panose="02040503050406030204" pitchFamily="18" charset="0"/>
      <p:regular r:id="rId36"/>
    </p:embeddedFont>
    <p:embeddedFont>
      <p:font typeface="Century Gothic" panose="020B0502020202020204" pitchFamily="34" charset="0"/>
      <p:regular r:id="rId37"/>
      <p:bold r:id="rId38"/>
      <p:italic r:id="rId39"/>
      <p:boldItalic r:id="rId40"/>
    </p:embeddedFont>
    <p:embeddedFont>
      <p:font typeface="Verdana" panose="020B0604030504040204" pitchFamily="34" charset="0"/>
      <p:regular r:id="rId41"/>
      <p:bold r:id="rId42"/>
      <p:italic r:id="rId43"/>
      <p:boldItalic r:id="rId4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5"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3C9"/>
    <a:srgbClr val="F79647"/>
    <a:srgbClr val="FCBD1E"/>
    <a:srgbClr val="C9DF6F"/>
    <a:srgbClr val="417DBF"/>
    <a:srgbClr val="3F2A67"/>
    <a:srgbClr val="E24E5F"/>
    <a:srgbClr val="26B7D4"/>
    <a:srgbClr val="54B5D1"/>
    <a:srgbClr val="33BE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675"/>
    <p:restoredTop sz="94754"/>
  </p:normalViewPr>
  <p:slideViewPr>
    <p:cSldViewPr snapToGrid="0">
      <p:cViewPr varScale="1">
        <p:scale>
          <a:sx n="79" d="100"/>
          <a:sy n="79" d="100"/>
        </p:scale>
        <p:origin x="1046" y="6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9" Type="http://schemas.openxmlformats.org/officeDocument/2006/relationships/font" Target="fonts/font13.fntdata"/><Relationship Id="rId21" Type="http://schemas.openxmlformats.org/officeDocument/2006/relationships/slide" Target="slides/slide20.xml"/><Relationship Id="rId34" Type="http://schemas.openxmlformats.org/officeDocument/2006/relationships/font" Target="fonts/font8.fntdata"/><Relationship Id="rId42" Type="http://schemas.openxmlformats.org/officeDocument/2006/relationships/font" Target="fonts/font16.fntdata"/><Relationship Id="rId55" Type="http://customschemas.google.com/relationships/presentationmetadata" Target="meta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3.fntdata"/><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6.fntdata"/><Relationship Id="rId37" Type="http://schemas.openxmlformats.org/officeDocument/2006/relationships/font" Target="fonts/font11.fntdata"/><Relationship Id="rId40" Type="http://schemas.openxmlformats.org/officeDocument/2006/relationships/font" Target="fonts/font14.fntdata"/><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2.fntdata"/><Relationship Id="rId36" Type="http://schemas.openxmlformats.org/officeDocument/2006/relationships/font" Target="fonts/font10.fntdata"/><Relationship Id="rId5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5.fntdata"/><Relationship Id="rId44" Type="http://schemas.openxmlformats.org/officeDocument/2006/relationships/font" Target="fonts/font18.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1.fntdata"/><Relationship Id="rId30" Type="http://schemas.openxmlformats.org/officeDocument/2006/relationships/font" Target="fonts/font4.fntdata"/><Relationship Id="rId35" Type="http://schemas.openxmlformats.org/officeDocument/2006/relationships/font" Target="fonts/font9.fntdata"/><Relationship Id="rId43" Type="http://schemas.openxmlformats.org/officeDocument/2006/relationships/font" Target="fonts/font17.fntdata"/><Relationship Id="rId56"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7.fntdata"/><Relationship Id="rId38" Type="http://schemas.openxmlformats.org/officeDocument/2006/relationships/font" Target="fonts/font12.fntdata"/><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font" Target="fonts/font15.fntdata"/><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123125622"/>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2328683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7</a:t>
            </a:fld>
            <a:endParaRPr/>
          </a:p>
        </p:txBody>
      </p:sp>
    </p:spTree>
    <p:extLst>
      <p:ext uri="{BB962C8B-B14F-4D97-AF65-F5344CB8AC3E}">
        <p14:creationId xmlns:p14="http://schemas.microsoft.com/office/powerpoint/2010/main" val="30639936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extLst>
      <p:ext uri="{BB962C8B-B14F-4D97-AF65-F5344CB8AC3E}">
        <p14:creationId xmlns:p14="http://schemas.microsoft.com/office/powerpoint/2010/main" val="250524138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11205093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142904148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257165677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extLst>
      <p:ext uri="{BB962C8B-B14F-4D97-AF65-F5344CB8AC3E}">
        <p14:creationId xmlns:p14="http://schemas.microsoft.com/office/powerpoint/2010/main" val="266691924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extLst>
      <p:ext uri="{BB962C8B-B14F-4D97-AF65-F5344CB8AC3E}">
        <p14:creationId xmlns:p14="http://schemas.microsoft.com/office/powerpoint/2010/main" val="285148236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extLst>
      <p:ext uri="{BB962C8B-B14F-4D97-AF65-F5344CB8AC3E}">
        <p14:creationId xmlns:p14="http://schemas.microsoft.com/office/powerpoint/2010/main" val="285148236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spTree>
    <p:extLst>
      <p:ext uri="{BB962C8B-B14F-4D97-AF65-F5344CB8AC3E}">
        <p14:creationId xmlns:p14="http://schemas.microsoft.com/office/powerpoint/2010/main" val="281535580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extLst>
      <p:ext uri="{BB962C8B-B14F-4D97-AF65-F5344CB8AC3E}">
        <p14:creationId xmlns:p14="http://schemas.microsoft.com/office/powerpoint/2010/main" val="69043268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17</a:t>
            </a:fld>
            <a:endParaRPr/>
          </a:p>
        </p:txBody>
      </p:sp>
    </p:spTree>
    <p:extLst>
      <p:ext uri="{BB962C8B-B14F-4D97-AF65-F5344CB8AC3E}">
        <p14:creationId xmlns:p14="http://schemas.microsoft.com/office/powerpoint/2010/main" val="39188651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spTree>
    <p:extLst>
      <p:ext uri="{BB962C8B-B14F-4D97-AF65-F5344CB8AC3E}">
        <p14:creationId xmlns:p14="http://schemas.microsoft.com/office/powerpoint/2010/main" val="35627792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19</a:t>
            </a:fld>
            <a:endParaRPr/>
          </a:p>
        </p:txBody>
      </p:sp>
    </p:spTree>
    <p:extLst>
      <p:ext uri="{BB962C8B-B14F-4D97-AF65-F5344CB8AC3E}">
        <p14:creationId xmlns:p14="http://schemas.microsoft.com/office/powerpoint/2010/main" val="84807107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20</a:t>
            </a:fld>
            <a:endParaRPr/>
          </a:p>
        </p:txBody>
      </p:sp>
    </p:spTree>
    <p:extLst>
      <p:ext uri="{BB962C8B-B14F-4D97-AF65-F5344CB8AC3E}">
        <p14:creationId xmlns:p14="http://schemas.microsoft.com/office/powerpoint/2010/main" val="122880882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21</a:t>
            </a:fld>
            <a:endParaRPr/>
          </a:p>
        </p:txBody>
      </p:sp>
    </p:spTree>
    <p:extLst>
      <p:ext uri="{BB962C8B-B14F-4D97-AF65-F5344CB8AC3E}">
        <p14:creationId xmlns:p14="http://schemas.microsoft.com/office/powerpoint/2010/main" val="193539210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22</a:t>
            </a:fld>
            <a:endParaRPr/>
          </a:p>
        </p:txBody>
      </p:sp>
    </p:spTree>
    <p:extLst>
      <p:ext uri="{BB962C8B-B14F-4D97-AF65-F5344CB8AC3E}">
        <p14:creationId xmlns:p14="http://schemas.microsoft.com/office/powerpoint/2010/main" val="323841422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23</a:t>
            </a:fld>
            <a:endParaRPr/>
          </a:p>
        </p:txBody>
      </p:sp>
    </p:spTree>
    <p:extLst>
      <p:ext uri="{BB962C8B-B14F-4D97-AF65-F5344CB8AC3E}">
        <p14:creationId xmlns:p14="http://schemas.microsoft.com/office/powerpoint/2010/main" val="71668810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24</a:t>
            </a:fld>
            <a:endParaRPr/>
          </a:p>
        </p:txBody>
      </p:sp>
    </p:spTree>
    <p:extLst>
      <p:ext uri="{BB962C8B-B14F-4D97-AF65-F5344CB8AC3E}">
        <p14:creationId xmlns:p14="http://schemas.microsoft.com/office/powerpoint/2010/main" val="193732810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8.xml"/><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8.xml"/><Relationship Id="rId6" Type="http://schemas.openxmlformats.org/officeDocument/2006/relationships/image" Target="../media/image15.jpeg"/><Relationship Id="rId5" Type="http://schemas.openxmlformats.org/officeDocument/2006/relationships/image" Target="../media/image14.png"/><Relationship Id="rId4" Type="http://schemas.openxmlformats.org/officeDocument/2006/relationships/image" Target="../media/image13.jpe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8.xml"/><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8.xml"/><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8.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0.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8.xml"/><Relationship Id="rId4" Type="http://schemas.openxmlformats.org/officeDocument/2006/relationships/image" Target="../media/image20.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8.xml"/><Relationship Id="rId5" Type="http://schemas.openxmlformats.org/officeDocument/2006/relationships/image" Target="../media/image21.png"/><Relationship Id="rId4" Type="http://schemas.openxmlformats.org/officeDocument/2006/relationships/image" Target="../media/image18.pn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8.xml"/><Relationship Id="rId5" Type="http://schemas.openxmlformats.org/officeDocument/2006/relationships/image" Target="../media/image23.png"/><Relationship Id="rId4" Type="http://schemas.openxmlformats.org/officeDocument/2006/relationships/image" Target="../media/image22.png"/></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8.xml"/><Relationship Id="rId4" Type="http://schemas.openxmlformats.org/officeDocument/2006/relationships/image" Target="../media/image18.png"/></Relationships>
</file>

<file path=ppt/slides/_rels/slide1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6.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8.xml"/><Relationship Id="rId4" Type="http://schemas.openxmlformats.org/officeDocument/2006/relationships/image" Target="../media/image25.png"/></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8.xml"/><Relationship Id="rId6" Type="http://schemas.openxmlformats.org/officeDocument/2006/relationships/image" Target="../media/image26.png"/><Relationship Id="rId5" Type="http://schemas.openxmlformats.org/officeDocument/2006/relationships/image" Target="../media/image250.png"/><Relationship Id="rId4" Type="http://schemas.openxmlformats.org/officeDocument/2006/relationships/image" Target="../media/image25.png"/></Relationships>
</file>

<file path=ppt/slides/_rels/slide1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9.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8.xml"/><Relationship Id="rId4" Type="http://schemas.openxmlformats.org/officeDocument/2006/relationships/image" Target="../media/image28.png"/></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8.xml"/><Relationship Id="rId6" Type="http://schemas.openxmlformats.org/officeDocument/2006/relationships/image" Target="../media/image26.png"/><Relationship Id="rId5" Type="http://schemas.openxmlformats.org/officeDocument/2006/relationships/image" Target="../media/image290.png"/><Relationship Id="rId4" Type="http://schemas.openxmlformats.org/officeDocument/2006/relationships/image" Target="../media/image29.png"/></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8.xml"/><Relationship Id="rId4" Type="http://schemas.openxmlformats.org/officeDocument/2006/relationships/image" Target="../media/image30.png"/></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3.xml"/><Relationship Id="rId1" Type="http://schemas.openxmlformats.org/officeDocument/2006/relationships/slideLayout" Target="../slideLayouts/slideLayout8.xml"/><Relationship Id="rId4" Type="http://schemas.openxmlformats.org/officeDocument/2006/relationships/image" Target="../media/image31.png"/></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4.xml"/><Relationship Id="rId1" Type="http://schemas.openxmlformats.org/officeDocument/2006/relationships/slideLayout" Target="../slideLayouts/slideLayout8.xml"/><Relationship Id="rId5" Type="http://schemas.openxmlformats.org/officeDocument/2006/relationships/image" Target="../media/image32.png"/><Relationship Id="rId4" Type="http://schemas.openxmlformats.org/officeDocument/2006/relationships/image" Target="../media/image3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1" name="Google Shape;261;g104476d1465_0_0"/>
          <p:cNvSpPr txBox="1">
            <a:spLocks noGrp="1"/>
          </p:cNvSpPr>
          <p:nvPr>
            <p:ph type="ctrTitle" idx="4294967295"/>
          </p:nvPr>
        </p:nvSpPr>
        <p:spPr>
          <a:xfrm>
            <a:off x="5742834" y="2054277"/>
            <a:ext cx="4925167" cy="3194455"/>
          </a:xfrm>
          <a:prstGeom prst="rect">
            <a:avLst/>
          </a:prstGeom>
        </p:spPr>
        <p:txBody>
          <a:bodyPr spcFirstLastPara="1" wrap="square" lIns="91425" tIns="45700" rIns="91425" bIns="45700" anchor="ctr" anchorCtr="0">
            <a:noAutofit/>
          </a:bodyPr>
          <a:lstStyle/>
          <a:p>
            <a:pPr algn="ctr">
              <a:lnSpc>
                <a:spcPct val="100000"/>
              </a:lnSpc>
            </a:pPr>
            <a:r>
              <a:rPr lang="en-US" sz="3800" b="1" dirty="0">
                <a:solidFill>
                  <a:srgbClr val="417DBF"/>
                </a:solidFill>
                <a:latin typeface="Verdana"/>
                <a:ea typeface="Verdana"/>
                <a:cs typeface="Verdana"/>
                <a:sym typeface="Verdana"/>
              </a:rPr>
              <a:t>Geometry</a:t>
            </a:r>
            <a:br>
              <a:rPr lang="en-US" sz="3800" b="1" dirty="0">
                <a:solidFill>
                  <a:srgbClr val="417DBF"/>
                </a:solidFill>
                <a:latin typeface="Verdana"/>
                <a:ea typeface="Verdana"/>
                <a:cs typeface="Verdana"/>
                <a:sym typeface="Verdana"/>
              </a:rPr>
            </a:br>
            <a:endParaRPr lang="en-US" sz="3800" b="1" dirty="0">
              <a:solidFill>
                <a:srgbClr val="417DBF"/>
              </a:solidFill>
              <a:latin typeface="Verdana"/>
              <a:ea typeface="Verdana"/>
              <a:cs typeface="Verdana"/>
              <a:sym typeface="Verdana"/>
            </a:endParaRPr>
          </a:p>
          <a:p>
            <a:pPr algn="ctr">
              <a:lnSpc>
                <a:spcPct val="100000"/>
              </a:lnSpc>
              <a:buClr>
                <a:srgbClr val="000000"/>
              </a:buClr>
            </a:pPr>
            <a:r>
              <a:rPr lang="en-US" sz="3800" b="1" dirty="0">
                <a:solidFill>
                  <a:srgbClr val="417DBF"/>
                </a:solidFill>
                <a:latin typeface="Verdana"/>
                <a:ea typeface="Verdana"/>
                <a:cs typeface="Verdana"/>
                <a:sym typeface="Verdana"/>
              </a:rPr>
              <a:t>Unit 2, Lesson 7</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Proofs – Part 1</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1, pg. 111</a:t>
            </a:r>
          </a:p>
          <a:p>
            <a:pPr algn="ctr">
              <a:lnSpc>
                <a:spcPct val="100000"/>
              </a:lnSpc>
              <a:buClr>
                <a:srgbClr val="000000"/>
              </a:buClr>
            </a:pPr>
            <a:endParaRPr lang="en-US"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sp>
        <p:nvSpPr>
          <p:cNvPr id="20" name="Google Shape;309;g104476d1465_1_39">
            <a:extLst>
              <a:ext uri="{FF2B5EF4-FFF2-40B4-BE49-F238E27FC236}">
                <a16:creationId xmlns:a16="http://schemas.microsoft.com/office/drawing/2014/main" id="{566F1422-A32C-7745-9E85-5AF7B9DBC697}"/>
              </a:ext>
            </a:extLst>
          </p:cNvPr>
          <p:cNvSpPr/>
          <p:nvPr/>
        </p:nvSpPr>
        <p:spPr>
          <a:xfrm>
            <a:off x="0" y="0"/>
            <a:ext cx="4094106" cy="6866100"/>
          </a:xfrm>
          <a:prstGeom prst="rect">
            <a:avLst/>
          </a:prstGeom>
          <a:solidFill>
            <a:srgbClr val="F79647"/>
          </a:solidFill>
          <a:ln w="9525" cap="flat" cmpd="sng">
            <a:solidFill>
              <a:srgbClr val="F79647"/>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 name="Picture 2" descr="A blue sign with white text&#10;&#10;Description automatically generated with medium confidence">
            <a:extLst>
              <a:ext uri="{FF2B5EF4-FFF2-40B4-BE49-F238E27FC236}">
                <a16:creationId xmlns:a16="http://schemas.microsoft.com/office/drawing/2014/main" id="{5DE477E5-56CA-9D49-B76A-D5EDA7B79A4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08753" y="1522577"/>
            <a:ext cx="3270825" cy="3812847"/>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1"/>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79" name="Google Shape;279;g104476d1465_1_17"/>
          <p:cNvSpPr txBox="1">
            <a:spLocks noGrp="1"/>
          </p:cNvSpPr>
          <p:nvPr>
            <p:ph type="title" idx="4294967295"/>
          </p:nvPr>
        </p:nvSpPr>
        <p:spPr>
          <a:xfrm>
            <a:off x="1124050" y="136649"/>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Benchmarks</a:t>
            </a:r>
            <a:endParaRPr sz="3700" b="1" dirty="0">
              <a:solidFill>
                <a:srgbClr val="54B5D1"/>
              </a:solidFill>
              <a:latin typeface="Verdana"/>
              <a:ea typeface="Verdana"/>
              <a:cs typeface="Verdana"/>
              <a:sym typeface="Verdana"/>
            </a:endParaRPr>
          </a:p>
        </p:txBody>
      </p:sp>
      <p:pic>
        <p:nvPicPr>
          <p:cNvPr id="281" name="Google Shape;281;g104476d1465_1_17"/>
          <p:cNvPicPr preferRelativeResize="0"/>
          <p:nvPr/>
        </p:nvPicPr>
        <p:blipFill>
          <a:blip r:embed="rId3">
            <a:alphaModFix/>
          </a:blip>
          <a:stretch>
            <a:fillRect/>
          </a:stretch>
        </p:blipFill>
        <p:spPr>
          <a:xfrm>
            <a:off x="300550" y="372424"/>
            <a:ext cx="747300" cy="747300"/>
          </a:xfrm>
          <a:prstGeom prst="rect">
            <a:avLst/>
          </a:prstGeom>
          <a:noFill/>
          <a:ln>
            <a:noFill/>
          </a:ln>
          <a:effectLst>
            <a:outerShdw blurRad="57150" dist="19050" dir="5400000" algn="bl" rotWithShape="0">
              <a:srgbClr val="000000">
                <a:alpha val="50000"/>
              </a:srgbClr>
            </a:outerShdw>
          </a:effectLst>
        </p:spPr>
      </p:pic>
      <p:sp>
        <p:nvSpPr>
          <p:cNvPr id="282" name="Google Shape;282;g104476d1465_1_17"/>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111</a:t>
            </a:r>
            <a:endParaRPr i="1" dirty="0">
              <a:latin typeface="Calibri"/>
              <a:ea typeface="Calibri"/>
              <a:cs typeface="Calibri"/>
              <a:sym typeface="Calibri"/>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0;g104476d1465_1_17">
            <a:extLst>
              <a:ext uri="{FF2B5EF4-FFF2-40B4-BE49-F238E27FC236}">
                <a16:creationId xmlns:a16="http://schemas.microsoft.com/office/drawing/2014/main" id="{527A9F9F-07B8-ED47-B967-E5507C67DBC5}"/>
              </a:ext>
            </a:extLst>
          </p:cNvPr>
          <p:cNvSpPr txBox="1">
            <a:spLocks/>
          </p:cNvSpPr>
          <p:nvPr/>
        </p:nvSpPr>
        <p:spPr>
          <a:xfrm>
            <a:off x="514000" y="1600324"/>
            <a:ext cx="11009924"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0" indent="0">
              <a:buSzPts val="1100"/>
              <a:buNone/>
            </a:pPr>
            <a:r>
              <a:rPr lang="en-US" sz="2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MA.912.GR.1.1</a:t>
            </a:r>
          </a:p>
          <a:p>
            <a:pPr indent="0">
              <a:buNone/>
            </a:pPr>
            <a:r>
              <a:rPr lang="en-US" sz="2800" dirty="0">
                <a:latin typeface="Verdana" panose="020B0604030504040204" pitchFamily="34" charset="0"/>
                <a:ea typeface="Verdana" panose="020B0604030504040204" pitchFamily="34" charset="0"/>
                <a:cs typeface="Verdana" panose="020B0604030504040204" pitchFamily="34" charset="0"/>
              </a:rPr>
              <a:t>Prove relationships and theorems about lines and angles. Solve mathematical and real-world problems involving postulates, relationships and theorems of lines and angles.</a:t>
            </a:r>
          </a:p>
          <a:p>
            <a:pPr indent="0">
              <a:buNone/>
            </a:pPr>
            <a:endParaRPr lang="en-US" sz="2800" dirty="0">
              <a:solidFill>
                <a:schemeClr val="tx1"/>
              </a:solidFill>
              <a:latin typeface="Verdana" panose="020B0604030504040204" pitchFamily="34" charset="0"/>
              <a:ea typeface="Verdana" panose="020B0604030504040204" pitchFamily="34" charset="0"/>
              <a:cs typeface="Verdana" panose="020B0604030504040204" pitchFamily="34" charset="0"/>
              <a:sym typeface="Century Gothic"/>
            </a:endParaRPr>
          </a:p>
          <a:p>
            <a:pPr marL="0" indent="0">
              <a:buSzPts val="1100"/>
              <a:buNone/>
            </a:pPr>
            <a:r>
              <a:rPr lang="en-US" sz="2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MA.912.GLT.4.10</a:t>
            </a:r>
          </a:p>
          <a:p>
            <a:pPr indent="0">
              <a:buNone/>
            </a:pPr>
            <a:r>
              <a:rPr lang="en-US" sz="2800" dirty="0">
                <a:latin typeface="Verdana" panose="020B0604030504040204" pitchFamily="34" charset="0"/>
                <a:ea typeface="Verdana" panose="020B0604030504040204" pitchFamily="34" charset="0"/>
                <a:cs typeface="Verdana" panose="020B0604030504040204" pitchFamily="34" charset="0"/>
              </a:rPr>
              <a:t>Judge the validity of arguments and give counterexamples to disprove statements.</a:t>
            </a:r>
            <a:endParaRPr lang="en-US" sz="2800" dirty="0">
              <a:solidFill>
                <a:schemeClr val="tx1"/>
              </a:solidFill>
              <a:latin typeface="Verdana" panose="020B0604030504040204" pitchFamily="34" charset="0"/>
              <a:ea typeface="Verdana" panose="020B0604030504040204" pitchFamily="34" charset="0"/>
              <a:cs typeface="Verdana" panose="020B0604030504040204" pitchFamily="34" charset="0"/>
              <a:sym typeface="Century Gothic"/>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1" name="Google Shape;281;g104476d1465_1_17"/>
          <p:cNvPicPr preferRelativeResize="0"/>
          <p:nvPr/>
        </p:nvPicPr>
        <p:blipFill>
          <a:blip r:embed="rId3">
            <a:alphaModFix/>
          </a:blip>
          <a:stretch>
            <a:fillRect/>
          </a:stretch>
        </p:blipFill>
        <p:spPr>
          <a:xfrm>
            <a:off x="300550" y="372424"/>
            <a:ext cx="747300" cy="747300"/>
          </a:xfrm>
          <a:prstGeom prst="rect">
            <a:avLst/>
          </a:prstGeom>
          <a:noFill/>
          <a:ln>
            <a:noFill/>
          </a:ln>
          <a:effectLst>
            <a:outerShdw blurRad="57150" dist="19050" dir="5400000" algn="bl" rotWithShape="0">
              <a:srgbClr val="000000">
                <a:alpha val="50000"/>
              </a:srgbClr>
            </a:outerShdw>
          </a:effectLst>
        </p:spPr>
      </p:pic>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628150" y="6200723"/>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95;g103996e1364_0_10">
            <a:extLst>
              <a:ext uri="{FF2B5EF4-FFF2-40B4-BE49-F238E27FC236}">
                <a16:creationId xmlns:a16="http://schemas.microsoft.com/office/drawing/2014/main" id="{08B3C7FF-E6D0-2145-9A84-003D15672764}"/>
              </a:ext>
            </a:extLst>
          </p:cNvPr>
          <p:cNvSpPr txBox="1">
            <a:spLocks/>
          </p:cNvSpPr>
          <p:nvPr/>
        </p:nvSpPr>
        <p:spPr>
          <a:xfrm>
            <a:off x="1125200" y="129791"/>
            <a:ext cx="8697226"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000" b="1" dirty="0">
                <a:solidFill>
                  <a:srgbClr val="54B5D1"/>
                </a:solidFill>
                <a:latin typeface="Verdana"/>
                <a:ea typeface="Verdana"/>
                <a:cs typeface="Verdana"/>
                <a:sym typeface="Verdana"/>
              </a:rPr>
              <a:t>Integrated Mathematical Thinking and Reasoning Standards</a:t>
            </a:r>
          </a:p>
        </p:txBody>
      </p:sp>
      <p:sp>
        <p:nvSpPr>
          <p:cNvPr id="11" name="Google Shape;296;g103996e1364_0_10">
            <a:extLst>
              <a:ext uri="{FF2B5EF4-FFF2-40B4-BE49-F238E27FC236}">
                <a16:creationId xmlns:a16="http://schemas.microsoft.com/office/drawing/2014/main" id="{A6E18E39-B007-D647-9935-55A748533A45}"/>
              </a:ext>
            </a:extLst>
          </p:cNvPr>
          <p:cNvSpPr txBox="1">
            <a:spLocks/>
          </p:cNvSpPr>
          <p:nvPr/>
        </p:nvSpPr>
        <p:spPr>
          <a:xfrm>
            <a:off x="1101760" y="1596514"/>
            <a:ext cx="10422164"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MA.K12.MTR.1.1 Actively participate in effortful learning both individually and collectively.</a:t>
            </a:r>
          </a:p>
          <a:p>
            <a:pPr marL="457200">
              <a:buSzPts val="523"/>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MA.K12.MTR.4.1 Engage in discussions that reflect on the mathematical thinking of self and others.</a:t>
            </a:r>
          </a:p>
          <a:p>
            <a:pPr marL="457200">
              <a:buSzPts val="523"/>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MA.K12.MTR.5.1 Use patterns and structure to help understand and connect mathematical concepts.</a:t>
            </a:r>
          </a:p>
          <a:p>
            <a:pPr>
              <a:buSzPts val="523"/>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MA.K12.MTR.6.1 Assess the reasonableness of solutions.</a:t>
            </a:r>
          </a:p>
        </p:txBody>
      </p:sp>
      <p:sp>
        <p:nvSpPr>
          <p:cNvPr id="12" name="Google Shape;278;g104476d1465_1_17">
            <a:extLst>
              <a:ext uri="{FF2B5EF4-FFF2-40B4-BE49-F238E27FC236}">
                <a16:creationId xmlns:a16="http://schemas.microsoft.com/office/drawing/2014/main" id="{79998D09-ED40-CB40-ADB3-2C926DC27F8F}"/>
              </a:ext>
            </a:extLst>
          </p:cNvPr>
          <p:cNvSpPr/>
          <p:nvPr/>
        </p:nvSpPr>
        <p:spPr>
          <a:xfrm>
            <a:off x="0" y="-8101"/>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9" name="Google Shape;282;g104476d1465_1_17">
            <a:extLst>
              <a:ext uri="{FF2B5EF4-FFF2-40B4-BE49-F238E27FC236}">
                <a16:creationId xmlns:a16="http://schemas.microsoft.com/office/drawing/2014/main" id="{803A9D8F-5580-5E4C-A5A9-590833F14383}"/>
              </a:ext>
            </a:extLst>
          </p:cNvPr>
          <p:cNvSpPr txBox="1"/>
          <p:nvPr/>
        </p:nvSpPr>
        <p:spPr>
          <a:xfrm>
            <a:off x="8889924" y="6457798"/>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111</a:t>
            </a:r>
            <a:endParaRPr i="1" dirty="0">
              <a:latin typeface="Calibri"/>
              <a:ea typeface="Calibri"/>
              <a:cs typeface="Calibri"/>
              <a:sym typeface="Calibri"/>
            </a:endParaRPr>
          </a:p>
        </p:txBody>
      </p:sp>
    </p:spTree>
    <p:extLst>
      <p:ext uri="{BB962C8B-B14F-4D97-AF65-F5344CB8AC3E}">
        <p14:creationId xmlns:p14="http://schemas.microsoft.com/office/powerpoint/2010/main" val="208084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10" name="Google Shape;301;g103996e1364_0_16">
            <a:extLst>
              <a:ext uri="{FF2B5EF4-FFF2-40B4-BE49-F238E27FC236}">
                <a16:creationId xmlns:a16="http://schemas.microsoft.com/office/drawing/2014/main" id="{5771FBFA-7311-BB45-8AFF-04B380531EE6}"/>
              </a:ext>
            </a:extLst>
          </p:cNvPr>
          <p:cNvSpPr txBox="1">
            <a:spLocks/>
          </p:cNvSpPr>
          <p:nvPr/>
        </p:nvSpPr>
        <p:spPr>
          <a:xfrm>
            <a:off x="1113375" y="30784"/>
            <a:ext cx="79584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Targets</a:t>
            </a:r>
          </a:p>
        </p:txBody>
      </p:sp>
      <p:pic>
        <p:nvPicPr>
          <p:cNvPr id="12" name="Google Shape;303;g103996e1364_0_16">
            <a:extLst>
              <a:ext uri="{FF2B5EF4-FFF2-40B4-BE49-F238E27FC236}">
                <a16:creationId xmlns:a16="http://schemas.microsoft.com/office/drawing/2014/main" id="{81DC7EB0-4FED-FC45-BAEC-D699ED5C2169}"/>
              </a:ext>
            </a:extLst>
          </p:cNvPr>
          <p:cNvPicPr preferRelativeResize="0"/>
          <p:nvPr/>
        </p:nvPicPr>
        <p:blipFill>
          <a:blip r:embed="rId4">
            <a:alphaModFix/>
          </a:blip>
          <a:stretch>
            <a:fillRect/>
          </a:stretch>
        </p:blipFill>
        <p:spPr>
          <a:xfrm>
            <a:off x="331213" y="319984"/>
            <a:ext cx="747300" cy="747300"/>
          </a:xfrm>
          <a:prstGeom prst="rect">
            <a:avLst/>
          </a:prstGeom>
          <a:noFill/>
          <a:ln>
            <a:noFill/>
          </a:ln>
          <a:effectLst>
            <a:outerShdw blurRad="50800" dist="38100" dir="2700000" algn="tl" rotWithShape="0">
              <a:prstClr val="black">
                <a:alpha val="40000"/>
              </a:prstClr>
            </a:outerShdw>
          </a:effectLst>
        </p:spPr>
      </p:pic>
      <p:sp>
        <p:nvSpPr>
          <p:cNvPr id="14" name="Google Shape;302;g103996e1364_0_16">
            <a:extLst>
              <a:ext uri="{FF2B5EF4-FFF2-40B4-BE49-F238E27FC236}">
                <a16:creationId xmlns:a16="http://schemas.microsoft.com/office/drawing/2014/main" id="{9B7C98EC-F13C-9146-B728-D7044DB4247D}"/>
              </a:ext>
            </a:extLst>
          </p:cNvPr>
          <p:cNvSpPr txBox="1">
            <a:spLocks/>
          </p:cNvSpPr>
          <p:nvPr/>
        </p:nvSpPr>
        <p:spPr>
          <a:xfrm>
            <a:off x="514000" y="1600324"/>
            <a:ext cx="11009924"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571500" indent="-571500">
              <a:buFont typeface="Wingdings" pitchFamily="2" charset="2"/>
              <a:buChar char="q"/>
            </a:pPr>
            <a:r>
              <a:rPr lang="en-US" sz="2400" dirty="0">
                <a:latin typeface="Verdana" panose="020B0604030504040204" pitchFamily="34" charset="0"/>
                <a:ea typeface="Verdana" panose="020B0604030504040204" pitchFamily="34" charset="0"/>
                <a:cs typeface="Verdana" panose="020B0604030504040204" pitchFamily="34" charset="0"/>
              </a:rPr>
              <a:t>I can relate deductive reasoning to completing proofs based on assumptions and given statements.</a:t>
            </a:r>
          </a:p>
          <a:p>
            <a:pPr marL="571500" indent="-571500">
              <a:buFont typeface="Wingdings" pitchFamily="2" charset="2"/>
              <a:buChar char="q"/>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571500" indent="-571500">
              <a:buFont typeface="Wingdings" pitchFamily="2" charset="2"/>
              <a:buChar char="q"/>
            </a:pPr>
            <a:r>
              <a:rPr lang="en-US" sz="2400" dirty="0">
                <a:latin typeface="Verdana" panose="020B0604030504040204" pitchFamily="34" charset="0"/>
                <a:ea typeface="Verdana" panose="020B0604030504040204" pitchFamily="34" charset="0"/>
                <a:cs typeface="Verdana" panose="020B0604030504040204" pitchFamily="34" charset="0"/>
              </a:rPr>
              <a:t>I can recognize paragraph, </a:t>
            </a:r>
            <a:br>
              <a:rPr lang="en-US" sz="2400" dirty="0">
                <a:latin typeface="Verdana" panose="020B0604030504040204" pitchFamily="34" charset="0"/>
                <a:ea typeface="Verdana" panose="020B0604030504040204" pitchFamily="34" charset="0"/>
                <a:cs typeface="Verdana" panose="020B0604030504040204" pitchFamily="34" charset="0"/>
              </a:rPr>
            </a:br>
            <a:r>
              <a:rPr lang="en-US" sz="2400" dirty="0">
                <a:latin typeface="Verdana" panose="020B0604030504040204" pitchFamily="34" charset="0"/>
                <a:ea typeface="Verdana" panose="020B0604030504040204" pitchFamily="34" charset="0"/>
                <a:cs typeface="Verdana" panose="020B0604030504040204" pitchFamily="34" charset="0"/>
              </a:rPr>
              <a:t>flow-chart, and two column proofs. </a:t>
            </a:r>
          </a:p>
        </p:txBody>
      </p:sp>
      <p:sp>
        <p:nvSpPr>
          <p:cNvPr id="9" name="Google Shape;278;g104476d1465_1_17">
            <a:extLst>
              <a:ext uri="{FF2B5EF4-FFF2-40B4-BE49-F238E27FC236}">
                <a16:creationId xmlns:a16="http://schemas.microsoft.com/office/drawing/2014/main" id="{4411E69F-FF2D-4E45-A95C-56414991DB11}"/>
              </a:ext>
            </a:extLst>
          </p:cNvPr>
          <p:cNvSpPr/>
          <p:nvPr/>
        </p:nvSpPr>
        <p:spPr>
          <a:xfrm>
            <a:off x="0" y="-8101"/>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Google Shape;282;g104476d1465_1_17">
            <a:extLst>
              <a:ext uri="{FF2B5EF4-FFF2-40B4-BE49-F238E27FC236}">
                <a16:creationId xmlns:a16="http://schemas.microsoft.com/office/drawing/2014/main" id="{FFA2703B-1610-4B4C-81DD-AEB3A040A7CE}"/>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111</a:t>
            </a:r>
            <a:endParaRPr i="1" dirty="0">
              <a:latin typeface="Calibri"/>
              <a:ea typeface="Calibri"/>
              <a:cs typeface="Calibri"/>
              <a:sym typeface="Calibri"/>
            </a:endParaRPr>
          </a:p>
        </p:txBody>
      </p:sp>
    </p:spTree>
    <p:extLst>
      <p:ext uri="{BB962C8B-B14F-4D97-AF65-F5344CB8AC3E}">
        <p14:creationId xmlns:p14="http://schemas.microsoft.com/office/powerpoint/2010/main" val="207142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pic>
        <p:nvPicPr>
          <p:cNvPr id="312" name="Google Shape;312;g104476d1465_1_39"/>
          <p:cNvPicPr preferRelativeResize="0"/>
          <p:nvPr/>
        </p:nvPicPr>
        <p:blipFill>
          <a:blip r:embed="rId4">
            <a:alphaModFix/>
          </a:blip>
          <a:stretch>
            <a:fillRect/>
          </a:stretch>
        </p:blipFill>
        <p:spPr>
          <a:xfrm>
            <a:off x="4635550" y="2879325"/>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5844350" y="2766145"/>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8" name="Google Shape;282;g104476d1465_1_17">
            <a:extLst>
              <a:ext uri="{FF2B5EF4-FFF2-40B4-BE49-F238E27FC236}">
                <a16:creationId xmlns:a16="http://schemas.microsoft.com/office/drawing/2014/main" id="{25810713-BA7D-2A40-BED4-1B00FCAEC9B6}"/>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112</a:t>
            </a:r>
            <a:endParaRPr i="1" dirty="0">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052649" y="-57536"/>
            <a:ext cx="9359711"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2.7.1 Warm-Up: Miami Art Deco</a:t>
            </a:r>
          </a:p>
        </p:txBody>
      </p:sp>
      <p:pic>
        <p:nvPicPr>
          <p:cNvPr id="13" name="Google Shape;326;g103996e1364_0_25">
            <a:extLst>
              <a:ext uri="{FF2B5EF4-FFF2-40B4-BE49-F238E27FC236}">
                <a16:creationId xmlns:a16="http://schemas.microsoft.com/office/drawing/2014/main" id="{0B25478F-1F7B-DF44-A9BD-898178E878B3}"/>
              </a:ext>
            </a:extLst>
          </p:cNvPr>
          <p:cNvPicPr preferRelativeResize="0"/>
          <p:nvPr/>
        </p:nvPicPr>
        <p:blipFill>
          <a:blip r:embed="rId4">
            <a:alphaModFix/>
          </a:blip>
          <a:stretch>
            <a:fillRect/>
          </a:stretch>
        </p:blipFill>
        <p:spPr>
          <a:xfrm>
            <a:off x="305350" y="197609"/>
            <a:ext cx="747300" cy="747300"/>
          </a:xfrm>
          <a:prstGeom prst="rect">
            <a:avLst/>
          </a:prstGeom>
          <a:noFill/>
          <a:ln>
            <a:noFill/>
          </a:ln>
          <a:effectLst>
            <a:outerShdw blurRad="50800" dist="38100" dir="2700000" algn="tl" rotWithShape="0">
              <a:prstClr val="black">
                <a:alpha val="40000"/>
              </a:prstClr>
            </a:outerShdw>
          </a:effectLst>
        </p:spPr>
      </p:pic>
      <p:sp>
        <p:nvSpPr>
          <p:cNvPr id="2" name="TextBox 1">
            <a:extLst>
              <a:ext uri="{FF2B5EF4-FFF2-40B4-BE49-F238E27FC236}">
                <a16:creationId xmlns:a16="http://schemas.microsoft.com/office/drawing/2014/main" id="{E1D7562E-134F-D14B-AF1A-DF40E11EF758}"/>
              </a:ext>
            </a:extLst>
          </p:cNvPr>
          <p:cNvSpPr txBox="1"/>
          <p:nvPr/>
        </p:nvSpPr>
        <p:spPr>
          <a:xfrm>
            <a:off x="593248" y="1386149"/>
            <a:ext cx="11034902" cy="3046988"/>
          </a:xfrm>
          <a:prstGeom prst="rect">
            <a:avLst/>
          </a:prstGeom>
          <a:noFill/>
        </p:spPr>
        <p:txBody>
          <a:bodyPr wrap="square" rtlCol="0">
            <a:spAutoFit/>
          </a:bodyPr>
          <a:lstStyle/>
          <a:p>
            <a:r>
              <a:rPr lang="en-US" sz="2400" dirty="0">
                <a:latin typeface="Verdana" panose="020B0604030504040204" pitchFamily="34" charset="0"/>
                <a:ea typeface="Verdana" panose="020B0604030504040204" pitchFamily="34" charset="0"/>
                <a:cs typeface="Verdana" panose="020B0604030504040204" pitchFamily="34" charset="0"/>
              </a:rPr>
              <a:t>A style known as Art Deco began in Paris in the </a:t>
            </a:r>
            <a:br>
              <a:rPr lang="en-US" sz="2400" dirty="0">
                <a:latin typeface="Verdana" panose="020B0604030504040204" pitchFamily="34" charset="0"/>
                <a:ea typeface="Verdana" panose="020B0604030504040204" pitchFamily="34" charset="0"/>
                <a:cs typeface="Verdana" panose="020B0604030504040204" pitchFamily="34" charset="0"/>
              </a:rPr>
            </a:br>
            <a:r>
              <a:rPr lang="en-US" sz="2400" dirty="0">
                <a:latin typeface="Verdana" panose="020B0604030504040204" pitchFamily="34" charset="0"/>
                <a:ea typeface="Verdana" panose="020B0604030504040204" pitchFamily="34" charset="0"/>
                <a:cs typeface="Verdana" panose="020B0604030504040204" pitchFamily="34" charset="0"/>
              </a:rPr>
              <a:t>mid-1920s. Art Deco buildings are characterized by their geometric shapes and symmetry. Two of the most famous examples of Art Deco architecture are the Empire State Building and Chrysler Building in New York City.</a:t>
            </a:r>
          </a:p>
          <a:p>
            <a:r>
              <a:rPr lang="en-US" sz="2400" dirty="0">
                <a:latin typeface="Verdana" panose="020B0604030504040204" pitchFamily="34" charset="0"/>
                <a:ea typeface="Verdana" panose="020B0604030504040204" pitchFamily="34" charset="0"/>
                <a:cs typeface="Verdana" panose="020B0604030504040204" pitchFamily="34" charset="0"/>
              </a:rPr>
              <a:t> </a:t>
            </a:r>
          </a:p>
          <a:p>
            <a:r>
              <a:rPr lang="en-US" sz="2400" dirty="0">
                <a:latin typeface="Verdana" panose="020B0604030504040204" pitchFamily="34" charset="0"/>
                <a:ea typeface="Verdana" panose="020B0604030504040204" pitchFamily="34" charset="0"/>
                <a:cs typeface="Verdana" panose="020B0604030504040204" pitchFamily="34" charset="0"/>
              </a:rPr>
              <a:t>Photos of three locations in Miami that use this style of architectural design are shown.</a:t>
            </a:r>
          </a:p>
        </p:txBody>
      </p:sp>
      <p:sp>
        <p:nvSpPr>
          <p:cNvPr id="10" name="Google Shape;278;g104476d1465_1_17">
            <a:extLst>
              <a:ext uri="{FF2B5EF4-FFF2-40B4-BE49-F238E27FC236}">
                <a16:creationId xmlns:a16="http://schemas.microsoft.com/office/drawing/2014/main" id="{733F64CC-F62E-3D45-B066-56DBFBB732F6}"/>
              </a:ext>
            </a:extLst>
          </p:cNvPr>
          <p:cNvSpPr/>
          <p:nvPr/>
        </p:nvSpPr>
        <p:spPr>
          <a:xfrm>
            <a:off x="0" y="-8101"/>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9" name="Google Shape;282;g104476d1465_1_17">
            <a:extLst>
              <a:ext uri="{FF2B5EF4-FFF2-40B4-BE49-F238E27FC236}">
                <a16:creationId xmlns:a16="http://schemas.microsoft.com/office/drawing/2014/main" id="{AE6FEB9A-96AD-7A4E-A3DD-393B05A7B698}"/>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112</a:t>
            </a:r>
            <a:endParaRPr i="1" dirty="0">
              <a:latin typeface="Calibri"/>
              <a:ea typeface="Calibri"/>
              <a:cs typeface="Calibri"/>
              <a:sym typeface="Calibri"/>
            </a:endParaRPr>
          </a:p>
        </p:txBody>
      </p:sp>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14" name="TextBox 13">
            <a:extLst>
              <a:ext uri="{FF2B5EF4-FFF2-40B4-BE49-F238E27FC236}">
                <a16:creationId xmlns:a16="http://schemas.microsoft.com/office/drawing/2014/main" id="{2FA392D8-3ED3-7940-83A8-1451AA8A08D4}"/>
              </a:ext>
            </a:extLst>
          </p:cNvPr>
          <p:cNvSpPr txBox="1"/>
          <p:nvPr/>
        </p:nvSpPr>
        <p:spPr>
          <a:xfrm>
            <a:off x="465232" y="4005249"/>
            <a:ext cx="11162918" cy="1200329"/>
          </a:xfrm>
          <a:prstGeom prst="rect">
            <a:avLst/>
          </a:prstGeom>
          <a:noFill/>
        </p:spPr>
        <p:txBody>
          <a:bodyPr wrap="square" rtlCol="0">
            <a:spAutoFit/>
          </a:bodyPr>
          <a:lstStyle/>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Draw a line of symmetry on each picture.</a:t>
            </a: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Which depiction of Art Deco do you find most interesting?</a:t>
            </a:r>
          </a:p>
        </p:txBody>
      </p:sp>
      <p:sp>
        <p:nvSpPr>
          <p:cNvPr id="7" name="Google Shape;278;g104476d1465_1_17">
            <a:extLst>
              <a:ext uri="{FF2B5EF4-FFF2-40B4-BE49-F238E27FC236}">
                <a16:creationId xmlns:a16="http://schemas.microsoft.com/office/drawing/2014/main" id="{9B2481D9-8B52-C443-ABEF-765D2549936D}"/>
              </a:ext>
            </a:extLst>
          </p:cNvPr>
          <p:cNvSpPr/>
          <p:nvPr/>
        </p:nvSpPr>
        <p:spPr>
          <a:xfrm>
            <a:off x="0" y="0"/>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6" name="Picture 5">
            <a:extLst>
              <a:ext uri="{FF2B5EF4-FFF2-40B4-BE49-F238E27FC236}">
                <a16:creationId xmlns:a16="http://schemas.microsoft.com/office/drawing/2014/main" id="{1D6FB701-C0DF-2847-A835-5AAC0C992185}"/>
              </a:ext>
            </a:extLst>
          </p:cNvPr>
          <p:cNvPicPr/>
          <p:nvPr/>
        </p:nvPicPr>
        <p:blipFill rotWithShape="1">
          <a:blip r:embed="rId4" cstate="screen">
            <a:extLst>
              <a:ext uri="{28A0092B-C50C-407E-A947-70E740481C1C}">
                <a14:useLocalDpi xmlns:a14="http://schemas.microsoft.com/office/drawing/2010/main"/>
              </a:ext>
            </a:extLst>
          </a:blip>
          <a:srcRect l="9833" t="21536" r="16157" b="12937"/>
          <a:stretch/>
        </p:blipFill>
        <p:spPr bwMode="auto">
          <a:xfrm>
            <a:off x="520136" y="1122317"/>
            <a:ext cx="3609340" cy="2396490"/>
          </a:xfrm>
          <a:prstGeom prst="rect">
            <a:avLst/>
          </a:prstGeom>
          <a:ln>
            <a:noFill/>
          </a:ln>
          <a:extLst>
            <a:ext uri="{53640926-AAD7-44D8-BBD7-CCE9431645EC}">
              <a14:shadowObscured xmlns:a14="http://schemas.microsoft.com/office/drawing/2010/main"/>
            </a:ext>
          </a:extLst>
        </p:spPr>
      </p:pic>
      <p:pic>
        <p:nvPicPr>
          <p:cNvPr id="8" name="Picture 7">
            <a:extLst>
              <a:ext uri="{FF2B5EF4-FFF2-40B4-BE49-F238E27FC236}">
                <a16:creationId xmlns:a16="http://schemas.microsoft.com/office/drawing/2014/main" id="{99AE9650-E756-554F-BE80-2F69A0C88B93}"/>
              </a:ext>
            </a:extLst>
          </p:cNvPr>
          <p:cNvPicPr/>
          <p:nvPr/>
        </p:nvPicPr>
        <p:blipFill>
          <a:blip r:embed="rId5">
            <a:extLst>
              <a:ext uri="{28A0092B-C50C-407E-A947-70E740481C1C}">
                <a14:useLocalDpi xmlns:a14="http://schemas.microsoft.com/office/drawing/2010/main"/>
              </a:ext>
            </a:extLst>
          </a:blip>
          <a:stretch>
            <a:fillRect/>
          </a:stretch>
        </p:blipFill>
        <p:spPr>
          <a:xfrm>
            <a:off x="4375900" y="781323"/>
            <a:ext cx="2050415" cy="2737485"/>
          </a:xfrm>
          <a:prstGeom prst="rect">
            <a:avLst/>
          </a:prstGeom>
        </p:spPr>
      </p:pic>
      <p:pic>
        <p:nvPicPr>
          <p:cNvPr id="9" name="Picture 8" descr="A picture containing indoor, building&#10;&#10;Description automatically generated">
            <a:extLst>
              <a:ext uri="{FF2B5EF4-FFF2-40B4-BE49-F238E27FC236}">
                <a16:creationId xmlns:a16="http://schemas.microsoft.com/office/drawing/2014/main" id="{4AAD37CA-67A3-424C-BCC1-2D9A0E39C678}"/>
              </a:ext>
            </a:extLst>
          </p:cNvPr>
          <p:cNvPicPr/>
          <p:nvPr/>
        </p:nvPicPr>
        <p:blipFill>
          <a:blip r:embed="rId6" cstate="screen">
            <a:extLst>
              <a:ext uri="{28A0092B-C50C-407E-A947-70E740481C1C}">
                <a14:useLocalDpi xmlns:a14="http://schemas.microsoft.com/office/drawing/2010/main"/>
              </a:ext>
            </a:extLst>
          </a:blip>
          <a:stretch>
            <a:fillRect/>
          </a:stretch>
        </p:blipFill>
        <p:spPr>
          <a:xfrm>
            <a:off x="6672738" y="339363"/>
            <a:ext cx="2119630" cy="3179445"/>
          </a:xfrm>
          <a:prstGeom prst="rect">
            <a:avLst/>
          </a:prstGeom>
        </p:spPr>
      </p:pic>
      <p:sp>
        <p:nvSpPr>
          <p:cNvPr id="10" name="Google Shape;282;g104476d1465_1_17">
            <a:extLst>
              <a:ext uri="{FF2B5EF4-FFF2-40B4-BE49-F238E27FC236}">
                <a16:creationId xmlns:a16="http://schemas.microsoft.com/office/drawing/2014/main" id="{271D5B24-BFEC-A942-84FA-4062D328B482}"/>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112</a:t>
            </a:r>
            <a:endParaRPr i="1" dirty="0">
              <a:latin typeface="Calibri"/>
              <a:ea typeface="Calibri"/>
              <a:cs typeface="Calibri"/>
              <a:sym typeface="Calibri"/>
            </a:endParaRPr>
          </a:p>
        </p:txBody>
      </p:sp>
    </p:spTree>
    <p:extLst>
      <p:ext uri="{BB962C8B-B14F-4D97-AF65-F5344CB8AC3E}">
        <p14:creationId xmlns:p14="http://schemas.microsoft.com/office/powerpoint/2010/main" val="25982330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844350" y="2766145"/>
            <a:ext cx="439693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33BEA6"/>
                </a:solidFill>
                <a:latin typeface="Verdana"/>
                <a:ea typeface="Verdana"/>
                <a:cs typeface="Verdana"/>
                <a:sym typeface="Verdana"/>
              </a:rPr>
              <a:t>Exploration</a:t>
            </a:r>
            <a:endParaRPr sz="5100" b="1" dirty="0">
              <a:solidFill>
                <a:srgbClr val="33BEA6"/>
              </a:solidFill>
              <a:latin typeface="Verdana"/>
              <a:ea typeface="Verdana"/>
              <a:cs typeface="Verdana"/>
              <a:sym typeface="Verdana"/>
            </a:endParaRPr>
          </a:p>
        </p:txBody>
      </p:sp>
      <p:pic>
        <p:nvPicPr>
          <p:cNvPr id="1026" name="Picture 2" descr="Icon&#10;&#10;Description automatically generated">
            <a:extLst>
              <a:ext uri="{FF2B5EF4-FFF2-40B4-BE49-F238E27FC236}">
                <a16:creationId xmlns:a16="http://schemas.microsoft.com/office/drawing/2014/main" id="{467567E5-BEAF-E24A-A492-D25759172D77}"/>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4630950" y="2814305"/>
            <a:ext cx="1156228" cy="115622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8" name="Google Shape;282;g104476d1465_1_17">
            <a:extLst>
              <a:ext uri="{FF2B5EF4-FFF2-40B4-BE49-F238E27FC236}">
                <a16:creationId xmlns:a16="http://schemas.microsoft.com/office/drawing/2014/main" id="{65CD75AF-ACA8-0D43-AE0C-42EB6E402F38}"/>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112</a:t>
            </a:r>
            <a:endParaRPr i="1" dirty="0">
              <a:latin typeface="Calibri"/>
              <a:ea typeface="Calibri"/>
              <a:cs typeface="Calibri"/>
              <a:sym typeface="Calibri"/>
            </a:endParaRPr>
          </a:p>
        </p:txBody>
      </p:sp>
    </p:spTree>
    <p:extLst>
      <p:ext uri="{BB962C8B-B14F-4D97-AF65-F5344CB8AC3E}">
        <p14:creationId xmlns:p14="http://schemas.microsoft.com/office/powerpoint/2010/main" val="41969715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197267"/>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052650" y="211323"/>
            <a:ext cx="8019300" cy="662811"/>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3BEA6"/>
                </a:solidFill>
                <a:latin typeface="Verdana"/>
                <a:ea typeface="Verdana"/>
                <a:cs typeface="Verdana"/>
                <a:sym typeface="Verdana"/>
              </a:rPr>
              <a:t>2.7.2 Exploration: Proofs</a:t>
            </a:r>
          </a:p>
        </p:txBody>
      </p:sp>
      <p:pic>
        <p:nvPicPr>
          <p:cNvPr id="7" name="Picture 2" descr="Icon&#10;&#10;Description automatically generated">
            <a:extLst>
              <a:ext uri="{FF2B5EF4-FFF2-40B4-BE49-F238E27FC236}">
                <a16:creationId xmlns:a16="http://schemas.microsoft.com/office/drawing/2014/main" id="{A741EC39-D81C-A945-833B-CFC11AA40AE2}"/>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296352" y="163986"/>
            <a:ext cx="752254" cy="75225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152D1D4D-DCB8-A246-B186-D40316579D77}"/>
              </a:ext>
            </a:extLst>
          </p:cNvPr>
          <p:cNvSpPr txBox="1"/>
          <p:nvPr/>
        </p:nvSpPr>
        <p:spPr>
          <a:xfrm>
            <a:off x="593248" y="1356151"/>
            <a:ext cx="10930676" cy="4093428"/>
          </a:xfrm>
          <a:prstGeom prst="rect">
            <a:avLst/>
          </a:prstGeom>
          <a:noFill/>
        </p:spPr>
        <p:txBody>
          <a:bodyPr wrap="square" rtlCol="0">
            <a:spAutoFit/>
          </a:bodyPr>
          <a:lstStyle/>
          <a:p>
            <a:r>
              <a:rPr lang="en-US" sz="2000" dirty="0">
                <a:latin typeface="Verdana" panose="020B0604030504040204" pitchFamily="34" charset="0"/>
                <a:ea typeface="Verdana" panose="020B0604030504040204" pitchFamily="34" charset="0"/>
                <a:cs typeface="Verdana" panose="020B0604030504040204" pitchFamily="34" charset="0"/>
              </a:rPr>
              <a:t>A mathematical proof is an argument that shows something is true. A proof should begin with an assumption or a given statement.</a:t>
            </a:r>
          </a:p>
          <a:p>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A statement is given.</a:t>
            </a:r>
          </a:p>
          <a:p>
            <a:pPr marL="45720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a:r>
              <a:rPr lang="en-US" sz="2000" dirty="0">
                <a:latin typeface="Verdana" panose="020B0604030504040204" pitchFamily="34" charset="0"/>
                <a:ea typeface="Verdana" panose="020B0604030504040204" pitchFamily="34" charset="0"/>
                <a:cs typeface="Verdana" panose="020B0604030504040204" pitchFamily="34" charset="0"/>
              </a:rPr>
              <a:t>If two angles are supplementary to the same angle, then they are congruent to each other.</a:t>
            </a:r>
          </a:p>
          <a:p>
            <a:pPr marL="457200"/>
            <a:r>
              <a:rPr lang="en-US" sz="2000" dirty="0">
                <a:latin typeface="Verdana" panose="020B0604030504040204" pitchFamily="34" charset="0"/>
                <a:ea typeface="Verdana" panose="020B0604030504040204" pitchFamily="34" charset="0"/>
                <a:cs typeface="Verdana" panose="020B0604030504040204" pitchFamily="34" charset="0"/>
              </a:rPr>
              <a:t> </a:t>
            </a:r>
          </a:p>
          <a:p>
            <a:pPr marL="914400" indent="-457200">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What is the hypothesis?</a:t>
            </a:r>
          </a:p>
          <a:p>
            <a:pPr marL="914400" indent="-457200">
              <a:buFont typeface="+mj-lt"/>
              <a:buAutoNum type="alphaLcPeriod"/>
            </a:pPr>
            <a:endParaRPr lang="en-PH"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PH"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What is the conclusion?</a:t>
            </a:r>
          </a:p>
        </p:txBody>
      </p:sp>
      <p:sp>
        <p:nvSpPr>
          <p:cNvPr id="11" name="Google Shape;278;g104476d1465_1_17">
            <a:extLst>
              <a:ext uri="{FF2B5EF4-FFF2-40B4-BE49-F238E27FC236}">
                <a16:creationId xmlns:a16="http://schemas.microsoft.com/office/drawing/2014/main" id="{519FE075-E2FF-7B4C-8C80-17BA7226159F}"/>
              </a:ext>
            </a:extLst>
          </p:cNvPr>
          <p:cNvSpPr/>
          <p:nvPr/>
        </p:nvSpPr>
        <p:spPr>
          <a:xfrm>
            <a:off x="0" y="0"/>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9" name="Google Shape;282;g104476d1465_1_17">
            <a:extLst>
              <a:ext uri="{FF2B5EF4-FFF2-40B4-BE49-F238E27FC236}">
                <a16:creationId xmlns:a16="http://schemas.microsoft.com/office/drawing/2014/main" id="{C6CA33B2-44D8-624E-A056-DD1FBA4B1D65}"/>
              </a:ext>
            </a:extLst>
          </p:cNvPr>
          <p:cNvSpPr txBox="1"/>
          <p:nvPr/>
        </p:nvSpPr>
        <p:spPr>
          <a:xfrm>
            <a:off x="8889924" y="6454342"/>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112</a:t>
            </a:r>
            <a:endParaRPr i="1" dirty="0">
              <a:latin typeface="Calibri"/>
              <a:ea typeface="Calibri"/>
              <a:cs typeface="Calibri"/>
              <a:sym typeface="Calibri"/>
            </a:endParaRPr>
          </a:p>
        </p:txBody>
      </p:sp>
    </p:spTree>
    <p:extLst>
      <p:ext uri="{BB962C8B-B14F-4D97-AF65-F5344CB8AC3E}">
        <p14:creationId xmlns:p14="http://schemas.microsoft.com/office/powerpoint/2010/main" val="22352480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5" name="TextBox 4">
            <a:extLst>
              <a:ext uri="{FF2B5EF4-FFF2-40B4-BE49-F238E27FC236}">
                <a16:creationId xmlns:a16="http://schemas.microsoft.com/office/drawing/2014/main" id="{B74EB5C6-2FDE-474B-866F-02AD6706D73C}"/>
              </a:ext>
            </a:extLst>
          </p:cNvPr>
          <p:cNvSpPr txBox="1"/>
          <p:nvPr/>
        </p:nvSpPr>
        <p:spPr>
          <a:xfrm>
            <a:off x="540564" y="382315"/>
            <a:ext cx="10983359" cy="4093428"/>
          </a:xfrm>
          <a:prstGeom prst="rect">
            <a:avLst/>
          </a:prstGeom>
          <a:noFill/>
        </p:spPr>
        <p:txBody>
          <a:bodyPr wrap="square" rtlCol="0">
            <a:spAutoFit/>
          </a:bodyPr>
          <a:lstStyle/>
          <a:p>
            <a:pPr marL="914400" indent="-457200">
              <a:buFont typeface="+mj-lt"/>
              <a:buAutoNum type="alphaLcPeriod" startAt="3"/>
            </a:pPr>
            <a:r>
              <a:rPr lang="en-US" sz="2000" dirty="0">
                <a:latin typeface="Verdana" panose="020B0604030504040204" pitchFamily="34" charset="0"/>
                <a:ea typeface="Verdana" panose="020B0604030504040204" pitchFamily="34" charset="0"/>
                <a:cs typeface="Verdana" panose="020B0604030504040204" pitchFamily="34" charset="0"/>
              </a:rPr>
              <a:t>Draw a picture for the if-then statement.</a:t>
            </a:r>
          </a:p>
          <a:p>
            <a:pPr marL="914400" indent="-457200">
              <a:buFont typeface="+mj-lt"/>
              <a:buAutoNum type="alphaLcPeriod" startAt="3"/>
            </a:pPr>
            <a:endParaRPr lang="en-PH"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3"/>
            </a:pPr>
            <a:endParaRPr lang="en-PH"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3"/>
            </a:pPr>
            <a:endParaRPr lang="en-PH"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3"/>
            </a:pPr>
            <a:endParaRPr lang="en-PH"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3"/>
            </a:pPr>
            <a:endParaRPr lang="en-PH"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3"/>
            </a:pPr>
            <a:endParaRPr lang="en-US" sz="2000" dirty="0">
              <a:latin typeface="Verdana" panose="020B0604030504040204" pitchFamily="34" charset="0"/>
              <a:ea typeface="Verdana" panose="020B0604030504040204" pitchFamily="34" charset="0"/>
              <a:cs typeface="Verdana" panose="020B0604030504040204" pitchFamily="34" charset="0"/>
            </a:endParaRPr>
          </a:p>
          <a:p>
            <a:r>
              <a:rPr lang="en-US" sz="2000" dirty="0">
                <a:latin typeface="Verdana" panose="020B0604030504040204" pitchFamily="34" charset="0"/>
                <a:ea typeface="Verdana" panose="020B0604030504040204" pitchFamily="34" charset="0"/>
                <a:cs typeface="Verdana" panose="020B0604030504040204" pitchFamily="34" charset="0"/>
              </a:rPr>
              <a:t>The hypothesis is the given, or what is known to be true. </a:t>
            </a:r>
          </a:p>
          <a:p>
            <a:endParaRPr lang="en-US" sz="2000" dirty="0">
              <a:latin typeface="Verdana" panose="020B0604030504040204" pitchFamily="34" charset="0"/>
              <a:ea typeface="Verdana" panose="020B0604030504040204" pitchFamily="34" charset="0"/>
              <a:cs typeface="Verdana" panose="020B0604030504040204" pitchFamily="34" charset="0"/>
            </a:endParaRPr>
          </a:p>
          <a:p>
            <a:r>
              <a:rPr lang="en-US" sz="2000" dirty="0">
                <a:latin typeface="Verdana" panose="020B0604030504040204" pitchFamily="34" charset="0"/>
                <a:ea typeface="Verdana" panose="020B0604030504040204" pitchFamily="34" charset="0"/>
                <a:cs typeface="Verdana" panose="020B0604030504040204" pitchFamily="34" charset="0"/>
              </a:rPr>
              <a:t>The conclusion will need to be shown, or proven, using deductive reasoning.</a:t>
            </a:r>
          </a:p>
          <a:p>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4"/>
            </a:pPr>
            <a:r>
              <a:rPr lang="en-US" sz="2000" dirty="0">
                <a:latin typeface="Verdana" panose="020B0604030504040204" pitchFamily="34" charset="0"/>
                <a:ea typeface="Verdana" panose="020B0604030504040204" pitchFamily="34" charset="0"/>
                <a:cs typeface="Verdana" panose="020B0604030504040204" pitchFamily="34" charset="0"/>
              </a:rPr>
              <a:t>Discuss with your partner why inductive reasoning is not appropriate for this context. Summarize your discussion.</a:t>
            </a:r>
          </a:p>
        </p:txBody>
      </p:sp>
      <p:sp>
        <p:nvSpPr>
          <p:cNvPr id="7" name="Google Shape;278;g104476d1465_1_17">
            <a:extLst>
              <a:ext uri="{FF2B5EF4-FFF2-40B4-BE49-F238E27FC236}">
                <a16:creationId xmlns:a16="http://schemas.microsoft.com/office/drawing/2014/main" id="{44D12CB6-7E65-7742-A366-7CDB25327756}"/>
              </a:ext>
            </a:extLst>
          </p:cNvPr>
          <p:cNvSpPr/>
          <p:nvPr/>
        </p:nvSpPr>
        <p:spPr>
          <a:xfrm>
            <a:off x="0" y="0"/>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6" name="Google Shape;282;g104476d1465_1_17">
            <a:extLst>
              <a:ext uri="{FF2B5EF4-FFF2-40B4-BE49-F238E27FC236}">
                <a16:creationId xmlns:a16="http://schemas.microsoft.com/office/drawing/2014/main" id="{6931B8C0-9D4E-9945-B558-1ADD4119B2C8}"/>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112</a:t>
            </a:r>
            <a:endParaRPr i="1" dirty="0">
              <a:latin typeface="Calibri"/>
              <a:ea typeface="Calibri"/>
              <a:cs typeface="Calibri"/>
              <a:sym typeface="Calibri"/>
            </a:endParaRPr>
          </a:p>
        </p:txBody>
      </p:sp>
    </p:spTree>
    <p:extLst>
      <p:ext uri="{BB962C8B-B14F-4D97-AF65-F5344CB8AC3E}">
        <p14:creationId xmlns:p14="http://schemas.microsoft.com/office/powerpoint/2010/main" val="6878348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178385"/>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B74EB5C6-2FDE-474B-866F-02AD6706D73C}"/>
                  </a:ext>
                </a:extLst>
              </p:cNvPr>
              <p:cNvSpPr txBox="1"/>
              <p:nvPr/>
            </p:nvSpPr>
            <p:spPr>
              <a:xfrm>
                <a:off x="503868" y="405797"/>
                <a:ext cx="11124281" cy="2554545"/>
              </a:xfrm>
              <a:prstGeom prst="rect">
                <a:avLst/>
              </a:prstGeom>
              <a:noFill/>
            </p:spPr>
            <p:txBody>
              <a:bodyPr wrap="square" rtlCol="0">
                <a:spAutoFit/>
              </a:bodyPr>
              <a:lstStyle/>
              <a:p>
                <a:r>
                  <a:rPr lang="en-US" sz="2000" dirty="0">
                    <a:latin typeface="Verdana" panose="020B0604030504040204" pitchFamily="34" charset="0"/>
                    <a:ea typeface="Verdana" panose="020B0604030504040204" pitchFamily="34" charset="0"/>
                    <a:cs typeface="Verdana" panose="020B0604030504040204" pitchFamily="34" charset="0"/>
                  </a:rPr>
                  <a:t>One way to show the deductive reasoning that’s necessary to prove the conclusion is a paragraph proof. </a:t>
                </a:r>
              </a:p>
              <a:p>
                <a:endParaRPr lang="en-PH" sz="2000" dirty="0">
                  <a:latin typeface="Verdana" panose="020B0604030504040204" pitchFamily="34" charset="0"/>
                  <a:ea typeface="Verdana" panose="020B0604030504040204" pitchFamily="34" charset="0"/>
                  <a:cs typeface="Verdana" panose="020B0604030504040204" pitchFamily="34" charset="0"/>
                </a:endParaRPr>
              </a:p>
              <a:p>
                <a:endParaRPr lang="en-PH" sz="2000" dirty="0">
                  <a:latin typeface="Verdana" panose="020B0604030504040204" pitchFamily="34" charset="0"/>
                  <a:ea typeface="Verdana" panose="020B0604030504040204" pitchFamily="34" charset="0"/>
                  <a:cs typeface="Verdana" panose="020B0604030504040204" pitchFamily="34" charset="0"/>
                </a:endParaRPr>
              </a:p>
              <a:p>
                <a:endParaRPr lang="en-PH" sz="2000" dirty="0">
                  <a:latin typeface="Verdana" panose="020B0604030504040204" pitchFamily="34" charset="0"/>
                  <a:ea typeface="Verdana" panose="020B0604030504040204" pitchFamily="34" charset="0"/>
                  <a:cs typeface="Verdana" panose="020B0604030504040204" pitchFamily="34" charset="0"/>
                </a:endParaRPr>
              </a:p>
              <a:p>
                <a:endParaRPr lang="en-PH"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r>
                  <a:rPr lang="en-US" sz="2000" dirty="0">
                    <a:latin typeface="Verdana" panose="020B0604030504040204" pitchFamily="34" charset="0"/>
                    <a:ea typeface="Verdana" panose="020B0604030504040204" pitchFamily="34" charset="0"/>
                    <a:cs typeface="Verdana" panose="020B0604030504040204" pitchFamily="34" charset="0"/>
                  </a:rPr>
                  <a:t>In the diagram,</a:t>
                </a:r>
                <a14:m>
                  <m:oMath xmlns:m="http://schemas.openxmlformats.org/officeDocument/2006/math">
                    <m:r>
                      <a:rPr lang="en-US" sz="2000" i="1">
                        <a:latin typeface="Cambria Math"/>
                      </a:rPr>
                      <m:t> ∠1</m:t>
                    </m:r>
                  </m:oMath>
                </a14:m>
                <a:r>
                  <a:rPr lang="en-US" sz="2000" dirty="0">
                    <a:latin typeface="Verdana" panose="020B0604030504040204" pitchFamily="34" charset="0"/>
                    <a:ea typeface="Verdana" panose="020B0604030504040204" pitchFamily="34" charset="0"/>
                    <a:cs typeface="Verdana" panose="020B0604030504040204" pitchFamily="34" charset="0"/>
                  </a:rPr>
                  <a:t> is supplementary to </a:t>
                </a:r>
                <a14:m>
                  <m:oMath xmlns:m="http://schemas.openxmlformats.org/officeDocument/2006/math">
                    <m:r>
                      <a:rPr lang="en-US" sz="2000" i="1">
                        <a:latin typeface="Cambria Math"/>
                      </a:rPr>
                      <m:t>∠2</m:t>
                    </m:r>
                  </m:oMath>
                </a14:m>
                <a:r>
                  <a:rPr lang="en-US" sz="2000" dirty="0">
                    <a:latin typeface="Verdana" panose="020B0604030504040204" pitchFamily="34" charset="0"/>
                    <a:ea typeface="Verdana" panose="020B0604030504040204" pitchFamily="34" charset="0"/>
                    <a:cs typeface="Verdana" panose="020B0604030504040204" pitchFamily="34" charset="0"/>
                  </a:rPr>
                  <a:t>, and </a:t>
                </a:r>
                <a14:m>
                  <m:oMath xmlns:m="http://schemas.openxmlformats.org/officeDocument/2006/math">
                    <m:r>
                      <a:rPr lang="en-US" sz="2000" i="1">
                        <a:latin typeface="Cambria Math"/>
                      </a:rPr>
                      <m:t>∠1</m:t>
                    </m:r>
                  </m:oMath>
                </a14:m>
                <a:r>
                  <a:rPr lang="en-US" sz="2000" dirty="0">
                    <a:latin typeface="Verdana" panose="020B0604030504040204" pitchFamily="34" charset="0"/>
                    <a:ea typeface="Verdana" panose="020B0604030504040204" pitchFamily="34" charset="0"/>
                    <a:cs typeface="Verdana" panose="020B0604030504040204" pitchFamily="34" charset="0"/>
                  </a:rPr>
                  <a:t> is supplementary to </a:t>
                </a:r>
                <a14:m>
                  <m:oMath xmlns:m="http://schemas.openxmlformats.org/officeDocument/2006/math">
                    <m:r>
                      <a:rPr lang="en-US" sz="2000" i="1">
                        <a:latin typeface="Cambria Math"/>
                      </a:rPr>
                      <m:t>∠3</m:t>
                    </m:r>
                  </m:oMath>
                </a14:m>
                <a:r>
                  <a:rPr lang="en-US" sz="2000" dirty="0">
                    <a:latin typeface="Verdana" panose="020B0604030504040204" pitchFamily="34" charset="0"/>
                    <a:ea typeface="Verdana" panose="020B0604030504040204" pitchFamily="34" charset="0"/>
                    <a:cs typeface="Verdana" panose="020B0604030504040204" pitchFamily="34" charset="0"/>
                  </a:rPr>
                  <a:t>.</a:t>
                </a:r>
              </a:p>
            </p:txBody>
          </p:sp>
        </mc:Choice>
        <mc:Fallback xmlns="">
          <p:sp>
            <p:nvSpPr>
              <p:cNvPr id="5" name="TextBox 4">
                <a:extLst>
                  <a:ext uri="{FF2B5EF4-FFF2-40B4-BE49-F238E27FC236}">
                    <a16:creationId xmlns:a16="http://schemas.microsoft.com/office/drawing/2014/main" id="{B74EB5C6-2FDE-474B-866F-02AD6706D73C}"/>
                  </a:ext>
                </a:extLst>
              </p:cNvPr>
              <p:cNvSpPr txBox="1">
                <a:spLocks noRot="1" noChangeAspect="1" noMove="1" noResize="1" noEditPoints="1" noAdjustHandles="1" noChangeArrowheads="1" noChangeShapeType="1" noTextEdit="1"/>
              </p:cNvSpPr>
              <p:nvPr/>
            </p:nvSpPr>
            <p:spPr>
              <a:xfrm>
                <a:off x="503868" y="405797"/>
                <a:ext cx="11124281" cy="2554545"/>
              </a:xfrm>
              <a:prstGeom prst="rect">
                <a:avLst/>
              </a:prstGeom>
              <a:blipFill>
                <a:blip r:embed="rId4"/>
                <a:stretch>
                  <a:fillRect l="-603" t="-1432" r="-712" b="-3341"/>
                </a:stretch>
              </a:blipFill>
            </p:spPr>
            <p:txBody>
              <a:bodyPr/>
              <a:lstStyle/>
              <a:p>
                <a:r>
                  <a:rPr lang="en-US">
                    <a:noFill/>
                  </a:rPr>
                  <a:t> </a:t>
                </a:r>
              </a:p>
            </p:txBody>
          </p:sp>
        </mc:Fallback>
      </mc:AlternateContent>
      <p:sp>
        <p:nvSpPr>
          <p:cNvPr id="7" name="Google Shape;278;g104476d1465_1_17">
            <a:extLst>
              <a:ext uri="{FF2B5EF4-FFF2-40B4-BE49-F238E27FC236}">
                <a16:creationId xmlns:a16="http://schemas.microsoft.com/office/drawing/2014/main" id="{44D12CB6-7E65-7742-A366-7CDB25327756}"/>
              </a:ext>
            </a:extLst>
          </p:cNvPr>
          <p:cNvSpPr/>
          <p:nvPr/>
        </p:nvSpPr>
        <p:spPr>
          <a:xfrm>
            <a:off x="0" y="0"/>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grpSp>
        <p:nvGrpSpPr>
          <p:cNvPr id="6" name="Group 5">
            <a:extLst>
              <a:ext uri="{FF2B5EF4-FFF2-40B4-BE49-F238E27FC236}">
                <a16:creationId xmlns:a16="http://schemas.microsoft.com/office/drawing/2014/main" id="{A46426AC-65AD-0D4A-975C-E324DE017997}"/>
              </a:ext>
            </a:extLst>
          </p:cNvPr>
          <p:cNvGrpSpPr/>
          <p:nvPr/>
        </p:nvGrpSpPr>
        <p:grpSpPr>
          <a:xfrm>
            <a:off x="535150" y="1372060"/>
            <a:ext cx="8050626" cy="925075"/>
            <a:chOff x="0" y="-100684"/>
            <a:chExt cx="8050626" cy="925213"/>
          </a:xfrm>
        </p:grpSpPr>
        <p:grpSp>
          <p:nvGrpSpPr>
            <p:cNvPr id="8" name="Group 7">
              <a:extLst>
                <a:ext uri="{FF2B5EF4-FFF2-40B4-BE49-F238E27FC236}">
                  <a16:creationId xmlns:a16="http://schemas.microsoft.com/office/drawing/2014/main" id="{E548846C-E7C3-564D-BD30-E049FF8194E2}"/>
                </a:ext>
              </a:extLst>
            </p:cNvPr>
            <p:cNvGrpSpPr/>
            <p:nvPr/>
          </p:nvGrpSpPr>
          <p:grpSpPr>
            <a:xfrm>
              <a:off x="0" y="-100684"/>
              <a:ext cx="8050626" cy="925213"/>
              <a:chOff x="2031300" y="3286124"/>
              <a:chExt cx="8050626" cy="925213"/>
            </a:xfrm>
          </p:grpSpPr>
          <p:grpSp>
            <p:nvGrpSpPr>
              <p:cNvPr id="10" name="Group 9">
                <a:extLst>
                  <a:ext uri="{FF2B5EF4-FFF2-40B4-BE49-F238E27FC236}">
                    <a16:creationId xmlns:a16="http://schemas.microsoft.com/office/drawing/2014/main" id="{26CA5D28-2628-FF48-B748-185749C00784}"/>
                  </a:ext>
                </a:extLst>
              </p:cNvPr>
              <p:cNvGrpSpPr/>
              <p:nvPr/>
            </p:nvGrpSpPr>
            <p:grpSpPr>
              <a:xfrm>
                <a:off x="2031300" y="3286124"/>
                <a:ext cx="8050626" cy="925213"/>
                <a:chOff x="0" y="-100684"/>
                <a:chExt cx="8050626" cy="925213"/>
              </a:xfrm>
            </p:grpSpPr>
            <p:sp>
              <p:nvSpPr>
                <p:cNvPr id="11" name="Rectangle 10">
                  <a:extLst>
                    <a:ext uri="{FF2B5EF4-FFF2-40B4-BE49-F238E27FC236}">
                      <a16:creationId xmlns:a16="http://schemas.microsoft.com/office/drawing/2014/main" id="{8C12EBA5-EE3B-CC45-A6E4-949CFFE2676F}"/>
                    </a:ext>
                  </a:extLst>
                </p:cNvPr>
                <p:cNvSpPr/>
                <p:nvPr/>
              </p:nvSpPr>
              <p:spPr>
                <a:xfrm>
                  <a:off x="0" y="0"/>
                  <a:ext cx="6629400" cy="786375"/>
                </a:xfrm>
                <a:prstGeom prst="rect">
                  <a:avLst/>
                </a:prstGeom>
                <a:noFill/>
                <a:ln>
                  <a:noFill/>
                </a:ln>
              </p:spPr>
              <p:txBody>
                <a:bodyPr spcFirstLastPara="1" wrap="square" lIns="91425" tIns="91425" rIns="91425" bIns="91425" anchor="ctr" anchorCtr="0">
                  <a:noAutofit/>
                </a:bodyPr>
                <a:lstStyle/>
                <a:p>
                  <a:pPr>
                    <a:spcAft>
                      <a:spcPts val="1000"/>
                    </a:spcAft>
                  </a:pPr>
                  <a:r>
                    <a:rPr lang="en-US" sz="1200">
                      <a:solidFill>
                        <a:srgbClr val="00619E"/>
                      </a:solidFill>
                      <a:latin typeface="Cambria" panose="02040503050406030204" pitchFamily="18" charset="0"/>
                      <a:ea typeface="Times New Roman" panose="02020603050405020304" pitchFamily="18" charset="0"/>
                      <a:cs typeface="Times New Roman" panose="02020603050405020304" pitchFamily="18" charset="0"/>
                    </a:rPr>
                    <a:t> </a:t>
                  </a:r>
                  <a:endParaRPr lang="en-US" sz="1200">
                    <a:latin typeface="Cambria" panose="02040503050406030204" pitchFamily="18" charset="0"/>
                    <a:ea typeface="Times New Roman" panose="02020603050405020304" pitchFamily="18" charset="0"/>
                    <a:cs typeface="Times New Roman" panose="02020603050405020304" pitchFamily="18" charset="0"/>
                  </a:endParaRPr>
                </a:p>
              </p:txBody>
            </p:sp>
            <p:sp>
              <p:nvSpPr>
                <p:cNvPr id="13" name="Rectangle 12">
                  <a:extLst>
                    <a:ext uri="{FF2B5EF4-FFF2-40B4-BE49-F238E27FC236}">
                      <a16:creationId xmlns:a16="http://schemas.microsoft.com/office/drawing/2014/main" id="{46C0794C-8357-5844-BD85-8C84BF6F5F54}"/>
                    </a:ext>
                  </a:extLst>
                </p:cNvPr>
                <p:cNvSpPr/>
                <p:nvPr/>
              </p:nvSpPr>
              <p:spPr>
                <a:xfrm>
                  <a:off x="0" y="0"/>
                  <a:ext cx="6629400" cy="786375"/>
                </a:xfrm>
                <a:prstGeom prst="rect">
                  <a:avLst/>
                </a:prstGeom>
                <a:noFill/>
                <a:ln>
                  <a:noFill/>
                </a:ln>
              </p:spPr>
              <p:txBody>
                <a:bodyPr spcFirstLastPara="1" wrap="square" lIns="91425" tIns="91425" rIns="91425" bIns="91425" anchor="ctr" anchorCtr="0">
                  <a:noAutofit/>
                </a:bodyPr>
                <a:lstStyle/>
                <a:p>
                  <a:pPr>
                    <a:spcAft>
                      <a:spcPts val="1000"/>
                    </a:spcAft>
                  </a:pPr>
                  <a:r>
                    <a:rPr lang="en-US" sz="1200">
                      <a:solidFill>
                        <a:srgbClr val="00619E"/>
                      </a:solidFill>
                      <a:latin typeface="Cambria" panose="02040503050406030204" pitchFamily="18" charset="0"/>
                      <a:ea typeface="Times New Roman" panose="02020603050405020304" pitchFamily="18" charset="0"/>
                      <a:cs typeface="Times New Roman" panose="02020603050405020304" pitchFamily="18" charset="0"/>
                    </a:rPr>
                    <a:t> </a:t>
                  </a:r>
                  <a:endParaRPr lang="en-US" sz="1200">
                    <a:latin typeface="Cambria" panose="02040503050406030204" pitchFamily="18" charset="0"/>
                    <a:ea typeface="Times New Roman" panose="02020603050405020304" pitchFamily="18" charset="0"/>
                    <a:cs typeface="Times New Roman" panose="02020603050405020304" pitchFamily="18" charset="0"/>
                  </a:endParaRPr>
                </a:p>
              </p:txBody>
            </p:sp>
            <p:sp>
              <p:nvSpPr>
                <p:cNvPr id="14" name="Rounded Rectangle 13">
                  <a:extLst>
                    <a:ext uri="{FF2B5EF4-FFF2-40B4-BE49-F238E27FC236}">
                      <a16:creationId xmlns:a16="http://schemas.microsoft.com/office/drawing/2014/main" id="{3AF04499-7B15-E74A-A439-D995820219E7}"/>
                    </a:ext>
                  </a:extLst>
                </p:cNvPr>
                <p:cNvSpPr/>
                <p:nvPr/>
              </p:nvSpPr>
              <p:spPr>
                <a:xfrm>
                  <a:off x="0" y="-100684"/>
                  <a:ext cx="8050626" cy="925213"/>
                </a:xfrm>
                <a:prstGeom prst="roundRect">
                  <a:avLst>
                    <a:gd name="adj" fmla="val 16667"/>
                  </a:avLst>
                </a:prstGeom>
                <a:solidFill>
                  <a:srgbClr val="B8E6F5"/>
                </a:solidFill>
                <a:ln>
                  <a:noFill/>
                </a:ln>
                <a:effectLst>
                  <a:outerShdw blurRad="50800" dist="38100" dir="2700000" algn="tl" rotWithShape="0">
                    <a:prstClr val="black">
                      <a:alpha val="40000"/>
                    </a:prstClr>
                  </a:outerShdw>
                </a:effectLst>
              </p:spPr>
              <p:txBody>
                <a:bodyPr spcFirstLastPara="1" wrap="square" lIns="91425" tIns="91440" rIns="91425" bIns="0" anchor="ctr" anchorCtr="0">
                  <a:spAutoFit/>
                </a:bodyPr>
                <a:lstStyle/>
                <a:p>
                  <a:pPr marL="742950">
                    <a:spcAft>
                      <a:spcPts val="1000"/>
                    </a:spcAft>
                  </a:pPr>
                  <a:r>
                    <a:rPr lang="en-US" sz="2000" dirty="0">
                      <a:solidFill>
                        <a:srgbClr val="00619E"/>
                      </a:solidFill>
                      <a:latin typeface="Verdana" panose="020B0604030504040204" pitchFamily="34" charset="0"/>
                      <a:ea typeface="Verdana" panose="020B0604030504040204" pitchFamily="34" charset="0"/>
                      <a:cs typeface="Verdana" panose="020B0604030504040204" pitchFamily="34" charset="0"/>
                    </a:rPr>
                    <a:t>A </a:t>
                  </a:r>
                  <a:r>
                    <a:rPr lang="en-US" sz="2000" b="1" dirty="0">
                      <a:solidFill>
                        <a:srgbClr val="00619E"/>
                      </a:solidFill>
                      <a:latin typeface="Verdana" panose="020B0604030504040204" pitchFamily="34" charset="0"/>
                      <a:ea typeface="Verdana" panose="020B0604030504040204" pitchFamily="34" charset="0"/>
                      <a:cs typeface="Verdana" panose="020B0604030504040204" pitchFamily="34" charset="0"/>
                    </a:rPr>
                    <a:t>paragraph proof</a:t>
                  </a:r>
                  <a:r>
                    <a:rPr lang="en-US" sz="2000" dirty="0">
                      <a:solidFill>
                        <a:srgbClr val="00619E"/>
                      </a:solidFill>
                      <a:latin typeface="Verdana" panose="020B0604030504040204" pitchFamily="34" charset="0"/>
                      <a:ea typeface="Verdana" panose="020B0604030504040204" pitchFamily="34" charset="0"/>
                      <a:cs typeface="Verdana" panose="020B0604030504040204" pitchFamily="34" charset="0"/>
                    </a:rPr>
                    <a:t> is a narrative that gives the steps with justifications that prove a statement as true.</a:t>
                  </a:r>
                  <a:endParaRPr lang="en-US" sz="2000" dirty="0">
                    <a:latin typeface="Cambria" panose="02040503050406030204" pitchFamily="18" charset="0"/>
                    <a:ea typeface="Times New Roman" panose="02020603050405020304" pitchFamily="18" charset="0"/>
                    <a:cs typeface="Times New Roman" panose="02020603050405020304" pitchFamily="18" charset="0"/>
                  </a:endParaRPr>
                </a:p>
              </p:txBody>
            </p:sp>
          </p:grpSp>
        </p:grpSp>
        <p:pic>
          <p:nvPicPr>
            <p:cNvPr id="9" name="image15.png" descr="Icon&#10;&#10;Description automatically generated">
              <a:extLst>
                <a:ext uri="{FF2B5EF4-FFF2-40B4-BE49-F238E27FC236}">
                  <a16:creationId xmlns:a16="http://schemas.microsoft.com/office/drawing/2014/main" id="{4AB82626-9513-8C47-A667-04269100B48F}"/>
                </a:ext>
              </a:extLst>
            </p:cNvPr>
            <p:cNvPicPr/>
            <p:nvPr/>
          </p:nvPicPr>
          <p:blipFill>
            <a:blip r:embed="rId5" cstate="screen">
              <a:extLst>
                <a:ext uri="{28A0092B-C50C-407E-A947-70E740481C1C}">
                  <a14:useLocalDpi xmlns:a14="http://schemas.microsoft.com/office/drawing/2010/main"/>
                </a:ext>
              </a:extLst>
            </a:blip>
            <a:srcRect/>
            <a:stretch>
              <a:fillRect/>
            </a:stretch>
          </p:blipFill>
          <p:spPr>
            <a:xfrm>
              <a:off x="135039" y="27042"/>
              <a:ext cx="629644" cy="629644"/>
            </a:xfrm>
            <a:prstGeom prst="rect">
              <a:avLst/>
            </a:prstGeom>
            <a:ln/>
            <a:effectLst>
              <a:outerShdw blurRad="50800" dist="38100" dir="2700000" algn="tl" rotWithShape="0">
                <a:prstClr val="black">
                  <a:alpha val="40000"/>
                </a:prstClr>
              </a:outerShdw>
            </a:effectLst>
          </p:spPr>
        </p:pic>
      </p:grpSp>
      <p:pic>
        <p:nvPicPr>
          <p:cNvPr id="15" name="Picture 14">
            <a:extLst>
              <a:ext uri="{FF2B5EF4-FFF2-40B4-BE49-F238E27FC236}">
                <a16:creationId xmlns:a16="http://schemas.microsoft.com/office/drawing/2014/main" id="{D42F2088-5ADB-EE49-AD6C-E6FA200922E3}"/>
              </a:ext>
            </a:extLst>
          </p:cNvPr>
          <p:cNvPicPr/>
          <p:nvPr/>
        </p:nvPicPr>
        <p:blipFill rotWithShape="1">
          <a:blip r:embed="rId6"/>
          <a:srcRect l="4453" r="1659"/>
          <a:stretch/>
        </p:blipFill>
        <p:spPr bwMode="auto">
          <a:xfrm>
            <a:off x="582775" y="3440084"/>
            <a:ext cx="7638414" cy="2492417"/>
          </a:xfrm>
          <a:prstGeom prst="rect">
            <a:avLst/>
          </a:prstGeom>
          <a:ln>
            <a:noFill/>
          </a:ln>
          <a:extLst>
            <a:ext uri="{53640926-AAD7-44D8-BBD7-CCE9431645EC}">
              <a14:shadowObscured xmlns:a14="http://schemas.microsoft.com/office/drawing/2010/main"/>
            </a:ext>
          </a:extLst>
        </p:spPr>
      </p:pic>
      <p:sp>
        <p:nvSpPr>
          <p:cNvPr id="16" name="Google Shape;282;g104476d1465_1_17">
            <a:extLst>
              <a:ext uri="{FF2B5EF4-FFF2-40B4-BE49-F238E27FC236}">
                <a16:creationId xmlns:a16="http://schemas.microsoft.com/office/drawing/2014/main" id="{B565F83A-79D1-4D4C-B219-1B2F2A111132}"/>
              </a:ext>
            </a:extLst>
          </p:cNvPr>
          <p:cNvSpPr txBox="1"/>
          <p:nvPr/>
        </p:nvSpPr>
        <p:spPr>
          <a:xfrm>
            <a:off x="8889924" y="643546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113</a:t>
            </a:r>
            <a:endParaRPr i="1" dirty="0">
              <a:latin typeface="Calibri"/>
              <a:ea typeface="Calibri"/>
              <a:cs typeface="Calibri"/>
              <a:sym typeface="Calibri"/>
            </a:endParaRPr>
          </a:p>
        </p:txBody>
      </p:sp>
    </p:spTree>
    <p:extLst>
      <p:ext uri="{BB962C8B-B14F-4D97-AF65-F5344CB8AC3E}">
        <p14:creationId xmlns:p14="http://schemas.microsoft.com/office/powerpoint/2010/main" val="17149156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B74EB5C6-2FDE-474B-866F-02AD6706D73C}"/>
                  </a:ext>
                </a:extLst>
              </p:cNvPr>
              <p:cNvSpPr txBox="1"/>
              <p:nvPr/>
            </p:nvSpPr>
            <p:spPr>
              <a:xfrm>
                <a:off x="540565" y="382314"/>
                <a:ext cx="10446984" cy="5940088"/>
              </a:xfrm>
              <a:prstGeom prst="rect">
                <a:avLst/>
              </a:prstGeom>
              <a:noFill/>
            </p:spPr>
            <p:txBody>
              <a:bodyPr wrap="square" rtlCol="0">
                <a:spAutoFit/>
              </a:bodyPr>
              <a:lstStyle/>
              <a:p>
                <a:pPr marL="457200" indent="-457200">
                  <a:buFont typeface="+mj-lt"/>
                  <a:buAutoNum type="arabicPeriod" startAt="2"/>
                </a:pPr>
                <a:r>
                  <a:rPr lang="en-US" sz="2000" dirty="0">
                    <a:latin typeface="Verdana" panose="020B0604030504040204" pitchFamily="34" charset="0"/>
                    <a:ea typeface="Verdana" panose="020B0604030504040204" pitchFamily="34" charset="0"/>
                    <a:cs typeface="Verdana" panose="020B0604030504040204" pitchFamily="34" charset="0"/>
                  </a:rPr>
                  <a:t>Work with your partner to complete the paragraph proof.</a:t>
                </a:r>
              </a:p>
              <a:p>
                <a:pPr marL="457200" indent="-457200">
                  <a:buFont typeface="+mj-lt"/>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a:lnSpc>
                    <a:spcPct val="200000"/>
                  </a:lnSpc>
                </a:pPr>
                <a:r>
                  <a:rPr lang="en-US" sz="2000" dirty="0">
                    <a:latin typeface="Verdana" panose="020B0604030504040204" pitchFamily="34" charset="0"/>
                    <a:ea typeface="Verdana" panose="020B0604030504040204" pitchFamily="34" charset="0"/>
                    <a:cs typeface="Verdana" panose="020B0604030504040204" pitchFamily="34" charset="0"/>
                  </a:rPr>
                  <a:t>It is given that </a:t>
                </a:r>
                <a14:m>
                  <m:oMath xmlns:m="http://schemas.openxmlformats.org/officeDocument/2006/math">
                    <m:r>
                      <a:rPr lang="en-US" sz="2000" i="1">
                        <a:solidFill>
                          <a:schemeClr val="accent5"/>
                        </a:solidFill>
                        <a:latin typeface="Cambria Math"/>
                      </a:rPr>
                      <m:t>∠1</m:t>
                    </m:r>
                  </m:oMath>
                </a14:m>
                <a:r>
                  <a:rPr lang="en-US" sz="2000" dirty="0">
                    <a:solidFill>
                      <a:schemeClr val="accent5"/>
                    </a:solidFill>
                    <a:latin typeface="Verdana" panose="020B0604030504040204" pitchFamily="34" charset="0"/>
                    <a:ea typeface="Verdana" panose="020B0604030504040204" pitchFamily="34" charset="0"/>
                    <a:cs typeface="Verdana" panose="020B0604030504040204" pitchFamily="34" charset="0"/>
                  </a:rPr>
                  <a:t> </a:t>
                </a:r>
                <a:r>
                  <a:rPr lang="en-US" sz="2000" dirty="0">
                    <a:latin typeface="Verdana" panose="020B0604030504040204" pitchFamily="34" charset="0"/>
                    <a:ea typeface="Verdana" panose="020B0604030504040204" pitchFamily="34" charset="0"/>
                    <a:cs typeface="Verdana" panose="020B0604030504040204" pitchFamily="34" charset="0"/>
                  </a:rPr>
                  <a:t>is supplementary to </a:t>
                </a:r>
                <a14:m>
                  <m:oMath xmlns:m="http://schemas.openxmlformats.org/officeDocument/2006/math">
                    <m:r>
                      <a:rPr lang="en-US" sz="2000" i="1">
                        <a:solidFill>
                          <a:srgbClr val="FF0000"/>
                        </a:solidFill>
                        <a:latin typeface="Cambria Math"/>
                      </a:rPr>
                      <m:t>∠2</m:t>
                    </m:r>
                  </m:oMath>
                </a14:m>
                <a:r>
                  <a:rPr lang="en-US" sz="2000" dirty="0">
                    <a:latin typeface="Verdana" panose="020B0604030504040204" pitchFamily="34" charset="0"/>
                    <a:ea typeface="Verdana" panose="020B0604030504040204" pitchFamily="34" charset="0"/>
                    <a:cs typeface="Verdana" panose="020B0604030504040204" pitchFamily="34" charset="0"/>
                  </a:rPr>
                  <a:t>, and </a:t>
                </a:r>
                <a14:m>
                  <m:oMath xmlns:m="http://schemas.openxmlformats.org/officeDocument/2006/math">
                    <m:r>
                      <a:rPr lang="en-US" sz="2000" i="1">
                        <a:solidFill>
                          <a:schemeClr val="accent5"/>
                        </a:solidFill>
                        <a:latin typeface="Cambria Math"/>
                      </a:rPr>
                      <m:t>∠1</m:t>
                    </m:r>
                  </m:oMath>
                </a14:m>
                <a:r>
                  <a:rPr lang="en-US" sz="2000" dirty="0">
                    <a:solidFill>
                      <a:schemeClr val="accent5"/>
                    </a:solidFill>
                    <a:latin typeface="Verdana" panose="020B0604030504040204" pitchFamily="34" charset="0"/>
                    <a:ea typeface="Verdana" panose="020B0604030504040204" pitchFamily="34" charset="0"/>
                    <a:cs typeface="Verdana" panose="020B0604030504040204" pitchFamily="34" charset="0"/>
                  </a:rPr>
                  <a:t> </a:t>
                </a:r>
                <a:r>
                  <a:rPr lang="en-US" sz="2000" dirty="0">
                    <a:latin typeface="Verdana" panose="020B0604030504040204" pitchFamily="34" charset="0"/>
                    <a:ea typeface="Verdana" panose="020B0604030504040204" pitchFamily="34" charset="0"/>
                    <a:cs typeface="Verdana" panose="020B0604030504040204" pitchFamily="34" charset="0"/>
                  </a:rPr>
                  <a:t>is supplementary to </a:t>
                </a:r>
                <a14:m>
                  <m:oMath xmlns:m="http://schemas.openxmlformats.org/officeDocument/2006/math">
                    <m:r>
                      <a:rPr lang="en-US" sz="2000" i="1">
                        <a:solidFill>
                          <a:srgbClr val="00B050"/>
                        </a:solidFill>
                        <a:latin typeface="Cambria Math"/>
                      </a:rPr>
                      <m:t>∠3</m:t>
                    </m:r>
                  </m:oMath>
                </a14:m>
                <a:r>
                  <a:rPr lang="en-US" sz="2000" dirty="0">
                    <a:latin typeface="Verdana" panose="020B0604030504040204" pitchFamily="34" charset="0"/>
                    <a:ea typeface="Verdana" panose="020B0604030504040204" pitchFamily="34" charset="0"/>
                    <a:cs typeface="Verdana" panose="020B0604030504040204" pitchFamily="34" charset="0"/>
                  </a:rPr>
                  <a:t>. By definition of _________________ angles </a:t>
                </a:r>
                <a14:m>
                  <m:oMath xmlns:m="http://schemas.openxmlformats.org/officeDocument/2006/math">
                    <m:r>
                      <a:rPr lang="en-US" sz="2000" i="1">
                        <a:latin typeface="Cambria Math"/>
                      </a:rPr>
                      <m:t>𝑚</m:t>
                    </m:r>
                    <m:r>
                      <a:rPr lang="en-US" sz="2000" i="1">
                        <a:solidFill>
                          <a:schemeClr val="accent5"/>
                        </a:solidFill>
                        <a:latin typeface="Cambria Math"/>
                      </a:rPr>
                      <m:t>∠1</m:t>
                    </m:r>
                    <m:r>
                      <a:rPr lang="en-US" sz="2000" i="1">
                        <a:latin typeface="Cambria Math"/>
                      </a:rPr>
                      <m:t>+</m:t>
                    </m:r>
                    <m:r>
                      <a:rPr lang="en-US" sz="2000" i="1">
                        <a:latin typeface="Cambria Math"/>
                      </a:rPr>
                      <m:t>𝑚</m:t>
                    </m:r>
                    <m:r>
                      <a:rPr lang="en-US" sz="2000" i="1">
                        <a:solidFill>
                          <a:srgbClr val="FF0000"/>
                        </a:solidFill>
                        <a:latin typeface="Cambria Math"/>
                      </a:rPr>
                      <m:t>∠2</m:t>
                    </m:r>
                    <m:r>
                      <a:rPr lang="en-US" sz="2000" i="1">
                        <a:latin typeface="Cambria Math"/>
                      </a:rPr>
                      <m:t>=180°</m:t>
                    </m:r>
                  </m:oMath>
                </a14:m>
                <a:r>
                  <a:rPr lang="en-US" sz="2000" dirty="0">
                    <a:latin typeface="Verdana" panose="020B0604030504040204" pitchFamily="34" charset="0"/>
                    <a:ea typeface="Verdana" panose="020B0604030504040204" pitchFamily="34" charset="0"/>
                    <a:cs typeface="Verdana" panose="020B0604030504040204" pitchFamily="34" charset="0"/>
                  </a:rPr>
                  <a:t> and ______________=</a:t>
                </a:r>
                <a14:m>
                  <m:oMath xmlns:m="http://schemas.openxmlformats.org/officeDocument/2006/math">
                    <m:r>
                      <a:rPr lang="en-US" sz="2000" i="1">
                        <a:latin typeface="Cambria Math"/>
                      </a:rPr>
                      <m:t>180°</m:t>
                    </m:r>
                  </m:oMath>
                </a14:m>
                <a:r>
                  <a:rPr lang="en-US" sz="2000" dirty="0">
                    <a:latin typeface="Verdana" panose="020B0604030504040204" pitchFamily="34" charset="0"/>
                    <a:ea typeface="Verdana" panose="020B0604030504040204" pitchFamily="34" charset="0"/>
                    <a:cs typeface="Verdana" panose="020B0604030504040204" pitchFamily="34" charset="0"/>
                  </a:rPr>
                  <a:t>. </a:t>
                </a:r>
              </a:p>
              <a:p>
                <a:pPr marL="457200">
                  <a:lnSpc>
                    <a:spcPct val="200000"/>
                  </a:lnSpc>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a:lnSpc>
                    <a:spcPct val="200000"/>
                  </a:lnSpc>
                </a:pPr>
                <a:r>
                  <a:rPr lang="en-US" sz="2000" dirty="0">
                    <a:latin typeface="Verdana" panose="020B0604030504040204" pitchFamily="34" charset="0"/>
                    <a:ea typeface="Verdana" panose="020B0604030504040204" pitchFamily="34" charset="0"/>
                    <a:cs typeface="Verdana" panose="020B0604030504040204" pitchFamily="34" charset="0"/>
                  </a:rPr>
                  <a:t>Since </a:t>
                </a:r>
                <a14:m>
                  <m:oMath xmlns:m="http://schemas.openxmlformats.org/officeDocument/2006/math">
                    <m:r>
                      <a:rPr lang="en-US" sz="2000" i="1">
                        <a:latin typeface="Cambria Math"/>
                      </a:rPr>
                      <m:t>𝑚</m:t>
                    </m:r>
                    <m:r>
                      <a:rPr lang="en-US" sz="2000" i="1">
                        <a:solidFill>
                          <a:schemeClr val="accent5"/>
                        </a:solidFill>
                        <a:latin typeface="Cambria Math"/>
                      </a:rPr>
                      <m:t>∠1</m:t>
                    </m:r>
                    <m:r>
                      <a:rPr lang="en-US" sz="2000" i="1">
                        <a:latin typeface="Cambria Math"/>
                      </a:rPr>
                      <m:t>+</m:t>
                    </m:r>
                    <m:r>
                      <a:rPr lang="en-US" sz="2000" i="1">
                        <a:latin typeface="Cambria Math"/>
                      </a:rPr>
                      <m:t>𝑚</m:t>
                    </m:r>
                    <m:r>
                      <a:rPr lang="en-US" sz="2000" i="1">
                        <a:solidFill>
                          <a:srgbClr val="FF0000"/>
                        </a:solidFill>
                        <a:latin typeface="Cambria Math"/>
                      </a:rPr>
                      <m:t>∠2</m:t>
                    </m:r>
                    <m:r>
                      <a:rPr lang="en-US" sz="2000" i="1">
                        <a:latin typeface="Cambria Math"/>
                      </a:rPr>
                      <m:t>=180°</m:t>
                    </m:r>
                  </m:oMath>
                </a14:m>
                <a:r>
                  <a:rPr lang="en-US" sz="2000" dirty="0">
                    <a:latin typeface="Verdana" panose="020B0604030504040204" pitchFamily="34" charset="0"/>
                    <a:ea typeface="Verdana" panose="020B0604030504040204" pitchFamily="34" charset="0"/>
                    <a:cs typeface="Verdana" panose="020B0604030504040204" pitchFamily="34" charset="0"/>
                  </a:rPr>
                  <a:t> and </a:t>
                </a:r>
                <a14:m>
                  <m:oMath xmlns:m="http://schemas.openxmlformats.org/officeDocument/2006/math">
                    <m:r>
                      <a:rPr lang="en-US" sz="2000" i="1">
                        <a:latin typeface="Cambria Math"/>
                      </a:rPr>
                      <m:t>180°</m:t>
                    </m:r>
                  </m:oMath>
                </a14:m>
                <a:r>
                  <a:rPr lang="en-US" sz="2000" dirty="0">
                    <a:latin typeface="Verdana" panose="020B0604030504040204" pitchFamily="34" charset="0"/>
                    <a:ea typeface="Verdana" panose="020B0604030504040204" pitchFamily="34" charset="0"/>
                    <a:cs typeface="Verdana" panose="020B0604030504040204" pitchFamily="34" charset="0"/>
                  </a:rPr>
                  <a:t> = __________, then </a:t>
                </a:r>
                <a14:m>
                  <m:oMath xmlns:m="http://schemas.openxmlformats.org/officeDocument/2006/math">
                    <m:r>
                      <a:rPr lang="en-US" sz="2000" i="1">
                        <a:latin typeface="Cambria Math"/>
                      </a:rPr>
                      <m:t>𝑚</m:t>
                    </m:r>
                    <m:r>
                      <a:rPr lang="en-US" sz="2000" i="1">
                        <a:solidFill>
                          <a:schemeClr val="accent5"/>
                        </a:solidFill>
                        <a:latin typeface="Cambria Math"/>
                      </a:rPr>
                      <m:t>∠1</m:t>
                    </m:r>
                    <m:r>
                      <a:rPr lang="en-US" sz="2000" i="1">
                        <a:latin typeface="Cambria Math"/>
                      </a:rPr>
                      <m:t>+</m:t>
                    </m:r>
                    <m:r>
                      <a:rPr lang="en-US" sz="2000" i="1">
                        <a:latin typeface="Cambria Math"/>
                      </a:rPr>
                      <m:t>𝑚</m:t>
                    </m:r>
                    <m:r>
                      <a:rPr lang="en-US" sz="2000" i="1">
                        <a:solidFill>
                          <a:srgbClr val="FF0000"/>
                        </a:solidFill>
                        <a:latin typeface="Cambria Math"/>
                      </a:rPr>
                      <m:t>∠2</m:t>
                    </m:r>
                    <m:r>
                      <a:rPr lang="en-US" sz="2000" i="1">
                        <a:latin typeface="Cambria Math"/>
                      </a:rPr>
                      <m:t>=</m:t>
                    </m:r>
                  </m:oMath>
                </a14:m>
                <a:r>
                  <a:rPr lang="en-US" sz="2000" dirty="0">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r>
                      <a:rPr lang="en-US" sz="2000" i="1" u="words">
                        <a:solidFill>
                          <a:schemeClr val="tx1"/>
                        </a:solidFill>
                        <a:latin typeface="Cambria Math"/>
                      </a:rPr>
                      <m:t>_______________________</m:t>
                    </m:r>
                  </m:oMath>
                </a14:m>
                <a:r>
                  <a:rPr lang="en-US" sz="2000" dirty="0">
                    <a:latin typeface="Verdana" panose="020B0604030504040204" pitchFamily="34" charset="0"/>
                    <a:ea typeface="Verdana" panose="020B0604030504040204" pitchFamily="34" charset="0"/>
                    <a:cs typeface="Verdana" panose="020B0604030504040204" pitchFamily="34" charset="0"/>
                  </a:rPr>
                  <a:t> by the transitive property. The result of applying the subtraction property of equality is </a:t>
                </a:r>
                <a14:m>
                  <m:oMath xmlns:m="http://schemas.openxmlformats.org/officeDocument/2006/math">
                    <m:r>
                      <a:rPr lang="en-US" sz="2000" i="1">
                        <a:latin typeface="Cambria Math"/>
                      </a:rPr>
                      <m:t>𝑚</m:t>
                    </m:r>
                    <m:r>
                      <a:rPr lang="en-US" sz="2000" i="1">
                        <a:solidFill>
                          <a:srgbClr val="FF0000"/>
                        </a:solidFill>
                        <a:latin typeface="Cambria Math"/>
                      </a:rPr>
                      <m:t>∠2</m:t>
                    </m:r>
                    <m:r>
                      <a:rPr lang="en-US" sz="2000" i="1">
                        <a:latin typeface="Cambria Math"/>
                      </a:rPr>
                      <m:t>=</m:t>
                    </m:r>
                  </m:oMath>
                </a14:m>
                <a:r>
                  <a:rPr lang="en-US" sz="2000" dirty="0">
                    <a:latin typeface="Verdana" panose="020B0604030504040204" pitchFamily="34" charset="0"/>
                    <a:ea typeface="Verdana" panose="020B0604030504040204" pitchFamily="34" charset="0"/>
                    <a:cs typeface="Verdana" panose="020B0604030504040204" pitchFamily="34" charset="0"/>
                  </a:rPr>
                  <a:t>_________. By definition of congruence, </a:t>
                </a:r>
                <a14:m>
                  <m:oMath xmlns:m="http://schemas.openxmlformats.org/officeDocument/2006/math">
                    <m:r>
                      <a:rPr lang="en-US" sz="2000" i="1">
                        <a:solidFill>
                          <a:srgbClr val="FF0000"/>
                        </a:solidFill>
                        <a:latin typeface="Cambria Math"/>
                      </a:rPr>
                      <m:t>∠2</m:t>
                    </m:r>
                    <m:r>
                      <a:rPr lang="en-US" sz="2000" i="1">
                        <a:latin typeface="Cambria Math"/>
                      </a:rPr>
                      <m:t>≅</m:t>
                    </m:r>
                    <m:r>
                      <a:rPr lang="en-US" sz="2000" i="1">
                        <a:solidFill>
                          <a:srgbClr val="00B050"/>
                        </a:solidFill>
                        <a:latin typeface="Cambria Math"/>
                      </a:rPr>
                      <m:t>∠3</m:t>
                    </m:r>
                  </m:oMath>
                </a14:m>
                <a:r>
                  <a:rPr lang="en-US" sz="2000" dirty="0">
                    <a:latin typeface="Verdana" panose="020B0604030504040204" pitchFamily="34" charset="0"/>
                    <a:ea typeface="Verdana" panose="020B0604030504040204" pitchFamily="34" charset="0"/>
                    <a:cs typeface="Verdana" panose="020B0604030504040204" pitchFamily="34" charset="0"/>
                  </a:rPr>
                  <a:t>. </a:t>
                </a: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5" name="TextBox 4">
                <a:extLst>
                  <a:ext uri="{FF2B5EF4-FFF2-40B4-BE49-F238E27FC236}">
                    <a16:creationId xmlns:a16="http://schemas.microsoft.com/office/drawing/2014/main" id="{B74EB5C6-2FDE-474B-866F-02AD6706D73C}"/>
                  </a:ext>
                </a:extLst>
              </p:cNvPr>
              <p:cNvSpPr txBox="1">
                <a:spLocks noRot="1" noChangeAspect="1" noMove="1" noResize="1" noEditPoints="1" noAdjustHandles="1" noChangeArrowheads="1" noChangeShapeType="1" noTextEdit="1"/>
              </p:cNvSpPr>
              <p:nvPr/>
            </p:nvSpPr>
            <p:spPr>
              <a:xfrm>
                <a:off x="540565" y="382314"/>
                <a:ext cx="10446984" cy="5940088"/>
              </a:xfrm>
              <a:prstGeom prst="rect">
                <a:avLst/>
              </a:prstGeom>
              <a:blipFill>
                <a:blip r:embed="rId4"/>
                <a:stretch>
                  <a:fillRect l="-642" t="-719"/>
                </a:stretch>
              </a:blipFill>
            </p:spPr>
            <p:txBody>
              <a:bodyPr/>
              <a:lstStyle/>
              <a:p>
                <a:r>
                  <a:rPr lang="en-US">
                    <a:noFill/>
                  </a:rPr>
                  <a:t> </a:t>
                </a:r>
              </a:p>
            </p:txBody>
          </p:sp>
        </mc:Fallback>
      </mc:AlternateContent>
      <p:sp>
        <p:nvSpPr>
          <p:cNvPr id="7" name="Google Shape;278;g104476d1465_1_17">
            <a:extLst>
              <a:ext uri="{FF2B5EF4-FFF2-40B4-BE49-F238E27FC236}">
                <a16:creationId xmlns:a16="http://schemas.microsoft.com/office/drawing/2014/main" id="{44D12CB6-7E65-7742-A366-7CDB25327756}"/>
              </a:ext>
            </a:extLst>
          </p:cNvPr>
          <p:cNvSpPr/>
          <p:nvPr/>
        </p:nvSpPr>
        <p:spPr>
          <a:xfrm>
            <a:off x="0" y="0"/>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6" name="Google Shape;282;g104476d1465_1_17">
            <a:extLst>
              <a:ext uri="{FF2B5EF4-FFF2-40B4-BE49-F238E27FC236}">
                <a16:creationId xmlns:a16="http://schemas.microsoft.com/office/drawing/2014/main" id="{D803B860-8CD4-7446-A0E6-418B5FF7D3ED}"/>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113</a:t>
            </a:r>
            <a:endParaRPr i="1" dirty="0">
              <a:latin typeface="Calibri"/>
              <a:ea typeface="Calibri"/>
              <a:cs typeface="Calibri"/>
              <a:sym typeface="Calibri"/>
            </a:endParaRPr>
          </a:p>
        </p:txBody>
      </p:sp>
    </p:spTree>
    <p:extLst>
      <p:ext uri="{BB962C8B-B14F-4D97-AF65-F5344CB8AC3E}">
        <p14:creationId xmlns:p14="http://schemas.microsoft.com/office/powerpoint/2010/main" val="38993973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5" name="TextBox 4">
            <a:extLst>
              <a:ext uri="{FF2B5EF4-FFF2-40B4-BE49-F238E27FC236}">
                <a16:creationId xmlns:a16="http://schemas.microsoft.com/office/drawing/2014/main" id="{B74EB5C6-2FDE-474B-866F-02AD6706D73C}"/>
              </a:ext>
            </a:extLst>
          </p:cNvPr>
          <p:cNvSpPr txBox="1"/>
          <p:nvPr/>
        </p:nvSpPr>
        <p:spPr>
          <a:xfrm>
            <a:off x="540565" y="382315"/>
            <a:ext cx="8327136" cy="2554545"/>
          </a:xfrm>
          <a:prstGeom prst="rect">
            <a:avLst/>
          </a:prstGeom>
          <a:noFill/>
        </p:spPr>
        <p:txBody>
          <a:bodyPr wrap="square" rtlCol="0">
            <a:spAutoFit/>
          </a:bodyPr>
          <a:lstStyle/>
          <a:p>
            <a:r>
              <a:rPr lang="en-US" sz="2000" dirty="0">
                <a:latin typeface="Verdana" panose="020B0604030504040204" pitchFamily="34" charset="0"/>
                <a:ea typeface="Verdana" panose="020B0604030504040204" pitchFamily="34" charset="0"/>
                <a:cs typeface="Verdana" panose="020B0604030504040204" pitchFamily="34" charset="0"/>
              </a:rPr>
              <a:t>Another type of proof is the two-column proof.</a:t>
            </a: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3"/>
            </a:pPr>
            <a:r>
              <a:rPr lang="en-US" sz="2000" dirty="0">
                <a:latin typeface="Verdana" panose="020B0604030504040204" pitchFamily="34" charset="0"/>
                <a:ea typeface="Verdana" panose="020B0604030504040204" pitchFamily="34" charset="0"/>
                <a:cs typeface="Verdana" panose="020B0604030504040204" pitchFamily="34" charset="0"/>
              </a:rPr>
              <a:t>Complete the two-column proof.</a:t>
            </a:r>
          </a:p>
        </p:txBody>
      </p:sp>
      <p:sp>
        <p:nvSpPr>
          <p:cNvPr id="7" name="Google Shape;278;g104476d1465_1_17">
            <a:extLst>
              <a:ext uri="{FF2B5EF4-FFF2-40B4-BE49-F238E27FC236}">
                <a16:creationId xmlns:a16="http://schemas.microsoft.com/office/drawing/2014/main" id="{44D12CB6-7E65-7742-A366-7CDB25327756}"/>
              </a:ext>
            </a:extLst>
          </p:cNvPr>
          <p:cNvSpPr/>
          <p:nvPr/>
        </p:nvSpPr>
        <p:spPr>
          <a:xfrm>
            <a:off x="0" y="0"/>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Rounded Rectangle 7">
            <a:extLst>
              <a:ext uri="{FF2B5EF4-FFF2-40B4-BE49-F238E27FC236}">
                <a16:creationId xmlns:a16="http://schemas.microsoft.com/office/drawing/2014/main" id="{2B2251C6-DAC8-AF4D-B00A-A79E050B6410}"/>
              </a:ext>
            </a:extLst>
          </p:cNvPr>
          <p:cNvSpPr/>
          <p:nvPr/>
        </p:nvSpPr>
        <p:spPr>
          <a:xfrm>
            <a:off x="636752" y="945456"/>
            <a:ext cx="7049573" cy="1265595"/>
          </a:xfrm>
          <a:prstGeom prst="roundRect">
            <a:avLst>
              <a:gd name="adj" fmla="val 16667"/>
            </a:avLst>
          </a:prstGeom>
          <a:solidFill>
            <a:srgbClr val="B8E6F5"/>
          </a:solidFill>
          <a:ln>
            <a:noFill/>
          </a:ln>
          <a:effectLst>
            <a:outerShdw blurRad="50800" dist="38100" dir="2700000" algn="tl" rotWithShape="0">
              <a:prstClr val="black">
                <a:alpha val="40000"/>
              </a:prstClr>
            </a:outerShdw>
          </a:effectLst>
        </p:spPr>
        <p:txBody>
          <a:bodyPr spcFirstLastPara="1" wrap="square" lIns="91425" tIns="91440" rIns="91425" bIns="0" anchor="ctr" anchorCtr="0">
            <a:spAutoFit/>
          </a:bodyPr>
          <a:lstStyle/>
          <a:p>
            <a:pPr marL="742950">
              <a:spcAft>
                <a:spcPts val="1000"/>
              </a:spcAft>
            </a:pPr>
            <a:r>
              <a:rPr lang="en-US" sz="2000" dirty="0">
                <a:solidFill>
                  <a:srgbClr val="00619E"/>
                </a:solidFill>
                <a:latin typeface="Verdana" panose="020B0604030504040204" pitchFamily="34" charset="0"/>
                <a:ea typeface="Verdana" panose="020B0604030504040204" pitchFamily="34" charset="0"/>
                <a:cs typeface="Verdana" panose="020B0604030504040204" pitchFamily="34" charset="0"/>
              </a:rPr>
              <a:t>A </a:t>
            </a:r>
            <a:r>
              <a:rPr lang="en-US" sz="2000" b="1" dirty="0">
                <a:solidFill>
                  <a:srgbClr val="00619E"/>
                </a:solidFill>
                <a:latin typeface="Verdana" panose="020B0604030504040204" pitchFamily="34" charset="0"/>
                <a:ea typeface="Verdana" panose="020B0604030504040204" pitchFamily="34" charset="0"/>
                <a:cs typeface="Verdana" panose="020B0604030504040204" pitchFamily="34" charset="0"/>
              </a:rPr>
              <a:t>two-column proof </a:t>
            </a:r>
            <a:r>
              <a:rPr lang="en-US" sz="2000" dirty="0">
                <a:solidFill>
                  <a:srgbClr val="00619E"/>
                </a:solidFill>
                <a:latin typeface="Verdana" panose="020B0604030504040204" pitchFamily="34" charset="0"/>
                <a:ea typeface="Verdana" panose="020B0604030504040204" pitchFamily="34" charset="0"/>
                <a:cs typeface="Verdana" panose="020B0604030504040204" pitchFamily="34" charset="0"/>
              </a:rPr>
              <a:t>consists of two columns of a chronological list of steps, called statements, and justifications, called reasons.</a:t>
            </a:r>
            <a:endParaRPr lang="en-US" sz="2000" dirty="0">
              <a:latin typeface="Cambria" panose="02040503050406030204" pitchFamily="18" charset="0"/>
              <a:ea typeface="Times New Roman" panose="02020603050405020304" pitchFamily="18" charset="0"/>
              <a:cs typeface="Times New Roman" panose="02020603050405020304" pitchFamily="18" charset="0"/>
            </a:endParaRPr>
          </a:p>
        </p:txBody>
      </p:sp>
      <p:pic>
        <p:nvPicPr>
          <p:cNvPr id="9" name="image15.png" descr="Icon&#10;&#10;Description automatically generated">
            <a:extLst>
              <a:ext uri="{FF2B5EF4-FFF2-40B4-BE49-F238E27FC236}">
                <a16:creationId xmlns:a16="http://schemas.microsoft.com/office/drawing/2014/main" id="{1EC86253-3A32-C042-8292-EB2A2F404A6D}"/>
              </a:ext>
            </a:extLst>
          </p:cNvPr>
          <p:cNvPicPr/>
          <p:nvPr/>
        </p:nvPicPr>
        <p:blipFill>
          <a:blip r:embed="rId4" cstate="screen">
            <a:extLst>
              <a:ext uri="{28A0092B-C50C-407E-A947-70E740481C1C}">
                <a14:useLocalDpi xmlns:a14="http://schemas.microsoft.com/office/drawing/2010/main"/>
              </a:ext>
            </a:extLst>
          </a:blip>
          <a:srcRect/>
          <a:stretch>
            <a:fillRect/>
          </a:stretch>
        </p:blipFill>
        <p:spPr>
          <a:xfrm>
            <a:off x="777658" y="1133752"/>
            <a:ext cx="630484" cy="630484"/>
          </a:xfrm>
          <a:prstGeom prst="rect">
            <a:avLst/>
          </a:prstGeom>
          <a:ln/>
          <a:effectLst>
            <a:outerShdw blurRad="50800" dist="38100" dir="2700000" algn="tl" rotWithShape="0">
              <a:prstClr val="black">
                <a:alpha val="40000"/>
              </a:prstClr>
            </a:outerShdw>
          </a:effectLst>
        </p:spPr>
      </p:pic>
      <mc:AlternateContent xmlns:mc="http://schemas.openxmlformats.org/markup-compatibility/2006" xmlns:a14="http://schemas.microsoft.com/office/drawing/2010/main">
        <mc:Choice Requires="a14">
          <p:graphicFrame>
            <p:nvGraphicFramePr>
              <p:cNvPr id="3" name="Table 2">
                <a:extLst>
                  <a:ext uri="{FF2B5EF4-FFF2-40B4-BE49-F238E27FC236}">
                    <a16:creationId xmlns:a16="http://schemas.microsoft.com/office/drawing/2014/main" id="{AC3DB2EE-5B2C-8341-AC44-4103BF9EED5A}"/>
                  </a:ext>
                </a:extLst>
              </p:cNvPr>
              <p:cNvGraphicFramePr>
                <a:graphicFrameLocks noGrp="1"/>
              </p:cNvGraphicFramePr>
              <p:nvPr>
                <p:extLst>
                  <p:ext uri="{D42A27DB-BD31-4B8C-83A1-F6EECF244321}">
                    <p14:modId xmlns:p14="http://schemas.microsoft.com/office/powerpoint/2010/main" val="3000015279"/>
                  </p:ext>
                </p:extLst>
              </p:nvPr>
            </p:nvGraphicFramePr>
            <p:xfrm>
              <a:off x="1121476" y="3075274"/>
              <a:ext cx="7611413" cy="2717522"/>
            </p:xfrm>
            <a:graphic>
              <a:graphicData uri="http://schemas.openxmlformats.org/drawingml/2006/table">
                <a:tbl>
                  <a:tblPr firstRow="1" firstCol="1" bandRow="1">
                    <a:tableStyleId>{A91F0D33-8C57-4600-99A7-42BC86742BE1}</a:tableStyleId>
                  </a:tblPr>
                  <a:tblGrid>
                    <a:gridCol w="3960767">
                      <a:extLst>
                        <a:ext uri="{9D8B030D-6E8A-4147-A177-3AD203B41FA5}">
                          <a16:colId xmlns:a16="http://schemas.microsoft.com/office/drawing/2014/main" val="3320496122"/>
                        </a:ext>
                      </a:extLst>
                    </a:gridCol>
                    <a:gridCol w="3650646">
                      <a:extLst>
                        <a:ext uri="{9D8B030D-6E8A-4147-A177-3AD203B41FA5}">
                          <a16:colId xmlns:a16="http://schemas.microsoft.com/office/drawing/2014/main" val="1801170958"/>
                        </a:ext>
                      </a:extLst>
                    </a:gridCol>
                  </a:tblGrid>
                  <a:tr h="250528">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Statement</a:t>
                          </a: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Reason</a:t>
                          </a: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extLst>
                      <a:ext uri="{0D108BD9-81ED-4DB2-BD59-A6C34878D82A}">
                        <a16:rowId xmlns:a16="http://schemas.microsoft.com/office/drawing/2014/main" val="3567101801"/>
                      </a:ext>
                    </a:extLst>
                  </a:tr>
                  <a:tr h="801157">
                    <a:tc>
                      <a:txBody>
                        <a:bodyPr/>
                        <a:lstStyle/>
                        <a:p>
                          <a:pPr marL="0" marR="0">
                            <a:lnSpc>
                              <a:spcPct val="115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1. </a:t>
                          </a:r>
                          <a14:m>
                            <m:oMath xmlns:m="http://schemas.openxmlformats.org/officeDocument/2006/math">
                              <m:r>
                                <a:rPr lang="en-US" sz="2000" smtClean="0">
                                  <a:solidFill>
                                    <a:schemeClr val="accent5"/>
                                  </a:solidFill>
                                  <a:effectLst/>
                                  <a:latin typeface="Cambria Math"/>
                                </a:rPr>
                                <m:t>∠1</m:t>
                              </m:r>
                            </m:oMath>
                          </a14:m>
                          <a:r>
                            <a:rPr lang="en-US" sz="2000" dirty="0">
                              <a:solidFill>
                                <a:schemeClr val="accent5"/>
                              </a:solidFill>
                              <a:effectLst/>
                              <a:latin typeface="Verdana" panose="020B0604030504040204" pitchFamily="34" charset="0"/>
                              <a:ea typeface="Verdana" panose="020B0604030504040204" pitchFamily="34" charset="0"/>
                              <a:cs typeface="Verdana" panose="020B0604030504040204" pitchFamily="34" charset="0"/>
                            </a:rPr>
                            <a:t> </a:t>
                          </a:r>
                          <a:r>
                            <a:rPr lang="en-US" sz="2000" dirty="0">
                              <a:effectLst/>
                              <a:latin typeface="Verdana" panose="020B0604030504040204" pitchFamily="34" charset="0"/>
                              <a:ea typeface="Verdana" panose="020B0604030504040204" pitchFamily="34" charset="0"/>
                              <a:cs typeface="Verdana" panose="020B0604030504040204" pitchFamily="34" charset="0"/>
                            </a:rPr>
                            <a:t>is supplementary to </a:t>
                          </a:r>
                          <a14:m>
                            <m:oMath xmlns:m="http://schemas.openxmlformats.org/officeDocument/2006/math">
                              <m:r>
                                <a:rPr lang="en-US" sz="2000" smtClean="0">
                                  <a:solidFill>
                                    <a:srgbClr val="FF0000"/>
                                  </a:solidFill>
                                  <a:effectLst/>
                                  <a:latin typeface="Cambria Math"/>
                                </a:rPr>
                                <m:t>∠2</m:t>
                              </m:r>
                            </m:oMath>
                          </a14:m>
                          <a:r>
                            <a:rPr lang="en-US" sz="2000" dirty="0">
                              <a:effectLst/>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r>
                                <a:rPr lang="en-US" sz="2000" smtClean="0">
                                  <a:solidFill>
                                    <a:schemeClr val="accent5"/>
                                  </a:solidFill>
                                  <a:effectLst/>
                                  <a:latin typeface="Cambria Math"/>
                                </a:rPr>
                                <m:t>∠1</m:t>
                              </m:r>
                            </m:oMath>
                          </a14:m>
                          <a:r>
                            <a:rPr lang="en-US" sz="2000" dirty="0">
                              <a:solidFill>
                                <a:schemeClr val="accent5"/>
                              </a:solidFill>
                              <a:effectLst/>
                              <a:latin typeface="Verdana" panose="020B0604030504040204" pitchFamily="34" charset="0"/>
                              <a:ea typeface="Verdana" panose="020B0604030504040204" pitchFamily="34" charset="0"/>
                              <a:cs typeface="Verdana" panose="020B0604030504040204" pitchFamily="34" charset="0"/>
                            </a:rPr>
                            <a:t> </a:t>
                          </a:r>
                          <a:r>
                            <a:rPr lang="en-US" sz="2000" dirty="0">
                              <a:effectLst/>
                              <a:latin typeface="Verdana" panose="020B0604030504040204" pitchFamily="34" charset="0"/>
                              <a:ea typeface="Verdana" panose="020B0604030504040204" pitchFamily="34" charset="0"/>
                              <a:cs typeface="Verdana" panose="020B0604030504040204" pitchFamily="34" charset="0"/>
                            </a:rPr>
                            <a:t>is supplementary to </a:t>
                          </a:r>
                          <a14:m>
                            <m:oMath xmlns:m="http://schemas.openxmlformats.org/officeDocument/2006/math">
                              <m:r>
                                <a:rPr lang="en-US" sz="2000" smtClean="0">
                                  <a:solidFill>
                                    <a:srgbClr val="00B050"/>
                                  </a:solidFill>
                                  <a:effectLst/>
                                  <a:latin typeface="Cambria Math"/>
                                </a:rPr>
                                <m:t>∠3</m:t>
                              </m:r>
                            </m:oMath>
                          </a14:m>
                          <a:endParaRPr lang="en-US" sz="2000" dirty="0">
                            <a:effectLst/>
                            <a:latin typeface="Verdana" panose="020B0604030504040204" pitchFamily="34" charset="0"/>
                            <a:ea typeface="Verdana" panose="020B0604030504040204" pitchFamily="34" charset="0"/>
                            <a:cs typeface="Verdana" panose="020B0604030504040204" pitchFamily="34" charset="0"/>
                          </a:endParaRPr>
                        </a:p>
                      </a:txBody>
                      <a:tcPr marT="91440" marB="914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nSpc>
                              <a:spcPct val="115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1. Given</a:t>
                          </a:r>
                        </a:p>
                      </a:txBody>
                      <a:tcPr marT="91440" marB="914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83652237"/>
                      </a:ext>
                    </a:extLst>
                  </a:tr>
                  <a:tr h="798713">
                    <a:tc>
                      <a:txBody>
                        <a:bodyPr/>
                        <a:lstStyle/>
                        <a:p>
                          <a:pPr marL="0" marR="0">
                            <a:lnSpc>
                              <a:spcPct val="115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2. </a:t>
                          </a:r>
                          <a14:m>
                            <m:oMath xmlns:m="http://schemas.openxmlformats.org/officeDocument/2006/math">
                              <m:r>
                                <a:rPr lang="en-US" sz="2000">
                                  <a:effectLst/>
                                  <a:latin typeface="Cambria Math"/>
                                </a:rPr>
                                <m:t>𝑚</m:t>
                              </m:r>
                              <m:r>
                                <a:rPr lang="en-US" sz="2000" smtClean="0">
                                  <a:solidFill>
                                    <a:schemeClr val="accent5"/>
                                  </a:solidFill>
                                  <a:effectLst/>
                                  <a:latin typeface="Cambria Math"/>
                                </a:rPr>
                                <m:t>∠1</m:t>
                              </m:r>
                              <m:r>
                                <a:rPr lang="en-US" sz="2000">
                                  <a:effectLst/>
                                  <a:latin typeface="Cambria Math"/>
                                </a:rPr>
                                <m:t>+</m:t>
                              </m:r>
                              <m:r>
                                <a:rPr lang="en-US" sz="2000">
                                  <a:effectLst/>
                                  <a:latin typeface="Cambria Math"/>
                                </a:rPr>
                                <m:t>𝑚</m:t>
                              </m:r>
                              <m:r>
                                <a:rPr lang="en-US" sz="2000" smtClean="0">
                                  <a:solidFill>
                                    <a:srgbClr val="FF0000"/>
                                  </a:solidFill>
                                  <a:effectLst/>
                                  <a:latin typeface="Cambria Math"/>
                                </a:rPr>
                                <m:t>∠2</m:t>
                              </m:r>
                              <m:r>
                                <a:rPr lang="en-US" sz="2000">
                                  <a:effectLst/>
                                  <a:latin typeface="Cambria Math"/>
                                </a:rPr>
                                <m:t>=180°</m:t>
                              </m:r>
                            </m:oMath>
                          </a14:m>
                          <a:endParaRPr lang="en-US" sz="2000" dirty="0">
                            <a:effectLst/>
                            <a:latin typeface="Verdana" panose="020B0604030504040204" pitchFamily="34" charset="0"/>
                            <a:ea typeface="Verdana" panose="020B0604030504040204" pitchFamily="34" charset="0"/>
                            <a:cs typeface="Verdana" panose="020B0604030504040204" pitchFamily="34" charset="0"/>
                          </a:endParaRPr>
                        </a:p>
                        <a:p>
                          <a:pPr marL="0" marR="0">
                            <a:lnSpc>
                              <a:spcPct val="115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___________</a:t>
                          </a:r>
                          <a14:m>
                            <m:oMath xmlns:m="http://schemas.openxmlformats.org/officeDocument/2006/math">
                              <m:r>
                                <a:rPr lang="en-US" sz="2000">
                                  <a:effectLst/>
                                  <a:latin typeface="Cambria Math"/>
                                </a:rPr>
                                <m:t>=180°</m:t>
                              </m:r>
                            </m:oMath>
                          </a14:m>
                          <a:endParaRPr lang="en-US" sz="2000" dirty="0">
                            <a:effectLst/>
                            <a:latin typeface="Verdana" panose="020B0604030504040204" pitchFamily="34" charset="0"/>
                            <a:ea typeface="Verdana" panose="020B0604030504040204" pitchFamily="34" charset="0"/>
                            <a:cs typeface="Verdana" panose="020B0604030504040204" pitchFamily="34" charset="0"/>
                          </a:endParaRPr>
                        </a:p>
                      </a:txBody>
                      <a:tcPr marT="91440" marB="914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nSpc>
                              <a:spcPct val="115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2. Definition of ______________angles</a:t>
                          </a:r>
                        </a:p>
                      </a:txBody>
                      <a:tcPr marT="91440" marB="914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35275506"/>
                      </a:ext>
                    </a:extLst>
                  </a:tr>
                  <a:tr h="525756">
                    <a:tc>
                      <a:txBody>
                        <a:bodyPr/>
                        <a:lstStyle/>
                        <a:p>
                          <a:pPr marL="0" marR="0">
                            <a:lnSpc>
                              <a:spcPct val="115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3. </a:t>
                          </a:r>
                          <a14:m>
                            <m:oMath xmlns:m="http://schemas.openxmlformats.org/officeDocument/2006/math">
                              <m:r>
                                <a:rPr lang="en-US" sz="2000">
                                  <a:effectLst/>
                                  <a:latin typeface="Cambria Math"/>
                                </a:rPr>
                                <m:t>𝑚</m:t>
                              </m:r>
                              <m:r>
                                <a:rPr lang="en-US" sz="2000" smtClean="0">
                                  <a:solidFill>
                                    <a:schemeClr val="accent5"/>
                                  </a:solidFill>
                                  <a:effectLst/>
                                  <a:latin typeface="Cambria Math"/>
                                </a:rPr>
                                <m:t>∠1</m:t>
                              </m:r>
                              <m:r>
                                <a:rPr lang="en-US" sz="2000">
                                  <a:effectLst/>
                                  <a:latin typeface="Cambria Math"/>
                                </a:rPr>
                                <m:t>+</m:t>
                              </m:r>
                              <m:r>
                                <a:rPr lang="en-US" sz="2000">
                                  <a:effectLst/>
                                  <a:latin typeface="Cambria Math"/>
                                </a:rPr>
                                <m:t>𝑚</m:t>
                              </m:r>
                              <m:r>
                                <a:rPr lang="en-US" sz="2000" smtClean="0">
                                  <a:solidFill>
                                    <a:srgbClr val="FF0000"/>
                                  </a:solidFill>
                                  <a:effectLst/>
                                  <a:latin typeface="Cambria Math"/>
                                </a:rPr>
                                <m:t>∠2</m:t>
                              </m:r>
                              <m:r>
                                <a:rPr lang="en-US" sz="2000">
                                  <a:effectLst/>
                                  <a:latin typeface="Cambria Math"/>
                                </a:rPr>
                                <m:t>=</m:t>
                              </m:r>
                            </m:oMath>
                          </a14:m>
                          <a:r>
                            <a:rPr lang="en-US" sz="2000" dirty="0">
                              <a:effectLst/>
                              <a:latin typeface="Verdana" panose="020B0604030504040204" pitchFamily="34" charset="0"/>
                              <a:ea typeface="Verdana" panose="020B0604030504040204" pitchFamily="34" charset="0"/>
                              <a:cs typeface="Verdana" panose="020B0604030504040204" pitchFamily="34" charset="0"/>
                            </a:rPr>
                            <a:t>__________</a:t>
                          </a:r>
                        </a:p>
                      </a:txBody>
                      <a:tcPr marT="91440" marB="914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nSpc>
                              <a:spcPct val="115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3. Transitive property</a:t>
                          </a:r>
                        </a:p>
                      </a:txBody>
                      <a:tcPr marT="91440" marB="914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95569397"/>
                      </a:ext>
                    </a:extLst>
                  </a:tr>
                </a:tbl>
              </a:graphicData>
            </a:graphic>
          </p:graphicFrame>
        </mc:Choice>
        <mc:Fallback xmlns="">
          <p:graphicFrame>
            <p:nvGraphicFramePr>
              <p:cNvPr id="3" name="Table 2">
                <a:extLst>
                  <a:ext uri="{FF2B5EF4-FFF2-40B4-BE49-F238E27FC236}">
                    <a16:creationId xmlns:a16="http://schemas.microsoft.com/office/drawing/2014/main" id="{AC3DB2EE-5B2C-8341-AC44-4103BF9EED5A}"/>
                  </a:ext>
                </a:extLst>
              </p:cNvPr>
              <p:cNvGraphicFramePr>
                <a:graphicFrameLocks noGrp="1"/>
              </p:cNvGraphicFramePr>
              <p:nvPr>
                <p:extLst>
                  <p:ext uri="{D42A27DB-BD31-4B8C-83A1-F6EECF244321}">
                    <p14:modId xmlns:p14="http://schemas.microsoft.com/office/powerpoint/2010/main" val="3000015279"/>
                  </p:ext>
                </p:extLst>
              </p:nvPr>
            </p:nvGraphicFramePr>
            <p:xfrm>
              <a:off x="1121476" y="3075274"/>
              <a:ext cx="7611413" cy="2717522"/>
            </p:xfrm>
            <a:graphic>
              <a:graphicData uri="http://schemas.openxmlformats.org/drawingml/2006/table">
                <a:tbl>
                  <a:tblPr firstRow="1" firstCol="1" bandRow="1">
                    <a:tableStyleId>{A91F0D33-8C57-4600-99A7-42BC86742BE1}</a:tableStyleId>
                  </a:tblPr>
                  <a:tblGrid>
                    <a:gridCol w="3960767">
                      <a:extLst>
                        <a:ext uri="{9D8B030D-6E8A-4147-A177-3AD203B41FA5}">
                          <a16:colId xmlns:a16="http://schemas.microsoft.com/office/drawing/2014/main" val="3320496122"/>
                        </a:ext>
                      </a:extLst>
                    </a:gridCol>
                    <a:gridCol w="3650646">
                      <a:extLst>
                        <a:ext uri="{9D8B030D-6E8A-4147-A177-3AD203B41FA5}">
                          <a16:colId xmlns:a16="http://schemas.microsoft.com/office/drawing/2014/main" val="1801170958"/>
                        </a:ext>
                      </a:extLst>
                    </a:gridCol>
                  </a:tblGrid>
                  <a:tr h="48768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Statement</a:t>
                          </a: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Reason</a:t>
                          </a: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extLst>
                      <a:ext uri="{0D108BD9-81ED-4DB2-BD59-A6C34878D82A}">
                        <a16:rowId xmlns:a16="http://schemas.microsoft.com/office/drawing/2014/main" val="3567101801"/>
                      </a:ext>
                    </a:extLst>
                  </a:tr>
                  <a:tr h="852043">
                    <a:tc>
                      <a:txBody>
                        <a:bodyPr/>
                        <a:lstStyle/>
                        <a:p>
                          <a:endParaRPr lang="en-US"/>
                        </a:p>
                      </a:txBody>
                      <a:tcPr marT="91440" marB="914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5"/>
                          <a:stretch>
                            <a:fillRect l="-154" t="-57857" r="-92615" b="-166429"/>
                          </a:stretch>
                        </a:blipFill>
                      </a:tcPr>
                    </a:tc>
                    <a:tc>
                      <a:txBody>
                        <a:bodyPr/>
                        <a:lstStyle/>
                        <a:p>
                          <a:pPr marL="0" marR="0">
                            <a:lnSpc>
                              <a:spcPct val="115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1. Given</a:t>
                          </a:r>
                        </a:p>
                      </a:txBody>
                      <a:tcPr marT="91440" marB="914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83652237"/>
                      </a:ext>
                    </a:extLst>
                  </a:tr>
                  <a:tr h="852043">
                    <a:tc>
                      <a:txBody>
                        <a:bodyPr/>
                        <a:lstStyle/>
                        <a:p>
                          <a:endParaRPr lang="en-US"/>
                        </a:p>
                      </a:txBody>
                      <a:tcPr marT="91440" marB="914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5"/>
                          <a:stretch>
                            <a:fillRect l="-154" t="-156738" r="-92615" b="-65248"/>
                          </a:stretch>
                        </a:blipFill>
                      </a:tcPr>
                    </a:tc>
                    <a:tc>
                      <a:txBody>
                        <a:bodyPr/>
                        <a:lstStyle/>
                        <a:p>
                          <a:pPr marL="0" marR="0">
                            <a:lnSpc>
                              <a:spcPct val="115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2. Definition of ______________angles</a:t>
                          </a:r>
                        </a:p>
                      </a:txBody>
                      <a:tcPr marT="91440" marB="914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35275506"/>
                      </a:ext>
                    </a:extLst>
                  </a:tr>
                  <a:tr h="525756">
                    <a:tc>
                      <a:txBody>
                        <a:bodyPr/>
                        <a:lstStyle/>
                        <a:p>
                          <a:endParaRPr lang="en-US"/>
                        </a:p>
                      </a:txBody>
                      <a:tcPr marT="91440" marB="914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5"/>
                          <a:stretch>
                            <a:fillRect l="-154" t="-420930" r="-92615" b="-6977"/>
                          </a:stretch>
                        </a:blipFill>
                      </a:tcPr>
                    </a:tc>
                    <a:tc>
                      <a:txBody>
                        <a:bodyPr/>
                        <a:lstStyle/>
                        <a:p>
                          <a:pPr marL="0" marR="0">
                            <a:lnSpc>
                              <a:spcPct val="115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3. Transitive property</a:t>
                          </a:r>
                        </a:p>
                      </a:txBody>
                      <a:tcPr marT="91440" marB="914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95569397"/>
                      </a:ext>
                    </a:extLst>
                  </a:tr>
                </a:tbl>
              </a:graphicData>
            </a:graphic>
          </p:graphicFrame>
        </mc:Fallback>
      </mc:AlternateContent>
      <p:sp>
        <p:nvSpPr>
          <p:cNvPr id="10" name="Google Shape;282;g104476d1465_1_17">
            <a:extLst>
              <a:ext uri="{FF2B5EF4-FFF2-40B4-BE49-F238E27FC236}">
                <a16:creationId xmlns:a16="http://schemas.microsoft.com/office/drawing/2014/main" id="{76E16D62-5AB4-994E-8BDB-405AACB90D2F}"/>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113</a:t>
            </a:r>
            <a:endParaRPr i="1" dirty="0">
              <a:latin typeface="Calibri"/>
              <a:ea typeface="Calibri"/>
              <a:cs typeface="Calibri"/>
              <a:sym typeface="Calibri"/>
            </a:endParaRPr>
          </a:p>
        </p:txBody>
      </p:sp>
    </p:spTree>
    <p:extLst>
      <p:ext uri="{BB962C8B-B14F-4D97-AF65-F5344CB8AC3E}">
        <p14:creationId xmlns:p14="http://schemas.microsoft.com/office/powerpoint/2010/main" val="2894172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278;g104476d1465_1_17">
            <a:extLst>
              <a:ext uri="{FF2B5EF4-FFF2-40B4-BE49-F238E27FC236}">
                <a16:creationId xmlns:a16="http://schemas.microsoft.com/office/drawing/2014/main" id="{44D12CB6-7E65-7742-A366-7CDB25327756}"/>
              </a:ext>
            </a:extLst>
          </p:cNvPr>
          <p:cNvSpPr/>
          <p:nvPr/>
        </p:nvSpPr>
        <p:spPr>
          <a:xfrm>
            <a:off x="0" y="-8101"/>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graphicFrame>
            <p:nvGraphicFramePr>
              <p:cNvPr id="3" name="Table 2">
                <a:extLst>
                  <a:ext uri="{FF2B5EF4-FFF2-40B4-BE49-F238E27FC236}">
                    <a16:creationId xmlns:a16="http://schemas.microsoft.com/office/drawing/2014/main" id="{AC3DB2EE-5B2C-8341-AC44-4103BF9EED5A}"/>
                  </a:ext>
                </a:extLst>
              </p:cNvPr>
              <p:cNvGraphicFramePr>
                <a:graphicFrameLocks noGrp="1"/>
              </p:cNvGraphicFramePr>
              <p:nvPr>
                <p:extLst>
                  <p:ext uri="{D42A27DB-BD31-4B8C-83A1-F6EECF244321}">
                    <p14:modId xmlns:p14="http://schemas.microsoft.com/office/powerpoint/2010/main" val="2950967907"/>
                  </p:ext>
                </p:extLst>
              </p:nvPr>
            </p:nvGraphicFramePr>
            <p:xfrm>
              <a:off x="1121476" y="374213"/>
              <a:ext cx="7611413" cy="1824292"/>
            </p:xfrm>
            <a:graphic>
              <a:graphicData uri="http://schemas.openxmlformats.org/drawingml/2006/table">
                <a:tbl>
                  <a:tblPr firstRow="1" firstCol="1" bandRow="1">
                    <a:tableStyleId>{A91F0D33-8C57-4600-99A7-42BC86742BE1}</a:tableStyleId>
                  </a:tblPr>
                  <a:tblGrid>
                    <a:gridCol w="3960767">
                      <a:extLst>
                        <a:ext uri="{9D8B030D-6E8A-4147-A177-3AD203B41FA5}">
                          <a16:colId xmlns:a16="http://schemas.microsoft.com/office/drawing/2014/main" val="3320496122"/>
                        </a:ext>
                      </a:extLst>
                    </a:gridCol>
                    <a:gridCol w="3650646">
                      <a:extLst>
                        <a:ext uri="{9D8B030D-6E8A-4147-A177-3AD203B41FA5}">
                          <a16:colId xmlns:a16="http://schemas.microsoft.com/office/drawing/2014/main" val="1801170958"/>
                        </a:ext>
                      </a:extLst>
                    </a:gridCol>
                  </a:tblGrid>
                  <a:tr h="250528">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Statement</a:t>
                          </a: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Reason</a:t>
                          </a: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extLst>
                      <a:ext uri="{0D108BD9-81ED-4DB2-BD59-A6C34878D82A}">
                        <a16:rowId xmlns:a16="http://schemas.microsoft.com/office/drawing/2014/main" val="3567101801"/>
                      </a:ext>
                    </a:extLst>
                  </a:tr>
                  <a:tr h="523312">
                    <a:tc>
                      <a:txBody>
                        <a:bodyPr/>
                        <a:lstStyle/>
                        <a:p>
                          <a:pPr marL="0" marR="0">
                            <a:lnSpc>
                              <a:spcPct val="115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4. </a:t>
                          </a:r>
                          <a14:m>
                            <m:oMath xmlns:m="http://schemas.openxmlformats.org/officeDocument/2006/math">
                              <m:r>
                                <a:rPr lang="en-US" sz="2000">
                                  <a:effectLst/>
                                  <a:latin typeface="Cambria Math"/>
                                </a:rPr>
                                <m:t>𝑚</m:t>
                              </m:r>
                              <m:r>
                                <a:rPr lang="en-US" sz="2000" smtClean="0">
                                  <a:solidFill>
                                    <a:srgbClr val="FF0000"/>
                                  </a:solidFill>
                                  <a:effectLst/>
                                  <a:latin typeface="Cambria Math"/>
                                </a:rPr>
                                <m:t>∠2</m:t>
                              </m:r>
                              <m:r>
                                <a:rPr lang="en-US" sz="2000">
                                  <a:effectLst/>
                                  <a:latin typeface="Cambria Math"/>
                                </a:rPr>
                                <m:t>=</m:t>
                              </m:r>
                            </m:oMath>
                          </a14:m>
                          <a:r>
                            <a:rPr lang="en-US" sz="2000" dirty="0">
                              <a:effectLst/>
                              <a:latin typeface="Verdana" panose="020B0604030504040204" pitchFamily="34" charset="0"/>
                              <a:ea typeface="Verdana" panose="020B0604030504040204" pitchFamily="34" charset="0"/>
                              <a:cs typeface="Verdana" panose="020B0604030504040204" pitchFamily="34" charset="0"/>
                            </a:rPr>
                            <a:t>_____</a:t>
                          </a:r>
                        </a:p>
                      </a:txBody>
                      <a:tcPr marT="91440" marB="914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nSpc>
                              <a:spcPct val="115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4. Subtraction property of equality</a:t>
                          </a:r>
                        </a:p>
                      </a:txBody>
                      <a:tcPr marT="91440" marB="914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22560304"/>
                      </a:ext>
                    </a:extLst>
                  </a:tr>
                  <a:tr h="480660">
                    <a:tc>
                      <a:txBody>
                        <a:bodyPr/>
                        <a:lstStyle/>
                        <a:p>
                          <a:r>
                            <a:rPr lang="en-US" sz="2000" dirty="0">
                              <a:effectLst/>
                              <a:latin typeface="Verdana" panose="020B0604030504040204" pitchFamily="34" charset="0"/>
                              <a:ea typeface="Verdana" panose="020B0604030504040204" pitchFamily="34" charset="0"/>
                              <a:cs typeface="Verdana" panose="020B0604030504040204" pitchFamily="34" charset="0"/>
                            </a:rPr>
                            <a:t>5.</a:t>
                          </a:r>
                          <a:r>
                            <a:rPr lang="en-US" sz="2000" b="0" i="0" u="none" strike="noStrike" cap="none" dirty="0">
                              <a:solidFill>
                                <a:srgbClr val="000000"/>
                              </a:solidFill>
                              <a:effectLst/>
                              <a:latin typeface="Verdana" panose="020B0604030504040204" pitchFamily="34" charset="0"/>
                              <a:ea typeface="Verdana" panose="020B0604030504040204" pitchFamily="34" charset="0"/>
                              <a:cs typeface="Verdana" panose="020B0604030504040204" pitchFamily="34" charset="0"/>
                              <a:sym typeface="Arial"/>
                            </a:rPr>
                            <a:t> </a:t>
                          </a:r>
                          <a14:m>
                            <m:oMath xmlns:m="http://schemas.openxmlformats.org/officeDocument/2006/math">
                              <m:r>
                                <a:rPr lang="en-US" sz="2000" b="0" i="1" u="none" strike="noStrike" cap="none" smtClean="0">
                                  <a:solidFill>
                                    <a:srgbClr val="FF0000"/>
                                  </a:solidFill>
                                  <a:effectLst/>
                                  <a:latin typeface="Cambria Math"/>
                                  <a:ea typeface="Arial"/>
                                  <a:cs typeface="Arial"/>
                                  <a:sym typeface="Arial"/>
                                </a:rPr>
                                <m:t>∠2</m:t>
                              </m:r>
                              <m:r>
                                <a:rPr lang="en-US" sz="2000" b="0" i="1" u="none" strike="noStrike" cap="none">
                                  <a:solidFill>
                                    <a:srgbClr val="000000"/>
                                  </a:solidFill>
                                  <a:effectLst/>
                                  <a:latin typeface="Cambria Math"/>
                                  <a:ea typeface="Arial"/>
                                  <a:cs typeface="Arial"/>
                                  <a:sym typeface="Arial"/>
                                </a:rPr>
                                <m:t>≅</m:t>
                              </m:r>
                              <m:r>
                                <a:rPr lang="en-US" sz="2000" b="0" i="1" u="none" strike="noStrike" cap="none" smtClean="0">
                                  <a:solidFill>
                                    <a:srgbClr val="00B050"/>
                                  </a:solidFill>
                                  <a:effectLst/>
                                  <a:latin typeface="Cambria Math"/>
                                  <a:ea typeface="Arial"/>
                                  <a:cs typeface="Arial"/>
                                  <a:sym typeface="Arial"/>
                                </a:rPr>
                                <m:t>∠3</m:t>
                              </m:r>
                            </m:oMath>
                          </a14:m>
                          <a:r>
                            <a:rPr lang="en-US" sz="2000" dirty="0">
                              <a:solidFill>
                                <a:srgbClr val="00B050"/>
                              </a:solidFill>
                              <a:effectLst/>
                              <a:latin typeface="Verdana" panose="020B0604030504040204" pitchFamily="34" charset="0"/>
                              <a:ea typeface="Verdana" panose="020B0604030504040204" pitchFamily="34" charset="0"/>
                              <a:cs typeface="Verdana" panose="020B0604030504040204" pitchFamily="34" charset="0"/>
                            </a:rPr>
                            <a:t> </a:t>
                          </a:r>
                          <a:endParaRPr lang="en-US" sz="2000" dirty="0">
                            <a:latin typeface="Verdana" panose="020B0604030504040204" pitchFamily="34" charset="0"/>
                            <a:ea typeface="Verdana" panose="020B0604030504040204" pitchFamily="34" charset="0"/>
                            <a:cs typeface="Verdana" panose="020B0604030504040204" pitchFamily="34" charset="0"/>
                          </a:endParaRPr>
                        </a:p>
                      </a:txBody>
                      <a:tcPr marT="91440" marB="914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2000" dirty="0">
                              <a:latin typeface="Verdana" panose="020B0604030504040204" pitchFamily="34" charset="0"/>
                              <a:ea typeface="Verdana" panose="020B0604030504040204" pitchFamily="34" charset="0"/>
                              <a:cs typeface="Verdana" panose="020B0604030504040204" pitchFamily="34" charset="0"/>
                            </a:rPr>
                            <a:t>5. Definition of congruence</a:t>
                          </a:r>
                        </a:p>
                      </a:txBody>
                      <a:tcPr marT="91440" marB="914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66325309"/>
                      </a:ext>
                    </a:extLst>
                  </a:tr>
                </a:tbl>
              </a:graphicData>
            </a:graphic>
          </p:graphicFrame>
        </mc:Choice>
        <mc:Fallback xmlns="">
          <p:graphicFrame>
            <p:nvGraphicFramePr>
              <p:cNvPr id="3" name="Table 2">
                <a:extLst>
                  <a:ext uri="{FF2B5EF4-FFF2-40B4-BE49-F238E27FC236}">
                    <a16:creationId xmlns:a16="http://schemas.microsoft.com/office/drawing/2014/main" id="{AC3DB2EE-5B2C-8341-AC44-4103BF9EED5A}"/>
                  </a:ext>
                </a:extLst>
              </p:cNvPr>
              <p:cNvGraphicFramePr>
                <a:graphicFrameLocks noGrp="1"/>
              </p:cNvGraphicFramePr>
              <p:nvPr>
                <p:extLst>
                  <p:ext uri="{D42A27DB-BD31-4B8C-83A1-F6EECF244321}">
                    <p14:modId xmlns:p14="http://schemas.microsoft.com/office/powerpoint/2010/main" val="2950967907"/>
                  </p:ext>
                </p:extLst>
              </p:nvPr>
            </p:nvGraphicFramePr>
            <p:xfrm>
              <a:off x="1121476" y="374213"/>
              <a:ext cx="7611413" cy="1824292"/>
            </p:xfrm>
            <a:graphic>
              <a:graphicData uri="http://schemas.openxmlformats.org/drawingml/2006/table">
                <a:tbl>
                  <a:tblPr firstRow="1" firstCol="1" bandRow="1">
                    <a:tableStyleId>{A91F0D33-8C57-4600-99A7-42BC86742BE1}</a:tableStyleId>
                  </a:tblPr>
                  <a:tblGrid>
                    <a:gridCol w="3960767">
                      <a:extLst>
                        <a:ext uri="{9D8B030D-6E8A-4147-A177-3AD203B41FA5}">
                          <a16:colId xmlns:a16="http://schemas.microsoft.com/office/drawing/2014/main" val="3320496122"/>
                        </a:ext>
                      </a:extLst>
                    </a:gridCol>
                    <a:gridCol w="3650646">
                      <a:extLst>
                        <a:ext uri="{9D8B030D-6E8A-4147-A177-3AD203B41FA5}">
                          <a16:colId xmlns:a16="http://schemas.microsoft.com/office/drawing/2014/main" val="1801170958"/>
                        </a:ext>
                      </a:extLst>
                    </a:gridCol>
                  </a:tblGrid>
                  <a:tr h="48768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Statement</a:t>
                          </a: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Reason</a:t>
                          </a: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extLst>
                      <a:ext uri="{0D108BD9-81ED-4DB2-BD59-A6C34878D82A}">
                        <a16:rowId xmlns:a16="http://schemas.microsoft.com/office/drawing/2014/main" val="3567101801"/>
                      </a:ext>
                    </a:extLst>
                  </a:tr>
                  <a:tr h="848932">
                    <a:tc>
                      <a:txBody>
                        <a:bodyPr/>
                        <a:lstStyle/>
                        <a:p>
                          <a:endParaRPr lang="en-US"/>
                        </a:p>
                      </a:txBody>
                      <a:tcPr marT="91440" marB="914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4"/>
                          <a:stretch>
                            <a:fillRect l="-154" t="-57857" r="-92615" b="-64286"/>
                          </a:stretch>
                        </a:blipFill>
                      </a:tcPr>
                    </a:tc>
                    <a:tc>
                      <a:txBody>
                        <a:bodyPr/>
                        <a:lstStyle/>
                        <a:p>
                          <a:pPr marL="0" marR="0">
                            <a:lnSpc>
                              <a:spcPct val="115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4. Subtraction property of equality</a:t>
                          </a:r>
                        </a:p>
                      </a:txBody>
                      <a:tcPr marT="91440" marB="914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22560304"/>
                      </a:ext>
                    </a:extLst>
                  </a:tr>
                  <a:tr h="487680">
                    <a:tc>
                      <a:txBody>
                        <a:bodyPr/>
                        <a:lstStyle/>
                        <a:p>
                          <a:endParaRPr lang="en-US"/>
                        </a:p>
                      </a:txBody>
                      <a:tcPr marT="91440" marB="914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4"/>
                          <a:stretch>
                            <a:fillRect l="-154" t="-276250" r="-92615" b="-12500"/>
                          </a:stretch>
                        </a:blipFill>
                      </a:tcPr>
                    </a:tc>
                    <a:tc>
                      <a:txBody>
                        <a:bodyPr/>
                        <a:lstStyle/>
                        <a:p>
                          <a:r>
                            <a:rPr lang="en-US" sz="2000" dirty="0">
                              <a:latin typeface="Verdana" panose="020B0604030504040204" pitchFamily="34" charset="0"/>
                              <a:ea typeface="Verdana" panose="020B0604030504040204" pitchFamily="34" charset="0"/>
                              <a:cs typeface="Verdana" panose="020B0604030504040204" pitchFamily="34" charset="0"/>
                            </a:rPr>
                            <a:t>5. Definition of congruence</a:t>
                          </a:r>
                        </a:p>
                      </a:txBody>
                      <a:tcPr marT="91440" marB="914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66325309"/>
                      </a:ext>
                    </a:extLst>
                  </a:tr>
                </a:tbl>
              </a:graphicData>
            </a:graphic>
          </p:graphicFrame>
        </mc:Fallback>
      </mc:AlternateContent>
      <p:sp>
        <p:nvSpPr>
          <p:cNvPr id="10" name="Google Shape;282;g104476d1465_1_17">
            <a:extLst>
              <a:ext uri="{FF2B5EF4-FFF2-40B4-BE49-F238E27FC236}">
                <a16:creationId xmlns:a16="http://schemas.microsoft.com/office/drawing/2014/main" id="{76E16D62-5AB4-994E-8BDB-405AACB90D2F}"/>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113</a:t>
            </a:r>
            <a:endParaRPr i="1" dirty="0">
              <a:latin typeface="Calibri"/>
              <a:ea typeface="Calibri"/>
              <a:cs typeface="Calibri"/>
              <a:sym typeface="Calibri"/>
            </a:endParaRPr>
          </a:p>
        </p:txBody>
      </p:sp>
      <p:grpSp>
        <p:nvGrpSpPr>
          <p:cNvPr id="11" name="Group 10">
            <a:extLst>
              <a:ext uri="{FF2B5EF4-FFF2-40B4-BE49-F238E27FC236}">
                <a16:creationId xmlns:a16="http://schemas.microsoft.com/office/drawing/2014/main" id="{B07FBAFB-8754-6E43-A4F7-EF8CAEE7959E}"/>
              </a:ext>
            </a:extLst>
          </p:cNvPr>
          <p:cNvGrpSpPr/>
          <p:nvPr/>
        </p:nvGrpSpPr>
        <p:grpSpPr>
          <a:xfrm>
            <a:off x="1114075" y="2619390"/>
            <a:ext cx="7648575" cy="2287151"/>
            <a:chOff x="-1" y="-81538"/>
            <a:chExt cx="7648575" cy="2287151"/>
          </a:xfrm>
        </p:grpSpPr>
        <p:grpSp>
          <p:nvGrpSpPr>
            <p:cNvPr id="12" name="Group 11">
              <a:extLst>
                <a:ext uri="{FF2B5EF4-FFF2-40B4-BE49-F238E27FC236}">
                  <a16:creationId xmlns:a16="http://schemas.microsoft.com/office/drawing/2014/main" id="{D1D8C324-2AED-2F43-8F57-3655E17B3BED}"/>
                </a:ext>
              </a:extLst>
            </p:cNvPr>
            <p:cNvGrpSpPr/>
            <p:nvPr/>
          </p:nvGrpSpPr>
          <p:grpSpPr>
            <a:xfrm>
              <a:off x="-1" y="-81538"/>
              <a:ext cx="7648575" cy="2287151"/>
              <a:chOff x="2031299" y="3305270"/>
              <a:chExt cx="7648575" cy="2287151"/>
            </a:xfrm>
          </p:grpSpPr>
          <p:grpSp>
            <p:nvGrpSpPr>
              <p:cNvPr id="14" name="Group 13">
                <a:extLst>
                  <a:ext uri="{FF2B5EF4-FFF2-40B4-BE49-F238E27FC236}">
                    <a16:creationId xmlns:a16="http://schemas.microsoft.com/office/drawing/2014/main" id="{D2A446E2-9967-524E-BA2F-2145B4472C96}"/>
                  </a:ext>
                </a:extLst>
              </p:cNvPr>
              <p:cNvGrpSpPr/>
              <p:nvPr/>
            </p:nvGrpSpPr>
            <p:grpSpPr>
              <a:xfrm>
                <a:off x="2031299" y="3305270"/>
                <a:ext cx="7648575" cy="2287151"/>
                <a:chOff x="-1" y="-81538"/>
                <a:chExt cx="7648575" cy="2287151"/>
              </a:xfrm>
            </p:grpSpPr>
            <p:sp>
              <p:nvSpPr>
                <p:cNvPr id="15" name="Rectangle 14">
                  <a:extLst>
                    <a:ext uri="{FF2B5EF4-FFF2-40B4-BE49-F238E27FC236}">
                      <a16:creationId xmlns:a16="http://schemas.microsoft.com/office/drawing/2014/main" id="{6161F21A-F54B-DB4F-9994-4697BC020334}"/>
                    </a:ext>
                  </a:extLst>
                </p:cNvPr>
                <p:cNvSpPr/>
                <p:nvPr/>
              </p:nvSpPr>
              <p:spPr>
                <a:xfrm>
                  <a:off x="0" y="0"/>
                  <a:ext cx="6629400" cy="786375"/>
                </a:xfrm>
                <a:prstGeom prst="rect">
                  <a:avLst/>
                </a:prstGeom>
                <a:noFill/>
                <a:ln>
                  <a:noFill/>
                </a:ln>
              </p:spPr>
              <p:txBody>
                <a:bodyPr spcFirstLastPara="1" wrap="square" lIns="91425" tIns="91425" rIns="91425" bIns="91425" anchor="ctr" anchorCtr="0">
                  <a:noAutofit/>
                </a:bodyPr>
                <a:lstStyle/>
                <a:p>
                  <a:pPr>
                    <a:spcAft>
                      <a:spcPts val="1000"/>
                    </a:spcAft>
                  </a:pPr>
                  <a:r>
                    <a:rPr lang="en-US" sz="1200">
                      <a:solidFill>
                        <a:srgbClr val="00619E"/>
                      </a:solidFill>
                      <a:latin typeface="Cambria" panose="02040503050406030204" pitchFamily="18" charset="0"/>
                      <a:ea typeface="Times New Roman" panose="02020603050405020304" pitchFamily="18" charset="0"/>
                      <a:cs typeface="Times New Roman" panose="02020603050405020304" pitchFamily="18" charset="0"/>
                    </a:rPr>
                    <a:t> </a:t>
                  </a:r>
                  <a:endParaRPr lang="en-US" sz="1200">
                    <a:latin typeface="Cambria" panose="02040503050406030204" pitchFamily="18" charset="0"/>
                    <a:ea typeface="Times New Roman" panose="02020603050405020304" pitchFamily="18" charset="0"/>
                    <a:cs typeface="Times New Roman" panose="02020603050405020304" pitchFamily="18" charset="0"/>
                  </a:endParaRPr>
                </a:p>
              </p:txBody>
            </p:sp>
            <p:sp>
              <p:nvSpPr>
                <p:cNvPr id="16" name="Rectangle 15">
                  <a:extLst>
                    <a:ext uri="{FF2B5EF4-FFF2-40B4-BE49-F238E27FC236}">
                      <a16:creationId xmlns:a16="http://schemas.microsoft.com/office/drawing/2014/main" id="{BD3569E1-977B-F541-B507-0E879A2508CE}"/>
                    </a:ext>
                  </a:extLst>
                </p:cNvPr>
                <p:cNvSpPr/>
                <p:nvPr/>
              </p:nvSpPr>
              <p:spPr>
                <a:xfrm>
                  <a:off x="0" y="0"/>
                  <a:ext cx="6629400" cy="786375"/>
                </a:xfrm>
                <a:prstGeom prst="rect">
                  <a:avLst/>
                </a:prstGeom>
                <a:noFill/>
                <a:ln>
                  <a:noFill/>
                </a:ln>
              </p:spPr>
              <p:txBody>
                <a:bodyPr spcFirstLastPara="1" wrap="square" lIns="91425" tIns="91425" rIns="91425" bIns="91425" anchor="ctr" anchorCtr="0">
                  <a:noAutofit/>
                </a:bodyPr>
                <a:lstStyle/>
                <a:p>
                  <a:pPr>
                    <a:spcAft>
                      <a:spcPts val="1000"/>
                    </a:spcAft>
                  </a:pPr>
                  <a:r>
                    <a:rPr lang="en-US" sz="1200">
                      <a:solidFill>
                        <a:srgbClr val="00619E"/>
                      </a:solidFill>
                      <a:latin typeface="Cambria" panose="02040503050406030204" pitchFamily="18" charset="0"/>
                      <a:ea typeface="Times New Roman" panose="02020603050405020304" pitchFamily="18" charset="0"/>
                      <a:cs typeface="Times New Roman" panose="02020603050405020304" pitchFamily="18" charset="0"/>
                    </a:rPr>
                    <a:t> </a:t>
                  </a:r>
                  <a:endParaRPr lang="en-US" sz="1200">
                    <a:latin typeface="Cambria" panose="02040503050406030204" pitchFamily="18" charset="0"/>
                    <a:ea typeface="Times New Roman" panose="02020603050405020304" pitchFamily="18" charset="0"/>
                    <a:cs typeface="Times New Roman" panose="02020603050405020304" pitchFamily="18" charset="0"/>
                  </a:endParaRPr>
                </a:p>
              </p:txBody>
            </p:sp>
            <p:sp>
              <p:nvSpPr>
                <p:cNvPr id="17" name="Rounded Rectangle 16">
                  <a:extLst>
                    <a:ext uri="{FF2B5EF4-FFF2-40B4-BE49-F238E27FC236}">
                      <a16:creationId xmlns:a16="http://schemas.microsoft.com/office/drawing/2014/main" id="{E1076CFB-FC81-5E41-BF92-EDCE1091FD75}"/>
                    </a:ext>
                  </a:extLst>
                </p:cNvPr>
                <p:cNvSpPr/>
                <p:nvPr/>
              </p:nvSpPr>
              <p:spPr>
                <a:xfrm>
                  <a:off x="-1" y="-81538"/>
                  <a:ext cx="7648575" cy="2287151"/>
                </a:xfrm>
                <a:prstGeom prst="roundRect">
                  <a:avLst>
                    <a:gd name="adj" fmla="val 16667"/>
                  </a:avLst>
                </a:prstGeom>
                <a:solidFill>
                  <a:srgbClr val="B8E6F5"/>
                </a:solidFill>
                <a:ln>
                  <a:noFill/>
                </a:ln>
                <a:effectLst>
                  <a:outerShdw blurRad="50800" dist="38100" dir="2700000" algn="tl" rotWithShape="0">
                    <a:prstClr val="black">
                      <a:alpha val="40000"/>
                    </a:prstClr>
                  </a:outerShdw>
                </a:effectLst>
              </p:spPr>
              <p:txBody>
                <a:bodyPr spcFirstLastPara="1" wrap="square" lIns="91425" tIns="91440" rIns="91425" bIns="0" anchor="ctr" anchorCtr="0">
                  <a:spAutoFit/>
                </a:bodyPr>
                <a:lstStyle/>
                <a:p>
                  <a:pPr marL="742950">
                    <a:spcAft>
                      <a:spcPts val="1000"/>
                    </a:spcAft>
                  </a:pPr>
                  <a:r>
                    <a:rPr lang="en-US" sz="2000" dirty="0">
                      <a:solidFill>
                        <a:srgbClr val="00619E"/>
                      </a:solidFill>
                      <a:latin typeface="Verdana" panose="020B0604030504040204" pitchFamily="34" charset="0"/>
                      <a:ea typeface="Verdana" panose="020B0604030504040204" pitchFamily="34" charset="0"/>
                      <a:cs typeface="Verdana" panose="020B0604030504040204" pitchFamily="34" charset="0"/>
                    </a:rPr>
                    <a:t>If two figures have equal measurements, then by the</a:t>
                  </a:r>
                  <a:r>
                    <a:rPr lang="en-US" sz="2000" b="1" dirty="0">
                      <a:solidFill>
                        <a:srgbClr val="00619E"/>
                      </a:solidFill>
                      <a:latin typeface="Verdana" panose="020B0604030504040204" pitchFamily="34" charset="0"/>
                      <a:ea typeface="Verdana" panose="020B0604030504040204" pitchFamily="34" charset="0"/>
                      <a:cs typeface="Verdana" panose="020B0604030504040204" pitchFamily="34" charset="0"/>
                    </a:rPr>
                    <a:t> definition of congruence,</a:t>
                  </a:r>
                  <a:r>
                    <a:rPr lang="en-US" sz="2000" dirty="0">
                      <a:solidFill>
                        <a:srgbClr val="00619E"/>
                      </a:solidFill>
                      <a:latin typeface="Verdana" panose="020B0604030504040204" pitchFamily="34" charset="0"/>
                      <a:ea typeface="Verdana" panose="020B0604030504040204" pitchFamily="34" charset="0"/>
                      <a:cs typeface="Verdana" panose="020B0604030504040204" pitchFamily="34" charset="0"/>
                    </a:rPr>
                    <a:t> the figures are congruent. If congruence is shown through a series of transformations, then the </a:t>
                  </a:r>
                  <a:r>
                    <a:rPr lang="en-US" sz="2000" b="1" dirty="0">
                      <a:solidFill>
                        <a:srgbClr val="00619E"/>
                      </a:solidFill>
                      <a:latin typeface="Verdana" panose="020B0604030504040204" pitchFamily="34" charset="0"/>
                      <a:ea typeface="Verdana" panose="020B0604030504040204" pitchFamily="34" charset="0"/>
                      <a:cs typeface="Verdana" panose="020B0604030504040204" pitchFamily="34" charset="0"/>
                    </a:rPr>
                    <a:t>definition of congruence in terms of rigid motions</a:t>
                  </a:r>
                  <a:r>
                    <a:rPr lang="en-US" sz="2000" dirty="0">
                      <a:solidFill>
                        <a:srgbClr val="00619E"/>
                      </a:solidFill>
                      <a:latin typeface="Verdana" panose="020B0604030504040204" pitchFamily="34" charset="0"/>
                      <a:ea typeface="Verdana" panose="020B0604030504040204" pitchFamily="34" charset="0"/>
                      <a:cs typeface="Verdana" panose="020B0604030504040204" pitchFamily="34" charset="0"/>
                    </a:rPr>
                    <a:t> was applied.</a:t>
                  </a:r>
                  <a:endParaRPr lang="en-US" sz="2000" dirty="0">
                    <a:latin typeface="Cambria" panose="02040503050406030204" pitchFamily="18" charset="0"/>
                    <a:ea typeface="Times New Roman" panose="02020603050405020304" pitchFamily="18" charset="0"/>
                    <a:cs typeface="Times New Roman" panose="02020603050405020304" pitchFamily="18" charset="0"/>
                  </a:endParaRPr>
                </a:p>
              </p:txBody>
            </p:sp>
          </p:grpSp>
        </p:grpSp>
        <p:pic>
          <p:nvPicPr>
            <p:cNvPr id="13" name="image15.png" descr="Icon&#10;&#10;Description automatically generated">
              <a:extLst>
                <a:ext uri="{FF2B5EF4-FFF2-40B4-BE49-F238E27FC236}">
                  <a16:creationId xmlns:a16="http://schemas.microsoft.com/office/drawing/2014/main" id="{16063395-C312-F640-8EA8-8ACCC3F3DAF0}"/>
                </a:ext>
              </a:extLst>
            </p:cNvPr>
            <p:cNvPicPr/>
            <p:nvPr/>
          </p:nvPicPr>
          <p:blipFill>
            <a:blip r:embed="rId5" cstate="screen">
              <a:extLst>
                <a:ext uri="{28A0092B-C50C-407E-A947-70E740481C1C}">
                  <a14:useLocalDpi xmlns:a14="http://schemas.microsoft.com/office/drawing/2010/main"/>
                </a:ext>
              </a:extLst>
            </a:blip>
            <a:srcRect/>
            <a:stretch>
              <a:fillRect/>
            </a:stretch>
          </p:blipFill>
          <p:spPr>
            <a:xfrm>
              <a:off x="203708" y="142806"/>
              <a:ext cx="575598" cy="575598"/>
            </a:xfrm>
            <a:prstGeom prst="rect">
              <a:avLst/>
            </a:prstGeom>
            <a:ln/>
            <a:effectLst>
              <a:outerShdw blurRad="50800" dist="38100" dir="2700000" algn="tl" rotWithShape="0">
                <a:prstClr val="black">
                  <a:alpha val="40000"/>
                </a:prstClr>
              </a:outerShdw>
            </a:effectLst>
          </p:spPr>
        </p:pic>
      </p:grpSp>
    </p:spTree>
    <p:extLst>
      <p:ext uri="{BB962C8B-B14F-4D97-AF65-F5344CB8AC3E}">
        <p14:creationId xmlns:p14="http://schemas.microsoft.com/office/powerpoint/2010/main" val="8874556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8824"/>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278;g104476d1465_1_17">
            <a:extLst>
              <a:ext uri="{FF2B5EF4-FFF2-40B4-BE49-F238E27FC236}">
                <a16:creationId xmlns:a16="http://schemas.microsoft.com/office/drawing/2014/main" id="{44D12CB6-7E65-7742-A366-7CDB25327756}"/>
              </a:ext>
            </a:extLst>
          </p:cNvPr>
          <p:cNvSpPr/>
          <p:nvPr/>
        </p:nvSpPr>
        <p:spPr>
          <a:xfrm>
            <a:off x="0" y="0"/>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grpSp>
        <p:nvGrpSpPr>
          <p:cNvPr id="2" name="Group 1"/>
          <p:cNvGrpSpPr/>
          <p:nvPr/>
        </p:nvGrpSpPr>
        <p:grpSpPr>
          <a:xfrm>
            <a:off x="1085500" y="4792636"/>
            <a:ext cx="7648575" cy="1329560"/>
            <a:chOff x="1028699" y="4784411"/>
            <a:chExt cx="7648575" cy="1329560"/>
          </a:xfrm>
        </p:grpSpPr>
        <p:grpSp>
          <p:nvGrpSpPr>
            <p:cNvPr id="19" name="Group 18">
              <a:extLst>
                <a:ext uri="{FF2B5EF4-FFF2-40B4-BE49-F238E27FC236}">
                  <a16:creationId xmlns:a16="http://schemas.microsoft.com/office/drawing/2014/main" id="{70CBD1C5-F677-EE47-A941-D16875BFC811}"/>
                </a:ext>
              </a:extLst>
            </p:cNvPr>
            <p:cNvGrpSpPr/>
            <p:nvPr/>
          </p:nvGrpSpPr>
          <p:grpSpPr>
            <a:xfrm>
              <a:off x="1028699" y="4784411"/>
              <a:ext cx="7648575" cy="1329560"/>
              <a:chOff x="-1" y="144389"/>
              <a:chExt cx="7648575" cy="1329705"/>
            </a:xfrm>
          </p:grpSpPr>
          <p:sp>
            <p:nvSpPr>
              <p:cNvPr id="20" name="Rectangle 19">
                <a:extLst>
                  <a:ext uri="{FF2B5EF4-FFF2-40B4-BE49-F238E27FC236}">
                    <a16:creationId xmlns:a16="http://schemas.microsoft.com/office/drawing/2014/main" id="{215826F3-30CC-FB42-B242-AEF158B993CD}"/>
                  </a:ext>
                </a:extLst>
              </p:cNvPr>
              <p:cNvSpPr/>
              <p:nvPr/>
            </p:nvSpPr>
            <p:spPr>
              <a:xfrm>
                <a:off x="0" y="144389"/>
                <a:ext cx="6629400" cy="497596"/>
              </a:xfrm>
              <a:prstGeom prst="rect">
                <a:avLst/>
              </a:prstGeom>
              <a:noFill/>
              <a:ln>
                <a:noFill/>
              </a:ln>
            </p:spPr>
            <p:txBody>
              <a:bodyPr spcFirstLastPara="1" wrap="square" lIns="91425" tIns="91440" rIns="91425" bIns="91425" anchor="ctr" anchorCtr="0">
                <a:spAutoFit/>
              </a:bodyPr>
              <a:lstStyle/>
              <a:p>
                <a:pPr>
                  <a:spcAft>
                    <a:spcPts val="1000"/>
                  </a:spcAft>
                </a:pPr>
                <a:r>
                  <a:rPr lang="en-US" sz="1200">
                    <a:solidFill>
                      <a:srgbClr val="00619E"/>
                    </a:solidFill>
                    <a:latin typeface="Cambria" panose="02040503050406030204" pitchFamily="18" charset="0"/>
                    <a:ea typeface="Times New Roman" panose="02020603050405020304" pitchFamily="18" charset="0"/>
                    <a:cs typeface="Times New Roman" panose="02020603050405020304" pitchFamily="18" charset="0"/>
                  </a:rPr>
                  <a:t> </a:t>
                </a:r>
                <a:endParaRPr lang="en-US" sz="1200">
                  <a:latin typeface="Cambria" panose="02040503050406030204" pitchFamily="18" charset="0"/>
                  <a:ea typeface="Times New Roman" panose="02020603050405020304" pitchFamily="18" charset="0"/>
                  <a:cs typeface="Times New Roman" panose="02020603050405020304" pitchFamily="18" charset="0"/>
                </a:endParaRPr>
              </a:p>
            </p:txBody>
          </p:sp>
          <p:sp>
            <p:nvSpPr>
              <p:cNvPr id="21" name="Rectangle 20">
                <a:extLst>
                  <a:ext uri="{FF2B5EF4-FFF2-40B4-BE49-F238E27FC236}">
                    <a16:creationId xmlns:a16="http://schemas.microsoft.com/office/drawing/2014/main" id="{F92272C3-C60A-254C-AFE9-17AB89261173}"/>
                  </a:ext>
                </a:extLst>
              </p:cNvPr>
              <p:cNvSpPr/>
              <p:nvPr/>
            </p:nvSpPr>
            <p:spPr>
              <a:xfrm>
                <a:off x="0" y="144389"/>
                <a:ext cx="6629400" cy="497596"/>
              </a:xfrm>
              <a:prstGeom prst="rect">
                <a:avLst/>
              </a:prstGeom>
              <a:noFill/>
              <a:ln>
                <a:noFill/>
              </a:ln>
            </p:spPr>
            <p:txBody>
              <a:bodyPr spcFirstLastPara="1" wrap="square" lIns="91425" tIns="91440" rIns="91425" bIns="91425" anchor="ctr" anchorCtr="0">
                <a:spAutoFit/>
              </a:bodyPr>
              <a:lstStyle/>
              <a:p>
                <a:pPr>
                  <a:spcAft>
                    <a:spcPts val="1000"/>
                  </a:spcAft>
                </a:pPr>
                <a:r>
                  <a:rPr lang="en-US" sz="1200">
                    <a:solidFill>
                      <a:srgbClr val="00619E"/>
                    </a:solidFill>
                    <a:latin typeface="Cambria" panose="02040503050406030204" pitchFamily="18" charset="0"/>
                    <a:ea typeface="Times New Roman" panose="02020603050405020304" pitchFamily="18" charset="0"/>
                    <a:cs typeface="Times New Roman" panose="02020603050405020304" pitchFamily="18" charset="0"/>
                  </a:rPr>
                  <a:t> </a:t>
                </a:r>
                <a:endParaRPr lang="en-US" sz="1200">
                  <a:latin typeface="Cambria" panose="02040503050406030204" pitchFamily="18" charset="0"/>
                  <a:ea typeface="Times New Roman" panose="02020603050405020304" pitchFamily="18" charset="0"/>
                  <a:cs typeface="Times New Roman" panose="02020603050405020304" pitchFamily="18" charset="0"/>
                </a:endParaRPr>
              </a:p>
            </p:txBody>
          </p:sp>
          <p:sp>
            <p:nvSpPr>
              <p:cNvPr id="22" name="Rounded Rectangle 21">
                <a:extLst>
                  <a:ext uri="{FF2B5EF4-FFF2-40B4-BE49-F238E27FC236}">
                    <a16:creationId xmlns:a16="http://schemas.microsoft.com/office/drawing/2014/main" id="{A997C9FB-1D74-9344-9B32-C7A5D15FA591}"/>
                  </a:ext>
                </a:extLst>
              </p:cNvPr>
              <p:cNvSpPr/>
              <p:nvPr/>
            </p:nvSpPr>
            <p:spPr>
              <a:xfrm>
                <a:off x="-1" y="157300"/>
                <a:ext cx="7648575" cy="1316794"/>
              </a:xfrm>
              <a:prstGeom prst="roundRect">
                <a:avLst>
                  <a:gd name="adj" fmla="val 16667"/>
                </a:avLst>
              </a:prstGeom>
              <a:solidFill>
                <a:srgbClr val="B8E6F5"/>
              </a:solidFill>
              <a:ln>
                <a:noFill/>
              </a:ln>
              <a:effectLst>
                <a:outerShdw blurRad="50800" dist="38100" dir="2700000" algn="tl" rotWithShape="0">
                  <a:prstClr val="black">
                    <a:alpha val="40000"/>
                  </a:prstClr>
                </a:outerShdw>
              </a:effectLst>
            </p:spPr>
            <p:txBody>
              <a:bodyPr spcFirstLastPara="1" wrap="square" lIns="91425" tIns="91440" rIns="91425" bIns="45700" anchor="ctr" anchorCtr="0">
                <a:spAutoFit/>
              </a:bodyPr>
              <a:lstStyle/>
              <a:p>
                <a:pPr marL="742950">
                  <a:spcAft>
                    <a:spcPts val="1000"/>
                  </a:spcAft>
                </a:pPr>
                <a:r>
                  <a:rPr lang="en-US" sz="2000" dirty="0">
                    <a:solidFill>
                      <a:srgbClr val="00619E"/>
                    </a:solidFill>
                    <a:latin typeface="Verdana" panose="020B0604030504040204" pitchFamily="34" charset="0"/>
                    <a:ea typeface="Verdana" panose="020B0604030504040204" pitchFamily="34" charset="0"/>
                    <a:cs typeface="Verdana" panose="020B0604030504040204" pitchFamily="34" charset="0"/>
                  </a:rPr>
                  <a:t>A </a:t>
                </a:r>
                <a:r>
                  <a:rPr lang="en-US" sz="2000" b="1" dirty="0">
                    <a:solidFill>
                      <a:srgbClr val="00619E"/>
                    </a:solidFill>
                    <a:latin typeface="Verdana" panose="020B0604030504040204" pitchFamily="34" charset="0"/>
                    <a:ea typeface="Verdana" panose="020B0604030504040204" pitchFamily="34" charset="0"/>
                    <a:cs typeface="Verdana" panose="020B0604030504040204" pitchFamily="34" charset="0"/>
                  </a:rPr>
                  <a:t>flowchart proof </a:t>
                </a:r>
                <a:r>
                  <a:rPr lang="en-US" sz="2000" dirty="0">
                    <a:solidFill>
                      <a:srgbClr val="00619E"/>
                    </a:solidFill>
                    <a:latin typeface="Verdana" panose="020B0604030504040204" pitchFamily="34" charset="0"/>
                    <a:ea typeface="Verdana" panose="020B0604030504040204" pitchFamily="34" charset="0"/>
                    <a:cs typeface="Verdana" panose="020B0604030504040204" pitchFamily="34" charset="0"/>
                  </a:rPr>
                  <a:t>shows the structure of the proof using boxes and connecting arrows. The justifications are written beside or below the box.</a:t>
                </a:r>
                <a:endParaRPr lang="en-US" sz="2000" dirty="0">
                  <a:latin typeface="Cambria" panose="02040503050406030204" pitchFamily="18" charset="0"/>
                  <a:ea typeface="Times New Roman" panose="02020603050405020304" pitchFamily="18" charset="0"/>
                  <a:cs typeface="Times New Roman" panose="02020603050405020304" pitchFamily="18" charset="0"/>
                </a:endParaRPr>
              </a:p>
            </p:txBody>
          </p:sp>
        </p:grpSp>
        <p:pic>
          <p:nvPicPr>
            <p:cNvPr id="18" name="image15.png" descr="Icon&#10;&#10;Description automatically generated">
              <a:extLst>
                <a:ext uri="{FF2B5EF4-FFF2-40B4-BE49-F238E27FC236}">
                  <a16:creationId xmlns:a16="http://schemas.microsoft.com/office/drawing/2014/main" id="{E197E494-6EB0-6549-9FDF-8A084A647406}"/>
                </a:ext>
              </a:extLst>
            </p:cNvPr>
            <p:cNvPicPr/>
            <p:nvPr/>
          </p:nvPicPr>
          <p:blipFill>
            <a:blip r:embed="rId4" cstate="screen">
              <a:extLst>
                <a:ext uri="{28A0092B-C50C-407E-A947-70E740481C1C}">
                  <a14:useLocalDpi xmlns:a14="http://schemas.microsoft.com/office/drawing/2010/main"/>
                </a:ext>
              </a:extLst>
            </a:blip>
            <a:srcRect/>
            <a:stretch>
              <a:fillRect/>
            </a:stretch>
          </p:blipFill>
          <p:spPr>
            <a:xfrm>
              <a:off x="1176618" y="4977878"/>
              <a:ext cx="629644" cy="629575"/>
            </a:xfrm>
            <a:prstGeom prst="rect">
              <a:avLst/>
            </a:prstGeom>
            <a:ln/>
            <a:effectLst>
              <a:outerShdw blurRad="50800" dist="38100" dir="2700000" algn="tl" rotWithShape="0">
                <a:prstClr val="black">
                  <a:alpha val="40000"/>
                </a:prstClr>
              </a:outerShdw>
            </a:effectLst>
          </p:spPr>
        </p:pic>
      </p:grpSp>
      <p:sp>
        <p:nvSpPr>
          <p:cNvPr id="23" name="Google Shape;282;g104476d1465_1_17">
            <a:extLst>
              <a:ext uri="{FF2B5EF4-FFF2-40B4-BE49-F238E27FC236}">
                <a16:creationId xmlns:a16="http://schemas.microsoft.com/office/drawing/2014/main" id="{A461453D-E4CC-C040-8F01-D1584C68F5F2}"/>
              </a:ext>
            </a:extLst>
          </p:cNvPr>
          <p:cNvSpPr txBox="1"/>
          <p:nvPr/>
        </p:nvSpPr>
        <p:spPr>
          <a:xfrm>
            <a:off x="8889924" y="64658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114</a:t>
            </a:r>
            <a:endParaRPr i="1" dirty="0">
              <a:latin typeface="Calibri"/>
              <a:ea typeface="Calibri"/>
              <a:cs typeface="Calibri"/>
              <a:sym typeface="Calibri"/>
            </a:endParaRPr>
          </a:p>
        </p:txBody>
      </p:sp>
      <p:sp>
        <p:nvSpPr>
          <p:cNvPr id="24" name="TextBox 23">
            <a:extLst>
              <a:ext uri="{FF2B5EF4-FFF2-40B4-BE49-F238E27FC236}">
                <a16:creationId xmlns:a16="http://schemas.microsoft.com/office/drawing/2014/main" id="{B74EB5C6-2FDE-474B-866F-02AD6706D73C}"/>
              </a:ext>
            </a:extLst>
          </p:cNvPr>
          <p:cNvSpPr txBox="1"/>
          <p:nvPr/>
        </p:nvSpPr>
        <p:spPr>
          <a:xfrm>
            <a:off x="540564" y="382314"/>
            <a:ext cx="11087585" cy="2862322"/>
          </a:xfrm>
          <a:prstGeom prst="rect">
            <a:avLst/>
          </a:prstGeom>
          <a:noFill/>
        </p:spPr>
        <p:txBody>
          <a:bodyPr wrap="square" rtlCol="0">
            <a:spAutoFit/>
          </a:bodyPr>
          <a:lstStyle/>
          <a:p>
            <a:pPr marL="457200" indent="-457200">
              <a:buFont typeface="+mj-lt"/>
              <a:buAutoNum type="arabicPeriod" startAt="4"/>
            </a:pPr>
            <a:r>
              <a:rPr lang="en-US" sz="2000" dirty="0">
                <a:latin typeface="Verdana" panose="020B0604030504040204" pitchFamily="34" charset="0"/>
                <a:ea typeface="Verdana" panose="020B0604030504040204" pitchFamily="34" charset="0"/>
                <a:cs typeface="Verdana" panose="020B0604030504040204" pitchFamily="34" charset="0"/>
              </a:rPr>
              <a:t>Discuss with your partner why the justification for step 5 is the definition of congruence. Summarize your discussion.</a:t>
            </a:r>
          </a:p>
          <a:p>
            <a:pPr marL="457200" indent="-457200">
              <a:buFont typeface="+mj-lt"/>
              <a:buAutoNum type="arabicPeriod" startAt="4"/>
            </a:pPr>
            <a:endParaRPr lang="en-PH"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4"/>
            </a:pPr>
            <a:endParaRPr lang="en-PH"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4"/>
            </a:pPr>
            <a:endParaRPr lang="en-PH"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4"/>
            </a:pPr>
            <a:endParaRPr lang="en-PH"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4"/>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4"/>
            </a:pPr>
            <a:r>
              <a:rPr lang="en-US" sz="2000" dirty="0">
                <a:latin typeface="Verdana" panose="020B0604030504040204" pitchFamily="34" charset="0"/>
                <a:ea typeface="Verdana" panose="020B0604030504040204" pitchFamily="34" charset="0"/>
                <a:cs typeface="Verdana" panose="020B0604030504040204" pitchFamily="34" charset="0"/>
              </a:rPr>
              <a:t>List similarities between the paragraph proof and the </a:t>
            </a:r>
            <a:br>
              <a:rPr lang="en-US" sz="2000" dirty="0">
                <a:latin typeface="Verdana" panose="020B0604030504040204" pitchFamily="34" charset="0"/>
                <a:ea typeface="Verdana" panose="020B0604030504040204" pitchFamily="34" charset="0"/>
                <a:cs typeface="Verdana" panose="020B0604030504040204" pitchFamily="34" charset="0"/>
              </a:rPr>
            </a:br>
            <a:r>
              <a:rPr lang="en-US" sz="2000" dirty="0">
                <a:latin typeface="Verdana" panose="020B0604030504040204" pitchFamily="34" charset="0"/>
                <a:ea typeface="Verdana" panose="020B0604030504040204" pitchFamily="34" charset="0"/>
                <a:cs typeface="Verdana" panose="020B0604030504040204" pitchFamily="34" charset="0"/>
              </a:rPr>
              <a:t>two-column proof. </a:t>
            </a:r>
          </a:p>
        </p:txBody>
      </p:sp>
    </p:spTree>
    <p:extLst>
      <p:ext uri="{BB962C8B-B14F-4D97-AF65-F5344CB8AC3E}">
        <p14:creationId xmlns:p14="http://schemas.microsoft.com/office/powerpoint/2010/main" val="29276951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6" name="Picture 5" descr="Diagram&#10;&#10;Description automatically generated">
            <a:extLst>
              <a:ext uri="{FF2B5EF4-FFF2-40B4-BE49-F238E27FC236}">
                <a16:creationId xmlns:a16="http://schemas.microsoft.com/office/drawing/2014/main" id="{8108FB1F-C5D1-EC44-82CA-39F321FF26B0}"/>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7091185" y="0"/>
            <a:ext cx="3761483" cy="6291330"/>
          </a:xfrm>
          <a:prstGeom prst="rect">
            <a:avLst/>
          </a:prstGeom>
        </p:spPr>
      </p:pic>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628150" y="62088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89924" y="64658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114</a:t>
            </a:r>
            <a:endParaRPr i="1" dirty="0">
              <a:latin typeface="Calibri"/>
              <a:ea typeface="Calibri"/>
              <a:cs typeface="Calibri"/>
              <a:sym typeface="Calibri"/>
            </a:endParaRPr>
          </a:p>
        </p:txBody>
      </p:sp>
      <p:sp>
        <p:nvSpPr>
          <p:cNvPr id="5" name="TextBox 4">
            <a:extLst>
              <a:ext uri="{FF2B5EF4-FFF2-40B4-BE49-F238E27FC236}">
                <a16:creationId xmlns:a16="http://schemas.microsoft.com/office/drawing/2014/main" id="{B74EB5C6-2FDE-474B-866F-02AD6706D73C}"/>
              </a:ext>
            </a:extLst>
          </p:cNvPr>
          <p:cNvSpPr txBox="1"/>
          <p:nvPr/>
        </p:nvSpPr>
        <p:spPr>
          <a:xfrm>
            <a:off x="540565" y="382315"/>
            <a:ext cx="6243693" cy="2739211"/>
          </a:xfrm>
          <a:prstGeom prst="rect">
            <a:avLst/>
          </a:prstGeom>
          <a:noFill/>
        </p:spPr>
        <p:txBody>
          <a:bodyPr wrap="square" rtlCol="0">
            <a:spAutoFit/>
          </a:bodyPr>
          <a:lstStyle/>
          <a:p>
            <a:pPr marL="457200" indent="-457200">
              <a:buFont typeface="+mj-lt"/>
              <a:buAutoNum type="arabicPeriod" startAt="6"/>
            </a:pPr>
            <a:r>
              <a:rPr lang="en-US" sz="2000" dirty="0">
                <a:latin typeface="Verdana" panose="020B0604030504040204" pitchFamily="34" charset="0"/>
                <a:ea typeface="Verdana" panose="020B0604030504040204" pitchFamily="34" charset="0"/>
                <a:cs typeface="Verdana" panose="020B0604030504040204" pitchFamily="34" charset="0"/>
              </a:rPr>
              <a:t>Complete the flowchart proof</a:t>
            </a:r>
          </a:p>
          <a:p>
            <a:pPr marL="914400" indent="-457200">
              <a:buFont typeface="+mj-lt"/>
              <a:buAutoNum type="arabicPeriod" startAt="7"/>
            </a:pPr>
            <a:endParaRPr lang="en-PH"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rabicPeriod" startAt="7"/>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7"/>
            </a:pPr>
            <a:r>
              <a:rPr lang="en-US" sz="2000" dirty="0">
                <a:latin typeface="Verdana" panose="020B0604030504040204" pitchFamily="34" charset="0"/>
                <a:ea typeface="Verdana" panose="020B0604030504040204" pitchFamily="34" charset="0"/>
                <a:cs typeface="Verdana" panose="020B0604030504040204" pitchFamily="34" charset="0"/>
              </a:rPr>
              <a:t>Which of the three types of proofs did </a:t>
            </a:r>
          </a:p>
          <a:p>
            <a:pPr marL="457200"/>
            <a:r>
              <a:rPr lang="en-US" sz="2000" dirty="0">
                <a:latin typeface="Verdana" panose="020B0604030504040204" pitchFamily="34" charset="0"/>
                <a:ea typeface="Verdana" panose="020B0604030504040204" pitchFamily="34" charset="0"/>
                <a:cs typeface="Verdana" panose="020B0604030504040204" pitchFamily="34" charset="0"/>
              </a:rPr>
              <a:t>you find the easiest to follow?</a:t>
            </a:r>
          </a:p>
          <a:p>
            <a:pPr marL="457200"/>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a:endParaRPr lang="en-US" sz="1200" dirty="0">
              <a:latin typeface="Verdana" panose="020B0604030504040204" pitchFamily="34" charset="0"/>
              <a:ea typeface="Verdana" panose="020B0604030504040204" pitchFamily="34" charset="0"/>
              <a:cs typeface="Verdana" panose="020B0604030504040204" pitchFamily="34" charset="0"/>
            </a:endParaRPr>
          </a:p>
          <a:p>
            <a:pPr marL="457200"/>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a:endParaRPr lang="en-US" sz="2000" dirty="0">
              <a:latin typeface="Verdana" panose="020B0604030504040204" pitchFamily="34" charset="0"/>
              <a:ea typeface="Verdana" panose="020B0604030504040204" pitchFamily="34" charset="0"/>
              <a:cs typeface="Verdana" panose="020B0604030504040204" pitchFamily="34" charset="0"/>
            </a:endParaRPr>
          </a:p>
        </p:txBody>
      </p:sp>
      <p:sp>
        <p:nvSpPr>
          <p:cNvPr id="7" name="Google Shape;278;g104476d1465_1_17">
            <a:extLst>
              <a:ext uri="{FF2B5EF4-FFF2-40B4-BE49-F238E27FC236}">
                <a16:creationId xmlns:a16="http://schemas.microsoft.com/office/drawing/2014/main" id="{44D12CB6-7E65-7742-A366-7CDB25327756}"/>
              </a:ext>
            </a:extLst>
          </p:cNvPr>
          <p:cNvSpPr/>
          <p:nvPr/>
        </p:nvSpPr>
        <p:spPr>
          <a:xfrm>
            <a:off x="0" y="0"/>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Tree>
    <p:extLst>
      <p:ext uri="{BB962C8B-B14F-4D97-AF65-F5344CB8AC3E}">
        <p14:creationId xmlns:p14="http://schemas.microsoft.com/office/powerpoint/2010/main" val="6599423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664867"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Guided Instruction</a:t>
            </a:r>
            <a:endParaRPr sz="5100" b="1" dirty="0">
              <a:solidFill>
                <a:srgbClr val="54B5D1"/>
              </a:solidFill>
              <a:latin typeface="Verdana"/>
              <a:ea typeface="Verdana"/>
              <a:cs typeface="Verdana"/>
              <a:sym typeface="Verdana"/>
            </a:endParaRPr>
          </a:p>
        </p:txBody>
      </p:sp>
      <p:pic>
        <p:nvPicPr>
          <p:cNvPr id="7" name="Google Shape;338;g103996e1364_0_315">
            <a:extLst>
              <a:ext uri="{FF2B5EF4-FFF2-40B4-BE49-F238E27FC236}">
                <a16:creationId xmlns:a16="http://schemas.microsoft.com/office/drawing/2014/main" id="{2AC58C8F-2DD8-F347-9ECA-58EE9E1B7E9C}"/>
              </a:ext>
            </a:extLst>
          </p:cNvPr>
          <p:cNvPicPr preferRelativeResize="0"/>
          <p:nvPr/>
        </p:nvPicPr>
        <p:blipFill rotWithShape="1">
          <a:blip r:embed="rId4">
            <a:alphaModFix/>
          </a:blip>
          <a:srcRect/>
          <a:stretch/>
        </p:blipFill>
        <p:spPr>
          <a:xfrm>
            <a:off x="4519075" y="2849920"/>
            <a:ext cx="1145792" cy="1158150"/>
          </a:xfrm>
          <a:prstGeom prst="rect">
            <a:avLst/>
          </a:prstGeom>
          <a:noFill/>
          <a:ln>
            <a:noFill/>
          </a:ln>
          <a:effectLst>
            <a:outerShdw blurRad="50800" dist="38100" dir="2700000" algn="tl" rotWithShape="0">
              <a:prstClr val="black">
                <a:alpha val="40000"/>
              </a:prstClr>
            </a:outerShdw>
          </a:effectLst>
        </p:spPr>
      </p:pic>
      <p:sp>
        <p:nvSpPr>
          <p:cNvPr id="9" name="Google Shape;282;g104476d1465_1_17">
            <a:extLst>
              <a:ext uri="{FF2B5EF4-FFF2-40B4-BE49-F238E27FC236}">
                <a16:creationId xmlns:a16="http://schemas.microsoft.com/office/drawing/2014/main" id="{1C996120-3B21-7344-82A8-E4BA1AAF6F6F}"/>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115</a:t>
            </a:r>
            <a:endParaRPr i="1" dirty="0">
              <a:latin typeface="Calibri"/>
              <a:ea typeface="Calibri"/>
              <a:cs typeface="Calibri"/>
              <a:sym typeface="Calibri"/>
            </a:endParaRPr>
          </a:p>
        </p:txBody>
      </p:sp>
    </p:spTree>
    <p:extLst>
      <p:ext uri="{BB962C8B-B14F-4D97-AF65-F5344CB8AC3E}">
        <p14:creationId xmlns:p14="http://schemas.microsoft.com/office/powerpoint/2010/main" val="37026124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052649" y="-77754"/>
            <a:ext cx="11424485"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54B5D1"/>
                </a:solidFill>
                <a:latin typeface="Verdana"/>
                <a:ea typeface="Verdana"/>
                <a:cs typeface="Verdana"/>
                <a:sym typeface="Verdana"/>
              </a:rPr>
              <a:t>2.7.3 Guided Instruction: Flow Chart Proof</a:t>
            </a:r>
          </a:p>
        </p:txBody>
      </p:sp>
      <p:pic>
        <p:nvPicPr>
          <p:cNvPr id="9" name="Google Shape;345;g103996e1364_0_321">
            <a:extLst>
              <a:ext uri="{FF2B5EF4-FFF2-40B4-BE49-F238E27FC236}">
                <a16:creationId xmlns:a16="http://schemas.microsoft.com/office/drawing/2014/main" id="{CBDD45DF-949B-9F42-BFF6-A7167F0CF795}"/>
              </a:ext>
            </a:extLst>
          </p:cNvPr>
          <p:cNvPicPr preferRelativeResize="0"/>
          <p:nvPr/>
        </p:nvPicPr>
        <p:blipFill rotWithShape="1">
          <a:blip r:embed="rId4">
            <a:alphaModFix/>
          </a:blip>
          <a:srcRect/>
          <a:stretch/>
        </p:blipFill>
        <p:spPr>
          <a:xfrm>
            <a:off x="305350" y="129510"/>
            <a:ext cx="747300" cy="747300"/>
          </a:xfrm>
          <a:prstGeom prst="rect">
            <a:avLst/>
          </a:prstGeom>
          <a:noFill/>
          <a:ln>
            <a:noFill/>
          </a:ln>
          <a:effectLst>
            <a:outerShdw blurRad="50800" dist="38100" dir="2700000" algn="tl" rotWithShape="0">
              <a:prstClr val="black">
                <a:alpha val="40000"/>
              </a:prstClr>
            </a:outerShdw>
          </a:effectLst>
        </p:spPr>
      </p:pic>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C01B13E8-EC8D-E443-A329-C5E3593DD13A}"/>
                  </a:ext>
                </a:extLst>
              </p:cNvPr>
              <p:cNvSpPr txBox="1"/>
              <p:nvPr/>
            </p:nvSpPr>
            <p:spPr>
              <a:xfrm>
                <a:off x="593248" y="1394250"/>
                <a:ext cx="8477010" cy="1631216"/>
              </a:xfrm>
              <a:prstGeom prst="rect">
                <a:avLst/>
              </a:prstGeom>
              <a:noFill/>
            </p:spPr>
            <p:txBody>
              <a:bodyPr wrap="square" rtlCol="0">
                <a:spAutoFit/>
              </a:bodyPr>
              <a:lstStyle/>
              <a:p>
                <a:r>
                  <a:rPr lang="en-US" sz="2000" dirty="0">
                    <a:latin typeface="Verdana" panose="020B0604030504040204" pitchFamily="34" charset="0"/>
                    <a:ea typeface="Verdana" panose="020B0604030504040204" pitchFamily="34" charset="0"/>
                    <a:cs typeface="Verdana" panose="020B0604030504040204" pitchFamily="34" charset="0"/>
                  </a:rPr>
                  <a:t>In the previous proof, each step depended on the step before it. But this is not always true. </a:t>
                </a:r>
              </a:p>
              <a:p>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Given: </a:t>
                </a:r>
                <a14:m>
                  <m:oMath xmlns:m="http://schemas.openxmlformats.org/officeDocument/2006/math">
                    <m:r>
                      <a:rPr lang="en-US" sz="2000" i="1">
                        <a:latin typeface="Cambria Math"/>
                      </a:rPr>
                      <m:t>𝑚</m:t>
                    </m:r>
                    <m:r>
                      <a:rPr lang="en-US" sz="2000" i="1">
                        <a:latin typeface="Cambria Math"/>
                      </a:rPr>
                      <m:t>∠1=</m:t>
                    </m:r>
                    <m:r>
                      <a:rPr lang="en-US" sz="2000" i="1">
                        <a:latin typeface="Cambria Math"/>
                      </a:rPr>
                      <m:t>𝑚</m:t>
                    </m:r>
                    <m:r>
                      <a:rPr lang="en-US" sz="2000" i="1">
                        <a:latin typeface="Cambria Math"/>
                      </a:rPr>
                      <m:t>∠3</m:t>
                    </m:r>
                  </m:oMath>
                </a14:m>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a:r>
                  <a:rPr lang="en-US" sz="2000" dirty="0">
                    <a:latin typeface="Verdana" panose="020B0604030504040204" pitchFamily="34" charset="0"/>
                    <a:ea typeface="Verdana" panose="020B0604030504040204" pitchFamily="34" charset="0"/>
                    <a:cs typeface="Verdana" panose="020B0604030504040204" pitchFamily="34" charset="0"/>
                  </a:rPr>
                  <a:t>Prove: </a:t>
                </a:r>
                <a14:m>
                  <m:oMath xmlns:m="http://schemas.openxmlformats.org/officeDocument/2006/math">
                    <m:r>
                      <a:rPr lang="en-US" sz="2000" i="1">
                        <a:latin typeface="Cambria Math"/>
                      </a:rPr>
                      <m:t>∠</m:t>
                    </m:r>
                    <m:r>
                      <a:rPr lang="en-US" sz="2000" i="1">
                        <a:latin typeface="Cambria Math"/>
                      </a:rPr>
                      <m:t>𝑅𝑇𝐺</m:t>
                    </m:r>
                    <m:r>
                      <a:rPr lang="en-US" sz="2000" i="1">
                        <a:latin typeface="Cambria Math"/>
                      </a:rPr>
                      <m:t>≅∠</m:t>
                    </m:r>
                    <m:r>
                      <a:rPr lang="en-US" sz="2000" i="1">
                        <a:latin typeface="Cambria Math"/>
                      </a:rPr>
                      <m:t>𝑊𝑇</m:t>
                    </m:r>
                  </m:oMath>
                </a14:m>
                <a:r>
                  <a:rPr lang="en-US" sz="2000" dirty="0">
                    <a:latin typeface="Verdana" panose="020B0604030504040204" pitchFamily="34" charset="0"/>
                    <a:ea typeface="Verdana" panose="020B0604030504040204" pitchFamily="34" charset="0"/>
                    <a:cs typeface="Verdana" panose="020B0604030504040204" pitchFamily="34" charset="0"/>
                  </a:rPr>
                  <a:t> </a:t>
                </a:r>
              </a:p>
            </p:txBody>
          </p:sp>
        </mc:Choice>
        <mc:Fallback xmlns="">
          <p:sp>
            <p:nvSpPr>
              <p:cNvPr id="13" name="TextBox 12">
                <a:extLst>
                  <a:ext uri="{FF2B5EF4-FFF2-40B4-BE49-F238E27FC236}">
                    <a16:creationId xmlns:a16="http://schemas.microsoft.com/office/drawing/2014/main" id="{C01B13E8-EC8D-E443-A329-C5E3593DD13A}"/>
                  </a:ext>
                </a:extLst>
              </p:cNvPr>
              <p:cNvSpPr txBox="1">
                <a:spLocks noRot="1" noChangeAspect="1" noMove="1" noResize="1" noEditPoints="1" noAdjustHandles="1" noChangeArrowheads="1" noChangeShapeType="1" noTextEdit="1"/>
              </p:cNvSpPr>
              <p:nvPr/>
            </p:nvSpPr>
            <p:spPr>
              <a:xfrm>
                <a:off x="593248" y="1394250"/>
                <a:ext cx="8477010" cy="1631216"/>
              </a:xfrm>
              <a:prstGeom prst="rect">
                <a:avLst/>
              </a:prstGeom>
              <a:blipFill>
                <a:blip r:embed="rId5"/>
                <a:stretch>
                  <a:fillRect l="-791" t="-2247" r="-935" b="-5993"/>
                </a:stretch>
              </a:blipFill>
            </p:spPr>
            <p:txBody>
              <a:bodyPr/>
              <a:lstStyle/>
              <a:p>
                <a:r>
                  <a:rPr lang="en-US">
                    <a:noFill/>
                  </a:rPr>
                  <a:t> </a:t>
                </a:r>
              </a:p>
            </p:txBody>
          </p:sp>
        </mc:Fallback>
      </mc:AlternateContent>
      <p:sp>
        <p:nvSpPr>
          <p:cNvPr id="10" name="Google Shape;278;g104476d1465_1_17">
            <a:extLst>
              <a:ext uri="{FF2B5EF4-FFF2-40B4-BE49-F238E27FC236}">
                <a16:creationId xmlns:a16="http://schemas.microsoft.com/office/drawing/2014/main" id="{2260A17C-F127-D647-A05B-7BB351158843}"/>
              </a:ext>
            </a:extLst>
          </p:cNvPr>
          <p:cNvSpPr/>
          <p:nvPr/>
        </p:nvSpPr>
        <p:spPr>
          <a:xfrm>
            <a:off x="0" y="0"/>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8" name="Picture 7">
            <a:extLst>
              <a:ext uri="{FF2B5EF4-FFF2-40B4-BE49-F238E27FC236}">
                <a16:creationId xmlns:a16="http://schemas.microsoft.com/office/drawing/2014/main" id="{2667B30A-C0F2-7046-A7FB-2F7C4E9E048A}"/>
              </a:ext>
            </a:extLst>
          </p:cNvPr>
          <p:cNvPicPr/>
          <p:nvPr/>
        </p:nvPicPr>
        <p:blipFill>
          <a:blip r:embed="rId6">
            <a:extLst>
              <a:ext uri="{28A0092B-C50C-407E-A947-70E740481C1C}">
                <a14:useLocalDpi xmlns:a14="http://schemas.microsoft.com/office/drawing/2010/main"/>
              </a:ext>
            </a:extLst>
          </a:blip>
          <a:stretch>
            <a:fillRect/>
          </a:stretch>
        </p:blipFill>
        <p:spPr>
          <a:xfrm>
            <a:off x="2654800" y="3305218"/>
            <a:ext cx="5101578" cy="2973913"/>
          </a:xfrm>
          <a:prstGeom prst="rect">
            <a:avLst/>
          </a:prstGeom>
        </p:spPr>
      </p:pic>
      <p:sp>
        <p:nvSpPr>
          <p:cNvPr id="11" name="Google Shape;282;g104476d1465_1_17">
            <a:extLst>
              <a:ext uri="{FF2B5EF4-FFF2-40B4-BE49-F238E27FC236}">
                <a16:creationId xmlns:a16="http://schemas.microsoft.com/office/drawing/2014/main" id="{7BAFADD4-2907-184F-AE03-F80BF9E6D351}"/>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115</a:t>
            </a:r>
            <a:endParaRPr i="1" dirty="0">
              <a:latin typeface="Calibri"/>
              <a:ea typeface="Calibri"/>
              <a:cs typeface="Calibri"/>
              <a:sym typeface="Calibri"/>
            </a:endParaRPr>
          </a:p>
        </p:txBody>
      </p:sp>
    </p:spTree>
    <p:extLst>
      <p:ext uri="{BB962C8B-B14F-4D97-AF65-F5344CB8AC3E}">
        <p14:creationId xmlns:p14="http://schemas.microsoft.com/office/powerpoint/2010/main" val="390245789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6" name="Picture 5" descr="Diagram&#10;&#10;Description automatically generated">
            <a:extLst>
              <a:ext uri="{FF2B5EF4-FFF2-40B4-BE49-F238E27FC236}">
                <a16:creationId xmlns:a16="http://schemas.microsoft.com/office/drawing/2014/main" id="{0A934C40-6F33-7C4C-86E7-862A9671CD4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157898" y="362746"/>
            <a:ext cx="6493181" cy="6252693"/>
          </a:xfrm>
          <a:prstGeom prst="rect">
            <a:avLst/>
          </a:prstGeom>
        </p:spPr>
      </p:pic>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278;g104476d1465_1_17">
            <a:extLst>
              <a:ext uri="{FF2B5EF4-FFF2-40B4-BE49-F238E27FC236}">
                <a16:creationId xmlns:a16="http://schemas.microsoft.com/office/drawing/2014/main" id="{A7817ACE-0EAD-F54B-BF54-D1C44606A01D}"/>
              </a:ext>
            </a:extLst>
          </p:cNvPr>
          <p:cNvSpPr/>
          <p:nvPr/>
        </p:nvSpPr>
        <p:spPr>
          <a:xfrm>
            <a:off x="0" y="0"/>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0" name="Google Shape;282;g104476d1465_1_17">
            <a:extLst>
              <a:ext uri="{FF2B5EF4-FFF2-40B4-BE49-F238E27FC236}">
                <a16:creationId xmlns:a16="http://schemas.microsoft.com/office/drawing/2014/main" id="{3C71DADC-D456-FE41-A041-10145DA5C050}"/>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115</a:t>
            </a:r>
            <a:endParaRPr i="1" dirty="0">
              <a:latin typeface="Calibri"/>
              <a:ea typeface="Calibri"/>
              <a:cs typeface="Calibri"/>
              <a:sym typeface="Calibri"/>
            </a:endParaRPr>
          </a:p>
        </p:txBody>
      </p:sp>
    </p:spTree>
    <p:extLst>
      <p:ext uri="{BB962C8B-B14F-4D97-AF65-F5344CB8AC3E}">
        <p14:creationId xmlns:p14="http://schemas.microsoft.com/office/powerpoint/2010/main" val="339381335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4055"/>
            <a:ext cx="2731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225955"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Guided Practice</a:t>
            </a:r>
            <a:endParaRPr sz="5100" b="1" dirty="0">
              <a:solidFill>
                <a:srgbClr val="54B5D1"/>
              </a:solidFill>
              <a:latin typeface="Verdana"/>
              <a:ea typeface="Verdana"/>
              <a:cs typeface="Verdana"/>
              <a:sym typeface="Verdana"/>
            </a:endParaRPr>
          </a:p>
        </p:txBody>
      </p:sp>
      <p:pic>
        <p:nvPicPr>
          <p:cNvPr id="9218" name="Picture 2" descr="Icon&#10;&#10;Description automatically generated">
            <a:extLst>
              <a:ext uri="{FF2B5EF4-FFF2-40B4-BE49-F238E27FC236}">
                <a16:creationId xmlns:a16="http://schemas.microsoft.com/office/drawing/2014/main" id="{B02E8C6A-53AD-AA4E-A4ED-406F3B0E3707}"/>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4512723" y="285292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7" name="Google Shape;282;g104476d1465_1_17">
            <a:extLst>
              <a:ext uri="{FF2B5EF4-FFF2-40B4-BE49-F238E27FC236}">
                <a16:creationId xmlns:a16="http://schemas.microsoft.com/office/drawing/2014/main" id="{F78B44C8-0B69-A548-BB52-FCE047DCE830}"/>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115</a:t>
            </a:r>
            <a:endParaRPr i="1" dirty="0">
              <a:latin typeface="Calibri"/>
              <a:ea typeface="Calibri"/>
              <a:cs typeface="Calibri"/>
              <a:sym typeface="Calibri"/>
            </a:endParaRPr>
          </a:p>
        </p:txBody>
      </p:sp>
    </p:spTree>
    <p:extLst>
      <p:ext uri="{BB962C8B-B14F-4D97-AF65-F5344CB8AC3E}">
        <p14:creationId xmlns:p14="http://schemas.microsoft.com/office/powerpoint/2010/main" val="169301461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3"/>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052650" y="-140323"/>
            <a:ext cx="11277002"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54B5D1"/>
                </a:solidFill>
                <a:latin typeface="Verdana"/>
                <a:ea typeface="Verdana"/>
                <a:cs typeface="Verdana"/>
                <a:sym typeface="Verdana"/>
              </a:rPr>
              <a:t>2.7.4 Guided Practice: Two-Column Proof</a:t>
            </a:r>
          </a:p>
        </p:txBody>
      </p:sp>
      <p:pic>
        <p:nvPicPr>
          <p:cNvPr id="8" name="Picture 2" descr="Icon&#10;&#10;Description automatically generated">
            <a:extLst>
              <a:ext uri="{FF2B5EF4-FFF2-40B4-BE49-F238E27FC236}">
                <a16:creationId xmlns:a16="http://schemas.microsoft.com/office/drawing/2014/main" id="{B3C42596-1BDF-794D-A82A-7C54635CB812}"/>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302842" y="128939"/>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31D40250-DEDD-2C41-8538-3D4DD18CCC4A}"/>
                  </a:ext>
                </a:extLst>
              </p:cNvPr>
              <p:cNvSpPr txBox="1"/>
              <p:nvPr/>
            </p:nvSpPr>
            <p:spPr>
              <a:xfrm>
                <a:off x="593248" y="1386150"/>
                <a:ext cx="8327136" cy="1323439"/>
              </a:xfrm>
              <a:prstGeom prst="rect">
                <a:avLst/>
              </a:prstGeom>
              <a:noFill/>
            </p:spPr>
            <p:txBody>
              <a:bodyPr wrap="square" rtlCol="0">
                <a:spAutoFit/>
              </a:bodyPr>
              <a:lstStyle/>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Given: </a:t>
                </a:r>
                <a14:m>
                  <m:oMath xmlns:m="http://schemas.openxmlformats.org/officeDocument/2006/math">
                    <m:r>
                      <a:rPr lang="en-US" sz="2000" i="1">
                        <a:latin typeface="Cambria Math"/>
                      </a:rPr>
                      <m:t>𝑚</m:t>
                    </m:r>
                    <m:r>
                      <a:rPr lang="en-US" sz="2000" i="1">
                        <a:latin typeface="Cambria Math"/>
                      </a:rPr>
                      <m:t>∠1=</m:t>
                    </m:r>
                    <m:r>
                      <a:rPr lang="en-US" sz="2000" i="1">
                        <a:latin typeface="Cambria Math"/>
                      </a:rPr>
                      <m:t>𝑚</m:t>
                    </m:r>
                    <m:r>
                      <a:rPr lang="en-US" sz="2000" i="1">
                        <a:latin typeface="Cambria Math"/>
                      </a:rPr>
                      <m:t>∠3</m:t>
                    </m:r>
                  </m:oMath>
                </a14:m>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a:r>
                  <a:rPr lang="en-US" sz="2000" dirty="0">
                    <a:latin typeface="Verdana" panose="020B0604030504040204" pitchFamily="34" charset="0"/>
                    <a:ea typeface="Verdana" panose="020B0604030504040204" pitchFamily="34" charset="0"/>
                    <a:cs typeface="Verdana" panose="020B0604030504040204" pitchFamily="34" charset="0"/>
                  </a:rPr>
                  <a:t>Prove: </a:t>
                </a:r>
                <a14:m>
                  <m:oMath xmlns:m="http://schemas.openxmlformats.org/officeDocument/2006/math">
                    <m:r>
                      <a:rPr lang="en-US" sz="2000" i="1">
                        <a:latin typeface="Cambria Math"/>
                      </a:rPr>
                      <m:t>∠</m:t>
                    </m:r>
                    <m:r>
                      <a:rPr lang="en-US" sz="2000" i="1">
                        <a:latin typeface="Cambria Math"/>
                      </a:rPr>
                      <m:t>𝑅𝑇𝐺</m:t>
                    </m:r>
                    <m:r>
                      <a:rPr lang="en-US" sz="2000" i="1">
                        <a:latin typeface="Cambria Math"/>
                      </a:rPr>
                      <m:t>≅∠</m:t>
                    </m:r>
                    <m:r>
                      <a:rPr lang="en-US" sz="2000" i="1">
                        <a:latin typeface="Cambria Math"/>
                      </a:rPr>
                      <m:t>𝑊𝑇𝑀</m:t>
                    </m:r>
                  </m:oMath>
                </a14:m>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a:r>
                  <a:rPr lang="en-US" sz="2000" dirty="0">
                    <a:latin typeface="Verdana" panose="020B0604030504040204" pitchFamily="34" charset="0"/>
                    <a:ea typeface="Verdana" panose="020B0604030504040204" pitchFamily="34" charset="0"/>
                    <a:cs typeface="Verdana" panose="020B0604030504040204" pitchFamily="34" charset="0"/>
                  </a:rPr>
                  <a:t>Complete the two-column proof.</a:t>
                </a:r>
              </a:p>
            </p:txBody>
          </p:sp>
        </mc:Choice>
        <mc:Fallback xmlns="">
          <p:sp>
            <p:nvSpPr>
              <p:cNvPr id="10" name="TextBox 9">
                <a:extLst>
                  <a:ext uri="{FF2B5EF4-FFF2-40B4-BE49-F238E27FC236}">
                    <a16:creationId xmlns:a16="http://schemas.microsoft.com/office/drawing/2014/main" id="{31D40250-DEDD-2C41-8538-3D4DD18CCC4A}"/>
                  </a:ext>
                </a:extLst>
              </p:cNvPr>
              <p:cNvSpPr txBox="1">
                <a:spLocks noRot="1" noChangeAspect="1" noMove="1" noResize="1" noEditPoints="1" noAdjustHandles="1" noChangeArrowheads="1" noChangeShapeType="1" noTextEdit="1"/>
              </p:cNvSpPr>
              <p:nvPr/>
            </p:nvSpPr>
            <p:spPr>
              <a:xfrm>
                <a:off x="593248" y="1386150"/>
                <a:ext cx="8327136" cy="1323439"/>
              </a:xfrm>
              <a:prstGeom prst="rect">
                <a:avLst/>
              </a:prstGeom>
              <a:blipFill>
                <a:blip r:embed="rId5"/>
                <a:stretch>
                  <a:fillRect l="-805" t="-2765" b="-7373"/>
                </a:stretch>
              </a:blipFill>
            </p:spPr>
            <p:txBody>
              <a:bodyPr/>
              <a:lstStyle/>
              <a:p>
                <a:r>
                  <a:rPr lang="en-US">
                    <a:noFill/>
                  </a:rPr>
                  <a:t> </a:t>
                </a:r>
              </a:p>
            </p:txBody>
          </p:sp>
        </mc:Fallback>
      </mc:AlternateContent>
      <p:sp>
        <p:nvSpPr>
          <p:cNvPr id="11" name="Google Shape;278;g104476d1465_1_17">
            <a:extLst>
              <a:ext uri="{FF2B5EF4-FFF2-40B4-BE49-F238E27FC236}">
                <a16:creationId xmlns:a16="http://schemas.microsoft.com/office/drawing/2014/main" id="{46CE9362-15C8-D54E-981B-E2717DFC6652}"/>
              </a:ext>
            </a:extLst>
          </p:cNvPr>
          <p:cNvSpPr/>
          <p:nvPr/>
        </p:nvSpPr>
        <p:spPr>
          <a:xfrm>
            <a:off x="0" y="-8101"/>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9" name="Picture 8" descr="Diagram&#10;&#10;Description automatically generated">
            <a:extLst>
              <a:ext uri="{FF2B5EF4-FFF2-40B4-BE49-F238E27FC236}">
                <a16:creationId xmlns:a16="http://schemas.microsoft.com/office/drawing/2014/main" id="{A3642AA4-CE07-3D40-B974-7E26A438A958}"/>
              </a:ext>
            </a:extLst>
          </p:cNvPr>
          <p:cNvPicPr/>
          <p:nvPr/>
        </p:nvPicPr>
        <p:blipFill>
          <a:blip r:embed="rId6">
            <a:extLst>
              <a:ext uri="{28A0092B-C50C-407E-A947-70E740481C1C}">
                <a14:useLocalDpi xmlns:a14="http://schemas.microsoft.com/office/drawing/2010/main"/>
              </a:ext>
            </a:extLst>
          </a:blip>
          <a:stretch>
            <a:fillRect/>
          </a:stretch>
        </p:blipFill>
        <p:spPr>
          <a:xfrm>
            <a:off x="2147410" y="2952083"/>
            <a:ext cx="5017140" cy="2924691"/>
          </a:xfrm>
          <a:prstGeom prst="rect">
            <a:avLst/>
          </a:prstGeom>
        </p:spPr>
      </p:pic>
      <p:sp>
        <p:nvSpPr>
          <p:cNvPr id="13" name="Google Shape;282;g104476d1465_1_17">
            <a:extLst>
              <a:ext uri="{FF2B5EF4-FFF2-40B4-BE49-F238E27FC236}">
                <a16:creationId xmlns:a16="http://schemas.microsoft.com/office/drawing/2014/main" id="{224A2A26-4A4F-5647-A2D5-98B57C02C25C}"/>
              </a:ext>
            </a:extLst>
          </p:cNvPr>
          <p:cNvSpPr txBox="1"/>
          <p:nvPr/>
        </p:nvSpPr>
        <p:spPr>
          <a:xfrm>
            <a:off x="8889924" y="6457798"/>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115</a:t>
            </a:r>
            <a:endParaRPr i="1" dirty="0">
              <a:latin typeface="Calibri"/>
              <a:ea typeface="Calibri"/>
              <a:cs typeface="Calibri"/>
              <a:sym typeface="Calibri"/>
            </a:endParaRPr>
          </a:p>
        </p:txBody>
      </p:sp>
    </p:spTree>
    <p:extLst>
      <p:ext uri="{BB962C8B-B14F-4D97-AF65-F5344CB8AC3E}">
        <p14:creationId xmlns:p14="http://schemas.microsoft.com/office/powerpoint/2010/main" val="74552332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278;g104476d1465_1_17">
            <a:extLst>
              <a:ext uri="{FF2B5EF4-FFF2-40B4-BE49-F238E27FC236}">
                <a16:creationId xmlns:a16="http://schemas.microsoft.com/office/drawing/2014/main" id="{01E1BEEC-C47B-3A48-99B3-7CB267A11974}"/>
              </a:ext>
            </a:extLst>
          </p:cNvPr>
          <p:cNvSpPr/>
          <p:nvPr/>
        </p:nvSpPr>
        <p:spPr>
          <a:xfrm>
            <a:off x="0" y="-8101"/>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graphicFrame>
            <p:nvGraphicFramePr>
              <p:cNvPr id="2" name="Table 1">
                <a:extLst>
                  <a:ext uri="{FF2B5EF4-FFF2-40B4-BE49-F238E27FC236}">
                    <a16:creationId xmlns:a16="http://schemas.microsoft.com/office/drawing/2014/main" id="{A306ADDB-798B-FF47-B2F6-F59B758E6D9C}"/>
                  </a:ext>
                </a:extLst>
              </p:cNvPr>
              <p:cNvGraphicFramePr>
                <a:graphicFrameLocks noGrp="1"/>
              </p:cNvGraphicFramePr>
              <p:nvPr>
                <p:extLst>
                  <p:ext uri="{D42A27DB-BD31-4B8C-83A1-F6EECF244321}">
                    <p14:modId xmlns:p14="http://schemas.microsoft.com/office/powerpoint/2010/main" val="3442861648"/>
                  </p:ext>
                </p:extLst>
              </p:nvPr>
            </p:nvGraphicFramePr>
            <p:xfrm>
              <a:off x="855291" y="412249"/>
              <a:ext cx="7456867" cy="5825034"/>
            </p:xfrm>
            <a:graphic>
              <a:graphicData uri="http://schemas.openxmlformats.org/drawingml/2006/table">
                <a:tbl>
                  <a:tblPr firstRow="1" firstCol="1" bandRow="1">
                    <a:tableStyleId>{A91F0D33-8C57-4600-99A7-42BC86742BE1}</a:tableStyleId>
                  </a:tblPr>
                  <a:tblGrid>
                    <a:gridCol w="3746489">
                      <a:extLst>
                        <a:ext uri="{9D8B030D-6E8A-4147-A177-3AD203B41FA5}">
                          <a16:colId xmlns:a16="http://schemas.microsoft.com/office/drawing/2014/main" val="3333909011"/>
                        </a:ext>
                      </a:extLst>
                    </a:gridCol>
                    <a:gridCol w="3710378">
                      <a:extLst>
                        <a:ext uri="{9D8B030D-6E8A-4147-A177-3AD203B41FA5}">
                          <a16:colId xmlns:a16="http://schemas.microsoft.com/office/drawing/2014/main" val="927864978"/>
                        </a:ext>
                      </a:extLst>
                    </a:gridCol>
                  </a:tblGrid>
                  <a:tr h="427483">
                    <a:tc>
                      <a:txBody>
                        <a:bodyPr/>
                        <a:lstStyle/>
                        <a:p>
                          <a:pPr marL="38100" marR="0" indent="-3810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Statement</a:t>
                          </a: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38100" marR="0" indent="-3810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Reason</a:t>
                          </a: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2599988757"/>
                      </a:ext>
                    </a:extLst>
                  </a:tr>
                  <a:tr h="889559">
                    <a:tc>
                      <a:txBody>
                        <a:bodyPr/>
                        <a:lstStyle/>
                        <a:p>
                          <a:pPr marL="38100" marR="0" indent="-3810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1. </a:t>
                          </a:r>
                          <a14:m>
                            <m:oMath xmlns:m="http://schemas.openxmlformats.org/officeDocument/2006/math">
                              <m:r>
                                <a:rPr lang="en-US" sz="2000">
                                  <a:effectLst/>
                                  <a:latin typeface="Cambria Math"/>
                                </a:rPr>
                                <m:t>𝑚</m:t>
                              </m:r>
                              <m:r>
                                <a:rPr lang="en-US" sz="2000">
                                  <a:effectLst/>
                                  <a:latin typeface="Cambria Math"/>
                                </a:rPr>
                                <m:t>∠1=</m:t>
                              </m:r>
                              <m:r>
                                <a:rPr lang="en-US" sz="2000">
                                  <a:effectLst/>
                                  <a:latin typeface="Cambria Math"/>
                                </a:rPr>
                                <m:t>𝑚</m:t>
                              </m:r>
                              <m:r>
                                <a:rPr lang="en-US" sz="2000">
                                  <a:effectLst/>
                                  <a:latin typeface="Cambria Math"/>
                                </a:rPr>
                                <m:t>∠3</m:t>
                              </m:r>
                            </m:oMath>
                          </a14:m>
                          <a:endParaRPr lang="en-US" sz="2000" dirty="0">
                            <a:effectLst/>
                            <a:latin typeface="Verdana" panose="020B0604030504040204" pitchFamily="34" charset="0"/>
                            <a:ea typeface="Verdana" panose="020B0604030504040204" pitchFamily="34" charset="0"/>
                            <a:cs typeface="Verdana" panose="020B0604030504040204" pitchFamily="34" charset="0"/>
                          </a:endParaRPr>
                        </a:p>
                      </a:txBody>
                      <a:tcPr marT="91440" marB="914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8100" marR="0" indent="-38100">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1. Given</a:t>
                          </a:r>
                        </a:p>
                      </a:txBody>
                      <a:tcPr marT="91440" marB="914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08010792"/>
                      </a:ext>
                    </a:extLst>
                  </a:tr>
                  <a:tr h="889559">
                    <a:tc>
                      <a:txBody>
                        <a:bodyPr/>
                        <a:lstStyle/>
                        <a:p>
                          <a:pPr marL="38100" marR="0" indent="-3810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2. </a:t>
                          </a:r>
                          <a14:m>
                            <m:oMath xmlns:m="http://schemas.openxmlformats.org/officeDocument/2006/math">
                              <m:r>
                                <a:rPr lang="en-US" sz="2000">
                                  <a:effectLst/>
                                  <a:latin typeface="Cambria Math"/>
                                </a:rPr>
                                <m:t>𝑚</m:t>
                              </m:r>
                              <m:r>
                                <a:rPr lang="en-US" sz="2000">
                                  <a:effectLst/>
                                  <a:latin typeface="Cambria Math"/>
                                </a:rPr>
                                <m:t>∠1+</m:t>
                              </m:r>
                              <m:r>
                                <a:rPr lang="en-US" sz="2000">
                                  <a:effectLst/>
                                  <a:latin typeface="Cambria Math"/>
                                </a:rPr>
                                <m:t>𝑚</m:t>
                              </m:r>
                              <m:r>
                                <a:rPr lang="en-US" sz="2000">
                                  <a:effectLst/>
                                  <a:latin typeface="Cambria Math"/>
                                </a:rPr>
                                <m:t>∠2=</m:t>
                              </m:r>
                              <m:r>
                                <a:rPr lang="en-US" sz="2000">
                                  <a:effectLst/>
                                  <a:latin typeface="Cambria Math"/>
                                </a:rPr>
                                <m:t>𝑚</m:t>
                              </m:r>
                              <m:r>
                                <a:rPr lang="en-US" sz="2000">
                                  <a:effectLst/>
                                  <a:latin typeface="Cambria Math"/>
                                </a:rPr>
                                <m:t>∠2+</m:t>
                              </m:r>
                              <m:r>
                                <a:rPr lang="en-US" sz="2000">
                                  <a:effectLst/>
                                  <a:latin typeface="Cambria Math"/>
                                </a:rPr>
                                <m:t>𝑚</m:t>
                              </m:r>
                              <m:r>
                                <a:rPr lang="en-US" sz="2000">
                                  <a:effectLst/>
                                  <a:latin typeface="Cambria Math"/>
                                </a:rPr>
                                <m:t>∠3</m:t>
                              </m:r>
                            </m:oMath>
                          </a14:m>
                          <a:endParaRPr lang="en-US" sz="2000" dirty="0">
                            <a:effectLst/>
                            <a:latin typeface="Verdana" panose="020B0604030504040204" pitchFamily="34" charset="0"/>
                            <a:ea typeface="Verdana" panose="020B0604030504040204" pitchFamily="34" charset="0"/>
                            <a:cs typeface="Verdana" panose="020B0604030504040204" pitchFamily="34" charset="0"/>
                          </a:endParaRPr>
                        </a:p>
                        <a:p>
                          <a:pPr marL="38100" marR="0" indent="-3810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marT="91440" marB="914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8100" marR="0" indent="-3810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2. </a:t>
                          </a:r>
                        </a:p>
                      </a:txBody>
                      <a:tcPr marT="91440" marB="914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57580415"/>
                      </a:ext>
                    </a:extLst>
                  </a:tr>
                  <a:tr h="889559">
                    <a:tc>
                      <a:txBody>
                        <a:bodyPr/>
                        <a:lstStyle/>
                        <a:p>
                          <a:pPr marL="38100" marR="0" indent="-3810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3. </a:t>
                          </a:r>
                          <a14:m>
                            <m:oMath xmlns:m="http://schemas.openxmlformats.org/officeDocument/2006/math">
                              <m:r>
                                <a:rPr lang="en-US" sz="2000">
                                  <a:effectLst/>
                                  <a:latin typeface="Cambria Math"/>
                                </a:rPr>
                                <m:t>𝑚</m:t>
                              </m:r>
                              <m:r>
                                <a:rPr lang="en-US" sz="2000">
                                  <a:effectLst/>
                                  <a:latin typeface="Cambria Math"/>
                                </a:rPr>
                                <m:t>∠1+</m:t>
                              </m:r>
                              <m:r>
                                <a:rPr lang="en-US" sz="2000">
                                  <a:effectLst/>
                                  <a:latin typeface="Cambria Math"/>
                                </a:rPr>
                                <m:t>𝑚</m:t>
                              </m:r>
                              <m:r>
                                <a:rPr lang="en-US" sz="2000">
                                  <a:effectLst/>
                                  <a:latin typeface="Cambria Math"/>
                                </a:rPr>
                                <m:t>∠2=</m:t>
                              </m:r>
                              <m:r>
                                <a:rPr lang="en-US" sz="2000">
                                  <a:effectLst/>
                                  <a:latin typeface="Cambria Math"/>
                                </a:rPr>
                                <m:t>𝑚</m:t>
                              </m:r>
                              <m:r>
                                <a:rPr lang="en-US" sz="2000">
                                  <a:effectLst/>
                                  <a:latin typeface="Cambria Math"/>
                                </a:rPr>
                                <m:t>∠</m:t>
                              </m:r>
                              <m:r>
                                <a:rPr lang="en-US" sz="2000">
                                  <a:effectLst/>
                                  <a:latin typeface="Cambria Math"/>
                                </a:rPr>
                                <m:t>𝑅𝑇𝐺</m:t>
                              </m:r>
                            </m:oMath>
                          </a14:m>
                          <a:endParaRPr lang="en-US" sz="2000" dirty="0">
                            <a:effectLst/>
                            <a:latin typeface="Verdana" panose="020B0604030504040204" pitchFamily="34" charset="0"/>
                            <a:ea typeface="Verdana" panose="020B0604030504040204" pitchFamily="34" charset="0"/>
                            <a:cs typeface="Verdana" panose="020B0604030504040204" pitchFamily="34" charset="0"/>
                          </a:endParaRPr>
                        </a:p>
                        <a:p>
                          <a:pPr marL="38100" marR="0" indent="-3810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marT="91440" marB="914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8100" marR="0" indent="-3810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3. </a:t>
                          </a:r>
                        </a:p>
                      </a:txBody>
                      <a:tcPr marT="91440" marB="914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49103833"/>
                      </a:ext>
                    </a:extLst>
                  </a:tr>
                  <a:tr h="889559">
                    <a:tc>
                      <a:txBody>
                        <a:bodyPr/>
                        <a:lstStyle/>
                        <a:p>
                          <a:pPr marL="38100" marR="0" indent="-3810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4. </a:t>
                          </a:r>
                          <a14:m>
                            <m:oMath xmlns:m="http://schemas.openxmlformats.org/officeDocument/2006/math">
                              <m:r>
                                <a:rPr lang="en-US" sz="2000">
                                  <a:effectLst/>
                                  <a:latin typeface="Cambria Math"/>
                                </a:rPr>
                                <m:t>𝑚</m:t>
                              </m:r>
                              <m:r>
                                <a:rPr lang="en-US" sz="2000">
                                  <a:effectLst/>
                                  <a:latin typeface="Cambria Math"/>
                                </a:rPr>
                                <m:t>∠2+</m:t>
                              </m:r>
                              <m:r>
                                <a:rPr lang="en-US" sz="2000">
                                  <a:effectLst/>
                                  <a:latin typeface="Cambria Math"/>
                                </a:rPr>
                                <m:t>𝑚</m:t>
                              </m:r>
                              <m:r>
                                <a:rPr lang="en-US" sz="2000">
                                  <a:effectLst/>
                                  <a:latin typeface="Cambria Math"/>
                                </a:rPr>
                                <m:t>∠3=</m:t>
                              </m:r>
                              <m:r>
                                <a:rPr lang="en-US" sz="2000">
                                  <a:effectLst/>
                                  <a:latin typeface="Cambria Math"/>
                                </a:rPr>
                                <m:t>𝑚</m:t>
                              </m:r>
                              <m:r>
                                <a:rPr lang="en-US" sz="2000">
                                  <a:effectLst/>
                                  <a:latin typeface="Cambria Math"/>
                                </a:rPr>
                                <m:t>∠</m:t>
                              </m:r>
                              <m:r>
                                <a:rPr lang="en-US" sz="2000">
                                  <a:effectLst/>
                                  <a:latin typeface="Cambria Math"/>
                                </a:rPr>
                                <m:t>𝑊𝑇𝑀</m:t>
                              </m:r>
                            </m:oMath>
                          </a14:m>
                          <a:endParaRPr lang="en-US" sz="2000" dirty="0">
                            <a:effectLst/>
                            <a:latin typeface="Verdana" panose="020B0604030504040204" pitchFamily="34" charset="0"/>
                            <a:ea typeface="Verdana" panose="020B0604030504040204" pitchFamily="34" charset="0"/>
                            <a:cs typeface="Verdana" panose="020B0604030504040204" pitchFamily="34" charset="0"/>
                          </a:endParaRPr>
                        </a:p>
                        <a:p>
                          <a:pPr marL="38100" marR="0" indent="-3810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marT="91440" marB="914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8100" marR="0" indent="-3810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4. </a:t>
                          </a:r>
                        </a:p>
                      </a:txBody>
                      <a:tcPr marT="91440" marB="914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8462778"/>
                      </a:ext>
                    </a:extLst>
                  </a:tr>
                  <a:tr h="889559">
                    <a:tc>
                      <a:txBody>
                        <a:bodyPr/>
                        <a:lstStyle/>
                        <a:p>
                          <a:pPr marL="38100" marR="0" indent="-38100">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5. </a:t>
                          </a:r>
                          <a14:m>
                            <m:oMath xmlns:m="http://schemas.openxmlformats.org/officeDocument/2006/math">
                              <m:r>
                                <a:rPr lang="en-US" sz="2000">
                                  <a:effectLst/>
                                  <a:latin typeface="Cambria Math"/>
                                </a:rPr>
                                <m:t>𝑚</m:t>
                              </m:r>
                              <m:r>
                                <a:rPr lang="en-US" sz="2000">
                                  <a:effectLst/>
                                  <a:latin typeface="Cambria Math"/>
                                </a:rPr>
                                <m:t>∠</m:t>
                              </m:r>
                              <m:r>
                                <a:rPr lang="en-US" sz="2000">
                                  <a:effectLst/>
                                  <a:latin typeface="Cambria Math"/>
                                </a:rPr>
                                <m:t>𝑅𝑇𝐺</m:t>
                              </m:r>
                              <m:r>
                                <a:rPr lang="en-US" sz="2000">
                                  <a:effectLst/>
                                  <a:latin typeface="Cambria Math"/>
                                </a:rPr>
                                <m:t>=</m:t>
                              </m:r>
                              <m:r>
                                <a:rPr lang="en-US" sz="2000">
                                  <a:effectLst/>
                                  <a:latin typeface="Cambria Math"/>
                                </a:rPr>
                                <m:t>𝑚</m:t>
                              </m:r>
                              <m:r>
                                <a:rPr lang="en-US" sz="2000">
                                  <a:effectLst/>
                                  <a:latin typeface="Cambria Math"/>
                                </a:rPr>
                                <m:t>∠</m:t>
                              </m:r>
                              <m:r>
                                <a:rPr lang="en-US" sz="2000">
                                  <a:effectLst/>
                                  <a:latin typeface="Cambria Math"/>
                                </a:rPr>
                                <m:t>𝑊𝑇𝑀</m:t>
                              </m:r>
                            </m:oMath>
                          </a14:m>
                          <a:endParaRPr lang="en-US" sz="2000">
                            <a:effectLst/>
                            <a:latin typeface="Verdana" panose="020B0604030504040204" pitchFamily="34" charset="0"/>
                            <a:ea typeface="Verdana" panose="020B0604030504040204" pitchFamily="34" charset="0"/>
                            <a:cs typeface="Verdana" panose="020B0604030504040204" pitchFamily="34" charset="0"/>
                          </a:endParaRPr>
                        </a:p>
                        <a:p>
                          <a:pPr marL="38100" marR="0" indent="-38100">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p>
                      </a:txBody>
                      <a:tcPr marT="91440" marB="914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8100" marR="0" indent="-3810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5. </a:t>
                          </a:r>
                        </a:p>
                      </a:txBody>
                      <a:tcPr marT="91440" marB="914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27426845"/>
                      </a:ext>
                    </a:extLst>
                  </a:tr>
                  <a:tr h="889559">
                    <a:tc>
                      <a:txBody>
                        <a:bodyPr/>
                        <a:lstStyle/>
                        <a:p>
                          <a:pPr marL="38100" marR="0" indent="-38100">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6. </a:t>
                          </a:r>
                          <a14:m>
                            <m:oMath xmlns:m="http://schemas.openxmlformats.org/officeDocument/2006/math">
                              <m:r>
                                <a:rPr lang="en-US" sz="2000">
                                  <a:effectLst/>
                                  <a:latin typeface="Cambria Math"/>
                                </a:rPr>
                                <m:t>∠</m:t>
                              </m:r>
                              <m:r>
                                <a:rPr lang="en-US" sz="2000">
                                  <a:effectLst/>
                                  <a:latin typeface="Cambria Math"/>
                                </a:rPr>
                                <m:t>𝑅𝑇𝐺</m:t>
                              </m:r>
                              <m:r>
                                <a:rPr lang="en-US" sz="2000">
                                  <a:effectLst/>
                                  <a:latin typeface="Cambria Math"/>
                                </a:rPr>
                                <m:t>≅∠</m:t>
                              </m:r>
                              <m:r>
                                <a:rPr lang="en-US" sz="2000">
                                  <a:effectLst/>
                                  <a:latin typeface="Cambria Math"/>
                                </a:rPr>
                                <m:t>𝑊𝑇𝑀</m:t>
                              </m:r>
                            </m:oMath>
                          </a14:m>
                          <a:endParaRPr lang="en-US" sz="2000">
                            <a:effectLst/>
                            <a:latin typeface="Verdana" panose="020B0604030504040204" pitchFamily="34" charset="0"/>
                            <a:ea typeface="Verdana" panose="020B0604030504040204" pitchFamily="34" charset="0"/>
                            <a:cs typeface="Verdana" panose="020B0604030504040204" pitchFamily="34" charset="0"/>
                          </a:endParaRPr>
                        </a:p>
                        <a:p>
                          <a:pPr marL="38100" marR="0" indent="-38100">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p>
                      </a:txBody>
                      <a:tcPr marT="91440" marB="914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8100" marR="0" indent="-3810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6.</a:t>
                          </a:r>
                        </a:p>
                      </a:txBody>
                      <a:tcPr marT="91440" marB="914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77927727"/>
                      </a:ext>
                    </a:extLst>
                  </a:tr>
                </a:tbl>
              </a:graphicData>
            </a:graphic>
          </p:graphicFrame>
        </mc:Choice>
        <mc:Fallback xmlns="">
          <p:graphicFrame>
            <p:nvGraphicFramePr>
              <p:cNvPr id="2" name="Table 1">
                <a:extLst>
                  <a:ext uri="{FF2B5EF4-FFF2-40B4-BE49-F238E27FC236}">
                    <a16:creationId xmlns:a16="http://schemas.microsoft.com/office/drawing/2014/main" id="{A306ADDB-798B-FF47-B2F6-F59B758E6D9C}"/>
                  </a:ext>
                </a:extLst>
              </p:cNvPr>
              <p:cNvGraphicFramePr>
                <a:graphicFrameLocks noGrp="1"/>
              </p:cNvGraphicFramePr>
              <p:nvPr>
                <p:extLst>
                  <p:ext uri="{D42A27DB-BD31-4B8C-83A1-F6EECF244321}">
                    <p14:modId xmlns:p14="http://schemas.microsoft.com/office/powerpoint/2010/main" val="3442861648"/>
                  </p:ext>
                </p:extLst>
              </p:nvPr>
            </p:nvGraphicFramePr>
            <p:xfrm>
              <a:off x="855291" y="412249"/>
              <a:ext cx="7456867" cy="5825034"/>
            </p:xfrm>
            <a:graphic>
              <a:graphicData uri="http://schemas.openxmlformats.org/drawingml/2006/table">
                <a:tbl>
                  <a:tblPr firstRow="1" firstCol="1" bandRow="1">
                    <a:tableStyleId>{A91F0D33-8C57-4600-99A7-42BC86742BE1}</a:tableStyleId>
                  </a:tblPr>
                  <a:tblGrid>
                    <a:gridCol w="3746489">
                      <a:extLst>
                        <a:ext uri="{9D8B030D-6E8A-4147-A177-3AD203B41FA5}">
                          <a16:colId xmlns:a16="http://schemas.microsoft.com/office/drawing/2014/main" val="3333909011"/>
                        </a:ext>
                      </a:extLst>
                    </a:gridCol>
                    <a:gridCol w="3710378">
                      <a:extLst>
                        <a:ext uri="{9D8B030D-6E8A-4147-A177-3AD203B41FA5}">
                          <a16:colId xmlns:a16="http://schemas.microsoft.com/office/drawing/2014/main" val="927864978"/>
                        </a:ext>
                      </a:extLst>
                    </a:gridCol>
                  </a:tblGrid>
                  <a:tr h="487680">
                    <a:tc>
                      <a:txBody>
                        <a:bodyPr/>
                        <a:lstStyle/>
                        <a:p>
                          <a:pPr marL="38100" marR="0" indent="-3810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Statement</a:t>
                          </a: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38100" marR="0" indent="-3810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Reason</a:t>
                          </a: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2599988757"/>
                      </a:ext>
                    </a:extLst>
                  </a:tr>
                  <a:tr h="889559">
                    <a:tc>
                      <a:txBody>
                        <a:bodyPr/>
                        <a:lstStyle/>
                        <a:p>
                          <a:endParaRPr lang="en-US"/>
                        </a:p>
                      </a:txBody>
                      <a:tcPr marT="91440" marB="914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63" t="-55479" r="-99350" b="-502055"/>
                          </a:stretch>
                        </a:blipFill>
                      </a:tcPr>
                    </a:tc>
                    <a:tc>
                      <a:txBody>
                        <a:bodyPr/>
                        <a:lstStyle/>
                        <a:p>
                          <a:pPr marL="38100" marR="0" indent="-38100">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1. Given</a:t>
                          </a:r>
                        </a:p>
                      </a:txBody>
                      <a:tcPr marT="91440" marB="914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08010792"/>
                      </a:ext>
                    </a:extLst>
                  </a:tr>
                  <a:tr h="889559">
                    <a:tc>
                      <a:txBody>
                        <a:bodyPr/>
                        <a:lstStyle/>
                        <a:p>
                          <a:endParaRPr lang="en-US"/>
                        </a:p>
                      </a:txBody>
                      <a:tcPr marT="91440" marB="914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63" t="-155479" r="-99350" b="-402055"/>
                          </a:stretch>
                        </a:blipFill>
                      </a:tcPr>
                    </a:tc>
                    <a:tc>
                      <a:txBody>
                        <a:bodyPr/>
                        <a:lstStyle/>
                        <a:p>
                          <a:pPr marL="38100" marR="0" indent="-3810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2. </a:t>
                          </a:r>
                        </a:p>
                      </a:txBody>
                      <a:tcPr marT="91440" marB="914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57580415"/>
                      </a:ext>
                    </a:extLst>
                  </a:tr>
                  <a:tr h="889559">
                    <a:tc>
                      <a:txBody>
                        <a:bodyPr/>
                        <a:lstStyle/>
                        <a:p>
                          <a:endParaRPr lang="en-US"/>
                        </a:p>
                      </a:txBody>
                      <a:tcPr marT="91440" marB="914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63" t="-253741" r="-99350" b="-299320"/>
                          </a:stretch>
                        </a:blipFill>
                      </a:tcPr>
                    </a:tc>
                    <a:tc>
                      <a:txBody>
                        <a:bodyPr/>
                        <a:lstStyle/>
                        <a:p>
                          <a:pPr marL="38100" marR="0" indent="-3810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3. </a:t>
                          </a:r>
                        </a:p>
                      </a:txBody>
                      <a:tcPr marT="91440" marB="914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49103833"/>
                      </a:ext>
                    </a:extLst>
                  </a:tr>
                  <a:tr h="889559">
                    <a:tc>
                      <a:txBody>
                        <a:bodyPr/>
                        <a:lstStyle/>
                        <a:p>
                          <a:endParaRPr lang="en-US"/>
                        </a:p>
                      </a:txBody>
                      <a:tcPr marT="91440" marB="914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63" t="-356164" r="-99350" b="-201370"/>
                          </a:stretch>
                        </a:blipFill>
                      </a:tcPr>
                    </a:tc>
                    <a:tc>
                      <a:txBody>
                        <a:bodyPr/>
                        <a:lstStyle/>
                        <a:p>
                          <a:pPr marL="38100" marR="0" indent="-3810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4. </a:t>
                          </a:r>
                        </a:p>
                      </a:txBody>
                      <a:tcPr marT="91440" marB="914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8462778"/>
                      </a:ext>
                    </a:extLst>
                  </a:tr>
                  <a:tr h="889559">
                    <a:tc>
                      <a:txBody>
                        <a:bodyPr/>
                        <a:lstStyle/>
                        <a:p>
                          <a:endParaRPr lang="en-US"/>
                        </a:p>
                      </a:txBody>
                      <a:tcPr marT="91440" marB="914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63" t="-456164" r="-99350" b="-101370"/>
                          </a:stretch>
                        </a:blipFill>
                      </a:tcPr>
                    </a:tc>
                    <a:tc>
                      <a:txBody>
                        <a:bodyPr/>
                        <a:lstStyle/>
                        <a:p>
                          <a:pPr marL="38100" marR="0" indent="-3810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5. </a:t>
                          </a:r>
                        </a:p>
                      </a:txBody>
                      <a:tcPr marT="91440" marB="914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27426845"/>
                      </a:ext>
                    </a:extLst>
                  </a:tr>
                  <a:tr h="889559">
                    <a:tc>
                      <a:txBody>
                        <a:bodyPr/>
                        <a:lstStyle/>
                        <a:p>
                          <a:endParaRPr lang="en-US"/>
                        </a:p>
                      </a:txBody>
                      <a:tcPr marT="91440" marB="914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63" t="-556164" r="-99350" b="-1370"/>
                          </a:stretch>
                        </a:blipFill>
                      </a:tcPr>
                    </a:tc>
                    <a:tc>
                      <a:txBody>
                        <a:bodyPr/>
                        <a:lstStyle/>
                        <a:p>
                          <a:pPr marL="38100" marR="0" indent="-3810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6.</a:t>
                          </a:r>
                        </a:p>
                      </a:txBody>
                      <a:tcPr marT="91440" marB="914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77927727"/>
                      </a:ext>
                    </a:extLst>
                  </a:tr>
                </a:tbl>
              </a:graphicData>
            </a:graphic>
          </p:graphicFrame>
        </mc:Fallback>
      </mc:AlternateContent>
      <p:sp>
        <p:nvSpPr>
          <p:cNvPr id="8" name="Google Shape;282;g104476d1465_1_17">
            <a:extLst>
              <a:ext uri="{FF2B5EF4-FFF2-40B4-BE49-F238E27FC236}">
                <a16:creationId xmlns:a16="http://schemas.microsoft.com/office/drawing/2014/main" id="{2D9617A2-0FE0-AD4E-8F87-48DEF78C632A}"/>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115</a:t>
            </a:r>
            <a:endParaRPr i="1" dirty="0">
              <a:latin typeface="Calibri"/>
              <a:ea typeface="Calibri"/>
              <a:cs typeface="Calibri"/>
              <a:sym typeface="Calibri"/>
            </a:endParaRPr>
          </a:p>
        </p:txBody>
      </p:sp>
    </p:spTree>
    <p:extLst>
      <p:ext uri="{BB962C8B-B14F-4D97-AF65-F5344CB8AC3E}">
        <p14:creationId xmlns:p14="http://schemas.microsoft.com/office/powerpoint/2010/main" val="191838541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5"/>
            <a:ext cx="2731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250339" y="277910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a16="http://schemas.microsoft.com/office/drawing/2014/main" id="{DE95225C-59B5-E847-AFA2-B83DCFFA10D8}"/>
              </a:ext>
            </a:extLst>
          </p:cNvPr>
          <p:cNvPicPr preferRelativeResize="0"/>
          <p:nvPr/>
        </p:nvPicPr>
        <p:blipFill rotWithShape="1">
          <a:blip r:embed="rId4">
            <a:alphaModFix/>
          </a:blip>
          <a:srcRect/>
          <a:stretch/>
        </p:blipFill>
        <p:spPr>
          <a:xfrm>
            <a:off x="4429333" y="2933695"/>
            <a:ext cx="1008299" cy="1016513"/>
          </a:xfrm>
          <a:prstGeom prst="rect">
            <a:avLst/>
          </a:prstGeom>
          <a:noFill/>
          <a:ln>
            <a:noFill/>
          </a:ln>
          <a:effectLst>
            <a:outerShdw blurRad="50800" dist="38100" dir="2700000" algn="tl" rotWithShape="0">
              <a:prstClr val="black">
                <a:alpha val="40000"/>
              </a:prstClr>
            </a:outerShdw>
          </a:effectLst>
        </p:spPr>
      </p:pic>
      <p:sp>
        <p:nvSpPr>
          <p:cNvPr id="8" name="Google Shape;282;g104476d1465_1_17">
            <a:extLst>
              <a:ext uri="{FF2B5EF4-FFF2-40B4-BE49-F238E27FC236}">
                <a16:creationId xmlns:a16="http://schemas.microsoft.com/office/drawing/2014/main" id="{1F83D629-FF1F-D44F-B8D2-1522CBA4FA89}"/>
              </a:ext>
            </a:extLst>
          </p:cNvPr>
          <p:cNvSpPr txBox="1"/>
          <p:nvPr/>
        </p:nvSpPr>
        <p:spPr>
          <a:xfrm>
            <a:off x="8889924"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116</a:t>
            </a:r>
            <a:endParaRPr i="1" dirty="0">
              <a:latin typeface="Calibri"/>
              <a:ea typeface="Calibri"/>
              <a:cs typeface="Calibri"/>
              <a:sym typeface="Calibri"/>
            </a:endParaRPr>
          </a:p>
        </p:txBody>
      </p:sp>
    </p:spTree>
    <p:extLst>
      <p:ext uri="{BB962C8B-B14F-4D97-AF65-F5344CB8AC3E}">
        <p14:creationId xmlns:p14="http://schemas.microsoft.com/office/powerpoint/2010/main" val="67690871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456;g103996e1364_0_463">
            <a:extLst>
              <a:ext uri="{FF2B5EF4-FFF2-40B4-BE49-F238E27FC236}">
                <a16:creationId xmlns:a16="http://schemas.microsoft.com/office/drawing/2014/main" id="{68C03D65-F0BF-3F41-B52A-024F47388982}"/>
              </a:ext>
            </a:extLst>
          </p:cNvPr>
          <p:cNvSpPr txBox="1">
            <a:spLocks/>
          </p:cNvSpPr>
          <p:nvPr/>
        </p:nvSpPr>
        <p:spPr>
          <a:xfrm>
            <a:off x="1134800" y="264440"/>
            <a:ext cx="8019300" cy="506768"/>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2.7.5 Wrap-Up: Reflection</a:t>
            </a:r>
          </a:p>
        </p:txBody>
      </p:sp>
      <p:pic>
        <p:nvPicPr>
          <p:cNvPr id="9" name="Google Shape;458;g103996e1364_0_463">
            <a:extLst>
              <a:ext uri="{FF2B5EF4-FFF2-40B4-BE49-F238E27FC236}">
                <a16:creationId xmlns:a16="http://schemas.microsoft.com/office/drawing/2014/main" id="{EEA44D6C-2366-AC41-B1B5-EDDC34786A66}"/>
              </a:ext>
            </a:extLst>
          </p:cNvPr>
          <p:cNvPicPr preferRelativeResize="0"/>
          <p:nvPr/>
        </p:nvPicPr>
        <p:blipFill rotWithShape="1">
          <a:blip r:embed="rId4">
            <a:alphaModFix/>
          </a:blip>
          <a:srcRect/>
          <a:stretch/>
        </p:blipFill>
        <p:spPr>
          <a:xfrm>
            <a:off x="305350" y="144174"/>
            <a:ext cx="747300" cy="747300"/>
          </a:xfrm>
          <a:prstGeom prst="rect">
            <a:avLst/>
          </a:prstGeom>
          <a:noFill/>
          <a:ln>
            <a:noFill/>
          </a:ln>
          <a:effectLst>
            <a:outerShdw blurRad="50800" dist="38100" dir="2700000" algn="tl" rotWithShape="0">
              <a:prstClr val="black">
                <a:alpha val="40000"/>
              </a:prstClr>
            </a:outerShdw>
          </a:effectLst>
        </p:spPr>
      </p:pic>
      <p:sp>
        <p:nvSpPr>
          <p:cNvPr id="12" name="TextBox 11">
            <a:extLst>
              <a:ext uri="{FF2B5EF4-FFF2-40B4-BE49-F238E27FC236}">
                <a16:creationId xmlns:a16="http://schemas.microsoft.com/office/drawing/2014/main" id="{0370EDB7-6994-3D43-ABF9-E04CBAFB9CD9}"/>
              </a:ext>
            </a:extLst>
          </p:cNvPr>
          <p:cNvSpPr txBox="1"/>
          <p:nvPr/>
        </p:nvSpPr>
        <p:spPr>
          <a:xfrm>
            <a:off x="679000" y="1179517"/>
            <a:ext cx="10844924" cy="707886"/>
          </a:xfrm>
          <a:prstGeom prst="rect">
            <a:avLst/>
          </a:prstGeom>
          <a:noFill/>
        </p:spPr>
        <p:txBody>
          <a:bodyPr wrap="square" rtlCol="0">
            <a:spAutoFit/>
          </a:bodyPr>
          <a:lstStyle/>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Plot a point in one of the quadrants below to indicate how you feel about today’s lesson.</a:t>
            </a:r>
          </a:p>
        </p:txBody>
      </p:sp>
      <p:sp>
        <p:nvSpPr>
          <p:cNvPr id="10" name="Google Shape;278;g104476d1465_1_17">
            <a:extLst>
              <a:ext uri="{FF2B5EF4-FFF2-40B4-BE49-F238E27FC236}">
                <a16:creationId xmlns:a16="http://schemas.microsoft.com/office/drawing/2014/main" id="{69767437-9B0B-9D43-A596-1373A90D9FE8}"/>
              </a:ext>
            </a:extLst>
          </p:cNvPr>
          <p:cNvSpPr/>
          <p:nvPr/>
        </p:nvSpPr>
        <p:spPr>
          <a:xfrm>
            <a:off x="0" y="-8101"/>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8" name="image30.png" descr="A close up of a flower&#10;&#10;Description automatically generated">
            <a:extLst>
              <a:ext uri="{FF2B5EF4-FFF2-40B4-BE49-F238E27FC236}">
                <a16:creationId xmlns:a16="http://schemas.microsoft.com/office/drawing/2014/main" id="{DE6158AD-D62B-9E4C-9F19-3C4E9282FC5D}"/>
              </a:ext>
            </a:extLst>
          </p:cNvPr>
          <p:cNvPicPr/>
          <p:nvPr/>
        </p:nvPicPr>
        <p:blipFill>
          <a:blip r:embed="rId5">
            <a:extLst>
              <a:ext uri="{28A0092B-C50C-407E-A947-70E740481C1C}">
                <a14:useLocalDpi xmlns:a14="http://schemas.microsoft.com/office/drawing/2010/main"/>
              </a:ext>
            </a:extLst>
          </a:blip>
          <a:srcRect/>
          <a:stretch>
            <a:fillRect/>
          </a:stretch>
        </p:blipFill>
        <p:spPr>
          <a:xfrm>
            <a:off x="2057051" y="1920382"/>
            <a:ext cx="4929586" cy="4608980"/>
          </a:xfrm>
          <a:prstGeom prst="rect">
            <a:avLst/>
          </a:prstGeom>
          <a:ln/>
        </p:spPr>
      </p:pic>
      <p:sp>
        <p:nvSpPr>
          <p:cNvPr id="11" name="Google Shape;282;g104476d1465_1_17">
            <a:extLst>
              <a:ext uri="{FF2B5EF4-FFF2-40B4-BE49-F238E27FC236}">
                <a16:creationId xmlns:a16="http://schemas.microsoft.com/office/drawing/2014/main" id="{98D71D64-38ED-004F-9958-64A0ED6BE30F}"/>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116</a:t>
            </a:r>
            <a:endParaRPr i="1" dirty="0">
              <a:latin typeface="Calibri"/>
              <a:ea typeface="Calibri"/>
              <a:cs typeface="Calibri"/>
              <a:sym typeface="Calibri"/>
            </a:endParaRPr>
          </a:p>
        </p:txBody>
      </p:sp>
    </p:spTree>
    <p:extLst>
      <p:ext uri="{BB962C8B-B14F-4D97-AF65-F5344CB8AC3E}">
        <p14:creationId xmlns:p14="http://schemas.microsoft.com/office/powerpoint/2010/main" val="553995615"/>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1289</TotalTime>
  <Words>1134</Words>
  <Application>Microsoft Office PowerPoint</Application>
  <PresentationFormat>Widescreen</PresentationFormat>
  <Paragraphs>192</Paragraphs>
  <Slides>24</Slides>
  <Notes>24</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24</vt:i4>
      </vt:variant>
    </vt:vector>
  </HeadingPairs>
  <TitlesOfParts>
    <vt:vector size="33" baseType="lpstr">
      <vt:lpstr>Calibri</vt:lpstr>
      <vt:lpstr>Cambria</vt:lpstr>
      <vt:lpstr>Arial Black</vt:lpstr>
      <vt:lpstr>Verdana</vt:lpstr>
      <vt:lpstr>Century Gothic</vt:lpstr>
      <vt:lpstr>Arial</vt:lpstr>
      <vt:lpstr>Cambria Math</vt:lpstr>
      <vt:lpstr>Wingdings</vt:lpstr>
      <vt:lpstr>1_Office Theme</vt:lpstr>
      <vt:lpstr>Geometry  Unit 2, Lesson 7  Proofs – Part 1  Volume 1, pg. 111  </vt:lpstr>
      <vt:lpstr>Benchmarks</vt:lpstr>
      <vt:lpstr>PowerPoint Presentation</vt:lpstr>
      <vt:lpstr>PowerPoint Presentation</vt:lpstr>
      <vt:lpstr>Warm-Up</vt:lpstr>
      <vt:lpstr>PowerPoint Presentation</vt:lpstr>
      <vt:lpstr>PowerPoint Presentation</vt:lpstr>
      <vt:lpstr>Exploration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Guided Instruction</vt:lpstr>
      <vt:lpstr>PowerPoint Presentation</vt:lpstr>
      <vt:lpstr>PowerPoint Presentation</vt:lpstr>
      <vt:lpstr>Guided Practice</vt:lpstr>
      <vt:lpstr>PowerPoint Presentation</vt:lpstr>
      <vt:lpstr>PowerPoint Presentation</vt:lpstr>
      <vt:lpstr>Wrap-Up</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dc:title>
  <dc:creator>Karen McKenzie</dc:creator>
  <cp:lastModifiedBy>Cassie O'Connor</cp:lastModifiedBy>
  <cp:revision>28</cp:revision>
  <dcterms:created xsi:type="dcterms:W3CDTF">2015-03-17T18:51:18Z</dcterms:created>
  <dcterms:modified xsi:type="dcterms:W3CDTF">2022-07-03T02:14:59Z</dcterms:modified>
</cp:coreProperties>
</file>