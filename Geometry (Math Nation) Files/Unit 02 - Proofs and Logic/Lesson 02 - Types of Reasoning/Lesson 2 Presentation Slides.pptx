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1" r:id="rId9"/>
    <p:sldId id="312" r:id="rId10"/>
    <p:sldId id="332" r:id="rId11"/>
    <p:sldId id="313" r:id="rId12"/>
    <p:sldId id="333" r:id="rId13"/>
    <p:sldId id="334" r:id="rId14"/>
    <p:sldId id="335" r:id="rId15"/>
    <p:sldId id="336" r:id="rId16"/>
    <p:sldId id="337" r:id="rId17"/>
    <p:sldId id="338" r:id="rId18"/>
    <p:sldId id="329" r:id="rId19"/>
    <p:sldId id="330" r:id="rId20"/>
    <p:sldId id="331" r:id="rId21"/>
    <p:sldId id="306" r:id="rId22"/>
    <p:sldId id="307" r:id="rId23"/>
  </p:sldIdLst>
  <p:sldSz cx="12192000" cy="6858000"/>
  <p:notesSz cx="6858000" cy="9144000"/>
  <p:embeddedFontLst>
    <p:embeddedFont>
      <p:font typeface="Arial Black" panose="020B0604020202020204" pitchFamily="34" charset="0"/>
      <p:bold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mbria Math" panose="02040503050406030204" pitchFamily="18" charset="0"/>
      <p:regular r:id="rId30"/>
    </p:embeddedFont>
    <p:embeddedFont>
      <p:font typeface="Century Gothic" panose="020B0502020202020204" pitchFamily="34" charset="0"/>
      <p:regular r:id="rId31"/>
      <p:bold r:id="rId32"/>
      <p:italic r:id="rId33"/>
      <p:boldItalic r:id="rId34"/>
    </p:embeddedFont>
    <p:embeddedFont>
      <p:font typeface="Verdana" panose="020B060403050404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7"/>
    <a:srgbClr val="FCBD1E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 autoAdjust="0"/>
    <p:restoredTop sz="94754"/>
  </p:normalViewPr>
  <p:slideViewPr>
    <p:cSldViewPr snapToGrid="0">
      <p:cViewPr varScale="1">
        <p:scale>
          <a:sx n="124" d="100"/>
          <a:sy n="124" d="100"/>
        </p:scale>
        <p:origin x="54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5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386249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19219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7781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85433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24986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39455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09038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68408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06461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0.png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Types of Reasoning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89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8425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MA.912.GR.1.1 </a:t>
            </a:r>
          </a:p>
          <a:p>
            <a:pPr marL="460375" indent="0">
              <a:buSzPts val="1100"/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Prove relationships and theorems about lines and angles. Solve mathematical and real-world problems involving postulates, relationships and theorems of lines and angles.</a:t>
            </a:r>
          </a:p>
          <a:p>
            <a:pPr marL="460375" indent="0">
              <a:buSzPts val="1100"/>
              <a:buNone/>
            </a:pPr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MA.912.LT.4.10</a:t>
            </a:r>
          </a:p>
          <a:p>
            <a:pPr indent="0">
              <a:buNone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Judge the validity of arguments and give counterexamples to disprove statements. 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37892"/>
            <a:ext cx="891955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604615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A81EC6E8-E3AD-044D-A14C-CBAEAD12A11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784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98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3999" y="1600324"/>
            <a:ext cx="1086823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41338" indent="-541338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write a conjecture.</a:t>
            </a:r>
          </a:p>
          <a:p>
            <a:pPr marL="541338" indent="-541338">
              <a:buFont typeface="Wingdings" pitchFamily="2" charset="2"/>
              <a:buChar char="q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41338" indent="-541338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write a counterexample. </a:t>
            </a:r>
          </a:p>
          <a:p>
            <a:pPr marL="541338" indent="-541338">
              <a:buFont typeface="Wingdings" pitchFamily="2" charset="2"/>
              <a:buChar char="q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41338" indent="-541338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use inductive and deductive reasoning.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F3099EB0-81A2-4E47-9F16-F6BDEA4C63EC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803A2BE6-69B3-7F41-BB6B-CC63FE1DAE0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8B3DF39-8C9C-1140-9225-C9707C70719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8483" y="2343698"/>
            <a:ext cx="1716405" cy="171640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6D2192-7797-4A4C-B243-022058725BC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12983" y="2334727"/>
            <a:ext cx="1743075" cy="17164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F1C8FA-4D30-994F-A078-52546669A56F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4977" y="4505552"/>
            <a:ext cx="1770481" cy="18474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4CE825-1A59-8F4E-89F0-5A191148B53D}"/>
              </a:ext>
            </a:extLst>
          </p:cNvPr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50014" y="4505552"/>
            <a:ext cx="1869012" cy="1847458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E1B8331-0021-2941-A494-7AD2F5AA43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95953"/>
              </p:ext>
            </p:extLst>
          </p:nvPr>
        </p:nvGraphicFramePr>
        <p:xfrm>
          <a:off x="693980" y="1960530"/>
          <a:ext cx="6480000" cy="439248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240000">
                  <a:extLst>
                    <a:ext uri="{9D8B030D-6E8A-4147-A177-3AD203B41FA5}">
                      <a16:colId xmlns:a16="http://schemas.microsoft.com/office/drawing/2014/main" val="1042625123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2876397574"/>
                    </a:ext>
                  </a:extLst>
                </a:gridCol>
              </a:tblGrid>
              <a:tr h="35886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Step 1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Step 2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58338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949786"/>
                  </a:ext>
                </a:extLst>
              </a:tr>
              <a:tr h="26961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Step 3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Step 4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380282"/>
                  </a:ext>
                </a:extLst>
              </a:tr>
              <a:tr h="180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9097820"/>
                  </a:ext>
                </a:extLst>
              </a:tr>
            </a:tbl>
          </a:graphicData>
        </a:graphic>
      </p:graphicFrame>
      <p:pic>
        <p:nvPicPr>
          <p:cNvPr id="283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283915"/>
            <a:ext cx="10329583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2.2.1 Warm-Up: What’s the Pattern?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5350" y="2057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93248" y="1394251"/>
            <a:ext cx="832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Four steps of a pattern are shown.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92EE891A-9E5A-A64C-A370-2645028D1AAC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3863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528619"/>
            <a:ext cx="1104329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blue circles will be in step 5?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orange circles will be in step 5?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many green circles will be in step 5?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the pattern using words or an algebraic expression.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16CA11C8-50ED-F144-8D9E-AAE838A157E6}"/>
              </a:ext>
            </a:extLst>
          </p:cNvPr>
          <p:cNvSpPr txBox="1"/>
          <p:nvPr/>
        </p:nvSpPr>
        <p:spPr>
          <a:xfrm>
            <a:off x="8845637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89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6378DC8-DB87-264A-A90B-4B46145258BB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8550"/>
            <a:ext cx="1047127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2.2.2 Exploration: Types of Reasoning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16675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2D1D4D-DCB8-A246-B186-D40316579D77}"/>
              </a:ext>
            </a:extLst>
          </p:cNvPr>
          <p:cNvSpPr txBox="1"/>
          <p:nvPr/>
        </p:nvSpPr>
        <p:spPr>
          <a:xfrm>
            <a:off x="593248" y="1481824"/>
            <a:ext cx="10930676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 describe a pattern such as the pattern in the Warm-Up is to make a conjecture. 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Once a conjecture has been made, then reasoning can be used to prove the conjecture.</a:t>
            </a:r>
          </a:p>
          <a:p>
            <a:endParaRPr lang="en-US" dirty="0"/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19FE075-E2FF-7B4C-8C80-17BA7226159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F1E99AF-B2ED-704C-8AD8-742BEF970851}"/>
              </a:ext>
            </a:extLst>
          </p:cNvPr>
          <p:cNvGrpSpPr/>
          <p:nvPr/>
        </p:nvGrpSpPr>
        <p:grpSpPr>
          <a:xfrm>
            <a:off x="1314100" y="2700852"/>
            <a:ext cx="6629400" cy="1244305"/>
            <a:chOff x="2031300" y="3062625"/>
            <a:chExt cx="6629400" cy="124447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4539180-DBDA-C742-B3B5-3129D85AC3CD}"/>
                </a:ext>
              </a:extLst>
            </p:cNvPr>
            <p:cNvSpPr/>
            <p:nvPr/>
          </p:nvSpPr>
          <p:spPr>
            <a:xfrm>
              <a:off x="2031300" y="3252877"/>
              <a:ext cx="6629400" cy="105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FFB26E7-1B89-5E42-A825-F0872E3FF948}"/>
                </a:ext>
              </a:extLst>
            </p:cNvPr>
            <p:cNvGrpSpPr/>
            <p:nvPr/>
          </p:nvGrpSpPr>
          <p:grpSpPr>
            <a:xfrm>
              <a:off x="2031300" y="3062625"/>
              <a:ext cx="6629400" cy="1244477"/>
              <a:chOff x="2031300" y="3062625"/>
              <a:chExt cx="6629400" cy="1244477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9D3B0C3-43EB-C842-9619-020380B84C24}"/>
                  </a:ext>
                </a:extLst>
              </p:cNvPr>
              <p:cNvSpPr/>
              <p:nvPr/>
            </p:nvSpPr>
            <p:spPr>
              <a:xfrm>
                <a:off x="2031300" y="3252877"/>
                <a:ext cx="6629400" cy="1054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08B44019-1191-0F45-89D2-30C9179A3EA2}"/>
                  </a:ext>
                </a:extLst>
              </p:cNvPr>
              <p:cNvGrpSpPr/>
              <p:nvPr/>
            </p:nvGrpSpPr>
            <p:grpSpPr>
              <a:xfrm>
                <a:off x="2031300" y="3062625"/>
                <a:ext cx="6629400" cy="1244477"/>
                <a:chOff x="2031300" y="3062625"/>
                <a:chExt cx="6629400" cy="1244477"/>
              </a:xfrm>
            </p:grpSpPr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1133B2D5-D5DC-D446-BC78-E66E0BFEA3F4}"/>
                    </a:ext>
                  </a:extLst>
                </p:cNvPr>
                <p:cNvSpPr/>
                <p:nvPr/>
              </p:nvSpPr>
              <p:spPr>
                <a:xfrm>
                  <a:off x="2031300" y="3252877"/>
                  <a:ext cx="6629400" cy="10542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</a:p>
              </p:txBody>
            </p:sp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35098277-6F85-9645-B4FD-9AC301557B2D}"/>
                    </a:ext>
                  </a:extLst>
                </p:cNvPr>
                <p:cNvGrpSpPr/>
                <p:nvPr/>
              </p:nvGrpSpPr>
              <p:grpSpPr>
                <a:xfrm>
                  <a:off x="2031300" y="3062625"/>
                  <a:ext cx="6629400" cy="1244477"/>
                  <a:chOff x="2031300" y="3062625"/>
                  <a:chExt cx="6629400" cy="1244477"/>
                </a:xfrm>
              </p:grpSpPr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743996FF-72B2-4D44-A904-62EEB02081A6}"/>
                      </a:ext>
                    </a:extLst>
                  </p:cNvPr>
                  <p:cNvSpPr/>
                  <p:nvPr/>
                </p:nvSpPr>
                <p:spPr>
                  <a:xfrm>
                    <a:off x="2031300" y="3252877"/>
                    <a:ext cx="6629400" cy="10542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r>
                      <a:rPr lang="en-US" sz="1200"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6085F9A4-371D-3E4F-8164-E0193C165683}"/>
                      </a:ext>
                    </a:extLst>
                  </p:cNvPr>
                  <p:cNvGrpSpPr/>
                  <p:nvPr/>
                </p:nvGrpSpPr>
                <p:grpSpPr>
                  <a:xfrm>
                    <a:off x="2031300" y="3062625"/>
                    <a:ext cx="6629400" cy="1244477"/>
                    <a:chOff x="2031300" y="3062625"/>
                    <a:chExt cx="6629400" cy="1244477"/>
                  </a:xfrm>
                </p:grpSpPr>
                <p:sp>
                  <p:nvSpPr>
                    <p:cNvPr id="21" name="Rectangle 20">
                      <a:extLst>
                        <a:ext uri="{FF2B5EF4-FFF2-40B4-BE49-F238E27FC236}">
                          <a16:creationId xmlns:a16="http://schemas.microsoft.com/office/drawing/2014/main" id="{B36271E6-5985-694B-8514-3B3190DCC3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31300" y="3252877"/>
                      <a:ext cx="6629400" cy="10542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p:txBody>
                </p:sp>
                <p:grpSp>
                  <p:nvGrpSpPr>
                    <p:cNvPr id="22" name="Group 21">
                      <a:extLst>
                        <a:ext uri="{FF2B5EF4-FFF2-40B4-BE49-F238E27FC236}">
                          <a16:creationId xmlns:a16="http://schemas.microsoft.com/office/drawing/2014/main" id="{FA4D05B1-C4AD-534E-B3AB-733BF213E11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31300" y="3062625"/>
                      <a:ext cx="6629400" cy="1244473"/>
                      <a:chOff x="2031300" y="3075433"/>
                      <a:chExt cx="6629400" cy="1222255"/>
                    </a:xfrm>
                  </p:grpSpPr>
                  <p:sp>
                    <p:nvSpPr>
                      <p:cNvPr id="23" name="Rectangle 22">
                        <a:extLst>
                          <a:ext uri="{FF2B5EF4-FFF2-40B4-BE49-F238E27FC236}">
                            <a16:creationId xmlns:a16="http://schemas.microsoft.com/office/drawing/2014/main" id="{CE4B4A95-F51C-1041-AB7B-42C36FEFED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31300" y="3262288"/>
                        <a:ext cx="6629400" cy="103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r>
                          <a:rPr lang="en-US" sz="1200"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  <p:grpSp>
                    <p:nvGrpSpPr>
                      <p:cNvPr id="24" name="Group 23">
                        <a:extLst>
                          <a:ext uri="{FF2B5EF4-FFF2-40B4-BE49-F238E27FC236}">
                            <a16:creationId xmlns:a16="http://schemas.microsoft.com/office/drawing/2014/main" id="{B801A1FC-D737-9840-B0D9-B022D19B797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031300" y="3075433"/>
                        <a:ext cx="6629400" cy="1222255"/>
                        <a:chOff x="2031300" y="3186745"/>
                        <a:chExt cx="6629400" cy="1222255"/>
                      </a:xfrm>
                    </p:grpSpPr>
                    <p:sp>
                      <p:nvSpPr>
                        <p:cNvPr id="25" name="Rectangle 24">
                          <a:extLst>
                            <a:ext uri="{FF2B5EF4-FFF2-40B4-BE49-F238E27FC236}">
                              <a16:creationId xmlns:a16="http://schemas.microsoft.com/office/drawing/2014/main" id="{17AE879A-FC2C-E34B-8303-1AD9459B038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31300" y="3373600"/>
                          <a:ext cx="6629400" cy="1035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r>
                            <a:rPr lang="en-US" sz="1200"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</a:p>
                      </p:txBody>
                    </p:sp>
                    <p:grpSp>
                      <p:nvGrpSpPr>
                        <p:cNvPr id="26" name="Group 25">
                          <a:extLst>
                            <a:ext uri="{FF2B5EF4-FFF2-40B4-BE49-F238E27FC236}">
                              <a16:creationId xmlns:a16="http://schemas.microsoft.com/office/drawing/2014/main" id="{A3AAC863-5634-074F-9CFA-79417454193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031300" y="3186745"/>
                          <a:ext cx="6629400" cy="1035424"/>
                          <a:chOff x="2031300" y="3186745"/>
                          <a:chExt cx="6629400" cy="1035424"/>
                        </a:xfrm>
                      </p:grpSpPr>
                      <p:sp>
                        <p:nvSpPr>
                          <p:cNvPr id="27" name="Rectangle 26">
                            <a:extLst>
                              <a:ext uri="{FF2B5EF4-FFF2-40B4-BE49-F238E27FC236}">
                                <a16:creationId xmlns:a16="http://schemas.microsoft.com/office/drawing/2014/main" id="{4071913D-63A6-F84A-92A5-AAB38223B8D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031300" y="3373600"/>
                            <a:ext cx="6629400" cy="8128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r>
                              <a:rPr lang="en-US" sz="1200">
                                <a:latin typeface="Times New Roman" panose="02020603050405020304" pitchFamily="18" charset="0"/>
                                <a:ea typeface="Times New Roman" panose="02020603050405020304" pitchFamily="18" charset="0"/>
                              </a:rPr>
                              <a:t> </a:t>
                            </a:r>
                          </a:p>
                        </p:txBody>
                      </p:sp>
                      <p:grpSp>
                        <p:nvGrpSpPr>
                          <p:cNvPr id="28" name="Group 27">
                            <a:extLst>
                              <a:ext uri="{FF2B5EF4-FFF2-40B4-BE49-F238E27FC236}">
                                <a16:creationId xmlns:a16="http://schemas.microsoft.com/office/drawing/2014/main" id="{8534A6BE-A5CB-D646-9EA6-36D15E1A92C5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2031300" y="3186745"/>
                            <a:ext cx="6629400" cy="1035424"/>
                            <a:chOff x="0" y="-186855"/>
                            <a:chExt cx="6629400" cy="1035424"/>
                          </a:xfrm>
                        </p:grpSpPr>
                        <p:sp>
                          <p:nvSpPr>
                            <p:cNvPr id="29" name="Rectangle 28">
                              <a:extLst>
                                <a:ext uri="{FF2B5EF4-FFF2-40B4-BE49-F238E27FC236}">
                                  <a16:creationId xmlns:a16="http://schemas.microsoft.com/office/drawing/2014/main" id="{2315774E-4F2C-CB41-9E0A-CCE7C0FBDCC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0" y="0"/>
                              <a:ext cx="6629400" cy="8128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r>
                                <a:rPr lang="en-US" sz="120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</a:rPr>
                                <a:t> </a:t>
                              </a:r>
                            </a:p>
                          </p:txBody>
                        </p:sp>
                        <p:sp>
                          <p:nvSpPr>
                            <p:cNvPr id="30" name="Rounded Rectangle 29">
                              <a:extLst>
                                <a:ext uri="{FF2B5EF4-FFF2-40B4-BE49-F238E27FC236}">
                                  <a16:creationId xmlns:a16="http://schemas.microsoft.com/office/drawing/2014/main" id="{F4C34C61-65CC-A747-91D0-019A39B4A927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0" y="-186855"/>
                              <a:ext cx="6629400" cy="1035424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E2EED5"/>
                            </a:solidFill>
                            <a:ln>
                              <a:noFill/>
                            </a:ln>
                            <a:effectLst>
                              <a:outerShdw blurRad="50800" dist="38100" dir="2700000" algn="tl" rotWithShape="0">
                                <a:prstClr val="black">
                                  <a:alpha val="40000"/>
                                </a:prstClr>
                              </a:outerShdw>
                            </a:effectLst>
                          </p:spPr>
                          <p:txBody>
                            <a:bodyPr spcFirstLastPara="1" wrap="square" lIns="91425" tIns="45700" rIns="91425" bIns="45700" anchor="ctr" anchorCtr="0">
                              <a:noAutofit/>
                            </a:bodyPr>
                            <a:lstStyle/>
                            <a:p>
                              <a:pPr marL="114300"/>
                              <a:r>
                                <a:rPr lang="en-US" sz="2000" dirty="0">
                                  <a:solidFill>
                                    <a:srgbClr val="6C993D"/>
                                  </a:solidFill>
                                  <a:latin typeface="Verdana" panose="020B0604030504040204" pitchFamily="34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a:t>A </a:t>
                              </a:r>
                              <a:r>
                                <a:rPr lang="en-US" sz="2000" b="1" i="1" dirty="0">
                                  <a:solidFill>
                                    <a:srgbClr val="6C993D"/>
                                  </a:solidFill>
                                  <a:latin typeface="Verdana" panose="020B0604030504040204" pitchFamily="34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a:t>conjecture</a:t>
                              </a:r>
                              <a:r>
                                <a:rPr lang="en-US" sz="2000" dirty="0">
                                  <a:solidFill>
                                    <a:srgbClr val="6C993D"/>
                                  </a:solidFill>
                                  <a:latin typeface="Verdana" panose="020B0604030504040204" pitchFamily="34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a:t> is a mathematical statement that has not yet been proven.</a:t>
                              </a:r>
                              <a:r>
                                <a:rPr lang="en-US" sz="1200" dirty="0">
                                  <a:solidFill>
                                    <a:srgbClr val="6C993D"/>
                                  </a:solidFill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</a:rPr>
                                <a:t> </a:t>
                              </a:r>
                              <a:endParaRPr lang="en-US" sz="1200" dirty="0">
                                <a:latin typeface="Times New Roman" panose="02020603050405020304" pitchFamily="18" charset="0"/>
                                <a:ea typeface="Times New Roman" panose="02020603050405020304" pitchFamily="18" charset="0"/>
                              </a:endParaRPr>
                            </a:p>
                          </p:txBody>
                        </p:sp>
                      </p:grpSp>
                    </p:grpSp>
                  </p:grpSp>
                </p:grpSp>
              </p:grpSp>
            </p:grpSp>
          </p:grpSp>
        </p:grpSp>
      </p:grpSp>
      <p:sp>
        <p:nvSpPr>
          <p:cNvPr id="31" name="Google Shape;282;g104476d1465_1_17">
            <a:extLst>
              <a:ext uri="{FF2B5EF4-FFF2-40B4-BE49-F238E27FC236}">
                <a16:creationId xmlns:a16="http://schemas.microsoft.com/office/drawing/2014/main" id="{DA662AC0-D87E-F545-AC62-2E988D741640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422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09034" y="382314"/>
            <a:ext cx="10818607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200"/>
              </a:spcAft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Work with your partner to write conjectures for the pattern in the Warm-Up. You should be able to use each conjecture to determine any step in the pattern. </a:t>
            </a:r>
          </a:p>
          <a:p>
            <a:pPr marL="714375" indent="-2476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number of blue circles</a:t>
            </a:r>
          </a:p>
          <a:p>
            <a:pPr marL="714375" indent="-2476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number of orange circles</a:t>
            </a:r>
          </a:p>
          <a:p>
            <a:pPr marL="714375" indent="-2476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number of green circles</a:t>
            </a:r>
          </a:p>
          <a:p>
            <a:pPr marL="714375" indent="-247650">
              <a:buFont typeface="Arial" panose="020B0604020202020204" pitchFamily="34" charset="0"/>
              <a:buChar char="•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total number of circles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9CADC49-0308-2145-B492-7151A8DC8A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328515"/>
              </p:ext>
            </p:extLst>
          </p:nvPr>
        </p:nvGraphicFramePr>
        <p:xfrm>
          <a:off x="1281550" y="3126502"/>
          <a:ext cx="7200000" cy="31680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274238437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274671278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81206200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413855205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Blue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Orange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Green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Total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89647"/>
                  </a:ext>
                </a:extLst>
              </a:tr>
              <a:tr h="27000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5397017"/>
                  </a:ext>
                </a:extLst>
              </a:tr>
            </a:tbl>
          </a:graphicData>
        </a:graphic>
      </p:graphicFrame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24077761-7FF2-2D49-93A0-381D842D5A42}"/>
              </a:ext>
            </a:extLst>
          </p:cNvPr>
          <p:cNvSpPr txBox="1"/>
          <p:nvPr/>
        </p:nvSpPr>
        <p:spPr>
          <a:xfrm>
            <a:off x="889599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5193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372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09034" y="382315"/>
            <a:ext cx="1101488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conjecture is an important step in problem-solving. Conjectures arise when you notice a pattern and that pattern holds true for many cases. However, just because a pattern holds true for many cases does not mean that the pattern will hold true for </a:t>
            </a:r>
            <a:r>
              <a:rPr lang="en-US" sz="2000" b="1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all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cases. Conjectures must be proven for the mathematical observation to be fully accepted. When a conjecture is rigorously proven, it becomes a theorem.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values for step 10 are shown. Use these values to test your conjecture. Revise your conjecture if necessary.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E378B35-FCEE-BC43-8742-B748F14CF5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7379325"/>
                  </p:ext>
                </p:extLst>
              </p:nvPr>
            </p:nvGraphicFramePr>
            <p:xfrm>
              <a:off x="2136000" y="3148342"/>
              <a:ext cx="7920000" cy="118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980000">
                      <a:extLst>
                        <a:ext uri="{9D8B030D-6E8A-4147-A177-3AD203B41FA5}">
                          <a16:colId xmlns:a16="http://schemas.microsoft.com/office/drawing/2014/main" val="117829578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508159139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126848709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360390012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Blue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Orange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Green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Total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081663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63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81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40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184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83201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3E378B35-FCEE-BC43-8742-B748F14CF50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7379325"/>
                  </p:ext>
                </p:extLst>
              </p:nvPr>
            </p:nvGraphicFramePr>
            <p:xfrm>
              <a:off x="2136000" y="3148342"/>
              <a:ext cx="7920000" cy="118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980000">
                      <a:extLst>
                        <a:ext uri="{9D8B030D-6E8A-4147-A177-3AD203B41FA5}">
                          <a16:colId xmlns:a16="http://schemas.microsoft.com/office/drawing/2014/main" val="117829578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508159139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126848709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3603900121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Blue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Orange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Green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Total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90816633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15" t="-66387" r="-300923" b="-25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615" t="-66387" r="-200923" b="-25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615" t="-66387" r="-100923" b="-25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615" t="-66387" r="-923" b="-25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32016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9D796EC2-EB49-874A-9229-F66D893DD42E}"/>
              </a:ext>
            </a:extLst>
          </p:cNvPr>
          <p:cNvSpPr txBox="1"/>
          <p:nvPr/>
        </p:nvSpPr>
        <p:spPr>
          <a:xfrm>
            <a:off x="8889924" y="645079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09034" y="374213"/>
            <a:ext cx="110148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Ask a classmate for their conjectures. Record their conjectures and write your summary of their reason. </a:t>
            </a: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 are the only person who should write in the conjecture and summary columns of the table.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Have the person initial next to your summary stating that your summary was correct.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78C31A0-0DE6-524D-ACE7-6A55DB13B0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974799"/>
              </p:ext>
            </p:extLst>
          </p:nvPr>
        </p:nvGraphicFramePr>
        <p:xfrm>
          <a:off x="2316000" y="1803194"/>
          <a:ext cx="7560000" cy="4032000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221554300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980671604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90865239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873342923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Color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Conjecture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My Summary of Their Reason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Initials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623519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Blue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2680508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Orange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009738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Green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5423895"/>
                  </a:ext>
                </a:extLst>
              </a:tr>
              <a:tr h="82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Total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8377018"/>
                  </a:ext>
                </a:extLst>
              </a:tr>
            </a:tbl>
          </a:graphicData>
        </a:graphic>
      </p:graphicFrame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854609FB-0A54-6449-BEE5-03CFF00D9F2E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1321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2911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40564" y="382314"/>
            <a:ext cx="1098335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conjectures from your classmate may be different from your conjectures, but that does not mean that one is wrong. Both may be correct. 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Compare your conjecture with the conjectures you and your partner collected from different classmates.</a:t>
            </a: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values for step 18 are shown. Use these values to test your classmates’ conjectures. 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E46F476-A7A2-614E-BF2D-B93D168BF1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1235188"/>
                  </p:ext>
                </p:extLst>
              </p:nvPr>
            </p:nvGraphicFramePr>
            <p:xfrm>
              <a:off x="2432243" y="3985191"/>
              <a:ext cx="7200000" cy="118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3310119092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3249609904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1021899118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3020255660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Blue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Orange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Green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Total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3491239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111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289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72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472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09871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CE46F476-A7A2-614E-BF2D-B93D168BF1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41235188"/>
                  </p:ext>
                </p:extLst>
              </p:nvPr>
            </p:nvGraphicFramePr>
            <p:xfrm>
              <a:off x="2432243" y="3985191"/>
              <a:ext cx="7200000" cy="118800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800000">
                      <a:extLst>
                        <a:ext uri="{9D8B030D-6E8A-4147-A177-3AD203B41FA5}">
                          <a16:colId xmlns:a16="http://schemas.microsoft.com/office/drawing/2014/main" val="3310119092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3249609904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1021899118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3020255660"/>
                        </a:ext>
                      </a:extLst>
                    </a:gridCol>
                  </a:tblGrid>
                  <a:tr h="468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Blue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Orange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Green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Total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3491239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8" t="-65546" r="-300676" b="-25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338" t="-65546" r="-200676" b="-25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1017" t="-65546" r="-101356" b="-25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0000" t="-65546" r="-1014" b="-25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09871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B9E7131-602D-0D4A-9263-23EF993A2BE9}"/>
              </a:ext>
            </a:extLst>
          </p:cNvPr>
          <p:cNvSpPr txBox="1"/>
          <p:nvPr/>
        </p:nvSpPr>
        <p:spPr>
          <a:xfrm>
            <a:off x="8889924" y="648619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7731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3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40564" y="374214"/>
            <a:ext cx="103367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There are two types of reasoning that can be used to prove a conjecture. 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1069B96-31CA-C54B-9A22-85CD40FB4B25}"/>
              </a:ext>
            </a:extLst>
          </p:cNvPr>
          <p:cNvGrpSpPr/>
          <p:nvPr/>
        </p:nvGrpSpPr>
        <p:grpSpPr>
          <a:xfrm>
            <a:off x="880503" y="1240414"/>
            <a:ext cx="7280799" cy="966250"/>
            <a:chOff x="0" y="0"/>
            <a:chExt cx="6629400" cy="8800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9602790-D938-CF40-ACE7-D6C0E9612E8F}"/>
                </a:ext>
              </a:extLst>
            </p:cNvPr>
            <p:cNvGrpSpPr/>
            <p:nvPr/>
          </p:nvGrpSpPr>
          <p:grpSpPr>
            <a:xfrm>
              <a:off x="0" y="0"/>
              <a:ext cx="6629400" cy="880045"/>
              <a:chOff x="2031300" y="3386808"/>
              <a:chExt cx="6629400" cy="880045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C366A0EB-29D6-6743-90B1-960F2AEDAABF}"/>
                  </a:ext>
                </a:extLst>
              </p:cNvPr>
              <p:cNvGrpSpPr/>
              <p:nvPr/>
            </p:nvGrpSpPr>
            <p:grpSpPr>
              <a:xfrm>
                <a:off x="2031300" y="3386808"/>
                <a:ext cx="6629400" cy="880045"/>
                <a:chOff x="0" y="0"/>
                <a:chExt cx="6629400" cy="880045"/>
              </a:xfrm>
            </p:grpSpPr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B3CE075E-E66C-8348-AF84-05B3BE84B4E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solidFill>
                        <a:srgbClr val="00619E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  <a:endPara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4104BC67-BFED-CE48-A96B-37CBC6B55D9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solidFill>
                        <a:srgbClr val="00619E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  <a:endPara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31" name="Rounded Rectangle 30">
                  <a:extLst>
                    <a:ext uri="{FF2B5EF4-FFF2-40B4-BE49-F238E27FC236}">
                      <a16:creationId xmlns:a16="http://schemas.microsoft.com/office/drawing/2014/main" id="{3BCDDFB1-D1FD-934A-93FB-419959F10A19}"/>
                    </a:ext>
                  </a:extLst>
                </p:cNvPr>
                <p:cNvSpPr/>
                <p:nvPr/>
              </p:nvSpPr>
              <p:spPr>
                <a:xfrm>
                  <a:off x="0" y="166766"/>
                  <a:ext cx="6555830" cy="713279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spAutoFit/>
                </a:bodyPr>
                <a:lstStyle/>
                <a:p>
                  <a:pPr marL="720725"/>
                  <a:r>
                    <a:rPr lang="en-US" sz="2000" b="1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Deductive reasoning</a:t>
                  </a:r>
                  <a:r>
                    <a:rPr lang="en-US" sz="20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uses facts and general principles to draw conclusions.</a:t>
                  </a:r>
                  <a:endPara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</p:grpSp>
        <p:pic>
          <p:nvPicPr>
            <p:cNvPr id="27" name="image15.png" descr="Icon&#10;&#10;Description automatically generated">
              <a:extLst>
                <a:ext uri="{FF2B5EF4-FFF2-40B4-BE49-F238E27FC236}">
                  <a16:creationId xmlns:a16="http://schemas.microsoft.com/office/drawing/2014/main" id="{5296D2FB-7B51-4E44-BA10-789722E0F8F4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02807" y="246601"/>
              <a:ext cx="539750" cy="53975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267" name="Group 266"/>
          <p:cNvGrpSpPr/>
          <p:nvPr/>
        </p:nvGrpSpPr>
        <p:grpSpPr>
          <a:xfrm>
            <a:off x="770661" y="2673147"/>
            <a:ext cx="7500480" cy="2751222"/>
            <a:chOff x="822433" y="2992755"/>
            <a:chExt cx="7500480" cy="2751222"/>
          </a:xfrm>
        </p:grpSpPr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FF3FA4D2-8AC2-3048-B06C-FB43B1676C29}"/>
                </a:ext>
              </a:extLst>
            </p:cNvPr>
            <p:cNvCxnSpPr/>
            <p:nvPr/>
          </p:nvCxnSpPr>
          <p:spPr>
            <a:xfrm>
              <a:off x="2084158" y="4622006"/>
              <a:ext cx="895350" cy="609600"/>
            </a:xfrm>
            <a:prstGeom prst="straightConnector1">
              <a:avLst/>
            </a:prstGeom>
            <a:ln w="5715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19515CF-CD0B-CE44-B73B-3BE9047ED8E7}"/>
                </a:ext>
              </a:extLst>
            </p:cNvPr>
            <p:cNvGrpSpPr/>
            <p:nvPr/>
          </p:nvGrpSpPr>
          <p:grpSpPr>
            <a:xfrm>
              <a:off x="822433" y="2992755"/>
              <a:ext cx="7500480" cy="2751222"/>
              <a:chOff x="0" y="0"/>
              <a:chExt cx="6829425" cy="2505075"/>
            </a:xfrm>
          </p:grpSpPr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FF3FA4D2-8AC2-3048-B06C-FB43B1676C29}"/>
                  </a:ext>
                </a:extLst>
              </p:cNvPr>
              <p:cNvCxnSpPr/>
              <p:nvPr/>
            </p:nvCxnSpPr>
            <p:spPr>
              <a:xfrm flipH="1">
                <a:off x="5085785" y="1483485"/>
                <a:ext cx="815245" cy="555060"/>
              </a:xfrm>
              <a:prstGeom prst="straightConnector1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A12F75CE-6EFD-EC4B-9CCD-BAD8F9024A78}"/>
                  </a:ext>
                </a:extLst>
              </p:cNvPr>
              <p:cNvGrpSpPr/>
              <p:nvPr/>
            </p:nvGrpSpPr>
            <p:grpSpPr>
              <a:xfrm>
                <a:off x="0" y="0"/>
                <a:ext cx="6829425" cy="1552575"/>
                <a:chOff x="0" y="0"/>
                <a:chExt cx="6829425" cy="1552575"/>
              </a:xfrm>
            </p:grpSpPr>
            <p:sp>
              <p:nvSpPr>
                <p:cNvPr id="16" name="Rounded Rectangle 15">
                  <a:extLst>
                    <a:ext uri="{FF2B5EF4-FFF2-40B4-BE49-F238E27FC236}">
                      <a16:creationId xmlns:a16="http://schemas.microsoft.com/office/drawing/2014/main" id="{D2617D79-A344-4545-A469-75F6C1F6F980}"/>
                    </a:ext>
                  </a:extLst>
                </p:cNvPr>
                <p:cNvSpPr/>
                <p:nvPr/>
              </p:nvSpPr>
              <p:spPr>
                <a:xfrm>
                  <a:off x="1847850" y="0"/>
                  <a:ext cx="3190875" cy="49530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algn="ctr"/>
                  <a:r>
                    <a:rPr lang="en-US" sz="2000" b="1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Deductive Reasoning</a:t>
                  </a:r>
                  <a:endPara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D515ED8A-ECFB-1F41-977B-5BCFE0D0DDF6}"/>
                    </a:ext>
                  </a:extLst>
                </p:cNvPr>
                <p:cNvGrpSpPr/>
                <p:nvPr/>
              </p:nvGrpSpPr>
              <p:grpSpPr>
                <a:xfrm>
                  <a:off x="0" y="1076325"/>
                  <a:ext cx="6829425" cy="476250"/>
                  <a:chOff x="0" y="0"/>
                  <a:chExt cx="6829425" cy="476250"/>
                </a:xfrm>
              </p:grpSpPr>
              <p:sp>
                <p:nvSpPr>
                  <p:cNvPr id="22" name="Rounded Rectangle 21">
                    <a:extLst>
                      <a:ext uri="{FF2B5EF4-FFF2-40B4-BE49-F238E27FC236}">
                        <a16:creationId xmlns:a16="http://schemas.microsoft.com/office/drawing/2014/main" id="{C229BAF3-2E27-6D4C-BDC5-EA7B417C2A5C}"/>
                      </a:ext>
                    </a:extLst>
                  </p:cNvPr>
                  <p:cNvSpPr/>
                  <p:nvPr/>
                </p:nvSpPr>
                <p:spPr>
                  <a:xfrm>
                    <a:off x="0" y="9525"/>
                    <a:ext cx="1685925" cy="428625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B8E6F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algn="ctr"/>
                    <a:r>
                      <a:rPr lang="en-US" sz="2000" b="1" dirty="0">
                        <a:solidFill>
                          <a:srgbClr val="00619E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Definitions</a:t>
                    </a:r>
                    <a:endParaRPr lang="en-US" sz="2000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3" name="Rounded Rectangle 22">
                    <a:extLst>
                      <a:ext uri="{FF2B5EF4-FFF2-40B4-BE49-F238E27FC236}">
                        <a16:creationId xmlns:a16="http://schemas.microsoft.com/office/drawing/2014/main" id="{C9B8AD43-0C7E-1941-A6E5-22F8B9ADF725}"/>
                      </a:ext>
                    </a:extLst>
                  </p:cNvPr>
                  <p:cNvSpPr/>
                  <p:nvPr/>
                </p:nvSpPr>
                <p:spPr>
                  <a:xfrm>
                    <a:off x="5286375" y="9525"/>
                    <a:ext cx="1543050" cy="428625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B8E6F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algn="ctr"/>
                    <a:r>
                      <a:rPr lang="en-US" sz="2000" b="1" dirty="0">
                        <a:solidFill>
                          <a:srgbClr val="00619E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Theorems</a:t>
                    </a:r>
                    <a:endParaRPr lang="en-US" sz="2000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4" name="Rounded Rectangle 23">
                    <a:extLst>
                      <a:ext uri="{FF2B5EF4-FFF2-40B4-BE49-F238E27FC236}">
                        <a16:creationId xmlns:a16="http://schemas.microsoft.com/office/drawing/2014/main" id="{3C712342-57D8-EA4E-80DB-79341D113A87}"/>
                      </a:ext>
                    </a:extLst>
                  </p:cNvPr>
                  <p:cNvSpPr/>
                  <p:nvPr/>
                </p:nvSpPr>
                <p:spPr>
                  <a:xfrm>
                    <a:off x="1847850" y="0"/>
                    <a:ext cx="1609725" cy="466725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B8E6F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algn="ctr"/>
                    <a:r>
                      <a:rPr lang="en-US" sz="2000" b="1" dirty="0">
                        <a:solidFill>
                          <a:srgbClr val="00619E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Postulates</a:t>
                    </a:r>
                    <a:endParaRPr lang="en-US" sz="2000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5" name="Rounded Rectangle 24">
                    <a:extLst>
                      <a:ext uri="{FF2B5EF4-FFF2-40B4-BE49-F238E27FC236}">
                        <a16:creationId xmlns:a16="http://schemas.microsoft.com/office/drawing/2014/main" id="{A8AC4621-4AD9-1C42-90FB-45531E2260CD}"/>
                      </a:ext>
                    </a:extLst>
                  </p:cNvPr>
                  <p:cNvSpPr/>
                  <p:nvPr/>
                </p:nvSpPr>
                <p:spPr>
                  <a:xfrm>
                    <a:off x="3590925" y="9525"/>
                    <a:ext cx="1609725" cy="466725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B8E6F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algn="ctr"/>
                    <a:r>
                      <a:rPr lang="en-US" sz="2000" b="1" dirty="0">
                        <a:solidFill>
                          <a:srgbClr val="00619E"/>
                        </a:solidFill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Properties</a:t>
                    </a:r>
                    <a:endParaRPr lang="en-US" sz="2000" dirty="0">
                      <a:latin typeface="Times New Roman" panose="02020603050405020304" pitchFamily="18" charset="0"/>
                      <a:ea typeface="Times New Roman" panose="02020603050405020304" pitchFamily="18" charset="0"/>
                    </a:endParaRPr>
                  </a:p>
                </p:txBody>
              </p:sp>
            </p:grp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76AA55DD-F177-714E-A5AE-1B068307A748}"/>
                    </a:ext>
                  </a:extLst>
                </p:cNvPr>
                <p:cNvCxnSpPr/>
                <p:nvPr/>
              </p:nvCxnSpPr>
              <p:spPr>
                <a:xfrm flipH="1">
                  <a:off x="1238251" y="469314"/>
                  <a:ext cx="636424" cy="616537"/>
                </a:xfrm>
                <a:prstGeom prst="straightConnector1">
                  <a:avLst/>
                </a:prstGeom>
                <a:ln w="57150">
                  <a:solidFill>
                    <a:schemeClr val="accent1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7266867C-8A13-7140-B1C3-F74159012CC9}"/>
                    </a:ext>
                  </a:extLst>
                </p:cNvPr>
                <p:cNvCxnSpPr/>
                <p:nvPr/>
              </p:nvCxnSpPr>
              <p:spPr>
                <a:xfrm>
                  <a:off x="2733675" y="495300"/>
                  <a:ext cx="0" cy="594360"/>
                </a:xfrm>
                <a:prstGeom prst="straightConnector1">
                  <a:avLst/>
                </a:prstGeom>
                <a:ln w="57150">
                  <a:solidFill>
                    <a:schemeClr val="accent1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652E655C-269C-7649-829E-13C5532DB7D9}"/>
                    </a:ext>
                  </a:extLst>
                </p:cNvPr>
                <p:cNvCxnSpPr/>
                <p:nvPr/>
              </p:nvCxnSpPr>
              <p:spPr>
                <a:xfrm>
                  <a:off x="4362450" y="504825"/>
                  <a:ext cx="0" cy="585216"/>
                </a:xfrm>
                <a:prstGeom prst="straightConnector1">
                  <a:avLst/>
                </a:prstGeom>
                <a:ln w="57150">
                  <a:solidFill>
                    <a:schemeClr val="accent1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A143D031-2EA8-9146-A32C-618FF31F34CB}"/>
                    </a:ext>
                  </a:extLst>
                </p:cNvPr>
                <p:cNvCxnSpPr/>
                <p:nvPr/>
              </p:nvCxnSpPr>
              <p:spPr>
                <a:xfrm>
                  <a:off x="5019675" y="447675"/>
                  <a:ext cx="923925" cy="628650"/>
                </a:xfrm>
                <a:prstGeom prst="straightConnector1">
                  <a:avLst/>
                </a:prstGeom>
                <a:ln w="57150">
                  <a:solidFill>
                    <a:schemeClr val="accent1">
                      <a:lumMod val="75000"/>
                    </a:schemeClr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32A2F3A6-A9C4-4545-A522-00B9C863AB8F}"/>
                  </a:ext>
                </a:extLst>
              </p:cNvPr>
              <p:cNvSpPr/>
              <p:nvPr/>
            </p:nvSpPr>
            <p:spPr>
              <a:xfrm>
                <a:off x="1924050" y="2009775"/>
                <a:ext cx="3190875" cy="495300"/>
              </a:xfrm>
              <a:prstGeom prst="roundRect">
                <a:avLst>
                  <a:gd name="adj" fmla="val 16667"/>
                </a:avLst>
              </a:prstGeom>
              <a:solidFill>
                <a:srgbClr val="B8E6F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algn="ctr"/>
                <a:r>
                  <a:rPr lang="en-US" sz="2000" b="1" dirty="0">
                    <a:solidFill>
                      <a:srgbClr val="00619E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Conclusion</a:t>
                </a:r>
                <a:endPara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36ACE68F-745A-0349-9B4D-F52D4423438F}"/>
                  </a:ext>
                </a:extLst>
              </p:cNvPr>
              <p:cNvCxnSpPr/>
              <p:nvPr/>
            </p:nvCxnSpPr>
            <p:spPr>
              <a:xfrm>
                <a:off x="2695575" y="1543050"/>
                <a:ext cx="0" cy="464820"/>
              </a:xfrm>
              <a:prstGeom prst="straightConnector1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46E78977-B34F-7243-8B9D-201440C36EAA}"/>
                  </a:ext>
                </a:extLst>
              </p:cNvPr>
              <p:cNvCxnSpPr/>
              <p:nvPr/>
            </p:nvCxnSpPr>
            <p:spPr>
              <a:xfrm>
                <a:off x="4391025" y="1552575"/>
                <a:ext cx="0" cy="464819"/>
              </a:xfrm>
              <a:prstGeom prst="straightConnector1">
                <a:avLst/>
              </a:prstGeom>
              <a:ln w="57150">
                <a:solidFill>
                  <a:schemeClr val="accent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2" name="Google Shape;282;g104476d1465_1_17">
            <a:extLst>
              <a:ext uri="{FF2B5EF4-FFF2-40B4-BE49-F238E27FC236}">
                <a16:creationId xmlns:a16="http://schemas.microsoft.com/office/drawing/2014/main" id="{DDB4DE0E-4D79-0E4E-9C59-8FDAC1EEB95D}"/>
              </a:ext>
            </a:extLst>
          </p:cNvPr>
          <p:cNvSpPr txBox="1"/>
          <p:nvPr/>
        </p:nvSpPr>
        <p:spPr>
          <a:xfrm>
            <a:off x="8889924" y="6457798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0130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3C256F3-AE3A-E141-8D0C-85EB3175F9E9}"/>
              </a:ext>
            </a:extLst>
          </p:cNvPr>
          <p:cNvGrpSpPr/>
          <p:nvPr/>
        </p:nvGrpSpPr>
        <p:grpSpPr>
          <a:xfrm>
            <a:off x="896148" y="387555"/>
            <a:ext cx="7585403" cy="1023067"/>
            <a:chOff x="0" y="-107886"/>
            <a:chExt cx="6629400" cy="89426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35DAE91-C2FC-3D45-854B-DE10C1693681}"/>
                </a:ext>
              </a:extLst>
            </p:cNvPr>
            <p:cNvGrpSpPr/>
            <p:nvPr/>
          </p:nvGrpSpPr>
          <p:grpSpPr>
            <a:xfrm>
              <a:off x="0" y="-107886"/>
              <a:ext cx="6629400" cy="894261"/>
              <a:chOff x="2031300" y="3278922"/>
              <a:chExt cx="6629400" cy="894261"/>
            </a:xfrm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F0AD4BD6-02C8-A449-BCDD-A70BAB3BF4FA}"/>
                  </a:ext>
                </a:extLst>
              </p:cNvPr>
              <p:cNvGrpSpPr/>
              <p:nvPr/>
            </p:nvGrpSpPr>
            <p:grpSpPr>
              <a:xfrm>
                <a:off x="2031300" y="3278922"/>
                <a:ext cx="6629400" cy="894261"/>
                <a:chOff x="0" y="-107886"/>
                <a:chExt cx="6629400" cy="894261"/>
              </a:xfrm>
            </p:grpSpPr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1683988D-8D23-4F4E-AF0D-EA2F7EB7AEF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solidFill>
                        <a:srgbClr val="00619E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  <a:endPara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749F81C5-AA5F-CE48-814A-6206B584EAF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solidFill>
                        <a:srgbClr val="00619E"/>
                      </a:solidFill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  <a:endPara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  <p:sp>
              <p:nvSpPr>
                <p:cNvPr id="22" name="Rounded Rectangle 21">
                  <a:extLst>
                    <a:ext uri="{FF2B5EF4-FFF2-40B4-BE49-F238E27FC236}">
                      <a16:creationId xmlns:a16="http://schemas.microsoft.com/office/drawing/2014/main" id="{24FADFA8-E0CA-004A-AEA2-FE4B6E664922}"/>
                    </a:ext>
                  </a:extLst>
                </p:cNvPr>
                <p:cNvSpPr/>
                <p:nvPr/>
              </p:nvSpPr>
              <p:spPr>
                <a:xfrm>
                  <a:off x="0" y="-107886"/>
                  <a:ext cx="6629400" cy="684548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spAutoFit/>
                </a:bodyPr>
                <a:lstStyle/>
                <a:p>
                  <a:pPr marL="742950"/>
                  <a:r>
                    <a:rPr lang="en-US" sz="2000" b="1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Inductive reasoning</a:t>
                  </a:r>
                  <a:r>
                    <a:rPr lang="en-US" sz="20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uses specific observations and patterns to draw conclusions. </a:t>
                  </a:r>
                  <a:endParaRPr lang="en-US" sz="2000" dirty="0"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p:grpSp>
        </p:grpSp>
        <p:pic>
          <p:nvPicPr>
            <p:cNvPr id="18" name="image15.png" descr="Icon&#10;&#10;Description automatically generated">
              <a:extLst>
                <a:ext uri="{FF2B5EF4-FFF2-40B4-BE49-F238E27FC236}">
                  <a16:creationId xmlns:a16="http://schemas.microsoft.com/office/drawing/2014/main" id="{F21980F5-EE0A-C846-B20E-D394580DCB5A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83618" y="-35486"/>
              <a:ext cx="539750" cy="539750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150BABE-9608-BD4B-B970-1DC9719AB862}"/>
              </a:ext>
            </a:extLst>
          </p:cNvPr>
          <p:cNvGrpSpPr/>
          <p:nvPr/>
        </p:nvGrpSpPr>
        <p:grpSpPr>
          <a:xfrm>
            <a:off x="2908386" y="1634956"/>
            <a:ext cx="3651020" cy="4294036"/>
            <a:chOff x="0" y="0"/>
            <a:chExt cx="3190875" cy="3752850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19A75336-7248-4841-A2D9-0B57E457FF17}"/>
                </a:ext>
              </a:extLst>
            </p:cNvPr>
            <p:cNvSpPr/>
            <p:nvPr/>
          </p:nvSpPr>
          <p:spPr>
            <a:xfrm>
              <a:off x="0" y="0"/>
              <a:ext cx="3190875" cy="495300"/>
            </a:xfrm>
            <a:prstGeom prst="roundRect">
              <a:avLst>
                <a:gd name="adj" fmla="val 16667"/>
              </a:avLst>
            </a:prstGeom>
            <a:solidFill>
              <a:srgbClr val="B8E6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61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Inductive Reasoning</a:t>
              </a:r>
              <a:endParaRPr lang="en-US" sz="20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C644E481-DE19-094E-AD89-FDF1B22F577D}"/>
                </a:ext>
              </a:extLst>
            </p:cNvPr>
            <p:cNvSpPr/>
            <p:nvPr/>
          </p:nvSpPr>
          <p:spPr>
            <a:xfrm>
              <a:off x="771525" y="1095375"/>
              <a:ext cx="1609725" cy="466725"/>
            </a:xfrm>
            <a:prstGeom prst="roundRect">
              <a:avLst>
                <a:gd name="adj" fmla="val 16667"/>
              </a:avLst>
            </a:prstGeom>
            <a:solidFill>
              <a:srgbClr val="B8E6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61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Pattern</a:t>
              </a:r>
              <a:endParaRPr lang="en-US" sz="20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6EE8ABEF-F746-894E-AAE3-48C1470A66B2}"/>
                </a:ext>
              </a:extLst>
            </p:cNvPr>
            <p:cNvSpPr/>
            <p:nvPr/>
          </p:nvSpPr>
          <p:spPr>
            <a:xfrm>
              <a:off x="723900" y="2152650"/>
              <a:ext cx="1781175" cy="466725"/>
            </a:xfrm>
            <a:prstGeom prst="roundRect">
              <a:avLst>
                <a:gd name="adj" fmla="val 16667"/>
              </a:avLst>
            </a:prstGeom>
            <a:solidFill>
              <a:srgbClr val="B8E6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61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Conjecture</a:t>
              </a:r>
              <a:endParaRPr lang="en-US" sz="20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DB96D47-81A1-4646-8A42-6EB1B90830F0}"/>
                </a:ext>
              </a:extLst>
            </p:cNvPr>
            <p:cNvCxnSpPr/>
            <p:nvPr/>
          </p:nvCxnSpPr>
          <p:spPr>
            <a:xfrm>
              <a:off x="1581150" y="495300"/>
              <a:ext cx="0" cy="594360"/>
            </a:xfrm>
            <a:prstGeom prst="straightConnector1">
              <a:avLst/>
            </a:prstGeom>
            <a:ln w="5715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A81AD2BB-220D-154E-9BE1-D9B99F6AC857}"/>
                </a:ext>
              </a:extLst>
            </p:cNvPr>
            <p:cNvSpPr/>
            <p:nvPr/>
          </p:nvSpPr>
          <p:spPr>
            <a:xfrm>
              <a:off x="400050" y="3257550"/>
              <a:ext cx="2486025" cy="495300"/>
            </a:xfrm>
            <a:prstGeom prst="roundRect">
              <a:avLst>
                <a:gd name="adj" fmla="val 16667"/>
              </a:avLst>
            </a:prstGeom>
            <a:solidFill>
              <a:srgbClr val="B8E6F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r>
                <a:rPr lang="en-US" sz="2000" b="1" dirty="0">
                  <a:solidFill>
                    <a:srgbClr val="0061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Verify/Modify</a:t>
              </a:r>
              <a:endParaRPr lang="en-US" sz="200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30F146C-76D3-A94C-AE02-0E9E7CBF7113}"/>
                </a:ext>
              </a:extLst>
            </p:cNvPr>
            <p:cNvCxnSpPr/>
            <p:nvPr/>
          </p:nvCxnSpPr>
          <p:spPr>
            <a:xfrm>
              <a:off x="1581150" y="1562100"/>
              <a:ext cx="0" cy="594360"/>
            </a:xfrm>
            <a:prstGeom prst="straightConnector1">
              <a:avLst/>
            </a:prstGeom>
            <a:ln w="5715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C9B8CFD-BA4D-0943-9189-E83349A98772}"/>
                </a:ext>
              </a:extLst>
            </p:cNvPr>
            <p:cNvCxnSpPr/>
            <p:nvPr/>
          </p:nvCxnSpPr>
          <p:spPr>
            <a:xfrm>
              <a:off x="1581150" y="2647950"/>
              <a:ext cx="0" cy="594360"/>
            </a:xfrm>
            <a:prstGeom prst="straightConnector1">
              <a:avLst/>
            </a:prstGeom>
            <a:ln w="57150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3" name="Google Shape;282;g104476d1465_1_17">
            <a:extLst>
              <a:ext uri="{FF2B5EF4-FFF2-40B4-BE49-F238E27FC236}">
                <a16:creationId xmlns:a16="http://schemas.microsoft.com/office/drawing/2014/main" id="{424A9611-5047-954E-8FC4-05E3246866E1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91483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5" y="382314"/>
                <a:ext cx="10961136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5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which type of reasoning best describes the type that was used in the warm-up. Summarize your discussion.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Much of the reasoning that will be used in geometry is deductive reasoning.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Deductive reasoning needs to be used to prove the following statement is true.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algn="ctr"/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All numbers ending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0 </m:t>
                    </m:r>
                  </m:oMath>
                </a14:m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5 </m:t>
                    </m:r>
                  </m:oMath>
                </a14:m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 divisible by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</m:t>
                    </m:r>
                  </m:oMath>
                </a14:m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 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To verify that </a:t>
                </a:r>
                <a:r>
                  <a:rPr lang="en-US" sz="2000" b="1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all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numbers that end in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 divisible by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would require more than the method of verifying and modifying conjectures. When trying to show that something works for all cases, deductive reasoning should be used.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82314"/>
                <a:ext cx="10961136" cy="4708981"/>
              </a:xfrm>
              <a:prstGeom prst="rect">
                <a:avLst/>
              </a:prstGeom>
              <a:blipFill>
                <a:blip r:embed="rId4"/>
                <a:stretch>
                  <a:fillRect l="-612" t="-907" b="-1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E5BA16A4-64B6-CA4B-91E0-87245F6FDA63}"/>
              </a:ext>
            </a:extLst>
          </p:cNvPr>
          <p:cNvSpPr txBox="1"/>
          <p:nvPr/>
        </p:nvSpPr>
        <p:spPr>
          <a:xfrm>
            <a:off x="8867701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4179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40564" y="382315"/>
            <a:ext cx="1108758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following statement is an example of inductive reasoning.</a:t>
            </a:r>
          </a:p>
          <a:p>
            <a:pPr>
              <a:tabLst>
                <a:tab pos="2238375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algn="ctr"/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All small dogs in the park today have blue collars. Therefore, all small dogs have blue collars.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if it is possible that there existed a scenario that could have led to the conclusion. Write a short explanation.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7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 counterexample that would disprove “all small dogs have a blue collar.”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0ED7D1C-68B6-1E42-87C7-46322CEE8CD1}"/>
              </a:ext>
            </a:extLst>
          </p:cNvPr>
          <p:cNvGrpSpPr/>
          <p:nvPr/>
        </p:nvGrpSpPr>
        <p:grpSpPr>
          <a:xfrm>
            <a:off x="1104133" y="3076591"/>
            <a:ext cx="7200000" cy="2163507"/>
            <a:chOff x="2031300" y="2143295"/>
            <a:chExt cx="7200000" cy="21638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C9C1C06-2ABE-4B4C-95E5-242A84A7844C}"/>
                </a:ext>
              </a:extLst>
            </p:cNvPr>
            <p:cNvSpPr/>
            <p:nvPr/>
          </p:nvSpPr>
          <p:spPr>
            <a:xfrm>
              <a:off x="2031300" y="3252877"/>
              <a:ext cx="6629400" cy="10542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-US" sz="1200">
                  <a:latin typeface="Times New Roman" panose="02020603050405020304" pitchFamily="18" charset="0"/>
                  <a:ea typeface="Times New Roman" panose="02020603050405020304" pitchFamily="18" charset="0"/>
                </a:rPr>
                <a:t> 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F36EB0C-C576-1346-94EF-B8D6D77E48F4}"/>
                </a:ext>
              </a:extLst>
            </p:cNvPr>
            <p:cNvGrpSpPr/>
            <p:nvPr/>
          </p:nvGrpSpPr>
          <p:grpSpPr>
            <a:xfrm>
              <a:off x="2031300" y="2143295"/>
              <a:ext cx="7200000" cy="2163807"/>
              <a:chOff x="2031300" y="2143295"/>
              <a:chExt cx="7200000" cy="216380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DC3E646-854D-704B-B379-798C7A954240}"/>
                  </a:ext>
                </a:extLst>
              </p:cNvPr>
              <p:cNvSpPr/>
              <p:nvPr/>
            </p:nvSpPr>
            <p:spPr>
              <a:xfrm>
                <a:off x="2031300" y="3252877"/>
                <a:ext cx="6629400" cy="1054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Times New Roman" panose="02020603050405020304" pitchFamily="18" charset="0"/>
                    <a:ea typeface="Times New Roman" panose="02020603050405020304" pitchFamily="18" charset="0"/>
                  </a:rPr>
                  <a:t> </a:t>
                </a: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0F11354-0873-9B4A-A4C7-74544A6E5DEC}"/>
                  </a:ext>
                </a:extLst>
              </p:cNvPr>
              <p:cNvGrpSpPr/>
              <p:nvPr/>
            </p:nvGrpSpPr>
            <p:grpSpPr>
              <a:xfrm>
                <a:off x="2031300" y="2143295"/>
                <a:ext cx="7200000" cy="2163807"/>
                <a:chOff x="2031300" y="2143295"/>
                <a:chExt cx="7200000" cy="2163807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375DA4C8-CB8B-7A46-8B39-CB38D742D03B}"/>
                    </a:ext>
                  </a:extLst>
                </p:cNvPr>
                <p:cNvSpPr/>
                <p:nvPr/>
              </p:nvSpPr>
              <p:spPr>
                <a:xfrm>
                  <a:off x="2031300" y="3252877"/>
                  <a:ext cx="6629400" cy="10542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Times New Roman" panose="02020603050405020304" pitchFamily="18" charset="0"/>
                      <a:ea typeface="Times New Roman" panose="02020603050405020304" pitchFamily="18" charset="0"/>
                    </a:rPr>
                    <a:t> </a:t>
                  </a:r>
                </a:p>
              </p:txBody>
            </p: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25940BF4-1496-FD42-B945-D440EC90A008}"/>
                    </a:ext>
                  </a:extLst>
                </p:cNvPr>
                <p:cNvGrpSpPr/>
                <p:nvPr/>
              </p:nvGrpSpPr>
              <p:grpSpPr>
                <a:xfrm>
                  <a:off x="2031300" y="2143295"/>
                  <a:ext cx="7200000" cy="2163807"/>
                  <a:chOff x="2031300" y="2143295"/>
                  <a:chExt cx="7200000" cy="2163807"/>
                </a:xfrm>
              </p:grpSpPr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48640CE3-7A3A-1246-824B-8CC9F6DBECF9}"/>
                      </a:ext>
                    </a:extLst>
                  </p:cNvPr>
                  <p:cNvSpPr/>
                  <p:nvPr/>
                </p:nvSpPr>
                <p:spPr>
                  <a:xfrm>
                    <a:off x="2031300" y="3252877"/>
                    <a:ext cx="6629400" cy="10542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r>
                      <a:rPr lang="en-US" sz="1200">
                        <a:latin typeface="Times New Roman" panose="02020603050405020304" pitchFamily="18" charset="0"/>
                        <a:ea typeface="Times New Roman" panose="020206030504050203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D2C3F3D2-E4A2-D345-80DF-DE371EF96C36}"/>
                      </a:ext>
                    </a:extLst>
                  </p:cNvPr>
                  <p:cNvGrpSpPr/>
                  <p:nvPr/>
                </p:nvGrpSpPr>
                <p:grpSpPr>
                  <a:xfrm>
                    <a:off x="2031300" y="2143295"/>
                    <a:ext cx="7200000" cy="2163807"/>
                    <a:chOff x="2031300" y="2143295"/>
                    <a:chExt cx="7200000" cy="2163807"/>
                  </a:xfrm>
                </p:grpSpPr>
                <p:sp>
                  <p:nvSpPr>
                    <p:cNvPr id="17" name="Rectangle 16">
                      <a:extLst>
                        <a:ext uri="{FF2B5EF4-FFF2-40B4-BE49-F238E27FC236}">
                          <a16:creationId xmlns:a16="http://schemas.microsoft.com/office/drawing/2014/main" id="{02A2F8D0-71BF-134D-A121-9BD568D6E4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31300" y="3252877"/>
                      <a:ext cx="6629400" cy="105422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r>
                        <a:rPr lang="en-US" sz="1200"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p:txBody>
                </p:sp>
                <p:grpSp>
                  <p:nvGrpSpPr>
                    <p:cNvPr id="18" name="Group 17">
                      <a:extLst>
                        <a:ext uri="{FF2B5EF4-FFF2-40B4-BE49-F238E27FC236}">
                          <a16:creationId xmlns:a16="http://schemas.microsoft.com/office/drawing/2014/main" id="{E5A6A0C2-2825-474A-A674-AA41C829B3D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31300" y="2143295"/>
                      <a:ext cx="7200000" cy="2163804"/>
                      <a:chOff x="2031300" y="2172516"/>
                      <a:chExt cx="7200000" cy="2125172"/>
                    </a:xfrm>
                  </p:grpSpPr>
                  <p:sp>
                    <p:nvSpPr>
                      <p:cNvPr id="19" name="Rectangle 18">
                        <a:extLst>
                          <a:ext uri="{FF2B5EF4-FFF2-40B4-BE49-F238E27FC236}">
                            <a16:creationId xmlns:a16="http://schemas.microsoft.com/office/drawing/2014/main" id="{43C1AF07-9900-A144-902B-90AF9D4DA6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31300" y="3262288"/>
                        <a:ext cx="6629400" cy="103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r>
                          <a:rPr lang="en-US" sz="1200">
                            <a:latin typeface="Times New Roman" panose="02020603050405020304" pitchFamily="18" charset="0"/>
                            <a:ea typeface="Times New Roman" panose="02020603050405020304" pitchFamily="18" charset="0"/>
                          </a:rPr>
                          <a:t> </a:t>
                        </a:r>
                      </a:p>
                    </p:txBody>
                  </p:sp>
                  <p:grpSp>
                    <p:nvGrpSpPr>
                      <p:cNvPr id="20" name="Group 19">
                        <a:extLst>
                          <a:ext uri="{FF2B5EF4-FFF2-40B4-BE49-F238E27FC236}">
                            <a16:creationId xmlns:a16="http://schemas.microsoft.com/office/drawing/2014/main" id="{6B9B06A9-2C33-4846-AA4C-B52BC1F9CB8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031300" y="2172516"/>
                        <a:ext cx="7200000" cy="2125172"/>
                        <a:chOff x="2031300" y="2283828"/>
                        <a:chExt cx="7200000" cy="2125172"/>
                      </a:xfrm>
                    </p:grpSpPr>
                    <p:sp>
                      <p:nvSpPr>
                        <p:cNvPr id="21" name="Rectangle 20">
                          <a:extLst>
                            <a:ext uri="{FF2B5EF4-FFF2-40B4-BE49-F238E27FC236}">
                              <a16:creationId xmlns:a16="http://schemas.microsoft.com/office/drawing/2014/main" id="{85DB6AF2-4F37-4747-A902-A6365309392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2031300" y="3373600"/>
                          <a:ext cx="6629400" cy="10354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r>
                            <a:rPr lang="en-US" sz="1200"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 </a:t>
                          </a:r>
                        </a:p>
                      </p:txBody>
                    </p:sp>
                    <p:grpSp>
                      <p:nvGrpSpPr>
                        <p:cNvPr id="22" name="Group 21">
                          <a:extLst>
                            <a:ext uri="{FF2B5EF4-FFF2-40B4-BE49-F238E27FC236}">
                              <a16:creationId xmlns:a16="http://schemas.microsoft.com/office/drawing/2014/main" id="{D0E4D2EC-AE07-A248-8723-5C4485D3AB5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031300" y="2283828"/>
                          <a:ext cx="7200000" cy="1902572"/>
                          <a:chOff x="2031300" y="2283828"/>
                          <a:chExt cx="7200000" cy="1902572"/>
                        </a:xfrm>
                      </p:grpSpPr>
                      <p:sp>
                        <p:nvSpPr>
                          <p:cNvPr id="23" name="Rectangle 22">
                            <a:extLst>
                              <a:ext uri="{FF2B5EF4-FFF2-40B4-BE49-F238E27FC236}">
                                <a16:creationId xmlns:a16="http://schemas.microsoft.com/office/drawing/2014/main" id="{2F806966-0834-7C4C-802A-13B08D19F6B8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031300" y="3373600"/>
                            <a:ext cx="6629400" cy="8128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spcFirstLastPara="1" wrap="square" lIns="91425" tIns="91425" rIns="91425" bIns="91425" anchor="ctr" anchorCtr="0">
                            <a:noAutofit/>
                          </a:bodyPr>
                          <a:lstStyle/>
                          <a:p>
                            <a:r>
                              <a:rPr lang="en-US" sz="1200">
                                <a:latin typeface="Times New Roman" panose="02020603050405020304" pitchFamily="18" charset="0"/>
                                <a:ea typeface="Times New Roman" panose="02020603050405020304" pitchFamily="18" charset="0"/>
                              </a:rPr>
                              <a:t> </a:t>
                            </a:r>
                          </a:p>
                        </p:txBody>
                      </p:sp>
                      <p:grpSp>
                        <p:nvGrpSpPr>
                          <p:cNvPr id="24" name="Group 23">
                            <a:extLst>
                              <a:ext uri="{FF2B5EF4-FFF2-40B4-BE49-F238E27FC236}">
                                <a16:creationId xmlns:a16="http://schemas.microsoft.com/office/drawing/2014/main" id="{FE579AEF-2AC6-AB41-A734-01F634E2AE1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2031300" y="2283828"/>
                            <a:ext cx="7200000" cy="1902572"/>
                            <a:chOff x="0" y="-1089772"/>
                            <a:chExt cx="7200000" cy="1902572"/>
                          </a:xfrm>
                        </p:grpSpPr>
                        <p:sp>
                          <p:nvSpPr>
                            <p:cNvPr id="25" name="Rectangle 24">
                              <a:extLst>
                                <a:ext uri="{FF2B5EF4-FFF2-40B4-BE49-F238E27FC236}">
                                  <a16:creationId xmlns:a16="http://schemas.microsoft.com/office/drawing/2014/main" id="{63ADDBAB-0418-234E-AA62-07A9B30F344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0" y="0"/>
                              <a:ext cx="6629400" cy="8128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91425" rIns="91425" bIns="91425" anchor="ctr" anchorCtr="0">
                              <a:noAutofit/>
                            </a:bodyPr>
                            <a:lstStyle/>
                            <a:p>
                              <a:r>
                                <a:rPr lang="en-US" sz="1200">
                                  <a:latin typeface="Times New Roman" panose="02020603050405020304" pitchFamily="18" charset="0"/>
                                  <a:ea typeface="Times New Roman" panose="02020603050405020304" pitchFamily="18" charset="0"/>
                                </a:rPr>
                                <a:t> </a:t>
                              </a:r>
                            </a:p>
                          </p:txBody>
                        </p:sp>
                        <p:sp>
                          <p:nvSpPr>
                            <p:cNvPr id="26" name="Rounded Rectangle 25">
                              <a:extLst>
                                <a:ext uri="{FF2B5EF4-FFF2-40B4-BE49-F238E27FC236}">
                                  <a16:creationId xmlns:a16="http://schemas.microsoft.com/office/drawing/2014/main" id="{282879C8-8F46-D04E-916E-278CAFDA62DA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0" y="-1089772"/>
                              <a:ext cx="7200000" cy="769273"/>
                            </a:xfrm>
                            <a:prstGeom prst="roundRect">
                              <a:avLst>
                                <a:gd name="adj" fmla="val 16667"/>
                              </a:avLst>
                            </a:prstGeom>
                            <a:solidFill>
                              <a:srgbClr val="E2EED5"/>
                            </a:solidFill>
                            <a:ln>
                              <a:noFill/>
                            </a:ln>
                          </p:spPr>
                          <p:txBody>
                            <a:bodyPr spcFirstLastPara="1" wrap="square" lIns="91425" tIns="45700" rIns="91425" bIns="45700" anchor="ctr" anchorCtr="0">
                              <a:spAutoFit/>
                            </a:bodyPr>
                            <a:lstStyle/>
                            <a:p>
                              <a:pPr marL="114300"/>
                              <a:r>
                                <a:rPr lang="en-US" sz="2000" dirty="0">
                                  <a:solidFill>
                                    <a:srgbClr val="6C993D"/>
                                  </a:solidFill>
                                  <a:latin typeface="Verdana" panose="020B0604030504040204" pitchFamily="34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a:t>A</a:t>
                              </a:r>
                              <a:r>
                                <a:rPr lang="en-US" sz="2000" b="1" dirty="0">
                                  <a:solidFill>
                                    <a:srgbClr val="6C993D"/>
                                  </a:solidFill>
                                  <a:latin typeface="Verdana" panose="020B0604030504040204" pitchFamily="34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a:t> </a:t>
                              </a:r>
                              <a:r>
                                <a:rPr lang="en-US" sz="2000" b="1" i="1" dirty="0">
                                  <a:solidFill>
                                    <a:srgbClr val="6C993D"/>
                                  </a:solidFill>
                                  <a:latin typeface="Verdana" panose="020B0604030504040204" pitchFamily="34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a:t>counterexample</a:t>
                              </a:r>
                              <a:r>
                                <a:rPr lang="en-US" sz="2000" dirty="0">
                                  <a:solidFill>
                                    <a:srgbClr val="6C993D"/>
                                  </a:solidFill>
                                  <a:latin typeface="Verdana" panose="020B0604030504040204" pitchFamily="34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a:t> is a statement that disproves a conjecture.</a:t>
                              </a:r>
                              <a:r>
                                <a:rPr lang="en-US" sz="2000" dirty="0">
                                  <a:latin typeface="Verdana" panose="020B0604030504040204" pitchFamily="34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a:t> </a:t>
                              </a:r>
                            </a:p>
                          </p:txBody>
                        </p:sp>
                      </p:grpSp>
                    </p:grpSp>
                  </p:grpSp>
                </p:grpSp>
              </p:grpSp>
            </p:grpSp>
          </p:grpSp>
        </p:grpSp>
      </p:grpSp>
      <p:sp>
        <p:nvSpPr>
          <p:cNvPr id="27" name="Google Shape;282;g104476d1465_1_17">
            <a:extLst>
              <a:ext uri="{FF2B5EF4-FFF2-40B4-BE49-F238E27FC236}">
                <a16:creationId xmlns:a16="http://schemas.microsoft.com/office/drawing/2014/main" id="{50D38D98-061B-C348-AB25-C3F29764A053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86649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5255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A959852D-8B13-E349-83B1-9C900529BBE2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1278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0736" y="353309"/>
            <a:ext cx="11421404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2.2.3 Bring It Together: Using Reasoning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E00F9-F39F-5043-888E-B0A2D8C9AE0F}"/>
              </a:ext>
            </a:extLst>
          </p:cNvPr>
          <p:cNvSpPr txBox="1"/>
          <p:nvPr/>
        </p:nvSpPr>
        <p:spPr>
          <a:xfrm>
            <a:off x="593248" y="1386149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the type of reasoning for each statement.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320606D7-FA1D-5D44-AD19-A87F7EA7DDF3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108F4C35-3A24-A244-BB28-81EF2D36C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0928" y="273851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EEC19F7-78C3-2F4D-92B2-517A6FEE71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9317682"/>
                  </p:ext>
                </p:extLst>
              </p:nvPr>
            </p:nvGraphicFramePr>
            <p:xfrm>
              <a:off x="727361" y="1904522"/>
              <a:ext cx="8100000" cy="413376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6300000">
                      <a:extLst>
                        <a:ext uri="{9D8B030D-6E8A-4147-A177-3AD203B41FA5}">
                          <a16:colId xmlns:a16="http://schemas.microsoft.com/office/drawing/2014/main" val="1476722304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1468987879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Statement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Type of Reasoning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724728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car's battery provides power to the engine, so if the battery is dead, the car won't start.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2999655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 know Joe is a good cook because I've eaten at his house three times and each time the food has been amazing.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45307941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diary that is supposed to be from the </a:t>
                          </a:r>
                          <a:b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effectLst/>
                                  <a:latin typeface="Cambria Math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18</m:t>
                              </m:r>
                            </m:oMath>
                          </a14:m>
                          <a:r>
                            <a:rPr lang="en-US" sz="2000" baseline="30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century might be real. It has passed a number of forensic and historical tests.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1358838"/>
                      </a:ext>
                    </a:extLst>
                  </a:tr>
                  <a:tr h="3600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sum of two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2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-digit numbers is always a </a:t>
                          </a:r>
                          <a:b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sz="2000" i="1" dirty="0" smtClean="0">
                                  <a:effectLst/>
                                  <a:latin typeface="Cambria Math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-digit number.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803528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EEC19F7-78C3-2F4D-92B2-517A6FEE71A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9317682"/>
                  </p:ext>
                </p:extLst>
              </p:nvPr>
            </p:nvGraphicFramePr>
            <p:xfrm>
              <a:off x="727361" y="1904522"/>
              <a:ext cx="8100000" cy="413376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6300000">
                      <a:extLst>
                        <a:ext uri="{9D8B030D-6E8A-4147-A177-3AD203B41FA5}">
                          <a16:colId xmlns:a16="http://schemas.microsoft.com/office/drawing/2014/main" val="1476722304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1468987879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Statement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Type of Reasoning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7247285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car's battery provides power to the engine, so if the battery is dead, the car won't start.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2999655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 know Joe is a good cook because I've eaten at his house three times and each time the food has been amazing.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45307941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3" t="-244242" r="-28917" b="-8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71358838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3" t="-493913" r="-28917" b="-156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8035288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F4C3B064-A17E-8C45-81C8-82E790E1E266}"/>
              </a:ext>
            </a:extLst>
          </p:cNvPr>
          <p:cNvSpPr txBox="1"/>
          <p:nvPr/>
        </p:nvSpPr>
        <p:spPr>
          <a:xfrm>
            <a:off x="8863052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8C1C0E-C7C0-F14B-88E2-57B6133AD69D}"/>
              </a:ext>
            </a:extLst>
          </p:cNvPr>
          <p:cNvSpPr txBox="1"/>
          <p:nvPr/>
        </p:nvSpPr>
        <p:spPr>
          <a:xfrm>
            <a:off x="507272" y="382624"/>
            <a:ext cx="110166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each statement, write a counterexample that disproves the statement.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a number is multiplied by itself, then the product is even.</a:t>
            </a: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Adding the same number to both the numerator and the denominator of a fraction does not change the fraction's value.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E4C3D56-1DA8-9443-9950-361D67B05B62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A328D4A0-E4EC-8041-BD15-A3DD3CF5B5BE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22731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21A194FE-219A-D342-BDEF-2A3F3C6CE29B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52650" y="146755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2.2.4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85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8" y="1101538"/>
            <a:ext cx="11428064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800" dirty="0">
                <a:latin typeface="Verdana" panose="020B0604030504040204" pitchFamily="34" charset="0"/>
              </a:rPr>
              <a:t>  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Write a statement that uses deductive reasoning.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4400" dirty="0"/>
            </a:br>
            <a:br>
              <a:rPr lang="en-US" sz="4400" dirty="0"/>
            </a:br>
            <a:br>
              <a:rPr lang="en-US" sz="4400" dirty="0"/>
            </a:b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2.  Write a counterexample to the statement.</a:t>
            </a:r>
            <a:endParaRPr lang="en-US" sz="4400" dirty="0">
              <a:effectLst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0" name="Google Shape;282;g104476d1465_1_17">
            <a:extLst>
              <a:ext uri="{FF2B5EF4-FFF2-40B4-BE49-F238E27FC236}">
                <a16:creationId xmlns:a16="http://schemas.microsoft.com/office/drawing/2014/main" id="{C43F7183-16ED-554C-BCCC-CB706D54CD6A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1304</TotalTime>
  <Words>1197</Words>
  <Application>Microsoft Macintosh PowerPoint</Application>
  <PresentationFormat>Widescreen</PresentationFormat>
  <Paragraphs>249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Wingdings</vt:lpstr>
      <vt:lpstr>Verdana</vt:lpstr>
      <vt:lpstr>Arial</vt:lpstr>
      <vt:lpstr>Century Gothic</vt:lpstr>
      <vt:lpstr>Times New Roman</vt:lpstr>
      <vt:lpstr>Calibri</vt:lpstr>
      <vt:lpstr>Arial Black</vt:lpstr>
      <vt:lpstr>Cambria Math</vt:lpstr>
      <vt:lpstr>1_Office Theme</vt:lpstr>
      <vt:lpstr>Geometry  Unit 2, Lesson 2  Types of Reasoning  Volume 1, pg. 89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29</cp:revision>
  <dcterms:created xsi:type="dcterms:W3CDTF">2015-03-17T18:51:18Z</dcterms:created>
  <dcterms:modified xsi:type="dcterms:W3CDTF">2023-03-01T16:40:52Z</dcterms:modified>
</cp:coreProperties>
</file>