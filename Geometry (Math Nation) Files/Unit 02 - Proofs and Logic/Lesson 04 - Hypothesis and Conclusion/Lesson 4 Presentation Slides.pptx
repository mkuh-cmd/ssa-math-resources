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288" r:id="rId10"/>
    <p:sldId id="308" r:id="rId11"/>
    <p:sldId id="311" r:id="rId12"/>
    <p:sldId id="312" r:id="rId13"/>
    <p:sldId id="335" r:id="rId14"/>
    <p:sldId id="332" r:id="rId15"/>
    <p:sldId id="333" r:id="rId16"/>
    <p:sldId id="313" r:id="rId17"/>
    <p:sldId id="323" r:id="rId18"/>
    <p:sldId id="324" r:id="rId19"/>
    <p:sldId id="334" r:id="rId20"/>
    <p:sldId id="306" r:id="rId21"/>
    <p:sldId id="307" r:id="rId22"/>
    <p:sldId id="325" r:id="rId23"/>
  </p:sldIdLst>
  <p:sldSz cx="12192000" cy="6858000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4181" autoAdjust="0"/>
  </p:normalViewPr>
  <p:slideViewPr>
    <p:cSldViewPr snapToGrid="0">
      <p:cViewPr varScale="1">
        <p:scale>
          <a:sx n="70" d="100"/>
          <a:sy n="70" d="100"/>
        </p:scale>
        <p:origin x="130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94092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0530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1080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877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0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Hypothesis and Conclusion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97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MA.912.LT.4.3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and accurately interpret “if…then,” “if and only if,” “all” and “not” statements. Find the converse, inverse, and contrapositive of a statement.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4828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FE19048-9783-0446-85C0-B9B425F81C9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the hypothesis of a statement.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the conclusion of a statement.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converse, inverse, and contrapositive of a conditional statement.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FABBD83-2428-2248-A5CB-2C552A24E9DF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D9154AD-34CD-2A47-B55A-5ED7600C6E1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814"/>
            <a:ext cx="970178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2.4.1 Warm-Up: Protype Fabricator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190017"/>
            <a:ext cx="1103490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Jeff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Tiedeken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prototype fabricator. He creates metal prototypes through bending, cutting, welding, and assembling.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Jeff states that most people who come in for help do not have an idea of what they need, so his first job is to understand the problem.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does understanding the problem help?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Jeff said that once he understands the problem, he then solves the problem with other people.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do you think discussing a problem with others can be helpful?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7318321-AAE9-EF45-89AA-3A0A5E31962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E38E3-8747-E7E0-D202-01882A7F0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0634" y="275814"/>
            <a:ext cx="1450166" cy="144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F5379D6-9B30-F042-96B9-60F3C882FB3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2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855"/>
            <a:ext cx="104523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2.4.2 Guided Instruction: Hypothesis and Conclusion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710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10911776" cy="2993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Often information is given as an if-then statement. A few examples are shown.</a:t>
                </a:r>
              </a:p>
              <a:p>
                <a:pPr marL="9144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9625" indent="-357188" eaLnBrk="0" fontAlgn="base" hangingPunct="0">
                  <a:spcBef>
                    <a:spcPct val="0"/>
                  </a:spcBef>
                  <a:spcAft>
                    <a:spcPts val="60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you leave the lights on, then it will take longer for people to fall asleep.</a:t>
                </a: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9625" indent="-357188" eaLnBrk="0" fontAlgn="base" hangingPunct="0">
                  <a:spcBef>
                    <a:spcPct val="0"/>
                  </a:spcBef>
                  <a:spcAft>
                    <a:spcPts val="60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 goldfish is not exposed to light, then it will lose its color.</a:t>
                </a: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9625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 quadrilateral has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right angles, then it is a rectangle.</a:t>
                </a:r>
              </a:p>
              <a:p>
                <a:pPr marL="809625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10911776" cy="2993127"/>
              </a:xfrm>
              <a:prstGeom prst="rect">
                <a:avLst/>
              </a:prstGeom>
              <a:blipFill>
                <a:blip r:embed="rId5"/>
                <a:stretch>
                  <a:fillRect l="-838" t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42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09034" y="381474"/>
                <a:ext cx="11020959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new if-then statement using a different phrase following “if.”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2438"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_____________________________________, then it </a:t>
                </a:r>
              </a:p>
              <a:p>
                <a:pPr marL="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will take longer for people to fall asleep.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new if-then statement using a different phrase following “then.”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2438"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 quadrilateral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right angles, then ______________</a:t>
                </a:r>
              </a:p>
              <a:p>
                <a:pPr marL="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___________________________________________.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34" y="381474"/>
                <a:ext cx="11020959" cy="3477875"/>
              </a:xfrm>
              <a:prstGeom prst="rect">
                <a:avLst/>
              </a:prstGeom>
              <a:blipFill>
                <a:blip r:embed="rId4"/>
                <a:stretch>
                  <a:fillRect l="-609" t="-1228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47D13E-6DE2-5346-AB39-5D82C701E8FB}"/>
              </a:ext>
            </a:extLst>
          </p:cNvPr>
          <p:cNvGrpSpPr/>
          <p:nvPr/>
        </p:nvGrpSpPr>
        <p:grpSpPr>
          <a:xfrm>
            <a:off x="1314100" y="2910174"/>
            <a:ext cx="6629400" cy="2614264"/>
            <a:chOff x="2031300" y="3252876"/>
            <a:chExt cx="6629400" cy="261462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F907CB-EEF9-C54A-A9D9-7310149A77D8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65D208-7C56-7C46-89CB-3726DDE1FF5E}"/>
                </a:ext>
              </a:extLst>
            </p:cNvPr>
            <p:cNvGrpSpPr/>
            <p:nvPr/>
          </p:nvGrpSpPr>
          <p:grpSpPr>
            <a:xfrm>
              <a:off x="2031300" y="3252876"/>
              <a:ext cx="6629400" cy="2614626"/>
              <a:chOff x="2031300" y="3252876"/>
              <a:chExt cx="6629400" cy="261462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1FC0C9-0782-8047-AE6F-7AC6436E1B72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BDACF50-11A4-3E4B-8B74-28282984CF3E}"/>
                  </a:ext>
                </a:extLst>
              </p:cNvPr>
              <p:cNvGrpSpPr/>
              <p:nvPr/>
            </p:nvGrpSpPr>
            <p:grpSpPr>
              <a:xfrm>
                <a:off x="2031300" y="3252876"/>
                <a:ext cx="6629400" cy="2614626"/>
                <a:chOff x="2031300" y="3252876"/>
                <a:chExt cx="6629400" cy="2614626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7313DD2-2ECE-0444-91AA-7B5DE533135B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9ECB906-3007-1C47-AD12-26CFF7D1F786}"/>
                    </a:ext>
                  </a:extLst>
                </p:cNvPr>
                <p:cNvGrpSpPr/>
                <p:nvPr/>
              </p:nvGrpSpPr>
              <p:grpSpPr>
                <a:xfrm>
                  <a:off x="2031300" y="3252876"/>
                  <a:ext cx="6629400" cy="2614626"/>
                  <a:chOff x="2031300" y="3252876"/>
                  <a:chExt cx="6629400" cy="2614626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CC9C565-12B8-384E-BB08-A153B40759B3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B91486E6-C6A4-5E44-9D3C-2F1803191D43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3252876"/>
                    <a:ext cx="6629400" cy="2614626"/>
                    <a:chOff x="2031300" y="3252876"/>
                    <a:chExt cx="6629400" cy="2614626"/>
                  </a:xfrm>
                </p:grpSpPr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DED630AC-A3C3-F24C-B6BC-9A7C1FD6F0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1A0C2876-7D84-3E4F-8C26-9D0637AB27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3252876"/>
                      <a:ext cx="6629400" cy="2614626"/>
                      <a:chOff x="2031300" y="3262288"/>
                      <a:chExt cx="6629400" cy="2567947"/>
                    </a:xfrm>
                  </p:grpSpPr>
                  <p:sp>
                    <p:nvSpPr>
                      <p:cNvPr id="20" name="Rectangle 19">
                        <a:extLst>
                          <a:ext uri="{FF2B5EF4-FFF2-40B4-BE49-F238E27FC236}">
                            <a16:creationId xmlns:a16="http://schemas.microsoft.com/office/drawing/2014/main" id="{FFDA660F-CEB3-D34A-94DE-E29980E220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92C9897D-6928-5745-B3A0-53D2DB263D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3262288"/>
                        <a:ext cx="6629400" cy="2567947"/>
                        <a:chOff x="2031300" y="3373600"/>
                        <a:chExt cx="6629400" cy="2567947"/>
                      </a:xfrm>
                    </p:grpSpPr>
                    <p:sp>
                      <p:nvSpPr>
                        <p:cNvPr id="22" name="Rectangle 21">
                          <a:extLst>
                            <a:ext uri="{FF2B5EF4-FFF2-40B4-BE49-F238E27FC236}">
                              <a16:creationId xmlns:a16="http://schemas.microsoft.com/office/drawing/2014/main" id="{D8344C5E-917C-9A4E-B0D6-E3D2D443163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6BDA866F-DFD8-FF43-94BE-B88B3ACAF2C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31300" y="3373600"/>
                          <a:ext cx="6629400" cy="2567947"/>
                          <a:chOff x="2031300" y="3373600"/>
                          <a:chExt cx="6629400" cy="2567947"/>
                        </a:xfrm>
                      </p:grpSpPr>
                      <p:sp>
                        <p:nvSpPr>
                          <p:cNvPr id="24" name="Rectangle 23">
                            <a:extLst>
                              <a:ext uri="{FF2B5EF4-FFF2-40B4-BE49-F238E27FC236}">
                                <a16:creationId xmlns:a16="http://schemas.microsoft.com/office/drawing/2014/main" id="{DC1D6DD3-0D15-CE49-B786-F9CAAA367C8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5" name="Group 24">
                            <a:extLst>
                              <a:ext uri="{FF2B5EF4-FFF2-40B4-BE49-F238E27FC236}">
                                <a16:creationId xmlns:a16="http://schemas.microsoft.com/office/drawing/2014/main" id="{1935DDCF-E899-414C-A3BA-49C9C0FF9DD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31300" y="3373600"/>
                            <a:ext cx="6629400" cy="2567947"/>
                            <a:chOff x="0" y="0"/>
                            <a:chExt cx="6629400" cy="2567947"/>
                          </a:xfrm>
                        </p:grpSpPr>
                        <p:sp>
                          <p:nvSpPr>
                            <p:cNvPr id="26" name="Rectangle 25">
                              <a:extLst>
                                <a:ext uri="{FF2B5EF4-FFF2-40B4-BE49-F238E27FC236}">
                                  <a16:creationId xmlns:a16="http://schemas.microsoft.com/office/drawing/2014/main" id="{38386BE2-9E1F-3347-8AE8-B9F52EC561D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27" name="Rounded Rectangle 26">
                                  <a:extLst>
                                    <a:ext uri="{FF2B5EF4-FFF2-40B4-BE49-F238E27FC236}">
                                      <a16:creationId xmlns:a16="http://schemas.microsoft.com/office/drawing/2014/main" id="{E14F516D-DFA5-B54A-8C3F-8F430846FD2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0" y="1295958"/>
                                  <a:ext cx="6629400" cy="1271989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72000" rIns="91425" bIns="0" anchor="ctr" anchorCtr="0">
                                  <a:spAutoFit/>
                                </a:bodyPr>
                                <a:lstStyle/>
                                <a:p>
                                  <a:pPr marL="114300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A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conditional</a:t>
                                  </a:r>
                                  <a:r>
                                    <a:rPr lang="en-US" sz="2000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statement</a:t>
                                  </a:r>
                                  <a:r>
                                    <a:rPr lang="en-US" sz="2000" b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is a statement in the format of “If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.” The phrase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is the hypothesis. The phrase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is the conclusion. 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27" name="Rounded Rectangle 26">
                                  <a:extLst>
                                    <a:ext uri="{FF2B5EF4-FFF2-40B4-BE49-F238E27FC236}">
                                      <a16:creationId xmlns:a16="http://schemas.microsoft.com/office/drawing/2014/main" id="{E14F516D-DFA5-B54A-8C3F-8F430846FD20}"/>
                                    </a:ext>
                                  </a:extLst>
                                </p:cNvPr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0" y="1295958"/>
                                  <a:ext cx="6629400" cy="1271989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>
                                  <a:blip r:embed="rId5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28" name="Google Shape;282;g104476d1465_1_17">
            <a:extLst>
              <a:ext uri="{FF2B5EF4-FFF2-40B4-BE49-F238E27FC236}">
                <a16:creationId xmlns:a16="http://schemas.microsoft.com/office/drawing/2014/main" id="{7CEC51AE-6F05-AB4F-8F6E-47D5EEBF6CBE}"/>
              </a:ext>
            </a:extLst>
          </p:cNvPr>
          <p:cNvSpPr txBox="1"/>
          <p:nvPr/>
        </p:nvSpPr>
        <p:spPr>
          <a:xfrm>
            <a:off x="889599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809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07271" y="383463"/>
                <a:ext cx="1111153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hypothesis for “If a quadrilateral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right angles, then it is a rectangle”?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conclusion for each hypothesis.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yesterday was Sunday, then __________________ ___________________________________________.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you see lightning, then ______________________ ___________________________________________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_____________________________________.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William Camden wrote, “The early bird catches the worm.” Rewrite Camden’s statement as a conditional statement.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71" y="383463"/>
                <a:ext cx="11111537" cy="5632311"/>
              </a:xfrm>
              <a:prstGeom prst="rect">
                <a:avLst/>
              </a:prstGeom>
              <a:blipFill>
                <a:blip r:embed="rId4"/>
                <a:stretch>
                  <a:fillRect l="-603" t="-758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F03401E-EC39-F943-925F-D274CF93EBE3}"/>
              </a:ext>
            </a:extLst>
          </p:cNvPr>
          <p:cNvSpPr txBox="1"/>
          <p:nvPr/>
        </p:nvSpPr>
        <p:spPr>
          <a:xfrm>
            <a:off x="8880583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CDED09C-3AAF-044B-AC19-9EBEEF34110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02062"/>
            <a:ext cx="105755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2.4.3 Exploration: Switching the Hypothesis and Conclusion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21527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93248" y="1459721"/>
            <a:ext cx="1103490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 square or a triangle.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drew a square, then draw a circle inside the square.</a:t>
            </a:r>
          </a:p>
          <a:p>
            <a:pPr marL="4524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drew a triangle, then draw a circle outside the triangle.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09034" y="377157"/>
            <a:ext cx="1101488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what happens when the hypothesis and conclusion of each conditional are switched.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809625" indent="-3571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drew a circle inside the square, then draw a square. </a:t>
            </a:r>
          </a:p>
          <a:p>
            <a:pPr marL="809625" indent="-357188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drew a circle outside the triangle, then draw a triangle.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24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Summarize your discussion.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843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12C4C89-68D0-CF40-9EA8-35835C28CEB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2916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00389"/>
            <a:ext cx="96744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2.4.4 Guided Instruction: Converse, Inverse, and Contrapositive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3895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40564" y="2818693"/>
            <a:ext cx="109833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converse of “If it is raining, then the grass is wet.”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counterexample that shows the converse is not true.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2B04CB-861A-A947-A378-886042321A25}"/>
              </a:ext>
            </a:extLst>
          </p:cNvPr>
          <p:cNvGrpSpPr/>
          <p:nvPr/>
        </p:nvGrpSpPr>
        <p:grpSpPr>
          <a:xfrm>
            <a:off x="540565" y="1721559"/>
            <a:ext cx="8280000" cy="1419889"/>
            <a:chOff x="1257765" y="2887017"/>
            <a:chExt cx="8280000" cy="14200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DC38A04-C019-F34D-AE11-F821D45A2AF7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019A6C1-0B1E-9642-83DE-D4FF8167ADD7}"/>
                </a:ext>
              </a:extLst>
            </p:cNvPr>
            <p:cNvGrpSpPr/>
            <p:nvPr/>
          </p:nvGrpSpPr>
          <p:grpSpPr>
            <a:xfrm>
              <a:off x="1257765" y="2887017"/>
              <a:ext cx="8280000" cy="1420085"/>
              <a:chOff x="1257765" y="2887017"/>
              <a:chExt cx="8280000" cy="142008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A81E21D-4DB9-2343-8CA0-CC6983ABE313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5334A3C-C25B-264B-9F8C-95857D381A8D}"/>
                  </a:ext>
                </a:extLst>
              </p:cNvPr>
              <p:cNvGrpSpPr/>
              <p:nvPr/>
            </p:nvGrpSpPr>
            <p:grpSpPr>
              <a:xfrm>
                <a:off x="1257765" y="2887017"/>
                <a:ext cx="8280000" cy="1420085"/>
                <a:chOff x="1257765" y="2887017"/>
                <a:chExt cx="8280000" cy="1420085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BE804BB-18F1-0540-B137-2C2763E8BF8F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681550D5-2E2D-384E-BA2A-37016CBA4F1D}"/>
                    </a:ext>
                  </a:extLst>
                </p:cNvPr>
                <p:cNvGrpSpPr/>
                <p:nvPr/>
              </p:nvGrpSpPr>
              <p:grpSpPr>
                <a:xfrm>
                  <a:off x="1257765" y="2887017"/>
                  <a:ext cx="8280000" cy="1420085"/>
                  <a:chOff x="1257765" y="2887017"/>
                  <a:chExt cx="8280000" cy="1420085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57D10655-E36B-694E-9362-E4CF3C96F9AC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1F34FF79-A0EC-9C46-92DC-C1F5B0D59203}"/>
                      </a:ext>
                    </a:extLst>
                  </p:cNvPr>
                  <p:cNvGrpSpPr/>
                  <p:nvPr/>
                </p:nvGrpSpPr>
                <p:grpSpPr>
                  <a:xfrm>
                    <a:off x="1257765" y="2887017"/>
                    <a:ext cx="8280000" cy="1420085"/>
                    <a:chOff x="1257765" y="2887017"/>
                    <a:chExt cx="8280000" cy="1420085"/>
                  </a:xfrm>
                </p:grpSpPr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D5B7CF02-0922-3B4F-8BD2-1942A9BE55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C0483374-FA9B-8246-8B58-4AA9831CDE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57765" y="2887017"/>
                      <a:ext cx="8280000" cy="1420084"/>
                      <a:chOff x="1257765" y="2902958"/>
                      <a:chExt cx="8280000" cy="1394730"/>
                    </a:xfrm>
                  </p:grpSpPr>
                  <p:sp>
                    <p:nvSpPr>
                      <p:cNvPr id="24" name="Rectangle 23">
                        <a:extLst>
                          <a:ext uri="{FF2B5EF4-FFF2-40B4-BE49-F238E27FC236}">
                            <a16:creationId xmlns:a16="http://schemas.microsoft.com/office/drawing/2014/main" id="{DF21F7BB-C234-934A-8F97-77DEEC4B8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5" name="Group 24">
                        <a:extLst>
                          <a:ext uri="{FF2B5EF4-FFF2-40B4-BE49-F238E27FC236}">
                            <a16:creationId xmlns:a16="http://schemas.microsoft.com/office/drawing/2014/main" id="{4A42D85B-1533-104B-85AB-DE72E09D830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57765" y="2902958"/>
                        <a:ext cx="8280000" cy="1394730"/>
                        <a:chOff x="1257765" y="3014270"/>
                        <a:chExt cx="8280000" cy="1394730"/>
                      </a:xfrm>
                    </p:grpSpPr>
                    <p:sp>
                      <p:nvSpPr>
                        <p:cNvPr id="26" name="Rectangle 25">
                          <a:extLst>
                            <a:ext uri="{FF2B5EF4-FFF2-40B4-BE49-F238E27FC236}">
                              <a16:creationId xmlns:a16="http://schemas.microsoft.com/office/drawing/2014/main" id="{BAD0E05F-58C1-E14D-851B-6636CED886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7" name="Group 26">
                          <a:extLst>
                            <a:ext uri="{FF2B5EF4-FFF2-40B4-BE49-F238E27FC236}">
                              <a16:creationId xmlns:a16="http://schemas.microsoft.com/office/drawing/2014/main" id="{A2C04035-1E9A-B44B-8BCD-1C70900D310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257765" y="3014270"/>
                          <a:ext cx="8280000" cy="1172130"/>
                          <a:chOff x="1257765" y="3014270"/>
                          <a:chExt cx="8280000" cy="1172130"/>
                        </a:xfrm>
                      </p:grpSpPr>
                      <p:sp>
                        <p:nvSpPr>
                          <p:cNvPr id="28" name="Rectangle 27">
                            <a:extLst>
                              <a:ext uri="{FF2B5EF4-FFF2-40B4-BE49-F238E27FC236}">
                                <a16:creationId xmlns:a16="http://schemas.microsoft.com/office/drawing/2014/main" id="{78B1D1F0-865D-3E4D-947E-8EBA4DBD51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9" name="Group 28">
                            <a:extLst>
                              <a:ext uri="{FF2B5EF4-FFF2-40B4-BE49-F238E27FC236}">
                                <a16:creationId xmlns:a16="http://schemas.microsoft.com/office/drawing/2014/main" id="{012BF415-7383-C947-A744-154410E5D61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257765" y="3014270"/>
                            <a:ext cx="8280000" cy="1172130"/>
                            <a:chOff x="-773535" y="-359330"/>
                            <a:chExt cx="8280000" cy="1172130"/>
                          </a:xfrm>
                        </p:grpSpPr>
                        <p:sp>
                          <p:nvSpPr>
                            <p:cNvPr id="30" name="Rectangle 29">
                              <a:extLst>
                                <a:ext uri="{FF2B5EF4-FFF2-40B4-BE49-F238E27FC236}">
                                  <a16:creationId xmlns:a16="http://schemas.microsoft.com/office/drawing/2014/main" id="{813FF1F0-6F65-A741-B2C1-099D1DC9D77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31" name="Rounded Rectangle 30">
                                  <a:extLst>
                                    <a:ext uri="{FF2B5EF4-FFF2-40B4-BE49-F238E27FC236}">
                                      <a16:creationId xmlns:a16="http://schemas.microsoft.com/office/drawing/2014/main" id="{4EA63356-F7E8-DA40-86C2-B0F8AEDC377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773535" y="-359330"/>
                                  <a:ext cx="8280000" cy="887353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72000" rIns="91425" bIns="0" anchor="ctr" anchorCtr="0">
                                  <a:spAutoFit/>
                                </a:bodyPr>
                                <a:lstStyle/>
                                <a:p>
                                  <a:pPr marL="84138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The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converse statement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is a statement in which the given conditional, “If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,” changes to “If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.”  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31" name="Rounded Rectangle 30">
                                  <a:extLst>
                                    <a:ext uri="{FF2B5EF4-FFF2-40B4-BE49-F238E27FC236}">
                                      <a16:creationId xmlns:a16="http://schemas.microsoft.com/office/drawing/2014/main" xmlns:a14="http://schemas.microsoft.com/office/drawing/2010/main" xmlns="" id="{4EA63356-F7E8-DA40-86C2-B0F8AEDC3771}"/>
                                    </a:ext>
                                  </a:extLst>
                                </p:cNvPr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-773535" y="-359330"/>
                                  <a:ext cx="8280000" cy="887353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 rotWithShape="1">
                                  <a:blip r:embed="rId5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PH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32" name="Google Shape;282;g104476d1465_1_17">
            <a:extLst>
              <a:ext uri="{FF2B5EF4-FFF2-40B4-BE49-F238E27FC236}">
                <a16:creationId xmlns:a16="http://schemas.microsoft.com/office/drawing/2014/main" id="{41E13153-CDD7-8443-A519-ADA233BFC6D6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7043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1408478"/>
            <a:ext cx="109611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inverse for “If it is raining, then the grass is wet.”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it is _______ raining, then the grass is _______ wet.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counterexample that shows the inverse is not true.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contrapositive for “If it is raining, then the grass is wet.”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CB0B50-6C2B-E647-980C-E35FBD3DEDB0}"/>
              </a:ext>
            </a:extLst>
          </p:cNvPr>
          <p:cNvGrpSpPr/>
          <p:nvPr/>
        </p:nvGrpSpPr>
        <p:grpSpPr>
          <a:xfrm>
            <a:off x="1018236" y="426763"/>
            <a:ext cx="8280000" cy="3496428"/>
            <a:chOff x="1281333" y="810188"/>
            <a:chExt cx="8280000" cy="349691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F81E40-9D8E-DE46-88C4-C4412FCB95A4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54E2382-2619-3F4E-A668-6B6C16855A82}"/>
                </a:ext>
              </a:extLst>
            </p:cNvPr>
            <p:cNvGrpSpPr/>
            <p:nvPr/>
          </p:nvGrpSpPr>
          <p:grpSpPr>
            <a:xfrm>
              <a:off x="1281333" y="810188"/>
              <a:ext cx="8280000" cy="3496914"/>
              <a:chOff x="1281333" y="810188"/>
              <a:chExt cx="8280000" cy="349691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21BBE7-B6DE-A047-88BA-78338294B9D3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345B461-87B4-AD4E-952F-A6E3EE252270}"/>
                  </a:ext>
                </a:extLst>
              </p:cNvPr>
              <p:cNvGrpSpPr/>
              <p:nvPr/>
            </p:nvGrpSpPr>
            <p:grpSpPr>
              <a:xfrm>
                <a:off x="1281333" y="810188"/>
                <a:ext cx="8280000" cy="3496914"/>
                <a:chOff x="1281333" y="810188"/>
                <a:chExt cx="8280000" cy="3496914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C72C596-60AC-4744-AE0F-913648BEB0FE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A2414965-CD99-E04C-B306-E299DB346714}"/>
                    </a:ext>
                  </a:extLst>
                </p:cNvPr>
                <p:cNvGrpSpPr/>
                <p:nvPr/>
              </p:nvGrpSpPr>
              <p:grpSpPr>
                <a:xfrm>
                  <a:off x="1281333" y="810188"/>
                  <a:ext cx="8280000" cy="3496914"/>
                  <a:chOff x="1281333" y="810188"/>
                  <a:chExt cx="8280000" cy="3496914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3A42ACA-C30F-E74E-82BD-60FB2D5D0DC4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7AA1CD6A-3DDE-064E-B0E4-070F1313C4B0}"/>
                      </a:ext>
                    </a:extLst>
                  </p:cNvPr>
                  <p:cNvGrpSpPr/>
                  <p:nvPr/>
                </p:nvGrpSpPr>
                <p:grpSpPr>
                  <a:xfrm>
                    <a:off x="1281333" y="810188"/>
                    <a:ext cx="8280000" cy="3496914"/>
                    <a:chOff x="1281333" y="810188"/>
                    <a:chExt cx="8280000" cy="3496914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89F65628-5ACC-344A-9EC2-CC767401DA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9774999C-1273-D94E-884C-A079A99AF5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81333" y="810188"/>
                      <a:ext cx="8280000" cy="3496913"/>
                      <a:chOff x="1281333" y="863207"/>
                      <a:chExt cx="8280000" cy="3434481"/>
                    </a:xfrm>
                  </p:grpSpPr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E58E9E61-4A30-714F-BAE9-27A3C351A1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A26582DC-B01F-614D-903E-1EC53D2D8AA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81333" y="863207"/>
                        <a:ext cx="8280000" cy="3434481"/>
                        <a:chOff x="1281333" y="974519"/>
                        <a:chExt cx="8280000" cy="3434481"/>
                      </a:xfrm>
                    </p:grpSpPr>
                    <p:sp>
                      <p:nvSpPr>
                        <p:cNvPr id="21" name="Rectangle 20">
                          <a:extLst>
                            <a:ext uri="{FF2B5EF4-FFF2-40B4-BE49-F238E27FC236}">
                              <a16:creationId xmlns:a16="http://schemas.microsoft.com/office/drawing/2014/main" id="{A05FA329-34DC-F24E-9D00-591F86A12C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712340F9-6E9C-FD4F-9ADD-F584B721B1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281333" y="974519"/>
                          <a:ext cx="8280000" cy="3211881"/>
                          <a:chOff x="1281333" y="974519"/>
                          <a:chExt cx="8280000" cy="3211881"/>
                        </a:xfrm>
                      </p:grpSpPr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DA77B4BA-3AD3-404C-BD35-F98E88E3D64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1EFD538E-C2EF-B04B-AF18-73B2427FDC5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281333" y="974519"/>
                            <a:ext cx="8280000" cy="3211881"/>
                            <a:chOff x="-749967" y="-2399081"/>
                            <a:chExt cx="8280000" cy="3211881"/>
                          </a:xfrm>
                        </p:grpSpPr>
                        <p:sp>
                          <p:nvSpPr>
                            <p:cNvPr id="25" name="Rectangle 24">
                              <a:extLst>
                                <a:ext uri="{FF2B5EF4-FFF2-40B4-BE49-F238E27FC236}">
                                  <a16:creationId xmlns:a16="http://schemas.microsoft.com/office/drawing/2014/main" id="{E067CBFC-2547-9640-B3D4-1DCAF93101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26" name="Rounded Rectangle 25">
                                  <a:extLst>
                                    <a:ext uri="{FF2B5EF4-FFF2-40B4-BE49-F238E27FC236}">
                                      <a16:creationId xmlns:a16="http://schemas.microsoft.com/office/drawing/2014/main" id="{7B560945-0685-104F-85EE-522B6D8D116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749967" y="-2399081"/>
                                  <a:ext cx="8280000" cy="887353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72000" rIns="91425" bIns="0" anchor="ctr" anchorCtr="0">
                                  <a:spAutoFit/>
                                </a:bodyPr>
                                <a:lstStyle/>
                                <a:p>
                                  <a:pPr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The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inverse</a:t>
                                  </a:r>
                                  <a:r>
                                    <a:rPr lang="en-US" sz="2000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statement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is a statement in which the given conditional, “If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,” changes to “If not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not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.”  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26" name="Rounded Rectangle 25">
                                  <a:extLst>
                                    <a:ext uri="{FF2B5EF4-FFF2-40B4-BE49-F238E27FC236}">
                                      <a16:creationId xmlns:a16="http://schemas.microsoft.com/office/drawing/2014/main" xmlns:a14="http://schemas.microsoft.com/office/drawing/2010/main" xmlns="" id="{7B560945-0685-104F-85EE-522B6D8D1161}"/>
                                    </a:ext>
                                  </a:extLst>
                                </p:cNvPr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-749967" y="-2399081"/>
                                  <a:ext cx="8280000" cy="887353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 rotWithShape="1">
                                  <a:blip r:embed="rId4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PH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</p:grpSp>
              </p:grpSp>
            </p:grpSp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D849C1-0730-B347-8BFE-5A785CE7AF0D}"/>
              </a:ext>
            </a:extLst>
          </p:cNvPr>
          <p:cNvGrpSpPr/>
          <p:nvPr/>
        </p:nvGrpSpPr>
        <p:grpSpPr>
          <a:xfrm>
            <a:off x="1018236" y="2823093"/>
            <a:ext cx="8280000" cy="2196889"/>
            <a:chOff x="1735436" y="3252877"/>
            <a:chExt cx="8280000" cy="219719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C757AB7-C630-8B47-A642-3036C61FC893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E012C67-D342-5046-BDCB-EE88BB798490}"/>
                </a:ext>
              </a:extLst>
            </p:cNvPr>
            <p:cNvGrpSpPr/>
            <p:nvPr/>
          </p:nvGrpSpPr>
          <p:grpSpPr>
            <a:xfrm>
              <a:off x="1735436" y="3252877"/>
              <a:ext cx="8280000" cy="2197192"/>
              <a:chOff x="1735436" y="3252877"/>
              <a:chExt cx="8280000" cy="2197192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F039148-F6EE-A044-BBAE-BB43B7578832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A69CD5F-6E1E-6A40-89CA-37E0F2DDD390}"/>
                  </a:ext>
                </a:extLst>
              </p:cNvPr>
              <p:cNvGrpSpPr/>
              <p:nvPr/>
            </p:nvGrpSpPr>
            <p:grpSpPr>
              <a:xfrm>
                <a:off x="1735436" y="3252877"/>
                <a:ext cx="8280000" cy="2197192"/>
                <a:chOff x="1735436" y="3252877"/>
                <a:chExt cx="8280000" cy="2197192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1454054-9F82-DE45-A0A1-F0960888ABF9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99EB9D2D-E365-2144-868E-9BAE2AA44388}"/>
                    </a:ext>
                  </a:extLst>
                </p:cNvPr>
                <p:cNvGrpSpPr/>
                <p:nvPr/>
              </p:nvGrpSpPr>
              <p:grpSpPr>
                <a:xfrm>
                  <a:off x="1735436" y="3252877"/>
                  <a:ext cx="8280000" cy="2197192"/>
                  <a:chOff x="1735436" y="3252877"/>
                  <a:chExt cx="8280000" cy="2197192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E16A585-73C4-E14C-8424-F392ECE51A3A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940D4F16-B2B7-984E-A712-0359759D3449}"/>
                      </a:ext>
                    </a:extLst>
                  </p:cNvPr>
                  <p:cNvGrpSpPr/>
                  <p:nvPr/>
                </p:nvGrpSpPr>
                <p:grpSpPr>
                  <a:xfrm>
                    <a:off x="1735436" y="3252877"/>
                    <a:ext cx="8280000" cy="2197192"/>
                    <a:chOff x="1735436" y="3252877"/>
                    <a:chExt cx="8280000" cy="2197192"/>
                  </a:xfrm>
                </p:grpSpPr>
                <p:sp>
                  <p:nvSpPr>
                    <p:cNvPr id="36" name="Rectangle 35">
                      <a:extLst>
                        <a:ext uri="{FF2B5EF4-FFF2-40B4-BE49-F238E27FC236}">
                          <a16:creationId xmlns:a16="http://schemas.microsoft.com/office/drawing/2014/main" id="{772A3C36-018E-B54C-91CC-4FE0335B44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BABCAC3D-E667-C449-8066-59CE4CD648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5436" y="3252879"/>
                      <a:ext cx="8280000" cy="2197190"/>
                      <a:chOff x="1735436" y="3262288"/>
                      <a:chExt cx="8280000" cy="2157961"/>
                    </a:xfrm>
                  </p:grpSpPr>
                  <p:sp>
                    <p:nvSpPr>
                      <p:cNvPr id="38" name="Rectangle 37">
                        <a:extLst>
                          <a:ext uri="{FF2B5EF4-FFF2-40B4-BE49-F238E27FC236}">
                            <a16:creationId xmlns:a16="http://schemas.microsoft.com/office/drawing/2014/main" id="{BEA5922B-73D9-CC40-95D7-C453CC715C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39" name="Group 38">
                        <a:extLst>
                          <a:ext uri="{FF2B5EF4-FFF2-40B4-BE49-F238E27FC236}">
                            <a16:creationId xmlns:a16="http://schemas.microsoft.com/office/drawing/2014/main" id="{3C303D09-76F2-7E49-9283-5FD2371E4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5436" y="3262288"/>
                        <a:ext cx="8280000" cy="2157961"/>
                        <a:chOff x="1735436" y="3373600"/>
                        <a:chExt cx="8280000" cy="2157961"/>
                      </a:xfrm>
                    </p:grpSpPr>
                    <p:sp>
                      <p:nvSpPr>
                        <p:cNvPr id="40" name="Rectangle 39">
                          <a:extLst>
                            <a:ext uri="{FF2B5EF4-FFF2-40B4-BE49-F238E27FC236}">
                              <a16:creationId xmlns:a16="http://schemas.microsoft.com/office/drawing/2014/main" id="{9E8F6F71-1A54-6D4B-8405-B5FD29F95FF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41" name="Group 40">
                          <a:extLst>
                            <a:ext uri="{FF2B5EF4-FFF2-40B4-BE49-F238E27FC236}">
                              <a16:creationId xmlns:a16="http://schemas.microsoft.com/office/drawing/2014/main" id="{D3E1BF16-1134-B944-B079-FBAC6A362D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5436" y="3373600"/>
                          <a:ext cx="8280000" cy="2157961"/>
                          <a:chOff x="1735436" y="3373600"/>
                          <a:chExt cx="8280000" cy="2157961"/>
                        </a:xfrm>
                      </p:grpSpPr>
                      <p:sp>
                        <p:nvSpPr>
                          <p:cNvPr id="42" name="Rectangle 41">
                            <a:extLst>
                              <a:ext uri="{FF2B5EF4-FFF2-40B4-BE49-F238E27FC236}">
                                <a16:creationId xmlns:a16="http://schemas.microsoft.com/office/drawing/2014/main" id="{3AA04347-9F2B-1546-829B-DF1AC1A30D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43" name="Group 42">
                            <a:extLst>
                              <a:ext uri="{FF2B5EF4-FFF2-40B4-BE49-F238E27FC236}">
                                <a16:creationId xmlns:a16="http://schemas.microsoft.com/office/drawing/2014/main" id="{9DE9D6C7-CF64-7940-8E03-4A3158D880E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35436" y="3373600"/>
                            <a:ext cx="8280000" cy="2157961"/>
                            <a:chOff x="-295864" y="0"/>
                            <a:chExt cx="8280000" cy="2157961"/>
                          </a:xfrm>
                        </p:grpSpPr>
                        <p:sp>
                          <p:nvSpPr>
                            <p:cNvPr id="44" name="Rectangle 43">
                              <a:extLst>
                                <a:ext uri="{FF2B5EF4-FFF2-40B4-BE49-F238E27FC236}">
                                  <a16:creationId xmlns:a16="http://schemas.microsoft.com/office/drawing/2014/main" id="{91257F97-0839-FA41-A284-CFE5CEF38C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45" name="Rounded Rectangle 44">
                                  <a:extLst>
                                    <a:ext uri="{FF2B5EF4-FFF2-40B4-BE49-F238E27FC236}">
                                      <a16:creationId xmlns:a16="http://schemas.microsoft.com/office/drawing/2014/main" id="{53993FED-7A12-4843-9815-17D9C2380628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295864" y="934973"/>
                                  <a:ext cx="8280000" cy="1222988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72000" rIns="91425" bIns="0" anchor="ctr" anchorCtr="0">
                                  <a:noAutofit/>
                                </a:bodyPr>
                                <a:lstStyle/>
                                <a:p>
                                  <a:pPr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The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contrapositive</a:t>
                                  </a:r>
                                  <a:r>
                                    <a:rPr lang="en-US" sz="2000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statement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is a statement in which the given conditional, “If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,” changes to “If not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not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.”  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45" name="Rounded Rectangle 44">
                                  <a:extLst>
                                    <a:ext uri="{FF2B5EF4-FFF2-40B4-BE49-F238E27FC236}">
                                      <a16:creationId xmlns:a16="http://schemas.microsoft.com/office/drawing/2014/main" id="{53993FED-7A12-4843-9815-17D9C2380628}"/>
                                    </a:ext>
                                  </a:extLst>
                                </p:cNvPr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-295864" y="934973"/>
                                  <a:ext cx="8280000" cy="1222988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>
                                  <a:blip r:embed="rId5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47" name="Google Shape;282;g104476d1465_1_17">
            <a:extLst>
              <a:ext uri="{FF2B5EF4-FFF2-40B4-BE49-F238E27FC236}">
                <a16:creationId xmlns:a16="http://schemas.microsoft.com/office/drawing/2014/main" id="{0AD50C5D-237D-4840-AC91-B6750394D42C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B13B5BE-8D99-664C-B7B1-1FA6C955C38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89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16021"/>
            <a:ext cx="1001568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2.4.5 Guided Practice: Converse, Inverse, and Contrapositive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3046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40565" y="1198847"/>
            <a:ext cx="9572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converse, inverse, and contrapositive for each conditional.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“If you're not making mistakes, then you're not doing anything.” (Quote by John Wooden, an American basketball player and coach)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61BF6C-A0DE-BD43-8B14-FE5004C55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168226"/>
              </p:ext>
            </p:extLst>
          </p:nvPr>
        </p:nvGraphicFramePr>
        <p:xfrm>
          <a:off x="1178742" y="3300527"/>
          <a:ext cx="7560000" cy="270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750817584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4155631543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2023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32099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77980"/>
                  </a:ext>
                </a:extLst>
              </a:tr>
            </a:tbl>
          </a:graphicData>
        </a:graphic>
      </p:graphicFrame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A3ACF41-9F47-BF43-8CC4-F40896BD6DCA}"/>
              </a:ext>
            </a:extLst>
          </p:cNvPr>
          <p:cNvSpPr txBox="1"/>
          <p:nvPr/>
        </p:nvSpPr>
        <p:spPr>
          <a:xfrm>
            <a:off x="88507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369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05800" y="383462"/>
            <a:ext cx="10330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“If you think you’re always in control, then you’re not going fast enough.” (Quote by Mario Andretti)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8DFD7A4-8A4E-2D4B-AD20-E5D5DB80B8AB}"/>
              </a:ext>
            </a:extLst>
          </p:cNvPr>
          <p:cNvSpPr txBox="1"/>
          <p:nvPr/>
        </p:nvSpPr>
        <p:spPr>
          <a:xfrm>
            <a:off x="886546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61BF6C-A0DE-BD43-8B14-FE5004C55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545647"/>
              </p:ext>
            </p:extLst>
          </p:nvPr>
        </p:nvGraphicFramePr>
        <p:xfrm>
          <a:off x="1178742" y="1232398"/>
          <a:ext cx="7560000" cy="270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750817584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4155631543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2023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32099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77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197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2650" y="13865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79000" y="1088705"/>
            <a:ext cx="109491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the following quote by Michelle Obama as a conditional statement.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“When someone is cruel or acts like a bully, you don't stoop to their level.”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the conditional statement shown.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have ridden the roller coaster SheiKra, then you have been to Busch Gardens.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46FA77-8D78-1641-8DA3-F67558FD6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821149"/>
              </p:ext>
            </p:extLst>
          </p:nvPr>
        </p:nvGraphicFramePr>
        <p:xfrm>
          <a:off x="1256950" y="4912696"/>
          <a:ext cx="7200000" cy="144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4274878856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3642813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Hypothesis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86917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Conclusion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460211"/>
                  </a:ext>
                </a:extLst>
              </a:tr>
            </a:tbl>
          </a:graphicData>
        </a:graphic>
      </p:graphicFrame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CB4CFF5-89E2-E74B-AFB9-36E7B2ABDE0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327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09034" y="386406"/>
            <a:ext cx="110148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converse, inverse, and contrapositive for the conditional statement shown.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 fruit is yellow, then it is a banana.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3250017-DA7C-7345-B0D5-1202B6DDB75F}"/>
              </a:ext>
            </a:extLst>
          </p:cNvPr>
          <p:cNvSpPr txBox="1"/>
          <p:nvPr/>
        </p:nvSpPr>
        <p:spPr>
          <a:xfrm>
            <a:off x="8889924" y="646035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61BF6C-A0DE-BD43-8B14-FE5004C55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016290"/>
              </p:ext>
            </p:extLst>
          </p:nvPr>
        </p:nvGraphicFramePr>
        <p:xfrm>
          <a:off x="1178742" y="1905060"/>
          <a:ext cx="7560000" cy="270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750817584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4155631543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2023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32099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77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1144</Words>
  <Application>Microsoft Office PowerPoint</Application>
  <PresentationFormat>Widescreen</PresentationFormat>
  <Paragraphs>216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</vt:lpstr>
      <vt:lpstr>Cambria</vt:lpstr>
      <vt:lpstr>Arial Black</vt:lpstr>
      <vt:lpstr>Verdana</vt:lpstr>
      <vt:lpstr>Century Gothic</vt:lpstr>
      <vt:lpstr>Arial</vt:lpstr>
      <vt:lpstr>Cambria Math</vt:lpstr>
      <vt:lpstr>Wingdings</vt:lpstr>
      <vt:lpstr>1_Office Theme</vt:lpstr>
      <vt:lpstr>Geometry  Unit 2, Lesson 4  Hypothesis and Conclusion  Volume 1, pg. 97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2022-07-25T04:39:20Z</dcterms:modified>
</cp:coreProperties>
</file>