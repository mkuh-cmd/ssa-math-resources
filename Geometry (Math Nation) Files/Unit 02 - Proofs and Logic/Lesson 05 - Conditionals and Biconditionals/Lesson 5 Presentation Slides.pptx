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7" r:id="rId9"/>
    <p:sldId id="318" r:id="rId10"/>
    <p:sldId id="319" r:id="rId11"/>
    <p:sldId id="333" r:id="rId12"/>
    <p:sldId id="334" r:id="rId13"/>
    <p:sldId id="335" r:id="rId14"/>
    <p:sldId id="329" r:id="rId15"/>
    <p:sldId id="330" r:id="rId16"/>
    <p:sldId id="332" r:id="rId17"/>
    <p:sldId id="331" r:id="rId18"/>
    <p:sldId id="302" r:id="rId19"/>
    <p:sldId id="303" r:id="rId20"/>
    <p:sldId id="309" r:id="rId21"/>
    <p:sldId id="306" r:id="rId22"/>
    <p:sldId id="307" r:id="rId23"/>
    <p:sldId id="310" r:id="rId24"/>
  </p:sldIdLst>
  <p:sldSz cx="12192000" cy="6858000"/>
  <p:notesSz cx="6858000" cy="9144000"/>
  <p:embeddedFontLst>
    <p:embeddedFont>
      <p:font typeface="Arial Black" panose="020B0A04020102020204" pitchFamily="34" charset="0"/>
      <p:regular r:id="rId26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Cambria Math" panose="02040503050406030204" pitchFamily="18" charset="0"/>
      <p:regular r:id="rId36"/>
    </p:embeddedFon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19"/>
    <p:restoredTop sz="94754"/>
  </p:normalViewPr>
  <p:slideViewPr>
    <p:cSldViewPr snapToGrid="0">
      <p:cViewPr varScale="1">
        <p:scale>
          <a:sx n="79" d="100"/>
          <a:sy n="79" d="100"/>
        </p:scale>
        <p:origin x="110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066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492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2423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4133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0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Conditionals and Biconditionals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102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MA.912.LT.4.3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and accurately interpret “if…then,” “if and only if,” “all” and “not” statements. Find the converse, inverse, and contrapositive of a statement. 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791"/>
            <a:ext cx="850549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514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C41A075-6CCF-8945-876C-B05446192F12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324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the converse, inverse, and contrapositive of a mathematical statement. 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if a statement is biconditional.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a definition as a biconditional. 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A06C2D0-9916-9649-9287-DF7247B58DE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AC4E76A-110B-8146-9F4E-AC7270FC4B51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76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-57535"/>
            <a:ext cx="996439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2.5.1 Warm-Up: Streaming Payouts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93248" y="1386149"/>
            <a:ext cx="10928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payouts to a musician for each time a song is streamed on multiple streaming platforms in 2019 is shown.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C88A11D-7EE7-074E-A0F6-50A33619B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146000"/>
                  </p:ext>
                </p:extLst>
              </p:nvPr>
            </p:nvGraphicFramePr>
            <p:xfrm>
              <a:off x="1816352" y="2322533"/>
              <a:ext cx="5348198" cy="387819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20937">
                      <a:extLst>
                        <a:ext uri="{9D8B030D-6E8A-4147-A177-3AD203B41FA5}">
                          <a16:colId xmlns:a16="http://schemas.microsoft.com/office/drawing/2014/main" val="2371931421"/>
                        </a:ext>
                      </a:extLst>
                    </a:gridCol>
                    <a:gridCol w="3427261">
                      <a:extLst>
                        <a:ext uri="{9D8B030D-6E8A-4147-A177-3AD203B41FA5}">
                          <a16:colId xmlns:a16="http://schemas.microsoft.com/office/drawing/2014/main" val="4231121100"/>
                        </a:ext>
                      </a:extLst>
                    </a:gridCol>
                  </a:tblGrid>
                  <a:tr h="37255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Platform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Payout Per Stream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3873343"/>
                      </a:ext>
                    </a:extLst>
                  </a:tr>
                  <a:tr h="37255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Napster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$0.01900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49964942"/>
                      </a:ext>
                    </a:extLst>
                  </a:tr>
                  <a:tr h="37255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Tidal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$0.01250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88247110"/>
                      </a:ext>
                    </a:extLst>
                  </a:tr>
                  <a:tr h="4546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Apple Music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$0.00735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1362733"/>
                      </a:ext>
                    </a:extLst>
                  </a:tr>
                  <a:tr h="45692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Google Play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$0.00676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84311507"/>
                      </a:ext>
                    </a:extLst>
                  </a:tr>
                  <a:tr h="37255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Deezer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$0.00640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05368893"/>
                      </a:ext>
                    </a:extLst>
                  </a:tr>
                  <a:tr h="37255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Spotify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$0.00437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36442096"/>
                      </a:ext>
                    </a:extLst>
                  </a:tr>
                  <a:tr h="3679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Amazon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$0.00402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26672907"/>
                      </a:ext>
                    </a:extLst>
                  </a:tr>
                  <a:tr h="3679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Pandora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$0.00133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3765801"/>
                      </a:ext>
                    </a:extLst>
                  </a:tr>
                  <a:tr h="3679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YouTube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$0.00069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10354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C88A11D-7EE7-074E-A0F6-50A33619B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146000"/>
                  </p:ext>
                </p:extLst>
              </p:nvPr>
            </p:nvGraphicFramePr>
            <p:xfrm>
              <a:off x="1816352" y="2322533"/>
              <a:ext cx="5348198" cy="387819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20937">
                      <a:extLst>
                        <a:ext uri="{9D8B030D-6E8A-4147-A177-3AD203B41FA5}">
                          <a16:colId xmlns:a16="http://schemas.microsoft.com/office/drawing/2014/main" val="2371931421"/>
                        </a:ext>
                      </a:extLst>
                    </a:gridCol>
                    <a:gridCol w="3427261">
                      <a:extLst>
                        <a:ext uri="{9D8B030D-6E8A-4147-A177-3AD203B41FA5}">
                          <a16:colId xmlns:a16="http://schemas.microsoft.com/office/drawing/2014/main" val="4231121100"/>
                        </a:ext>
                      </a:extLst>
                    </a:gridCol>
                  </a:tblGrid>
                  <a:tr h="37255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Platform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Payout Per Stream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3873343"/>
                      </a:ext>
                    </a:extLst>
                  </a:tr>
                  <a:tr h="37255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Napster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306" t="-108065" r="-355" b="-86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9964942"/>
                      </a:ext>
                    </a:extLst>
                  </a:tr>
                  <a:tr h="37255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Tidal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306" t="-211475" r="-355" b="-775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8247110"/>
                      </a:ext>
                    </a:extLst>
                  </a:tr>
                  <a:tr h="4546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Apple Music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306" t="-253333" r="-355" b="-5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362733"/>
                      </a:ext>
                    </a:extLst>
                  </a:tr>
                  <a:tr h="45692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Google Play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306" t="-353333" r="-355" b="-4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311507"/>
                      </a:ext>
                    </a:extLst>
                  </a:tr>
                  <a:tr h="37255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Deezer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306" t="-557377" r="-355" b="-4295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368893"/>
                      </a:ext>
                    </a:extLst>
                  </a:tr>
                  <a:tr h="37255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Spotify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306" t="-657377" r="-355" b="-3295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6442096"/>
                      </a:ext>
                    </a:extLst>
                  </a:tr>
                  <a:tr h="3679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Amazon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306" t="-757377" r="-355" b="-2295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6672907"/>
                      </a:ext>
                    </a:extLst>
                  </a:tr>
                  <a:tr h="3679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Pandora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306" t="-871667" r="-355" b="-1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3765801"/>
                      </a:ext>
                    </a:extLst>
                  </a:tr>
                  <a:tr h="3679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YouTube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306" t="-955738" r="-355" b="-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10354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60C79B16-4F7F-2F44-9C4D-949D08356366}"/>
              </a:ext>
            </a:extLst>
          </p:cNvPr>
          <p:cNvSpPr txBox="1"/>
          <p:nvPr/>
        </p:nvSpPr>
        <p:spPr>
          <a:xfrm>
            <a:off x="888753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4" y="451345"/>
            <a:ext cx="10983359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payout for a musician whose song was streamed 100,000 times on each platform.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streams on Spotify did it take to for a musician to make $1 in 2019?</a:t>
            </a:r>
          </a:p>
          <a:p>
            <a:pPr lvl="0"/>
            <a:endParaRPr lang="en-US" dirty="0"/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6A36DB-D947-A04D-9BCA-BE51712A3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672128"/>
              </p:ext>
            </p:extLst>
          </p:nvPr>
        </p:nvGraphicFramePr>
        <p:xfrm>
          <a:off x="2066627" y="1234440"/>
          <a:ext cx="6245225" cy="438912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845310">
                  <a:extLst>
                    <a:ext uri="{9D8B030D-6E8A-4147-A177-3AD203B41FA5}">
                      <a16:colId xmlns:a16="http://schemas.microsoft.com/office/drawing/2014/main" val="2983509993"/>
                    </a:ext>
                  </a:extLst>
                </a:gridCol>
                <a:gridCol w="4399915">
                  <a:extLst>
                    <a:ext uri="{9D8B030D-6E8A-4147-A177-3AD203B41FA5}">
                      <a16:colId xmlns:a16="http://schemas.microsoft.com/office/drawing/2014/main" val="19342284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Platform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Payout for 100,000 Streams (in dollars)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12811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Napster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301308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Tidal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889986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Apple Music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2996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Google Play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20089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Deezer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26845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Spotify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7122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Amazon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737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Pandora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451489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YouTube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857957"/>
                  </a:ext>
                </a:extLst>
              </a:tr>
            </a:tbl>
          </a:graphicData>
        </a:graphic>
      </p:graphicFrame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3AEF5C3-95C9-6C48-A021-F8AD6FCD894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309310E-D367-0D47-B8E8-9F2451C4CB01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10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2.5.2 Activity: True or False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5649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593247" y="1394250"/>
                <a:ext cx="1091353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each conditional statement given, consider whether its converse, inverse, and contrapositive statements are true or false. Record the results in the table for each conditional.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Conditional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If all of the angles of a triangle are less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then the triangle is an acute triangle.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394250"/>
                <a:ext cx="10913537" cy="1938992"/>
              </a:xfrm>
              <a:prstGeom prst="rect">
                <a:avLst/>
              </a:prstGeom>
              <a:blipFill>
                <a:blip r:embed="rId5"/>
                <a:stretch>
                  <a:fillRect l="-614" t="-1887" r="-335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2834ACB5-9863-9B4D-A302-444ED7CCE57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383EEE-0E80-EB4E-82E3-A48F86542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899741"/>
              </p:ext>
            </p:extLst>
          </p:nvPr>
        </p:nvGraphicFramePr>
        <p:xfrm>
          <a:off x="1230280" y="3448574"/>
          <a:ext cx="6797040" cy="2865138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903980">
                  <a:extLst>
                    <a:ext uri="{9D8B030D-6E8A-4147-A177-3AD203B41FA5}">
                      <a16:colId xmlns:a16="http://schemas.microsoft.com/office/drawing/2014/main" val="2811430718"/>
                    </a:ext>
                  </a:extLst>
                </a:gridCol>
                <a:gridCol w="2893060">
                  <a:extLst>
                    <a:ext uri="{9D8B030D-6E8A-4147-A177-3AD203B41FA5}">
                      <a16:colId xmlns:a16="http://schemas.microsoft.com/office/drawing/2014/main" val="4055887975"/>
                    </a:ext>
                  </a:extLst>
                </a:gridCol>
              </a:tblGrid>
              <a:tr h="4403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Relationship to Conditional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True or False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20385"/>
                  </a:ext>
                </a:extLst>
              </a:tr>
              <a:tr h="7518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57466"/>
                  </a:ext>
                </a:extLst>
              </a:tr>
              <a:tr h="7518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421150"/>
                  </a:ext>
                </a:extLst>
              </a:tr>
              <a:tr h="7518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Contrapositive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336050"/>
                  </a:ext>
                </a:extLst>
              </a:tr>
            </a:tbl>
          </a:graphicData>
        </a:graphic>
      </p:graphicFrame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44D30065-0901-E343-B53B-FDEC2A79F25B}"/>
              </a:ext>
            </a:extLst>
          </p:cNvPr>
          <p:cNvSpPr txBox="1"/>
          <p:nvPr/>
        </p:nvSpPr>
        <p:spPr>
          <a:xfrm>
            <a:off x="88727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465232" y="337638"/>
                <a:ext cx="11162918" cy="3385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Conditional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If the sum of two angles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then the angles are complementary.</a:t>
                </a: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Conditional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If a polygon has six sides, then it is a hexagon.</a:t>
                </a: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37638"/>
                <a:ext cx="11162918" cy="3385542"/>
              </a:xfrm>
              <a:prstGeom prst="rect">
                <a:avLst/>
              </a:prstGeom>
              <a:blipFill>
                <a:blip r:embed="rId4"/>
                <a:stretch>
                  <a:fillRect l="-600" t="-1079" r="-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DDCE86C-AC17-F84F-84C9-3604F0100B34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65E96C-D9B9-7249-855D-973422F6E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644506"/>
              </p:ext>
            </p:extLst>
          </p:nvPr>
        </p:nvGraphicFramePr>
        <p:xfrm>
          <a:off x="1158042" y="842703"/>
          <a:ext cx="6797040" cy="2001483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903980">
                  <a:extLst>
                    <a:ext uri="{9D8B030D-6E8A-4147-A177-3AD203B41FA5}">
                      <a16:colId xmlns:a16="http://schemas.microsoft.com/office/drawing/2014/main" val="2811430718"/>
                    </a:ext>
                  </a:extLst>
                </a:gridCol>
                <a:gridCol w="2893060">
                  <a:extLst>
                    <a:ext uri="{9D8B030D-6E8A-4147-A177-3AD203B41FA5}">
                      <a16:colId xmlns:a16="http://schemas.microsoft.com/office/drawing/2014/main" val="4055887975"/>
                    </a:ext>
                  </a:extLst>
                </a:gridCol>
              </a:tblGrid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Relationship to Conditional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True or False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20385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57466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421150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Contrapositive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33605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6E243B4-7E1D-0F4D-830B-2C34FC8EC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052689"/>
              </p:ext>
            </p:extLst>
          </p:nvPr>
        </p:nvGraphicFramePr>
        <p:xfrm>
          <a:off x="1158042" y="3944523"/>
          <a:ext cx="6797040" cy="2001483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903980">
                  <a:extLst>
                    <a:ext uri="{9D8B030D-6E8A-4147-A177-3AD203B41FA5}">
                      <a16:colId xmlns:a16="http://schemas.microsoft.com/office/drawing/2014/main" val="2811430718"/>
                    </a:ext>
                  </a:extLst>
                </a:gridCol>
                <a:gridCol w="2893060">
                  <a:extLst>
                    <a:ext uri="{9D8B030D-6E8A-4147-A177-3AD203B41FA5}">
                      <a16:colId xmlns:a16="http://schemas.microsoft.com/office/drawing/2014/main" val="4055887975"/>
                    </a:ext>
                  </a:extLst>
                </a:gridCol>
              </a:tblGrid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Relationship to Conditional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True or False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20385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57466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421150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Contrapositive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336050"/>
                  </a:ext>
                </a:extLst>
              </a:tr>
            </a:tbl>
          </a:graphicData>
        </a:graphic>
      </p:graphicFrame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8C873C73-2B6A-784E-9D5F-E63243ECD8B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465232" y="337637"/>
            <a:ext cx="1105869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Conditional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If a line or ray divides an angle into two equal angles, then the line or ray is the bisector of the angle.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Conditional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If lines that lie on the same plane do not intersect, then the lines are parallel.</a:t>
            </a:r>
          </a:p>
          <a:p>
            <a:pPr lvl="0"/>
            <a:endParaRPr lang="en-US" dirty="0"/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DDCE86C-AC17-F84F-84C9-3604F0100B34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65E96C-D9B9-7249-855D-973422F6E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462766"/>
              </p:ext>
            </p:extLst>
          </p:nvPr>
        </p:nvGraphicFramePr>
        <p:xfrm>
          <a:off x="1433671" y="1100284"/>
          <a:ext cx="6797040" cy="2001483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903980">
                  <a:extLst>
                    <a:ext uri="{9D8B030D-6E8A-4147-A177-3AD203B41FA5}">
                      <a16:colId xmlns:a16="http://schemas.microsoft.com/office/drawing/2014/main" val="2811430718"/>
                    </a:ext>
                  </a:extLst>
                </a:gridCol>
                <a:gridCol w="2893060">
                  <a:extLst>
                    <a:ext uri="{9D8B030D-6E8A-4147-A177-3AD203B41FA5}">
                      <a16:colId xmlns:a16="http://schemas.microsoft.com/office/drawing/2014/main" val="4055887975"/>
                    </a:ext>
                  </a:extLst>
                </a:gridCol>
              </a:tblGrid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Relationship to Conditional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True or False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20385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57466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421150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Contrapositive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33605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6E243B4-7E1D-0F4D-830B-2C34FC8EC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826151"/>
              </p:ext>
            </p:extLst>
          </p:nvPr>
        </p:nvGraphicFramePr>
        <p:xfrm>
          <a:off x="1433671" y="4021798"/>
          <a:ext cx="6797040" cy="2001483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903980">
                  <a:extLst>
                    <a:ext uri="{9D8B030D-6E8A-4147-A177-3AD203B41FA5}">
                      <a16:colId xmlns:a16="http://schemas.microsoft.com/office/drawing/2014/main" val="2811430718"/>
                    </a:ext>
                  </a:extLst>
                </a:gridCol>
                <a:gridCol w="2893060">
                  <a:extLst>
                    <a:ext uri="{9D8B030D-6E8A-4147-A177-3AD203B41FA5}">
                      <a16:colId xmlns:a16="http://schemas.microsoft.com/office/drawing/2014/main" val="4055887975"/>
                    </a:ext>
                  </a:extLst>
                </a:gridCol>
              </a:tblGrid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Relationship to Conditional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True or False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20385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57466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421150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Contrapositive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336050"/>
                  </a:ext>
                </a:extLst>
              </a:tr>
            </a:tbl>
          </a:graphicData>
        </a:graphic>
      </p:graphicFrame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9D484E84-A4A1-584B-9DEF-16912818A242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3752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465232" y="345738"/>
                <a:ext cx="11162918" cy="3730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Conditional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If the opposite sides of a quadrilateral are parallel, then the quadrilateral is a parallelogram.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Conditional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 the interior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𝑊𝑋𝑍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𝑊𝑋𝑌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𝑌𝑋𝑍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𝑊𝑋𝑍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45738"/>
                <a:ext cx="11162918" cy="3730701"/>
              </a:xfrm>
              <a:prstGeom prst="rect">
                <a:avLst/>
              </a:prstGeom>
              <a:blipFill>
                <a:blip r:embed="rId4"/>
                <a:stretch>
                  <a:fillRect l="-600" t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DDCE86C-AC17-F84F-84C9-3604F0100B3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65E96C-D9B9-7249-855D-973422F6E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856627"/>
              </p:ext>
            </p:extLst>
          </p:nvPr>
        </p:nvGraphicFramePr>
        <p:xfrm>
          <a:off x="1536910" y="1204766"/>
          <a:ext cx="6797040" cy="2001483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903980">
                  <a:extLst>
                    <a:ext uri="{9D8B030D-6E8A-4147-A177-3AD203B41FA5}">
                      <a16:colId xmlns:a16="http://schemas.microsoft.com/office/drawing/2014/main" val="2811430718"/>
                    </a:ext>
                  </a:extLst>
                </a:gridCol>
                <a:gridCol w="2893060">
                  <a:extLst>
                    <a:ext uri="{9D8B030D-6E8A-4147-A177-3AD203B41FA5}">
                      <a16:colId xmlns:a16="http://schemas.microsoft.com/office/drawing/2014/main" val="4055887975"/>
                    </a:ext>
                  </a:extLst>
                </a:gridCol>
              </a:tblGrid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Relationship to Conditional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True or False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20385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57466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421150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Contrapositive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33605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6E243B4-7E1D-0F4D-830B-2C34FC8EC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355316"/>
              </p:ext>
            </p:extLst>
          </p:nvPr>
        </p:nvGraphicFramePr>
        <p:xfrm>
          <a:off x="1536910" y="4306586"/>
          <a:ext cx="6797040" cy="2001483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903980">
                  <a:extLst>
                    <a:ext uri="{9D8B030D-6E8A-4147-A177-3AD203B41FA5}">
                      <a16:colId xmlns:a16="http://schemas.microsoft.com/office/drawing/2014/main" val="2811430718"/>
                    </a:ext>
                  </a:extLst>
                </a:gridCol>
                <a:gridCol w="2893060">
                  <a:extLst>
                    <a:ext uri="{9D8B030D-6E8A-4147-A177-3AD203B41FA5}">
                      <a16:colId xmlns:a16="http://schemas.microsoft.com/office/drawing/2014/main" val="4055887975"/>
                    </a:ext>
                  </a:extLst>
                </a:gridCol>
              </a:tblGrid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Relationship to Conditional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True or False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20385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57466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421150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Contrapositive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336050"/>
                  </a:ext>
                </a:extLst>
              </a:tr>
            </a:tbl>
          </a:graphicData>
        </a:graphic>
      </p:graphicFrame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C8D0436-4C31-5D4A-85F9-9E8418D0B6D9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0285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465232" y="337638"/>
            <a:ext cx="11162918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8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Conditional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If two planes intersect, then their intersection is exactly one line.</a:t>
            </a:r>
          </a:p>
          <a:p>
            <a:pPr marL="457200" indent="-457200">
              <a:buFont typeface="+mj-lt"/>
              <a:buAutoNum type="arabicPeriod" startAt="8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8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8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8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8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8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8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8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8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Conditional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If two lines have the same slope, then they are parallel.</a:t>
            </a:r>
          </a:p>
          <a:p>
            <a:pPr lvl="0"/>
            <a:endParaRPr lang="en-US" dirty="0"/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DDCE86C-AC17-F84F-84C9-3604F0100B34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65E96C-D9B9-7249-855D-973422F6E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714311"/>
              </p:ext>
            </p:extLst>
          </p:nvPr>
        </p:nvGraphicFramePr>
        <p:xfrm>
          <a:off x="1522162" y="916445"/>
          <a:ext cx="6797040" cy="2001483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903980">
                  <a:extLst>
                    <a:ext uri="{9D8B030D-6E8A-4147-A177-3AD203B41FA5}">
                      <a16:colId xmlns:a16="http://schemas.microsoft.com/office/drawing/2014/main" val="2811430718"/>
                    </a:ext>
                  </a:extLst>
                </a:gridCol>
                <a:gridCol w="2893060">
                  <a:extLst>
                    <a:ext uri="{9D8B030D-6E8A-4147-A177-3AD203B41FA5}">
                      <a16:colId xmlns:a16="http://schemas.microsoft.com/office/drawing/2014/main" val="4055887975"/>
                    </a:ext>
                  </a:extLst>
                </a:gridCol>
              </a:tblGrid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Relationship to Conditional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True or False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20385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57466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421150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Contrapositive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33605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6E243B4-7E1D-0F4D-830B-2C34FC8EC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026255"/>
              </p:ext>
            </p:extLst>
          </p:nvPr>
        </p:nvGraphicFramePr>
        <p:xfrm>
          <a:off x="1522162" y="4018265"/>
          <a:ext cx="6797040" cy="2001483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903980">
                  <a:extLst>
                    <a:ext uri="{9D8B030D-6E8A-4147-A177-3AD203B41FA5}">
                      <a16:colId xmlns:a16="http://schemas.microsoft.com/office/drawing/2014/main" val="2811430718"/>
                    </a:ext>
                  </a:extLst>
                </a:gridCol>
                <a:gridCol w="2893060">
                  <a:extLst>
                    <a:ext uri="{9D8B030D-6E8A-4147-A177-3AD203B41FA5}">
                      <a16:colId xmlns:a16="http://schemas.microsoft.com/office/drawing/2014/main" val="4055887975"/>
                    </a:ext>
                  </a:extLst>
                </a:gridCol>
              </a:tblGrid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Relationship to Conditional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True or False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20385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57466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421150"/>
                  </a:ext>
                </a:extLst>
              </a:tr>
              <a:tr h="4639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Contrapositive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336050"/>
                  </a:ext>
                </a:extLst>
              </a:tr>
            </a:tbl>
          </a:graphicData>
        </a:graphic>
      </p:graphicFrame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49A5C6F-3687-964B-8694-2655B4ADEAD5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1590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FF7AFF8B-71A0-2B4C-BE5C-069F19CCB088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0"/>
            <a:ext cx="126633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2.5.3 Bring It Together: Biconditionals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593248" y="1398853"/>
            <a:ext cx="1103490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of the conditionals from the previous Activity were considered true for all of the statements — converse, inverse, and contrapositive?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how many conditionals was the converse of the conditional considered true?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320606D7-FA1D-5D44-AD19-A87F7EA7DDF3}"/>
              </a:ext>
            </a:extLst>
          </p:cNvPr>
          <p:cNvSpPr/>
          <p:nvPr/>
        </p:nvSpPr>
        <p:spPr>
          <a:xfrm>
            <a:off x="0" y="4602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108F4C35-3A24-A244-BB28-81EF2D36C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928" y="11290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0B33CDEA-393B-C149-9E97-711AF4E68AD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DDCE86C-AC17-F84F-84C9-3604F0100B34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C0A08C3-5B79-B745-B429-5F3C2FCE78CD}"/>
              </a:ext>
            </a:extLst>
          </p:cNvPr>
          <p:cNvGrpSpPr/>
          <p:nvPr/>
        </p:nvGrpSpPr>
        <p:grpSpPr>
          <a:xfrm>
            <a:off x="1316957" y="3958853"/>
            <a:ext cx="6629400" cy="2384547"/>
            <a:chOff x="0" y="0"/>
            <a:chExt cx="6629400" cy="23851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F985363-DB5C-734F-BBA1-A5967288E40C}"/>
                </a:ext>
              </a:extLst>
            </p:cNvPr>
            <p:cNvGrpSpPr/>
            <p:nvPr/>
          </p:nvGrpSpPr>
          <p:grpSpPr>
            <a:xfrm>
              <a:off x="0" y="0"/>
              <a:ext cx="6629400" cy="2385123"/>
              <a:chOff x="2031300" y="3386808"/>
              <a:chExt cx="6629400" cy="2385123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7CBD362B-14B7-FB43-997D-CE322EED76A1}"/>
                  </a:ext>
                </a:extLst>
              </p:cNvPr>
              <p:cNvGrpSpPr/>
              <p:nvPr/>
            </p:nvGrpSpPr>
            <p:grpSpPr>
              <a:xfrm>
                <a:off x="2031300" y="3386808"/>
                <a:ext cx="6629400" cy="2385123"/>
                <a:chOff x="0" y="0"/>
                <a:chExt cx="6629400" cy="2385123"/>
              </a:xfrm>
            </p:grpSpPr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B2DEF64A-0BE5-B44F-9501-4B230B5B808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A7DD9814-CD37-994B-9E25-7EE92487B56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40" name="Rounded Rectangle 39">
                  <a:extLst>
                    <a:ext uri="{FF2B5EF4-FFF2-40B4-BE49-F238E27FC236}">
                      <a16:creationId xmlns:a16="http://schemas.microsoft.com/office/drawing/2014/main" id="{C018F935-804F-0049-A663-E5802E1A3AF7}"/>
                    </a:ext>
                  </a:extLst>
                </p:cNvPr>
                <p:cNvSpPr/>
                <p:nvPr/>
              </p:nvSpPr>
              <p:spPr>
                <a:xfrm>
                  <a:off x="0" y="64410"/>
                  <a:ext cx="6629400" cy="2320713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685800"/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 </a:t>
                  </a:r>
                  <a:r>
                    <a:rPr lang="en-US" sz="2000" b="1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definition</a:t>
                  </a:r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an exact statement, written formally, of the meaning or description of a word. Even though definitions in mathematics are often written as conditional statements, all definitions are actually biconditional statements. 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</p:grpSp>
        <p:pic>
          <p:nvPicPr>
            <p:cNvPr id="36" name="image15.png" descr="Icon&#10;&#10;Description automatically generated">
              <a:extLst>
                <a:ext uri="{FF2B5EF4-FFF2-40B4-BE49-F238E27FC236}">
                  <a16:creationId xmlns:a16="http://schemas.microsoft.com/office/drawing/2014/main" id="{12F44BFB-A98A-7249-8120-EE072849AC7A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73676" y="235269"/>
              <a:ext cx="539750" cy="539626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2E7A14C-8C77-3441-8C30-0054E092BAAF}"/>
              </a:ext>
            </a:extLst>
          </p:cNvPr>
          <p:cNvGrpSpPr/>
          <p:nvPr/>
        </p:nvGrpSpPr>
        <p:grpSpPr>
          <a:xfrm>
            <a:off x="1311242" y="2867270"/>
            <a:ext cx="6629400" cy="1008380"/>
            <a:chOff x="0" y="0"/>
            <a:chExt cx="6629400" cy="100853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58B93A2-2CC3-AA4C-AA86-7C7D9B520D9F}"/>
                </a:ext>
              </a:extLst>
            </p:cNvPr>
            <p:cNvGrpSpPr/>
            <p:nvPr/>
          </p:nvGrpSpPr>
          <p:grpSpPr>
            <a:xfrm>
              <a:off x="0" y="0"/>
              <a:ext cx="6629400" cy="1008530"/>
              <a:chOff x="2031300" y="3386808"/>
              <a:chExt cx="6629400" cy="1008530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65E81485-3B3A-4F4A-8949-F4F685FA544F}"/>
                  </a:ext>
                </a:extLst>
              </p:cNvPr>
              <p:cNvGrpSpPr/>
              <p:nvPr/>
            </p:nvGrpSpPr>
            <p:grpSpPr>
              <a:xfrm>
                <a:off x="2031300" y="3386808"/>
                <a:ext cx="6629400" cy="1008530"/>
                <a:chOff x="0" y="0"/>
                <a:chExt cx="6629400" cy="1008530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E09797BE-C18C-3D4B-A855-DF4B0C55643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49609AFF-AEE0-9B41-99FF-A84AF31EB9F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34" name="Rounded Rectangle 33">
                  <a:extLst>
                    <a:ext uri="{FF2B5EF4-FFF2-40B4-BE49-F238E27FC236}">
                      <a16:creationId xmlns:a16="http://schemas.microsoft.com/office/drawing/2014/main" id="{4538ECEC-FE3E-804D-9780-DC022FB1BCE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100853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Biconditional statements can be written in the format of “</a:t>
                  </a:r>
                  <a:r>
                    <a:rPr lang="en-US" sz="2000" b="1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if and only if</a:t>
                  </a: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.”</a:t>
                  </a:r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30" name="image15.png" descr="Icon&#10;&#10;Description automatically generated">
              <a:extLst>
                <a:ext uri="{FF2B5EF4-FFF2-40B4-BE49-F238E27FC236}">
                  <a16:creationId xmlns:a16="http://schemas.microsoft.com/office/drawing/2014/main" id="{33382BE7-A46F-9249-9B77-D079477AD800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7918" y="106445"/>
              <a:ext cx="539750" cy="539576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2012F01-DB4A-D84B-9BC4-F5A7DF861189}"/>
              </a:ext>
            </a:extLst>
          </p:cNvPr>
          <p:cNvGrpSpPr/>
          <p:nvPr/>
        </p:nvGrpSpPr>
        <p:grpSpPr>
          <a:xfrm>
            <a:off x="1316322" y="476644"/>
            <a:ext cx="6629400" cy="2240967"/>
            <a:chOff x="2031300" y="2846099"/>
            <a:chExt cx="6629400" cy="224277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57DAC2F-5CA7-D94F-88D0-027D27C884CB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14365B-DD6E-5640-BC4E-8A0190BBC258}"/>
                </a:ext>
              </a:extLst>
            </p:cNvPr>
            <p:cNvGrpSpPr/>
            <p:nvPr/>
          </p:nvGrpSpPr>
          <p:grpSpPr>
            <a:xfrm>
              <a:off x="2031300" y="2846099"/>
              <a:ext cx="6629400" cy="2242777"/>
              <a:chOff x="2031300" y="2846099"/>
              <a:chExt cx="6629400" cy="224277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8F18BE3-E20D-5E42-BF2C-4A64BC8BB789}"/>
                  </a:ext>
                </a:extLst>
              </p:cNvPr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56CCA0E8-FB16-6D44-9E76-1C5179E65768}"/>
                  </a:ext>
                </a:extLst>
              </p:cNvPr>
              <p:cNvGrpSpPr/>
              <p:nvPr/>
            </p:nvGrpSpPr>
            <p:grpSpPr>
              <a:xfrm>
                <a:off x="2031300" y="2846099"/>
                <a:ext cx="6629400" cy="2242777"/>
                <a:chOff x="2031300" y="2846099"/>
                <a:chExt cx="6629400" cy="2242777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97CB8F6-94DC-584A-AB44-F0666DFF869A}"/>
                    </a:ext>
                  </a:extLst>
                </p:cNvPr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0C7A0366-B698-3A46-9830-06215030C870}"/>
                    </a:ext>
                  </a:extLst>
                </p:cNvPr>
                <p:cNvGrpSpPr/>
                <p:nvPr/>
              </p:nvGrpSpPr>
              <p:grpSpPr>
                <a:xfrm>
                  <a:off x="2031300" y="2846099"/>
                  <a:ext cx="6629400" cy="2242777"/>
                  <a:chOff x="2031300" y="2846099"/>
                  <a:chExt cx="6629400" cy="2242777"/>
                </a:xfrm>
              </p:grpSpPr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40A76779-AE48-6A46-A0D1-ED1ADF67D597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4FCAF8A4-9304-4C4E-8A4C-A6997561A8AE}"/>
                      </a:ext>
                    </a:extLst>
                  </p:cNvPr>
                  <p:cNvGrpSpPr/>
                  <p:nvPr/>
                </p:nvGrpSpPr>
                <p:grpSpPr>
                  <a:xfrm>
                    <a:off x="2031300" y="2846099"/>
                    <a:ext cx="6629400" cy="2242777"/>
                    <a:chOff x="2031300" y="2846099"/>
                    <a:chExt cx="6629400" cy="2242777"/>
                  </a:xfrm>
                </p:grpSpPr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FBA190AA-5F05-9741-B6BC-3454EB10A4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52877"/>
                      <a:ext cx="6629400" cy="10542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E3276CC3-F909-C045-B228-C9D85CC653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31300" y="2846099"/>
                      <a:ext cx="6629400" cy="2242777"/>
                      <a:chOff x="2031300" y="2862771"/>
                      <a:chExt cx="6629400" cy="2202734"/>
                    </a:xfrm>
                  </p:grpSpPr>
                  <p:sp>
                    <p:nvSpPr>
                      <p:cNvPr id="21" name="Rectangle 20">
                        <a:extLst>
                          <a:ext uri="{FF2B5EF4-FFF2-40B4-BE49-F238E27FC236}">
                            <a16:creationId xmlns:a16="http://schemas.microsoft.com/office/drawing/2014/main" id="{EC002F84-669D-5444-9074-917D45B258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262288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22" name="Group 21">
                        <a:extLst>
                          <a:ext uri="{FF2B5EF4-FFF2-40B4-BE49-F238E27FC236}">
                            <a16:creationId xmlns:a16="http://schemas.microsoft.com/office/drawing/2014/main" id="{1E84EF82-0109-BD46-88C5-4BB06A06E70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31300" y="2862771"/>
                        <a:ext cx="6629400" cy="2202734"/>
                        <a:chOff x="2031300" y="2974083"/>
                        <a:chExt cx="6629400" cy="2202734"/>
                      </a:xfrm>
                    </p:grpSpPr>
                    <p:sp>
                      <p:nvSpPr>
                        <p:cNvPr id="23" name="Rectangle 22">
                          <a:extLst>
                            <a:ext uri="{FF2B5EF4-FFF2-40B4-BE49-F238E27FC236}">
                              <a16:creationId xmlns:a16="http://schemas.microsoft.com/office/drawing/2014/main" id="{109BE74E-ED32-684F-A2FA-B53752A4E1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103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4" name="Group 23">
                          <a:extLst>
                            <a:ext uri="{FF2B5EF4-FFF2-40B4-BE49-F238E27FC236}">
                              <a16:creationId xmlns:a16="http://schemas.microsoft.com/office/drawing/2014/main" id="{F89C1722-A5F5-8A4B-8F44-9CD70C22622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31300" y="2974083"/>
                          <a:ext cx="6629400" cy="2202734"/>
                          <a:chOff x="2031300" y="2974083"/>
                          <a:chExt cx="6629400" cy="2202734"/>
                        </a:xfrm>
                      </p:grpSpPr>
                      <p:sp>
                        <p:nvSpPr>
                          <p:cNvPr id="25" name="Rectangle 24">
                            <a:extLst>
                              <a:ext uri="{FF2B5EF4-FFF2-40B4-BE49-F238E27FC236}">
                                <a16:creationId xmlns:a16="http://schemas.microsoft.com/office/drawing/2014/main" id="{E62D51A5-6982-9E41-A317-D837D65521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031300" y="3373600"/>
                            <a:ext cx="6629400" cy="812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26" name="Group 25">
                            <a:extLst>
                              <a:ext uri="{FF2B5EF4-FFF2-40B4-BE49-F238E27FC236}">
                                <a16:creationId xmlns:a16="http://schemas.microsoft.com/office/drawing/2014/main" id="{C3ACA68F-9A58-D64D-BA41-43575432858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031300" y="2974083"/>
                            <a:ext cx="6629400" cy="2202734"/>
                            <a:chOff x="0" y="-399517"/>
                            <a:chExt cx="6629400" cy="2202734"/>
                          </a:xfrm>
                        </p:grpSpPr>
                        <p:sp>
                          <p:nvSpPr>
                            <p:cNvPr id="27" name="Rectangle 26">
                              <a:extLst>
                                <a:ext uri="{FF2B5EF4-FFF2-40B4-BE49-F238E27FC236}">
                                  <a16:creationId xmlns:a16="http://schemas.microsoft.com/office/drawing/2014/main" id="{3527565C-24A3-F94D-B3A0-D2C039070A5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0" y="0"/>
                              <a:ext cx="6629400" cy="812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>
                                <a:spcAft>
                                  <a:spcPts val="1000"/>
                                </a:spcAft>
                              </a:pPr>
                              <a:r>
                                <a:rPr lang="en-US" sz="1200">
                                  <a:latin typeface="Cambria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28" name="Rounded Rectangle 27">
                                  <a:extLst>
                                    <a:ext uri="{FF2B5EF4-FFF2-40B4-BE49-F238E27FC236}">
                                      <a16:creationId xmlns:a16="http://schemas.microsoft.com/office/drawing/2014/main" id="{74DBF6B8-ED7A-914F-A4ED-47431E157A20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0" y="-399517"/>
                                  <a:ext cx="6629400" cy="2202734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solidFill>
                                  <a:srgbClr val="E2EED5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45700" rIns="91425" bIns="45700" anchor="ctr" anchorCtr="0">
                                  <a:noAutofit/>
                                </a:bodyPr>
                                <a:lstStyle/>
                                <a:p>
                                  <a:pPr marL="57150"/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A conditional statement is considered </a:t>
                                  </a:r>
                                  <a:r>
                                    <a:rPr lang="en-US" sz="2000" b="1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biconditional</a:t>
                                  </a:r>
                                  <a:r>
                                    <a:rPr lang="en-US" sz="2000" b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 </a:t>
                                  </a: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when both the statement and its converse are true. In other words, if both directions of the statement are true – “If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𝑃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, then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𝑄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” and “If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𝑄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, then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𝑃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” – the statement is biconditional. </a:t>
                                  </a:r>
                                  <a:endParaRPr lang="en-US" sz="2000" dirty="0">
                                    <a:latin typeface="Verdana" panose="020B0604030504040204" pitchFamily="34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endParaRPr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28" name="Rounded Rectangle 27">
                                  <a:extLst>
                                    <a:ext uri="{FF2B5EF4-FFF2-40B4-BE49-F238E27FC236}">
                                      <a16:creationId xmlns:a16="http://schemas.microsoft.com/office/drawing/2014/main" id="{74DBF6B8-ED7A-914F-A4ED-47431E157A20}"/>
                                    </a:ext>
                                  </a:extLst>
                                </p:cNvPr>
                                <p:cNvSpPr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0" y="-399517"/>
                                  <a:ext cx="6629400" cy="2202734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blipFill>
                                  <a:blip r:embed="rId5"/>
                                  <a:stretch>
                                    <a:fillRect/>
                                  </a:stretch>
                                </a:blipFill>
                                <a:ln>
                                  <a:noFill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en-US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41" name="Google Shape;282;g104476d1465_1_17">
            <a:extLst>
              <a:ext uri="{FF2B5EF4-FFF2-40B4-BE49-F238E27FC236}">
                <a16:creationId xmlns:a16="http://schemas.microsoft.com/office/drawing/2014/main" id="{CC26FD3B-91F8-C242-9DC7-C3C8AD0A0D4F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9202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465232" y="443275"/>
                <a:ext cx="11058692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each conditional using “if and only if.”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sum of two angles is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then the angles are complementary.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opposite sides of a quadrilateral are parallel, then the quadrilateral is a parallelogram.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443275"/>
                <a:ext cx="11058692" cy="3170099"/>
              </a:xfrm>
              <a:prstGeom prst="rect">
                <a:avLst/>
              </a:prstGeom>
              <a:blipFill>
                <a:blip r:embed="rId4"/>
                <a:stretch>
                  <a:fillRect l="-606" t="-1346" r="-606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450102AF-AAED-8E4A-8124-BD219CAAC8B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2273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2ADE191-5EBE-064B-A991-9C309600300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2650" y="60449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2.5.4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449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593248" y="1089933"/>
            <a:ext cx="110349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for the conditional statement.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all four angles at the point of intersection of two lines are right angles, then the lines are perpendicular.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134A47CD-5DBB-654A-843E-9182A1B8FB7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C71B73-CF86-8144-9E65-BA846A6FF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3580"/>
              </p:ext>
            </p:extLst>
          </p:nvPr>
        </p:nvGraphicFramePr>
        <p:xfrm>
          <a:off x="803777" y="2627414"/>
          <a:ext cx="7547019" cy="359571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138451">
                  <a:extLst>
                    <a:ext uri="{9D8B030D-6E8A-4147-A177-3AD203B41FA5}">
                      <a16:colId xmlns:a16="http://schemas.microsoft.com/office/drawing/2014/main" val="1554253404"/>
                    </a:ext>
                  </a:extLst>
                </a:gridCol>
                <a:gridCol w="3900152">
                  <a:extLst>
                    <a:ext uri="{9D8B030D-6E8A-4147-A177-3AD203B41FA5}">
                      <a16:colId xmlns:a16="http://schemas.microsoft.com/office/drawing/2014/main" val="408529870"/>
                    </a:ext>
                  </a:extLst>
                </a:gridCol>
                <a:gridCol w="1508416">
                  <a:extLst>
                    <a:ext uri="{9D8B030D-6E8A-4147-A177-3AD203B41FA5}">
                      <a16:colId xmlns:a16="http://schemas.microsoft.com/office/drawing/2014/main" val="1292112397"/>
                    </a:ext>
                  </a:extLst>
                </a:gridCol>
              </a:tblGrid>
              <a:tr h="5635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Relationship to Conditional</a:t>
                      </a:r>
                    </a:p>
                  </a:txBody>
                  <a:tcPr marL="57570" marR="575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Statement</a:t>
                      </a:r>
                    </a:p>
                  </a:txBody>
                  <a:tcPr marL="57570" marR="575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True or False</a:t>
                      </a:r>
                    </a:p>
                  </a:txBody>
                  <a:tcPr marL="57570" marR="575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991250"/>
                  </a:ext>
                </a:extLst>
              </a:tr>
              <a:tr h="9953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Converse</a:t>
                      </a:r>
                    </a:p>
                  </a:txBody>
                  <a:tcPr marL="57570" marR="575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57570" marR="575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57570" marR="575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132062"/>
                  </a:ext>
                </a:extLst>
              </a:tr>
              <a:tr h="9953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Inverse</a:t>
                      </a:r>
                    </a:p>
                  </a:txBody>
                  <a:tcPr marL="57570" marR="575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57570" marR="575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57570" marR="575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072664"/>
                  </a:ext>
                </a:extLst>
              </a:tr>
              <a:tr h="9953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Contrapositive</a:t>
                      </a:r>
                    </a:p>
                  </a:txBody>
                  <a:tcPr marL="57570" marR="575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57570" marR="575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57570" marR="575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033415"/>
                  </a:ext>
                </a:extLst>
              </a:tr>
            </a:tbl>
          </a:graphicData>
        </a:graphic>
      </p:graphicFrame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4ACB7DF9-8B44-074F-B923-2E0AE1E8459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3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465232" y="398597"/>
            <a:ext cx="111629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why the conditional statement is biconditional.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conditional using “if and only if.”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252468F9-493F-EA4F-B8D7-90F86F60BDF9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472C739-76F2-344D-BB0C-D1052F9492CE}"/>
              </a:ext>
            </a:extLst>
          </p:cNvPr>
          <p:cNvSpPr txBox="1"/>
          <p:nvPr/>
        </p:nvSpPr>
        <p:spPr>
          <a:xfrm>
            <a:off x="8889924" y="645740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155B4AD-E1D8-6547-AB74-5CFE525BE8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7434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2.5.5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627484" y="1213706"/>
            <a:ext cx="110006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Place an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on the circle that shows what you learned or completed during today’s lesson.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E98336-A74C-844E-8082-7BA61D320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911382"/>
              </p:ext>
            </p:extLst>
          </p:nvPr>
        </p:nvGraphicFramePr>
        <p:xfrm>
          <a:off x="1228375" y="2319448"/>
          <a:ext cx="6800850" cy="3305512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971550">
                  <a:extLst>
                    <a:ext uri="{9D8B030D-6E8A-4147-A177-3AD203B41FA5}">
                      <a16:colId xmlns:a16="http://schemas.microsoft.com/office/drawing/2014/main" val="1789083958"/>
                    </a:ext>
                  </a:extLst>
                </a:gridCol>
                <a:gridCol w="2797175">
                  <a:extLst>
                    <a:ext uri="{9D8B030D-6E8A-4147-A177-3AD203B41FA5}">
                      <a16:colId xmlns:a16="http://schemas.microsoft.com/office/drawing/2014/main" val="5644376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74306178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2358657590"/>
                    </a:ext>
                  </a:extLst>
                </a:gridCol>
              </a:tblGrid>
              <a:tr h="12395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am confident I know how to do this!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always did this!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2503499"/>
                  </a:ext>
                </a:extLst>
              </a:tr>
              <a:tr h="12395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am fairly sure I know how to do this.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tried this.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36754"/>
                  </a:ext>
                </a:extLst>
              </a:tr>
              <a:tr h="82637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need support on this.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had trouble with this.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167312"/>
                  </a:ext>
                </a:extLst>
              </a:tr>
            </a:tbl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256670D7-9719-264E-86F4-417406FA1D01}"/>
              </a:ext>
            </a:extLst>
          </p:cNvPr>
          <p:cNvSpPr/>
          <p:nvPr/>
        </p:nvSpPr>
        <p:spPr>
          <a:xfrm>
            <a:off x="1595088" y="2809862"/>
            <a:ext cx="274637" cy="273050"/>
          </a:xfrm>
          <a:prstGeom prst="ellipse">
            <a:avLst/>
          </a:prstGeom>
          <a:solidFill>
            <a:srgbClr val="008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1FBB5F6-DE30-C44B-BCDE-269FD35DF1A8}"/>
              </a:ext>
            </a:extLst>
          </p:cNvPr>
          <p:cNvSpPr/>
          <p:nvPr/>
        </p:nvSpPr>
        <p:spPr>
          <a:xfrm>
            <a:off x="1623327" y="4000118"/>
            <a:ext cx="228600" cy="2286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C26F5A-6475-7A45-A914-372D49346AF7}"/>
              </a:ext>
            </a:extLst>
          </p:cNvPr>
          <p:cNvSpPr/>
          <p:nvPr/>
        </p:nvSpPr>
        <p:spPr>
          <a:xfrm>
            <a:off x="1623328" y="5107287"/>
            <a:ext cx="182563" cy="18415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C0974145-0D56-1647-B203-DE584A7EF03C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A02B311-A197-DC44-8ABE-E50A06940A9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04370" y="985644"/>
            <a:ext cx="4848860" cy="4886960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BEF6C55E-B3A1-F64B-8B75-31583227077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9819BD95-442C-AB41-81CF-E621832F8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968" y="585534"/>
            <a:ext cx="3478414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>
            <a:spAutoFit/>
          </a:bodyPr>
          <a:lstStyle/>
          <a:p>
            <a:pPr algn="ctr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Writing a contrapositive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32EF9552-1064-444E-9A06-ECD7EF8E5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30" y="1205959"/>
            <a:ext cx="2694921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>
            <a:spAutoFit/>
          </a:bodyPr>
          <a:lstStyle/>
          <a:p>
            <a:pPr algn="ctr"/>
            <a:r>
              <a:rPr lang="en-US" sz="20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Writing an inverse</a:t>
            </a:r>
            <a:endParaRPr lang="en-US" sz="200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AD7F94E2-E0B1-5D4B-9453-1E550BF9E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950" y="1330950"/>
            <a:ext cx="2876550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>
            <a:spAutoFit/>
          </a:bodyPr>
          <a:lstStyle/>
          <a:p>
            <a:pPr algn="ctr"/>
            <a:r>
              <a:rPr lang="en-US" sz="20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Writing an example</a:t>
            </a:r>
            <a:endParaRPr lang="en-US" sz="200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E74D6AB3-F8D0-6D48-8A8C-936685EEF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5125" y="5880829"/>
            <a:ext cx="3086100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>
            <a:spAutoFit/>
          </a:bodyPr>
          <a:lstStyle/>
          <a:p>
            <a:pPr algn="ctr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Writing a biconditional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ED37F7DE-060B-E24A-AEB6-2CA1E5DAE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5449" y="2931469"/>
            <a:ext cx="3269595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>
            <a:spAutoFit/>
          </a:bodyPr>
          <a:lstStyle/>
          <a:p>
            <a:pPr algn="ctr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Correcting my mistakes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564CD7A5-A26C-5144-B5F8-3DCB8A059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1546" y="5242552"/>
            <a:ext cx="3597257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>
            <a:spAutoFit/>
          </a:bodyPr>
          <a:lstStyle/>
          <a:p>
            <a:pPr algn="ctr"/>
            <a:r>
              <a:rPr lang="en-US" sz="20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Writing a counterexample</a:t>
            </a:r>
            <a:endParaRPr lang="en-US" sz="200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539E837F-D979-1243-8233-B15C0F587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270" y="2911901"/>
            <a:ext cx="2362200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>
            <a:spAutoFit/>
          </a:bodyPr>
          <a:lstStyle/>
          <a:p>
            <a:pPr algn="ctr"/>
            <a:r>
              <a:rPr lang="en-US" sz="20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Asked questions</a:t>
            </a:r>
            <a:endParaRPr lang="en-US" sz="200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871860AA-563F-F04B-BD71-12AAA0535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951" y="5210522"/>
            <a:ext cx="2581275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>
            <a:spAutoFit/>
          </a:bodyPr>
          <a:lstStyle/>
          <a:p>
            <a:pPr algn="ctr"/>
            <a:r>
              <a:rPr lang="en-US" sz="20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Writing a converse</a:t>
            </a:r>
            <a:endParaRPr lang="en-US" sz="200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id="{918C65A2-EC68-D148-B18A-CCA46242689F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1156</Words>
  <Application>Microsoft Office PowerPoint</Application>
  <PresentationFormat>Widescreen</PresentationFormat>
  <Paragraphs>321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Calibri</vt:lpstr>
      <vt:lpstr>Cambria</vt:lpstr>
      <vt:lpstr>Arial Black</vt:lpstr>
      <vt:lpstr>Verdana</vt:lpstr>
      <vt:lpstr>Century Gothic</vt:lpstr>
      <vt:lpstr>Arial</vt:lpstr>
      <vt:lpstr>Cambria Math</vt:lpstr>
      <vt:lpstr>Wingdings</vt:lpstr>
      <vt:lpstr>1_Office Theme</vt:lpstr>
      <vt:lpstr>Geometry  Unit 2, Lesson 5  Conditionals and Biconditionals  Volume 1, pg. 102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20</cp:revision>
  <dcterms:created xsi:type="dcterms:W3CDTF">2015-03-17T18:51:18Z</dcterms:created>
  <dcterms:modified xsi:type="dcterms:W3CDTF">2022-07-03T02:14:02Z</dcterms:modified>
</cp:coreProperties>
</file>