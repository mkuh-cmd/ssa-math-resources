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289" r:id="rId9"/>
    <p:sldId id="290" r:id="rId10"/>
    <p:sldId id="308" r:id="rId11"/>
    <p:sldId id="326" r:id="rId12"/>
    <p:sldId id="328" r:id="rId13"/>
    <p:sldId id="329" r:id="rId14"/>
    <p:sldId id="327" r:id="rId15"/>
    <p:sldId id="330" r:id="rId16"/>
    <p:sldId id="323" r:id="rId17"/>
    <p:sldId id="324" r:id="rId18"/>
    <p:sldId id="325" r:id="rId19"/>
    <p:sldId id="331" r:id="rId20"/>
    <p:sldId id="306" r:id="rId21"/>
    <p:sldId id="307" r:id="rId22"/>
  </p:sldIdLst>
  <p:sldSz cx="12192000" cy="6858000"/>
  <p:notesSz cx="6858000" cy="9144000"/>
  <p:embeddedFontLst>
    <p:embeddedFont>
      <p:font typeface="Arial Black" panose="020B0A04020102020204" pitchFamily="34" charset="0"/>
      <p:bold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ambria" panose="02040503050406030204" pitchFamily="18" charset="0"/>
      <p:regular r:id="rId29"/>
      <p:bold r:id="rId30"/>
      <p:italic r:id="rId31"/>
      <p:boldItalic r:id="rId32"/>
    </p:embeddedFont>
    <p:embeddedFont>
      <p:font typeface="Cambria Math" panose="02040503050406030204" pitchFamily="18" charset="0"/>
      <p:regular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  <p:embeddedFont>
      <p:font typeface="Verdana" panose="020B0604030504040204" pitchFamily="34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9647"/>
    <a:srgbClr val="FCBD1E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75" autoAdjust="0"/>
    <p:restoredTop sz="94754"/>
  </p:normalViewPr>
  <p:slideViewPr>
    <p:cSldViewPr snapToGrid="0">
      <p:cViewPr varScale="1">
        <p:scale>
          <a:sx n="79" d="100"/>
          <a:sy n="79" d="100"/>
        </p:scale>
        <p:origin x="922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677294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480710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11286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86401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415566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060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554600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24915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2, Lesson 6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“All” and “Not” Statements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106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MA.912.LT.4.3</a:t>
            </a:r>
          </a:p>
          <a:p>
            <a:pPr indent="0">
              <a:buNone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Identify and accurately interpret “if…then,” “if and only if,” “all” and “not” statements. Find the converse, inverse, and contrapositive of a statement. </a:t>
            </a: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42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791"/>
            <a:ext cx="866772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514"/>
            <a:ext cx="1052639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12" name="Google Shape;278;g104476d1465_1_17">
            <a:extLst>
              <a:ext uri="{FF2B5EF4-FFF2-40B4-BE49-F238E27FC236}">
                <a16:creationId xmlns:a16="http://schemas.microsoft.com/office/drawing/2014/main" id="{79998D09-ED40-CB40-ADB3-2C926DC27F8F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175A548C-DC0B-9B44-ADE2-941AA38CE803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13375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213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14000" y="1608425"/>
            <a:ext cx="1100992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28650" indent="-6286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and interpret an “all” statement. </a:t>
            </a:r>
          </a:p>
          <a:p>
            <a:pPr marL="628650" indent="-628650">
              <a:buFont typeface="Wingdings" pitchFamily="2" charset="2"/>
              <a:buChar char="q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628650" indent="-628650">
              <a:buFont typeface="Wingdings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write and interpret a negation.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id="{4411E69F-FF2D-4E45-A95C-56414991DB1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3500672-8CA1-504A-9873-03FA2EA9BEAD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C1CB5455-99FB-F84B-85C2-2554A4E90AC2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76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814"/>
            <a:ext cx="80193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2.6.1 Warm-Up: Bell Work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60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86149"/>
            <a:ext cx="1103251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 for the conditional statement.</a:t>
            </a:r>
          </a:p>
          <a:p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two lines are skew, then the</a:t>
            </a: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lines do not lie on the same </a:t>
            </a:r>
          </a:p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plane.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733F64CC-F62E-3D45-B066-56DBFBB732F6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59F3E8-2EB8-3A4B-A531-C2335484197E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76598" y="2103087"/>
            <a:ext cx="5544936" cy="3368764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E66873FA-E4F5-1D42-B082-6D6AB1D73CE9}"/>
              </a:ext>
            </a:extLst>
          </p:cNvPr>
          <p:cNvSpPr txBox="1"/>
          <p:nvPr/>
        </p:nvSpPr>
        <p:spPr>
          <a:xfrm>
            <a:off x="888753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3624628"/>
            <a:ext cx="109833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If the conditional statement is biconditional, then write it as a biconditional. If the conditional statement is not biconditional, then explain why not. 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9B2481D9-8B52-C443-ABEF-765D2549936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AC987B-AB7A-BF4C-B05E-7F2B38200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3517925"/>
              </p:ext>
            </p:extLst>
          </p:nvPr>
        </p:nvGraphicFramePr>
        <p:xfrm>
          <a:off x="1095301" y="385301"/>
          <a:ext cx="7772400" cy="2882376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345592664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05160698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556975836"/>
                    </a:ext>
                  </a:extLst>
                </a:gridCol>
              </a:tblGrid>
              <a:tr h="72237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Relationship to Conditional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Statement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46576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Converse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824067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Inverse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15033342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Contrapositive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53544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644AC3D2-F77E-F541-815D-E947E23553D9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EA463DB8-D14E-104D-A5E1-8AB4077DBF9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25278"/>
            <a:ext cx="10834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2.6.2 Guided Instruction: “All” and “Not” Statements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2951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01B13E8-EC8D-E443-A329-C5E3593DD13A}"/>
              </a:ext>
            </a:extLst>
          </p:cNvPr>
          <p:cNvSpPr txBox="1"/>
          <p:nvPr/>
        </p:nvSpPr>
        <p:spPr>
          <a:xfrm>
            <a:off x="517048" y="1394250"/>
            <a:ext cx="1100687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Mathematical statements may not be conditional or biconditional. Mathematical statements could be written using “all.” The statement must be universally true to use the word “all.”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if the statement, “All quadrilaterals have four sides” is universally true. Summarize your discussion.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“All quadrilaterals have four sides” as an if-then statement.</a:t>
            </a:r>
          </a:p>
          <a:p>
            <a:pPr marL="457200" indent="-4572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why the statement “Some quadrilaterals have four sides” is not true. Summarize your discussion.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2260A17C-F127-D647-A05B-7BB351158843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192E062-5301-CC41-A0C7-8279E9542DBC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65232" y="296970"/>
            <a:ext cx="83271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if each statement is true.</a:t>
            </a: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each false statement using “some.”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9A8916-DE5A-E942-9587-9B7AA21B88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107800"/>
              </p:ext>
            </p:extLst>
          </p:nvPr>
        </p:nvGraphicFramePr>
        <p:xfrm>
          <a:off x="1052480" y="773259"/>
          <a:ext cx="6809740" cy="262800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04870">
                  <a:extLst>
                    <a:ext uri="{9D8B030D-6E8A-4147-A177-3AD203B41FA5}">
                      <a16:colId xmlns:a16="http://schemas.microsoft.com/office/drawing/2014/main" val="1210597318"/>
                    </a:ext>
                  </a:extLst>
                </a:gridCol>
                <a:gridCol w="3404870">
                  <a:extLst>
                    <a:ext uri="{9D8B030D-6E8A-4147-A177-3AD203B41FA5}">
                      <a16:colId xmlns:a16="http://schemas.microsoft.com/office/drawing/2014/main" val="511982878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Statement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77257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dogs are Labradors.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513876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polygons have congruent sides.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1812134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cats are mammals.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8100" marR="0" indent="-3810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705797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22BBCE9-22D0-0B43-9824-D19F53352A5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3813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134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65232" y="327507"/>
            <a:ext cx="10271594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each statement as an if-then statement.</a:t>
            </a: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It may be helpful to understand “all” statements using Venn diagrams. </a:t>
            </a:r>
          </a:p>
          <a:p>
            <a:pPr marL="457200" indent="-457200">
              <a:buFont typeface="+mj-lt"/>
              <a:buAutoNum type="arabicPeriod" startAt="6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3A4C25-F227-5C43-B704-F9300F36C3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406887"/>
              </p:ext>
            </p:extLst>
          </p:nvPr>
        </p:nvGraphicFramePr>
        <p:xfrm>
          <a:off x="1152176" y="806293"/>
          <a:ext cx="6778625" cy="2633472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3418840">
                  <a:extLst>
                    <a:ext uri="{9D8B030D-6E8A-4147-A177-3AD203B41FA5}">
                      <a16:colId xmlns:a16="http://schemas.microsoft.com/office/drawing/2014/main" val="3085705379"/>
                    </a:ext>
                  </a:extLst>
                </a:gridCol>
                <a:gridCol w="3359785">
                  <a:extLst>
                    <a:ext uri="{9D8B030D-6E8A-4147-A177-3AD203B41FA5}">
                      <a16:colId xmlns:a16="http://schemas.microsoft.com/office/drawing/2014/main" val="4192250352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Statement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If-Then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60799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dogs are Labradors.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9712613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polygons have congruent sides.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4403377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cats are mammals.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1944876"/>
                  </a:ext>
                </a:extLst>
              </a:tr>
            </a:tbl>
          </a:graphicData>
        </a:graphic>
      </p:graphicFrame>
      <p:grpSp>
        <p:nvGrpSpPr>
          <p:cNvPr id="8" name="Group 7">
            <a:extLst>
              <a:ext uri="{FF2B5EF4-FFF2-40B4-BE49-F238E27FC236}">
                <a16:creationId xmlns:a16="http://schemas.microsoft.com/office/drawing/2014/main" id="{F0590BA0-6038-FC4E-944F-835CF1843E5F}"/>
              </a:ext>
            </a:extLst>
          </p:cNvPr>
          <p:cNvGrpSpPr/>
          <p:nvPr/>
        </p:nvGrpSpPr>
        <p:grpSpPr>
          <a:xfrm>
            <a:off x="540988" y="4689906"/>
            <a:ext cx="7940562" cy="1606069"/>
            <a:chOff x="-1" y="-151645"/>
            <a:chExt cx="7940562" cy="160606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6501186-FFC7-1346-AADB-06D2C68E208F}"/>
                </a:ext>
              </a:extLst>
            </p:cNvPr>
            <p:cNvGrpSpPr/>
            <p:nvPr/>
          </p:nvGrpSpPr>
          <p:grpSpPr>
            <a:xfrm>
              <a:off x="-1" y="-151645"/>
              <a:ext cx="7940562" cy="1606069"/>
              <a:chOff x="2031299" y="3235163"/>
              <a:chExt cx="7940562" cy="1606069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A3D8803-5966-C34F-90EE-9C97FDA26329}"/>
                  </a:ext>
                </a:extLst>
              </p:cNvPr>
              <p:cNvGrpSpPr/>
              <p:nvPr/>
            </p:nvGrpSpPr>
            <p:grpSpPr>
              <a:xfrm>
                <a:off x="2031299" y="3235163"/>
                <a:ext cx="7940562" cy="1606069"/>
                <a:chOff x="-1" y="-151645"/>
                <a:chExt cx="7940562" cy="1606069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69B6856E-40DA-994A-B4FB-1F770C343B70}"/>
                    </a:ext>
                  </a:extLst>
                </p:cNvPr>
                <p:cNvSpPr/>
                <p:nvPr/>
              </p:nvSpPr>
              <p:spPr>
                <a:xfrm>
                  <a:off x="0" y="144416"/>
                  <a:ext cx="6629400" cy="4975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solidFill>
                        <a:srgbClr val="00619E"/>
                      </a:solidFill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30C99A15-F216-DE43-BA3B-1AD12ECF86F9}"/>
                    </a:ext>
                  </a:extLst>
                </p:cNvPr>
                <p:cNvSpPr/>
                <p:nvPr/>
              </p:nvSpPr>
              <p:spPr>
                <a:xfrm>
                  <a:off x="0" y="144416"/>
                  <a:ext cx="6629400" cy="4975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sp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solidFill>
                        <a:srgbClr val="00619E"/>
                      </a:solidFill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Rounded Rectangle 14">
                  <a:extLst>
                    <a:ext uri="{FF2B5EF4-FFF2-40B4-BE49-F238E27FC236}">
                      <a16:creationId xmlns:a16="http://schemas.microsoft.com/office/drawing/2014/main" id="{23B88B92-597D-B64C-A1CB-97C63EECB189}"/>
                    </a:ext>
                  </a:extLst>
                </p:cNvPr>
                <p:cNvSpPr/>
                <p:nvPr/>
              </p:nvSpPr>
              <p:spPr>
                <a:xfrm>
                  <a:off x="-1" y="-151645"/>
                  <a:ext cx="7940562" cy="1606069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spcFirstLastPara="1" wrap="square" lIns="91425" tIns="45700" rIns="91425" bIns="45700" anchor="ctr" anchorCtr="0">
                  <a:sp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A </a:t>
                  </a:r>
                  <a:r>
                    <a:rPr lang="en-US" sz="2000" b="1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Venn diagram</a:t>
                  </a:r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is a diagram representing mathematical or logical sets pictorially as circles. Common elements of the sets are within the overlap of the circles.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10" name="image15.png" descr="Icon&#10;&#10;Description automatically generated">
              <a:extLst>
                <a:ext uri="{FF2B5EF4-FFF2-40B4-BE49-F238E27FC236}">
                  <a16:creationId xmlns:a16="http://schemas.microsoft.com/office/drawing/2014/main" id="{FFF08EF3-5E72-7542-9C25-0029CF5D5137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7918" y="-21"/>
              <a:ext cx="620454" cy="620454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6" name="Google Shape;282;g104476d1465_1_17">
            <a:extLst>
              <a:ext uri="{FF2B5EF4-FFF2-40B4-BE49-F238E27FC236}">
                <a16:creationId xmlns:a16="http://schemas.microsoft.com/office/drawing/2014/main" id="{9E7635DB-8A70-DF45-B1CE-B2C35D13AAF6}"/>
              </a:ext>
            </a:extLst>
          </p:cNvPr>
          <p:cNvSpPr txBox="1"/>
          <p:nvPr/>
        </p:nvSpPr>
        <p:spPr>
          <a:xfrm>
            <a:off x="8889924" y="6438416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95453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B0E6A48-ABCC-8846-B3E6-11A6BD966B67}"/>
              </a:ext>
            </a:extLst>
          </p:cNvPr>
          <p:cNvGrpSpPr/>
          <p:nvPr/>
        </p:nvGrpSpPr>
        <p:grpSpPr>
          <a:xfrm>
            <a:off x="893337" y="2530244"/>
            <a:ext cx="6200758" cy="2927985"/>
            <a:chOff x="-127591" y="0"/>
            <a:chExt cx="6201436" cy="2927985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445919-97AF-7645-A747-F18C5893A8BB}"/>
                </a:ext>
              </a:extLst>
            </p:cNvPr>
            <p:cNvCxnSpPr/>
            <p:nvPr/>
          </p:nvCxnSpPr>
          <p:spPr>
            <a:xfrm flipH="1">
              <a:off x="2105025" y="628650"/>
              <a:ext cx="45719" cy="885825"/>
            </a:xfrm>
            <a:prstGeom prst="straightConnector1">
              <a:avLst/>
            </a:prstGeom>
            <a:ln w="38100">
              <a:tailEnd type="triangle"/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4F40042-816B-544B-98C9-E5A4EC1C5F0B}"/>
                </a:ext>
              </a:extLst>
            </p:cNvPr>
            <p:cNvGrpSpPr/>
            <p:nvPr/>
          </p:nvGrpSpPr>
          <p:grpSpPr>
            <a:xfrm>
              <a:off x="-127591" y="0"/>
              <a:ext cx="6201436" cy="2927985"/>
              <a:chOff x="-127591" y="0"/>
              <a:chExt cx="6201436" cy="292798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36176CA-FE47-E04B-BA39-829B9EF9A78F}"/>
                  </a:ext>
                </a:extLst>
              </p:cNvPr>
              <p:cNvGrpSpPr/>
              <p:nvPr/>
            </p:nvGrpSpPr>
            <p:grpSpPr>
              <a:xfrm>
                <a:off x="-127591" y="933450"/>
                <a:ext cx="6201436" cy="1994535"/>
                <a:chOff x="-175216" y="0"/>
                <a:chExt cx="6201436" cy="1994535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5A051C66-6D77-064B-BF72-50D9AAFA9CA0}"/>
                    </a:ext>
                  </a:extLst>
                </p:cNvPr>
                <p:cNvGrpSpPr/>
                <p:nvPr/>
              </p:nvGrpSpPr>
              <p:grpSpPr>
                <a:xfrm>
                  <a:off x="523875" y="0"/>
                  <a:ext cx="5502345" cy="1994535"/>
                  <a:chOff x="0" y="0"/>
                  <a:chExt cx="5502345" cy="1994535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AA1094B0-87AF-5140-B6FE-F299C61AD746}"/>
                      </a:ext>
                    </a:extLst>
                  </p:cNvPr>
                  <p:cNvSpPr/>
                  <p:nvPr/>
                </p:nvSpPr>
                <p:spPr>
                  <a:xfrm>
                    <a:off x="1123950" y="0"/>
                    <a:ext cx="1965960" cy="1965960"/>
                  </a:xfrm>
                  <a:prstGeom prst="ellipse">
                    <a:avLst/>
                  </a:prstGeom>
                  <a:noFill/>
                  <a:ln w="38100">
                    <a:solidFill>
                      <a:srgbClr val="00206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p:sp>
                <p:nvSpPr>
                  <p:cNvPr id="28" name="Oval 27">
                    <a:extLst>
                      <a:ext uri="{FF2B5EF4-FFF2-40B4-BE49-F238E27FC236}">
                        <a16:creationId xmlns:a16="http://schemas.microsoft.com/office/drawing/2014/main" id="{8198ED3A-7A72-3C47-BE79-2FDEDA0726E2}"/>
                      </a:ext>
                    </a:extLst>
                  </p:cNvPr>
                  <p:cNvSpPr/>
                  <p:nvPr/>
                </p:nvSpPr>
                <p:spPr>
                  <a:xfrm>
                    <a:off x="0" y="28575"/>
                    <a:ext cx="1965960" cy="1965960"/>
                  </a:xfrm>
                  <a:prstGeom prst="ellipse">
                    <a:avLst/>
                  </a:prstGeom>
                  <a:noFill/>
                  <a:ln w="38100">
                    <a:solidFill>
                      <a:srgbClr val="7030A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9" name="Text Box 2">
                        <a:extLst>
                          <a:ext uri="{FF2B5EF4-FFF2-40B4-BE49-F238E27FC236}">
                            <a16:creationId xmlns:a16="http://schemas.microsoft.com/office/drawing/2014/main" id="{507CE3F1-87A3-044F-BEBB-175BD541D574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019425" y="247650"/>
                        <a:ext cx="2482920" cy="657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91440" tIns="45720" rIns="91440" bIns="45720" anchor="t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2000" dirty="0">
                            <a:latin typeface="Verdana" panose="020B060403050404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things that weigh </a:t>
                        </a:r>
                        <a14:m>
                          <m:oMath xmlns:m="http://schemas.openxmlformats.org/officeDocument/2006/math"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50</m:t>
                            </m:r>
                          </m:oMath>
                        </a14:m>
                        <a:r>
                          <a:rPr lang="en-US" sz="2000" i="1" dirty="0">
                            <a:latin typeface="Verdana" panose="020B060403050404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 </a:t>
                        </a:r>
                        <a:r>
                          <a:rPr lang="en-US" sz="2000" dirty="0">
                            <a:latin typeface="Verdana" panose="020B060403050404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pounds</a:t>
                        </a:r>
                        <a:endParaRPr lang="en-US" sz="2000" dirty="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29" name="Text Box 2">
                        <a:extLst>
                          <a:ext uri="{FF2B5EF4-FFF2-40B4-BE49-F238E27FC236}">
                            <a16:creationId xmlns:a16="http://schemas.microsoft.com/office/drawing/2014/main" id="{507CE3F1-87A3-044F-BEBB-175BD541D574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3019425" y="247650"/>
                        <a:ext cx="2482920" cy="657225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3061" t="-3774" r="-3061" b="-22642"/>
                        </a:stretch>
                      </a:blip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6" name="Text Box 2">
                  <a:extLst>
                    <a:ext uri="{FF2B5EF4-FFF2-40B4-BE49-F238E27FC236}">
                      <a16:creationId xmlns:a16="http://schemas.microsoft.com/office/drawing/2014/main" id="{5D9F3A5D-4666-0E4F-A1FF-B7A7BFB042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175216" y="219961"/>
                  <a:ext cx="866775" cy="5143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algn="ctr">
                    <a:spcAft>
                      <a:spcPts val="1000"/>
                    </a:spcAft>
                  </a:pPr>
                  <a:r>
                    <a:rPr lang="en-US" sz="2000" dirty="0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dogs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 Box 2">
                    <a:extLst>
                      <a:ext uri="{FF2B5EF4-FFF2-40B4-BE49-F238E27FC236}">
                        <a16:creationId xmlns:a16="http://schemas.microsoft.com/office/drawing/2014/main" id="{8D8D0E48-E952-BB43-8B2C-E1D6313F9E6A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114425" y="0"/>
                    <a:ext cx="2343150" cy="69532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 algn="ctr">
                      <a:spcAft>
                        <a:spcPts val="1000"/>
                      </a:spcAft>
                    </a:pPr>
                    <a:r>
                      <a: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dogs that weigh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50</m:t>
                        </m:r>
                      </m:oMath>
                    </a14:m>
                    <a:r>
                      <a:rPr lang="en-US" sz="2000" i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</a:t>
                    </a:r>
                    <a:r>
                      <a: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pounds</a:t>
                    </a:r>
                  </a:p>
                </p:txBody>
              </p:sp>
            </mc:Choice>
            <mc:Fallback xmlns="">
              <p:sp>
                <p:nvSpPr>
                  <p:cNvPr id="24" name="Text Box 2">
                    <a:extLst>
                      <a:ext uri="{FF2B5EF4-FFF2-40B4-BE49-F238E27FC236}">
                        <a16:creationId xmlns:a16="http://schemas.microsoft.com/office/drawing/2014/main" id="{8D8D0E48-E952-BB43-8B2C-E1D6313F9E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114425" y="0"/>
                    <a:ext cx="2343150" cy="69532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3571" r="-3763" b="-16071"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pic>
        <p:nvPicPr>
          <p:cNvPr id="28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137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65232" y="288869"/>
            <a:ext cx="11058692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7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Venn diagram and a statement are shown.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All parrots are birds.</a:t>
            </a:r>
          </a:p>
          <a:p>
            <a:pPr marL="457200"/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Some dogs weigh 50 pounds.</a:t>
            </a: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how the Venn diagrams help to show the difference between “all” and “some.” Summarize your discussion.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2" name="Group 1"/>
          <p:cNvGrpSpPr/>
          <p:nvPr/>
        </p:nvGrpSpPr>
        <p:grpSpPr>
          <a:xfrm>
            <a:off x="5210395" y="889930"/>
            <a:ext cx="2342894" cy="2248232"/>
            <a:chOff x="5696520" y="889806"/>
            <a:chExt cx="2342894" cy="2248232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B67AEBC-C2FF-2847-B75C-93BCC189A934}"/>
                </a:ext>
              </a:extLst>
            </p:cNvPr>
            <p:cNvGrpSpPr/>
            <p:nvPr/>
          </p:nvGrpSpPr>
          <p:grpSpPr>
            <a:xfrm>
              <a:off x="5696520" y="889806"/>
              <a:ext cx="2342894" cy="2248232"/>
              <a:chOff x="98404" y="77924"/>
              <a:chExt cx="1915720" cy="1829426"/>
            </a:xfrm>
            <a:effectLst/>
          </p:grpSpPr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4F8BA3BF-F118-4B4F-A94F-900F5C96A9BE}"/>
                  </a:ext>
                </a:extLst>
              </p:cNvPr>
              <p:cNvSpPr/>
              <p:nvPr/>
            </p:nvSpPr>
            <p:spPr>
              <a:xfrm>
                <a:off x="98404" y="77924"/>
                <a:ext cx="1915720" cy="1829426"/>
              </a:xfrm>
              <a:prstGeom prst="ellipse">
                <a:avLst/>
              </a:prstGeom>
              <a:noFill/>
              <a:ln w="38100">
                <a:solidFill>
                  <a:srgbClr val="00B05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dirty="0"/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C3B1F363-E530-1640-A82D-E667C8650382}"/>
                  </a:ext>
                </a:extLst>
              </p:cNvPr>
              <p:cNvSpPr/>
              <p:nvPr/>
            </p:nvSpPr>
            <p:spPr>
              <a:xfrm>
                <a:off x="531105" y="503253"/>
                <a:ext cx="1008817" cy="1008817"/>
              </a:xfrm>
              <a:prstGeom prst="ellipse">
                <a:avLst/>
              </a:prstGeom>
              <a:noFill/>
              <a:ln w="38100"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spcAft>
                    <a:spcPts val="1000"/>
                  </a:spcAft>
                </a:pPr>
                <a:r>
                  <a:rPr lang="en-US" sz="12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</p:txBody>
          </p:sp>
        </p:grpSp>
        <p:sp>
          <p:nvSpPr>
            <p:cNvPr id="18" name="Text Box 2">
              <a:extLst>
                <a:ext uri="{FF2B5EF4-FFF2-40B4-BE49-F238E27FC236}">
                  <a16:creationId xmlns:a16="http://schemas.microsoft.com/office/drawing/2014/main" id="{2CE1136B-6621-DC4C-98E7-CE96CF78A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00362" y="1841793"/>
              <a:ext cx="1143626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parrots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 Box 2">
              <a:extLst>
                <a:ext uri="{FF2B5EF4-FFF2-40B4-BE49-F238E27FC236}">
                  <a16:creationId xmlns:a16="http://schemas.microsoft.com/office/drawing/2014/main" id="{1F5FB7FA-2516-684A-AE6E-2C69E6789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96686" y="977166"/>
              <a:ext cx="1019175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rot="0" vert="horz" wrap="square" lIns="91440" tIns="45720" rIns="91440" bIns="45720" anchor="t" anchorCtr="0">
              <a:spAutoFit/>
            </a:bodyPr>
            <a:lstStyle/>
            <a:p>
              <a:pPr algn="ctr">
                <a:spcAft>
                  <a:spcPts val="1000"/>
                </a:spcAft>
              </a:pPr>
              <a:r>
                <a: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birds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Google Shape;282;g104476d1465_1_17">
            <a:extLst>
              <a:ext uri="{FF2B5EF4-FFF2-40B4-BE49-F238E27FC236}">
                <a16:creationId xmlns:a16="http://schemas.microsoft.com/office/drawing/2014/main" id="{6DFE6C3D-9715-A241-9594-D5C4F433FFED}"/>
              </a:ext>
            </a:extLst>
          </p:cNvPr>
          <p:cNvSpPr txBox="1"/>
          <p:nvPr/>
        </p:nvSpPr>
        <p:spPr>
          <a:xfrm>
            <a:off x="8889924" y="644844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41671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96970"/>
                <a:ext cx="11058692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8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Venn diagram below shows where dogs that do not weigh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</a:rPr>
                      <m:t>50</m:t>
                    </m:r>
                  </m:oMath>
                </a14:m>
                <a:r>
                  <a:rPr lang="en-US" sz="2000" i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pounds would be placed.</a:t>
                </a: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8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statement that matches the Venn diagram.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96970"/>
                <a:ext cx="11058692" cy="5016758"/>
              </a:xfrm>
              <a:prstGeom prst="rect">
                <a:avLst/>
              </a:prstGeom>
              <a:blipFill>
                <a:blip r:embed="rId4"/>
                <a:stretch>
                  <a:fillRect l="-606" t="-8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6C7C34F-A994-D342-947D-9F8FC0096CEF}"/>
              </a:ext>
            </a:extLst>
          </p:cNvPr>
          <p:cNvGrpSpPr/>
          <p:nvPr/>
        </p:nvGrpSpPr>
        <p:grpSpPr>
          <a:xfrm>
            <a:off x="951684" y="1211014"/>
            <a:ext cx="6200758" cy="2992380"/>
            <a:chOff x="-127591" y="-64395"/>
            <a:chExt cx="6201436" cy="299238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848728E-FA74-214D-AAD0-3CACAD00055B}"/>
                </a:ext>
              </a:extLst>
            </p:cNvPr>
            <p:cNvGrpSpPr/>
            <p:nvPr/>
          </p:nvGrpSpPr>
          <p:grpSpPr>
            <a:xfrm>
              <a:off x="-127591" y="-64395"/>
              <a:ext cx="6201436" cy="2992380"/>
              <a:chOff x="-127591" y="-64395"/>
              <a:chExt cx="6201436" cy="299238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31DA05BA-6B95-E348-BE61-A6E1D86C11AD}"/>
                  </a:ext>
                </a:extLst>
              </p:cNvPr>
              <p:cNvGrpSpPr/>
              <p:nvPr/>
            </p:nvGrpSpPr>
            <p:grpSpPr>
              <a:xfrm>
                <a:off x="-127591" y="933450"/>
                <a:ext cx="6201436" cy="1994535"/>
                <a:chOff x="-175216" y="0"/>
                <a:chExt cx="6201436" cy="199453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23DA0AF2-4004-C64B-BDF4-59E5640E1B00}"/>
                    </a:ext>
                  </a:extLst>
                </p:cNvPr>
                <p:cNvGrpSpPr/>
                <p:nvPr/>
              </p:nvGrpSpPr>
              <p:grpSpPr>
                <a:xfrm>
                  <a:off x="523875" y="0"/>
                  <a:ext cx="5502345" cy="1994535"/>
                  <a:chOff x="0" y="0"/>
                  <a:chExt cx="5502345" cy="1994535"/>
                </a:xfrm>
              </p:grpSpPr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4B21CBE6-D7BF-624D-BE54-016602B4E9B9}"/>
                      </a:ext>
                    </a:extLst>
                  </p:cNvPr>
                  <p:cNvSpPr/>
                  <p:nvPr/>
                </p:nvSpPr>
                <p:spPr>
                  <a:xfrm>
                    <a:off x="1123950" y="0"/>
                    <a:ext cx="1965960" cy="1965960"/>
                  </a:xfrm>
                  <a:prstGeom prst="ellipse">
                    <a:avLst/>
                  </a:prstGeom>
                  <a:noFill/>
                  <a:ln w="38100">
                    <a:solidFill>
                      <a:srgbClr val="00206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6" name="Oval 15">
                    <a:extLst>
                      <a:ext uri="{FF2B5EF4-FFF2-40B4-BE49-F238E27FC236}">
                        <a16:creationId xmlns:a16="http://schemas.microsoft.com/office/drawing/2014/main" id="{D5EBD05E-C267-1D42-88D5-46F8DDA63FB5}"/>
                      </a:ext>
                    </a:extLst>
                  </p:cNvPr>
                  <p:cNvSpPr/>
                  <p:nvPr/>
                </p:nvSpPr>
                <p:spPr>
                  <a:xfrm>
                    <a:off x="0" y="28575"/>
                    <a:ext cx="1965960" cy="1965960"/>
                  </a:xfrm>
                  <a:prstGeom prst="ellipse">
                    <a:avLst/>
                  </a:prstGeom>
                  <a:noFill/>
                  <a:ln w="38100">
                    <a:solidFill>
                      <a:srgbClr val="7030A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en-US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17" name="Text Box 2">
                        <a:extLst>
                          <a:ext uri="{FF2B5EF4-FFF2-40B4-BE49-F238E27FC236}">
                            <a16:creationId xmlns:a16="http://schemas.microsoft.com/office/drawing/2014/main" id="{46D3F99E-FAE1-5A4F-999C-1F479D41B0FF}"/>
                          </a:ext>
                        </a:extLst>
                      </p:cNvPr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3019425" y="247650"/>
                        <a:ext cx="2482920" cy="6572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 rot="0" vert="horz" wrap="square" lIns="91440" tIns="45720" rIns="91440" bIns="45720" anchor="t" anchorCtr="0">
                        <a:noAutofit/>
                      </a:bodyPr>
                      <a:lstStyle/>
                      <a:p>
                        <a:pPr>
                          <a:spcAft>
                            <a:spcPts val="1000"/>
                          </a:spcAft>
                        </a:pPr>
                        <a:r>
                          <a:rPr lang="en-US" sz="2000" dirty="0">
                            <a:latin typeface="Verdana" panose="020B060403050404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things that weigh </a:t>
                        </a:r>
                        <a14:m>
                          <m:oMath xmlns:m="http://schemas.openxmlformats.org/officeDocument/2006/math"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50</m:t>
                            </m:r>
                          </m:oMath>
                        </a14:m>
                        <a:r>
                          <a:rPr lang="en-US" sz="2000" i="1" dirty="0">
                            <a:latin typeface="Verdana" panose="020B060403050404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 </a:t>
                        </a:r>
                        <a:r>
                          <a:rPr lang="en-US" sz="2000" dirty="0">
                            <a:latin typeface="Verdana" panose="020B060403050404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a:t>pounds</a:t>
                        </a:r>
                        <a:endParaRPr lang="en-US" sz="2000" dirty="0">
                          <a:latin typeface="Cambria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17" name="Text Box 2">
                        <a:extLst>
                          <a:ext uri="{FF2B5EF4-FFF2-40B4-BE49-F238E27FC236}">
                            <a16:creationId xmlns:a16="http://schemas.microsoft.com/office/drawing/2014/main" id="{46D3F99E-FAE1-5A4F-999C-1F479D41B0F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3019425" y="247650"/>
                        <a:ext cx="2482920" cy="657225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3061" t="-5660" r="-3061" b="-22642"/>
                        </a:stretch>
                      </a:blipFill>
                      <a:ln w="9525">
                        <a:noFill/>
                        <a:miter lim="800000"/>
                        <a:headEnd/>
                        <a:tailEnd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4" name="Text Box 2">
                  <a:extLst>
                    <a:ext uri="{FF2B5EF4-FFF2-40B4-BE49-F238E27FC236}">
                      <a16:creationId xmlns:a16="http://schemas.microsoft.com/office/drawing/2014/main" id="{3D87DD5F-C21B-C946-B4DE-E2E514F4960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175216" y="219961"/>
                  <a:ext cx="866775" cy="51435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rot="0" vert="horz" wrap="square" lIns="91440" tIns="45720" rIns="91440" bIns="45720" anchor="t" anchorCtr="0">
                  <a:noAutofit/>
                </a:bodyPr>
                <a:lstStyle/>
                <a:p>
                  <a:pPr algn="ctr">
                    <a:spcAft>
                      <a:spcPts val="1000"/>
                    </a:spcAft>
                  </a:pPr>
                  <a:r>
                    <a:rPr lang="en-US" sz="2000" dirty="0">
                      <a:latin typeface="Verdana" panose="020B0604030504040204" pitchFamily="34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dogs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Text Box 2">
                    <a:extLst>
                      <a:ext uri="{FF2B5EF4-FFF2-40B4-BE49-F238E27FC236}">
                        <a16:creationId xmlns:a16="http://schemas.microsoft.com/office/drawing/2014/main" id="{C2EC9E56-50EA-2245-8BD7-2F016DEE0EAD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06009" y="-64395"/>
                    <a:ext cx="2343150" cy="695325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rot="0" vert="horz" wrap="square" lIns="91440" tIns="45720" rIns="91440" bIns="45720" anchor="t" anchorCtr="0">
                    <a:noAutofit/>
                  </a:bodyPr>
                  <a:lstStyle/>
                  <a:p>
                    <a:pPr algn="ctr">
                      <a:spcAft>
                        <a:spcPts val="1000"/>
                      </a:spcAft>
                    </a:pPr>
                    <a:r>
                      <a: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dogs that do not weigh </a:t>
                    </a:r>
                    <a14:m>
                      <m:oMath xmlns:m="http://schemas.openxmlformats.org/officeDocument/2006/math"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50</m:t>
                        </m:r>
                      </m:oMath>
                    </a14:m>
                    <a:r>
                      <a:rPr lang="en-US" sz="2000" i="1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 </a:t>
                    </a:r>
                    <a:r>
                      <a:rPr lang="en-US" sz="2000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a:t>pounds</a:t>
                    </a:r>
                  </a:p>
                </p:txBody>
              </p:sp>
            </mc:Choice>
            <mc:Fallback xmlns="">
              <p:sp>
                <p:nvSpPr>
                  <p:cNvPr id="11" name="Text Box 2">
                    <a:extLst>
                      <a:ext uri="{FF2B5EF4-FFF2-40B4-BE49-F238E27FC236}">
                        <a16:creationId xmlns:a16="http://schemas.microsoft.com/office/drawing/2014/main" id="{C2EC9E56-50EA-2245-8BD7-2F016DEE0EA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06009" y="-64395"/>
                    <a:ext cx="2343150" cy="69532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162" t="-3571" r="-5405" b="-16071"/>
                    </a:stretch>
                  </a:blip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12D552E7-5DD2-E24B-AA28-7C8AA2B0D889}"/>
                </a:ext>
              </a:extLst>
            </p:cNvPr>
            <p:cNvCxnSpPr/>
            <p:nvPr/>
          </p:nvCxnSpPr>
          <p:spPr>
            <a:xfrm flipH="1">
              <a:off x="1508761" y="659505"/>
              <a:ext cx="45719" cy="885825"/>
            </a:xfrm>
            <a:prstGeom prst="straightConnector1">
              <a:avLst/>
            </a:prstGeom>
            <a:ln w="38100">
              <a:solidFill>
                <a:schemeClr val="accent6"/>
              </a:solidFill>
              <a:tailEnd type="triangle"/>
            </a:ln>
            <a:effectLst/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4001CF5A-0B73-CB4F-A25B-0FF67BFD662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03023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E5E1E0-A54D-BE42-84B5-F917038ADE99}"/>
              </a:ext>
            </a:extLst>
          </p:cNvPr>
          <p:cNvSpPr txBox="1"/>
          <p:nvPr/>
        </p:nvSpPr>
        <p:spPr>
          <a:xfrm>
            <a:off x="465230" y="2022363"/>
            <a:ext cx="102715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9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the definition of negation to write the negation of each statement.</a:t>
            </a:r>
          </a:p>
          <a:p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Today is Wednesday.</a:t>
            </a: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0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Seo-jun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is not wearing blue.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3B75B43-1C5F-E94C-A7AE-A0A897375AD8}"/>
              </a:ext>
            </a:extLst>
          </p:cNvPr>
          <p:cNvGrpSpPr/>
          <p:nvPr/>
        </p:nvGrpSpPr>
        <p:grpSpPr>
          <a:xfrm>
            <a:off x="1023587" y="364490"/>
            <a:ext cx="7514564" cy="1372700"/>
            <a:chOff x="-1" y="0"/>
            <a:chExt cx="7514564" cy="13727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9B67FD8-3C75-FB46-AE17-07F02F62415A}"/>
                </a:ext>
              </a:extLst>
            </p:cNvPr>
            <p:cNvGrpSpPr/>
            <p:nvPr/>
          </p:nvGrpSpPr>
          <p:grpSpPr>
            <a:xfrm>
              <a:off x="-1" y="0"/>
              <a:ext cx="7514564" cy="1372700"/>
              <a:chOff x="2031299" y="3386808"/>
              <a:chExt cx="7514564" cy="1372700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4A3FD1C-FDB1-B14F-BBCF-E2BC0FC52C86}"/>
                  </a:ext>
                </a:extLst>
              </p:cNvPr>
              <p:cNvGrpSpPr/>
              <p:nvPr/>
            </p:nvGrpSpPr>
            <p:grpSpPr>
              <a:xfrm>
                <a:off x="2031299" y="3386808"/>
                <a:ext cx="7514564" cy="1372700"/>
                <a:chOff x="-1" y="0"/>
                <a:chExt cx="7514564" cy="1372700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0AAD505-E62E-884F-A8EB-D83DB2929B6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solidFill>
                        <a:srgbClr val="00619E"/>
                      </a:solidFill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37E211D6-14D3-FD46-B4C3-C5033774764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solidFill>
                        <a:srgbClr val="00619E"/>
                      </a:solidFill>
                      <a:latin typeface="Cambria" panose="020405030504060302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 </a:t>
                  </a:r>
                  <a:endParaRPr lang="en-US" sz="120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Rounded Rectangle 13">
                  <a:extLst>
                    <a:ext uri="{FF2B5EF4-FFF2-40B4-BE49-F238E27FC236}">
                      <a16:creationId xmlns:a16="http://schemas.microsoft.com/office/drawing/2014/main" id="{ED92AB5F-68BB-C546-96A7-FE71274AC158}"/>
                    </a:ext>
                  </a:extLst>
                </p:cNvPr>
                <p:cNvSpPr/>
                <p:nvPr/>
              </p:nvSpPr>
              <p:spPr>
                <a:xfrm>
                  <a:off x="-1" y="56050"/>
                  <a:ext cx="7514564" cy="1316650"/>
                </a:xfrm>
                <a:prstGeom prst="roundRect">
                  <a:avLst>
                    <a:gd name="adj" fmla="val 16667"/>
                  </a:avLst>
                </a:prstGeom>
                <a:solidFill>
                  <a:srgbClr val="B8E6F5"/>
                </a:solidFill>
                <a:ln>
                  <a:noFill/>
                </a:ln>
              </p:spPr>
              <p:txBody>
                <a:bodyPr spcFirstLastPara="1" wrap="square" lIns="91425" tIns="91440" rIns="91425" bIns="0" anchor="ctr" anchorCtr="0">
                  <a:spAutoFit/>
                </a:bodyPr>
                <a:lstStyle/>
                <a:p>
                  <a:pPr marL="742950">
                    <a:spcAft>
                      <a:spcPts val="1000"/>
                    </a:spcAft>
                  </a:pPr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The </a:t>
                  </a:r>
                  <a:r>
                    <a:rPr lang="en-US" sz="2000" b="1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negation</a:t>
                  </a:r>
                  <a:r>
                    <a:rPr lang="en-US" sz="2000" dirty="0">
                      <a:solidFill>
                        <a:srgbClr val="00619E"/>
                      </a:solidFill>
                      <a:latin typeface="Verdana" panose="020B0604030504040204" pitchFamily="34" charset="0"/>
                      <a:ea typeface="Verdana" panose="020B0604030504040204" pitchFamily="34" charset="0"/>
                      <a:cs typeface="Verdana" panose="020B0604030504040204" pitchFamily="34" charset="0"/>
                    </a:rPr>
                    <a:t> of a statement is the opposite of the statement. If the statement is true, then the negation must be false.</a:t>
                  </a:r>
                  <a:endParaRPr lang="en-US" sz="2000" dirty="0">
                    <a:latin typeface="Cambria" panose="0204050305040603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pic>
          <p:nvPicPr>
            <p:cNvPr id="9" name="image15.png" descr="Icon&#10;&#10;Description automatically generated">
              <a:extLst>
                <a:ext uri="{FF2B5EF4-FFF2-40B4-BE49-F238E27FC236}">
                  <a16:creationId xmlns:a16="http://schemas.microsoft.com/office/drawing/2014/main" id="{8EDF2FBC-B02C-1C4E-BC07-079B09C26C37}"/>
                </a:ext>
              </a:extLst>
            </p:cNvPr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33964" y="171754"/>
              <a:ext cx="647285" cy="647285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A9F05802-7BF2-4F4F-8D3D-CF44465C852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8005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/>
              <p:nvPr/>
            </p:nvSpPr>
            <p:spPr>
              <a:xfrm>
                <a:off x="465232" y="296970"/>
                <a:ext cx="11058692" cy="4956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571500" indent="-571500">
                  <a:buFont typeface="+mj-lt"/>
                  <a:buAutoNum type="arabicPeriod" startAt="10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Rolando and Rhianna both wrote the negation of the statement, “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i="1">
                            <a:latin typeface="Cambria Math"/>
                          </a:rPr>
                          <m:t>5</m:t>
                        </m:r>
                      </m:e>
                    </m:ra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an irrational number.”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0287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both negations. Write your observations and questions for the class.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10287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Based on the class discussion, which student has written a correct negation?</a:t>
                </a:r>
              </a:p>
              <a:p>
                <a:pPr lvl="0"/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AE5E1E0-A54D-BE42-84B5-F917038AD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296970"/>
                <a:ext cx="11058692" cy="4956613"/>
              </a:xfrm>
              <a:prstGeom prst="rect">
                <a:avLst/>
              </a:prstGeom>
              <a:blipFill>
                <a:blip r:embed="rId4"/>
                <a:stretch>
                  <a:fillRect l="-606" t="-246" r="-3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A7817ACE-0EAD-F54B-BF54-D1C44606A01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13ACC63-8007-704C-9868-D7865E8840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7961202"/>
                  </p:ext>
                </p:extLst>
              </p:nvPr>
            </p:nvGraphicFramePr>
            <p:xfrm>
              <a:off x="1179163" y="1240110"/>
              <a:ext cx="6842125" cy="152526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742055">
                      <a:extLst>
                        <a:ext uri="{9D8B030D-6E8A-4147-A177-3AD203B41FA5}">
                          <a16:colId xmlns:a16="http://schemas.microsoft.com/office/drawing/2014/main" val="740202278"/>
                        </a:ext>
                      </a:extLst>
                    </a:gridCol>
                    <a:gridCol w="3100070">
                      <a:extLst>
                        <a:ext uri="{9D8B030D-6E8A-4147-A177-3AD203B41FA5}">
                          <a16:colId xmlns:a16="http://schemas.microsoft.com/office/drawing/2014/main" val="372308157"/>
                        </a:ext>
                      </a:extLst>
                    </a:gridCol>
                  </a:tblGrid>
                  <a:tr h="7333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Rolando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Rhianna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7641119"/>
                      </a:ext>
                    </a:extLst>
                  </a:tr>
                  <a:tr h="7919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not an irrational number.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ad>
                                <m:radPr>
                                  <m:degHide m:val="on"/>
                                  <m:ctrlP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sz="2000">
                                      <a:effectLst/>
                                      <a:latin typeface="Cambria Math"/>
                                    </a:rPr>
                                    <m:t>5</m:t>
                                  </m:r>
                                </m:e>
                              </m:ra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a rational number.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18813992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913ACC63-8007-704C-9868-D7865E88405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17961202"/>
                  </p:ext>
                </p:extLst>
              </p:nvPr>
            </p:nvGraphicFramePr>
            <p:xfrm>
              <a:off x="1179163" y="1240110"/>
              <a:ext cx="6842125" cy="152526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742055">
                      <a:extLst>
                        <a:ext uri="{9D8B030D-6E8A-4147-A177-3AD203B41FA5}">
                          <a16:colId xmlns:a16="http://schemas.microsoft.com/office/drawing/2014/main" val="740202278"/>
                        </a:ext>
                      </a:extLst>
                    </a:gridCol>
                    <a:gridCol w="3100070">
                      <a:extLst>
                        <a:ext uri="{9D8B030D-6E8A-4147-A177-3AD203B41FA5}">
                          <a16:colId xmlns:a16="http://schemas.microsoft.com/office/drawing/2014/main" val="372308157"/>
                        </a:ext>
                      </a:extLst>
                    </a:gridCol>
                  </a:tblGrid>
                  <a:tr h="73336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Rolando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Rhianna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87641119"/>
                      </a:ext>
                    </a:extLst>
                  </a:tr>
                  <a:tr h="7919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63" t="-93846" r="-83225" b="-1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0825" t="-93846" r="-393" b="-10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8813992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92525B0-D80F-C844-B87D-944CFC161B0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109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0151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4ACFE1C-F418-044B-BC59-1488CF4420D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5094" y="621205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0"/>
            <a:ext cx="1045821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2.6.3 Guided Practice: “All” Statements and Negation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402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1D40250-DEDD-2C41-8538-3D4DD18CCC4A}"/>
              </a:ext>
            </a:extLst>
          </p:cNvPr>
          <p:cNvSpPr txBox="1"/>
          <p:nvPr/>
        </p:nvSpPr>
        <p:spPr>
          <a:xfrm>
            <a:off x="593248" y="1397479"/>
            <a:ext cx="83271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Determine if each statement is true.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each false statement using “some.”</a:t>
            </a:r>
          </a:p>
        </p:txBody>
      </p:sp>
      <p:sp>
        <p:nvSpPr>
          <p:cNvPr id="11" name="Google Shape;278;g104476d1465_1_17">
            <a:extLst>
              <a:ext uri="{FF2B5EF4-FFF2-40B4-BE49-F238E27FC236}">
                <a16:creationId xmlns:a16="http://schemas.microsoft.com/office/drawing/2014/main" id="{46CE9362-15C8-D54E-981B-E2717DFC6652}"/>
              </a:ext>
            </a:extLst>
          </p:cNvPr>
          <p:cNvSpPr/>
          <p:nvPr/>
        </p:nvSpPr>
        <p:spPr>
          <a:xfrm>
            <a:off x="0" y="3228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57590E7-CD34-AE41-A08E-6ECA012DBC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5605"/>
              </p:ext>
            </p:extLst>
          </p:nvPr>
        </p:nvGraphicFramePr>
        <p:xfrm>
          <a:off x="1184560" y="1983531"/>
          <a:ext cx="7086600" cy="3233679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3132779308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697271439"/>
                    </a:ext>
                  </a:extLst>
                </a:gridCol>
              </a:tblGrid>
              <a:tr h="49037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Statement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True or False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031353"/>
                  </a:ext>
                </a:extLst>
              </a:tr>
              <a:tr h="8230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congruent angles have the same measure.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947602"/>
                  </a:ext>
                </a:extLst>
              </a:tr>
              <a:tr h="8230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odd numbers are prime.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435786"/>
                  </a:ext>
                </a:extLst>
              </a:tr>
              <a:tr h="82301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points that lie in a plane are collinear.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0111559"/>
                  </a:ext>
                </a:extLst>
              </a:tr>
            </a:tbl>
          </a:graphicData>
        </a:graphic>
      </p:graphicFrame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07DAFC8-9EBB-2B47-8A87-FB434E5CE38B}"/>
              </a:ext>
            </a:extLst>
          </p:cNvPr>
          <p:cNvSpPr txBox="1"/>
          <p:nvPr/>
        </p:nvSpPr>
        <p:spPr>
          <a:xfrm>
            <a:off x="8876868" y="646912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465232" y="386405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each statement as an if-then statement.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-8101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E6C9836-1487-D14C-9A05-ADC06190D0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1704248"/>
              </p:ext>
            </p:extLst>
          </p:nvPr>
        </p:nvGraphicFramePr>
        <p:xfrm>
          <a:off x="1081055" y="995093"/>
          <a:ext cx="7086600" cy="469392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971800">
                  <a:extLst>
                    <a:ext uri="{9D8B030D-6E8A-4147-A177-3AD203B41FA5}">
                      <a16:colId xmlns:a16="http://schemas.microsoft.com/office/drawing/2014/main" val="111671114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139292221"/>
                    </a:ext>
                  </a:extLst>
                </a:gridCol>
              </a:tblGrid>
              <a:tr h="35877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Statement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If-Then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051380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congruent angles have the same measure.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5755923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odd numbers are prime.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812399"/>
                  </a:ext>
                </a:extLst>
              </a:tr>
              <a:tr h="13716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All points that lie on a plane are collinear.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68580" marR="685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042803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B7A2B79-1169-904F-92EF-598AD9F5675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BC97A7-8575-5A46-8E72-A886A83AEC7E}"/>
              </a:ext>
            </a:extLst>
          </p:cNvPr>
          <p:cNvSpPr txBox="1"/>
          <p:nvPr/>
        </p:nvSpPr>
        <p:spPr>
          <a:xfrm>
            <a:off x="465232" y="394506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Write the negation of each statement.</a:t>
            </a:r>
          </a:p>
        </p:txBody>
      </p:sp>
      <p:sp>
        <p:nvSpPr>
          <p:cNvPr id="7" name="Google Shape;278;g104476d1465_1_17">
            <a:extLst>
              <a:ext uri="{FF2B5EF4-FFF2-40B4-BE49-F238E27FC236}">
                <a16:creationId xmlns:a16="http://schemas.microsoft.com/office/drawing/2014/main" id="{01E1BEEC-C47B-3A48-99B3-7CB267A11974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98B9949-72E2-B547-9F34-F9729F65E1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9002415"/>
                  </p:ext>
                </p:extLst>
              </p:nvPr>
            </p:nvGraphicFramePr>
            <p:xfrm>
              <a:off x="1087109" y="1012777"/>
              <a:ext cx="7315200" cy="49987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val="3469681921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1617335216"/>
                        </a:ext>
                      </a:extLst>
                    </a:gridCol>
                  </a:tblGrid>
                  <a:tr h="36082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Negation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9317915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∆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𝐷𝑇𝑀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is a right triangle.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31839346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𝑇𝑌𝑊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+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𝑚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∠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𝑊𝑌𝐾</m:t>
                                </m:r>
                                <m:r>
                                  <a:rPr lang="en-US" sz="2000">
                                    <a:effectLst/>
                                    <a:latin typeface="Cambria Math"/>
                                  </a:rPr>
                                  <m:t>=136°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1519650"/>
                      </a:ext>
                    </a:extLst>
                  </a:tr>
                  <a:tr h="13716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∠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𝑅𝑊𝐹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∠</m:t>
                              </m:r>
                              <m:r>
                                <a:rPr lang="en-US" sz="2000">
                                  <a:effectLst/>
                                  <a:latin typeface="Cambria Math"/>
                                </a:rPr>
                                <m:t>𝐻𝑌𝑉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are complementary angles.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997529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98B9949-72E2-B547-9F34-F9729F65E1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49002415"/>
                  </p:ext>
                </p:extLst>
              </p:nvPr>
            </p:nvGraphicFramePr>
            <p:xfrm>
              <a:off x="1087109" y="1012777"/>
              <a:ext cx="7315200" cy="499872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val="3469681921"/>
                        </a:ext>
                      </a:extLst>
                    </a:gridCol>
                    <a:gridCol w="3657600">
                      <a:extLst>
                        <a:ext uri="{9D8B030D-6E8A-4147-A177-3AD203B41FA5}">
                          <a16:colId xmlns:a16="http://schemas.microsoft.com/office/drawing/2014/main" val="1617335216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Statement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Negation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9317915"/>
                      </a:ext>
                    </a:extLst>
                  </a:tr>
                  <a:tr h="1402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6" t="-35217" r="-100166" b="-223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431839346"/>
                      </a:ext>
                    </a:extLst>
                  </a:tr>
                  <a:tr h="1402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6" t="-134632" r="-100166" b="-1220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1519650"/>
                      </a:ext>
                    </a:extLst>
                  </a:tr>
                  <a:tr h="17068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66" t="-193571" r="-100166" b="-7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57889" marR="57889" marT="91440" marB="9144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9997529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9018FDD7-5A8B-134F-9DD4-28D6FFB1953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94170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864299E4-EF3E-6F47-AE1F-155AE39A4478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5057728" y="2603639"/>
            <a:ext cx="1875928" cy="3708471"/>
            <a:chOff x="4993308" y="2488733"/>
            <a:chExt cx="1875928" cy="3708471"/>
          </a:xfrm>
        </p:grpSpPr>
        <p:grpSp>
          <p:nvGrpSpPr>
            <p:cNvPr id="3" name="Group 2"/>
            <p:cNvGrpSpPr/>
            <p:nvPr/>
          </p:nvGrpSpPr>
          <p:grpSpPr>
            <a:xfrm>
              <a:off x="4993308" y="2488733"/>
              <a:ext cx="1875928" cy="520065"/>
              <a:chOff x="6210614" y="5666935"/>
              <a:chExt cx="1875928" cy="520065"/>
            </a:xfrm>
          </p:grpSpPr>
          <p:pic>
            <p:nvPicPr>
              <p:cNvPr id="29" name="image22.png" descr="Marketing">
                <a:extLst>
                  <a:ext uri="{FF2B5EF4-FFF2-40B4-BE49-F238E27FC236}">
                    <a16:creationId xmlns:a16="http://schemas.microsoft.com/office/drawing/2014/main" id="{D558572D-950A-2342-AAB4-131EC0B7399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210614" y="5666935"/>
                <a:ext cx="520065" cy="520065"/>
              </a:xfrm>
              <a:prstGeom prst="rect">
                <a:avLst/>
              </a:prstGeom>
              <a:ln/>
            </p:spPr>
          </p:pic>
          <p:pic>
            <p:nvPicPr>
              <p:cNvPr id="30" name="image6.png" descr="Thumbs up sign">
                <a:extLst>
                  <a:ext uri="{FF2B5EF4-FFF2-40B4-BE49-F238E27FC236}">
                    <a16:creationId xmlns:a16="http://schemas.microsoft.com/office/drawing/2014/main" id="{9DF4BC0C-839B-B444-AF41-A9B5FF1D7EFF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941041" y="5708672"/>
                <a:ext cx="453390" cy="453390"/>
              </a:xfrm>
              <a:prstGeom prst="rect">
                <a:avLst/>
              </a:prstGeom>
              <a:ln/>
            </p:spPr>
          </p:pic>
          <p:pic>
            <p:nvPicPr>
              <p:cNvPr id="31" name="image1.png" descr="Shooting star">
                <a:extLst>
                  <a:ext uri="{FF2B5EF4-FFF2-40B4-BE49-F238E27FC236}">
                    <a16:creationId xmlns:a16="http://schemas.microsoft.com/office/drawing/2014/main" id="{E7F25A4E-59B4-DF4A-BDAD-D9A0B6146463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639502" y="5700916"/>
                <a:ext cx="447040" cy="447040"/>
              </a:xfrm>
              <a:prstGeom prst="rect">
                <a:avLst/>
              </a:prstGeom>
              <a:ln/>
            </p:spPr>
          </p:pic>
        </p:grpSp>
        <p:grpSp>
          <p:nvGrpSpPr>
            <p:cNvPr id="33" name="Group 32"/>
            <p:cNvGrpSpPr/>
            <p:nvPr/>
          </p:nvGrpSpPr>
          <p:grpSpPr>
            <a:xfrm>
              <a:off x="4993308" y="3164792"/>
              <a:ext cx="1875928" cy="520065"/>
              <a:chOff x="6210614" y="5666935"/>
              <a:chExt cx="1875928" cy="520065"/>
            </a:xfrm>
          </p:grpSpPr>
          <p:pic>
            <p:nvPicPr>
              <p:cNvPr id="34" name="image22.png" descr="Marketing">
                <a:extLst>
                  <a:ext uri="{FF2B5EF4-FFF2-40B4-BE49-F238E27FC236}">
                    <a16:creationId xmlns:a16="http://schemas.microsoft.com/office/drawing/2014/main" id="{D558572D-950A-2342-AAB4-131EC0B7399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210614" y="5666935"/>
                <a:ext cx="520065" cy="520065"/>
              </a:xfrm>
              <a:prstGeom prst="rect">
                <a:avLst/>
              </a:prstGeom>
              <a:ln/>
            </p:spPr>
          </p:pic>
          <p:pic>
            <p:nvPicPr>
              <p:cNvPr id="35" name="image6.png" descr="Thumbs up sign">
                <a:extLst>
                  <a:ext uri="{FF2B5EF4-FFF2-40B4-BE49-F238E27FC236}">
                    <a16:creationId xmlns:a16="http://schemas.microsoft.com/office/drawing/2014/main" id="{9DF4BC0C-839B-B444-AF41-A9B5FF1D7EFF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941041" y="5708672"/>
                <a:ext cx="453390" cy="453390"/>
              </a:xfrm>
              <a:prstGeom prst="rect">
                <a:avLst/>
              </a:prstGeom>
              <a:ln/>
            </p:spPr>
          </p:pic>
          <p:pic>
            <p:nvPicPr>
              <p:cNvPr id="36" name="image1.png" descr="Shooting star">
                <a:extLst>
                  <a:ext uri="{FF2B5EF4-FFF2-40B4-BE49-F238E27FC236}">
                    <a16:creationId xmlns:a16="http://schemas.microsoft.com/office/drawing/2014/main" id="{E7F25A4E-59B4-DF4A-BDAD-D9A0B6146463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639502" y="5700916"/>
                <a:ext cx="447040" cy="447040"/>
              </a:xfrm>
              <a:prstGeom prst="rect">
                <a:avLst/>
              </a:prstGeom>
              <a:ln/>
            </p:spPr>
          </p:pic>
        </p:grpSp>
        <p:grpSp>
          <p:nvGrpSpPr>
            <p:cNvPr id="37" name="Group 36"/>
            <p:cNvGrpSpPr/>
            <p:nvPr/>
          </p:nvGrpSpPr>
          <p:grpSpPr>
            <a:xfrm>
              <a:off x="4993308" y="3774392"/>
              <a:ext cx="1875928" cy="520065"/>
              <a:chOff x="6210614" y="5666935"/>
              <a:chExt cx="1875928" cy="520065"/>
            </a:xfrm>
          </p:grpSpPr>
          <p:pic>
            <p:nvPicPr>
              <p:cNvPr id="38" name="image22.png" descr="Marketing">
                <a:extLst>
                  <a:ext uri="{FF2B5EF4-FFF2-40B4-BE49-F238E27FC236}">
                    <a16:creationId xmlns:a16="http://schemas.microsoft.com/office/drawing/2014/main" id="{D558572D-950A-2342-AAB4-131EC0B7399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210614" y="5666935"/>
                <a:ext cx="520065" cy="520065"/>
              </a:xfrm>
              <a:prstGeom prst="rect">
                <a:avLst/>
              </a:prstGeom>
              <a:ln/>
            </p:spPr>
          </p:pic>
          <p:pic>
            <p:nvPicPr>
              <p:cNvPr id="39" name="image6.png" descr="Thumbs up sign">
                <a:extLst>
                  <a:ext uri="{FF2B5EF4-FFF2-40B4-BE49-F238E27FC236}">
                    <a16:creationId xmlns:a16="http://schemas.microsoft.com/office/drawing/2014/main" id="{9DF4BC0C-839B-B444-AF41-A9B5FF1D7EFF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941041" y="5708672"/>
                <a:ext cx="453390" cy="453390"/>
              </a:xfrm>
              <a:prstGeom prst="rect">
                <a:avLst/>
              </a:prstGeom>
              <a:ln/>
            </p:spPr>
          </p:pic>
          <p:pic>
            <p:nvPicPr>
              <p:cNvPr id="40" name="image1.png" descr="Shooting star">
                <a:extLst>
                  <a:ext uri="{FF2B5EF4-FFF2-40B4-BE49-F238E27FC236}">
                    <a16:creationId xmlns:a16="http://schemas.microsoft.com/office/drawing/2014/main" id="{E7F25A4E-59B4-DF4A-BDAD-D9A0B6146463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639502" y="5700916"/>
                <a:ext cx="447040" cy="447040"/>
              </a:xfrm>
              <a:prstGeom prst="rect">
                <a:avLst/>
              </a:prstGeom>
              <a:ln/>
            </p:spPr>
          </p:pic>
        </p:grpSp>
        <p:grpSp>
          <p:nvGrpSpPr>
            <p:cNvPr id="41" name="Group 40"/>
            <p:cNvGrpSpPr/>
            <p:nvPr/>
          </p:nvGrpSpPr>
          <p:grpSpPr>
            <a:xfrm>
              <a:off x="4993308" y="4414472"/>
              <a:ext cx="1875928" cy="520065"/>
              <a:chOff x="6210614" y="5666935"/>
              <a:chExt cx="1875928" cy="520065"/>
            </a:xfrm>
          </p:grpSpPr>
          <p:pic>
            <p:nvPicPr>
              <p:cNvPr id="42" name="image22.png" descr="Marketing">
                <a:extLst>
                  <a:ext uri="{FF2B5EF4-FFF2-40B4-BE49-F238E27FC236}">
                    <a16:creationId xmlns:a16="http://schemas.microsoft.com/office/drawing/2014/main" id="{D558572D-950A-2342-AAB4-131EC0B7399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210614" y="5666935"/>
                <a:ext cx="520065" cy="520065"/>
              </a:xfrm>
              <a:prstGeom prst="rect">
                <a:avLst/>
              </a:prstGeom>
              <a:ln/>
            </p:spPr>
          </p:pic>
          <p:pic>
            <p:nvPicPr>
              <p:cNvPr id="43" name="image6.png" descr="Thumbs up sign">
                <a:extLst>
                  <a:ext uri="{FF2B5EF4-FFF2-40B4-BE49-F238E27FC236}">
                    <a16:creationId xmlns:a16="http://schemas.microsoft.com/office/drawing/2014/main" id="{9DF4BC0C-839B-B444-AF41-A9B5FF1D7EFF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941041" y="5708672"/>
                <a:ext cx="453390" cy="453390"/>
              </a:xfrm>
              <a:prstGeom prst="rect">
                <a:avLst/>
              </a:prstGeom>
              <a:ln/>
            </p:spPr>
          </p:pic>
          <p:pic>
            <p:nvPicPr>
              <p:cNvPr id="44" name="image1.png" descr="Shooting star">
                <a:extLst>
                  <a:ext uri="{FF2B5EF4-FFF2-40B4-BE49-F238E27FC236}">
                    <a16:creationId xmlns:a16="http://schemas.microsoft.com/office/drawing/2014/main" id="{E7F25A4E-59B4-DF4A-BDAD-D9A0B6146463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639502" y="5700916"/>
                <a:ext cx="447040" cy="447040"/>
              </a:xfrm>
              <a:prstGeom prst="rect">
                <a:avLst/>
              </a:prstGeom>
              <a:ln/>
            </p:spPr>
          </p:pic>
        </p:grpSp>
        <p:grpSp>
          <p:nvGrpSpPr>
            <p:cNvPr id="45" name="Group 44"/>
            <p:cNvGrpSpPr/>
            <p:nvPr/>
          </p:nvGrpSpPr>
          <p:grpSpPr>
            <a:xfrm>
              <a:off x="4993308" y="5077412"/>
              <a:ext cx="1875928" cy="520065"/>
              <a:chOff x="6210614" y="5666935"/>
              <a:chExt cx="1875928" cy="520065"/>
            </a:xfrm>
          </p:grpSpPr>
          <p:pic>
            <p:nvPicPr>
              <p:cNvPr id="46" name="image22.png" descr="Marketing">
                <a:extLst>
                  <a:ext uri="{FF2B5EF4-FFF2-40B4-BE49-F238E27FC236}">
                    <a16:creationId xmlns:a16="http://schemas.microsoft.com/office/drawing/2014/main" id="{D558572D-950A-2342-AAB4-131EC0B7399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210614" y="5666935"/>
                <a:ext cx="520065" cy="520065"/>
              </a:xfrm>
              <a:prstGeom prst="rect">
                <a:avLst/>
              </a:prstGeom>
              <a:ln/>
            </p:spPr>
          </p:pic>
          <p:pic>
            <p:nvPicPr>
              <p:cNvPr id="47" name="image6.png" descr="Thumbs up sign">
                <a:extLst>
                  <a:ext uri="{FF2B5EF4-FFF2-40B4-BE49-F238E27FC236}">
                    <a16:creationId xmlns:a16="http://schemas.microsoft.com/office/drawing/2014/main" id="{9DF4BC0C-839B-B444-AF41-A9B5FF1D7EFF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941041" y="5708672"/>
                <a:ext cx="453390" cy="453390"/>
              </a:xfrm>
              <a:prstGeom prst="rect">
                <a:avLst/>
              </a:prstGeom>
              <a:ln/>
            </p:spPr>
          </p:pic>
          <p:pic>
            <p:nvPicPr>
              <p:cNvPr id="48" name="image1.png" descr="Shooting star">
                <a:extLst>
                  <a:ext uri="{FF2B5EF4-FFF2-40B4-BE49-F238E27FC236}">
                    <a16:creationId xmlns:a16="http://schemas.microsoft.com/office/drawing/2014/main" id="{E7F25A4E-59B4-DF4A-BDAD-D9A0B6146463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639502" y="5700916"/>
                <a:ext cx="447040" cy="447040"/>
              </a:xfrm>
              <a:prstGeom prst="rect">
                <a:avLst/>
              </a:prstGeom>
              <a:ln/>
            </p:spPr>
          </p:pic>
        </p:grpSp>
        <p:grpSp>
          <p:nvGrpSpPr>
            <p:cNvPr id="49" name="Group 48"/>
            <p:cNvGrpSpPr/>
            <p:nvPr/>
          </p:nvGrpSpPr>
          <p:grpSpPr>
            <a:xfrm>
              <a:off x="4993308" y="5677139"/>
              <a:ext cx="1875928" cy="520065"/>
              <a:chOff x="6210614" y="5666935"/>
              <a:chExt cx="1875928" cy="520065"/>
            </a:xfrm>
          </p:grpSpPr>
          <p:pic>
            <p:nvPicPr>
              <p:cNvPr id="50" name="image22.png" descr="Marketing">
                <a:extLst>
                  <a:ext uri="{FF2B5EF4-FFF2-40B4-BE49-F238E27FC236}">
                    <a16:creationId xmlns:a16="http://schemas.microsoft.com/office/drawing/2014/main" id="{D558572D-950A-2342-AAB4-131EC0B7399B}"/>
                  </a:ext>
                </a:extLst>
              </p:cNvPr>
              <p:cNvPicPr/>
              <p:nvPr/>
            </p:nvPicPr>
            <p:blipFill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210614" y="5666935"/>
                <a:ext cx="520065" cy="520065"/>
              </a:xfrm>
              <a:prstGeom prst="rect">
                <a:avLst/>
              </a:prstGeom>
              <a:ln/>
            </p:spPr>
          </p:pic>
          <p:pic>
            <p:nvPicPr>
              <p:cNvPr id="51" name="image6.png" descr="Thumbs up sign">
                <a:extLst>
                  <a:ext uri="{FF2B5EF4-FFF2-40B4-BE49-F238E27FC236}">
                    <a16:creationId xmlns:a16="http://schemas.microsoft.com/office/drawing/2014/main" id="{9DF4BC0C-839B-B444-AF41-A9B5FF1D7EFF}"/>
                  </a:ext>
                </a:extLst>
              </p:cNvPr>
              <p:cNvPicPr/>
              <p:nvPr/>
            </p:nvPicPr>
            <p:blipFill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6941041" y="5708672"/>
                <a:ext cx="453390" cy="453390"/>
              </a:xfrm>
              <a:prstGeom prst="rect">
                <a:avLst/>
              </a:prstGeom>
              <a:ln/>
            </p:spPr>
          </p:pic>
          <p:pic>
            <p:nvPicPr>
              <p:cNvPr id="52" name="image1.png" descr="Shooting star">
                <a:extLst>
                  <a:ext uri="{FF2B5EF4-FFF2-40B4-BE49-F238E27FC236}">
                    <a16:creationId xmlns:a16="http://schemas.microsoft.com/office/drawing/2014/main" id="{E7F25A4E-59B4-DF4A-BDAD-D9A0B6146463}"/>
                  </a:ext>
                </a:extLst>
              </p:cNvPr>
              <p:cNvPicPr/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>
              <a:xfrm>
                <a:off x="7639502" y="5700916"/>
                <a:ext cx="447040" cy="447040"/>
              </a:xfrm>
              <a:prstGeom prst="rect">
                <a:avLst/>
              </a:prstGeom>
              <a:ln/>
            </p:spPr>
          </p:pic>
        </p:grpSp>
      </p:grp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04581B0-A3D5-EA46-AA84-DB0176FCBC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684430"/>
              </p:ext>
            </p:extLst>
          </p:nvPr>
        </p:nvGraphicFramePr>
        <p:xfrm>
          <a:off x="1165150" y="2543605"/>
          <a:ext cx="6079507" cy="3840480"/>
        </p:xfrm>
        <a:graphic>
          <a:graphicData uri="http://schemas.openxmlformats.org/drawingml/2006/table">
            <a:tbl>
              <a:tblPr bandRow="1">
                <a:tableStyleId>{A91F0D33-8C57-4600-99A7-42BC86742BE1}</a:tableStyleId>
              </a:tblPr>
              <a:tblGrid>
                <a:gridCol w="3566160">
                  <a:extLst>
                    <a:ext uri="{9D8B030D-6E8A-4147-A177-3AD203B41FA5}">
                      <a16:colId xmlns:a16="http://schemas.microsoft.com/office/drawing/2014/main" val="3360632844"/>
                    </a:ext>
                  </a:extLst>
                </a:gridCol>
                <a:gridCol w="2513347">
                  <a:extLst>
                    <a:ext uri="{9D8B030D-6E8A-4147-A177-3AD203B41FA5}">
                      <a16:colId xmlns:a16="http://schemas.microsoft.com/office/drawing/2014/main" val="82285679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write the converse of a mathematical statement.</a:t>
                      </a: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01896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write the inverse of a mathematical statement.</a:t>
                      </a: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45424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write the contrapositive of a mathematical statement.</a:t>
                      </a: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872078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determine if a statement is </a:t>
                      </a:r>
                      <a:r>
                        <a:rPr lang="en-US" sz="1800" dirty="0" err="1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biconditional</a:t>
                      </a: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.</a:t>
                      </a: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8384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write and interpret an “all” statement.</a:t>
                      </a: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77552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 can write and interpret a negation.</a:t>
                      </a: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800" dirty="0">
                        <a:effectLst/>
                        <a:latin typeface="Verdana" pitchFamily="34" charset="0"/>
                        <a:ea typeface="Verdana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9146829"/>
                  </a:ext>
                </a:extLst>
              </a:tr>
            </a:tbl>
          </a:graphicData>
        </a:graphic>
      </p:graphicFrame>
      <p:pic>
        <p:nvPicPr>
          <p:cNvPr id="28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183927"/>
            <a:ext cx="8019300" cy="516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2.6.4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05350" y="6855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370EDB7-6994-3D43-ABF9-E04CBAFB9CD9}"/>
              </a:ext>
            </a:extLst>
          </p:cNvPr>
          <p:cNvSpPr txBox="1"/>
          <p:nvPr/>
        </p:nvSpPr>
        <p:spPr>
          <a:xfrm>
            <a:off x="593248" y="936940"/>
            <a:ext cx="1093067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Circle the icon that best describes your understanding of each concept below.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03225">
              <a:tabLst>
                <a:tab pos="3260725" algn="l"/>
                <a:tab pos="4975225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I need help.	I got it.	I could help someone. </a:t>
            </a:r>
          </a:p>
        </p:txBody>
      </p:sp>
      <p:sp>
        <p:nvSpPr>
          <p:cNvPr id="10" name="Google Shape;278;g104476d1465_1_17">
            <a:extLst>
              <a:ext uri="{FF2B5EF4-FFF2-40B4-BE49-F238E27FC236}">
                <a16:creationId xmlns:a16="http://schemas.microsoft.com/office/drawing/2014/main" id="{69767437-9B0B-9D43-A596-1373A90D9FE8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F79647"/>
          </a:solidFill>
          <a:ln w="9525" cap="flat" cmpd="sng">
            <a:solidFill>
              <a:srgbClr val="F79647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8" name="image22.png" descr="Marketing">
            <a:extLst>
              <a:ext uri="{FF2B5EF4-FFF2-40B4-BE49-F238E27FC236}">
                <a16:creationId xmlns:a16="http://schemas.microsoft.com/office/drawing/2014/main" id="{68351F65-3DE0-9642-9A1C-A8C9AD61FB91}"/>
              </a:ext>
            </a:extLst>
          </p:cNvPr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18536" y="1492572"/>
            <a:ext cx="520065" cy="520065"/>
          </a:xfrm>
          <a:prstGeom prst="rect">
            <a:avLst/>
          </a:prstGeom>
          <a:ln/>
        </p:spPr>
      </p:pic>
      <p:pic>
        <p:nvPicPr>
          <p:cNvPr id="11" name="image6.png" descr="Thumbs up sign">
            <a:extLst>
              <a:ext uri="{FF2B5EF4-FFF2-40B4-BE49-F238E27FC236}">
                <a16:creationId xmlns:a16="http://schemas.microsoft.com/office/drawing/2014/main" id="{845A1C2A-10D5-EF48-9945-3E419FDF0F77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386657" y="1530463"/>
            <a:ext cx="453390" cy="453390"/>
          </a:xfrm>
          <a:prstGeom prst="rect">
            <a:avLst/>
          </a:prstGeom>
          <a:ln/>
        </p:spPr>
      </p:pic>
      <p:pic>
        <p:nvPicPr>
          <p:cNvPr id="13" name="image1.png" descr="Shooting star">
            <a:extLst>
              <a:ext uri="{FF2B5EF4-FFF2-40B4-BE49-F238E27FC236}">
                <a16:creationId xmlns:a16="http://schemas.microsoft.com/office/drawing/2014/main" id="{884D3F26-2B02-8B44-9922-143BD2B28C1B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130753" y="1538083"/>
            <a:ext cx="447040" cy="447040"/>
          </a:xfrm>
          <a:prstGeom prst="rect">
            <a:avLst/>
          </a:prstGeom>
          <a:ln/>
        </p:spPr>
      </p:pic>
      <p:sp>
        <p:nvSpPr>
          <p:cNvPr id="32" name="Google Shape;282;g104476d1465_1_17">
            <a:extLst>
              <a:ext uri="{FF2B5EF4-FFF2-40B4-BE49-F238E27FC236}">
                <a16:creationId xmlns:a16="http://schemas.microsoft.com/office/drawing/2014/main" id="{AC8FBC1C-69B3-D348-B657-514DFADA1B4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111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1046</Words>
  <Application>Microsoft Office PowerPoint</Application>
  <PresentationFormat>Widescreen</PresentationFormat>
  <Paragraphs>267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Calibri</vt:lpstr>
      <vt:lpstr>Cambria</vt:lpstr>
      <vt:lpstr>Arial Black</vt:lpstr>
      <vt:lpstr>Verdana</vt:lpstr>
      <vt:lpstr>Century Gothic</vt:lpstr>
      <vt:lpstr>Arial</vt:lpstr>
      <vt:lpstr>Cambria Math</vt:lpstr>
      <vt:lpstr>Wingdings</vt:lpstr>
      <vt:lpstr>1_Office Theme</vt:lpstr>
      <vt:lpstr>Geometry  Unit 2, Lesson 6  “All” and “Not” Statements  Volume 1, pg. 106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26</cp:revision>
  <dcterms:created xsi:type="dcterms:W3CDTF">2015-03-17T18:51:18Z</dcterms:created>
  <dcterms:modified xsi:type="dcterms:W3CDTF">2022-07-03T02:14:30Z</dcterms:modified>
</cp:coreProperties>
</file>