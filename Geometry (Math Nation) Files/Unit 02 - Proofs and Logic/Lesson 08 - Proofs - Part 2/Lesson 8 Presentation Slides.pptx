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311" r:id="rId8"/>
    <p:sldId id="312" r:id="rId9"/>
    <p:sldId id="313" r:id="rId10"/>
    <p:sldId id="326" r:id="rId11"/>
    <p:sldId id="327" r:id="rId12"/>
    <p:sldId id="329" r:id="rId13"/>
    <p:sldId id="328" r:id="rId14"/>
    <p:sldId id="331" r:id="rId15"/>
    <p:sldId id="289" r:id="rId16"/>
    <p:sldId id="290" r:id="rId17"/>
    <p:sldId id="332" r:id="rId18"/>
    <p:sldId id="323" r:id="rId19"/>
    <p:sldId id="324" r:id="rId20"/>
    <p:sldId id="334" r:id="rId21"/>
    <p:sldId id="306" r:id="rId22"/>
    <p:sldId id="307" r:id="rId23"/>
  </p:sldIdLst>
  <p:sldSz cx="12192000" cy="6858000"/>
  <p:notesSz cx="6858000" cy="9144000"/>
  <p:embeddedFontLst>
    <p:embeddedFont>
      <p:font typeface="Arial Black" panose="020B0A04020102020204" pitchFamily="34" charset="0"/>
      <p:bold r:id="rId25"/>
    </p:embeddedFont>
    <p:embeddedFont>
      <p:font typeface="Calibri" panose="020F0502020204030204" pitchFamily="34" charset="0"/>
      <p:regular r:id="rId26"/>
      <p:bold r:id="rId27"/>
      <p:italic r:id="rId28"/>
      <p:boldItalic r:id="rId29"/>
    </p:embeddedFont>
    <p:embeddedFont>
      <p:font typeface="Cambria" panose="02040503050406030204" pitchFamily="18"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3C9"/>
    <a:srgbClr val="E24E5F"/>
    <a:srgbClr val="F79647"/>
    <a:srgbClr val="FCBD1E"/>
    <a:srgbClr val="C9DF6F"/>
    <a:srgbClr val="417DBF"/>
    <a:srgbClr val="3F2A67"/>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153"/>
    <p:restoredTop sz="94737"/>
  </p:normalViewPr>
  <p:slideViewPr>
    <p:cSldViewPr snapToGrid="0">
      <p:cViewPr varScale="1">
        <p:scale>
          <a:sx n="51" d="100"/>
          <a:sy n="51" d="100"/>
        </p:scale>
        <p:origin x="96" y="24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661319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71656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666919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851482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815355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690432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41642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416425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2, Lesson 8</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Proofs – 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116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MA.912.GR.1.1</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Prove relationships and theorems about lines and angles. Solve mathematical and real-world problems involving postulates, relationships and theorems of lines and angles. </a:t>
            </a:r>
          </a:p>
          <a:p>
            <a:pPr indent="0">
              <a:buNone/>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MA.912.GLT.4.10</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Judge the validity of arguments and give counterexamples to disprove statements. </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a:p>
            <a:pPr indent="0">
              <a:buNone/>
            </a:pP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37892"/>
            <a:ext cx="908068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803A9D8F-5580-5E4C-A5A9-590833F14383}"/>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2808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8650" indent="-6286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reflect on the mathematical thinking found in a proof. </a:t>
            </a:r>
          </a:p>
          <a:p>
            <a:pPr marL="457200" indent="-45720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628650" indent="-6286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reason about proofs using deductive reasoning, definitions, and postulates.</a:t>
            </a: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a:extLst>
              <a:ext uri="{FF2B5EF4-FFF2-40B4-BE49-F238E27FC236}">
                <a16:creationId xmlns:a16="http://schemas.microsoft.com/office/drawing/2014/main" id="{FFA2703B-1610-4B4C-81DD-AEB3A040A7CE}"/>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116</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25810713-BA7D-2A40-BED4-1B00FCAEC9B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283915"/>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2.8.1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20571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93248" y="1394251"/>
                <a:ext cx="8327136"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Given: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𝑚</m:t>
                    </m:r>
                    <m:r>
                      <a:rPr lang="en-US" sz="2400" i="1" dirty="0">
                        <a:latin typeface="Cambria Math" panose="02040503050406030204" pitchFamily="18" charset="0"/>
                        <a:ea typeface="Verdana" panose="020B0604030504040204" pitchFamily="34" charset="0"/>
                        <a:cs typeface="Verdana" panose="020B0604030504040204" pitchFamily="34" charset="0"/>
                      </a:rPr>
                      <m:t>∠1=</m:t>
                    </m:r>
                    <m:r>
                      <a:rPr lang="en-US" sz="2400" i="1" dirty="0">
                        <a:latin typeface="Cambria Math" panose="02040503050406030204" pitchFamily="18" charset="0"/>
                        <a:ea typeface="Verdana" panose="020B0604030504040204" pitchFamily="34" charset="0"/>
                        <a:cs typeface="Verdana" panose="020B0604030504040204" pitchFamily="34" charset="0"/>
                      </a:rPr>
                      <m:t>𝑚</m:t>
                    </m:r>
                    <m:r>
                      <a:rPr lang="en-US" sz="2400" i="1" dirty="0">
                        <a:latin typeface="Cambria Math" panose="02040503050406030204" pitchFamily="18" charset="0"/>
                        <a:ea typeface="Verdana" panose="020B0604030504040204" pitchFamily="34" charset="0"/>
                        <a:cs typeface="Verdana" panose="020B0604030504040204" pitchFamily="34" charset="0"/>
                      </a:rPr>
                      <m:t>∠3</m:t>
                    </m:r>
                  </m:oMath>
                </a14:m>
                <a:endParaRPr lang="en-US" sz="2400" dirty="0">
                  <a:solidFill>
                    <a:srgbClr val="FF63C9"/>
                  </a:solidFill>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Prove: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𝑅𝑇𝐺</m:t>
                    </m:r>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𝑊𝑇𝑀</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93248" y="1394251"/>
                <a:ext cx="8327136" cy="830997"/>
              </a:xfrm>
              <a:prstGeom prst="rect">
                <a:avLst/>
              </a:prstGeom>
              <a:blipFill>
                <a:blip r:embed="rId5"/>
                <a:stretch>
                  <a:fillRect l="-1065" t="-4478" b="-14925"/>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733F64CC-F62E-3D45-B066-56DBFBB732F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AE6FEB9A-96AD-7A4E-A3DD-393B05A7B69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117</a:t>
            </a:r>
            <a:endParaRPr i="1" dirty="0">
              <a:latin typeface="Calibri"/>
              <a:ea typeface="Calibri"/>
              <a:cs typeface="Calibri"/>
              <a:sym typeface="Calibri"/>
            </a:endParaRPr>
          </a:p>
        </p:txBody>
      </p:sp>
      <p:pic>
        <p:nvPicPr>
          <p:cNvPr id="11" name="Picture 10">
            <a:extLst>
              <a:ext uri="{FF2B5EF4-FFF2-40B4-BE49-F238E27FC236}">
                <a16:creationId xmlns:a16="http://schemas.microsoft.com/office/drawing/2014/main" id="{99E0885E-9625-7D42-89AE-22C74A7D61E7}"/>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4312776" y="1504878"/>
            <a:ext cx="4607609" cy="2685959"/>
          </a:xfrm>
          <a:prstGeom prst="rect">
            <a:avLst/>
          </a:prstGeom>
        </p:spPr>
      </p:pic>
      <p:sp>
        <p:nvSpPr>
          <p:cNvPr id="12" name="TextBox 11">
            <a:extLst>
              <a:ext uri="{FF2B5EF4-FFF2-40B4-BE49-F238E27FC236}">
                <a16:creationId xmlns:a16="http://schemas.microsoft.com/office/drawing/2014/main" id="{E8CCAE56-0E1A-6C43-AFB0-37C763AF852F}"/>
              </a:ext>
            </a:extLst>
          </p:cNvPr>
          <p:cNvSpPr txBox="1"/>
          <p:nvPr/>
        </p:nvSpPr>
        <p:spPr>
          <a:xfrm>
            <a:off x="593248" y="4366051"/>
            <a:ext cx="10930676"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the flowchart proof and the two-column proof from the previous lesson to write a paragraph proof.</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59169" y="2766145"/>
            <a:ext cx="4675732"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600" b="1" dirty="0">
                <a:solidFill>
                  <a:srgbClr val="33BEA6"/>
                </a:solidFill>
                <a:latin typeface="Verdana"/>
                <a:ea typeface="Verdana"/>
                <a:cs typeface="Verdana"/>
                <a:sym typeface="Verdana"/>
              </a:rPr>
              <a:t>Collaboration</a:t>
            </a:r>
            <a:endParaRPr sz="46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5CD75AF-ACA8-0D43-AE0C-42EB6E402F3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117</a:t>
            </a:r>
            <a:endParaRPr i="1" dirty="0">
              <a:latin typeface="Calibri"/>
              <a:ea typeface="Calibri"/>
              <a:cs typeface="Calibri"/>
              <a:sym typeface="Calibri"/>
            </a:endParaRPr>
          </a:p>
        </p:txBody>
      </p:sp>
      <p:pic>
        <p:nvPicPr>
          <p:cNvPr id="7" name="image6.png" descr="A picture containing shape&#10;&#10;Description automatically generated">
            <a:extLst>
              <a:ext uri="{FF2B5EF4-FFF2-40B4-BE49-F238E27FC236}">
                <a16:creationId xmlns:a16="http://schemas.microsoft.com/office/drawing/2014/main" id="{079ABA4F-AE6C-0749-9A2D-4F192B1221CF}"/>
              </a:ext>
            </a:extLst>
          </p:cNvPr>
          <p:cNvPicPr/>
          <p:nvPr/>
        </p:nvPicPr>
        <p:blipFill>
          <a:blip r:embed="rId4"/>
          <a:srcRect/>
          <a:stretch>
            <a:fillRect/>
          </a:stretch>
        </p:blipFill>
        <p:spPr>
          <a:xfrm>
            <a:off x="4486799" y="2850887"/>
            <a:ext cx="1156227" cy="115622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21812"/>
            <a:ext cx="99201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2.8.2 Collaboration: Brainstorming Before Writing a Proof</a:t>
            </a:r>
          </a:p>
        </p:txBody>
      </p:sp>
      <p:sp>
        <p:nvSpPr>
          <p:cNvPr id="10" name="TextBox 9">
            <a:extLst>
              <a:ext uri="{FF2B5EF4-FFF2-40B4-BE49-F238E27FC236}">
                <a16:creationId xmlns:a16="http://schemas.microsoft.com/office/drawing/2014/main" id="{152D1D4D-DCB8-A246-B186-D40316579D77}"/>
              </a:ext>
            </a:extLst>
          </p:cNvPr>
          <p:cNvSpPr txBox="1"/>
          <p:nvPr/>
        </p:nvSpPr>
        <p:spPr>
          <a:xfrm>
            <a:off x="593248" y="1386150"/>
            <a:ext cx="8327136"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p:txBody>
      </p:sp>
      <p:sp>
        <p:nvSpPr>
          <p:cNvPr id="11" name="Google Shape;278;g104476d1465_1_17">
            <a:extLst>
              <a:ext uri="{FF2B5EF4-FFF2-40B4-BE49-F238E27FC236}">
                <a16:creationId xmlns:a16="http://schemas.microsoft.com/office/drawing/2014/main" id="{519FE075-E2FF-7B4C-8C80-17BA7226159F}"/>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C6CA33B2-44D8-624E-A056-DD1FBA4B1D65}"/>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117</a:t>
            </a:r>
            <a:endParaRPr i="1" dirty="0">
              <a:latin typeface="Calibri"/>
              <a:ea typeface="Calibri"/>
              <a:cs typeface="Calibri"/>
              <a:sym typeface="Calibri"/>
            </a:endParaRPr>
          </a:p>
        </p:txBody>
      </p:sp>
      <p:pic>
        <p:nvPicPr>
          <p:cNvPr id="12" name="image6.png" descr="A picture containing shape&#10;&#10;Description automatically generated">
            <a:extLst>
              <a:ext uri="{FF2B5EF4-FFF2-40B4-BE49-F238E27FC236}">
                <a16:creationId xmlns:a16="http://schemas.microsoft.com/office/drawing/2014/main" id="{76E761A1-CD2B-504D-AB0D-47BCB5B395AF}"/>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09800" y="295089"/>
            <a:ext cx="752293" cy="752293"/>
          </a:xfrm>
          <a:prstGeom prst="rect">
            <a:avLst/>
          </a:prstGeom>
          <a:ln/>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DD71AA0-093B-8D47-AF88-1C8565BC1987}"/>
                  </a:ext>
                </a:extLst>
              </p:cNvPr>
              <p:cNvSpPr txBox="1"/>
              <p:nvPr/>
            </p:nvSpPr>
            <p:spPr>
              <a:xfrm>
                <a:off x="593249" y="2058503"/>
                <a:ext cx="8210335" cy="3046988"/>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Gabrielle and Samuel were given the following information.</a:t>
                </a:r>
              </a:p>
              <a:p>
                <a:r>
                  <a:rPr lang="en-US" sz="2400" dirty="0">
                    <a:latin typeface="Verdana" panose="020B0604030504040204" pitchFamily="34" charset="0"/>
                    <a:ea typeface="Verdana" panose="020B0604030504040204" pitchFamily="34" charset="0"/>
                    <a:cs typeface="Verdana" panose="020B0604030504040204" pitchFamily="34" charset="0"/>
                  </a:rPr>
                  <a:t> </a:t>
                </a:r>
              </a:p>
              <a:p>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𝑇𝐻𝑅</m:t>
                    </m:r>
                  </m:oMath>
                </a14:m>
                <a:r>
                  <a:rPr lang="en-US" sz="2400" dirty="0">
                    <a:latin typeface="Verdana" panose="020B0604030504040204" pitchFamily="34" charset="0"/>
                    <a:ea typeface="Verdana" panose="020B0604030504040204" pitchFamily="34" charset="0"/>
                    <a:cs typeface="Verdana" panose="020B0604030504040204" pitchFamily="34" charset="0"/>
                  </a:rPr>
                  <a:t> is shown where</a:t>
                </a:r>
              </a:p>
              <a:p>
                <a14:m>
                  <m:oMath xmlns:m="http://schemas.openxmlformats.org/officeDocument/2006/math">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𝐻𝐿</m:t>
                        </m:r>
                      </m:e>
                    </m:acc>
                    <m:r>
                      <a:rPr lang="en-US" sz="2400" i="1" dirty="0">
                        <a:latin typeface="Cambria Math" panose="02040503050406030204" pitchFamily="18" charset="0"/>
                        <a:ea typeface="Verdana" panose="020B0604030504040204" pitchFamily="34" charset="0"/>
                        <a:cs typeface="Verdana" panose="020B0604030504040204" pitchFamily="34" charset="0"/>
                      </a:rPr>
                      <m:t>≅</m:t>
                    </m:r>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𝑊𝑅</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𝐿𝑇</m:t>
                        </m:r>
                      </m:e>
                    </m:acc>
                    <m:r>
                      <a:rPr lang="en-US" sz="2400" i="1" dirty="0">
                        <a:latin typeface="Cambria Math" panose="02040503050406030204" pitchFamily="18" charset="0"/>
                        <a:ea typeface="Verdana" panose="020B0604030504040204" pitchFamily="34" charset="0"/>
                        <a:cs typeface="Verdana" panose="020B0604030504040204" pitchFamily="34" charset="0"/>
                      </a:rPr>
                      <m:t>≅</m:t>
                    </m:r>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𝑊𝑇</m:t>
                        </m:r>
                      </m:e>
                    </m:acc>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Prove that </a:t>
                </a:r>
                <a14:m>
                  <m:oMath xmlns:m="http://schemas.openxmlformats.org/officeDocument/2006/math">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𝐻𝑇</m:t>
                        </m:r>
                      </m:e>
                    </m:acc>
                    <m:r>
                      <a:rPr lang="en-US" sz="2400" i="1" dirty="0">
                        <a:latin typeface="Cambria Math" panose="02040503050406030204" pitchFamily="18" charset="0"/>
                        <a:ea typeface="Verdana" panose="020B0604030504040204" pitchFamily="34" charset="0"/>
                        <a:cs typeface="Verdana" panose="020B0604030504040204" pitchFamily="34" charset="0"/>
                      </a:rPr>
                      <m:t>≅</m:t>
                    </m:r>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𝑇𝑅</m:t>
                        </m:r>
                      </m:e>
                    </m:acc>
                    <m:r>
                      <a:rPr lang="es-ES" sz="2400" i="1" dirty="0">
                        <a:latin typeface="Cambria Math" panose="02040503050406030204" pitchFamily="18" charset="0"/>
                        <a:ea typeface="Verdana" panose="020B0604030504040204" pitchFamily="34" charset="0"/>
                        <a:cs typeface="Verdana" panose="020B0604030504040204" pitchFamily="34"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3" name="TextBox 12">
                <a:extLst>
                  <a:ext uri="{FF2B5EF4-FFF2-40B4-BE49-F238E27FC236}">
                    <a16:creationId xmlns:a16="http://schemas.microsoft.com/office/drawing/2014/main" id="{3DD71AA0-093B-8D47-AF88-1C8565BC1987}"/>
                  </a:ext>
                </a:extLst>
              </p:cNvPr>
              <p:cNvSpPr txBox="1">
                <a:spLocks noRot="1" noChangeAspect="1" noMove="1" noResize="1" noEditPoints="1" noAdjustHandles="1" noChangeArrowheads="1" noChangeShapeType="1" noTextEdit="1"/>
              </p:cNvSpPr>
              <p:nvPr/>
            </p:nvSpPr>
            <p:spPr>
              <a:xfrm>
                <a:off x="593249" y="2058503"/>
                <a:ext cx="8210335" cy="3046988"/>
              </a:xfrm>
              <a:prstGeom prst="rect">
                <a:avLst/>
              </a:prstGeom>
              <a:blipFill>
                <a:blip r:embed="rId5"/>
                <a:stretch>
                  <a:fillRect l="-1114" t="-1600"/>
                </a:stretch>
              </a:blipFill>
            </p:spPr>
            <p:txBody>
              <a:bodyPr/>
              <a:lstStyle/>
              <a:p>
                <a:r>
                  <a:rPr lang="en-US">
                    <a:noFill/>
                  </a:rPr>
                  <a:t> </a:t>
                </a:r>
              </a:p>
            </p:txBody>
          </p:sp>
        </mc:Fallback>
      </mc:AlternateContent>
      <p:pic>
        <p:nvPicPr>
          <p:cNvPr id="14" name="Picture 13" descr="Chart, line chart&#10;&#10;Description automatically generated">
            <a:extLst>
              <a:ext uri="{FF2B5EF4-FFF2-40B4-BE49-F238E27FC236}">
                <a16:creationId xmlns:a16="http://schemas.microsoft.com/office/drawing/2014/main" id="{77F325CA-85AB-5843-8F55-D092114CC3CA}"/>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24881" t="5345" r="39423" b="28783"/>
          <a:stretch/>
        </p:blipFill>
        <p:spPr bwMode="auto">
          <a:xfrm>
            <a:off x="8803584" y="1886453"/>
            <a:ext cx="2720340" cy="32137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722537" y="1090200"/>
            <a:ext cx="8201025" cy="572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9065"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40565" y="382314"/>
            <a:ext cx="10564970"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Before Gabrielle and Samuel wrote their paragraph proof, they brainstormed. Their notes are shown below. </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a:extLst>
              <a:ext uri="{FF2B5EF4-FFF2-40B4-BE49-F238E27FC236}">
                <a16:creationId xmlns:a16="http://schemas.microsoft.com/office/drawing/2014/main" id="{6931B8C0-9D4E-9945-B558-1ADD4119B2C8}"/>
              </a:ext>
            </a:extLst>
          </p:cNvPr>
          <p:cNvSpPr txBox="1"/>
          <p:nvPr/>
        </p:nvSpPr>
        <p:spPr>
          <a:xfrm>
            <a:off x="8890839"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117</a:t>
            </a:r>
            <a:endParaRPr i="1" dirty="0">
              <a:latin typeface="Calibri"/>
              <a:ea typeface="Calibri"/>
              <a:cs typeface="Calibri"/>
              <a:sym typeface="Calibri"/>
            </a:endParaRPr>
          </a:p>
        </p:txBody>
      </p:sp>
    </p:spTree>
    <p:extLst>
      <p:ext uri="{BB962C8B-B14F-4D97-AF65-F5344CB8AC3E}">
        <p14:creationId xmlns:p14="http://schemas.microsoft.com/office/powerpoint/2010/main" val="687834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03870" y="369235"/>
                <a:ext cx="11020054"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Why did Samuel write “Don’t worry it is the same thing as </a:t>
                </a:r>
                <a14:m>
                  <m:oMath xmlns:m="http://schemas.openxmlformats.org/officeDocument/2006/math">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𝑅𝑇</m:t>
                        </m:r>
                      </m:e>
                    </m:acc>
                  </m:oMath>
                </a14:m>
                <a:r>
                  <a:rPr lang="en-US" sz="2400" dirty="0">
                    <a:latin typeface="Verdana" panose="020B0604030504040204" pitchFamily="34" charset="0"/>
                    <a:ea typeface="Verdana" panose="020B0604030504040204" pitchFamily="34" charset="0"/>
                    <a:cs typeface="Verdana" panose="020B0604030504040204" pitchFamily="34" charset="0"/>
                  </a:rPr>
                  <a:t>?”</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Gabrielle made some markings on the triangle she drew. What are her markings meant to show?</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03870" y="369235"/>
                <a:ext cx="11020054" cy="3785652"/>
              </a:xfrm>
              <a:prstGeom prst="rect">
                <a:avLst/>
              </a:prstGeom>
              <a:blipFill>
                <a:blip r:embed="rId4"/>
                <a:stretch>
                  <a:fillRect l="-885" t="-1449" r="-719"/>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6" name="Google Shape;282;g104476d1465_1_17">
            <a:extLst>
              <a:ext uri="{FF2B5EF4-FFF2-40B4-BE49-F238E27FC236}">
                <a16:creationId xmlns:a16="http://schemas.microsoft.com/office/drawing/2014/main" id="{B565F83A-79D1-4D4C-B219-1B2F2A11113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118</a:t>
            </a:r>
            <a:endParaRPr i="1" dirty="0">
              <a:latin typeface="Calibri"/>
              <a:ea typeface="Calibri"/>
              <a:cs typeface="Calibri"/>
              <a:sym typeface="Calibri"/>
            </a:endParaRPr>
          </a:p>
        </p:txBody>
      </p:sp>
    </p:spTree>
    <p:extLst>
      <p:ext uri="{BB962C8B-B14F-4D97-AF65-F5344CB8AC3E}">
        <p14:creationId xmlns:p14="http://schemas.microsoft.com/office/powerpoint/2010/main" val="1714915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540564" y="382314"/>
            <a:ext cx="10983359" cy="3046988"/>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Gabrielle wrote “𝐻𝑇=𝐻𝐿+𝐿𝑇,” but she could not remember what that was called. Samuel wrote “Basically if you add the two segments of each side you get the entire side.” What postulate justifies Gabrielle's statements?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93713"/>
            <a:r>
              <a:rPr lang="en-US" sz="2400" i="1" dirty="0">
                <a:latin typeface="Verdana" panose="020B0604030504040204" pitchFamily="34" charset="0"/>
                <a:ea typeface="Verdana" panose="020B0604030504040204" pitchFamily="34" charset="0"/>
                <a:cs typeface="Verdana" panose="020B0604030504040204" pitchFamily="34" charset="0"/>
              </a:rPr>
              <a:t>If you and your partner cannot remember the name of the postulate Gabrielle and Samuel are referring to, then look through your workbook to find it.</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a:extLst>
              <a:ext uri="{FF2B5EF4-FFF2-40B4-BE49-F238E27FC236}">
                <a16:creationId xmlns:a16="http://schemas.microsoft.com/office/drawing/2014/main" id="{D803B860-8CD4-7446-A0E6-418B5FF7D3ED}"/>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118</a:t>
            </a:r>
            <a:endParaRPr i="1" dirty="0">
              <a:latin typeface="Calibri"/>
              <a:ea typeface="Calibri"/>
              <a:cs typeface="Calibri"/>
              <a:sym typeface="Calibri"/>
            </a:endParaRPr>
          </a:p>
        </p:txBody>
      </p:sp>
    </p:spTree>
    <p:extLst>
      <p:ext uri="{BB962C8B-B14F-4D97-AF65-F5344CB8AC3E}">
        <p14:creationId xmlns:p14="http://schemas.microsoft.com/office/powerpoint/2010/main" val="3899397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40564" y="382314"/>
                <a:ext cx="10983359" cy="3785652"/>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Gabrielle only wrote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𝐻𝑇</m:t>
                    </m:r>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𝐻𝐿</m:t>
                    </m:r>
                    <m:r>
                      <a:rPr lang="en-US" sz="2400" i="1" dirty="0">
                        <a:latin typeface="Cambria Math" panose="02040503050406030204" pitchFamily="18" charset="0"/>
                        <a:ea typeface="Verdana" panose="020B0604030504040204" pitchFamily="34" charset="0"/>
                        <a:cs typeface="Verdana" panose="020B0604030504040204" pitchFamily="34" charset="0"/>
                      </a:rPr>
                      <m:t>+</m:t>
                    </m:r>
                    <m:r>
                      <a:rPr lang="en-US" sz="2400" i="1" dirty="0">
                        <a:latin typeface="Cambria Math" panose="02040503050406030204" pitchFamily="18" charset="0"/>
                        <a:ea typeface="Verdana" panose="020B0604030504040204" pitchFamily="34" charset="0"/>
                        <a:cs typeface="Verdana" panose="020B0604030504040204" pitchFamily="34" charset="0"/>
                      </a:rPr>
                      <m:t>𝐿𝑇</m:t>
                    </m:r>
                  </m:oMath>
                </a14:m>
                <a:r>
                  <a:rPr lang="en-US" sz="2400" dirty="0">
                    <a:latin typeface="Verdana" panose="020B0604030504040204" pitchFamily="34" charset="0"/>
                    <a:ea typeface="Verdana" panose="020B0604030504040204" pitchFamily="34" charset="0"/>
                    <a:cs typeface="Verdana" panose="020B0604030504040204" pitchFamily="34" charset="0"/>
                  </a:rPr>
                  <a:t>,” but Samuel mentioned “each side.” Write the equation for the other side of the triangle.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Gabrielle wrote “If using = then it has to be changed to congruence.” What definition justifies changing from equality to congruence?</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4" y="382314"/>
                <a:ext cx="10983359" cy="3785652"/>
              </a:xfrm>
              <a:prstGeom prst="rect">
                <a:avLst/>
              </a:prstGeom>
              <a:blipFill>
                <a:blip r:embed="rId4"/>
                <a:stretch>
                  <a:fillRect l="-888" t="-1449" b="-2738"/>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id="{76E16D62-5AB4-994E-8BDB-405AACB90D2F}"/>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118</a:t>
            </a:r>
            <a:endParaRPr i="1" dirty="0">
              <a:latin typeface="Calibri"/>
              <a:ea typeface="Calibri"/>
              <a:cs typeface="Calibri"/>
              <a:sym typeface="Calibri"/>
            </a:endParaRPr>
          </a:p>
        </p:txBody>
      </p:sp>
    </p:spTree>
    <p:extLst>
      <p:ext uri="{BB962C8B-B14F-4D97-AF65-F5344CB8AC3E}">
        <p14:creationId xmlns:p14="http://schemas.microsoft.com/office/powerpoint/2010/main" val="887455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465232" y="333676"/>
            <a:ext cx="11058692" cy="830997"/>
          </a:xfrm>
          <a:prstGeom prst="rect">
            <a:avLst/>
          </a:prstGeom>
          <a:noFill/>
        </p:spPr>
        <p:txBody>
          <a:bodyPr wrap="square" rtlCol="0">
            <a:spAutoFit/>
          </a:bodyPr>
          <a:lstStyle/>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Apply the brainstorming of Gabrielle and Samuel to finish the paragraph proof. The first sentence has been written for you.</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3" name="Google Shape;282;g104476d1465_1_17">
            <a:extLst>
              <a:ext uri="{FF2B5EF4-FFF2-40B4-BE49-F238E27FC236}">
                <a16:creationId xmlns:a16="http://schemas.microsoft.com/office/drawing/2014/main" id="{A461453D-E4CC-C040-8F01-D1584C68F5F2}"/>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73C19C19-FFB4-8542-AF71-8439C4EB0496}"/>
                  </a:ext>
                </a:extLst>
              </p:cNvPr>
              <p:cNvGraphicFramePr>
                <a:graphicFrameLocks noGrp="1"/>
              </p:cNvGraphicFramePr>
              <p:nvPr>
                <p:extLst>
                  <p:ext uri="{D42A27DB-BD31-4B8C-83A1-F6EECF244321}">
                    <p14:modId xmlns:p14="http://schemas.microsoft.com/office/powerpoint/2010/main" val="3710635502"/>
                  </p:ext>
                </p:extLst>
              </p:nvPr>
            </p:nvGraphicFramePr>
            <p:xfrm>
              <a:off x="1655730" y="2226439"/>
              <a:ext cx="6403340" cy="822960"/>
            </p:xfrm>
            <a:graphic>
              <a:graphicData uri="http://schemas.openxmlformats.org/drawingml/2006/table">
                <a:tbl>
                  <a:tblPr firstRow="1" firstCol="1" bandRow="1"/>
                  <a:tblGrid>
                    <a:gridCol w="3201670">
                      <a:extLst>
                        <a:ext uri="{9D8B030D-6E8A-4147-A177-3AD203B41FA5}">
                          <a16:colId xmlns:a16="http://schemas.microsoft.com/office/drawing/2014/main" val="2007701277"/>
                        </a:ext>
                      </a:extLst>
                    </a:gridCol>
                    <a:gridCol w="3201670">
                      <a:extLst>
                        <a:ext uri="{9D8B030D-6E8A-4147-A177-3AD203B41FA5}">
                          <a16:colId xmlns:a16="http://schemas.microsoft.com/office/drawing/2014/main" val="481071740"/>
                        </a:ext>
                      </a:extLst>
                    </a:gridCol>
                  </a:tblGrid>
                  <a:tr h="193675">
                    <a:tc rowSpan="2">
                      <a:txBody>
                        <a:bodyPr/>
                        <a:lstStyle/>
                        <a:p>
                          <a:pPr marL="0" marR="0">
                            <a:spcBef>
                              <a:spcPts val="0"/>
                            </a:spcBef>
                            <a:spcAft>
                              <a:spcPts val="0"/>
                            </a:spcAft>
                          </a:pPr>
                          <a:r>
                            <a:rPr lang="en-US" sz="1800">
                              <a:effectLst/>
                              <a:latin typeface="Verdana" panose="020B0604030504040204" pitchFamily="34" charset="0"/>
                              <a:ea typeface="Helvetica Neue" panose="02000503000000020004" pitchFamily="2" charset="0"/>
                              <a:cs typeface="Helvetica Neue" panose="02000503000000020004" pitchFamily="2"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spcBef>
                              <a:spcPts val="0"/>
                            </a:spcBef>
                            <a:spcAft>
                              <a:spcPts val="0"/>
                            </a:spcAft>
                          </a:pPr>
                          <a:r>
                            <a:rPr lang="en-US" sz="1800">
                              <a:effectLst/>
                              <a:latin typeface="Verdana" panose="020B0604030504040204" pitchFamily="34" charset="0"/>
                              <a:ea typeface="Helvetica Neue" panose="02000503000000020004" pitchFamily="2" charset="0"/>
                              <a:cs typeface="Helvetica Neue" panose="02000503000000020004" pitchFamily="2" charset="0"/>
                            </a:rPr>
                            <a:t>Given: </a:t>
                          </a:r>
                          <a14:m>
                            <m:oMath xmlns:m="http://schemas.openxmlformats.org/officeDocument/2006/math">
                              <m:acc>
                                <m:accPr>
                                  <m:chr m:val="̅"/>
                                  <m:ctrlPr>
                                    <a:rPr lang="x-none" sz="18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1800" i="1">
                                      <a:effectLst/>
                                      <a:latin typeface="Cambria Math" panose="02040503050406030204" pitchFamily="18" charset="0"/>
                                      <a:ea typeface="Helvetica Neue" panose="02000503000000020004" pitchFamily="2" charset="0"/>
                                      <a:cs typeface="Helvetica Neue" panose="02000503000000020004" pitchFamily="2" charset="0"/>
                                    </a:rPr>
                                    <m:t>𝐻𝐿</m:t>
                                  </m:r>
                                </m:e>
                              </m:acc>
                              <m:r>
                                <a:rPr lang="en-US" sz="1800" i="1">
                                  <a:effectLst/>
                                  <a:latin typeface="Cambria Math" panose="02040503050406030204" pitchFamily="18" charset="0"/>
                                  <a:ea typeface="Helvetica Neue" panose="02000503000000020004" pitchFamily="2" charset="0"/>
                                  <a:cs typeface="Helvetica Neue" panose="02000503000000020004" pitchFamily="2" charset="0"/>
                                </a:rPr>
                                <m:t>≅</m:t>
                              </m:r>
                              <m:acc>
                                <m:accPr>
                                  <m:chr m:val="̅"/>
                                  <m:ctrlPr>
                                    <a:rPr lang="x-none" sz="18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1800" i="1">
                                      <a:effectLst/>
                                      <a:latin typeface="Cambria Math" panose="02040503050406030204" pitchFamily="18" charset="0"/>
                                      <a:ea typeface="Helvetica Neue" panose="02000503000000020004" pitchFamily="2" charset="0"/>
                                      <a:cs typeface="Helvetica Neue" panose="02000503000000020004" pitchFamily="2" charset="0"/>
                                    </a:rPr>
                                    <m:t>𝑊𝑅</m:t>
                                  </m:r>
                                </m:e>
                              </m:acc>
                            </m:oMath>
                          </a14:m>
                          <a:r>
                            <a:rPr lang="en-US" sz="1800">
                              <a:effectLst/>
                              <a:latin typeface="Verdana" panose="020B0604030504040204" pitchFamily="34" charset="0"/>
                              <a:ea typeface="Helvetica Neue" panose="02000503000000020004" pitchFamily="2" charset="0"/>
                              <a:cs typeface="Helvetica Neue" panose="02000503000000020004" pitchFamily="2" charset="0"/>
                            </a:rPr>
                            <a:t>, </a:t>
                          </a:r>
                          <a14:m>
                            <m:oMath xmlns:m="http://schemas.openxmlformats.org/officeDocument/2006/math">
                              <m:acc>
                                <m:accPr>
                                  <m:chr m:val="̅"/>
                                  <m:ctrlPr>
                                    <a:rPr lang="x-none" sz="18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1800" i="1">
                                      <a:effectLst/>
                                      <a:latin typeface="Cambria Math" panose="02040503050406030204" pitchFamily="18" charset="0"/>
                                      <a:ea typeface="Helvetica Neue" panose="02000503000000020004" pitchFamily="2" charset="0"/>
                                      <a:cs typeface="Helvetica Neue" panose="02000503000000020004" pitchFamily="2" charset="0"/>
                                    </a:rPr>
                                    <m:t>𝐿𝑇</m:t>
                                  </m:r>
                                </m:e>
                              </m:acc>
                              <m:r>
                                <a:rPr lang="en-US" sz="1800" i="1">
                                  <a:effectLst/>
                                  <a:latin typeface="Cambria Math" panose="02040503050406030204" pitchFamily="18" charset="0"/>
                                  <a:ea typeface="Helvetica Neue" panose="02000503000000020004" pitchFamily="2" charset="0"/>
                                  <a:cs typeface="Helvetica Neue" panose="02000503000000020004" pitchFamily="2" charset="0"/>
                                </a:rPr>
                                <m:t>≅</m:t>
                              </m:r>
                              <m:acc>
                                <m:accPr>
                                  <m:chr m:val="̅"/>
                                  <m:ctrlPr>
                                    <a:rPr lang="x-none" sz="18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1800" i="1">
                                      <a:effectLst/>
                                      <a:latin typeface="Cambria Math" panose="02040503050406030204" pitchFamily="18" charset="0"/>
                                      <a:ea typeface="Helvetica Neue" panose="02000503000000020004" pitchFamily="2" charset="0"/>
                                      <a:cs typeface="Helvetica Neue" panose="02000503000000020004" pitchFamily="2" charset="0"/>
                                    </a:rPr>
                                    <m:t>𝑊𝑇</m:t>
                                  </m:r>
                                </m:e>
                              </m:acc>
                            </m:oMath>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1800">
                              <a:effectLst/>
                              <a:latin typeface="Verdana" panose="020B0604030504040204" pitchFamily="34" charset="0"/>
                              <a:ea typeface="Helvetica Neue" panose="02000503000000020004" pitchFamily="2" charset="0"/>
                              <a:cs typeface="Helvetica Neue" panose="02000503000000020004" pitchFamily="2" charset="0"/>
                            </a:rPr>
                            <a:t>Prove: </a:t>
                          </a:r>
                          <a14:m>
                            <m:oMath xmlns:m="http://schemas.openxmlformats.org/officeDocument/2006/math">
                              <m:acc>
                                <m:accPr>
                                  <m:chr m:val="̅"/>
                                  <m:ctrlPr>
                                    <a:rPr lang="x-none" sz="18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1800" i="1">
                                      <a:effectLst/>
                                      <a:latin typeface="Cambria Math" panose="02040503050406030204" pitchFamily="18" charset="0"/>
                                      <a:ea typeface="Helvetica Neue" panose="02000503000000020004" pitchFamily="2" charset="0"/>
                                      <a:cs typeface="Helvetica Neue" panose="02000503000000020004" pitchFamily="2" charset="0"/>
                                    </a:rPr>
                                    <m:t>𝐻𝑇</m:t>
                                  </m:r>
                                </m:e>
                              </m:acc>
                              <m:r>
                                <a:rPr lang="en-US" sz="1800" i="1">
                                  <a:effectLst/>
                                  <a:latin typeface="Cambria Math" panose="02040503050406030204" pitchFamily="18" charset="0"/>
                                  <a:ea typeface="Helvetica Neue" panose="02000503000000020004" pitchFamily="2" charset="0"/>
                                  <a:cs typeface="Helvetica Neue" panose="02000503000000020004" pitchFamily="2" charset="0"/>
                                </a:rPr>
                                <m:t>≅</m:t>
                              </m:r>
                              <m:acc>
                                <m:accPr>
                                  <m:chr m:val="̅"/>
                                  <m:ctrlPr>
                                    <a:rPr lang="x-none" sz="18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1800" i="1">
                                      <a:effectLst/>
                                      <a:latin typeface="Cambria Math" panose="02040503050406030204" pitchFamily="18" charset="0"/>
                                      <a:ea typeface="Helvetica Neue" panose="02000503000000020004" pitchFamily="2" charset="0"/>
                                      <a:cs typeface="Helvetica Neue" panose="02000503000000020004" pitchFamily="2" charset="0"/>
                                    </a:rPr>
                                    <m:t>𝑇𝑅</m:t>
                                  </m:r>
                                </m:e>
                              </m:acc>
                            </m:oMath>
                          </a14:m>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3443054512"/>
                      </a:ext>
                    </a:extLst>
                  </a:tr>
                  <a:tr h="137160">
                    <a:tc vMerge="1">
                      <a:txBody>
                        <a:bodyPr/>
                        <a:lstStyle/>
                        <a:p>
                          <a:endParaRPr lang="x-none"/>
                        </a:p>
                      </a:txBody>
                      <a:tcPr/>
                    </a:tc>
                    <a:tc>
                      <a:txBody>
                        <a:bodyPr/>
                        <a:lstStyle/>
                        <a:p>
                          <a:pPr marL="0" marR="0">
                            <a:spcBef>
                              <a:spcPts val="0"/>
                            </a:spcBef>
                            <a:spcAft>
                              <a:spcPts val="0"/>
                            </a:spcAft>
                          </a:pPr>
                          <a:r>
                            <a:rPr lang="en-US" sz="18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077528915"/>
                      </a:ext>
                    </a:extLst>
                  </a:tr>
                </a:tbl>
              </a:graphicData>
            </a:graphic>
          </p:graphicFrame>
        </mc:Choice>
        <mc:Fallback xmlns="">
          <p:graphicFrame>
            <p:nvGraphicFramePr>
              <p:cNvPr id="6" name="Table 5">
                <a:extLst>
                  <a:ext uri="{FF2B5EF4-FFF2-40B4-BE49-F238E27FC236}">
                    <a16:creationId xmlns:a16="http://schemas.microsoft.com/office/drawing/2014/main" id="{73C19C19-FFB4-8542-AF71-8439C4EB0496}"/>
                  </a:ext>
                </a:extLst>
              </p:cNvPr>
              <p:cNvGraphicFramePr>
                <a:graphicFrameLocks noGrp="1"/>
              </p:cNvGraphicFramePr>
              <p:nvPr>
                <p:extLst>
                  <p:ext uri="{D42A27DB-BD31-4B8C-83A1-F6EECF244321}">
                    <p14:modId xmlns:p14="http://schemas.microsoft.com/office/powerpoint/2010/main" val="3710635502"/>
                  </p:ext>
                </p:extLst>
              </p:nvPr>
            </p:nvGraphicFramePr>
            <p:xfrm>
              <a:off x="1655730" y="2226439"/>
              <a:ext cx="6403340" cy="822960"/>
            </p:xfrm>
            <a:graphic>
              <a:graphicData uri="http://schemas.openxmlformats.org/drawingml/2006/table">
                <a:tbl>
                  <a:tblPr firstRow="1" firstCol="1" bandRow="1"/>
                  <a:tblGrid>
                    <a:gridCol w="3201670">
                      <a:extLst>
                        <a:ext uri="{9D8B030D-6E8A-4147-A177-3AD203B41FA5}">
                          <a16:colId xmlns:a16="http://schemas.microsoft.com/office/drawing/2014/main" val="2007701277"/>
                        </a:ext>
                      </a:extLst>
                    </a:gridCol>
                    <a:gridCol w="3201670">
                      <a:extLst>
                        <a:ext uri="{9D8B030D-6E8A-4147-A177-3AD203B41FA5}">
                          <a16:colId xmlns:a16="http://schemas.microsoft.com/office/drawing/2014/main" val="481071740"/>
                        </a:ext>
                      </a:extLst>
                    </a:gridCol>
                  </a:tblGrid>
                  <a:tr h="548640">
                    <a:tc rowSpan="2">
                      <a:txBody>
                        <a:bodyPr/>
                        <a:lstStyle/>
                        <a:p>
                          <a:pPr marL="0" marR="0">
                            <a:spcBef>
                              <a:spcPts val="0"/>
                            </a:spcBef>
                            <a:spcAft>
                              <a:spcPts val="0"/>
                            </a:spcAft>
                          </a:pPr>
                          <a:r>
                            <a:rPr lang="en-US" sz="1800">
                              <a:effectLst/>
                              <a:latin typeface="Verdana" panose="020B0604030504040204" pitchFamily="34" charset="0"/>
                              <a:ea typeface="Helvetica Neue" panose="02000503000000020004" pitchFamily="2" charset="0"/>
                              <a:cs typeface="Helvetica Neue" panose="02000503000000020004" pitchFamily="2" charset="0"/>
                            </a:rPr>
                            <a:t> </a:t>
                          </a:r>
                          <a:endParaRPr lang="x-none"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a:blip r:embed="rId4"/>
                          <a:stretch>
                            <a:fillRect l="-100000" t="-14286" b="-49451"/>
                          </a:stretch>
                        </a:blipFill>
                      </a:tcPr>
                    </a:tc>
                    <a:extLst>
                      <a:ext uri="{0D108BD9-81ED-4DB2-BD59-A6C34878D82A}">
                        <a16:rowId xmlns:a16="http://schemas.microsoft.com/office/drawing/2014/main" val="3443054512"/>
                      </a:ext>
                    </a:extLst>
                  </a:tr>
                  <a:tr h="274320">
                    <a:tc vMerge="1">
                      <a:txBody>
                        <a:bodyPr/>
                        <a:lstStyle/>
                        <a:p>
                          <a:endParaRPr lang="x-none"/>
                        </a:p>
                      </a:txBody>
                      <a:tcPr/>
                    </a:tc>
                    <a:tc>
                      <a:txBody>
                        <a:bodyPr/>
                        <a:lstStyle/>
                        <a:p>
                          <a:pPr marL="0" marR="0">
                            <a:spcBef>
                              <a:spcPts val="0"/>
                            </a:spcBef>
                            <a:spcAft>
                              <a:spcPts val="0"/>
                            </a:spcAft>
                          </a:pPr>
                          <a:r>
                            <a:rPr lang="en-US" sz="18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077528915"/>
                      </a:ext>
                    </a:extLst>
                  </a:tr>
                </a:tbl>
              </a:graphicData>
            </a:graphic>
          </p:graphicFrame>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35F2496-86D2-4C4A-841B-ADB88A18DE84}"/>
                  </a:ext>
                </a:extLst>
              </p:cNvPr>
              <p:cNvSpPr txBox="1"/>
              <p:nvPr/>
            </p:nvSpPr>
            <p:spPr>
              <a:xfrm>
                <a:off x="1428856" y="3433051"/>
                <a:ext cx="6630214" cy="646331"/>
              </a:xfrm>
              <a:prstGeom prst="rect">
                <a:avLst/>
              </a:prstGeom>
              <a:noFill/>
            </p:spPr>
            <p:txBody>
              <a:bodyPr wrap="square">
                <a:spAutoFit/>
              </a:bodyPr>
              <a:lstStyle/>
              <a:p>
                <a:pPr marL="2857500"/>
                <a:r>
                  <a:rPr lang="en-US" sz="1800" dirty="0">
                    <a:latin typeface="Verdana" panose="020B0604030504040204" pitchFamily="34" charset="0"/>
                    <a:ea typeface="Helvetica Neue" panose="02000503000000020004" pitchFamily="2" charset="0"/>
                    <a:cs typeface="Helvetica Neue" panose="02000503000000020004" pitchFamily="2" charset="0"/>
                  </a:rPr>
                  <a:t>It is given that </a:t>
                </a:r>
                <a14:m>
                  <m:oMath xmlns:m="http://schemas.openxmlformats.org/officeDocument/2006/math">
                    <m:acc>
                      <m:accPr>
                        <m:chr m:val="̅"/>
                        <m:ctrlPr>
                          <a:rPr lang="x-none" sz="1800" i="1">
                            <a:latin typeface="Cambria Math" panose="02040503050406030204" pitchFamily="18" charset="0"/>
                            <a:ea typeface="Helvetica Neue" panose="02000503000000020004" pitchFamily="2" charset="0"/>
                            <a:cs typeface="Helvetica Neue" panose="02000503000000020004" pitchFamily="2" charset="0"/>
                          </a:rPr>
                        </m:ctrlPr>
                      </m:accPr>
                      <m:e>
                        <m:r>
                          <a:rPr lang="en-US" sz="1800" i="1">
                            <a:latin typeface="Cambria Math" panose="02040503050406030204" pitchFamily="18" charset="0"/>
                            <a:ea typeface="Helvetica Neue" panose="02000503000000020004" pitchFamily="2" charset="0"/>
                            <a:cs typeface="Helvetica Neue" panose="02000503000000020004" pitchFamily="2" charset="0"/>
                          </a:rPr>
                          <m:t>𝐻𝐿</m:t>
                        </m:r>
                      </m:e>
                    </m:acc>
                    <m:r>
                      <a:rPr lang="en-US" sz="1800" i="1">
                        <a:latin typeface="Cambria Math" panose="02040503050406030204" pitchFamily="18" charset="0"/>
                        <a:ea typeface="Helvetica Neue" panose="02000503000000020004" pitchFamily="2" charset="0"/>
                        <a:cs typeface="Helvetica Neue" panose="02000503000000020004" pitchFamily="2" charset="0"/>
                      </a:rPr>
                      <m:t>≅</m:t>
                    </m:r>
                    <m:acc>
                      <m:accPr>
                        <m:chr m:val="̅"/>
                        <m:ctrlPr>
                          <a:rPr lang="x-none" sz="1800" i="1">
                            <a:latin typeface="Cambria Math" panose="02040503050406030204" pitchFamily="18" charset="0"/>
                            <a:ea typeface="Helvetica Neue" panose="02000503000000020004" pitchFamily="2" charset="0"/>
                            <a:cs typeface="Helvetica Neue" panose="02000503000000020004" pitchFamily="2" charset="0"/>
                          </a:rPr>
                        </m:ctrlPr>
                      </m:accPr>
                      <m:e>
                        <m:r>
                          <a:rPr lang="en-US" sz="1800" i="1">
                            <a:latin typeface="Cambria Math" panose="02040503050406030204" pitchFamily="18" charset="0"/>
                            <a:ea typeface="Helvetica Neue" panose="02000503000000020004" pitchFamily="2" charset="0"/>
                            <a:cs typeface="Helvetica Neue" panose="02000503000000020004" pitchFamily="2" charset="0"/>
                          </a:rPr>
                          <m:t>𝑊𝑅</m:t>
                        </m:r>
                      </m:e>
                    </m:acc>
                  </m:oMath>
                </a14:m>
                <a:r>
                  <a:rPr lang="en-US" sz="1800" dirty="0">
                    <a:latin typeface="Verdana" panose="020B0604030504040204" pitchFamily="34" charset="0"/>
                    <a:ea typeface="Helvetica Neue" panose="02000503000000020004" pitchFamily="2" charset="0"/>
                    <a:cs typeface="Helvetica Neue" panose="02000503000000020004" pitchFamily="2" charset="0"/>
                  </a:rPr>
                  <a:t> and </a:t>
                </a:r>
                <a14:m>
                  <m:oMath xmlns:m="http://schemas.openxmlformats.org/officeDocument/2006/math">
                    <m:acc>
                      <m:accPr>
                        <m:chr m:val="̅"/>
                        <m:ctrlPr>
                          <a:rPr lang="x-none" sz="1800" i="1">
                            <a:latin typeface="Cambria Math" panose="02040503050406030204" pitchFamily="18" charset="0"/>
                            <a:ea typeface="Helvetica Neue" panose="02000503000000020004" pitchFamily="2" charset="0"/>
                            <a:cs typeface="Helvetica Neue" panose="02000503000000020004" pitchFamily="2" charset="0"/>
                          </a:rPr>
                        </m:ctrlPr>
                      </m:accPr>
                      <m:e>
                        <m:r>
                          <a:rPr lang="en-US" sz="1800" i="1">
                            <a:latin typeface="Cambria Math" panose="02040503050406030204" pitchFamily="18" charset="0"/>
                            <a:ea typeface="Helvetica Neue" panose="02000503000000020004" pitchFamily="2" charset="0"/>
                            <a:cs typeface="Helvetica Neue" panose="02000503000000020004" pitchFamily="2" charset="0"/>
                          </a:rPr>
                          <m:t>𝐿𝑇</m:t>
                        </m:r>
                      </m:e>
                    </m:acc>
                    <m:r>
                      <a:rPr lang="en-US" sz="1800" i="1">
                        <a:latin typeface="Cambria Math" panose="02040503050406030204" pitchFamily="18" charset="0"/>
                        <a:ea typeface="Helvetica Neue" panose="02000503000000020004" pitchFamily="2" charset="0"/>
                        <a:cs typeface="Helvetica Neue" panose="02000503000000020004" pitchFamily="2" charset="0"/>
                      </a:rPr>
                      <m:t>≅</m:t>
                    </m:r>
                    <m:acc>
                      <m:accPr>
                        <m:chr m:val="̅"/>
                        <m:ctrlPr>
                          <a:rPr lang="x-none" sz="1800" i="1">
                            <a:latin typeface="Cambria Math" panose="02040503050406030204" pitchFamily="18" charset="0"/>
                            <a:ea typeface="Helvetica Neue" panose="02000503000000020004" pitchFamily="2" charset="0"/>
                            <a:cs typeface="Helvetica Neue" panose="02000503000000020004" pitchFamily="2" charset="0"/>
                          </a:rPr>
                        </m:ctrlPr>
                      </m:accPr>
                      <m:e>
                        <m:r>
                          <a:rPr lang="en-US" sz="1800" i="1">
                            <a:latin typeface="Cambria Math" panose="02040503050406030204" pitchFamily="18" charset="0"/>
                            <a:ea typeface="Helvetica Neue" panose="02000503000000020004" pitchFamily="2" charset="0"/>
                            <a:cs typeface="Helvetica Neue" panose="02000503000000020004" pitchFamily="2" charset="0"/>
                          </a:rPr>
                          <m:t>𝑊𝑇</m:t>
                        </m:r>
                      </m:e>
                    </m:acc>
                  </m:oMath>
                </a14:m>
                <a:r>
                  <a:rPr lang="en-US" sz="1800" dirty="0">
                    <a:latin typeface="Verdana" panose="020B0604030504040204" pitchFamily="34" charset="0"/>
                    <a:ea typeface="Helvetica Neue" panose="02000503000000020004" pitchFamily="2" charset="0"/>
                    <a:cs typeface="Helvetica Neue" panose="02000503000000020004" pitchFamily="2" charset="0"/>
                  </a:rPr>
                  <a:t>.</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26" name="TextBox 25">
                <a:extLst>
                  <a:ext uri="{FF2B5EF4-FFF2-40B4-BE49-F238E27FC236}">
                    <a16:creationId xmlns:a16="http://schemas.microsoft.com/office/drawing/2014/main" id="{035F2496-86D2-4C4A-841B-ADB88A18DE84}"/>
                  </a:ext>
                </a:extLst>
              </p:cNvPr>
              <p:cNvSpPr txBox="1">
                <a:spLocks noRot="1" noChangeAspect="1" noMove="1" noResize="1" noEditPoints="1" noAdjustHandles="1" noChangeArrowheads="1" noChangeShapeType="1" noTextEdit="1"/>
              </p:cNvSpPr>
              <p:nvPr/>
            </p:nvSpPr>
            <p:spPr>
              <a:xfrm>
                <a:off x="1428856" y="3433051"/>
                <a:ext cx="6630214" cy="646331"/>
              </a:xfrm>
              <a:prstGeom prst="rect">
                <a:avLst/>
              </a:prstGeom>
              <a:blipFill>
                <a:blip r:embed="rId5"/>
                <a:stretch>
                  <a:fillRect t="-4717" b="-14151"/>
                </a:stretch>
              </a:blipFill>
            </p:spPr>
            <p:txBody>
              <a:bodyPr/>
              <a:lstStyle/>
              <a:p>
                <a:r>
                  <a:rPr lang="en-US">
                    <a:noFill/>
                  </a:rPr>
                  <a:t> </a:t>
                </a:r>
              </a:p>
            </p:txBody>
          </p:sp>
        </mc:Fallback>
      </mc:AlternateContent>
      <p:pic>
        <p:nvPicPr>
          <p:cNvPr id="27" name="Picture 26" descr="Chart, line chart&#10;&#10;Description automatically generated">
            <a:extLst>
              <a:ext uri="{FF2B5EF4-FFF2-40B4-BE49-F238E27FC236}">
                <a16:creationId xmlns:a16="http://schemas.microsoft.com/office/drawing/2014/main" id="{0753AEDD-2B35-634E-9B57-F954CAC02984}"/>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23864" t="5890" r="38465" b="26050"/>
          <a:stretch/>
        </p:blipFill>
        <p:spPr bwMode="auto">
          <a:xfrm>
            <a:off x="1428856" y="1859520"/>
            <a:ext cx="2721610" cy="314706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27695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119</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540566" y="382315"/>
            <a:ext cx="11087584" cy="4708981"/>
          </a:xfrm>
          <a:prstGeom prst="rect">
            <a:avLst/>
          </a:prstGeom>
          <a:noFill/>
        </p:spPr>
        <p:txBody>
          <a:bodyPr wrap="square" rtlCol="0">
            <a:spAutoFit/>
          </a:bodyPr>
          <a:lstStyle/>
          <a:p>
            <a:pPr marL="457200" indent="-4572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Describe the most difficult part of writing the paragraph proof.</a:t>
            </a: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Describe how Gabrielle and Samuel’s brainstorming was helpful. </a:t>
            </a:r>
          </a:p>
          <a:p>
            <a:pPr marL="457200" indent="-457200">
              <a:buFont typeface="+mj-lt"/>
              <a:buAutoNum type="arabicPeriod" startAt="7"/>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Check your proof with another group and if necessary, resolve any differences.</a:t>
            </a:r>
          </a:p>
        </p:txBody>
      </p:sp>
      <p:sp>
        <p:nvSpPr>
          <p:cNvPr id="7" name="Google Shape;278;g104476d1465_1_17">
            <a:extLst>
              <a:ext uri="{FF2B5EF4-FFF2-40B4-BE49-F238E27FC236}">
                <a16:creationId xmlns:a16="http://schemas.microsoft.com/office/drawing/2014/main" id="{44D12CB6-7E65-7742-A366-7CDB25327756}"/>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659942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1C996120-3B21-7344-82A8-E4BA1AAF6F6F}"/>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119</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49" y="-117953"/>
            <a:ext cx="1025936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2.8.3 Guided Instruction: Flowchart Proof</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140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93248" y="1386149"/>
                <a:ext cx="11034902" cy="3479992"/>
              </a:xfrm>
              <a:prstGeom prst="rect">
                <a:avLst/>
              </a:prstGeom>
              <a:noFill/>
            </p:spPr>
            <p:txBody>
              <a:bodyPr wrap="square" rtlCol="0">
                <a:spAutoFit/>
              </a:bodyPr>
              <a:lstStyle/>
              <a:p>
                <a14:m>
                  <m:oMath xmlns:m="http://schemas.openxmlformats.org/officeDocument/2006/math">
                    <m:acc>
                      <m:accPr>
                        <m:chr m:val="̅"/>
                        <m:ctrlPr>
                          <a:rPr lang="en-US" sz="2000" i="1" dirty="0">
                            <a:latin typeface="Cambria Math" panose="02040503050406030204" pitchFamily="18" charset="0"/>
                            <a:ea typeface="Verdana" panose="020B0604030504040204" pitchFamily="34" charset="0"/>
                            <a:cs typeface="Verdana" panose="020B0604030504040204" pitchFamily="34" charset="0"/>
                          </a:rPr>
                        </m:ctrlPr>
                      </m:accPr>
                      <m:e>
                        <m:r>
                          <a:rPr lang="es-ES" sz="2000" i="1" dirty="0">
                            <a:latin typeface="Cambria Math" panose="02040503050406030204" pitchFamily="18" charset="0"/>
                            <a:ea typeface="Verdana" panose="020B0604030504040204" pitchFamily="34" charset="0"/>
                            <a:cs typeface="Verdana" panose="020B0604030504040204" pitchFamily="34" charset="0"/>
                          </a:rPr>
                          <m:t>𝐴𝑋</m:t>
                        </m:r>
                      </m:e>
                    </m:acc>
                    <m:r>
                      <a:rPr lang="en-US" sz="2000" i="1" dirty="0">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acc>
                      <m:accPr>
                        <m:chr m:val="̅"/>
                        <m:ctrlPr>
                          <a:rPr lang="en-US" sz="2000" i="1" dirty="0">
                            <a:latin typeface="Cambria Math" panose="02040503050406030204" pitchFamily="18" charset="0"/>
                            <a:ea typeface="Verdana" panose="020B0604030504040204" pitchFamily="34" charset="0"/>
                            <a:cs typeface="Verdana" panose="020B0604030504040204" pitchFamily="34" charset="0"/>
                          </a:rPr>
                        </m:ctrlPr>
                      </m:accPr>
                      <m:e>
                        <m:r>
                          <a:rPr lang="es-ES" sz="2000" i="1" dirty="0">
                            <a:latin typeface="Cambria Math" panose="02040503050406030204" pitchFamily="18" charset="0"/>
                            <a:ea typeface="Verdana" panose="020B0604030504040204" pitchFamily="34" charset="0"/>
                            <a:cs typeface="Verdana" panose="020B0604030504040204" pitchFamily="34" charset="0"/>
                          </a:rPr>
                          <m:t>𝐷𝑌</m:t>
                        </m:r>
                      </m:e>
                    </m:acc>
                  </m:oMath>
                </a14:m>
                <a:r>
                  <a:rPr lang="en-US" sz="2000" dirty="0">
                    <a:latin typeface="Verdana" panose="020B0604030504040204" pitchFamily="34" charset="0"/>
                    <a:ea typeface="Verdana" panose="020B0604030504040204" pitchFamily="34" charset="0"/>
                    <a:cs typeface="Verdana" panose="020B0604030504040204" pitchFamily="34" charset="0"/>
                  </a:rPr>
                  <a:t> are shown.</a:t>
                </a: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Given: </a:t>
                </a:r>
                <a14:m>
                  <m:oMath xmlns:m="http://schemas.openxmlformats.org/officeDocument/2006/math">
                    <m:r>
                      <a:rPr lang="en-US" sz="2000" i="1">
                        <a:latin typeface="Cambria Math"/>
                      </a:rPr>
                      <m:t>𝐾</m:t>
                    </m:r>
                  </m:oMath>
                </a14:m>
                <a:r>
                  <a:rPr lang="en-US" sz="2000" dirty="0">
                    <a:latin typeface="Verdana" panose="020B0604030504040204" pitchFamily="34" charset="0"/>
                    <a:ea typeface="Verdana" panose="020B0604030504040204" pitchFamily="34" charset="0"/>
                    <a:cs typeface="Verdana" panose="020B0604030504040204" pitchFamily="34" charset="0"/>
                  </a:rPr>
                  <a:t> is the midpoint of </a:t>
                </a:r>
                <a14:m>
                  <m:oMath xmlns:m="http://schemas.openxmlformats.org/officeDocument/2006/math">
                    <m:acc>
                      <m:accPr>
                        <m:chr m:val="̅"/>
                        <m:ctrlPr>
                          <a:rPr lang="x-none" sz="2000" i="1">
                            <a:latin typeface="Cambria Math" panose="02040503050406030204" pitchFamily="18" charset="0"/>
                          </a:rPr>
                        </m:ctrlPr>
                      </m:accPr>
                      <m:e>
                        <m:r>
                          <a:rPr lang="en-US" sz="2000" i="1">
                            <a:latin typeface="Cambria Math"/>
                          </a:rPr>
                          <m:t>𝐴𝑋</m:t>
                        </m:r>
                      </m:e>
                    </m:acc>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a:rPr>
                      <m:t>𝐿</m:t>
                    </m:r>
                  </m:oMath>
                </a14:m>
                <a:r>
                  <a:rPr lang="en-US" sz="2000" dirty="0">
                    <a:latin typeface="Verdana" panose="020B0604030504040204" pitchFamily="34" charset="0"/>
                    <a:ea typeface="Verdana" panose="020B0604030504040204" pitchFamily="34" charset="0"/>
                    <a:cs typeface="Verdana" panose="020B0604030504040204" pitchFamily="34" charset="0"/>
                  </a:rPr>
                  <a:t> is the midpoint of </a:t>
                </a:r>
                <a14:m>
                  <m:oMath xmlns:m="http://schemas.openxmlformats.org/officeDocument/2006/math">
                    <m:acc>
                      <m:accPr>
                        <m:chr m:val="̅"/>
                        <m:ctrlPr>
                          <a:rPr lang="x-none" sz="2000" i="1">
                            <a:latin typeface="Cambria Math" panose="02040503050406030204" pitchFamily="18" charset="0"/>
                          </a:rPr>
                        </m:ctrlPr>
                      </m:accPr>
                      <m:e>
                        <m:r>
                          <a:rPr lang="en-US" sz="2000" i="1">
                            <a:latin typeface="Cambria Math"/>
                          </a:rPr>
                          <m:t>𝐷𝑌</m:t>
                        </m:r>
                      </m:e>
                    </m:acc>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acc>
                      <m:accPr>
                        <m:chr m:val="̅"/>
                        <m:ctrlPr>
                          <a:rPr lang="x-none" sz="2000" i="1">
                            <a:latin typeface="Cambria Math" panose="02040503050406030204" pitchFamily="18" charset="0"/>
                          </a:rPr>
                        </m:ctrlPr>
                      </m:accPr>
                      <m:e>
                        <m:r>
                          <a:rPr lang="en-US" sz="2000" i="1">
                            <a:latin typeface="Cambria Math"/>
                          </a:rPr>
                          <m:t>𝐴𝑋</m:t>
                        </m:r>
                      </m:e>
                    </m:acc>
                    <m:r>
                      <a:rPr lang="en-US" sz="2000" i="1">
                        <a:latin typeface="Cambria Math"/>
                      </a:rPr>
                      <m:t>≅</m:t>
                    </m:r>
                    <m:acc>
                      <m:accPr>
                        <m:chr m:val="̅"/>
                        <m:ctrlPr>
                          <a:rPr lang="x-none" sz="2000" i="1">
                            <a:latin typeface="Cambria Math" panose="02040503050406030204" pitchFamily="18" charset="0"/>
                          </a:rPr>
                        </m:ctrlPr>
                      </m:accPr>
                      <m:e>
                        <m:r>
                          <a:rPr lang="en-US" sz="2000" i="1">
                            <a:latin typeface="Cambria Math"/>
                          </a:rPr>
                          <m:t>𝐷𝑌</m:t>
                        </m:r>
                      </m:e>
                    </m:acc>
                  </m:oMath>
                </a14:m>
                <a:endParaRPr lang="x-none"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endParaRPr lang="x-none"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Prove: </a:t>
                </a:r>
                <a14:m>
                  <m:oMath xmlns:m="http://schemas.openxmlformats.org/officeDocument/2006/math">
                    <m:acc>
                      <m:accPr>
                        <m:chr m:val="̅"/>
                        <m:ctrlPr>
                          <a:rPr lang="x-none" sz="2000" i="1">
                            <a:latin typeface="Cambria Math" panose="02040503050406030204" pitchFamily="18" charset="0"/>
                          </a:rPr>
                        </m:ctrlPr>
                      </m:accPr>
                      <m:e>
                        <m:r>
                          <a:rPr lang="en-US" sz="2000" i="1">
                            <a:latin typeface="Cambria Math"/>
                          </a:rPr>
                          <m:t>𝐴𝐾</m:t>
                        </m:r>
                      </m:e>
                    </m:acc>
                    <m:r>
                      <a:rPr lang="en-US" sz="2000" i="1">
                        <a:latin typeface="Cambria Math"/>
                      </a:rPr>
                      <m:t>≅</m:t>
                    </m:r>
                    <m:acc>
                      <m:accPr>
                        <m:chr m:val="̅"/>
                        <m:ctrlPr>
                          <a:rPr lang="x-none" sz="2000" i="1">
                            <a:latin typeface="Cambria Math" panose="02040503050406030204" pitchFamily="18" charset="0"/>
                          </a:rPr>
                        </m:ctrlPr>
                      </m:accPr>
                      <m:e>
                        <m:r>
                          <a:rPr lang="en-US" sz="2000" i="1">
                            <a:latin typeface="Cambria Math"/>
                          </a:rPr>
                          <m:t>𝐷𝐿</m:t>
                        </m:r>
                      </m:e>
                    </m:acc>
                  </m:oMath>
                </a14:m>
                <a:endParaRPr lang="en-PH" sz="2000" dirty="0">
                  <a:latin typeface="Verdana" panose="020B0604030504040204" pitchFamily="34" charset="0"/>
                  <a:ea typeface="Verdana" panose="020B0604030504040204" pitchFamily="34" charset="0"/>
                  <a:cs typeface="Verdana" panose="020B0604030504040204" pitchFamily="34" charset="0"/>
                </a:endParaRPr>
              </a:p>
              <a:p>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Brainstorm with your partner about how to write the proof. Then, write your brainstormed ideas in the space provided. Include any possible definitions or postulates that may need to be used to justify the steps.</a:t>
                </a:r>
                <a:endParaRPr lang="x-none"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93248" y="1386149"/>
                <a:ext cx="11034902" cy="3479992"/>
              </a:xfrm>
              <a:prstGeom prst="rect">
                <a:avLst/>
              </a:prstGeom>
              <a:blipFill>
                <a:blip r:embed="rId5"/>
                <a:stretch>
                  <a:fillRect l="-607" t="-876" b="-2277"/>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2260A17C-F127-D647-A05B-7BB351158843}"/>
              </a:ext>
            </a:extLst>
          </p:cNvPr>
          <p:cNvSpPr/>
          <p:nvPr/>
        </p:nvSpPr>
        <p:spPr>
          <a:xfrm>
            <a:off x="0" y="-8101"/>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a:extLst>
              <a:ext uri="{FF2B5EF4-FFF2-40B4-BE49-F238E27FC236}">
                <a16:creationId xmlns:a16="http://schemas.microsoft.com/office/drawing/2014/main" id="{7BAFADD4-2907-184F-AE03-F80BF9E6D351}"/>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119</a:t>
            </a:r>
            <a:endParaRPr i="1" dirty="0">
              <a:latin typeface="Calibri"/>
              <a:ea typeface="Calibri"/>
              <a:cs typeface="Calibri"/>
              <a:sym typeface="Calibri"/>
            </a:endParaRPr>
          </a:p>
        </p:txBody>
      </p:sp>
      <p:pic>
        <p:nvPicPr>
          <p:cNvPr id="12" name="Picture 11">
            <a:extLst>
              <a:ext uri="{FF2B5EF4-FFF2-40B4-BE49-F238E27FC236}">
                <a16:creationId xmlns:a16="http://schemas.microsoft.com/office/drawing/2014/main" id="{8234DEB7-EBCD-E648-BC5F-E466BBE1EB64}"/>
              </a:ext>
            </a:extLst>
          </p:cNvPr>
          <p:cNvPicPr>
            <a:picLocks noChangeAspect="1"/>
          </p:cNvPicPr>
          <p:nvPr/>
        </p:nvPicPr>
        <p:blipFill>
          <a:blip r:embed="rId6"/>
          <a:stretch>
            <a:fillRect/>
          </a:stretch>
        </p:blipFill>
        <p:spPr>
          <a:xfrm>
            <a:off x="640873" y="1824490"/>
            <a:ext cx="6946900" cy="734060"/>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5898"/>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id="{3C71DADC-D456-FE41-A041-10145DA5C050}"/>
              </a:ext>
            </a:extLst>
          </p:cNvPr>
          <p:cNvSpPr txBox="1"/>
          <p:nvPr/>
        </p:nvSpPr>
        <p:spPr>
          <a:xfrm>
            <a:off x="8889924" y="645297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120</a:t>
            </a:r>
            <a:endParaRPr i="1" dirty="0">
              <a:latin typeface="Calibri"/>
              <a:ea typeface="Calibri"/>
              <a:cs typeface="Calibri"/>
              <a:sym typeface="Calibri"/>
            </a:endParaRPr>
          </a:p>
        </p:txBody>
      </p:sp>
      <p:sp>
        <p:nvSpPr>
          <p:cNvPr id="8" name="TextBox 7">
            <a:extLst>
              <a:ext uri="{FF2B5EF4-FFF2-40B4-BE49-F238E27FC236}">
                <a16:creationId xmlns:a16="http://schemas.microsoft.com/office/drawing/2014/main" id="{947B55DB-E113-1F44-8595-AB43F5003A2E}"/>
              </a:ext>
            </a:extLst>
          </p:cNvPr>
          <p:cNvSpPr txBox="1"/>
          <p:nvPr/>
        </p:nvSpPr>
        <p:spPr>
          <a:xfrm>
            <a:off x="593248" y="373880"/>
            <a:ext cx="7992528" cy="400110"/>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flowchart proof.</a:t>
            </a:r>
          </a:p>
        </p:txBody>
      </p:sp>
      <p:pic>
        <p:nvPicPr>
          <p:cNvPr id="1026" name="Picture 2" descr="https://s3.amazonaws.com/algebranation/digitaltextbook_uploads/6F71B6A568EB068A7BA6E81F90A7A21E.pn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517825" y="865476"/>
            <a:ext cx="4259465" cy="59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87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545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72226"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F78B44C8-0B69-A548-BB52-FCE047DCE83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120</a:t>
            </a:r>
            <a:endParaRPr i="1" dirty="0">
              <a:latin typeface="Calibri"/>
              <a:ea typeface="Calibri"/>
              <a:cs typeface="Calibri"/>
              <a:sym typeface="Calibri"/>
            </a:endParaRPr>
          </a:p>
        </p:txBody>
      </p:sp>
      <p:pic>
        <p:nvPicPr>
          <p:cNvPr id="8" name="image16.png" descr="Icon&#10;&#10;Description automatically generated">
            <a:extLst>
              <a:ext uri="{FF2B5EF4-FFF2-40B4-BE49-F238E27FC236}">
                <a16:creationId xmlns:a16="http://schemas.microsoft.com/office/drawing/2014/main" id="{59BD4822-6CEA-B141-8BA4-BA804BFE81DC}"/>
              </a:ext>
            </a:extLst>
          </p:cNvPr>
          <p:cNvPicPr/>
          <p:nvPr/>
        </p:nvPicPr>
        <p:blipFill>
          <a:blip r:embed="rId4"/>
          <a:srcRect/>
          <a:stretch>
            <a:fillRect/>
          </a:stretch>
        </p:blipFill>
        <p:spPr>
          <a:xfrm>
            <a:off x="4447691" y="2852923"/>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93014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19885" y="272521"/>
            <a:ext cx="8019300" cy="51962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2.8.4 Your Turn!</a:t>
            </a:r>
          </a:p>
        </p:txBody>
      </p:sp>
      <p:sp>
        <p:nvSpPr>
          <p:cNvPr id="10" name="TextBox 9">
            <a:extLst>
              <a:ext uri="{FF2B5EF4-FFF2-40B4-BE49-F238E27FC236}">
                <a16:creationId xmlns:a16="http://schemas.microsoft.com/office/drawing/2014/main" id="{31D40250-DEDD-2C41-8538-3D4DD18CCC4A}"/>
              </a:ext>
            </a:extLst>
          </p:cNvPr>
          <p:cNvSpPr txBox="1"/>
          <p:nvPr/>
        </p:nvSpPr>
        <p:spPr>
          <a:xfrm>
            <a:off x="540565" y="1071521"/>
            <a:ext cx="9252364"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previous flowchart to complete the two-column proof.</a:t>
            </a:r>
          </a:p>
        </p:txBody>
      </p:sp>
      <p:sp>
        <p:nvSpPr>
          <p:cNvPr id="11" name="Google Shape;278;g104476d1465_1_17">
            <a:extLst>
              <a:ext uri="{FF2B5EF4-FFF2-40B4-BE49-F238E27FC236}">
                <a16:creationId xmlns:a16="http://schemas.microsoft.com/office/drawing/2014/main" id="{46CE9362-15C8-D54E-981B-E2717DFC6652}"/>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282;g104476d1465_1_17">
            <a:extLst>
              <a:ext uri="{FF2B5EF4-FFF2-40B4-BE49-F238E27FC236}">
                <a16:creationId xmlns:a16="http://schemas.microsoft.com/office/drawing/2014/main" id="{224A2A26-4A4F-5647-A2D5-98B57C02C25C}"/>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120</a:t>
            </a:r>
            <a:endParaRPr i="1" dirty="0">
              <a:latin typeface="Calibri"/>
              <a:ea typeface="Calibri"/>
              <a:cs typeface="Calibri"/>
              <a:sym typeface="Calibri"/>
            </a:endParaRPr>
          </a:p>
        </p:txBody>
      </p:sp>
      <p:pic>
        <p:nvPicPr>
          <p:cNvPr id="12" name="image16.png" descr="Icon&#10;&#10;Description automatically generated">
            <a:extLst>
              <a:ext uri="{FF2B5EF4-FFF2-40B4-BE49-F238E27FC236}">
                <a16:creationId xmlns:a16="http://schemas.microsoft.com/office/drawing/2014/main" id="{A6C11B27-F3D2-6840-941C-6A1FB3BA7505}"/>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02843" y="157429"/>
            <a:ext cx="749808" cy="749808"/>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CABC74A-FF90-5F46-B698-AFFACFA2AE42}"/>
                  </a:ext>
                </a:extLst>
              </p:cNvPr>
              <p:cNvGraphicFramePr>
                <a:graphicFrameLocks noGrp="1"/>
              </p:cNvGraphicFramePr>
              <p:nvPr>
                <p:extLst>
                  <p:ext uri="{D42A27DB-BD31-4B8C-83A1-F6EECF244321}">
                    <p14:modId xmlns:p14="http://schemas.microsoft.com/office/powerpoint/2010/main" val="203405318"/>
                  </p:ext>
                </p:extLst>
              </p:nvPr>
            </p:nvGraphicFramePr>
            <p:xfrm>
              <a:off x="1119885" y="2007415"/>
              <a:ext cx="7406640" cy="4329558"/>
            </p:xfrm>
            <a:graphic>
              <a:graphicData uri="http://schemas.openxmlformats.org/drawingml/2006/table">
                <a:tbl>
                  <a:tblPr firstRow="1" firstCol="1" bandRow="1"/>
                  <a:tblGrid>
                    <a:gridCol w="3657600">
                      <a:extLst>
                        <a:ext uri="{9D8B030D-6E8A-4147-A177-3AD203B41FA5}">
                          <a16:colId xmlns:a16="http://schemas.microsoft.com/office/drawing/2014/main" val="3165742238"/>
                        </a:ext>
                      </a:extLst>
                    </a:gridCol>
                    <a:gridCol w="3749040">
                      <a:extLst>
                        <a:ext uri="{9D8B030D-6E8A-4147-A177-3AD203B41FA5}">
                          <a16:colId xmlns:a16="http://schemas.microsoft.com/office/drawing/2014/main" val="69233163"/>
                        </a:ext>
                      </a:extLst>
                    </a:gridCol>
                  </a:tblGrid>
                  <a:tr h="354538">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Reason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24185709"/>
                      </a:ext>
                    </a:extLst>
                  </a:tr>
                  <a:tr h="354538">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1.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m:t>
                              </m:r>
                            </m:oMath>
                          </a14:m>
                          <a:r>
                            <a:rPr lang="en-US" sz="2000" dirty="0">
                              <a:effectLst/>
                              <a:latin typeface="Verdana" panose="020B0604030504040204" pitchFamily="34" charset="0"/>
                              <a:ea typeface="Verdana" pitchFamily="34" charset="0"/>
                              <a:cs typeface="Helvetica Neue" panose="02000503000000020004" pitchFamily="2" charset="0"/>
                            </a:rPr>
                            <a:t> is the midpoint of </a:t>
                          </a:r>
                          <a14:m>
                            <m:oMath xmlns:m="http://schemas.openxmlformats.org/officeDocument/2006/math">
                              <m:acc>
                                <m:accPr>
                                  <m:chr m:val="̅"/>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𝐴𝑋</m:t>
                                  </m:r>
                                </m:e>
                              </m:acc>
                            </m:oMath>
                          </a14:m>
                          <a:r>
                            <a:rPr lang="en-US" sz="2000" dirty="0">
                              <a:effectLst/>
                              <a:latin typeface="Verdana" panose="020B0604030504040204" pitchFamily="34" charset="0"/>
                              <a:ea typeface="Verdana" pitchFamily="34" charset="0"/>
                              <a:cs typeface="Helvetica Neue" panose="02000503000000020004" pitchFamily="2" charset="0"/>
                            </a:rPr>
                            <a:t> </a:t>
                          </a:r>
                        </a:p>
                        <a:p>
                          <a:pPr marL="342900" marR="0" indent="0">
                            <a:spcBef>
                              <a:spcPts val="0"/>
                            </a:spcBef>
                            <a:spcAft>
                              <a:spcPts val="0"/>
                            </a:spcAft>
                          </a:pPr>
                          <a:r>
                            <a:rPr lang="en-US" sz="2000" dirty="0">
                              <a:effectLst/>
                              <a:latin typeface="Verdana" panose="020B0604030504040204" pitchFamily="34" charset="0"/>
                              <a:ea typeface="Verdana" pitchFamily="34" charset="0"/>
                              <a:cs typeface="Helvetica Neue" panose="02000503000000020004" pitchFamily="2" charset="0"/>
                            </a:rPr>
                            <a:t>and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𝐿</m:t>
                              </m:r>
                            </m:oMath>
                          </a14:m>
                          <a:r>
                            <a:rPr lang="en-US" sz="2000" dirty="0">
                              <a:effectLst/>
                              <a:latin typeface="Verdana" panose="020B0604030504040204" pitchFamily="34" charset="0"/>
                              <a:ea typeface="Verdana" pitchFamily="34" charset="0"/>
                              <a:cs typeface="Helvetica Neue" panose="02000503000000020004" pitchFamily="2" charset="0"/>
                            </a:rPr>
                            <a:t> is the midpoint </a:t>
                          </a:r>
                          <a:br>
                            <a:rPr lang="en-US" sz="2000" dirty="0">
                              <a:effectLst/>
                              <a:latin typeface="Verdana" panose="020B0604030504040204" pitchFamily="34" charset="0"/>
                              <a:ea typeface="Verdana" pitchFamily="34" charset="0"/>
                              <a:cs typeface="Helvetica Neue" panose="02000503000000020004" pitchFamily="2" charset="0"/>
                            </a:rPr>
                          </a:br>
                          <a:r>
                            <a:rPr lang="en-US" sz="2000" dirty="0">
                              <a:effectLst/>
                              <a:latin typeface="Verdana" panose="020B0604030504040204" pitchFamily="34" charset="0"/>
                              <a:ea typeface="Verdana" pitchFamily="34" charset="0"/>
                              <a:cs typeface="Helvetica Neue" panose="02000503000000020004" pitchFamily="2" charset="0"/>
                            </a:rPr>
                            <a:t>of </a:t>
                          </a:r>
                          <a14:m>
                            <m:oMath xmlns:m="http://schemas.openxmlformats.org/officeDocument/2006/math">
                              <m:acc>
                                <m:accPr>
                                  <m:chr m:val="̅"/>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𝐷𝑌</m:t>
                                  </m:r>
                                </m:e>
                              </m:acc>
                            </m:oMath>
                          </a14:m>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1. Given</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021381"/>
                      </a:ext>
                    </a:extLst>
                  </a:tr>
                  <a:tr h="354538">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2.</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2. </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0866907"/>
                      </a:ext>
                    </a:extLst>
                  </a:tr>
                  <a:tr h="341576">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3.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𝐴𝐾</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𝐾𝑋</m:t>
                              </m:r>
                            </m:oMath>
                          </a14:m>
                          <a:r>
                            <a:rPr lang="en-US" sz="2000">
                              <a:effectLst/>
                              <a:latin typeface="Verdana" pitchFamily="34" charset="0"/>
                              <a:ea typeface="Verdana" pitchFamily="34" charset="0"/>
                              <a:cs typeface="Times New Roman" panose="02020603050405020304" pitchFamily="18" charset="0"/>
                            </a:rPr>
                            <a:t> and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𝐷𝐿</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𝐿𝑌</m:t>
                              </m:r>
                            </m:oMath>
                          </a14:m>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3. </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2763659"/>
                      </a:ext>
                    </a:extLst>
                  </a:tr>
                  <a:tr h="354538">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4.  </a:t>
                          </a:r>
                          <a14:m>
                            <m:oMath xmlns:m="http://schemas.openxmlformats.org/officeDocument/2006/math">
                              <m:acc>
                                <m:accPr>
                                  <m:chr m:val="̅"/>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𝐴𝑋</m:t>
                                  </m:r>
                                </m:e>
                              </m:acc>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acc>
                                <m:accPr>
                                  <m:chr m:val="̅"/>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𝐷𝑌</m:t>
                                  </m:r>
                                </m:e>
                              </m:acc>
                            </m:oMath>
                          </a14:m>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4. Given</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6867327"/>
                      </a:ext>
                    </a:extLst>
                  </a:tr>
                  <a:tr h="354538">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5.</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5. Definition of Congruence</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7714635"/>
                      </a:ext>
                    </a:extLst>
                  </a:tr>
                  <a:tr h="354538">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6.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𝐴𝐾</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𝐾𝑋</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𝐴𝑋</m:t>
                              </m:r>
                            </m:oMath>
                          </a14:m>
                          <a:r>
                            <a:rPr lang="en-US" sz="2000" dirty="0">
                              <a:effectLst/>
                              <a:latin typeface="Verdana" pitchFamily="34" charset="0"/>
                              <a:ea typeface="Verdana" pitchFamily="34" charset="0"/>
                              <a:cs typeface="Times New Roman" panose="02020603050405020304" pitchFamily="18" charset="0"/>
                            </a:rPr>
                            <a:t> and</a:t>
                          </a:r>
                        </a:p>
                        <a:p>
                          <a:pPr marL="342900" marR="0" indent="0">
                            <a:spcBef>
                              <a:spcPts val="0"/>
                            </a:spcBef>
                            <a:spcAft>
                              <a:spcPts val="0"/>
                            </a:spcAft>
                          </a:pPr>
                          <a14:m>
                            <m:oMathPara xmlns:m="http://schemas.openxmlformats.org/officeDocument/2006/math">
                              <m:oMathParaPr>
                                <m:jc m:val="left"/>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𝐷𝐿</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𝐿𝑌</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𝐷𝑌</m:t>
                                </m:r>
                              </m:oMath>
                            </m:oMathPara>
                          </a14:m>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6. </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6482946"/>
                      </a:ext>
                    </a:extLst>
                  </a:tr>
                </a:tbl>
              </a:graphicData>
            </a:graphic>
          </p:graphicFrame>
        </mc:Choice>
        <mc:Fallback xmlns="">
          <p:graphicFrame>
            <p:nvGraphicFramePr>
              <p:cNvPr id="3" name="Table 2">
                <a:extLst>
                  <a:ext uri="{FF2B5EF4-FFF2-40B4-BE49-F238E27FC236}">
                    <a16:creationId xmlns:a16="http://schemas.microsoft.com/office/drawing/2014/main" id="{6CABC74A-FF90-5F46-B698-AFFACFA2AE42}"/>
                  </a:ext>
                </a:extLst>
              </p:cNvPr>
              <p:cNvGraphicFramePr>
                <a:graphicFrameLocks noGrp="1"/>
              </p:cNvGraphicFramePr>
              <p:nvPr>
                <p:extLst>
                  <p:ext uri="{D42A27DB-BD31-4B8C-83A1-F6EECF244321}">
                    <p14:modId xmlns:p14="http://schemas.microsoft.com/office/powerpoint/2010/main" val="203405318"/>
                  </p:ext>
                </p:extLst>
              </p:nvPr>
            </p:nvGraphicFramePr>
            <p:xfrm>
              <a:off x="1119885" y="2007415"/>
              <a:ext cx="7406640" cy="4329558"/>
            </p:xfrm>
            <a:graphic>
              <a:graphicData uri="http://schemas.openxmlformats.org/drawingml/2006/table">
                <a:tbl>
                  <a:tblPr firstRow="1" firstCol="1" bandRow="1"/>
                  <a:tblGrid>
                    <a:gridCol w="3657600">
                      <a:extLst>
                        <a:ext uri="{9D8B030D-6E8A-4147-A177-3AD203B41FA5}">
                          <a16:colId xmlns:a16="http://schemas.microsoft.com/office/drawing/2014/main" val="3165742238"/>
                        </a:ext>
                      </a:extLst>
                    </a:gridCol>
                    <a:gridCol w="3749040">
                      <a:extLst>
                        <a:ext uri="{9D8B030D-6E8A-4147-A177-3AD203B41FA5}">
                          <a16:colId xmlns:a16="http://schemas.microsoft.com/office/drawing/2014/main" val="69233163"/>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Reason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24185709"/>
                      </a:ext>
                    </a:extLst>
                  </a:tr>
                  <a:tr h="1097979">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7" t="-45000" r="-103000" b="-251667"/>
                          </a:stretch>
                        </a:blipFill>
                      </a:tcPr>
                    </a:tc>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1. Given</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021381"/>
                      </a:ext>
                    </a:extLst>
                  </a:tr>
                  <a:tr h="487680">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2.</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2. </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0866907"/>
                      </a:ext>
                    </a:extLst>
                  </a:tr>
                  <a:tr h="48768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7" t="-420988" r="-103000" b="-360494"/>
                          </a:stretch>
                        </a:blipFill>
                      </a:tcPr>
                    </a:tc>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3. </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2763659"/>
                      </a:ext>
                    </a:extLst>
                  </a:tr>
                  <a:tr h="488379">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7" t="-527500" r="-103000" b="-265000"/>
                          </a:stretch>
                        </a:blipFill>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4. Given</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6867327"/>
                      </a:ext>
                    </a:extLst>
                  </a:tr>
                  <a:tr h="487680">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5.</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5. Definition of Congruence</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7714635"/>
                      </a:ext>
                    </a:extLst>
                  </a:tr>
                  <a:tr h="79248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7" t="-447692" r="-103000" b="-1538"/>
                          </a:stretch>
                        </a:blipFill>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6. </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6482946"/>
                      </a:ext>
                    </a:extLst>
                  </a:tr>
                </a:tbl>
              </a:graphicData>
            </a:graphic>
          </p:graphicFrame>
        </mc:Fallback>
      </mc:AlternateContent>
    </p:spTree>
    <p:extLst>
      <p:ext uri="{BB962C8B-B14F-4D97-AF65-F5344CB8AC3E}">
        <p14:creationId xmlns:p14="http://schemas.microsoft.com/office/powerpoint/2010/main" val="745523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555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id="{3C71DADC-D456-FE41-A041-10145DA5C050}"/>
              </a:ext>
            </a:extLst>
          </p:cNvPr>
          <p:cNvSpPr txBox="1"/>
          <p:nvPr/>
        </p:nvSpPr>
        <p:spPr>
          <a:xfrm>
            <a:off x="8889924" y="645262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6CABC74A-FF90-5F46-B698-AFFACFA2AE42}"/>
                  </a:ext>
                </a:extLst>
              </p:cNvPr>
              <p:cNvGraphicFramePr>
                <a:graphicFrameLocks noGrp="1"/>
              </p:cNvGraphicFramePr>
              <p:nvPr>
                <p:extLst>
                  <p:ext uri="{D42A27DB-BD31-4B8C-83A1-F6EECF244321}">
                    <p14:modId xmlns:p14="http://schemas.microsoft.com/office/powerpoint/2010/main" val="1204752480"/>
                  </p:ext>
                </p:extLst>
              </p:nvPr>
            </p:nvGraphicFramePr>
            <p:xfrm>
              <a:off x="1150561" y="373881"/>
              <a:ext cx="7406640" cy="3231579"/>
            </p:xfrm>
            <a:graphic>
              <a:graphicData uri="http://schemas.openxmlformats.org/drawingml/2006/table">
                <a:tbl>
                  <a:tblPr firstRow="1" firstCol="1" bandRow="1"/>
                  <a:tblGrid>
                    <a:gridCol w="3657600">
                      <a:extLst>
                        <a:ext uri="{9D8B030D-6E8A-4147-A177-3AD203B41FA5}">
                          <a16:colId xmlns:a16="http://schemas.microsoft.com/office/drawing/2014/main" val="3165742238"/>
                        </a:ext>
                      </a:extLst>
                    </a:gridCol>
                    <a:gridCol w="3749040">
                      <a:extLst>
                        <a:ext uri="{9D8B030D-6E8A-4147-A177-3AD203B41FA5}">
                          <a16:colId xmlns:a16="http://schemas.microsoft.com/office/drawing/2014/main" val="69233163"/>
                        </a:ext>
                      </a:extLst>
                    </a:gridCol>
                  </a:tblGrid>
                  <a:tr h="354538">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Reason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24185709"/>
                      </a:ext>
                    </a:extLst>
                  </a:tr>
                  <a:tr h="354538">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7.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𝐴𝐾</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𝐾𝑋</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𝐷𝐿</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𝐿𝑌</m:t>
                              </m:r>
                            </m:oMath>
                          </a14:m>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7. Substitution property </a:t>
                          </a:r>
                        </a:p>
                        <a:p>
                          <a:pPr marL="342900" marR="0" indent="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of</a:t>
                          </a:r>
                          <a:r>
                            <a:rPr lang="en-US" sz="2000" baseline="0" dirty="0">
                              <a:effectLst/>
                              <a:latin typeface="Verdana" pitchFamily="34" charset="0"/>
                              <a:ea typeface="Verdana" pitchFamily="34" charset="0"/>
                              <a:cs typeface="Times New Roman" panose="02020603050405020304" pitchFamily="18" charset="0"/>
                            </a:rPr>
                            <a:t> </a:t>
                          </a:r>
                          <a:r>
                            <a:rPr lang="en-US" sz="2000" dirty="0">
                              <a:effectLst/>
                              <a:latin typeface="Verdana" pitchFamily="34" charset="0"/>
                              <a:ea typeface="Verdana" pitchFamily="34" charset="0"/>
                              <a:cs typeface="Times New Roman" panose="02020603050405020304" pitchFamily="18" charset="0"/>
                            </a:rPr>
                            <a:t>equality</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0707586"/>
                      </a:ext>
                    </a:extLst>
                  </a:tr>
                  <a:tr h="354538">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8.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𝐴𝐾</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𝐴𝐾</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𝐷𝐿</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𝐷𝐿</m:t>
                              </m:r>
                            </m:oMath>
                          </a14:m>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8.</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601794"/>
                      </a:ext>
                    </a:extLst>
                  </a:tr>
                  <a:tr h="354538">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9.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𝐴𝐾</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=2</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𝐷𝐿</m:t>
                              </m:r>
                            </m:oMath>
                          </a14:m>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9.</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9955537"/>
                      </a:ext>
                    </a:extLst>
                  </a:tr>
                  <a:tr h="354538">
                    <a:tc>
                      <a:txBody>
                        <a:bodyPr/>
                        <a:lstStyle/>
                        <a:p>
                          <a:pPr marL="0" marR="0">
                            <a:spcBef>
                              <a:spcPts val="0"/>
                            </a:spcBef>
                            <a:spcAft>
                              <a:spcPts val="0"/>
                            </a:spcAft>
                          </a:pPr>
                          <a:r>
                            <a:rPr lang="en-US" sz="2000">
                              <a:effectLst/>
                              <a:latin typeface="Verdana" pitchFamily="34" charset="0"/>
                              <a:ea typeface="Verdana" pitchFamily="34" charset="0"/>
                              <a:cs typeface="Times New Roman" panose="02020603050405020304" pitchFamily="18" charset="0"/>
                            </a:rPr>
                            <a:t>10.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𝐴𝐾</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𝐷𝐿</m:t>
                              </m:r>
                            </m:oMath>
                          </a14:m>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10.</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9520426"/>
                      </a:ext>
                    </a:extLst>
                  </a:tr>
                  <a:tr h="354538">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11. </a:t>
                          </a:r>
                          <a14:m>
                            <m:oMath xmlns:m="http://schemas.openxmlformats.org/officeDocument/2006/math">
                              <m:acc>
                                <m:accPr>
                                  <m:chr m:val="̅"/>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𝐴𝐾</m:t>
                                  </m:r>
                                </m:e>
                              </m:acc>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acc>
                                <m:accPr>
                                  <m:chr m:val="̅"/>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accPr>
                                <m:e>
                                  <m:r>
                                    <a:rPr lang="en-US" sz="2000" i="1">
                                      <a:effectLst/>
                                      <a:latin typeface="Cambria Math" panose="02040503050406030204" pitchFamily="18" charset="0"/>
                                      <a:ea typeface="Helvetica Neue" panose="02000503000000020004" pitchFamily="2" charset="0"/>
                                      <a:cs typeface="Helvetica Neue" panose="02000503000000020004" pitchFamily="2" charset="0"/>
                                    </a:rPr>
                                    <m:t>𝐷𝐿</m:t>
                                  </m:r>
                                </m:e>
                              </m:acc>
                            </m:oMath>
                          </a14:m>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11.</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7993272"/>
                      </a:ext>
                    </a:extLst>
                  </a:tr>
                </a:tbl>
              </a:graphicData>
            </a:graphic>
          </p:graphicFrame>
        </mc:Choice>
        <mc:Fallback xmlns="">
          <p:graphicFrame>
            <p:nvGraphicFramePr>
              <p:cNvPr id="9" name="Table 8">
                <a:extLst>
                  <a:ext uri="{FF2B5EF4-FFF2-40B4-BE49-F238E27FC236}">
                    <a16:creationId xmlns:a16="http://schemas.microsoft.com/office/drawing/2014/main" id="{6CABC74A-FF90-5F46-B698-AFFACFA2AE42}"/>
                  </a:ext>
                </a:extLst>
              </p:cNvPr>
              <p:cNvGraphicFramePr>
                <a:graphicFrameLocks noGrp="1"/>
              </p:cNvGraphicFramePr>
              <p:nvPr>
                <p:extLst>
                  <p:ext uri="{D42A27DB-BD31-4B8C-83A1-F6EECF244321}">
                    <p14:modId xmlns:p14="http://schemas.microsoft.com/office/powerpoint/2010/main" val="1204752480"/>
                  </p:ext>
                </p:extLst>
              </p:nvPr>
            </p:nvGraphicFramePr>
            <p:xfrm>
              <a:off x="1150561" y="373881"/>
              <a:ext cx="7406640" cy="3231579"/>
            </p:xfrm>
            <a:graphic>
              <a:graphicData uri="http://schemas.openxmlformats.org/drawingml/2006/table">
                <a:tbl>
                  <a:tblPr firstRow="1" firstCol="1" bandRow="1"/>
                  <a:tblGrid>
                    <a:gridCol w="3657600">
                      <a:extLst>
                        <a:ext uri="{9D8B030D-6E8A-4147-A177-3AD203B41FA5}">
                          <a16:colId xmlns:a16="http://schemas.microsoft.com/office/drawing/2014/main" val="3165742238"/>
                        </a:ext>
                      </a:extLst>
                    </a:gridCol>
                    <a:gridCol w="3749040">
                      <a:extLst>
                        <a:ext uri="{9D8B030D-6E8A-4147-A177-3AD203B41FA5}">
                          <a16:colId xmlns:a16="http://schemas.microsoft.com/office/drawing/2014/main" val="69233163"/>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Statement</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Reason</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24185709"/>
                      </a:ext>
                    </a:extLst>
                  </a:tr>
                  <a:tr h="79248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67" t="-62308" r="-103000" b="-254615"/>
                          </a:stretch>
                        </a:blipFill>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7. Substitution property </a:t>
                          </a:r>
                        </a:p>
                        <a:p>
                          <a:pPr marL="342900" marR="0" indent="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of</a:t>
                          </a:r>
                          <a:r>
                            <a:rPr lang="en-US" sz="2000" baseline="0" dirty="0">
                              <a:effectLst/>
                              <a:latin typeface="Verdana" pitchFamily="34" charset="0"/>
                              <a:ea typeface="Verdana" pitchFamily="34" charset="0"/>
                              <a:cs typeface="Times New Roman" panose="02020603050405020304" pitchFamily="18" charset="0"/>
                            </a:rPr>
                            <a:t> </a:t>
                          </a:r>
                          <a:r>
                            <a:rPr lang="en-US" sz="2000" dirty="0">
                              <a:effectLst/>
                              <a:latin typeface="Verdana" pitchFamily="34" charset="0"/>
                              <a:ea typeface="Verdana" pitchFamily="34" charset="0"/>
                              <a:cs typeface="Times New Roman" panose="02020603050405020304" pitchFamily="18" charset="0"/>
                            </a:rPr>
                            <a:t>equality</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0707586"/>
                      </a:ext>
                    </a:extLst>
                  </a:tr>
                  <a:tr h="48768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67" t="-263750" r="-103000" b="-313750"/>
                          </a:stretch>
                        </a:blipFill>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8.</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601794"/>
                      </a:ext>
                    </a:extLst>
                  </a:tr>
                  <a:tr h="48768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67" t="-359259" r="-103000" b="-209877"/>
                          </a:stretch>
                        </a:blipFill>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9.</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9955537"/>
                      </a:ext>
                    </a:extLst>
                  </a:tr>
                  <a:tr h="48768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67" t="-465000" r="-103000" b="-112500"/>
                          </a:stretch>
                        </a:blipFill>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10.</a:t>
                          </a:r>
                          <a:endParaRPr lang="x-none" sz="200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9520426"/>
                      </a:ext>
                    </a:extLst>
                  </a:tr>
                  <a:tr h="488379">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67" t="-565000" r="-103000" b="-12500"/>
                          </a:stretch>
                        </a:blipFill>
                      </a:tcPr>
                    </a:tc>
                    <a:tc>
                      <a:txBody>
                        <a:bodyPr/>
                        <a:lstStyle/>
                        <a:p>
                          <a:pPr marL="0" marR="0">
                            <a:spcBef>
                              <a:spcPts val="0"/>
                            </a:spcBef>
                            <a:spcAft>
                              <a:spcPts val="0"/>
                            </a:spcAft>
                          </a:pPr>
                          <a:r>
                            <a:rPr lang="en-US" sz="2000" dirty="0">
                              <a:effectLst/>
                              <a:latin typeface="Verdana" pitchFamily="34" charset="0"/>
                              <a:ea typeface="Verdana" pitchFamily="34" charset="0"/>
                              <a:cs typeface="Times New Roman" panose="02020603050405020304" pitchFamily="18" charset="0"/>
                            </a:rPr>
                            <a:t>11.</a:t>
                          </a:r>
                          <a:endParaRPr lang="x-none" sz="2000" dirty="0">
                            <a:effectLst/>
                            <a:latin typeface="Verdana" pitchFamily="34" charset="0"/>
                            <a:ea typeface="Verdana" pitchFamily="34" charset="0"/>
                            <a:cs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7993272"/>
                      </a:ext>
                    </a:extLst>
                  </a:tr>
                </a:tbl>
              </a:graphicData>
            </a:graphic>
          </p:graphicFrame>
        </mc:Fallback>
      </mc:AlternateContent>
    </p:spTree>
    <p:extLst>
      <p:ext uri="{BB962C8B-B14F-4D97-AF65-F5344CB8AC3E}">
        <p14:creationId xmlns:p14="http://schemas.microsoft.com/office/powerpoint/2010/main" val="2244431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1F83D629-FF1F-D44F-B8D2-1522CBA4FA89}"/>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121</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110775"/>
            <a:ext cx="8019300" cy="6628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2.8.5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855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679000" y="1082844"/>
            <a:ext cx="10844924"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Write a summary of what you learned in this lesson.</a:t>
            </a:r>
          </a:p>
        </p:txBody>
      </p:sp>
      <p:sp>
        <p:nvSpPr>
          <p:cNvPr id="10" name="Google Shape;278;g104476d1465_1_17">
            <a:extLst>
              <a:ext uri="{FF2B5EF4-FFF2-40B4-BE49-F238E27FC236}">
                <a16:creationId xmlns:a16="http://schemas.microsoft.com/office/drawing/2014/main" id="{69767437-9B0B-9D43-A596-1373A90D9FE8}"/>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a:extLst>
              <a:ext uri="{FF2B5EF4-FFF2-40B4-BE49-F238E27FC236}">
                <a16:creationId xmlns:a16="http://schemas.microsoft.com/office/drawing/2014/main" id="{98D71D64-38ED-004F-9958-64A0ED6BE30F}"/>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121</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1362</TotalTime>
  <Words>933</Words>
  <Application>Microsoft Office PowerPoint</Application>
  <PresentationFormat>Widescreen</PresentationFormat>
  <Paragraphs>167</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Verdana</vt:lpstr>
      <vt:lpstr>Century Gothic</vt:lpstr>
      <vt:lpstr>Arial</vt:lpstr>
      <vt:lpstr>Cambria Math</vt:lpstr>
      <vt:lpstr>Wingdings</vt:lpstr>
      <vt:lpstr>Calibri</vt:lpstr>
      <vt:lpstr>Cambria</vt:lpstr>
      <vt:lpstr>Arial Black</vt:lpstr>
      <vt:lpstr>1_Office Theme</vt:lpstr>
      <vt:lpstr>Geometry  Unit 2, Lesson 8  Proofs – Part 2  Volume 1, pg. 116  </vt:lpstr>
      <vt:lpstr>Benchmarks</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34</cp:revision>
  <dcterms:created xsi:type="dcterms:W3CDTF">2015-03-17T18:51:18Z</dcterms:created>
  <dcterms:modified xsi:type="dcterms:W3CDTF">2022-07-28T02:03:26Z</dcterms:modified>
</cp:coreProperties>
</file>