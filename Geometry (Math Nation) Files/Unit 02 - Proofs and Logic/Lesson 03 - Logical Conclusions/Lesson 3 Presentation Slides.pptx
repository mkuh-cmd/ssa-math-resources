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85" r:id="rId4"/>
    <p:sldId id="286" r:id="rId5"/>
    <p:sldId id="261" r:id="rId6"/>
    <p:sldId id="287" r:id="rId7"/>
    <p:sldId id="314" r:id="rId8"/>
    <p:sldId id="315" r:id="rId9"/>
    <p:sldId id="316" r:id="rId10"/>
    <p:sldId id="320" r:id="rId11"/>
    <p:sldId id="288" r:id="rId12"/>
    <p:sldId id="321" r:id="rId13"/>
    <p:sldId id="322" r:id="rId14"/>
    <p:sldId id="323" r:id="rId15"/>
    <p:sldId id="317" r:id="rId16"/>
    <p:sldId id="318" r:id="rId17"/>
    <p:sldId id="306" r:id="rId18"/>
    <p:sldId id="307" r:id="rId19"/>
  </p:sldIdLst>
  <p:sldSz cx="12192000" cy="6858000"/>
  <p:notesSz cx="6858000" cy="9144000"/>
  <p:embeddedFontLst>
    <p:embeddedFont>
      <p:font typeface="Arial Black" panose="020B0A04020102020204" pitchFamily="34" charset="0"/>
      <p:bold r:id="rId21"/>
    </p:embeddedFont>
    <p:embeddedFont>
      <p:font typeface="Calibri" panose="020F0502020204030204" pitchFamily="34" charset="0"/>
      <p:regular r:id="rId22"/>
      <p:bold r:id="rId23"/>
      <p:italic r:id="rId24"/>
      <p:boldItalic r:id="rId25"/>
    </p:embeddedFont>
    <p:embeddedFont>
      <p:font typeface="Cambria Math" panose="02040503050406030204" pitchFamily="18" charset="0"/>
      <p:regular r:id="rId26"/>
    </p:embeddedFont>
    <p:embeddedFont>
      <p:font typeface="Century Gothic" panose="020B0502020202020204" pitchFamily="34" charset="0"/>
      <p:regular r:id="rId27"/>
      <p:bold r:id="rId28"/>
      <p:italic r:id="rId29"/>
      <p:boldItalic r:id="rId30"/>
    </p:embeddedFont>
    <p:embeddedFont>
      <p:font typeface="Verdana" panose="020B060403050404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B7B1"/>
    <a:srgbClr val="45C3B6"/>
    <a:srgbClr val="54B5D1"/>
    <a:srgbClr val="26B7D4"/>
    <a:srgbClr val="2DA48F"/>
    <a:srgbClr val="33BEA6"/>
    <a:srgbClr val="F79647"/>
    <a:srgbClr val="FCBD1E"/>
    <a:srgbClr val="C9DF6F"/>
    <a:srgbClr val="417D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44" autoAdjust="0"/>
    <p:restoredTop sz="94754"/>
  </p:normalViewPr>
  <p:slideViewPr>
    <p:cSldViewPr snapToGrid="0">
      <p:cViewPr varScale="1">
        <p:scale>
          <a:sx n="83" d="100"/>
          <a:sy n="83" d="100"/>
        </p:scale>
        <p:origin x="1075"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4834897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88293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13461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72895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4722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3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Logical Conclusions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94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324"/>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MA.912.LT.4.10</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Judge the validity of arguments and give counterexamples to disprove statements.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37892"/>
            <a:ext cx="845552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EB283530-FF6E-6847-9B1A-378FD4A1AC9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2808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65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complete an argument that leads to a logical conclusion.</a:t>
            </a:r>
          </a:p>
          <a:p>
            <a:pPr marL="536575" indent="-536575">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36575" indent="-5365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determine if an argument leads to a logical conclusion.</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a:extLst>
              <a:ext uri="{FF2B5EF4-FFF2-40B4-BE49-F238E27FC236}">
                <a16:creationId xmlns:a16="http://schemas.microsoft.com/office/drawing/2014/main" id="{B40E3FA7-03B2-BA4A-A6E7-5CE6D482AEC2}"/>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00673DE4-9B46-6440-8338-68863523FA0C}"/>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83915"/>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2.3.1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93248" y="1194556"/>
                <a:ext cx="10930676" cy="378565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Students at Cypress Bay High School must have a </a:t>
                </a:r>
                <a14:m>
                  <m:oMath xmlns:m="http://schemas.openxmlformats.org/officeDocument/2006/math">
                    <m:r>
                      <a:rPr lang="en-US" sz="2000" i="1">
                        <a:latin typeface="Cambria Math"/>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grade point average in order to participate in sports. Oliver has a </a:t>
                </a:r>
                <a14:m>
                  <m:oMath xmlns:m="http://schemas.openxmlformats.org/officeDocument/2006/math">
                    <m:r>
                      <a:rPr lang="en-US" sz="2000" i="1">
                        <a:latin typeface="Cambria Math"/>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grade point average. Oliver can play lacrosse for the Cypress Bay Lighting.</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Determine whether the scenario uses deductive or inductive reasoning.</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Write a counterexample for the given statement.</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889000"/>
                <a:r>
                  <a:rPr lang="en-US" sz="20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latin typeface="Cambria Math"/>
                      </a:rPr>
                      <m:t>∠</m:t>
                    </m:r>
                    <m:r>
                      <a:rPr lang="en-US" sz="2000" i="1">
                        <a:latin typeface="Cambria Math"/>
                      </a:rPr>
                      <m:t>𝐶𝑅𝐾</m:t>
                    </m:r>
                  </m:oMath>
                </a14:m>
                <a:r>
                  <a:rPr lang="en-US" sz="2000" dirty="0">
                    <a:latin typeface="Verdana" panose="020B0604030504040204" pitchFamily="34" charset="0"/>
                    <a:ea typeface="Verdana" panose="020B0604030504040204" pitchFamily="34" charset="0"/>
                    <a:cs typeface="Verdana" panose="020B0604030504040204" pitchFamily="34" charset="0"/>
                  </a:rPr>
                  <a:t> is an acute angle, then </a:t>
                </a:r>
                <a14:m>
                  <m:oMath xmlns:m="http://schemas.openxmlformats.org/officeDocument/2006/math">
                    <m:r>
                      <a:rPr lang="en-US" sz="2000" i="1">
                        <a:latin typeface="Cambria Math"/>
                      </a:rPr>
                      <m:t>𝑚</m:t>
                    </m:r>
                    <m:r>
                      <a:rPr lang="en-US" sz="2000" i="1">
                        <a:latin typeface="Cambria Math"/>
                      </a:rPr>
                      <m:t>∠</m:t>
                    </m:r>
                    <m:r>
                      <a:rPr lang="en-US" sz="2000" i="1">
                        <a:latin typeface="Cambria Math"/>
                      </a:rPr>
                      <m:t>𝐶𝑅𝐾</m:t>
                    </m:r>
                    <m:r>
                      <a:rPr lang="en-US" sz="2000" i="1">
                        <a:latin typeface="Cambria Math"/>
                      </a:rPr>
                      <m:t>=84°</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93248" y="1194556"/>
                <a:ext cx="10930676" cy="3785652"/>
              </a:xfrm>
              <a:prstGeom prst="rect">
                <a:avLst/>
              </a:prstGeom>
              <a:blipFill>
                <a:blip r:embed="rId5"/>
                <a:stretch>
                  <a:fillRect l="-613" t="-1127" b="-1932"/>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013AF668-6B4E-6E41-903B-5F3CBD7DE7CB}"/>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94</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BD799723-14D4-B44F-B48B-D137BFE1639C}"/>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8550"/>
            <a:ext cx="10575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2.3.2 Collaboration: Logical Arguments Using UNO</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564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93248" y="1394251"/>
                <a:ext cx="11034902"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the game of UNO, there are </a:t>
                </a:r>
                <a14:m>
                  <m:oMath xmlns:m="http://schemas.openxmlformats.org/officeDocument/2006/math">
                    <m:r>
                      <a:rPr lang="en-US" sz="2400" i="1" dirty="0">
                        <a:latin typeface="Cambria Math"/>
                        <a:ea typeface="Verdana" panose="020B0604030504040204" pitchFamily="34" charset="0"/>
                        <a:cs typeface="Verdana" panose="020B0604030504040204" pitchFamily="34" charset="0"/>
                      </a:rPr>
                      <m:t>112 </m:t>
                    </m:r>
                  </m:oMath>
                </a14:m>
                <a:r>
                  <a:rPr lang="en-US" sz="2400" dirty="0">
                    <a:latin typeface="Verdana" panose="020B0604030504040204" pitchFamily="34" charset="0"/>
                    <a:ea typeface="Verdana" panose="020B0604030504040204" pitchFamily="34" charset="0"/>
                    <a:cs typeface="Verdana" panose="020B0604030504040204" pitchFamily="34" charset="0"/>
                  </a:rPr>
                  <a:t>cards. There are four sets of color cards: blue, green, red, and yellow, with digits </a:t>
                </a:r>
                <a14:m>
                  <m:oMath xmlns:m="http://schemas.openxmlformats.org/officeDocument/2006/math">
                    <m:r>
                      <a:rPr lang="en-US" sz="2400" i="1">
                        <a:latin typeface="Cambria Math"/>
                      </a:rPr>
                      <m:t>0</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a:latin typeface="Cambria Math"/>
                      </a:rPr>
                      <m:t>9</m:t>
                    </m:r>
                  </m:oMath>
                </a14:m>
                <a:r>
                  <a:rPr lang="en-US" sz="2400" dirty="0">
                    <a:latin typeface="Verdana" panose="020B0604030504040204" pitchFamily="34" charset="0"/>
                    <a:ea typeface="Verdana" panose="020B0604030504040204" pitchFamily="34" charset="0"/>
                    <a:cs typeface="Verdana" panose="020B0604030504040204" pitchFamily="34" charset="0"/>
                  </a:rPr>
                  <a:t>. Each color has three types of specialty cards: Skip, Reverse, and Draw </a:t>
                </a:r>
                <a14:m>
                  <m:oMath xmlns:m="http://schemas.openxmlformats.org/officeDocument/2006/math">
                    <m:r>
                      <a:rPr lang="en-US" sz="2400" i="1" dirty="0">
                        <a:latin typeface="Cambria Math"/>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There are two types of Wild cards: Wild and Wild Draw </a:t>
                </a:r>
                <a14:m>
                  <m:oMath xmlns:m="http://schemas.openxmlformats.org/officeDocument/2006/math">
                    <m:r>
                      <a:rPr lang="en-US" sz="2400" i="1" dirty="0">
                        <a:latin typeface="Cambria Math"/>
                        <a:ea typeface="Verdana" panose="020B0604030504040204" pitchFamily="34" charset="0"/>
                        <a:cs typeface="Verdana" panose="020B0604030504040204" pitchFamily="34"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For each player’s turn, the player matches the top card on the discard pile either by number, color, or word. If the player doesn’t have anything that matches, they must pick a card from the draw pile. If the player draws a card that can be played, then the player plays that card.</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3248" y="1394251"/>
                <a:ext cx="11034902" cy="3785652"/>
              </a:xfrm>
              <a:prstGeom prst="rect">
                <a:avLst/>
              </a:prstGeom>
              <a:blipFill>
                <a:blip r:embed="rId5"/>
                <a:stretch>
                  <a:fillRect l="-828" t="-1449" r="-1380" b="-2738"/>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6A18DD6C-446D-A641-972C-BC7EF386945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034153ED-91F0-D24D-9FEE-71EC44DDA03B}"/>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AA35BC6-D428-FC41-BDE5-6438AB8840FC}"/>
              </a:ext>
            </a:extLst>
          </p:cNvPr>
          <p:cNvSpPr txBox="1"/>
          <p:nvPr/>
        </p:nvSpPr>
        <p:spPr>
          <a:xfrm>
            <a:off x="509034" y="379260"/>
            <a:ext cx="11119115"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determine if the series of steps is possible in the game. Each statement represents a card played.</a:t>
            </a:r>
          </a:p>
        </p:txBody>
      </p:sp>
      <p:sp>
        <p:nvSpPr>
          <p:cNvPr id="7" name="Google Shape;278;g104476d1465_1_17">
            <a:extLst>
              <a:ext uri="{FF2B5EF4-FFF2-40B4-BE49-F238E27FC236}">
                <a16:creationId xmlns:a16="http://schemas.microsoft.com/office/drawing/2014/main" id="{C2F4C951-E46B-E944-87E2-3B81D09643B6}"/>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58E014B-5231-654E-9864-2BE1E20931A1}"/>
                  </a:ext>
                </a:extLst>
              </p:cNvPr>
              <p:cNvGraphicFramePr>
                <a:graphicFrameLocks noGrp="1"/>
              </p:cNvGraphicFramePr>
              <p:nvPr>
                <p:extLst>
                  <p:ext uri="{D42A27DB-BD31-4B8C-83A1-F6EECF244321}">
                    <p14:modId xmlns:p14="http://schemas.microsoft.com/office/powerpoint/2010/main" val="3811619917"/>
                  </p:ext>
                </p:extLst>
              </p:nvPr>
            </p:nvGraphicFramePr>
            <p:xfrm>
              <a:off x="1178351" y="1779923"/>
              <a:ext cx="7200000" cy="3168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3195596007"/>
                        </a:ext>
                      </a:extLst>
                    </a:gridCol>
                    <a:gridCol w="4320000">
                      <a:extLst>
                        <a:ext uri="{9D8B030D-6E8A-4147-A177-3AD203B41FA5}">
                          <a16:colId xmlns:a16="http://schemas.microsoft.com/office/drawing/2014/main" val="3716392756"/>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82326168"/>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Green </a:t>
                          </a:r>
                          <a14:m>
                            <m:oMath xmlns:m="http://schemas.openxmlformats.org/officeDocument/2006/math">
                              <m:r>
                                <a:rPr lang="en-US" sz="2000">
                                  <a:effectLst/>
                                  <a:latin typeface="Cambria Math"/>
                                </a:rPr>
                                <m:t>8</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54045"/>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Blue </a:t>
                          </a:r>
                          <a14:m>
                            <m:oMath xmlns:m="http://schemas.openxmlformats.org/officeDocument/2006/math">
                              <m:r>
                                <a:rPr lang="en-US" sz="2000">
                                  <a:effectLst/>
                                  <a:latin typeface="Cambria Math"/>
                                </a:rPr>
                                <m:t>8</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5283727"/>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Blue </a:t>
                          </a:r>
                          <a14:m>
                            <m:oMath xmlns:m="http://schemas.openxmlformats.org/officeDocument/2006/math">
                              <m:r>
                                <a:rPr lang="en-US" sz="2000">
                                  <a:effectLst/>
                                  <a:latin typeface="Cambria Math"/>
                                </a:rPr>
                                <m:t>3</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176440"/>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Wild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Changes color to yellow</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155804"/>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Yellow Skip</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4910841"/>
                      </a:ext>
                    </a:extLst>
                  </a:tr>
                </a:tbl>
              </a:graphicData>
            </a:graphic>
          </p:graphicFrame>
        </mc:Choice>
        <mc:Fallback xmlns="">
          <p:graphicFrame>
            <p:nvGraphicFramePr>
              <p:cNvPr id="2" name="Table 1">
                <a:extLst>
                  <a:ext uri="{FF2B5EF4-FFF2-40B4-BE49-F238E27FC236}">
                    <a16:creationId xmlns:a16="http://schemas.microsoft.com/office/drawing/2014/main" id="{D58E014B-5231-654E-9864-2BE1E20931A1}"/>
                  </a:ext>
                </a:extLst>
              </p:cNvPr>
              <p:cNvGraphicFramePr>
                <a:graphicFrameLocks noGrp="1"/>
              </p:cNvGraphicFramePr>
              <p:nvPr>
                <p:extLst>
                  <p:ext uri="{D42A27DB-BD31-4B8C-83A1-F6EECF244321}">
                    <p14:modId xmlns:p14="http://schemas.microsoft.com/office/powerpoint/2010/main" val="3811619917"/>
                  </p:ext>
                </p:extLst>
              </p:nvPr>
            </p:nvGraphicFramePr>
            <p:xfrm>
              <a:off x="1178351" y="1779923"/>
              <a:ext cx="7200000" cy="3168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3195596007"/>
                        </a:ext>
                      </a:extLst>
                    </a:gridCol>
                    <a:gridCol w="4320000">
                      <a:extLst>
                        <a:ext uri="{9D8B030D-6E8A-4147-A177-3AD203B41FA5}">
                          <a16:colId xmlns:a16="http://schemas.microsoft.com/office/drawing/2014/main" val="3716392756"/>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82326168"/>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23" t="-87640" r="-150529" b="-405618"/>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54045"/>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23" t="-187640" r="-150529" b="-305618"/>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5283727"/>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23" t="-290909" r="-150529" b="-209091"/>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176440"/>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Wild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Changes color to yellow</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3155804"/>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Yellow Skip</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4910841"/>
                      </a:ext>
                    </a:extLst>
                  </a:tr>
                </a:tbl>
              </a:graphicData>
            </a:graphic>
          </p:graphicFrame>
        </mc:Fallback>
      </mc:AlternateContent>
      <p:sp>
        <p:nvSpPr>
          <p:cNvPr id="8" name="Google Shape;282;g104476d1465_1_17">
            <a:extLst>
              <a:ext uri="{FF2B5EF4-FFF2-40B4-BE49-F238E27FC236}">
                <a16:creationId xmlns:a16="http://schemas.microsoft.com/office/drawing/2014/main" id="{F0265B55-E061-6B42-9FB7-F4F5B92EE55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09034" y="381474"/>
            <a:ext cx="9767729"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Add three additional statements and provide the reason.</a:t>
            </a: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DAE268D3-BC85-1543-993C-AEDA54794278}"/>
              </a:ext>
            </a:extLst>
          </p:cNvPr>
          <p:cNvGraphicFramePr>
            <a:graphicFrameLocks noGrp="1"/>
          </p:cNvGraphicFramePr>
          <p:nvPr>
            <p:extLst>
              <p:ext uri="{D42A27DB-BD31-4B8C-83A1-F6EECF244321}">
                <p14:modId xmlns:p14="http://schemas.microsoft.com/office/powerpoint/2010/main" val="1812177977"/>
              </p:ext>
            </p:extLst>
          </p:nvPr>
        </p:nvGraphicFramePr>
        <p:xfrm>
          <a:off x="1104133" y="1345050"/>
          <a:ext cx="7200000" cy="2088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981587287"/>
                    </a:ext>
                  </a:extLst>
                </a:gridCol>
                <a:gridCol w="4320000">
                  <a:extLst>
                    <a:ext uri="{9D8B030D-6E8A-4147-A177-3AD203B41FA5}">
                      <a16:colId xmlns:a16="http://schemas.microsoft.com/office/drawing/2014/main" val="346245818"/>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636461215"/>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518766"/>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951329"/>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8.</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8.</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1548468"/>
                  </a:ext>
                </a:extLst>
              </a:tr>
            </a:tbl>
          </a:graphicData>
        </a:graphic>
      </p:graphicFrame>
      <p:sp>
        <p:nvSpPr>
          <p:cNvPr id="8" name="Google Shape;282;g104476d1465_1_17">
            <a:extLst>
              <a:ext uri="{FF2B5EF4-FFF2-40B4-BE49-F238E27FC236}">
                <a16:creationId xmlns:a16="http://schemas.microsoft.com/office/drawing/2014/main" id="{F780D6A2-274D-8D40-9AEC-E4BFD33E0225}"/>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p:sp>
        <p:nvSpPr>
          <p:cNvPr id="4" name="Rectangle 3"/>
          <p:cNvSpPr/>
          <p:nvPr/>
        </p:nvSpPr>
        <p:spPr>
          <a:xfrm>
            <a:off x="509035" y="3924111"/>
            <a:ext cx="10518356" cy="461665"/>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Ask your partner to verify that your steps are valid.</a:t>
            </a:r>
          </a:p>
        </p:txBody>
      </p:sp>
    </p:spTree>
    <p:extLst>
      <p:ext uri="{BB962C8B-B14F-4D97-AF65-F5344CB8AC3E}">
        <p14:creationId xmlns:p14="http://schemas.microsoft.com/office/powerpoint/2010/main" val="448359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09034" y="381474"/>
            <a:ext cx="11119115" cy="5632311"/>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The series of steps shown is not possible. Correct the error.</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Ensure that you and your partner found the same error and that the corrections are both correct.</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09277AC-5B4A-764C-B69C-53901CF885C5}"/>
                  </a:ext>
                </a:extLst>
              </p:cNvPr>
              <p:cNvGraphicFramePr>
                <a:graphicFrameLocks noGrp="1"/>
              </p:cNvGraphicFramePr>
              <p:nvPr>
                <p:extLst>
                  <p:ext uri="{D42A27DB-BD31-4B8C-83A1-F6EECF244321}">
                    <p14:modId xmlns:p14="http://schemas.microsoft.com/office/powerpoint/2010/main" val="4264825250"/>
                  </p:ext>
                </p:extLst>
              </p:nvPr>
            </p:nvGraphicFramePr>
            <p:xfrm>
              <a:off x="1185293" y="881161"/>
              <a:ext cx="7200000" cy="370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397179699"/>
                        </a:ext>
                      </a:extLst>
                    </a:gridCol>
                    <a:gridCol w="3960000">
                      <a:extLst>
                        <a:ext uri="{9D8B030D-6E8A-4147-A177-3AD203B41FA5}">
                          <a16:colId xmlns:a16="http://schemas.microsoft.com/office/drawing/2014/main" val="402957568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81433513"/>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Red </a:t>
                          </a:r>
                          <a14:m>
                            <m:oMath xmlns:m="http://schemas.openxmlformats.org/officeDocument/2006/math">
                              <m:r>
                                <a:rPr lang="en-US" sz="2000">
                                  <a:effectLst/>
                                  <a:latin typeface="Cambria Math"/>
                                </a:rPr>
                                <m:t>4</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949535"/>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Red </a:t>
                          </a:r>
                          <a14:m>
                            <m:oMath xmlns:m="http://schemas.openxmlformats.org/officeDocument/2006/math">
                              <m:r>
                                <a:rPr lang="en-US" sz="2000">
                                  <a:effectLst/>
                                  <a:latin typeface="Cambria Math"/>
                                </a:rPr>
                                <m:t>9</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6670426"/>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Yellow </a:t>
                          </a:r>
                          <a14:m>
                            <m:oMath xmlns:m="http://schemas.openxmlformats.org/officeDocument/2006/math">
                              <m:r>
                                <a:rPr lang="en-US" sz="2000">
                                  <a:effectLst/>
                                  <a:latin typeface="Cambria Math"/>
                                </a:rPr>
                                <m:t>9</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203735"/>
                      </a:ext>
                    </a:extLst>
                  </a:tr>
                  <a:tr h="540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4. Green </a:t>
                          </a:r>
                          <a14:m>
                            <m:oMath xmlns:m="http://schemas.openxmlformats.org/officeDocument/2006/math">
                              <m:r>
                                <a:rPr lang="en-US" sz="2000">
                                  <a:effectLst/>
                                  <a:latin typeface="Cambria Math"/>
                                </a:rPr>
                                <m:t>4</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4. Changes color to green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8517243"/>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Red </a:t>
                          </a:r>
                          <a14:m>
                            <m:oMath xmlns:m="http://schemas.openxmlformats.org/officeDocument/2006/math">
                              <m:r>
                                <a:rPr lang="en-US" sz="2000">
                                  <a:effectLst/>
                                  <a:latin typeface="Cambria Math"/>
                                </a:rPr>
                                <m:t>4</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5.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779597"/>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Red Reverse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3533123"/>
                      </a:ext>
                    </a:extLst>
                  </a:tr>
                </a:tbl>
              </a:graphicData>
            </a:graphic>
          </p:graphicFrame>
        </mc:Choice>
        <mc:Fallback xmlns="">
          <p:graphicFrame>
            <p:nvGraphicFramePr>
              <p:cNvPr id="2" name="Table 1">
                <a:extLst>
                  <a:ext uri="{FF2B5EF4-FFF2-40B4-BE49-F238E27FC236}">
                    <a16:creationId xmlns:a16="http://schemas.microsoft.com/office/drawing/2014/main" id="{509277AC-5B4A-764C-B69C-53901CF885C5}"/>
                  </a:ext>
                </a:extLst>
              </p:cNvPr>
              <p:cNvGraphicFramePr>
                <a:graphicFrameLocks noGrp="1"/>
              </p:cNvGraphicFramePr>
              <p:nvPr>
                <p:extLst>
                  <p:ext uri="{D42A27DB-BD31-4B8C-83A1-F6EECF244321}">
                    <p14:modId xmlns:p14="http://schemas.microsoft.com/office/powerpoint/2010/main" val="4264825250"/>
                  </p:ext>
                </p:extLst>
              </p:nvPr>
            </p:nvGraphicFramePr>
            <p:xfrm>
              <a:off x="1185293" y="881161"/>
              <a:ext cx="7200000" cy="370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397179699"/>
                        </a:ext>
                      </a:extLst>
                    </a:gridCol>
                    <a:gridCol w="3960000">
                      <a:extLst>
                        <a:ext uri="{9D8B030D-6E8A-4147-A177-3AD203B41FA5}">
                          <a16:colId xmlns:a16="http://schemas.microsoft.com/office/drawing/2014/main" val="402957568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81433513"/>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76" t="-88764" r="-122744" b="-504494"/>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949535"/>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76" t="-190909" r="-122744" b="-410227"/>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6670426"/>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76" t="-287640" r="-122744" b="-305618"/>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203735"/>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76" t="-387640" r="-122744" b="-205618"/>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4. Changes color to green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8517243"/>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76" t="-493182" r="-122744" b="-107955"/>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5.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779597"/>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Red Reverse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3533123"/>
                      </a:ext>
                    </a:extLst>
                  </a:tr>
                </a:tbl>
              </a:graphicData>
            </a:graphic>
          </p:graphicFrame>
        </mc:Fallback>
      </mc:AlternateContent>
      <p:sp>
        <p:nvSpPr>
          <p:cNvPr id="8" name="Google Shape;282;g104476d1465_1_17">
            <a:extLst>
              <a:ext uri="{FF2B5EF4-FFF2-40B4-BE49-F238E27FC236}">
                <a16:creationId xmlns:a16="http://schemas.microsoft.com/office/drawing/2014/main" id="{387C2ADC-5D55-AC4B-AAEC-4A5D29E1F94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509034" y="386607"/>
            <a:ext cx="11405461" cy="501675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Yolanda made the following corrections.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Explain why you or your partner’s corrections may not match Yolanda’s corrections.</a:t>
            </a: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DED54167-B215-5545-90AE-E4A37368765C}"/>
                  </a:ext>
                </a:extLst>
              </p:cNvPr>
              <p:cNvGraphicFramePr>
                <a:graphicFrameLocks noGrp="1"/>
              </p:cNvGraphicFramePr>
              <p:nvPr>
                <p:extLst>
                  <p:ext uri="{D42A27DB-BD31-4B8C-83A1-F6EECF244321}">
                    <p14:modId xmlns:p14="http://schemas.microsoft.com/office/powerpoint/2010/main" val="44988070"/>
                  </p:ext>
                </p:extLst>
              </p:nvPr>
            </p:nvGraphicFramePr>
            <p:xfrm>
              <a:off x="1180899" y="876616"/>
              <a:ext cx="7200000" cy="386904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205831206"/>
                        </a:ext>
                      </a:extLst>
                    </a:gridCol>
                    <a:gridCol w="3960000">
                      <a:extLst>
                        <a:ext uri="{9D8B030D-6E8A-4147-A177-3AD203B41FA5}">
                          <a16:colId xmlns:a16="http://schemas.microsoft.com/office/drawing/2014/main" val="73362960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05771787"/>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Red </a:t>
                          </a:r>
                          <a14:m>
                            <m:oMath xmlns:m="http://schemas.openxmlformats.org/officeDocument/2006/math">
                              <m:r>
                                <a:rPr lang="en-US" sz="2000">
                                  <a:effectLst/>
                                  <a:latin typeface="Cambria Math"/>
                                </a:rPr>
                                <m:t>4</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315466"/>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Red </a:t>
                          </a:r>
                          <a14:m>
                            <m:oMath xmlns:m="http://schemas.openxmlformats.org/officeDocument/2006/math">
                              <m:r>
                                <a:rPr lang="en-US" sz="2000">
                                  <a:effectLst/>
                                  <a:latin typeface="Cambria Math"/>
                                </a:rPr>
                                <m:t>9</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3134762"/>
                      </a:ext>
                    </a:extLst>
                  </a:tr>
                  <a:tr h="540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 Yellow </a:t>
                          </a:r>
                          <a14:m>
                            <m:oMath xmlns:m="http://schemas.openxmlformats.org/officeDocument/2006/math">
                              <m:r>
                                <a:rPr lang="en-US" sz="2000">
                                  <a:effectLst/>
                                  <a:latin typeface="Cambria Math"/>
                                </a:rPr>
                                <m:t>9</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286380"/>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Green </a:t>
                          </a:r>
                          <a14:m>
                            <m:oMath xmlns:m="http://schemas.openxmlformats.org/officeDocument/2006/math">
                              <m:r>
                                <a:rPr lang="en-US" sz="2000">
                                  <a:effectLst/>
                                  <a:latin typeface="Cambria Math"/>
                                </a:rPr>
                                <m:t>4</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Blue </a:t>
                          </a:r>
                          <a14:m>
                            <m:oMath xmlns:m="http://schemas.openxmlformats.org/officeDocument/2006/math">
                              <m:r>
                                <a:rPr lang="en-US" sz="2000">
                                  <a:effectLst/>
                                  <a:latin typeface="Cambria Math"/>
                                </a:rPr>
                                <m:t>9</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57188" marR="0" indent="-357188">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Changes color to green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8349822"/>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Red </a:t>
                          </a:r>
                          <a14:m>
                            <m:oMath xmlns:m="http://schemas.openxmlformats.org/officeDocument/2006/math">
                              <m:r>
                                <a:rPr lang="en-US" sz="2000">
                                  <a:effectLst/>
                                  <a:latin typeface="Cambria Math"/>
                                </a:rPr>
                                <m:t>4</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Blue Skip</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Matches number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0447638"/>
                      </a:ext>
                    </a:extLst>
                  </a:tr>
                  <a:tr h="54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Red Reverse  Blue </a:t>
                          </a:r>
                          <a14:m>
                            <m:oMath xmlns:m="http://schemas.openxmlformats.org/officeDocument/2006/math">
                              <m:r>
                                <a:rPr lang="en-US" sz="2000">
                                  <a:effectLst/>
                                  <a:latin typeface="Cambria Math"/>
                                </a:rPr>
                                <m:t>5</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3671124"/>
                      </a:ext>
                    </a:extLst>
                  </a:tr>
                </a:tbl>
              </a:graphicData>
            </a:graphic>
          </p:graphicFrame>
        </mc:Choice>
        <mc:Fallback xmlns="">
          <p:graphicFrame>
            <p:nvGraphicFramePr>
              <p:cNvPr id="16" name="Table 15">
                <a:extLst>
                  <a:ext uri="{FF2B5EF4-FFF2-40B4-BE49-F238E27FC236}">
                    <a16:creationId xmlns:a16="http://schemas.microsoft.com/office/drawing/2014/main" id="{DED54167-B215-5545-90AE-E4A37368765C}"/>
                  </a:ext>
                </a:extLst>
              </p:cNvPr>
              <p:cNvGraphicFramePr>
                <a:graphicFrameLocks noGrp="1"/>
              </p:cNvGraphicFramePr>
              <p:nvPr>
                <p:extLst>
                  <p:ext uri="{D42A27DB-BD31-4B8C-83A1-F6EECF244321}">
                    <p14:modId xmlns:p14="http://schemas.microsoft.com/office/powerpoint/2010/main" val="44988070"/>
                  </p:ext>
                </p:extLst>
              </p:nvPr>
            </p:nvGraphicFramePr>
            <p:xfrm>
              <a:off x="1180899" y="876616"/>
              <a:ext cx="7200000" cy="386904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205831206"/>
                        </a:ext>
                      </a:extLst>
                    </a:gridCol>
                    <a:gridCol w="3960000">
                      <a:extLst>
                        <a:ext uri="{9D8B030D-6E8A-4147-A177-3AD203B41FA5}">
                          <a16:colId xmlns:a16="http://schemas.microsoft.com/office/drawing/2014/main" val="733629605"/>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05771787"/>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88" t="-87640" r="-122744" b="-534831"/>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315466"/>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88" t="-189773" r="-122744" b="-440909"/>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2.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3134762"/>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88" t="-286517" r="-122744" b="-335955"/>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286380"/>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88" t="-299130" r="-122744" b="-160000"/>
                          </a:stretch>
                        </a:blipFill>
                      </a:tcPr>
                    </a:tc>
                    <a:tc>
                      <a:txBody>
                        <a:bodyPr/>
                        <a:lstStyle/>
                        <a:p>
                          <a:pPr marL="357188" marR="0" indent="-357188">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Changes color to green   Matches number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8349822"/>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88" t="-515730" r="-122744" b="-106742"/>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5. Matches number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0447638"/>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88" t="-615730" r="-122744" b="-6742"/>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Matches color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3671124"/>
                      </a:ext>
                    </a:extLst>
                  </a:tr>
                </a:tbl>
              </a:graphicData>
            </a:graphic>
          </p:graphicFrame>
        </mc:Fallback>
      </mc:AlternateContent>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cxnSp>
        <p:nvCxnSpPr>
          <p:cNvPr id="8" name="Straight Connector 7">
            <a:extLst>
              <a:ext uri="{FF2B5EF4-FFF2-40B4-BE49-F238E27FC236}">
                <a16:creationId xmlns:a16="http://schemas.microsoft.com/office/drawing/2014/main" id="{855841CA-04CC-4246-9A0D-A00F4885B1DD}"/>
              </a:ext>
            </a:extLst>
          </p:cNvPr>
          <p:cNvCxnSpPr>
            <a:cxnSpLocks/>
          </p:cNvCxnSpPr>
          <p:nvPr/>
        </p:nvCxnSpPr>
        <p:spPr>
          <a:xfrm flipH="1">
            <a:off x="4791375" y="3180883"/>
            <a:ext cx="3056230" cy="0"/>
          </a:xfrm>
          <a:prstGeom prst="line">
            <a:avLst/>
          </a:prstGeom>
          <a:ln w="38100">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92A9909-D762-1740-A285-EC77908A575C}"/>
              </a:ext>
            </a:extLst>
          </p:cNvPr>
          <p:cNvCxnSpPr>
            <a:cxnSpLocks/>
          </p:cNvCxnSpPr>
          <p:nvPr/>
        </p:nvCxnSpPr>
        <p:spPr>
          <a:xfrm flipH="1">
            <a:off x="1571319" y="3331858"/>
            <a:ext cx="1095375" cy="0"/>
          </a:xfrm>
          <a:prstGeom prst="line">
            <a:avLst/>
          </a:prstGeom>
          <a:ln w="38100">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190E33-990D-E045-8CC4-F73C7975EC44}"/>
              </a:ext>
            </a:extLst>
          </p:cNvPr>
          <p:cNvCxnSpPr>
            <a:cxnSpLocks/>
          </p:cNvCxnSpPr>
          <p:nvPr/>
        </p:nvCxnSpPr>
        <p:spPr>
          <a:xfrm flipH="1">
            <a:off x="1611456" y="3942299"/>
            <a:ext cx="828675" cy="0"/>
          </a:xfrm>
          <a:prstGeom prst="line">
            <a:avLst/>
          </a:prstGeom>
          <a:ln w="38100">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A35FC76-F6F4-3440-B181-256C66BEBFBB}"/>
              </a:ext>
            </a:extLst>
          </p:cNvPr>
          <p:cNvCxnSpPr>
            <a:cxnSpLocks/>
          </p:cNvCxnSpPr>
          <p:nvPr/>
        </p:nvCxnSpPr>
        <p:spPr>
          <a:xfrm flipH="1">
            <a:off x="5964448" y="3968197"/>
            <a:ext cx="1031391" cy="0"/>
          </a:xfrm>
          <a:prstGeom prst="line">
            <a:avLst/>
          </a:prstGeom>
          <a:ln w="38100">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5BB18FA-AF77-3C41-9117-1F29746EED72}"/>
              </a:ext>
            </a:extLst>
          </p:cNvPr>
          <p:cNvCxnSpPr>
            <a:cxnSpLocks/>
          </p:cNvCxnSpPr>
          <p:nvPr/>
        </p:nvCxnSpPr>
        <p:spPr>
          <a:xfrm flipH="1">
            <a:off x="1599387" y="4495917"/>
            <a:ext cx="1681487" cy="0"/>
          </a:xfrm>
          <a:prstGeom prst="line">
            <a:avLst/>
          </a:prstGeom>
          <a:ln w="38100">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2" name="Google Shape;282;g104476d1465_1_17">
            <a:extLst>
              <a:ext uri="{FF2B5EF4-FFF2-40B4-BE49-F238E27FC236}">
                <a16:creationId xmlns:a16="http://schemas.microsoft.com/office/drawing/2014/main" id="{9FB64EFF-9234-C544-A1B2-6BF37D2345FC}"/>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95</a:t>
            </a:r>
            <a:endParaRPr i="1" dirty="0">
              <a:latin typeface="Calibri"/>
              <a:ea typeface="Calibri"/>
              <a:cs typeface="Calibri"/>
              <a:sym typeface="Calibri"/>
            </a:endParaRPr>
          </a:p>
        </p:txBody>
      </p:sp>
    </p:spTree>
    <p:extLst>
      <p:ext uri="{BB962C8B-B14F-4D97-AF65-F5344CB8AC3E}">
        <p14:creationId xmlns:p14="http://schemas.microsoft.com/office/powerpoint/2010/main" val="1299886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09034" y="381474"/>
                <a:ext cx="11391813" cy="400110"/>
              </a:xfrm>
              <a:prstGeom prst="rect">
                <a:avLst/>
              </a:prstGeom>
              <a:noFill/>
            </p:spPr>
            <p:txBody>
              <a:bodyPr wrap="square" rtlCol="0">
                <a:spAutoFit/>
              </a:bodyPr>
              <a:lstStyle/>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create a logical argument that leads to a Red Draw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09034" y="381474"/>
                <a:ext cx="11391813" cy="400110"/>
              </a:xfrm>
              <a:prstGeom prst="rect">
                <a:avLst/>
              </a:prstGeom>
              <a:blipFill>
                <a:blip r:embed="rId4"/>
                <a:stretch>
                  <a:fillRect l="-589" t="-10769" b="-27692"/>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247B6E4-A37A-7D48-8877-083A730889CA}"/>
                  </a:ext>
                </a:extLst>
              </p:cNvPr>
              <p:cNvGraphicFramePr>
                <a:graphicFrameLocks noGrp="1"/>
              </p:cNvGraphicFramePr>
              <p:nvPr>
                <p:extLst>
                  <p:ext uri="{D42A27DB-BD31-4B8C-83A1-F6EECF244321}">
                    <p14:modId xmlns:p14="http://schemas.microsoft.com/office/powerpoint/2010/main" val="612088065"/>
                  </p:ext>
                </p:extLst>
              </p:nvPr>
            </p:nvGraphicFramePr>
            <p:xfrm>
              <a:off x="1095035" y="1189257"/>
              <a:ext cx="6480000" cy="51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011092183"/>
                        </a:ext>
                      </a:extLst>
                    </a:gridCol>
                    <a:gridCol w="3240000">
                      <a:extLst>
                        <a:ext uri="{9D8B030D-6E8A-4147-A177-3AD203B41FA5}">
                          <a16:colId xmlns:a16="http://schemas.microsoft.com/office/drawing/2014/main" val="2380122254"/>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18028904"/>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 Green </a:t>
                          </a:r>
                          <a14:m>
                            <m:oMath xmlns:m="http://schemas.openxmlformats.org/officeDocument/2006/math">
                              <m:r>
                                <a:rPr lang="en-US" sz="2000">
                                  <a:effectLst/>
                                  <a:latin typeface="Cambria Math"/>
                                </a:rPr>
                                <m:t>5</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521896"/>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948639"/>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Yellow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006241"/>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4.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5602654"/>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5.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5.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855479"/>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6. Green </a:t>
                          </a:r>
                          <a14:m>
                            <m:oMath xmlns:m="http://schemas.openxmlformats.org/officeDocument/2006/math">
                              <m:r>
                                <a:rPr lang="en-US" sz="2000">
                                  <a:effectLst/>
                                  <a:latin typeface="Cambria Math"/>
                                </a:rPr>
                                <m:t>8</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6.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1461843"/>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7042517"/>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8.</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8.</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4071246"/>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9.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9.</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513533"/>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10. Red Draw </a:t>
                          </a:r>
                          <a14:m>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2</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10.</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089000"/>
                      </a:ext>
                    </a:extLst>
                  </a:tr>
                </a:tbl>
              </a:graphicData>
            </a:graphic>
          </p:graphicFrame>
        </mc:Choice>
        <mc:Fallback xmlns="">
          <p:graphicFrame>
            <p:nvGraphicFramePr>
              <p:cNvPr id="2" name="Table 1">
                <a:extLst>
                  <a:ext uri="{FF2B5EF4-FFF2-40B4-BE49-F238E27FC236}">
                    <a16:creationId xmlns:a16="http://schemas.microsoft.com/office/drawing/2014/main" id="{E247B6E4-A37A-7D48-8877-083A730889CA}"/>
                  </a:ext>
                </a:extLst>
              </p:cNvPr>
              <p:cNvGraphicFramePr>
                <a:graphicFrameLocks noGrp="1"/>
              </p:cNvGraphicFramePr>
              <p:nvPr>
                <p:extLst>
                  <p:ext uri="{D42A27DB-BD31-4B8C-83A1-F6EECF244321}">
                    <p14:modId xmlns:p14="http://schemas.microsoft.com/office/powerpoint/2010/main" val="612088065"/>
                  </p:ext>
                </p:extLst>
              </p:nvPr>
            </p:nvGraphicFramePr>
            <p:xfrm>
              <a:off x="1095035" y="1189257"/>
              <a:ext cx="6480000" cy="514800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011092183"/>
                        </a:ext>
                      </a:extLst>
                    </a:gridCol>
                    <a:gridCol w="3240000">
                      <a:extLst>
                        <a:ext uri="{9D8B030D-6E8A-4147-A177-3AD203B41FA5}">
                          <a16:colId xmlns:a16="http://schemas.microsoft.com/office/drawing/2014/main" val="2380122254"/>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Statement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Reason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18028904"/>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88" t="-102597" r="-100564" b="-912987"/>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1. Given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521896"/>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2.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948639"/>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3. Yellow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3.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006241"/>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4.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4.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5602654"/>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5.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5.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2855479"/>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88" t="-601299" r="-100564" b="-414286"/>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6.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1461843"/>
                      </a:ext>
                    </a:extLst>
                  </a:tr>
                  <a:tr h="4680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7.</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7042517"/>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8.</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8.</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4071246"/>
                      </a:ext>
                    </a:extLst>
                  </a:tr>
                  <a:tr h="468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9.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9.</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513533"/>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88" t="-1000000" r="-100564" b="-15584"/>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10.</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089000"/>
                      </a:ext>
                    </a:extLst>
                  </a:tr>
                </a:tbl>
              </a:graphicData>
            </a:graphic>
          </p:graphicFrame>
        </mc:Fallback>
      </mc:AlternateContent>
      <p:sp>
        <p:nvSpPr>
          <p:cNvPr id="8" name="Rectangle 7">
            <a:extLst>
              <a:ext uri="{FF2B5EF4-FFF2-40B4-BE49-F238E27FC236}">
                <a16:creationId xmlns:a16="http://schemas.microsoft.com/office/drawing/2014/main" id="{17E2AD88-2917-4C4C-9116-EBFABD5A47B1}"/>
              </a:ext>
            </a:extLst>
          </p:cNvPr>
          <p:cNvSpPr/>
          <p:nvPr/>
        </p:nvSpPr>
        <p:spPr>
          <a:xfrm>
            <a:off x="2454817" y="2643182"/>
            <a:ext cx="502837" cy="360493"/>
          </a:xfrm>
          <a:prstGeom prst="rect">
            <a:avLst/>
          </a:prstGeom>
          <a:no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Google Shape;282;g104476d1465_1_17">
            <a:extLst>
              <a:ext uri="{FF2B5EF4-FFF2-40B4-BE49-F238E27FC236}">
                <a16:creationId xmlns:a16="http://schemas.microsoft.com/office/drawing/2014/main" id="{5017B526-7F64-B94B-B251-2797BAE6B29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96</a:t>
            </a:r>
            <a:endParaRPr i="1" dirty="0">
              <a:latin typeface="Calibri"/>
              <a:ea typeface="Calibri"/>
              <a:cs typeface="Calibri"/>
              <a:sym typeface="Calibri"/>
            </a:endParaRPr>
          </a:p>
        </p:txBody>
      </p:sp>
    </p:spTree>
    <p:extLst>
      <p:ext uri="{BB962C8B-B14F-4D97-AF65-F5344CB8AC3E}">
        <p14:creationId xmlns:p14="http://schemas.microsoft.com/office/powerpoint/2010/main" val="3778061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09034" y="391983"/>
                <a:ext cx="11119115" cy="3477875"/>
              </a:xfrm>
              <a:prstGeom prst="rect">
                <a:avLst/>
              </a:prstGeom>
              <a:noFill/>
            </p:spPr>
            <p:txBody>
              <a:bodyPr wrap="square" rtlCol="0">
                <a:spAutoFit/>
              </a:bodyPr>
              <a:lstStyle/>
              <a:p>
                <a:pPr marL="457200" indent="-457200">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With your partner, use the template provided by your teacher to fill in your reasons for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Then switch your paper with another pair. Work with your partner to fill in the missing statements and reasons on the other pair’s paper. </a:t>
                </a: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Work as a group of four to make sure that the two completed templates correctly lead to the conclusion.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09034" y="391983"/>
                <a:ext cx="11119115" cy="3477875"/>
              </a:xfrm>
              <a:prstGeom prst="rect">
                <a:avLst/>
              </a:prstGeom>
              <a:blipFill>
                <a:blip r:embed="rId4"/>
                <a:stretch>
                  <a:fillRect l="-603" t="-1051" r="-822" b="-2102"/>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a:extLst>
              <a:ext uri="{FF2B5EF4-FFF2-40B4-BE49-F238E27FC236}">
                <a16:creationId xmlns:a16="http://schemas.microsoft.com/office/drawing/2014/main" id="{BC570444-1D41-B448-8614-6FA9009210BC}"/>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96</a:t>
            </a:r>
            <a:endParaRPr i="1" dirty="0">
              <a:latin typeface="Calibri"/>
              <a:ea typeface="Calibri"/>
              <a:cs typeface="Calibri"/>
              <a:sym typeface="Calibri"/>
            </a:endParaRPr>
          </a:p>
        </p:txBody>
      </p:sp>
    </p:spTree>
    <p:extLst>
      <p:ext uri="{BB962C8B-B14F-4D97-AF65-F5344CB8AC3E}">
        <p14:creationId xmlns:p14="http://schemas.microsoft.com/office/powerpoint/2010/main" val="586934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942BADAB-3989-D840-962E-A33BA24436A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96</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855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2.3.3 Activity: Taking Turns</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564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547ABD-563B-A148-B65C-C7679A7B43D4}"/>
                  </a:ext>
                </a:extLst>
              </p:cNvPr>
              <p:cNvSpPr txBox="1"/>
              <p:nvPr/>
            </p:nvSpPr>
            <p:spPr>
              <a:xfrm>
                <a:off x="593248" y="1394251"/>
                <a:ext cx="11034902" cy="2092881"/>
              </a:xfrm>
              <a:prstGeom prst="rect">
                <a:avLst/>
              </a:prstGeom>
              <a:noFill/>
            </p:spPr>
            <p:txBody>
              <a:bodyPr wrap="square" rtlCol="0">
                <a:spAutoFit/>
              </a:bodyPr>
              <a:lstStyle/>
              <a:p>
                <a:pPr>
                  <a:spcAft>
                    <a:spcPts val="1200"/>
                  </a:spcAft>
                </a:pPr>
                <a:r>
                  <a:rPr lang="en-US" sz="2400" dirty="0">
                    <a:latin typeface="Verdana" panose="020B0604030504040204" pitchFamily="34" charset="0"/>
                    <a:ea typeface="Verdana" panose="020B0604030504040204" pitchFamily="34" charset="0"/>
                    <a:cs typeface="Verdana" panose="020B0604030504040204" pitchFamily="34" charset="0"/>
                  </a:rPr>
                  <a:t>Complete the UNO proofs. All UNO cards are available except for the Wild or Wild Draw </a:t>
                </a:r>
                <a14:m>
                  <m:oMath xmlns:m="http://schemas.openxmlformats.org/officeDocument/2006/math">
                    <m:r>
                      <a:rPr lang="en-US" sz="2400" i="1" dirty="0">
                        <a:latin typeface="Cambria Math"/>
                        <a:ea typeface="Verdana" panose="020B0604030504040204" pitchFamily="34" charset="0"/>
                        <a:cs typeface="Verdana" panose="020B0604030504040204" pitchFamily="34" charset="0"/>
                      </a:rPr>
                      <m:t>4 </m:t>
                    </m:r>
                  </m:oMath>
                </a14:m>
                <a:r>
                  <a:rPr lang="en-US" sz="2400" dirty="0">
                    <a:latin typeface="Verdana" panose="020B0604030504040204" pitchFamily="34" charset="0"/>
                    <a:ea typeface="Verdana" panose="020B0604030504040204" pitchFamily="34" charset="0"/>
                    <a:cs typeface="Verdana" panose="020B0604030504040204" pitchFamily="34" charset="0"/>
                  </a:rPr>
                  <a:t>card. The only time a Wild card can be used is when it is already written in the proof. </a:t>
                </a:r>
              </a:p>
              <a:p>
                <a:r>
                  <a:rPr lang="en-US" sz="2400" dirty="0">
                    <a:latin typeface="Verdana" panose="020B0604030504040204" pitchFamily="34" charset="0"/>
                    <a:ea typeface="Verdana" panose="020B0604030504040204" pitchFamily="34" charset="0"/>
                    <a:cs typeface="Verdana" panose="020B0604030504040204" pitchFamily="34" charset="0"/>
                  </a:rPr>
                  <a:t>Each proof must have at least three number changes and three color changes. </a:t>
                </a:r>
              </a:p>
            </p:txBody>
          </p:sp>
        </mc:Choice>
        <mc:Fallback xmlns="">
          <p:sp>
            <p:nvSpPr>
              <p:cNvPr id="10" name="TextBox 9">
                <a:extLst>
                  <a:ext uri="{FF2B5EF4-FFF2-40B4-BE49-F238E27FC236}">
                    <a16:creationId xmlns:a16="http://schemas.microsoft.com/office/drawing/2014/main" id="{A3547ABD-563B-A148-B65C-C7679A7B43D4}"/>
                  </a:ext>
                </a:extLst>
              </p:cNvPr>
              <p:cNvSpPr txBox="1">
                <a:spLocks noRot="1" noChangeAspect="1" noMove="1" noResize="1" noEditPoints="1" noAdjustHandles="1" noChangeArrowheads="1" noChangeShapeType="1" noTextEdit="1"/>
              </p:cNvSpPr>
              <p:nvPr/>
            </p:nvSpPr>
            <p:spPr>
              <a:xfrm>
                <a:off x="593248" y="1394251"/>
                <a:ext cx="11034902" cy="2092881"/>
              </a:xfrm>
              <a:prstGeom prst="rect">
                <a:avLst/>
              </a:prstGeom>
              <a:blipFill>
                <a:blip r:embed="rId5"/>
                <a:stretch>
                  <a:fillRect l="-828" t="-2332" b="-5831"/>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2834ACB5-9863-9B4D-A302-444ED7CCE577}"/>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37D96967-A9CF-9648-B89F-F625A2BA254D}"/>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96</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20BECCD2-C5B9-D641-A2F3-D8D51785B858}"/>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92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52650" y="146755"/>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2.3.4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855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8" y="1089451"/>
            <a:ext cx="10911776" cy="34163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many of the UNO proofs did the class correctly complete?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Which steps in the UNO proof were the easiest to complete?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Which steps in the UNO proof were hardest to complete?</a:t>
            </a: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a:extLst>
              <a:ext uri="{FF2B5EF4-FFF2-40B4-BE49-F238E27FC236}">
                <a16:creationId xmlns:a16="http://schemas.microsoft.com/office/drawing/2014/main" id="{C84D9983-9544-984F-9883-0C2BCBB4D72E}"/>
              </a:ext>
            </a:extLst>
          </p:cNvPr>
          <p:cNvSpPr txBox="1"/>
          <p:nvPr/>
        </p:nvSpPr>
        <p:spPr>
          <a:xfrm>
            <a:off x="88710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1261</TotalTime>
  <Words>977</Words>
  <Application>Microsoft Office PowerPoint</Application>
  <PresentationFormat>Widescreen</PresentationFormat>
  <Paragraphs>196</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vt:lpstr>
      <vt:lpstr>Arial Black</vt:lpstr>
      <vt:lpstr>Verdana</vt:lpstr>
      <vt:lpstr>Century Gothic</vt:lpstr>
      <vt:lpstr>Arial</vt:lpstr>
      <vt:lpstr>Cambria Math</vt:lpstr>
      <vt:lpstr>Wingdings</vt:lpstr>
      <vt:lpstr>1_Office Theme</vt:lpstr>
      <vt:lpstr>Geometry  Unit 2, Lesson 3  Logical Conclusions  Volume 1, pg. 94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23</cp:revision>
  <dcterms:created xsi:type="dcterms:W3CDTF">2015-03-17T18:51:18Z</dcterms:created>
  <dcterms:modified xsi:type="dcterms:W3CDTF">2022-07-03T02:13:01Z</dcterms:modified>
</cp:coreProperties>
</file>