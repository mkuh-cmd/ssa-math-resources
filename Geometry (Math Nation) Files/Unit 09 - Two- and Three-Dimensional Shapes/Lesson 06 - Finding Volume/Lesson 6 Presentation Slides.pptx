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62" r:id="rId8"/>
    <p:sldId id="363" r:id="rId9"/>
    <p:sldId id="364" r:id="rId10"/>
    <p:sldId id="365" r:id="rId11"/>
    <p:sldId id="366" r:id="rId12"/>
    <p:sldId id="367" r:id="rId13"/>
    <p:sldId id="368" r:id="rId14"/>
    <p:sldId id="372" r:id="rId15"/>
    <p:sldId id="373" r:id="rId16"/>
    <p:sldId id="374" r:id="rId17"/>
    <p:sldId id="369" r:id="rId18"/>
    <p:sldId id="370" r:id="rId19"/>
    <p:sldId id="302" r:id="rId20"/>
    <p:sldId id="303" r:id="rId21"/>
    <p:sldId id="306" r:id="rId22"/>
    <p:sldId id="30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9A3D"/>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357"/>
    <p:restoredTop sz="94695"/>
  </p:normalViewPr>
  <p:slideViewPr>
    <p:cSldViewPr snapToGrid="0">
      <p:cViewPr varScale="1">
        <p:scale>
          <a:sx n="74" d="100"/>
          <a:sy n="74" d="100"/>
        </p:scale>
        <p:origin x="72" y="1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79943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09532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852835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6336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13235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09570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566982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71937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08133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09013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60635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007856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Volume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82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606146"/>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MA.912.GR.4.5 </a:t>
            </a:r>
          </a:p>
          <a:p>
            <a:pPr marL="463550" indent="0">
              <a:buNone/>
            </a:pPr>
            <a:r>
              <a:rPr lang="en-US" sz="2400" dirty="0">
                <a:latin typeface="Verdana" charset="0"/>
                <a:ea typeface="Verdana" charset="0"/>
                <a:cs typeface="Verdana" charset="0"/>
              </a:rPr>
              <a:t>Solve mathematical and real-world problems involving the volume of three-dimensional figures limited to cylinders, pyramids, prisms, cones, and spheres.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37892"/>
            <a:ext cx="86852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82</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82</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3" y="1608425"/>
            <a:ext cx="1035147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charset="2"/>
              <a:buChar char="q"/>
            </a:pPr>
            <a:r>
              <a:rPr lang="en-US" sz="2400" dirty="0">
                <a:latin typeface="Verdana" charset="0"/>
                <a:ea typeface="Verdana" charset="0"/>
                <a:cs typeface="Verdana" charset="0"/>
              </a:rPr>
              <a:t>I can find the volume of spheres, prisms, cones, pyramids, and cylinders.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86431"/>
            <a:ext cx="966786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9.6.1 Warm-Up: </a:t>
            </a:r>
            <a:r>
              <a:rPr lang="en-US" sz="3600" b="1">
                <a:solidFill>
                  <a:srgbClr val="3F2A67"/>
                </a:solidFill>
                <a:latin typeface="Verdana"/>
                <a:ea typeface="Verdana"/>
                <a:cs typeface="Verdana"/>
                <a:sym typeface="Verdana"/>
              </a:rPr>
              <a:t>Would You </a:t>
            </a:r>
            <a:r>
              <a:rPr lang="en-US" sz="3600" b="1" dirty="0">
                <a:solidFill>
                  <a:srgbClr val="3F2A67"/>
                </a:solidFill>
                <a:latin typeface="Verdana"/>
                <a:ea typeface="Verdana"/>
                <a:cs typeface="Verdana"/>
                <a:sym typeface="Verdana"/>
              </a:rPr>
              <a:t>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83</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51063" y="1394251"/>
                <a:ext cx="10669709" cy="286232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Would you rather have a pool that is </a:t>
                </a:r>
                <a14:m>
                  <m:oMath xmlns:m="http://schemas.openxmlformats.org/officeDocument/2006/math">
                    <m:r>
                      <a:rPr lang="en-US" sz="2000" i="1">
                        <a:latin typeface="Cambria Math" charset="0"/>
                        <a:ea typeface="Verdana" charset="0"/>
                        <a:cs typeface="Verdana" charset="0"/>
                      </a:rPr>
                      <m:t>20</m:t>
                    </m:r>
                  </m:oMath>
                </a14:m>
                <a:r>
                  <a:rPr lang="en-US" sz="2000" dirty="0">
                    <a:latin typeface="Verdana" charset="0"/>
                    <a:ea typeface="Verdana" charset="0"/>
                    <a:cs typeface="Verdana" charset="0"/>
                  </a:rPr>
                  <a:t> meters (m) by </a:t>
                </a:r>
                <a14:m>
                  <m:oMath xmlns:m="http://schemas.openxmlformats.org/officeDocument/2006/math">
                    <m:r>
                      <a:rPr lang="en-US" sz="2000" i="1">
                        <a:latin typeface="Cambria Math" charset="0"/>
                        <a:ea typeface="Verdana" charset="0"/>
                        <a:cs typeface="Verdana" charset="0"/>
                      </a:rPr>
                      <m:t>8</m:t>
                    </m:r>
                  </m:oMath>
                </a14:m>
                <a:r>
                  <a:rPr lang="en-US" sz="2000" dirty="0">
                    <a:latin typeface="Verdana" charset="0"/>
                    <a:ea typeface="Verdana" charset="0"/>
                    <a:cs typeface="Verdana" charset="0"/>
                  </a:rPr>
                  <a:t> m by </a:t>
                </a:r>
                <a14:m>
                  <m:oMath xmlns:m="http://schemas.openxmlformats.org/officeDocument/2006/math">
                    <m:r>
                      <a:rPr lang="en-US" sz="2000" i="1">
                        <a:latin typeface="Cambria Math" charset="0"/>
                        <a:ea typeface="Verdana" charset="0"/>
                        <a:cs typeface="Verdana" charset="0"/>
                      </a:rPr>
                      <m:t>6</m:t>
                    </m:r>
                  </m:oMath>
                </a14:m>
                <a:r>
                  <a:rPr lang="en-US" sz="2000" dirty="0">
                    <a:latin typeface="Verdana" charset="0"/>
                    <a:ea typeface="Verdana" charset="0"/>
                    <a:cs typeface="Verdana" charset="0"/>
                  </a:rPr>
                  <a:t> m, or a pool that is </a:t>
                </a:r>
                <a14:m>
                  <m:oMath xmlns:m="http://schemas.openxmlformats.org/officeDocument/2006/math">
                    <m:r>
                      <a:rPr lang="en-US" sz="2000" i="1">
                        <a:latin typeface="Cambria Math" charset="0"/>
                        <a:ea typeface="Verdana" charset="0"/>
                        <a:cs typeface="Verdana" charset="0"/>
                      </a:rPr>
                      <m:t>1550</m:t>
                    </m:r>
                  </m:oMath>
                </a14:m>
                <a:r>
                  <a:rPr lang="en-US" sz="2000" dirty="0">
                    <a:latin typeface="Verdana" charset="0"/>
                    <a:ea typeface="Verdana" charset="0"/>
                    <a:cs typeface="Verdana" charset="0"/>
                  </a:rPr>
                  <a:t> centimeters (cm) by </a:t>
                </a:r>
                <a14:m>
                  <m:oMath xmlns:m="http://schemas.openxmlformats.org/officeDocument/2006/math">
                    <m:r>
                      <a:rPr lang="en-US" sz="2000" i="1">
                        <a:latin typeface="Cambria Math" charset="0"/>
                        <a:ea typeface="Verdana" charset="0"/>
                        <a:cs typeface="Verdana" charset="0"/>
                      </a:rPr>
                      <m:t>650</m:t>
                    </m:r>
                  </m:oMath>
                </a14:m>
                <a:r>
                  <a:rPr lang="en-US" sz="2000" dirty="0">
                    <a:latin typeface="Verdana" charset="0"/>
                    <a:ea typeface="Verdana" charset="0"/>
                    <a:cs typeface="Verdana" charset="0"/>
                  </a:rPr>
                  <a:t> cm by </a:t>
                </a:r>
                <a14:m>
                  <m:oMath xmlns:m="http://schemas.openxmlformats.org/officeDocument/2006/math">
                    <m:r>
                      <a:rPr lang="en-US" sz="2000" i="1">
                        <a:latin typeface="Cambria Math" charset="0"/>
                        <a:ea typeface="Verdana" charset="0"/>
                        <a:cs typeface="Verdana" charset="0"/>
                      </a:rPr>
                      <m:t>725</m:t>
                    </m:r>
                  </m:oMath>
                </a14:m>
                <a:r>
                  <a:rPr lang="en-US" sz="2000" dirty="0">
                    <a:latin typeface="Verdana" charset="0"/>
                    <a:ea typeface="Verdana" charset="0"/>
                    <a:cs typeface="Verdana" charset="0"/>
                  </a:rPr>
                  <a:t> cm?</a:t>
                </a:r>
              </a:p>
              <a:p>
                <a:r>
                  <a:rPr lang="en-US" sz="2000" dirty="0">
                    <a:latin typeface="Verdana" charset="0"/>
                    <a:ea typeface="Verdana" charset="0"/>
                    <a:cs typeface="Verdana" charset="0"/>
                  </a:rPr>
                  <a:t> </a:t>
                </a:r>
              </a:p>
              <a:p>
                <a:pPr marL="928688" indent="-481013">
                  <a:buFont typeface="+mj-lt"/>
                  <a:buAutoNum type="alphaLcPeriod"/>
                </a:pPr>
                <a:r>
                  <a:rPr lang="en-US" sz="2000" dirty="0">
                    <a:latin typeface="Verdana" charset="0"/>
                    <a:ea typeface="Verdana" charset="0"/>
                    <a:cs typeface="Verdana" charset="0"/>
                  </a:rPr>
                  <a:t>Use mathematics to compare the two pools.</a:t>
                </a:r>
              </a:p>
              <a:p>
                <a:pPr marL="928688" indent="-481013">
                  <a:buFont typeface="+mj-lt"/>
                  <a:buAutoNum type="alphaLcPeriod"/>
                </a:pPr>
                <a:endParaRPr lang="en-US" sz="2000" dirty="0">
                  <a:latin typeface="Verdana" charset="0"/>
                  <a:ea typeface="Verdana" charset="0"/>
                  <a:cs typeface="Verdana" charset="0"/>
                </a:endParaRPr>
              </a:p>
              <a:p>
                <a:pPr marL="928688" indent="-481013">
                  <a:buFont typeface="+mj-lt"/>
                  <a:buAutoNum type="alphaLcPeriod"/>
                </a:pPr>
                <a:endParaRPr lang="en-US" sz="2000" dirty="0">
                  <a:latin typeface="Verdana" charset="0"/>
                  <a:ea typeface="Verdana" charset="0"/>
                  <a:cs typeface="Verdana" charset="0"/>
                </a:endParaRPr>
              </a:p>
              <a:p>
                <a:pPr marL="928688" indent="-481013">
                  <a:buFont typeface="+mj-lt"/>
                  <a:buAutoNum type="alphaLcPeriod"/>
                </a:pPr>
                <a:endParaRPr lang="en-US" sz="2000" dirty="0">
                  <a:latin typeface="Verdana" charset="0"/>
                  <a:ea typeface="Verdana" charset="0"/>
                  <a:cs typeface="Verdana" charset="0"/>
                </a:endParaRPr>
              </a:p>
              <a:p>
                <a:pPr marL="928688" indent="-481013">
                  <a:buFont typeface="+mj-lt"/>
                  <a:buAutoNum type="alphaLcPeriod"/>
                </a:pPr>
                <a:endParaRPr lang="en-US" sz="2000" dirty="0">
                  <a:latin typeface="Verdana" charset="0"/>
                  <a:ea typeface="Verdana" charset="0"/>
                  <a:cs typeface="Verdana" charset="0"/>
                </a:endParaRPr>
              </a:p>
              <a:p>
                <a:pPr marL="928688" indent="-481013">
                  <a:buFont typeface="+mj-lt"/>
                  <a:buAutoNum type="alphaLcPeriod"/>
                </a:pPr>
                <a:r>
                  <a:rPr lang="en-US" sz="2000" dirty="0">
                    <a:latin typeface="Verdana" charset="0"/>
                    <a:ea typeface="Verdana" charset="0"/>
                    <a:cs typeface="Verdana" charset="0"/>
                  </a:rPr>
                  <a:t>Which pool would you rather have?</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51063" y="1394251"/>
                <a:ext cx="10669709" cy="2862322"/>
              </a:xfrm>
              <a:prstGeom prst="rect">
                <a:avLst/>
              </a:prstGeom>
              <a:blipFill>
                <a:blip r:embed="rId5"/>
                <a:stretch>
                  <a:fillRect l="-628" t="-1493" b="-2985"/>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83</a:t>
            </a:r>
          </a:p>
        </p:txBody>
      </p:sp>
    </p:spTree>
    <p:extLst>
      <p:ext uri="{BB962C8B-B14F-4D97-AF65-F5344CB8AC3E}">
        <p14:creationId xmlns:p14="http://schemas.microsoft.com/office/powerpoint/2010/main" val="1387193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854"/>
            <a:ext cx="10834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9.6.2 Guided Instruction: Finding Volume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410"/>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83</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93248" y="1386150"/>
                <a:ext cx="10834000"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cone and cylinder are shown, where the radius of the base of each is </a:t>
                </a:r>
                <a14:m>
                  <m:oMath xmlns:m="http://schemas.openxmlformats.org/officeDocument/2006/math">
                    <m:r>
                      <a:rPr lang="en-US" sz="2000" i="1">
                        <a:latin typeface="Cambria Math" charset="0"/>
                        <a:ea typeface="Verdana" charset="0"/>
                        <a:cs typeface="Verdana" charset="0"/>
                      </a:rPr>
                      <m:t>5</m:t>
                    </m:r>
                  </m:oMath>
                </a14:m>
                <a:r>
                  <a:rPr lang="en-US" sz="2000" dirty="0">
                    <a:latin typeface="Verdana" charset="0"/>
                    <a:ea typeface="Verdana" charset="0"/>
                    <a:cs typeface="Verdana" charset="0"/>
                  </a:rPr>
                  <a:t> units and the height of each is </a:t>
                </a:r>
                <a14:m>
                  <m:oMath xmlns:m="http://schemas.openxmlformats.org/officeDocument/2006/math">
                    <m:r>
                      <a:rPr lang="en-US" sz="2000" i="1">
                        <a:latin typeface="Cambria Math" charset="0"/>
                        <a:ea typeface="Verdana" charset="0"/>
                        <a:cs typeface="Verdana" charset="0"/>
                      </a:rPr>
                      <m:t>8</m:t>
                    </m:r>
                  </m:oMath>
                </a14:m>
                <a:r>
                  <a:rPr lang="en-US" sz="2000" dirty="0">
                    <a:latin typeface="Verdana" charset="0"/>
                    <a:ea typeface="Verdana" charset="0"/>
                    <a:cs typeface="Verdana" charset="0"/>
                  </a:rPr>
                  <a:t> units.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8" y="1386150"/>
                <a:ext cx="10834000" cy="707886"/>
              </a:xfrm>
              <a:prstGeom prst="rect">
                <a:avLst/>
              </a:prstGeom>
              <a:blipFill>
                <a:blip r:embed="rId5"/>
                <a:stretch>
                  <a:fillRect l="-619" t="-5128" b="-13675"/>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3814221423"/>
              </p:ext>
            </p:extLst>
          </p:nvPr>
        </p:nvGraphicFramePr>
        <p:xfrm>
          <a:off x="1314100" y="2292952"/>
          <a:ext cx="6629400" cy="3447415"/>
        </p:xfrm>
        <a:graphic>
          <a:graphicData uri="http://schemas.openxmlformats.org/drawingml/2006/table">
            <a:tbl>
              <a:tblPr firstRow="1" firstCol="1" bandRow="1"/>
              <a:tblGrid>
                <a:gridCol w="3333750">
                  <a:extLst>
                    <a:ext uri="{9D8B030D-6E8A-4147-A177-3AD203B41FA5}">
                      <a16:colId xmlns:a16="http://schemas.microsoft.com/office/drawing/2014/main" val="20000"/>
                    </a:ext>
                  </a:extLst>
                </a:gridCol>
                <a:gridCol w="32956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rPr>
                        <a:t>Cone</a:t>
                      </a:r>
                      <a:endParaRPr lang="en-US" sz="1400" dirty="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Cylinder</a:t>
                      </a:r>
                      <a:endParaRPr lang="en-US" sz="1400">
                        <a:effectLst/>
                        <a:latin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142615">
                <a:tc>
                  <a:txBody>
                    <a:bodyPr/>
                    <a:lstStyle/>
                    <a:p>
                      <a:pPr marL="0" marR="0" algn="ctr">
                        <a:spcBef>
                          <a:spcPts val="0"/>
                        </a:spcBef>
                        <a:spcAft>
                          <a:spcPts val="0"/>
                        </a:spcAft>
                      </a:pPr>
                      <a:endParaRPr lang="en-US" sz="2000">
                        <a:effectLst/>
                        <a:latin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026" name="Picture 14"/>
          <p:cNvPicPr>
            <a:picLocks noChangeAspect="1" noChangeArrowheads="1"/>
          </p:cNvPicPr>
          <p:nvPr/>
        </p:nvPicPr>
        <p:blipFill>
          <a:blip r:embed="rId6" cstate="screen">
            <a:extLst>
              <a:ext uri="{28A0092B-C50C-407E-A947-70E740481C1C}">
                <a14:useLocalDpi xmlns:a14="http://schemas.microsoft.com/office/drawing/2010/main"/>
              </a:ext>
            </a:extLst>
          </a:blip>
          <a:srcRect l="3386" t="4495" r="3928"/>
          <a:stretch>
            <a:fillRect/>
          </a:stretch>
        </p:blipFill>
        <p:spPr bwMode="auto">
          <a:xfrm>
            <a:off x="1455832" y="2801180"/>
            <a:ext cx="3086100" cy="26924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5"/>
          <p:cNvPicPr>
            <a:picLocks noChangeAspect="1" noChangeArrowheads="1"/>
          </p:cNvPicPr>
          <p:nvPr/>
        </p:nvPicPr>
        <p:blipFill>
          <a:blip r:embed="rId7" cstate="screen">
            <a:extLst>
              <a:ext uri="{28A0092B-C50C-407E-A947-70E740481C1C}">
                <a14:useLocalDpi xmlns:a14="http://schemas.microsoft.com/office/drawing/2010/main"/>
              </a:ext>
            </a:extLst>
          </a:blip>
          <a:srcRect l="4752" t="3210" r="4021"/>
          <a:stretch>
            <a:fillRect/>
          </a:stretch>
        </p:blipFill>
        <p:spPr bwMode="auto">
          <a:xfrm>
            <a:off x="4756816" y="2661480"/>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196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55702" y="520394"/>
                <a:ext cx="10545999" cy="3170099"/>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Suppose the cone is filled with water. Discuss with your partner how many cones you think you would need to fill the cylinder with water. Write your estimate.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Given the volume of a cylinder is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m:t>
                    </m:r>
                    <m:r>
                      <a:rPr lang="en-US" sz="2000" i="1">
                        <a:latin typeface="Cambria Math" charset="0"/>
                        <a:ea typeface="Verdana" charset="0"/>
                        <a:cs typeface="Verdana" charset="0"/>
                      </a:rPr>
                      <m:t>𝐵h</m:t>
                    </m:r>
                  </m:oMath>
                </a14:m>
                <a:r>
                  <a:rPr lang="en-US" sz="2000" dirty="0">
                    <a:latin typeface="Verdana" charset="0"/>
                    <a:ea typeface="Verdana" charset="0"/>
                    <a:cs typeface="Verdana" charset="0"/>
                  </a:rPr>
                  <a:t>, discuss with your partner how to re-write the formula to find the volume of the cone.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The volume formula for a cone is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=_____________</m:t>
                    </m:r>
                  </m:oMath>
                </a14:m>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55702" y="520394"/>
                <a:ext cx="10545999" cy="3170099"/>
              </a:xfrm>
              <a:prstGeom prst="rect">
                <a:avLst/>
              </a:prstGeom>
              <a:blipFill>
                <a:blip r:embed="rId4"/>
                <a:stretch>
                  <a:fillRect l="-636" t="-1154" b="-2692"/>
                </a:stretch>
              </a:blipFill>
            </p:spPr>
            <p:txBody>
              <a:bodyPr/>
              <a:lstStyle/>
              <a:p>
                <a:r>
                  <a:rPr lang="en-US">
                    <a:noFill/>
                  </a:rPr>
                  <a:t> </a:t>
                </a:r>
              </a:p>
            </p:txBody>
          </p:sp>
        </mc:Fallback>
      </mc:AlternateContent>
      <p:sp>
        <p:nvSpPr>
          <p:cNvPr id="6" name="Text Box 24"/>
          <p:cNvSpPr txBox="1"/>
          <p:nvPr/>
        </p:nvSpPr>
        <p:spPr>
          <a:xfrm>
            <a:off x="1442116" y="4420318"/>
            <a:ext cx="6629400" cy="1615306"/>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rgbClr val="6D9A3D"/>
                </a:solidFill>
                <a:latin typeface="Verdana" charset="0"/>
                <a:ea typeface="Verdana" charset="0"/>
                <a:cs typeface="Verdana" charset="0"/>
              </a:rPr>
              <a:t>A </a:t>
            </a:r>
            <a:r>
              <a:rPr lang="en-US" sz="2000" b="1" i="1" dirty="0">
                <a:solidFill>
                  <a:srgbClr val="6D9A3D"/>
                </a:solidFill>
                <a:latin typeface="Verdana" charset="0"/>
                <a:ea typeface="Verdana" charset="0"/>
                <a:cs typeface="Verdana" charset="0"/>
              </a:rPr>
              <a:t>cone </a:t>
            </a:r>
            <a:r>
              <a:rPr lang="en-US" sz="2000" dirty="0">
                <a:solidFill>
                  <a:srgbClr val="6D9A3D"/>
                </a:solidFill>
                <a:latin typeface="Verdana" charset="0"/>
                <a:ea typeface="Verdana" charset="0"/>
                <a:cs typeface="Verdana" charset="0"/>
              </a:rPr>
              <a:t>is a three-dimensional figure with a circular base and an apex that is connected to the base by a collection of line segments that form a curved surface.</a:t>
            </a: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30617" y="4685483"/>
            <a:ext cx="558119" cy="570949"/>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323504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664710"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 cone is shown with a diameter of </a:t>
                </a:r>
                <a14:m>
                  <m:oMath xmlns:m="http://schemas.openxmlformats.org/officeDocument/2006/math">
                    <m:r>
                      <a:rPr lang="en-US" sz="2000" i="1">
                        <a:latin typeface="Cambria Math" charset="0"/>
                        <a:ea typeface="Verdana" charset="0"/>
                        <a:cs typeface="Verdana" charset="0"/>
                      </a:rPr>
                      <m:t>16</m:t>
                    </m:r>
                  </m:oMath>
                </a14:m>
                <a:r>
                  <a:rPr lang="en-US" sz="2000" dirty="0">
                    <a:latin typeface="Verdana" charset="0"/>
                    <a:ea typeface="Verdana" charset="0"/>
                    <a:cs typeface="Verdana" charset="0"/>
                  </a:rPr>
                  <a:t> millimeters (mm), a height of </a:t>
                </a:r>
                <a14:m>
                  <m:oMath xmlns:m="http://schemas.openxmlformats.org/officeDocument/2006/math">
                    <m:r>
                      <a:rPr lang="en-US" sz="2000" i="1">
                        <a:latin typeface="Cambria Math" charset="0"/>
                        <a:ea typeface="Verdana" charset="0"/>
                        <a:cs typeface="Verdana" charset="0"/>
                      </a:rPr>
                      <m:t>22</m:t>
                    </m:r>
                  </m:oMath>
                </a14:m>
                <a:r>
                  <a:rPr lang="en-US" sz="2000" dirty="0">
                    <a:latin typeface="Verdana" charset="0"/>
                    <a:ea typeface="Verdana" charset="0"/>
                    <a:cs typeface="Verdana" charset="0"/>
                  </a:rPr>
                  <a:t> mm, and a slant height of </a:t>
                </a:r>
                <a14:m>
                  <m:oMath xmlns:m="http://schemas.openxmlformats.org/officeDocument/2006/math">
                    <m:r>
                      <a:rPr lang="en-US" sz="2000" i="1">
                        <a:latin typeface="Cambria Math" charset="0"/>
                        <a:ea typeface="Verdana" charset="0"/>
                        <a:cs typeface="Verdana" charset="0"/>
                      </a:rPr>
                      <m:t>23.4</m:t>
                    </m:r>
                  </m:oMath>
                </a14:m>
                <a:r>
                  <a:rPr lang="en-US" sz="2000" dirty="0">
                    <a:latin typeface="Verdana" charset="0"/>
                    <a:ea typeface="Verdana" charset="0"/>
                    <a:cs typeface="Verdana" charset="0"/>
                  </a:rPr>
                  <a:t> mm.</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3550"/>
                <a:r>
                  <a:rPr lang="en-US" sz="2000" dirty="0">
                    <a:latin typeface="Verdana" charset="0"/>
                    <a:ea typeface="Verdana" charset="0"/>
                    <a:cs typeface="Verdana" charset="0"/>
                  </a:rPr>
                  <a:t>Determine the volume of the cone, in terms of </a:t>
                </a:r>
                <a14:m>
                  <m:oMath xmlns:m="http://schemas.openxmlformats.org/officeDocument/2006/math">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10664710" cy="3785652"/>
              </a:xfrm>
              <a:prstGeom prst="rect">
                <a:avLst/>
              </a:prstGeom>
              <a:blipFill>
                <a:blip r:embed="rId4"/>
                <a:stretch>
                  <a:fillRect l="-629" t="-1127" b="-193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EF8251B-E8C1-79B0-1EDC-11D0EAE25D62}"/>
              </a:ext>
            </a:extLst>
          </p:cNvPr>
          <p:cNvPicPr>
            <a:picLocks noChangeAspect="1"/>
          </p:cNvPicPr>
          <p:nvPr/>
        </p:nvPicPr>
        <p:blipFill>
          <a:blip r:embed="rId5"/>
          <a:stretch>
            <a:fillRect/>
          </a:stretch>
        </p:blipFill>
        <p:spPr>
          <a:xfrm>
            <a:off x="4134745" y="1240749"/>
            <a:ext cx="2203709" cy="2458768"/>
          </a:xfrm>
          <a:prstGeom prst="rect">
            <a:avLst/>
          </a:prstGeom>
        </p:spPr>
      </p:pic>
    </p:spTree>
    <p:extLst>
      <p:ext uri="{BB962C8B-B14F-4D97-AF65-F5344CB8AC3E}">
        <p14:creationId xmlns:p14="http://schemas.microsoft.com/office/powerpoint/2010/main" val="1708761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12" y="-187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1776" y="526744"/>
            <a:ext cx="10415525" cy="70788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The bases of the rectangular pyramid and rectangular prism shown have congruent bases, and each has the same height.</a:t>
            </a: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29612" y="2190750"/>
            <a:ext cx="6388100" cy="2476500"/>
          </a:xfrm>
          <a:prstGeom prst="rect">
            <a:avLst/>
          </a:prstGeom>
        </p:spPr>
      </p:pic>
      <p:sp>
        <p:nvSpPr>
          <p:cNvPr id="3" name="Rectangle 2"/>
          <p:cNvSpPr/>
          <p:nvPr/>
        </p:nvSpPr>
        <p:spPr>
          <a:xfrm>
            <a:off x="4081221" y="1999282"/>
            <a:ext cx="557939" cy="4339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893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71200" y="528619"/>
                <a:ext cx="10404556" cy="3785652"/>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Suppose the rectangular pyramid is filled with water. Discuss with your partner how many rectangular pyramids you think you would need to fill the rectangular prism with water. Write your estimate.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Given the volume of a prism is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m:t>
                    </m:r>
                    <m:r>
                      <a:rPr lang="en-US" sz="2000" i="1">
                        <a:latin typeface="Cambria Math" charset="0"/>
                        <a:ea typeface="Verdana" charset="0"/>
                        <a:cs typeface="Verdana" charset="0"/>
                      </a:rPr>
                      <m:t>𝐵</m:t>
                    </m:r>
                    <m:r>
                      <a:rPr lang="en-US" sz="2000" i="1">
                        <a:latin typeface="Cambria Math" charset="0"/>
                        <a:ea typeface="Verdana" charset="0"/>
                        <a:cs typeface="Verdana" charset="0"/>
                      </a:rPr>
                      <m:t>∙</m:t>
                    </m:r>
                    <m:r>
                      <a:rPr lang="en-US" sz="2000" i="1">
                        <a:latin typeface="Cambria Math" charset="0"/>
                        <a:ea typeface="Verdana" charset="0"/>
                        <a:cs typeface="Verdana" charset="0"/>
                      </a:rPr>
                      <m:t>h</m:t>
                    </m:r>
                  </m:oMath>
                </a14:m>
                <a:r>
                  <a:rPr lang="en-US" sz="2000" dirty="0">
                    <a:latin typeface="Verdana" charset="0"/>
                    <a:ea typeface="Verdana" charset="0"/>
                    <a:cs typeface="Verdana" charset="0"/>
                  </a:rPr>
                  <a:t>, discuss with your partner how to re-write the formula to find the volume of the pyramid.</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The volume formula for a regular pyramid is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=__________</m:t>
                    </m:r>
                  </m:oMath>
                </a14:m>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71200" y="528619"/>
                <a:ext cx="10404556" cy="3785652"/>
              </a:xfrm>
              <a:prstGeom prst="rect">
                <a:avLst/>
              </a:prstGeom>
              <a:blipFill>
                <a:blip r:embed="rId4"/>
                <a:stretch>
                  <a:fillRect l="-644" t="-1127" b="-1932"/>
                </a:stretch>
              </a:blipFill>
            </p:spPr>
            <p:txBody>
              <a:bodyPr/>
              <a:lstStyle/>
              <a:p>
                <a:r>
                  <a:rPr lang="en-US">
                    <a:noFill/>
                  </a:rPr>
                  <a:t> </a:t>
                </a:r>
              </a:p>
            </p:txBody>
          </p:sp>
        </mc:Fallback>
      </mc:AlternateContent>
    </p:spTree>
    <p:extLst>
      <p:ext uri="{BB962C8B-B14F-4D97-AF65-F5344CB8AC3E}">
        <p14:creationId xmlns:p14="http://schemas.microsoft.com/office/powerpoint/2010/main" val="222251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022"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61796"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62252" y="2963161"/>
                <a:ext cx="10833544" cy="1015663"/>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A pyramid is shown, whose base is a rectangle with dimensions of </a:t>
                </a:r>
                <a14:m>
                  <m:oMath xmlns:m="http://schemas.openxmlformats.org/officeDocument/2006/math">
                    <m:r>
                      <a:rPr lang="en-US" sz="2000" i="1">
                        <a:latin typeface="Cambria Math" charset="0"/>
                        <a:ea typeface="Verdana" charset="0"/>
                        <a:cs typeface="Verdana" charset="0"/>
                      </a:rPr>
                      <m:t>10</m:t>
                    </m:r>
                  </m:oMath>
                </a14:m>
                <a:r>
                  <a:rPr lang="en-US" sz="2000" dirty="0">
                    <a:latin typeface="Verdana" charset="0"/>
                    <a:ea typeface="Verdana" charset="0"/>
                    <a:cs typeface="Verdana" charset="0"/>
                  </a:rPr>
                  <a:t> centimeters (cm) by </a:t>
                </a:r>
                <a14:m>
                  <m:oMath xmlns:m="http://schemas.openxmlformats.org/officeDocument/2006/math">
                    <m:r>
                      <a:rPr lang="en-US" sz="2000" i="1">
                        <a:latin typeface="Cambria Math" charset="0"/>
                        <a:ea typeface="Verdana" charset="0"/>
                        <a:cs typeface="Verdana" charset="0"/>
                      </a:rPr>
                      <m:t>14</m:t>
                    </m:r>
                  </m:oMath>
                </a14:m>
                <a:r>
                  <a:rPr lang="en-US" sz="2000" dirty="0">
                    <a:latin typeface="Verdana" charset="0"/>
                    <a:ea typeface="Verdana" charset="0"/>
                    <a:cs typeface="Verdana" charset="0"/>
                  </a:rPr>
                  <a:t> cm.  The height of the pyramid is </a:t>
                </a:r>
                <a14:m>
                  <m:oMath xmlns:m="http://schemas.openxmlformats.org/officeDocument/2006/math">
                    <m:r>
                      <a:rPr lang="en-US" sz="2000" i="1">
                        <a:latin typeface="Cambria Math" charset="0"/>
                        <a:ea typeface="Verdana" charset="0"/>
                        <a:cs typeface="Verdana" charset="0"/>
                      </a:rPr>
                      <m:t>17</m:t>
                    </m:r>
                  </m:oMath>
                </a14:m>
                <a:r>
                  <a:rPr lang="en-US" sz="2000" dirty="0">
                    <a:latin typeface="Verdana" charset="0"/>
                    <a:ea typeface="Verdana" charset="0"/>
                    <a:cs typeface="Verdana" charset="0"/>
                  </a:rPr>
                  <a:t> cm. Determine the volume of the pyramid.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62252" y="2963161"/>
                <a:ext cx="10833544" cy="1015663"/>
              </a:xfrm>
              <a:prstGeom prst="rect">
                <a:avLst/>
              </a:prstGeom>
              <a:blipFill>
                <a:blip r:embed="rId4"/>
                <a:stretch>
                  <a:fillRect l="-619" t="-4192" r="-1294" b="-9581"/>
                </a:stretch>
              </a:blipFill>
            </p:spPr>
            <p:txBody>
              <a:bodyPr/>
              <a:lstStyle/>
              <a:p>
                <a:r>
                  <a:rPr lang="en-US">
                    <a:noFill/>
                  </a:rPr>
                  <a:t> </a:t>
                </a:r>
              </a:p>
            </p:txBody>
          </p:sp>
        </mc:Fallback>
      </mc:AlternateContent>
      <p:sp>
        <p:nvSpPr>
          <p:cNvPr id="6" name="Text Box 24"/>
          <p:cNvSpPr txBox="1"/>
          <p:nvPr/>
        </p:nvSpPr>
        <p:spPr>
          <a:xfrm>
            <a:off x="1411120" y="535294"/>
            <a:ext cx="6629400" cy="2037357"/>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rgbClr val="6D9A3D"/>
                </a:solidFill>
                <a:latin typeface="Verdana" charset="0"/>
                <a:ea typeface="Verdana" charset="0"/>
                <a:cs typeface="Verdana" charset="0"/>
              </a:rPr>
              <a:t>A </a:t>
            </a:r>
            <a:r>
              <a:rPr lang="en-US" sz="2000" b="1" i="1" dirty="0">
                <a:solidFill>
                  <a:srgbClr val="6D9A3D"/>
                </a:solidFill>
                <a:latin typeface="Verdana" charset="0"/>
                <a:ea typeface="Verdana" charset="0"/>
                <a:cs typeface="Verdana" charset="0"/>
              </a:rPr>
              <a:t>pyramid</a:t>
            </a:r>
            <a:r>
              <a:rPr lang="en-US" sz="2000" dirty="0">
                <a:solidFill>
                  <a:srgbClr val="6D9A3D"/>
                </a:solidFill>
                <a:latin typeface="Verdana" charset="0"/>
                <a:ea typeface="Verdana" charset="0"/>
                <a:cs typeface="Verdana" charset="0"/>
              </a:rPr>
              <a:t> is a figure with a polygonal base and triangular faces. The triangular faces have the same size and shape and they connect the sides of the base to a common point called the apex.</a:t>
            </a: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646024" y="4105075"/>
            <a:ext cx="2032000" cy="255270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674214" y="829407"/>
            <a:ext cx="558119" cy="570949"/>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599370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794"/>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5274"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7048"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76928" y="2089945"/>
                <a:ext cx="8155894" cy="2990819"/>
              </a:xfrm>
              <a:prstGeom prst="rect">
                <a:avLst/>
              </a:prstGeom>
              <a:noFill/>
            </p:spPr>
            <p:txBody>
              <a:bodyPr wrap="square" rtlCol="0">
                <a:spAutoFit/>
              </a:bodyPr>
              <a:lstStyle/>
              <a:p>
                <a:r>
                  <a:rPr lang="en-US" sz="2000" dirty="0">
                    <a:latin typeface="Verdana" charset="0"/>
                    <a:ea typeface="Verdana" charset="0"/>
                    <a:cs typeface="Verdana" charset="0"/>
                  </a:rPr>
                  <a:t>A sphere with center </a:t>
                </a:r>
                <a14:m>
                  <m:oMath xmlns:m="http://schemas.openxmlformats.org/officeDocument/2006/math">
                    <m:r>
                      <a:rPr lang="en-US" sz="2000" i="1">
                        <a:latin typeface="Cambria Math" charset="0"/>
                        <a:ea typeface="Verdana" charset="0"/>
                        <a:cs typeface="Verdana" charset="0"/>
                      </a:rPr>
                      <m:t>𝐿</m:t>
                    </m:r>
                  </m:oMath>
                </a14:m>
                <a:r>
                  <a:rPr lang="en-US" sz="2000" dirty="0">
                    <a:latin typeface="Verdana" charset="0"/>
                    <a:ea typeface="Verdana" charset="0"/>
                    <a:cs typeface="Verdana" charset="0"/>
                  </a:rPr>
                  <a:t> is shown,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𝐿𝑊</m:t>
                        </m:r>
                      </m:e>
                    </m:acc>
                  </m:oMath>
                </a14:m>
                <a:r>
                  <a:rPr lang="en-US" sz="2000" dirty="0">
                    <a:latin typeface="Verdana" charset="0"/>
                    <a:ea typeface="Verdana" charset="0"/>
                    <a:cs typeface="Verdana" charset="0"/>
                  </a:rPr>
                  <a:t> is a radius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𝑇𝑆</m:t>
                        </m:r>
                      </m:e>
                    </m:acc>
                  </m:oMath>
                </a14:m>
                <a:r>
                  <a:rPr lang="en-US" sz="2000" dirty="0">
                    <a:latin typeface="Verdana" charset="0"/>
                    <a:ea typeface="Verdana" charset="0"/>
                    <a:cs typeface="Verdana" charset="0"/>
                  </a:rPr>
                  <a:t> is a diameter. The circle that passes through the points </a:t>
                </a:r>
                <a14:m>
                  <m:oMath xmlns:m="http://schemas.openxmlformats.org/officeDocument/2006/math">
                    <m:r>
                      <a:rPr lang="en-US" sz="2000" i="1">
                        <a:latin typeface="Cambria Math" charset="0"/>
                        <a:ea typeface="Verdana" charset="0"/>
                        <a:cs typeface="Verdana" charset="0"/>
                      </a:rPr>
                      <m:t>𝑇𝑅𝑆𝑊</m:t>
                    </m:r>
                  </m:oMath>
                </a14:m>
                <a:r>
                  <a:rPr lang="en-US" sz="2000" dirty="0">
                    <a:latin typeface="Verdana" charset="0"/>
                    <a:ea typeface="Verdana" charset="0"/>
                    <a:cs typeface="Verdana" charset="0"/>
                  </a:rPr>
                  <a:t> is known as a great circle since it is the largest possible circle that can be made around the sphere.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The volume formula for a sphere is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4</m:t>
                        </m:r>
                      </m:num>
                      <m:den>
                        <m:r>
                          <a:rPr lang="en-US" sz="2000" i="1">
                            <a:latin typeface="Cambria Math" charset="0"/>
                            <a:ea typeface="Verdana" charset="0"/>
                            <a:cs typeface="Verdana" charset="0"/>
                          </a:rPr>
                          <m:t>3</m:t>
                        </m:r>
                      </m:den>
                    </m:f>
                    <m:r>
                      <a:rPr lang="en-US" sz="2000" i="1">
                        <a:latin typeface="Cambria Math" charset="0"/>
                        <a:ea typeface="Verdana" charset="0"/>
                        <a:cs typeface="Verdana" charset="0"/>
                      </a:rPr>
                      <m:t>𝜋</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𝑟</m:t>
                        </m:r>
                      </m:e>
                      <m:sup>
                        <m:r>
                          <a:rPr lang="en-US" sz="2000" i="1">
                            <a:latin typeface="Cambria Math" charset="0"/>
                            <a:ea typeface="Verdana" charset="0"/>
                            <a:cs typeface="Verdana" charset="0"/>
                          </a:rPr>
                          <m:t>3</m:t>
                        </m:r>
                      </m:sup>
                    </m:sSup>
                  </m:oMath>
                </a14:m>
                <a:r>
                  <a:rPr lang="en-US" sz="2000" dirty="0">
                    <a:latin typeface="Verdana" charset="0"/>
                    <a:ea typeface="Verdana" charset="0"/>
                    <a:cs typeface="Verdana" charset="0"/>
                  </a:rPr>
                  <a:t>.</a:t>
                </a:r>
              </a:p>
              <a:p>
                <a:endParaRPr lang="en-US" sz="2000" dirty="0">
                  <a:latin typeface="Verdana" charset="0"/>
                  <a:ea typeface="Verdana" charset="0"/>
                  <a:cs typeface="Verdana" charset="0"/>
                </a:endParaRPr>
              </a:p>
              <a:p>
                <a:pPr marL="457200" indent="-457200">
                  <a:buFont typeface="+mj-lt"/>
                  <a:buAutoNum type="arabicPeriod" startAt="5"/>
                </a:pPr>
                <a:r>
                  <a:rPr lang="en-US" sz="2000" dirty="0">
                    <a:latin typeface="Verdana" charset="0"/>
                    <a:ea typeface="Verdana" charset="0"/>
                    <a:cs typeface="Verdana" charset="0"/>
                  </a:rPr>
                  <a:t>Find the volume of the sphere </a:t>
                </a:r>
                <a14:m>
                  <m:oMath xmlns:m="http://schemas.openxmlformats.org/officeDocument/2006/math">
                    <m:r>
                      <a:rPr lang="en-US" sz="2000" i="1">
                        <a:latin typeface="Cambria Math" charset="0"/>
                        <a:ea typeface="Verdana" charset="0"/>
                        <a:cs typeface="Verdana" charset="0"/>
                      </a:rPr>
                      <m:t>𝐺</m:t>
                    </m:r>
                  </m:oMath>
                </a14:m>
                <a:r>
                  <a:rPr lang="en-US" sz="2000" dirty="0">
                    <a:latin typeface="Verdana" charset="0"/>
                    <a:ea typeface="Verdana" charset="0"/>
                    <a:cs typeface="Verdana" charset="0"/>
                  </a:rPr>
                  <a:t>, where </a:t>
                </a:r>
                <a14:m>
                  <m:oMath xmlns:m="http://schemas.openxmlformats.org/officeDocument/2006/math">
                    <m:r>
                      <a:rPr lang="en-US" sz="2000" i="1">
                        <a:latin typeface="Cambria Math" charset="0"/>
                        <a:ea typeface="Verdana" charset="0"/>
                        <a:cs typeface="Verdana" charset="0"/>
                      </a:rPr>
                      <m:t>𝐺𝑌</m:t>
                    </m:r>
                    <m:r>
                      <a:rPr lang="en-US" sz="2000" i="1">
                        <a:latin typeface="Cambria Math" charset="0"/>
                        <a:ea typeface="Verdana" charset="0"/>
                        <a:cs typeface="Verdana" charset="0"/>
                      </a:rPr>
                      <m:t>=3 </m:t>
                    </m:r>
                  </m:oMath>
                </a14:m>
                <a:r>
                  <a:rPr lang="en-US" sz="2000" dirty="0">
                    <a:latin typeface="Verdana" charset="0"/>
                    <a:ea typeface="Verdana" charset="0"/>
                    <a:cs typeface="Verdana" charset="0"/>
                  </a:rPr>
                  <a:t>using </a:t>
                </a:r>
                <a14:m>
                  <m:oMath xmlns:m="http://schemas.openxmlformats.org/officeDocument/2006/math">
                    <m:r>
                      <a:rPr lang="en-US" sz="2000" i="1">
                        <a:latin typeface="Cambria Math" charset="0"/>
                        <a:ea typeface="Verdana" charset="0"/>
                        <a:cs typeface="Verdana" charset="0"/>
                      </a:rPr>
                      <m:t>𝜋</m:t>
                    </m:r>
                    <m:r>
                      <a:rPr lang="en-US" sz="2000" i="1">
                        <a:latin typeface="Cambria Math" charset="0"/>
                        <a:ea typeface="Verdana" charset="0"/>
                        <a:cs typeface="Verdana" charset="0"/>
                      </a:rPr>
                      <m:t>≈3.14</m:t>
                    </m:r>
                  </m:oMath>
                </a14:m>
                <a:r>
                  <a:rPr lang="en-US" sz="2000" dirty="0">
                    <a:latin typeface="Verdana" charset="0"/>
                    <a:ea typeface="Verdana" charset="0"/>
                    <a:cs typeface="Verdana" charset="0"/>
                  </a:rPr>
                  <a:t>. Round to the nearest thousandth.</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76928" y="2089945"/>
                <a:ext cx="8155894" cy="2990819"/>
              </a:xfrm>
              <a:prstGeom prst="rect">
                <a:avLst/>
              </a:prstGeom>
              <a:blipFill>
                <a:blip r:embed="rId4"/>
                <a:stretch>
                  <a:fillRect l="-822" t="-1224" r="-374" b="-2857"/>
                </a:stretch>
              </a:blipFill>
            </p:spPr>
            <p:txBody>
              <a:bodyPr/>
              <a:lstStyle/>
              <a:p>
                <a:r>
                  <a:rPr lang="en-US">
                    <a:noFill/>
                  </a:rPr>
                  <a:t> </a:t>
                </a:r>
              </a:p>
            </p:txBody>
          </p:sp>
        </mc:Fallback>
      </mc:AlternateContent>
      <p:sp>
        <p:nvSpPr>
          <p:cNvPr id="6" name="Text Box 24"/>
          <p:cNvSpPr txBox="1"/>
          <p:nvPr/>
        </p:nvSpPr>
        <p:spPr>
          <a:xfrm>
            <a:off x="1411120" y="547313"/>
            <a:ext cx="6629400" cy="1293507"/>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rgbClr val="6D9A3D"/>
                </a:solidFill>
                <a:latin typeface="Verdana" charset="0"/>
                <a:ea typeface="Verdana" charset="0"/>
                <a:cs typeface="Verdana" charset="0"/>
              </a:rPr>
              <a:t>A </a:t>
            </a:r>
            <a:r>
              <a:rPr lang="en-US" sz="2000" b="1" i="1" dirty="0">
                <a:solidFill>
                  <a:srgbClr val="6D9A3D"/>
                </a:solidFill>
                <a:latin typeface="Verdana" charset="0"/>
                <a:ea typeface="Verdana" charset="0"/>
                <a:cs typeface="Verdana" charset="0"/>
              </a:rPr>
              <a:t>sphere</a:t>
            </a:r>
            <a:r>
              <a:rPr lang="en-US" sz="2000" dirty="0">
                <a:solidFill>
                  <a:srgbClr val="6D9A3D"/>
                </a:solidFill>
                <a:latin typeface="Verdana" charset="0"/>
                <a:ea typeface="Verdana" charset="0"/>
                <a:cs typeface="Verdana" charset="0"/>
              </a:rPr>
              <a:t> is a three-dimensional figure, where all points are equidistant from a point called the center.</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837048" y="2089945"/>
            <a:ext cx="2635770" cy="2523130"/>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732822" y="4710335"/>
            <a:ext cx="1898115" cy="1819027"/>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711956" y="815286"/>
            <a:ext cx="558119" cy="570949"/>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903512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049"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024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202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5615" y="528619"/>
                <a:ext cx="8360792" cy="3170099"/>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Composite figures are made up of more than one figure. The composite figure shown is a cone on top of a cylinder. </a:t>
                </a:r>
              </a:p>
              <a:p>
                <a:pPr marL="463550"/>
                <a:r>
                  <a:rPr lang="en-US" sz="2000" dirty="0">
                    <a:latin typeface="Verdana" charset="0"/>
                    <a:ea typeface="Verdana" charset="0"/>
                    <a:cs typeface="Verdana" charset="0"/>
                  </a:rPr>
                  <a:t>Check all that must be true about the composite figure.</a:t>
                </a:r>
              </a:p>
              <a:p>
                <a:endParaRPr lang="en-US" sz="2000" dirty="0">
                  <a:latin typeface="Verdana" charset="0"/>
                  <a:ea typeface="Verdana" charset="0"/>
                  <a:cs typeface="Verdana" charset="0"/>
                </a:endParaRPr>
              </a:p>
              <a:p>
                <a:pPr marL="928688" indent="-419100">
                  <a:buFont typeface="Wingdings" charset="2"/>
                  <a:buChar char="q"/>
                </a:pPr>
                <a:r>
                  <a:rPr lang="en-US" sz="2000" dirty="0">
                    <a:latin typeface="Verdana" charset="0"/>
                    <a:ea typeface="Verdana" charset="0"/>
                    <a:cs typeface="Verdana" charset="0"/>
                  </a:rPr>
                  <a:t>The heights have the same measure.</a:t>
                </a:r>
              </a:p>
              <a:p>
                <a:pPr marL="928688" indent="-419100">
                  <a:buFont typeface="Wingdings" charset="2"/>
                  <a:buChar char="q"/>
                </a:pPr>
                <a:r>
                  <a:rPr lang="en-US" sz="2000" dirty="0">
                    <a:latin typeface="Verdana" charset="0"/>
                    <a:ea typeface="Verdana" charset="0"/>
                    <a:cs typeface="Verdana" charset="0"/>
                  </a:rPr>
                  <a:t>The diameters have the same measure.</a:t>
                </a:r>
              </a:p>
              <a:p>
                <a:pPr marL="928688" indent="-419100">
                  <a:buFont typeface="Wingdings" charset="2"/>
                  <a:buChar char="q"/>
                </a:pPr>
                <a:r>
                  <a:rPr lang="en-US" sz="2000" dirty="0">
                    <a:latin typeface="Verdana" charset="0"/>
                    <a:ea typeface="Verdana" charset="0"/>
                    <a:cs typeface="Verdana" charset="0"/>
                  </a:rPr>
                  <a:t>The radii have the same measure.</a:t>
                </a:r>
              </a:p>
              <a:p>
                <a:pPr marL="928688" indent="-419100">
                  <a:buFont typeface="Wingdings" charset="2"/>
                  <a:buChar char="q"/>
                </a:pPr>
                <a:r>
                  <a:rPr lang="en-US" sz="2000" dirty="0">
                    <a:latin typeface="Verdana" charset="0"/>
                    <a:ea typeface="Verdana" charset="0"/>
                    <a:cs typeface="Verdana" charset="0"/>
                  </a:rPr>
                  <a:t>The bases have the same area.</a:t>
                </a:r>
              </a:p>
              <a:p>
                <a:pPr marL="928688" indent="-419100">
                  <a:buFont typeface="Wingdings" charset="2"/>
                  <a:buChar char="q"/>
                </a:pPr>
                <a:r>
                  <a:rPr lang="en-US" sz="2000" dirty="0">
                    <a:latin typeface="Verdana" charset="0"/>
                    <a:ea typeface="Verdana" charset="0"/>
                    <a:cs typeface="Verdana" charset="0"/>
                  </a:rPr>
                  <a:t>The volume of this composite figure can be found using the formula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=2</m:t>
                    </m:r>
                    <m:r>
                      <a:rPr lang="en-US" sz="2000" i="1">
                        <a:latin typeface="Cambria Math" charset="0"/>
                        <a:ea typeface="Verdana" charset="0"/>
                        <a:cs typeface="Verdana" charset="0"/>
                      </a:rPr>
                      <m:t>𝜋</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𝑟</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h</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55615" y="528619"/>
                <a:ext cx="8360792" cy="3170099"/>
              </a:xfrm>
              <a:prstGeom prst="rect">
                <a:avLst/>
              </a:prstGeom>
              <a:blipFill>
                <a:blip r:embed="rId4"/>
                <a:stretch>
                  <a:fillRect l="-802" t="-1346" b="-2500"/>
                </a:stretch>
              </a:blipFill>
            </p:spPr>
            <p:txBody>
              <a:bodyPr/>
              <a:lstStyle/>
              <a:p>
                <a:r>
                  <a:rPr lang="en-US">
                    <a:noFill/>
                  </a:rPr>
                  <a:t> </a:t>
                </a:r>
              </a:p>
            </p:txBody>
          </p:sp>
        </mc:Fallback>
      </mc:AlternateContent>
      <p:pic>
        <p:nvPicPr>
          <p:cNvPr id="4" name="Picture 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916407" y="1143628"/>
            <a:ext cx="2559614" cy="3485951"/>
          </a:xfrm>
          <a:prstGeom prst="rect">
            <a:avLst/>
          </a:prstGeom>
        </p:spPr>
      </p:pic>
      <p:sp>
        <p:nvSpPr>
          <p:cNvPr id="5" name="Rectangle 4"/>
          <p:cNvSpPr/>
          <p:nvPr/>
        </p:nvSpPr>
        <p:spPr>
          <a:xfrm>
            <a:off x="866866" y="4062595"/>
            <a:ext cx="7732175" cy="1015663"/>
          </a:xfrm>
          <a:prstGeom prst="rect">
            <a:avLst/>
          </a:prstGeom>
        </p:spPr>
        <p:txBody>
          <a:bodyPr wrap="square">
            <a:spAutoFit/>
          </a:bodyPr>
          <a:lstStyle/>
          <a:p>
            <a:pPr marL="457200" indent="-457200">
              <a:spcAft>
                <a:spcPts val="1000"/>
              </a:spcAft>
              <a:buFont typeface="+mj-lt"/>
              <a:buAutoNum type="arabicPeriod" startAt="7"/>
            </a:pPr>
            <a:r>
              <a:rPr lang="en-US" sz="2000" dirty="0">
                <a:latin typeface="Verdana" charset="0"/>
                <a:ea typeface="Times New Roman" charset="0"/>
                <a:cs typeface="Times New Roman" charset="0"/>
              </a:rPr>
              <a:t>Discuss with your partner the statements that were false. Rewrite each false statement so that it would be true.</a:t>
            </a:r>
            <a:endParaRPr lang="en-US" dirty="0">
              <a:latin typeface="Cambria" charset="0"/>
              <a:ea typeface="Times New Roman" charset="0"/>
              <a:cs typeface="Times New Roman" charset="0"/>
            </a:endParaRPr>
          </a:p>
        </p:txBody>
      </p:sp>
    </p:spTree>
    <p:extLst>
      <p:ext uri="{BB962C8B-B14F-4D97-AF65-F5344CB8AC3E}">
        <p14:creationId xmlns:p14="http://schemas.microsoft.com/office/powerpoint/2010/main" val="46138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562"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5336"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9"/>
                <a:ext cx="10968771" cy="707886"/>
              </a:xfrm>
              <a:prstGeom prst="rect">
                <a:avLst/>
              </a:prstGeom>
              <a:noFill/>
            </p:spPr>
            <p:txBody>
              <a:bodyPr wrap="square" rtlCol="0">
                <a:spAutoFit/>
              </a:bodyPr>
              <a:lstStyle/>
              <a:p>
                <a:pPr marL="457200" indent="-457200">
                  <a:buFont typeface="+mj-lt"/>
                  <a:buAutoNum type="arabicPeriod" startAt="8"/>
                </a:pPr>
                <a:r>
                  <a:rPr lang="en-US" sz="2000" dirty="0">
                    <a:latin typeface="Verdana" charset="0"/>
                    <a:ea typeface="Verdana" charset="0"/>
                    <a:cs typeface="Verdana" charset="0"/>
                  </a:rPr>
                  <a:t>A composite figure is shown, where </a:t>
                </a:r>
                <a14:m>
                  <m:oMath xmlns:m="http://schemas.openxmlformats.org/officeDocument/2006/math">
                    <m:r>
                      <a:rPr lang="en-US" sz="2000" i="1">
                        <a:latin typeface="Cambria Math" charset="0"/>
                        <a:ea typeface="Verdana" charset="0"/>
                        <a:cs typeface="Verdana" charset="0"/>
                      </a:rPr>
                      <m:t>𝐻𝑇</m:t>
                    </m:r>
                    <m:r>
                      <a:rPr lang="en-US" sz="2000" i="1">
                        <a:latin typeface="Cambria Math" charset="0"/>
                        <a:ea typeface="Verdana" charset="0"/>
                        <a:cs typeface="Verdana" charset="0"/>
                      </a:rPr>
                      <m:t>=3.2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𝐾𝑇</m:t>
                    </m:r>
                    <m:r>
                      <a:rPr lang="en-US" sz="2000" i="1">
                        <a:latin typeface="Cambria Math" charset="0"/>
                        <a:ea typeface="Verdana" charset="0"/>
                        <a:cs typeface="Verdana" charset="0"/>
                      </a:rPr>
                      <m:t>=4.8</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𝐷𝑇</m:t>
                    </m:r>
                    <m:r>
                      <a:rPr lang="en-US" sz="2000" i="1">
                        <a:latin typeface="Cambria Math" charset="0"/>
                        <a:ea typeface="Verdana" charset="0"/>
                        <a:cs typeface="Verdana" charset="0"/>
                      </a:rPr>
                      <m:t>=10.7</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𝑊𝐷</m:t>
                    </m:r>
                    <m:r>
                      <a:rPr lang="en-US" sz="2000" i="1">
                        <a:latin typeface="Cambria Math" charset="0"/>
                        <a:ea typeface="Verdana" charset="0"/>
                        <a:cs typeface="Verdana" charset="0"/>
                      </a:rPr>
                      <m:t>=11.1</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𝑊𝐷</m:t>
                    </m:r>
                  </m:oMath>
                </a14:m>
                <a:r>
                  <a:rPr lang="en-US" sz="2000" dirty="0">
                    <a:latin typeface="Verdana" charset="0"/>
                    <a:ea typeface="Verdana" charset="0"/>
                    <a:cs typeface="Verdana" charset="0"/>
                  </a:rPr>
                  <a:t> is the height of the pyramid. Find the volume of the composite figure.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9"/>
                <a:ext cx="10968771" cy="707886"/>
              </a:xfrm>
              <a:prstGeom prst="rect">
                <a:avLst/>
              </a:prstGeom>
              <a:blipFill>
                <a:blip r:embed="rId4"/>
                <a:stretch>
                  <a:fillRect l="-611" t="-6034" r="-222" b="-1465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20500" y="2484725"/>
            <a:ext cx="5803900" cy="1905000"/>
          </a:xfrm>
          <a:prstGeom prst="rect">
            <a:avLst/>
          </a:prstGeom>
        </p:spPr>
      </p:pic>
    </p:spTree>
    <p:extLst>
      <p:ext uri="{BB962C8B-B14F-4D97-AF65-F5344CB8AC3E}">
        <p14:creationId xmlns:p14="http://schemas.microsoft.com/office/powerpoint/2010/main" val="787757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87</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74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01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108486"/>
            <a:ext cx="103541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9.6.3 Guided Practice: Finding Volume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87</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6602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1D40250-DEDD-2C41-8538-3D4DD18CCC4A}"/>
                  </a:ext>
                </a:extLst>
              </p:cNvPr>
              <p:cNvSpPr txBox="1"/>
              <p:nvPr/>
            </p:nvSpPr>
            <p:spPr>
              <a:xfrm>
                <a:off x="593248" y="1423237"/>
                <a:ext cx="11034902" cy="342549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Find the volume of a hemisphere that has a diameter of </a:t>
                </a:r>
                <a14:m>
                  <m:oMath xmlns:m="http://schemas.openxmlformats.org/officeDocument/2006/math">
                    <m:r>
                      <a:rPr lang="en-US" sz="2000" i="1">
                        <a:latin typeface="Cambria Math" charset="0"/>
                        <a:ea typeface="Verdana" charset="0"/>
                        <a:cs typeface="Verdana" charset="0"/>
                      </a:rPr>
                      <m:t>9.4</m:t>
                    </m:r>
                  </m:oMath>
                </a14:m>
                <a:r>
                  <a:rPr lang="en-US" sz="2000" dirty="0">
                    <a:latin typeface="Verdana" charset="0"/>
                    <a:ea typeface="Verdana" charset="0"/>
                    <a:cs typeface="Verdana" charset="0"/>
                  </a:rPr>
                  <a:t> inches. Round your answer to the nearest thousandth.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A composite figure consists of a hemisphere and a cone. The base of the cone and the great circle of the hemisphere have the same diameter. The radius of the hemisphere is </a:t>
                </a:r>
                <a14:m>
                  <m:oMath xmlns:m="http://schemas.openxmlformats.org/officeDocument/2006/math">
                    <m:r>
                      <a:rPr lang="en-US" sz="2000" i="1">
                        <a:latin typeface="Cambria Math" charset="0"/>
                        <a:ea typeface="Verdana" charset="0"/>
                        <a:cs typeface="Verdana" charset="0"/>
                      </a:rPr>
                      <m:t>4</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3</m:t>
                        </m:r>
                      </m:num>
                      <m:den>
                        <m:r>
                          <a:rPr lang="en-US" sz="2000" i="1">
                            <a:latin typeface="Cambria Math" charset="0"/>
                            <a:ea typeface="Verdana" charset="0"/>
                            <a:cs typeface="Verdana" charset="0"/>
                          </a:rPr>
                          <m:t>4</m:t>
                        </m:r>
                      </m:den>
                    </m:f>
                  </m:oMath>
                </a14:m>
                <a:r>
                  <a:rPr lang="en-US" sz="2000" dirty="0">
                    <a:latin typeface="Verdana" charset="0"/>
                    <a:ea typeface="Verdana" charset="0"/>
                    <a:cs typeface="Verdana" charset="0"/>
                  </a:rPr>
                  <a:t> centimeters (cm). The height of the cone is </a:t>
                </a:r>
                <a14:m>
                  <m:oMath xmlns:m="http://schemas.openxmlformats.org/officeDocument/2006/math">
                    <m:r>
                      <a:rPr lang="en-US" sz="2000" i="1">
                        <a:latin typeface="Cambria Math" charset="0"/>
                        <a:ea typeface="Verdana" charset="0"/>
                        <a:cs typeface="Verdana" charset="0"/>
                      </a:rPr>
                      <m:t>9</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12</m:t>
                        </m:r>
                      </m:den>
                    </m:f>
                  </m:oMath>
                </a14:m>
                <a:r>
                  <a:rPr lang="en-US" sz="2000" dirty="0">
                    <a:latin typeface="Verdana" charset="0"/>
                    <a:ea typeface="Verdana" charset="0"/>
                    <a:cs typeface="Verdana" charset="0"/>
                  </a:rPr>
                  <a:t> centimeters (cm). Find the volume of the composite figure using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22</m:t>
                        </m:r>
                      </m:num>
                      <m:den>
                        <m:r>
                          <a:rPr lang="en-US" sz="2000" i="1">
                            <a:latin typeface="Cambria Math" charset="0"/>
                            <a:ea typeface="Verdana" charset="0"/>
                            <a:cs typeface="Verdana" charset="0"/>
                          </a:rPr>
                          <m:t>7</m:t>
                        </m:r>
                      </m:den>
                    </m:f>
                  </m:oMath>
                </a14:m>
                <a:r>
                  <a:rPr lang="en-US" sz="2000" dirty="0">
                    <a:latin typeface="Verdana" charset="0"/>
                    <a:ea typeface="Verdana" charset="0"/>
                    <a:cs typeface="Verdana" charset="0"/>
                  </a:rPr>
                  <a:t> for </a:t>
                </a:r>
                <a14:m>
                  <m:oMath xmlns:m="http://schemas.openxmlformats.org/officeDocument/2006/math">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 Round your answer to the nearest thousandth. </a:t>
                </a:r>
              </a:p>
            </p:txBody>
          </p:sp>
        </mc:Choice>
        <mc:Fallback>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8" y="1423237"/>
                <a:ext cx="11034902" cy="3425490"/>
              </a:xfrm>
              <a:prstGeom prst="rect">
                <a:avLst/>
              </a:prstGeom>
              <a:blipFill>
                <a:blip r:embed="rId5"/>
                <a:stretch>
                  <a:fillRect l="-607" t="-1068" r="-1160" b="-2313"/>
                </a:stretch>
              </a:blipFill>
            </p:spPr>
            <p:txBody>
              <a:bodyPr/>
              <a:lstStyle/>
              <a:p>
                <a:r>
                  <a:rPr lang="en-US">
                    <a:noFill/>
                  </a:rPr>
                  <a:t> </a:t>
                </a:r>
              </a:p>
            </p:txBody>
          </p:sp>
        </mc:Fallback>
      </mc:AlternateContent>
    </p:spTree>
    <p:extLst>
      <p:ext uri="{BB962C8B-B14F-4D97-AF65-F5344CB8AC3E}">
        <p14:creationId xmlns:p14="http://schemas.microsoft.com/office/powerpoint/2010/main" val="45409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62647"/>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87</a:t>
            </a:r>
          </a:p>
        </p:txBody>
      </p:sp>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37988" y="69469"/>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9.6.4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290688" y="6946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59C3E41-93EC-B84D-963F-86A3B15AC1C6}"/>
                  </a:ext>
                </a:extLst>
              </p:cNvPr>
              <p:cNvSpPr txBox="1"/>
              <p:nvPr/>
            </p:nvSpPr>
            <p:spPr>
              <a:xfrm>
                <a:off x="578586" y="1395170"/>
                <a:ext cx="11049564"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Find the volume of a cylinder with a diameter of </a:t>
                </a:r>
                <a14:m>
                  <m:oMath xmlns:m="http://schemas.openxmlformats.org/officeDocument/2006/math">
                    <m:r>
                      <a:rPr lang="en-US" sz="2000" i="1">
                        <a:latin typeface="Cambria Math" charset="0"/>
                        <a:ea typeface="Verdana" charset="0"/>
                        <a:cs typeface="Verdana" charset="0"/>
                      </a:rPr>
                      <m:t>18.3</m:t>
                    </m:r>
                  </m:oMath>
                </a14:m>
                <a:r>
                  <a:rPr lang="en-US" sz="2000" dirty="0">
                    <a:latin typeface="Verdana" charset="0"/>
                    <a:ea typeface="Verdana" charset="0"/>
                    <a:cs typeface="Verdana" charset="0"/>
                  </a:rPr>
                  <a:t> millimeters (mm) and a height of </a:t>
                </a:r>
                <a14:m>
                  <m:oMath xmlns:m="http://schemas.openxmlformats.org/officeDocument/2006/math">
                    <m:r>
                      <a:rPr lang="en-US" sz="2000" i="1">
                        <a:latin typeface="Cambria Math" charset="0"/>
                        <a:ea typeface="Verdana" charset="0"/>
                        <a:cs typeface="Verdana" charset="0"/>
                      </a:rPr>
                      <m:t>6.4</m:t>
                    </m:r>
                  </m:oMath>
                </a14:m>
                <a:r>
                  <a:rPr lang="en-US" sz="2000" dirty="0">
                    <a:latin typeface="Verdana" charset="0"/>
                    <a:ea typeface="Verdana" charset="0"/>
                    <a:cs typeface="Verdana" charset="0"/>
                  </a:rPr>
                  <a:t> mm. Round your answer to the nearest thousandth.</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Find the volume of a pyramid whose height is </a:t>
                </a:r>
                <a14:m>
                  <m:oMath xmlns:m="http://schemas.openxmlformats.org/officeDocument/2006/math">
                    <m:r>
                      <a:rPr lang="en-US" sz="2000" i="1">
                        <a:latin typeface="Cambria Math" charset="0"/>
                        <a:ea typeface="Verdana" charset="0"/>
                        <a:cs typeface="Verdana" charset="0"/>
                      </a:rPr>
                      <m:t>15.7</m:t>
                    </m:r>
                  </m:oMath>
                </a14:m>
                <a:r>
                  <a:rPr lang="en-US" sz="2000" dirty="0">
                    <a:latin typeface="Verdana" charset="0"/>
                    <a:ea typeface="Verdana" charset="0"/>
                    <a:cs typeface="Verdana" charset="0"/>
                  </a:rPr>
                  <a:t> inches (in.), and whose base is a rectangle with dimensions of </a:t>
                </a:r>
                <a14:m>
                  <m:oMath xmlns:m="http://schemas.openxmlformats.org/officeDocument/2006/math">
                    <m:r>
                      <a:rPr lang="en-US" sz="2000" i="1">
                        <a:latin typeface="Cambria Math" charset="0"/>
                        <a:ea typeface="Verdana" charset="0"/>
                        <a:cs typeface="Verdana" charset="0"/>
                      </a:rPr>
                      <m:t>7.6</m:t>
                    </m:r>
                  </m:oMath>
                </a14:m>
                <a:r>
                  <a:rPr lang="en-US" sz="2000" dirty="0">
                    <a:latin typeface="Verdana" charset="0"/>
                    <a:ea typeface="Verdana" charset="0"/>
                    <a:cs typeface="Verdana" charset="0"/>
                  </a:rPr>
                  <a:t> in. by </a:t>
                </a:r>
                <a14:m>
                  <m:oMath xmlns:m="http://schemas.openxmlformats.org/officeDocument/2006/math">
                    <m:r>
                      <a:rPr lang="en-US" sz="2000" i="1">
                        <a:latin typeface="Cambria Math" charset="0"/>
                        <a:ea typeface="Verdana" charset="0"/>
                        <a:cs typeface="Verdana" charset="0"/>
                      </a:rPr>
                      <m:t>12.4</m:t>
                    </m:r>
                  </m:oMath>
                </a14:m>
                <a:r>
                  <a:rPr lang="en-US" sz="2000" dirty="0">
                    <a:latin typeface="Verdana" charset="0"/>
                    <a:ea typeface="Verdana" charset="0"/>
                    <a:cs typeface="Verdana" charset="0"/>
                  </a:rPr>
                  <a:t> in. Round your answer to the nearest thousandth.</a:t>
                </a:r>
              </a:p>
              <a:p>
                <a:pPr marL="457200" indent="-457200">
                  <a:buFont typeface="+mj-lt"/>
                  <a:buAutoNum type="arabicPeriod"/>
                </a:pPr>
                <a:endParaRPr lang="en-US" sz="2000" dirty="0">
                  <a:latin typeface="Verdana" charset="0"/>
                  <a:ea typeface="Verdana" charset="0"/>
                  <a:cs typeface="Verdana" charset="0"/>
                </a:endParaRPr>
              </a:p>
            </p:txBody>
          </p:sp>
        </mc:Choice>
        <mc:Fallback>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78586" y="1395170"/>
                <a:ext cx="11049564" cy="3477875"/>
              </a:xfrm>
              <a:prstGeom prst="rect">
                <a:avLst/>
              </a:prstGeom>
              <a:blipFill>
                <a:blip r:embed="rId5"/>
                <a:stretch>
                  <a:fillRect l="-607" t="-1228"/>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87</a:t>
            </a:r>
          </a:p>
        </p:txBody>
      </p:sp>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88</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88</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799" y="-206430"/>
            <a:ext cx="94815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370EDB7-6994-3D43-ABF9-E04CBAFB9CD9}"/>
                  </a:ext>
                </a:extLst>
              </p:cNvPr>
              <p:cNvSpPr txBox="1"/>
              <p:nvPr/>
            </p:nvSpPr>
            <p:spPr>
              <a:xfrm>
                <a:off x="593249" y="1386151"/>
                <a:ext cx="7372880"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Find the volume of the composite figure if </a:t>
                </a:r>
                <a14:m>
                  <m:oMath xmlns:m="http://schemas.openxmlformats.org/officeDocument/2006/math">
                    <m:r>
                      <a:rPr lang="en-US" sz="2000" i="1">
                        <a:latin typeface="Cambria Math" charset="0"/>
                        <a:ea typeface="Verdana" charset="0"/>
                        <a:cs typeface="Verdana" charset="0"/>
                      </a:rPr>
                      <m:t>𝑀𝐷</m:t>
                    </m:r>
                    <m:r>
                      <a:rPr lang="en-US" sz="2000" i="1">
                        <a:latin typeface="Cambria Math" charset="0"/>
                        <a:ea typeface="Verdana" charset="0"/>
                        <a:cs typeface="Verdana" charset="0"/>
                      </a:rPr>
                      <m:t>=17</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𝐷𝑌</m:t>
                    </m:r>
                    <m:r>
                      <a:rPr lang="en-US" sz="2000" i="1">
                        <a:latin typeface="Cambria Math" charset="0"/>
                        <a:ea typeface="Verdana" charset="0"/>
                        <a:cs typeface="Verdana" charset="0"/>
                      </a:rPr>
                      <m:t>=8.5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𝐾𝐷</m:t>
                    </m:r>
                    <m:r>
                      <a:rPr lang="en-US" sz="2000" i="1">
                        <a:latin typeface="Cambria Math" charset="0"/>
                        <a:ea typeface="Verdana" charset="0"/>
                        <a:cs typeface="Verdana" charset="0"/>
                      </a:rPr>
                      <m:t>=26</m:t>
                    </m:r>
                  </m:oMath>
                </a14:m>
                <a:r>
                  <a:rPr lang="en-US" sz="2000" dirty="0">
                    <a:latin typeface="Verdana" charset="0"/>
                    <a:ea typeface="Verdana" charset="0"/>
                    <a:cs typeface="Verdana" charset="0"/>
                  </a:rPr>
                  <a:t>. Round your answer to the nearest hundredth.</a:t>
                </a:r>
              </a:p>
            </p:txBody>
          </p:sp>
        </mc:Choice>
        <mc:Fallback>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9" y="1386151"/>
                <a:ext cx="7372880" cy="1015663"/>
              </a:xfrm>
              <a:prstGeom prst="rect">
                <a:avLst/>
              </a:prstGeom>
              <a:blipFill>
                <a:blip r:embed="rId5"/>
                <a:stretch>
                  <a:fillRect l="-909" t="-3593" b="-9581"/>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317638" y="1386151"/>
            <a:ext cx="2298700" cy="417830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1292</TotalTime>
  <Words>1160</Words>
  <Application>Microsoft Office PowerPoint</Application>
  <PresentationFormat>Widescreen</PresentationFormat>
  <Paragraphs>138</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Cambria</vt:lpstr>
      <vt:lpstr>Cambria Math</vt:lpstr>
      <vt:lpstr>Century Gothic</vt:lpstr>
      <vt:lpstr>Verdana</vt:lpstr>
      <vt:lpstr>Wingdings</vt:lpstr>
      <vt:lpstr>1_Office Theme</vt:lpstr>
      <vt:lpstr>Geometry  Unit 9, Lesson 6  Finding Volume  Volume 2, pg. 82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26</cp:revision>
  <dcterms:created xsi:type="dcterms:W3CDTF">2015-03-17T18:51:18Z</dcterms:created>
  <dcterms:modified xsi:type="dcterms:W3CDTF">2023-03-02T17:32:33Z</dcterms:modified>
</cp:coreProperties>
</file>