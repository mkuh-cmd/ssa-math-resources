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62" r:id="rId9"/>
    <p:sldId id="363" r:id="rId10"/>
    <p:sldId id="364" r:id="rId11"/>
    <p:sldId id="365" r:id="rId12"/>
    <p:sldId id="366" r:id="rId13"/>
    <p:sldId id="367" r:id="rId14"/>
    <p:sldId id="368" r:id="rId15"/>
    <p:sldId id="369" r:id="rId16"/>
    <p:sldId id="374" r:id="rId17"/>
    <p:sldId id="370" r:id="rId18"/>
    <p:sldId id="371" r:id="rId19"/>
    <p:sldId id="372" r:id="rId20"/>
    <p:sldId id="373" r:id="rId21"/>
    <p:sldId id="302" r:id="rId22"/>
    <p:sldId id="303" r:id="rId23"/>
    <p:sldId id="306" r:id="rId24"/>
    <p:sldId id="307"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34"/>
    <p:restoredTop sz="94674"/>
  </p:normalViewPr>
  <p:slideViewPr>
    <p:cSldViewPr snapToGrid="0">
      <p:cViewPr varScale="1">
        <p:scale>
          <a:sx n="83" d="100"/>
          <a:sy n="83" d="100"/>
        </p:scale>
        <p:origin x="62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529060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378883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40827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241238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0934000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724966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099921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615513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5802313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759591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741661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2371406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571321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8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20.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11</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Determining Surface Area Given Dimension Changes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112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696107"/>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1850" y="-88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17630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21385"/>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900" y="1600200"/>
            <a:ext cx="1159567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MA.912.GR.4.3 </a:t>
            </a:r>
          </a:p>
          <a:p>
            <a:pPr marL="461963" indent="0">
              <a:buNone/>
            </a:pPr>
            <a:r>
              <a:rPr lang="en-US" sz="2400" dirty="0">
                <a:latin typeface="Verdana" charset="0"/>
                <a:ea typeface="Verdana" charset="0"/>
                <a:cs typeface="Verdana" charset="0"/>
              </a:rPr>
              <a:t>Extend previous understanding of scale drawings and scale factors to determine how dilations affect the area of two-dimensional figures and the surface area or volume of three-dimensional figures.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82569" y="20933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875" y="-57102"/>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112</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382569" y="1596390"/>
            <a:ext cx="1167664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96088"/>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93112"/>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112</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899" y="1600200"/>
            <a:ext cx="1167715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find the area of a figure when one or both dimensions are changed.</a:t>
            </a:r>
          </a:p>
          <a:p>
            <a:pPr marL="342900" indent="-342900">
              <a:buFont typeface="Wingdings" charset="2"/>
              <a:buChar char="q"/>
            </a:pPr>
            <a:r>
              <a:rPr lang="en-US" sz="2400" dirty="0">
                <a:latin typeface="Verdana" charset="0"/>
                <a:ea typeface="Verdana" charset="0"/>
                <a:cs typeface="Verdana" charset="0"/>
              </a:rPr>
              <a:t>I can find the surface area of a three-dimensional figure when one or both dimensions are changed.</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6833" y="62088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62833" y="64659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6252" y="-10076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9.11.1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8952" y="188432"/>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93833"/>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112</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308952" y="1386026"/>
                <a:ext cx="11695943" cy="4708981"/>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Trapezoid </a:t>
                </a:r>
                <a14:m>
                  <m:oMath xmlns:m="http://schemas.openxmlformats.org/officeDocument/2006/math">
                    <m:r>
                      <a:rPr lang="en-US" sz="2000" i="1">
                        <a:latin typeface="Cambria Math" charset="0"/>
                        <a:ea typeface="Verdana" charset="0"/>
                        <a:cs typeface="Verdana" charset="0"/>
                      </a:rPr>
                      <m:t>𝐷𝑃𝐶𝐿</m:t>
                    </m:r>
                  </m:oMath>
                </a14:m>
                <a:r>
                  <a:rPr lang="en-US" sz="2000" dirty="0">
                    <a:latin typeface="Verdana" charset="0"/>
                    <a:ea typeface="Verdana" charset="0"/>
                    <a:cs typeface="Verdana" charset="0"/>
                  </a:rPr>
                  <a:t> is shown in the coordinate plane.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5513" indent="-447675">
                  <a:buFont typeface="+mj-lt"/>
                  <a:buAutoNum type="alphaLcPeriod"/>
                </a:pPr>
                <a:r>
                  <a:rPr lang="en-US" sz="2000" dirty="0">
                    <a:latin typeface="Verdana" charset="0"/>
                    <a:ea typeface="Verdana" charset="0"/>
                    <a:cs typeface="Verdana" charset="0"/>
                  </a:rPr>
                  <a:t>Find the area of </a:t>
                </a:r>
                <a14:m>
                  <m:oMath xmlns:m="http://schemas.openxmlformats.org/officeDocument/2006/math">
                    <m:r>
                      <a:rPr lang="en-US" sz="2000" i="1">
                        <a:latin typeface="Cambria Math" charset="0"/>
                        <a:ea typeface="Verdana" charset="0"/>
                        <a:cs typeface="Verdana" charset="0"/>
                      </a:rPr>
                      <m:t>𝐷𝑃𝐶𝐿</m:t>
                    </m:r>
                  </m:oMath>
                </a14:m>
                <a:r>
                  <a:rPr lang="en-US" sz="2000" dirty="0">
                    <a:latin typeface="Verdana" charset="0"/>
                    <a:ea typeface="Verdana" charset="0"/>
                    <a:cs typeface="Verdana" charset="0"/>
                  </a:rPr>
                  <a:t>. </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308952" y="1386026"/>
                <a:ext cx="11695943" cy="4708981"/>
              </a:xfrm>
              <a:prstGeom prst="rect">
                <a:avLst/>
              </a:prstGeom>
              <a:blipFill>
                <a:blip r:embed="rId5"/>
                <a:stretch>
                  <a:fillRect l="-542" t="-536" b="-1072"/>
                </a:stretch>
              </a:blipFill>
            </p:spPr>
            <p:txBody>
              <a:bodyPr/>
              <a:lstStyle/>
              <a:p>
                <a:r>
                  <a:rPr lang="en-US">
                    <a:noFill/>
                  </a:rPr>
                  <a:t> </a:t>
                </a:r>
              </a:p>
            </p:txBody>
          </p:sp>
        </mc:Fallback>
      </mc:AlternateContent>
      <p:pic>
        <p:nvPicPr>
          <p:cNvPr id="3" name="Picture 2"/>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953142" y="1984952"/>
            <a:ext cx="6541749" cy="3673692"/>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0956"/>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112</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53085" y="520394"/>
                <a:ext cx="11688023" cy="1015663"/>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Find the coordinates of the image of </a:t>
                </a:r>
                <a14:m>
                  <m:oMath xmlns:m="http://schemas.openxmlformats.org/officeDocument/2006/math">
                    <m:r>
                      <a:rPr lang="en-US" sz="2000" i="1">
                        <a:latin typeface="Cambria Math" charset="0"/>
                        <a:ea typeface="Verdana" charset="0"/>
                        <a:cs typeface="Verdana" charset="0"/>
                      </a:rPr>
                      <m:t>𝑀𝑇𝑅𝐷</m:t>
                    </m:r>
                  </m:oMath>
                </a14:m>
                <a:r>
                  <a:rPr lang="en-US" sz="2000" dirty="0">
                    <a:latin typeface="Verdana" charset="0"/>
                    <a:ea typeface="Verdana" charset="0"/>
                    <a:cs typeface="Verdana" charset="0"/>
                  </a:rPr>
                  <a:t> given the scale factor in the table. Use the preimage coordinates to find the coordinates of the image. The dilation is centered at </a:t>
                </a:r>
                <a14:m>
                  <m:oMath xmlns:m="http://schemas.openxmlformats.org/officeDocument/2006/math">
                    <m:d>
                      <m:dPr>
                        <m:ctrlPr>
                          <a:rPr lang="en-US" sz="2000" i="1">
                            <a:latin typeface="Cambria Math" panose="02040503050406030204" pitchFamily="18" charset="0"/>
                            <a:ea typeface="Verdana" charset="0"/>
                            <a:cs typeface="Verdana" charset="0"/>
                          </a:rPr>
                        </m:ctrlPr>
                      </m:dPr>
                      <m:e>
                        <m:r>
                          <a:rPr lang="en-US" sz="2000" i="1">
                            <a:latin typeface="Cambria Math" charset="0"/>
                            <a:ea typeface="Verdana" charset="0"/>
                            <a:cs typeface="Verdana" charset="0"/>
                          </a:rPr>
                          <m:t>0,0</m:t>
                        </m:r>
                      </m:e>
                    </m:d>
                  </m:oMath>
                </a14:m>
                <a:r>
                  <a:rPr lang="en-US" sz="2000" dirty="0">
                    <a:latin typeface="Verdana" charset="0"/>
                    <a:ea typeface="Verdana" charset="0"/>
                    <a:cs typeface="Verdana"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53085" y="520394"/>
                <a:ext cx="11688023" cy="1015663"/>
              </a:xfrm>
              <a:prstGeom prst="rect">
                <a:avLst/>
              </a:prstGeom>
              <a:blipFill>
                <a:blip r:embed="rId4"/>
                <a:stretch>
                  <a:fillRect l="-542" t="-2469" r="-434"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58925192"/>
                  </p:ext>
                </p:extLst>
              </p:nvPr>
            </p:nvGraphicFramePr>
            <p:xfrm>
              <a:off x="3187909" y="2207974"/>
              <a:ext cx="6087365" cy="2428240"/>
            </p:xfrm>
            <a:graphic>
              <a:graphicData uri="http://schemas.openxmlformats.org/drawingml/2006/table">
                <a:tbl>
                  <a:tblPr firstRow="1" firstCol="1" bandRow="1"/>
                  <a:tblGrid>
                    <a:gridCol w="1048416">
                      <a:extLst>
                        <a:ext uri="{9D8B030D-6E8A-4147-A177-3AD203B41FA5}">
                          <a16:colId xmlns:a16="http://schemas.microsoft.com/office/drawing/2014/main" val="20000"/>
                        </a:ext>
                      </a:extLst>
                    </a:gridCol>
                    <a:gridCol w="2148525">
                      <a:extLst>
                        <a:ext uri="{9D8B030D-6E8A-4147-A177-3AD203B41FA5}">
                          <a16:colId xmlns:a16="http://schemas.microsoft.com/office/drawing/2014/main" val="20001"/>
                        </a:ext>
                      </a:extLst>
                    </a:gridCol>
                    <a:gridCol w="2890424">
                      <a:extLst>
                        <a:ext uri="{9D8B030D-6E8A-4147-A177-3AD203B41FA5}">
                          <a16:colId xmlns:a16="http://schemas.microsoft.com/office/drawing/2014/main" val="20002"/>
                        </a:ext>
                      </a:extLst>
                    </a:gridCol>
                  </a:tblGrid>
                  <a:tr h="628015">
                    <a:tc>
                      <a:txBody>
                        <a:bodyPr/>
                        <a:lstStyle/>
                        <a:p>
                          <a:pPr marL="0" marR="0" algn="ctr">
                            <a:spcBef>
                              <a:spcPts val="0"/>
                            </a:spcBef>
                            <a:spcAft>
                              <a:spcPts val="0"/>
                            </a:spcAft>
                          </a:pPr>
                          <a:r>
                            <a:rPr lang="en-US" sz="2000" b="1">
                              <a:effectLst/>
                              <a:latin typeface="Verdana" charset="0"/>
                              <a:ea typeface="Verdana" charset="0"/>
                              <a:cs typeface="Verdana" charset="0"/>
                            </a:rPr>
                            <a:t>Point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Preimage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Dilation </a:t>
                          </a:r>
                          <a14:m>
                            <m:oMath xmlns:m="http://schemas.openxmlformats.org/officeDocument/2006/math">
                              <m:r>
                                <a:rPr lang="en-US" sz="2000" b="1" i="1">
                                  <a:effectLst/>
                                  <a:latin typeface="Cambria Math" charset="0"/>
                                  <a:ea typeface="Verdana" charset="0"/>
                                  <a:cs typeface="Verdana" charset="0"/>
                                </a:rPr>
                                <m:t>𝒌</m:t>
                              </m:r>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𝟔</m:t>
                              </m:r>
                            </m:oMath>
                          </a14:m>
                          <a:r>
                            <a:rPr lang="en-US" sz="2000" b="1">
                              <a:effectLst/>
                              <a:latin typeface="Verdana" charset="0"/>
                              <a:ea typeface="Verdana" charset="0"/>
                              <a:cs typeface="Verdana" charset="0"/>
                            </a:rPr>
                            <a:t> (</a:t>
                          </a:r>
                          <a14:m>
                            <m:oMath xmlns:m="http://schemas.openxmlformats.org/officeDocument/2006/math">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charset="0"/>
                                      <a:ea typeface="Verdana" charset="0"/>
                                      <a:cs typeface="Verdana" charset="0"/>
                                    </a:rPr>
                                    <m:t>𝑫</m:t>
                                  </m:r>
                                </m:e>
                                <m:sup>
                                  <m:r>
                                    <a:rPr lang="en-US" sz="2000" b="1" i="1">
                                      <a:effectLst/>
                                      <a:latin typeface="Cambria Math" charset="0"/>
                                      <a:ea typeface="Verdana" charset="0"/>
                                      <a:cs typeface="Verdana" charset="0"/>
                                    </a:rPr>
                                    <m:t>′</m:t>
                                  </m:r>
                                </m:sup>
                              </m:sSup>
                              <m:sSup>
                                <m:sSupPr>
                                  <m:ctrlPr>
                                    <a:rPr lang="en-US" sz="2000" b="1" i="1">
                                      <a:effectLst/>
                                      <a:latin typeface="Cambria Math" panose="02040503050406030204" pitchFamily="18" charset="0"/>
                                      <a:ea typeface="Verdana" charset="0"/>
                                      <a:cs typeface="Verdana" charset="0"/>
                                    </a:rPr>
                                  </m:ctrlPr>
                                </m:sSupPr>
                                <m:e>
                                  <m:r>
                                    <a:rPr lang="en-US" sz="2000" b="1" i="1">
                                      <a:effectLst/>
                                      <a:latin typeface="Cambria Math" charset="0"/>
                                      <a:ea typeface="Verdana" charset="0"/>
                                      <a:cs typeface="Verdana" charset="0"/>
                                    </a:rPr>
                                    <m:t>𝑷</m:t>
                                  </m:r>
                                </m:e>
                                <m:sup>
                                  <m:r>
                                    <a:rPr lang="en-US" sz="2000" b="1" i="1">
                                      <a:effectLst/>
                                      <a:latin typeface="Cambria Math" charset="0"/>
                                      <a:ea typeface="Verdana" charset="0"/>
                                      <a:cs typeface="Verdana" charset="0"/>
                                    </a:rPr>
                                    <m:t>′</m:t>
                                  </m:r>
                                </m:sup>
                              </m:sSup>
                              <m:r>
                                <a:rPr lang="en-US" sz="2000" b="1" i="1">
                                  <a:effectLst/>
                                  <a:latin typeface="Cambria Math" charset="0"/>
                                  <a:ea typeface="Verdana" charset="0"/>
                                  <a:cs typeface="Verdana" charset="0"/>
                                </a:rPr>
                                <m:t>𝑪</m:t>
                              </m:r>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𝑳</m:t>
                              </m:r>
                              <m:r>
                                <a:rPr lang="en-US" sz="2000" b="1" i="1">
                                  <a:effectLst/>
                                  <a:latin typeface="Cambria Math" charset="0"/>
                                  <a:ea typeface="Verdana" charset="0"/>
                                  <a:cs typeface="Verdana" charset="0"/>
                                </a:rPr>
                                <m:t>′</m:t>
                              </m:r>
                            </m:oMath>
                          </a14:m>
                          <a:r>
                            <a:rPr lang="en-US" sz="2000" b="1">
                              <a:effectLst/>
                              <a:latin typeface="Verdana" charset="0"/>
                              <a:ea typeface="Verdana" charset="0"/>
                              <a:cs typeface="Verdana" charset="0"/>
                            </a:rPr>
                            <a: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4640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𝐷</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640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𝑃</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01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𝐶</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640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𝐿</m:t>
                                </m:r>
                              </m:oMath>
                            </m:oMathPara>
                          </a14:m>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58925192"/>
                  </p:ext>
                </p:extLst>
              </p:nvPr>
            </p:nvGraphicFramePr>
            <p:xfrm>
              <a:off x="3187909" y="2207974"/>
              <a:ext cx="6087365" cy="2428240"/>
            </p:xfrm>
            <a:graphic>
              <a:graphicData uri="http://schemas.openxmlformats.org/drawingml/2006/table">
                <a:tbl>
                  <a:tblPr firstRow="1" firstCol="1" bandRow="1"/>
                  <a:tblGrid>
                    <a:gridCol w="1048416">
                      <a:extLst>
                        <a:ext uri="{9D8B030D-6E8A-4147-A177-3AD203B41FA5}">
                          <a16:colId xmlns:a16="http://schemas.microsoft.com/office/drawing/2014/main" val="20000"/>
                        </a:ext>
                      </a:extLst>
                    </a:gridCol>
                    <a:gridCol w="2148525">
                      <a:extLst>
                        <a:ext uri="{9D8B030D-6E8A-4147-A177-3AD203B41FA5}">
                          <a16:colId xmlns:a16="http://schemas.microsoft.com/office/drawing/2014/main" val="20001"/>
                        </a:ext>
                      </a:extLst>
                    </a:gridCol>
                    <a:gridCol w="2890424">
                      <a:extLst>
                        <a:ext uri="{9D8B030D-6E8A-4147-A177-3AD203B41FA5}">
                          <a16:colId xmlns:a16="http://schemas.microsoft.com/office/drawing/2014/main" val="20002"/>
                        </a:ext>
                      </a:extLst>
                    </a:gridCol>
                  </a:tblGrid>
                  <a:tr h="628015">
                    <a:tc>
                      <a:txBody>
                        <a:bodyPr/>
                        <a:lstStyle/>
                        <a:p>
                          <a:pPr marL="0" marR="0" algn="ctr">
                            <a:spcBef>
                              <a:spcPts val="0"/>
                            </a:spcBef>
                            <a:spcAft>
                              <a:spcPts val="0"/>
                            </a:spcAft>
                          </a:pPr>
                          <a:r>
                            <a:rPr lang="en-US" sz="2000" b="1">
                              <a:effectLst/>
                              <a:latin typeface="Verdana" charset="0"/>
                              <a:ea typeface="Verdana" charset="0"/>
                              <a:cs typeface="Verdana" charset="0"/>
                            </a:rPr>
                            <a:t>Point</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Preimage</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10965" t="-10000" r="-439" b="-288000"/>
                          </a:stretch>
                        </a:blipFill>
                      </a:tcPr>
                    </a:tc>
                    <a:extLst>
                      <a:ext uri="{0D108BD9-81ED-4DB2-BD59-A6C34878D82A}">
                        <a16:rowId xmlns:a16="http://schemas.microsoft.com/office/drawing/2014/main" val="10000"/>
                      </a:ext>
                    </a:extLst>
                  </a:tr>
                  <a:tr h="44640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205" t="-157143" r="-479518" b="-311429"/>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4640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205" t="-250000" r="-479518" b="-202778"/>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6101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205" t="-340541" r="-479518" b="-97297"/>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4640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205" t="-465714" r="-479518" b="-2857"/>
                          </a:stretch>
                        </a:blipFill>
                      </a:tcPr>
                    </a:tc>
                    <a:tc>
                      <a:txBody>
                        <a:bodyPr/>
                        <a:lstStyle/>
                        <a:p>
                          <a:pPr marL="0" marR="0">
                            <a:spcBef>
                              <a:spcPts val="0"/>
                            </a:spcBef>
                            <a:spcAft>
                              <a:spcPts val="0"/>
                            </a:spcAft>
                          </a:pPr>
                          <a:r>
                            <a:rPr lang="en-US" sz="2000">
                              <a:effectLst/>
                              <a:latin typeface="Verdana" charset="0"/>
                              <a:ea typeface="Verdana" charset="0"/>
                              <a:cs typeface="Verdana" charset="0"/>
                            </a:rPr>
                            <a:t> </a:t>
                          </a:r>
                          <a:endParaRPr lang="en-US" sz="14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endParaRPr lang="en-US" sz="14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9485"/>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113</a:t>
            </a: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597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8729" y="-2723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9.11.2 Exploration: Ryan’s Renovations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66293"/>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113</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6475" y="190755"/>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306475" y="1386026"/>
                <a:ext cx="11689367" cy="1631216"/>
              </a:xfrm>
              <a:prstGeom prst="rect">
                <a:avLst/>
              </a:prstGeom>
              <a:noFill/>
            </p:spPr>
            <p:txBody>
              <a:bodyPr wrap="square" rtlCol="0">
                <a:spAutoFit/>
              </a:bodyPr>
              <a:lstStyle/>
              <a:p>
                <a:r>
                  <a:rPr lang="en-US" sz="2000" dirty="0">
                    <a:latin typeface="Verdana" charset="0"/>
                    <a:ea typeface="Verdana" charset="0"/>
                    <a:cs typeface="Verdana" charset="0"/>
                  </a:rPr>
                  <a:t>Ryan is building a new house and wants to make the size of the kitchen larger. The current kitchen is </a:t>
                </a:r>
                <a14:m>
                  <m:oMath xmlns:m="http://schemas.openxmlformats.org/officeDocument/2006/math">
                    <m:r>
                      <a:rPr lang="en-US" sz="2000" i="1">
                        <a:latin typeface="Cambria Math" charset="0"/>
                        <a:ea typeface="Verdana" charset="0"/>
                        <a:cs typeface="Verdana" charset="0"/>
                      </a:rPr>
                      <m:t>24</m:t>
                    </m:r>
                  </m:oMath>
                </a14:m>
                <a:r>
                  <a:rPr lang="en-US" sz="2000" dirty="0">
                    <a:latin typeface="Verdana" charset="0"/>
                    <a:ea typeface="Verdana" charset="0"/>
                    <a:cs typeface="Verdana" charset="0"/>
                  </a:rPr>
                  <a:t> feet wide and </a:t>
                </a:r>
                <a14:m>
                  <m:oMath xmlns:m="http://schemas.openxmlformats.org/officeDocument/2006/math">
                    <m:r>
                      <a:rPr lang="en-US" sz="2000" i="1">
                        <a:latin typeface="Cambria Math" charset="0"/>
                        <a:ea typeface="Verdana" charset="0"/>
                        <a:cs typeface="Verdana" charset="0"/>
                      </a:rPr>
                      <m:t>10</m:t>
                    </m:r>
                  </m:oMath>
                </a14:m>
                <a:r>
                  <a:rPr lang="en-US" sz="2000" dirty="0">
                    <a:latin typeface="Verdana" charset="0"/>
                    <a:ea typeface="Verdana" charset="0"/>
                    <a:cs typeface="Verdana" charset="0"/>
                  </a:rPr>
                  <a:t> feet long. Ryan wants to make the new kitchen </a:t>
                </a:r>
                <a14:m>
                  <m:oMath xmlns:m="http://schemas.openxmlformats.org/officeDocument/2006/math">
                    <m:r>
                      <a:rPr lang="en-US" sz="2000" i="1">
                        <a:latin typeface="Cambria Math" charset="0"/>
                        <a:ea typeface="Verdana" charset="0"/>
                        <a:cs typeface="Verdana" charset="0"/>
                      </a:rPr>
                      <m:t>20</m:t>
                    </m:r>
                  </m:oMath>
                </a14:m>
                <a:r>
                  <a:rPr lang="en-US" sz="2000" dirty="0">
                    <a:latin typeface="Verdana" charset="0"/>
                    <a:ea typeface="Verdana" charset="0"/>
                    <a:cs typeface="Verdana" charset="0"/>
                  </a:rPr>
                  <a:t> feet long but leave the width the same. </a:t>
                </a:r>
              </a:p>
              <a:p>
                <a:r>
                  <a:rPr lang="en-US" sz="2000" dirty="0">
                    <a:latin typeface="Verdana" charset="0"/>
                    <a:ea typeface="Verdana" charset="0"/>
                    <a:cs typeface="Verdana" charset="0"/>
                  </a:rPr>
                  <a:t> </a:t>
                </a:r>
              </a:p>
              <a:p>
                <a:pPr marL="457200" indent="-457200">
                  <a:buFont typeface="+mj-lt"/>
                  <a:buAutoNum type="arabicPeriod"/>
                </a:pPr>
                <a:r>
                  <a:rPr lang="en-US" sz="2000" dirty="0">
                    <a:latin typeface="Verdana" charset="0"/>
                    <a:ea typeface="Verdana" charset="0"/>
                    <a:cs typeface="Verdana" charset="0"/>
                  </a:rPr>
                  <a:t>Find the area of the original kitchen and the area of the new kitchen. </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306475" y="1386026"/>
                <a:ext cx="11689367" cy="1631216"/>
              </a:xfrm>
              <a:prstGeom prst="rect">
                <a:avLst/>
              </a:prstGeom>
              <a:blipFill>
                <a:blip r:embed="rId5"/>
                <a:stretch>
                  <a:fillRect l="-543" t="-1538" b="-5385"/>
                </a:stretch>
              </a:blipFill>
            </p:spPr>
            <p:txBody>
              <a:bodyPr/>
              <a:lstStyle/>
              <a:p>
                <a:r>
                  <a:rPr lang="en-US">
                    <a:noFill/>
                  </a:rPr>
                  <a:t> </a:t>
                </a:r>
              </a:p>
            </p:txBody>
          </p:sp>
        </mc:Fallback>
      </mc:AlternateContent>
      <p:graphicFrame>
        <p:nvGraphicFramePr>
          <p:cNvPr id="2" name="Table 1"/>
          <p:cNvGraphicFramePr>
            <a:graphicFrameLocks noGrp="1"/>
          </p:cNvGraphicFramePr>
          <p:nvPr>
            <p:extLst>
              <p:ext uri="{D42A27DB-BD31-4B8C-83A1-F6EECF244321}">
                <p14:modId xmlns:p14="http://schemas.microsoft.com/office/powerpoint/2010/main" val="1082157518"/>
              </p:ext>
            </p:extLst>
          </p:nvPr>
        </p:nvGraphicFramePr>
        <p:xfrm>
          <a:off x="2695575" y="3807921"/>
          <a:ext cx="6800850" cy="18288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Area of the Original Kitchen</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Area of the New Kitchen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724892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25925" y="520393"/>
            <a:ext cx="11706130"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How do the areas compare? </a:t>
            </a:r>
          </a:p>
          <a:p>
            <a:r>
              <a:rPr lang="en-US" sz="2000" b="1" dirty="0">
                <a:latin typeface="Verdana" charset="0"/>
                <a:ea typeface="Verdana" charset="0"/>
                <a:cs typeface="Verdana" charset="0"/>
              </a:rPr>
              <a:t> </a:t>
            </a:r>
            <a:endParaRPr lang="en-US" sz="2000" dirty="0">
              <a:latin typeface="Verdana" charset="0"/>
              <a:ea typeface="Verdana" charset="0"/>
              <a:cs typeface="Verdana" charset="0"/>
            </a:endParaRPr>
          </a:p>
          <a:p>
            <a:pPr marL="461963"/>
            <a:r>
              <a:rPr lang="en-US" sz="2000" dirty="0">
                <a:latin typeface="Verdana" charset="0"/>
                <a:ea typeface="Verdana" charset="0"/>
                <a:cs typeface="Verdana" charset="0"/>
              </a:rPr>
              <a:t>Ryan also wants to install a pool for his new house. The construction company gives Ryan three shape options for the new pool. Each pool’s dimensions are given in feet (</a:t>
            </a:r>
            <a:r>
              <a:rPr lang="en-US" sz="2000" dirty="0" err="1">
                <a:latin typeface="Verdana" charset="0"/>
                <a:ea typeface="Verdana" charset="0"/>
                <a:cs typeface="Verdana" charset="0"/>
              </a:rPr>
              <a:t>ft</a:t>
            </a:r>
            <a:r>
              <a:rPr lang="en-US" sz="2000" dirty="0">
                <a:latin typeface="Verdana" charset="0"/>
                <a:ea typeface="Verdana" charset="0"/>
                <a:cs typeface="Verdana" charset="0"/>
              </a:rPr>
              <a:t>).</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934892653"/>
                  </p:ext>
                </p:extLst>
              </p:nvPr>
            </p:nvGraphicFramePr>
            <p:xfrm>
              <a:off x="2448151" y="2457382"/>
              <a:ext cx="7446365" cy="1934886"/>
            </p:xfrm>
            <a:graphic>
              <a:graphicData uri="http://schemas.openxmlformats.org/drawingml/2006/table">
                <a:tbl>
                  <a:tblPr firstRow="1" firstCol="1" bandRow="1"/>
                  <a:tblGrid>
                    <a:gridCol w="2233910">
                      <a:extLst>
                        <a:ext uri="{9D8B030D-6E8A-4147-A177-3AD203B41FA5}">
                          <a16:colId xmlns:a16="http://schemas.microsoft.com/office/drawing/2014/main" val="20000"/>
                        </a:ext>
                      </a:extLst>
                    </a:gridCol>
                    <a:gridCol w="2962688">
                      <a:extLst>
                        <a:ext uri="{9D8B030D-6E8A-4147-A177-3AD203B41FA5}">
                          <a16:colId xmlns:a16="http://schemas.microsoft.com/office/drawing/2014/main" val="20001"/>
                        </a:ext>
                      </a:extLst>
                    </a:gridCol>
                    <a:gridCol w="2249767">
                      <a:extLst>
                        <a:ext uri="{9D8B030D-6E8A-4147-A177-3AD203B41FA5}">
                          <a16:colId xmlns:a16="http://schemas.microsoft.com/office/drawing/2014/main" val="20002"/>
                        </a:ext>
                      </a:extLst>
                    </a:gridCol>
                  </a:tblGrid>
                  <a:tr h="386977">
                    <a:tc>
                      <a:txBody>
                        <a:bodyPr/>
                        <a:lstStyle/>
                        <a:p>
                          <a:pPr marL="0" marR="0" algn="ctr">
                            <a:spcBef>
                              <a:spcPts val="0"/>
                            </a:spcBef>
                            <a:spcAft>
                              <a:spcPts val="0"/>
                            </a:spcAft>
                          </a:pPr>
                          <a:r>
                            <a:rPr lang="en-US" sz="2000" b="1">
                              <a:effectLst/>
                              <a:latin typeface="Verdana" charset="0"/>
                              <a:ea typeface="Verdana" charset="0"/>
                              <a:cs typeface="Verdana" charset="0"/>
                            </a:rPr>
                            <a:t>Pool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Pool 2</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3</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86977">
                    <a:tc>
                      <a:txBody>
                        <a:bodyPr/>
                        <a:lstStyle/>
                        <a:p>
                          <a:pPr marL="0" marR="0" algn="ctr">
                            <a:spcBef>
                              <a:spcPts val="0"/>
                            </a:spcBef>
                            <a:spcAft>
                              <a:spcPts val="0"/>
                            </a:spcAft>
                          </a:pPr>
                          <a:r>
                            <a:rPr lang="en-US" sz="2000" b="1">
                              <a:effectLst/>
                              <a:latin typeface="Verdana" charset="0"/>
                              <a:ea typeface="Verdana" charset="0"/>
                              <a:cs typeface="Verdana" charset="0"/>
                            </a:rPr>
                            <a:t>Cylindrical</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Rectangular Prism</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Cube</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160932">
                    <a:tc>
                      <a:txBody>
                        <a:bodyPr/>
                        <a:lstStyle/>
                        <a:p>
                          <a:pPr marL="0" marR="0">
                            <a:spcBef>
                              <a:spcPts val="0"/>
                            </a:spcBef>
                            <a:spcAft>
                              <a:spcPts val="0"/>
                            </a:spcAft>
                          </a:pPr>
                          <a:r>
                            <a:rPr lang="en-US" sz="2000">
                              <a:effectLst/>
                              <a:latin typeface="Verdana" charset="0"/>
                              <a:ea typeface="Verdana" charset="0"/>
                              <a:cs typeface="Verdana" charset="0"/>
                            </a:rPr>
                            <a:t>diameter </a:t>
                          </a:r>
                          <a14:m>
                            <m:oMath xmlns:m="http://schemas.openxmlformats.org/officeDocument/2006/math">
                              <m:r>
                                <a:rPr lang="en-US" sz="2000" i="1">
                                  <a:effectLst/>
                                  <a:latin typeface="Cambria Math" charset="0"/>
                                  <a:ea typeface="Verdana" charset="0"/>
                                  <a:cs typeface="Verdana" charset="0"/>
                                </a:rPr>
                                <m:t>=16</m:t>
                              </m:r>
                            </m:oMath>
                          </a14:m>
                          <a:r>
                            <a:rPr lang="en-US" sz="2000">
                              <a:effectLst/>
                              <a:latin typeface="Verdana" charset="0"/>
                              <a:ea typeface="Verdana" charset="0"/>
                              <a:cs typeface="Verdana" charset="0"/>
                            </a:rPr>
                            <a:t> ft </a:t>
                          </a:r>
                        </a:p>
                        <a:p>
                          <a:pPr marL="0" marR="0">
                            <a:spcBef>
                              <a:spcPts val="0"/>
                            </a:spcBef>
                            <a:spcAft>
                              <a:spcPts val="0"/>
                            </a:spcAft>
                          </a:pPr>
                          <a:r>
                            <a:rPr lang="en-US" sz="2000">
                              <a:effectLst/>
                              <a:latin typeface="Verdana" charset="0"/>
                              <a:ea typeface="Verdana" charset="0"/>
                              <a:cs typeface="Verdana" charset="0"/>
                            </a:rPr>
                            <a:t>height</a:t>
                          </a:r>
                          <a14:m>
                            <m:oMath xmlns:m="http://schemas.openxmlformats.org/officeDocument/2006/math">
                              <m:r>
                                <a:rPr lang="en-US" sz="2000" i="1">
                                  <a:effectLst/>
                                  <a:latin typeface="Cambria Math" charset="0"/>
                                  <a:ea typeface="Verdana" charset="0"/>
                                  <a:cs typeface="Verdana" charset="0"/>
                                </a:rPr>
                                <m:t>=12</m:t>
                              </m:r>
                            </m:oMath>
                          </a14:m>
                          <a:r>
                            <a:rPr lang="en-US" sz="2000">
                              <a:effectLst/>
                              <a:latin typeface="Verdana" charset="0"/>
                              <a:ea typeface="Verdana" charset="0"/>
                              <a:cs typeface="Verdana" charset="0"/>
                            </a:rPr>
                            <a:t> ft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length</a:t>
                          </a:r>
                          <a14:m>
                            <m:oMath xmlns:m="http://schemas.openxmlformats.org/officeDocument/2006/math">
                              <m:r>
                                <a:rPr lang="en-US" sz="2000" i="1">
                                  <a:effectLst/>
                                  <a:latin typeface="Cambria Math" charset="0"/>
                                  <a:ea typeface="Verdana" charset="0"/>
                                  <a:cs typeface="Verdana" charset="0"/>
                                </a:rPr>
                                <m:t>=30</m:t>
                              </m:r>
                            </m:oMath>
                          </a14:m>
                          <a:r>
                            <a:rPr lang="en-US" sz="2000">
                              <a:effectLst/>
                              <a:latin typeface="Verdana" charset="0"/>
                              <a:ea typeface="Verdana" charset="0"/>
                              <a:cs typeface="Verdana" charset="0"/>
                            </a:rPr>
                            <a:t> ft</a:t>
                          </a:r>
                        </a:p>
                        <a:p>
                          <a:pPr marL="0" marR="0">
                            <a:spcBef>
                              <a:spcPts val="0"/>
                            </a:spcBef>
                            <a:spcAft>
                              <a:spcPts val="0"/>
                            </a:spcAft>
                          </a:pPr>
                          <a:r>
                            <a:rPr lang="en-US" sz="2000">
                              <a:effectLst/>
                              <a:latin typeface="Verdana" charset="0"/>
                              <a:ea typeface="Verdana" charset="0"/>
                              <a:cs typeface="Verdana" charset="0"/>
                            </a:rPr>
                            <a:t>width</a:t>
                          </a:r>
                          <a14:m>
                            <m:oMath xmlns:m="http://schemas.openxmlformats.org/officeDocument/2006/math">
                              <m:r>
                                <a:rPr lang="en-US" sz="2000" i="1">
                                  <a:effectLst/>
                                  <a:latin typeface="Cambria Math" charset="0"/>
                                  <a:ea typeface="Verdana" charset="0"/>
                                  <a:cs typeface="Verdana" charset="0"/>
                                </a:rPr>
                                <m:t>=20</m:t>
                              </m:r>
                            </m:oMath>
                          </a14:m>
                          <a:r>
                            <a:rPr lang="en-US" sz="2000">
                              <a:effectLst/>
                              <a:latin typeface="Verdana" charset="0"/>
                              <a:ea typeface="Verdana" charset="0"/>
                              <a:cs typeface="Verdana" charset="0"/>
                            </a:rPr>
                            <a:t> ft</a:t>
                          </a:r>
                        </a:p>
                        <a:p>
                          <a:pPr marL="0" marR="0">
                            <a:spcBef>
                              <a:spcPts val="0"/>
                            </a:spcBef>
                            <a:spcAft>
                              <a:spcPts val="0"/>
                            </a:spcAft>
                          </a:pPr>
                          <a:r>
                            <a:rPr lang="en-US" sz="2000">
                              <a:effectLst/>
                              <a:latin typeface="Verdana" charset="0"/>
                              <a:ea typeface="Verdana" charset="0"/>
                              <a:cs typeface="Verdana" charset="0"/>
                            </a:rPr>
                            <a:t>height</a:t>
                          </a:r>
                          <a14:m>
                            <m:oMath xmlns:m="http://schemas.openxmlformats.org/officeDocument/2006/math">
                              <m:r>
                                <a:rPr lang="en-US" sz="2000" i="1">
                                  <a:effectLst/>
                                  <a:latin typeface="Cambria Math" charset="0"/>
                                  <a:ea typeface="Verdana" charset="0"/>
                                  <a:cs typeface="Verdana" charset="0"/>
                                </a:rPr>
                                <m:t>=12</m:t>
                              </m:r>
                            </m:oMath>
                          </a14:m>
                          <a:r>
                            <a:rPr lang="en-US" sz="2000">
                              <a:effectLst/>
                              <a:latin typeface="Verdana" charset="0"/>
                              <a:ea typeface="Verdana" charset="0"/>
                              <a:cs typeface="Verdana" charset="0"/>
                            </a:rPr>
                            <a:t> ft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Each side</a:t>
                          </a:r>
                          <a14:m>
                            <m:oMath xmlns:m="http://schemas.openxmlformats.org/officeDocument/2006/math">
                              <m:r>
                                <a:rPr lang="en-US" sz="2000" i="1">
                                  <a:effectLst/>
                                  <a:latin typeface="Cambria Math" charset="0"/>
                                  <a:ea typeface="Verdana" charset="0"/>
                                  <a:cs typeface="Verdana" charset="0"/>
                                </a:rPr>
                                <m:t>=15</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934892653"/>
                  </p:ext>
                </p:extLst>
              </p:nvPr>
            </p:nvGraphicFramePr>
            <p:xfrm>
              <a:off x="2448151" y="2457382"/>
              <a:ext cx="7446365" cy="1934886"/>
            </p:xfrm>
            <a:graphic>
              <a:graphicData uri="http://schemas.openxmlformats.org/drawingml/2006/table">
                <a:tbl>
                  <a:tblPr firstRow="1" firstCol="1" bandRow="1"/>
                  <a:tblGrid>
                    <a:gridCol w="2233910">
                      <a:extLst>
                        <a:ext uri="{9D8B030D-6E8A-4147-A177-3AD203B41FA5}">
                          <a16:colId xmlns:a16="http://schemas.microsoft.com/office/drawing/2014/main" val="20000"/>
                        </a:ext>
                      </a:extLst>
                    </a:gridCol>
                    <a:gridCol w="2962688">
                      <a:extLst>
                        <a:ext uri="{9D8B030D-6E8A-4147-A177-3AD203B41FA5}">
                          <a16:colId xmlns:a16="http://schemas.microsoft.com/office/drawing/2014/main" val="20001"/>
                        </a:ext>
                      </a:extLst>
                    </a:gridCol>
                    <a:gridCol w="2249767">
                      <a:extLst>
                        <a:ext uri="{9D8B030D-6E8A-4147-A177-3AD203B41FA5}">
                          <a16:colId xmlns:a16="http://schemas.microsoft.com/office/drawing/2014/main" val="20002"/>
                        </a:ext>
                      </a:extLst>
                    </a:gridCol>
                  </a:tblGrid>
                  <a:tr h="386977">
                    <a:tc>
                      <a:txBody>
                        <a:bodyPr/>
                        <a:lstStyle/>
                        <a:p>
                          <a:pPr marL="0" marR="0" algn="ctr">
                            <a:spcBef>
                              <a:spcPts val="0"/>
                            </a:spcBef>
                            <a:spcAft>
                              <a:spcPts val="0"/>
                            </a:spcAft>
                          </a:pPr>
                          <a:r>
                            <a:rPr lang="en-US" sz="2000" b="1">
                              <a:effectLst/>
                              <a:latin typeface="Verdana" charset="0"/>
                              <a:ea typeface="Verdana" charset="0"/>
                              <a:cs typeface="Verdana" charset="0"/>
                            </a:rPr>
                            <a:t>Pool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Verdana" charset="0"/>
                              <a:cs typeface="Verdana" charset="0"/>
                            </a:rPr>
                            <a:t>Pool 2</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3</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86977">
                    <a:tc>
                      <a:txBody>
                        <a:bodyPr/>
                        <a:lstStyle/>
                        <a:p>
                          <a:pPr marL="0" marR="0" algn="ctr">
                            <a:spcBef>
                              <a:spcPts val="0"/>
                            </a:spcBef>
                            <a:spcAft>
                              <a:spcPts val="0"/>
                            </a:spcAft>
                          </a:pPr>
                          <a:r>
                            <a:rPr lang="en-US" sz="2000" b="1">
                              <a:effectLst/>
                              <a:latin typeface="Verdana" charset="0"/>
                              <a:ea typeface="Verdana" charset="0"/>
                              <a:cs typeface="Verdana" charset="0"/>
                            </a:rPr>
                            <a:t>Cylindrical</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Rectangular Prism</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Cube</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1160932">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t="-72826" r="-234659" b="-217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75214" t="-72826" r="-76496" b="-217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30337" t="-72826" r="-562" b="-2174"/>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1704707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53085" y="520393"/>
            <a:ext cx="11660864" cy="3477875"/>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Find the surface area of each of the shapes for the three pool options. Round to the nearest thousandth. </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1963"/>
            <a:r>
              <a:rPr lang="en-US" sz="2000" dirty="0">
                <a:latin typeface="Verdana" charset="0"/>
                <a:ea typeface="Verdana" charset="0"/>
                <a:cs typeface="Verdana" charset="0"/>
              </a:rPr>
              <a:t>The construction company is giving Ryan more options for building a swimming pool. The three options are listed in the table. </a:t>
            </a:r>
          </a:p>
        </p:txBody>
      </p:sp>
      <p:graphicFrame>
        <p:nvGraphicFramePr>
          <p:cNvPr id="2" name="Table 1"/>
          <p:cNvGraphicFramePr>
            <a:graphicFrameLocks noGrp="1"/>
          </p:cNvGraphicFramePr>
          <p:nvPr>
            <p:extLst>
              <p:ext uri="{D42A27DB-BD31-4B8C-83A1-F6EECF244321}">
                <p14:modId xmlns:p14="http://schemas.microsoft.com/office/powerpoint/2010/main" val="138761324"/>
              </p:ext>
            </p:extLst>
          </p:nvPr>
        </p:nvGraphicFramePr>
        <p:xfrm>
          <a:off x="2770908" y="1366024"/>
          <a:ext cx="6800850" cy="1828800"/>
        </p:xfrm>
        <a:graphic>
          <a:graphicData uri="http://schemas.openxmlformats.org/drawingml/2006/table">
            <a:tbl>
              <a:tblPr firstRow="1" firstCol="1" bandRow="1"/>
              <a:tblGrid>
                <a:gridCol w="2259330">
                  <a:extLst>
                    <a:ext uri="{9D8B030D-6E8A-4147-A177-3AD203B41FA5}">
                      <a16:colId xmlns:a16="http://schemas.microsoft.com/office/drawing/2014/main" val="20000"/>
                    </a:ext>
                  </a:extLst>
                </a:gridCol>
                <a:gridCol w="2313305">
                  <a:extLst>
                    <a:ext uri="{9D8B030D-6E8A-4147-A177-3AD203B41FA5}">
                      <a16:colId xmlns:a16="http://schemas.microsoft.com/office/drawing/2014/main" val="20001"/>
                    </a:ext>
                  </a:extLst>
                </a:gridCol>
                <a:gridCol w="2228215">
                  <a:extLst>
                    <a:ext uri="{9D8B030D-6E8A-4147-A177-3AD203B41FA5}">
                      <a16:colId xmlns:a16="http://schemas.microsoft.com/office/drawing/2014/main" val="20002"/>
                    </a:ext>
                  </a:extLst>
                </a:gridCol>
              </a:tblGrid>
              <a:tr h="252015">
                <a:tc>
                  <a:txBody>
                    <a:bodyPr/>
                    <a:lstStyle/>
                    <a:p>
                      <a:pPr marL="0" marR="0" algn="ctr">
                        <a:spcBef>
                          <a:spcPts val="0"/>
                        </a:spcBef>
                        <a:spcAft>
                          <a:spcPts val="0"/>
                        </a:spcAft>
                      </a:pPr>
                      <a:r>
                        <a:rPr lang="en-US" sz="2000" b="1">
                          <a:effectLst/>
                          <a:latin typeface="Verdana" charset="0"/>
                          <a:ea typeface="Verdana" charset="0"/>
                          <a:cs typeface="Verdana" charset="0"/>
                        </a:rPr>
                        <a:t>Pool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2</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3</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260073">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20204475"/>
                  </p:ext>
                </p:extLst>
              </p:nvPr>
            </p:nvGraphicFramePr>
            <p:xfrm>
              <a:off x="2770908" y="4432054"/>
              <a:ext cx="6800850" cy="1828800"/>
            </p:xfrm>
            <a:graphic>
              <a:graphicData uri="http://schemas.openxmlformats.org/drawingml/2006/table">
                <a:tbl>
                  <a:tblPr firstRow="1" firstCol="1" bandRow="1"/>
                  <a:tblGrid>
                    <a:gridCol w="21145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tblGrid>
                  <a:tr h="285115">
                    <a:tc>
                      <a:txBody>
                        <a:bodyPr/>
                        <a:lstStyle/>
                        <a:p>
                          <a:pPr marL="0" marR="0" algn="ctr">
                            <a:spcBef>
                              <a:spcPts val="0"/>
                            </a:spcBef>
                            <a:spcAft>
                              <a:spcPts val="0"/>
                            </a:spcAft>
                          </a:pPr>
                          <a:r>
                            <a:rPr lang="en-US" sz="2000" b="1">
                              <a:effectLst/>
                              <a:latin typeface="Verdana" charset="0"/>
                              <a:ea typeface="Verdana" charset="0"/>
                              <a:cs typeface="Verdana" charset="0"/>
                            </a:rPr>
                            <a:t>Pool 4</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5</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6</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90830">
                    <a:tc>
                      <a:txBody>
                        <a:bodyPr/>
                        <a:lstStyle/>
                        <a:p>
                          <a:pPr marL="0" marR="0" algn="ctr">
                            <a:spcBef>
                              <a:spcPts val="0"/>
                            </a:spcBef>
                            <a:spcAft>
                              <a:spcPts val="0"/>
                            </a:spcAft>
                          </a:pPr>
                          <a:r>
                            <a:rPr lang="en-US" sz="2000" b="1">
                              <a:effectLst/>
                              <a:latin typeface="Verdana" charset="0"/>
                              <a:ea typeface="Verdana" charset="0"/>
                              <a:cs typeface="Verdana" charset="0"/>
                            </a:rPr>
                            <a:t>Cylindrical</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Rectangular Prism</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Cube</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290830">
                    <a:tc>
                      <a:txBody>
                        <a:bodyPr/>
                        <a:lstStyle/>
                        <a:p>
                          <a:pPr marL="0" marR="0">
                            <a:spcBef>
                              <a:spcPts val="0"/>
                            </a:spcBef>
                            <a:spcAft>
                              <a:spcPts val="0"/>
                            </a:spcAft>
                          </a:pPr>
                          <a:r>
                            <a:rPr lang="en-US" sz="2000">
                              <a:effectLst/>
                              <a:latin typeface="Verdana" charset="0"/>
                              <a:ea typeface="Verdana" charset="0"/>
                              <a:cs typeface="Verdana" charset="0"/>
                            </a:rPr>
                            <a:t>diameter</a:t>
                          </a:r>
                          <a14:m>
                            <m:oMath xmlns:m="http://schemas.openxmlformats.org/officeDocument/2006/math">
                              <m:r>
                                <a:rPr lang="en-US" sz="2000" i="1">
                                  <a:effectLst/>
                                  <a:latin typeface="Cambria Math" charset="0"/>
                                  <a:ea typeface="Verdana" charset="0"/>
                                  <a:cs typeface="Verdana" charset="0"/>
                                </a:rPr>
                                <m:t> =8</m:t>
                              </m:r>
                            </m:oMath>
                          </a14:m>
                          <a:r>
                            <a:rPr lang="en-US" sz="2000">
                              <a:effectLst/>
                              <a:latin typeface="Verdana" charset="0"/>
                              <a:ea typeface="Verdana" charset="0"/>
                              <a:cs typeface="Verdana" charset="0"/>
                            </a:rPr>
                            <a:t> ft </a:t>
                          </a:r>
                        </a:p>
                        <a:p>
                          <a:pPr marL="0" marR="0">
                            <a:spcBef>
                              <a:spcPts val="0"/>
                            </a:spcBef>
                            <a:spcAft>
                              <a:spcPts val="0"/>
                            </a:spcAft>
                          </a:pPr>
                          <a:r>
                            <a:rPr lang="en-US" sz="2000">
                              <a:effectLst/>
                              <a:latin typeface="Verdana" charset="0"/>
                              <a:ea typeface="Verdana" charset="0"/>
                              <a:cs typeface="Verdana" charset="0"/>
                            </a:rPr>
                            <a:t>height </a:t>
                          </a:r>
                          <a14:m>
                            <m:oMath xmlns:m="http://schemas.openxmlformats.org/officeDocument/2006/math">
                              <m:r>
                                <a:rPr lang="en-US" sz="2000" i="1">
                                  <a:effectLst/>
                                  <a:latin typeface="Cambria Math" charset="0"/>
                                  <a:ea typeface="Verdana" charset="0"/>
                                  <a:cs typeface="Verdana" charset="0"/>
                                </a:rPr>
                                <m:t>=6</m:t>
                              </m:r>
                            </m:oMath>
                          </a14:m>
                          <a:r>
                            <a:rPr lang="en-US" sz="2000">
                              <a:effectLst/>
                              <a:latin typeface="Verdana" charset="0"/>
                              <a:ea typeface="Verdana" charset="0"/>
                              <a:cs typeface="Verdana" charset="0"/>
                            </a:rPr>
                            <a:t> ft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length</a:t>
                          </a:r>
                          <a14:m>
                            <m:oMath xmlns:m="http://schemas.openxmlformats.org/officeDocument/2006/math">
                              <m:r>
                                <a:rPr lang="en-US" sz="2000" i="1">
                                  <a:effectLst/>
                                  <a:latin typeface="Cambria Math" charset="0"/>
                                  <a:ea typeface="Verdana" charset="0"/>
                                  <a:cs typeface="Verdana" charset="0"/>
                                </a:rPr>
                                <m:t> =15</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width</a:t>
                          </a:r>
                          <a14:m>
                            <m:oMath xmlns:m="http://schemas.openxmlformats.org/officeDocument/2006/math">
                              <m:r>
                                <a:rPr lang="en-US" sz="2000" i="1">
                                  <a:effectLst/>
                                  <a:latin typeface="Cambria Math" charset="0"/>
                                  <a:ea typeface="Verdana" charset="0"/>
                                  <a:cs typeface="Verdana" charset="0"/>
                                </a:rPr>
                                <m:t> =10</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height </a:t>
                          </a:r>
                          <a14:m>
                            <m:oMath xmlns:m="http://schemas.openxmlformats.org/officeDocument/2006/math">
                              <m:r>
                                <a:rPr lang="en-US" sz="2000" i="1">
                                  <a:effectLst/>
                                  <a:latin typeface="Cambria Math" charset="0"/>
                                  <a:ea typeface="Verdana" charset="0"/>
                                  <a:cs typeface="Verdana" charset="0"/>
                                </a:rPr>
                                <m:t>=6</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Each side</a:t>
                          </a:r>
                          <a14:m>
                            <m:oMath xmlns:m="http://schemas.openxmlformats.org/officeDocument/2006/math">
                              <m:r>
                                <a:rPr lang="en-US" sz="2000" i="1">
                                  <a:effectLst/>
                                  <a:latin typeface="Cambria Math" charset="0"/>
                                  <a:ea typeface="Verdana" charset="0"/>
                                  <a:cs typeface="Verdana" charset="0"/>
                                </a:rPr>
                                <m:t> =7.5</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20204475"/>
                  </p:ext>
                </p:extLst>
              </p:nvPr>
            </p:nvGraphicFramePr>
            <p:xfrm>
              <a:off x="2770908" y="4432054"/>
              <a:ext cx="6800850" cy="1828800"/>
            </p:xfrm>
            <a:graphic>
              <a:graphicData uri="http://schemas.openxmlformats.org/drawingml/2006/table">
                <a:tbl>
                  <a:tblPr firstRow="1" firstCol="1" bandRow="1"/>
                  <a:tblGrid>
                    <a:gridCol w="21145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Pool 4</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5</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6</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9600">
                    <a:tc>
                      <a:txBody>
                        <a:bodyPr/>
                        <a:lstStyle/>
                        <a:p>
                          <a:pPr marL="0" marR="0" algn="ctr">
                            <a:spcBef>
                              <a:spcPts val="0"/>
                            </a:spcBef>
                            <a:spcAft>
                              <a:spcPts val="0"/>
                            </a:spcAft>
                          </a:pPr>
                          <a:r>
                            <a:rPr lang="en-US" sz="2000" b="1">
                              <a:effectLst/>
                              <a:latin typeface="Verdana" charset="0"/>
                              <a:ea typeface="Verdana" charset="0"/>
                              <a:cs typeface="Verdana" charset="0"/>
                            </a:rPr>
                            <a:t>Cylindrical</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Rectangular Prism</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Cube</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9144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99" t="-109722" r="-222156" b="-18056"/>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83168" t="-109722" r="-83663" b="-18056"/>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21557" t="-109722" r="-1198" b="-18056"/>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597924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113</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62138" y="520393"/>
            <a:ext cx="11497901" cy="400110"/>
          </a:xfrm>
          <a:prstGeom prst="rect">
            <a:avLst/>
          </a:prstGeom>
          <a:noFill/>
        </p:spPr>
        <p:txBody>
          <a:bodyPr wrap="square" rtlCol="0">
            <a:spAutoFit/>
          </a:bodyPr>
          <a:lstStyle/>
          <a:p>
            <a:pPr marL="457200" indent="-457200">
              <a:buFont typeface="+mj-lt"/>
              <a:buAutoNum type="arabicPeriod" startAt="4"/>
            </a:pPr>
            <a:r>
              <a:rPr lang="en-US" sz="2000" dirty="0">
                <a:latin typeface="Verdana" charset="0"/>
                <a:ea typeface="Verdana" charset="0"/>
                <a:cs typeface="Verdana" charset="0"/>
              </a:rPr>
              <a:t>Describe how the dimensions of pair of pools are related.</a:t>
            </a:r>
          </a:p>
        </p:txBody>
      </p:sp>
      <p:graphicFrame>
        <p:nvGraphicFramePr>
          <p:cNvPr id="2" name="Table 1"/>
          <p:cNvGraphicFramePr>
            <a:graphicFrameLocks noGrp="1"/>
          </p:cNvGraphicFramePr>
          <p:nvPr>
            <p:extLst>
              <p:ext uri="{D42A27DB-BD31-4B8C-83A1-F6EECF244321}">
                <p14:modId xmlns:p14="http://schemas.microsoft.com/office/powerpoint/2010/main" val="1987337681"/>
              </p:ext>
            </p:extLst>
          </p:nvPr>
        </p:nvGraphicFramePr>
        <p:xfrm>
          <a:off x="2770908" y="1189729"/>
          <a:ext cx="6800850" cy="2499360"/>
        </p:xfrm>
        <a:graphic>
          <a:graphicData uri="http://schemas.openxmlformats.org/drawingml/2006/table">
            <a:tbl>
              <a:tblPr firstRow="1" firstCol="1" bandRow="1"/>
              <a:tblGrid>
                <a:gridCol w="2400300">
                  <a:extLst>
                    <a:ext uri="{9D8B030D-6E8A-4147-A177-3AD203B41FA5}">
                      <a16:colId xmlns:a16="http://schemas.microsoft.com/office/drawing/2014/main" val="20000"/>
                    </a:ext>
                  </a:extLst>
                </a:gridCol>
                <a:gridCol w="4400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a:effectLst/>
                          <a:latin typeface="Verdana" charset="0"/>
                          <a:ea typeface="Helvetica Neue" charset="0"/>
                          <a:cs typeface="Helvetica Neue" charset="0"/>
                        </a:rPr>
                        <a:t>Pair</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Description</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731520">
                <a:tc>
                  <a:txBody>
                    <a:bodyPr/>
                    <a:lstStyle/>
                    <a:p>
                      <a:pPr marL="0" marR="0" algn="ctr">
                        <a:spcBef>
                          <a:spcPts val="0"/>
                        </a:spcBef>
                        <a:spcAft>
                          <a:spcPts val="0"/>
                        </a:spcAft>
                      </a:pPr>
                      <a:r>
                        <a:rPr lang="en-US" sz="2000">
                          <a:effectLst/>
                          <a:latin typeface="Verdana" charset="0"/>
                          <a:ea typeface="Helvetica Neue" charset="0"/>
                          <a:cs typeface="Helvetica Neue" charset="0"/>
                        </a:rPr>
                        <a:t>Pool 1 and Pool 4</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marR="0" algn="ctr">
                        <a:spcBef>
                          <a:spcPts val="0"/>
                        </a:spcBef>
                        <a:spcAft>
                          <a:spcPts val="0"/>
                        </a:spcAft>
                      </a:pPr>
                      <a:r>
                        <a:rPr lang="en-US" sz="2000">
                          <a:effectLst/>
                          <a:latin typeface="Verdana" charset="0"/>
                          <a:ea typeface="Helvetica Neue" charset="0"/>
                          <a:cs typeface="Helvetica Neue" charset="0"/>
                        </a:rPr>
                        <a:t>Pool 2 and Pool 5</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marR="0" algn="ctr">
                        <a:spcBef>
                          <a:spcPts val="0"/>
                        </a:spcBef>
                        <a:spcAft>
                          <a:spcPts val="0"/>
                        </a:spcAft>
                      </a:pPr>
                      <a:r>
                        <a:rPr lang="en-US" sz="2000">
                          <a:effectLst/>
                          <a:latin typeface="Verdana" charset="0"/>
                          <a:ea typeface="Helvetica Neue" charset="0"/>
                          <a:cs typeface="Helvetica Neue" charset="0"/>
                        </a:rPr>
                        <a:t>Pool 3 and Pool 6</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5592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32435"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9000680"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44032" y="520393"/>
            <a:ext cx="11570328" cy="707886"/>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Find the surface area of each of the shapes for the three new options for a pool. Round to the nearest thousandth. </a:t>
            </a:r>
          </a:p>
        </p:txBody>
      </p:sp>
      <p:graphicFrame>
        <p:nvGraphicFramePr>
          <p:cNvPr id="2" name="Table 1"/>
          <p:cNvGraphicFramePr>
            <a:graphicFrameLocks noGrp="1"/>
          </p:cNvGraphicFramePr>
          <p:nvPr>
            <p:extLst>
              <p:ext uri="{D42A27DB-BD31-4B8C-83A1-F6EECF244321}">
                <p14:modId xmlns:p14="http://schemas.microsoft.com/office/powerpoint/2010/main" val="1977044360"/>
              </p:ext>
            </p:extLst>
          </p:nvPr>
        </p:nvGraphicFramePr>
        <p:xfrm>
          <a:off x="2770908" y="1596025"/>
          <a:ext cx="6800850" cy="3657600"/>
        </p:xfrm>
        <a:graphic>
          <a:graphicData uri="http://schemas.openxmlformats.org/drawingml/2006/table">
            <a:tbl>
              <a:tblPr firstRow="1" firstCol="1" bandRow="1"/>
              <a:tblGrid>
                <a:gridCol w="2259330">
                  <a:extLst>
                    <a:ext uri="{9D8B030D-6E8A-4147-A177-3AD203B41FA5}">
                      <a16:colId xmlns:a16="http://schemas.microsoft.com/office/drawing/2014/main" val="20000"/>
                    </a:ext>
                  </a:extLst>
                </a:gridCol>
                <a:gridCol w="2313305">
                  <a:extLst>
                    <a:ext uri="{9D8B030D-6E8A-4147-A177-3AD203B41FA5}">
                      <a16:colId xmlns:a16="http://schemas.microsoft.com/office/drawing/2014/main" val="20001"/>
                    </a:ext>
                  </a:extLst>
                </a:gridCol>
                <a:gridCol w="2228215">
                  <a:extLst>
                    <a:ext uri="{9D8B030D-6E8A-4147-A177-3AD203B41FA5}">
                      <a16:colId xmlns:a16="http://schemas.microsoft.com/office/drawing/2014/main" val="20002"/>
                    </a:ext>
                  </a:extLst>
                </a:gridCol>
              </a:tblGrid>
              <a:tr h="0">
                <a:tc>
                  <a:txBody>
                    <a:bodyPr/>
                    <a:lstStyle/>
                    <a:p>
                      <a:pPr marL="0" marR="0" algn="ctr">
                        <a:spcBef>
                          <a:spcPts val="0"/>
                        </a:spcBef>
                        <a:spcAft>
                          <a:spcPts val="0"/>
                        </a:spcAft>
                      </a:pPr>
                      <a:r>
                        <a:rPr lang="en-US" sz="2000" b="1">
                          <a:effectLst/>
                          <a:latin typeface="Verdana" charset="0"/>
                          <a:ea typeface="Verdana" charset="0"/>
                          <a:cs typeface="Verdana" charset="0"/>
                        </a:rPr>
                        <a:t>Pool 4</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5</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Pool 6</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p>
                      <a:pPr marL="0" marR="0">
                        <a:spcBef>
                          <a:spcPts val="0"/>
                        </a:spcBef>
                        <a:spcAft>
                          <a:spcPts val="0"/>
                        </a:spcAft>
                      </a:pPr>
                      <a:r>
                        <a:rPr lang="en-US" sz="200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6464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62139" y="520393"/>
            <a:ext cx="9972762" cy="400110"/>
          </a:xfrm>
          <a:prstGeom prst="rect">
            <a:avLst/>
          </a:prstGeom>
          <a:noFill/>
        </p:spPr>
        <p:txBody>
          <a:bodyPr wrap="square" rtlCol="0">
            <a:spAutoFit/>
          </a:bodyPr>
          <a:lstStyle/>
          <a:p>
            <a:pPr marL="457200" indent="-457200">
              <a:buFont typeface="+mj-lt"/>
              <a:buAutoNum type="arabicPeriod" startAt="6"/>
            </a:pPr>
            <a:r>
              <a:rPr lang="en-US" sz="2000" dirty="0">
                <a:latin typeface="Verdana" charset="0"/>
                <a:ea typeface="Verdana" charset="0"/>
                <a:cs typeface="Verdana" charset="0"/>
              </a:rPr>
              <a:t>Record the surface area of all pool shapes in the table below. </a:t>
            </a:r>
          </a:p>
        </p:txBody>
      </p:sp>
      <p:graphicFrame>
        <p:nvGraphicFramePr>
          <p:cNvPr id="2" name="Table 1"/>
          <p:cNvGraphicFramePr>
            <a:graphicFrameLocks noGrp="1"/>
          </p:cNvGraphicFramePr>
          <p:nvPr>
            <p:extLst>
              <p:ext uri="{D42A27DB-BD31-4B8C-83A1-F6EECF244321}">
                <p14:modId xmlns:p14="http://schemas.microsoft.com/office/powerpoint/2010/main" val="552052317"/>
              </p:ext>
            </p:extLst>
          </p:nvPr>
        </p:nvGraphicFramePr>
        <p:xfrm>
          <a:off x="3842788" y="1543663"/>
          <a:ext cx="4657090" cy="3146425"/>
        </p:xfrm>
        <a:graphic>
          <a:graphicData uri="http://schemas.openxmlformats.org/drawingml/2006/table">
            <a:tbl>
              <a:tblPr firstRow="1" firstCol="1" bandRow="1"/>
              <a:tblGrid>
                <a:gridCol w="1246505">
                  <a:extLst>
                    <a:ext uri="{9D8B030D-6E8A-4147-A177-3AD203B41FA5}">
                      <a16:colId xmlns:a16="http://schemas.microsoft.com/office/drawing/2014/main" val="20000"/>
                    </a:ext>
                  </a:extLst>
                </a:gridCol>
                <a:gridCol w="3410585">
                  <a:extLst>
                    <a:ext uri="{9D8B030D-6E8A-4147-A177-3AD203B41FA5}">
                      <a16:colId xmlns:a16="http://schemas.microsoft.com/office/drawing/2014/main" val="20001"/>
                    </a:ext>
                  </a:extLst>
                </a:gridCol>
              </a:tblGrid>
              <a:tr h="442595">
                <a:tc>
                  <a:txBody>
                    <a:bodyPr/>
                    <a:lstStyle/>
                    <a:p>
                      <a:pPr marL="0" marR="0" algn="ctr">
                        <a:spcBef>
                          <a:spcPts val="0"/>
                        </a:spcBef>
                        <a:spcAft>
                          <a:spcPts val="0"/>
                        </a:spcAft>
                      </a:pPr>
                      <a:r>
                        <a:rPr lang="en-US" sz="2000" b="1">
                          <a:effectLst/>
                          <a:latin typeface="Verdana" charset="0"/>
                          <a:ea typeface="Helvetica Neue" charset="0"/>
                          <a:cs typeface="Helvetica Neue" charset="0"/>
                        </a:rPr>
                        <a:t>Pool</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Surface Area</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54660">
                <a:tc>
                  <a:txBody>
                    <a:bodyPr/>
                    <a:lstStyle/>
                    <a:p>
                      <a:pPr marL="0" marR="0" algn="ctr">
                        <a:spcBef>
                          <a:spcPts val="0"/>
                        </a:spcBef>
                        <a:spcAft>
                          <a:spcPts val="0"/>
                        </a:spcAft>
                      </a:pPr>
                      <a:r>
                        <a:rPr lang="en-US" sz="2000">
                          <a:effectLst/>
                          <a:latin typeface="Verdana" charset="0"/>
                          <a:ea typeface="Helvetica Neue" charset="0"/>
                          <a:cs typeface="Helvetica Neue" charset="0"/>
                        </a:rPr>
                        <a:t>1</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4660">
                <a:tc>
                  <a:txBody>
                    <a:bodyPr/>
                    <a:lstStyle/>
                    <a:p>
                      <a:pPr marL="0" marR="0" algn="ctr">
                        <a:spcBef>
                          <a:spcPts val="0"/>
                        </a:spcBef>
                        <a:spcAft>
                          <a:spcPts val="0"/>
                        </a:spcAft>
                      </a:pPr>
                      <a:r>
                        <a:rPr lang="en-US" sz="2000">
                          <a:effectLst/>
                          <a:latin typeface="Verdana" charset="0"/>
                          <a:ea typeface="Helvetica Neue" charset="0"/>
                          <a:cs typeface="Helvetica Neue" charset="0"/>
                        </a:rPr>
                        <a:t>2</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42595">
                <a:tc>
                  <a:txBody>
                    <a:bodyPr/>
                    <a:lstStyle/>
                    <a:p>
                      <a:pPr marL="0" marR="0" algn="ctr">
                        <a:spcBef>
                          <a:spcPts val="0"/>
                        </a:spcBef>
                        <a:spcAft>
                          <a:spcPts val="0"/>
                        </a:spcAft>
                      </a:pPr>
                      <a:r>
                        <a:rPr lang="en-US" sz="2000">
                          <a:effectLst/>
                          <a:latin typeface="Verdana" charset="0"/>
                          <a:ea typeface="Helvetica Neue" charset="0"/>
                          <a:cs typeface="Helvetica Neue" charset="0"/>
                        </a:rPr>
                        <a:t>3</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4660">
                <a:tc>
                  <a:txBody>
                    <a:bodyPr/>
                    <a:lstStyle/>
                    <a:p>
                      <a:pPr marL="0" marR="0" algn="ctr">
                        <a:spcBef>
                          <a:spcPts val="0"/>
                        </a:spcBef>
                        <a:spcAft>
                          <a:spcPts val="0"/>
                        </a:spcAft>
                      </a:pPr>
                      <a:r>
                        <a:rPr lang="en-US" sz="2000">
                          <a:effectLst/>
                          <a:latin typeface="Verdana" charset="0"/>
                          <a:ea typeface="Helvetica Neue" charset="0"/>
                          <a:cs typeface="Helvetica Neue" charset="0"/>
                        </a:rPr>
                        <a:t>4</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4660">
                <a:tc>
                  <a:txBody>
                    <a:bodyPr/>
                    <a:lstStyle/>
                    <a:p>
                      <a:pPr marL="0" marR="0" algn="ctr">
                        <a:spcBef>
                          <a:spcPts val="0"/>
                        </a:spcBef>
                        <a:spcAft>
                          <a:spcPts val="0"/>
                        </a:spcAft>
                      </a:pPr>
                      <a:r>
                        <a:rPr lang="en-US" sz="2000">
                          <a:effectLst/>
                          <a:latin typeface="Verdana" charset="0"/>
                          <a:ea typeface="Helvetica Neue" charset="0"/>
                          <a:cs typeface="Helvetica Neue" charset="0"/>
                        </a:rPr>
                        <a:t>5</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42595">
                <a:tc>
                  <a:txBody>
                    <a:bodyPr/>
                    <a:lstStyle/>
                    <a:p>
                      <a:pPr marL="0" marR="0" algn="ctr">
                        <a:spcBef>
                          <a:spcPts val="0"/>
                        </a:spcBef>
                        <a:spcAft>
                          <a:spcPts val="0"/>
                        </a:spcAft>
                      </a:pPr>
                      <a:r>
                        <a:rPr lang="en-US" sz="2000">
                          <a:effectLst/>
                          <a:latin typeface="Verdana" charset="0"/>
                          <a:ea typeface="Helvetica Neue" charset="0"/>
                          <a:cs typeface="Helvetica Neue" charset="0"/>
                        </a:rPr>
                        <a:t>6</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746516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98352" y="520393"/>
            <a:ext cx="11606543" cy="1631216"/>
          </a:xfrm>
          <a:prstGeom prst="rect">
            <a:avLst/>
          </a:prstGeom>
          <a:noFill/>
        </p:spPr>
        <p:txBody>
          <a:bodyPr wrap="square" rtlCol="0">
            <a:spAutoFit/>
          </a:bodyPr>
          <a:lstStyle/>
          <a:p>
            <a:r>
              <a:rPr lang="en-US" sz="2000" dirty="0">
                <a:latin typeface="Verdana" charset="0"/>
                <a:ea typeface="Verdana" charset="0"/>
                <a:cs typeface="Verdana" charset="0"/>
              </a:rPr>
              <a:t>The cost of building the swimming pool is dependent upon the amount of material. Since the top of each of the shapes would be water, determine the surface area of each pool that could be used to determine the cost.</a:t>
            </a:r>
          </a:p>
          <a:p>
            <a:r>
              <a:rPr lang="en-US" sz="2000" dirty="0">
                <a:latin typeface="Verdana" charset="0"/>
                <a:ea typeface="Verdana" charset="0"/>
                <a:cs typeface="Verdana" charset="0"/>
              </a:rPr>
              <a:t> </a:t>
            </a:r>
          </a:p>
          <a:p>
            <a:pPr marL="457200" indent="-457200">
              <a:buFont typeface="+mj-lt"/>
              <a:buAutoNum type="arabicPeriod" startAt="7"/>
            </a:pPr>
            <a:r>
              <a:rPr lang="en-US" sz="2000" dirty="0">
                <a:latin typeface="Verdana" charset="0"/>
                <a:ea typeface="Verdana" charset="0"/>
                <a:cs typeface="Verdana" charset="0"/>
              </a:rPr>
              <a:t>Complete the table.</a:t>
            </a:r>
          </a:p>
        </p:txBody>
      </p:sp>
      <p:graphicFrame>
        <p:nvGraphicFramePr>
          <p:cNvPr id="2" name="Table 1"/>
          <p:cNvGraphicFramePr>
            <a:graphicFrameLocks noGrp="1"/>
          </p:cNvGraphicFramePr>
          <p:nvPr>
            <p:extLst>
              <p:ext uri="{D42A27DB-BD31-4B8C-83A1-F6EECF244321}">
                <p14:modId xmlns:p14="http://schemas.microsoft.com/office/powerpoint/2010/main" val="1021007070"/>
              </p:ext>
            </p:extLst>
          </p:nvPr>
        </p:nvGraphicFramePr>
        <p:xfrm>
          <a:off x="3641920" y="2675450"/>
          <a:ext cx="4989830" cy="3566160"/>
        </p:xfrm>
        <a:graphic>
          <a:graphicData uri="http://schemas.openxmlformats.org/drawingml/2006/table">
            <a:tbl>
              <a:tblPr firstRow="1" firstCol="1" bandRow="1"/>
              <a:tblGrid>
                <a:gridCol w="1335405">
                  <a:extLst>
                    <a:ext uri="{9D8B030D-6E8A-4147-A177-3AD203B41FA5}">
                      <a16:colId xmlns:a16="http://schemas.microsoft.com/office/drawing/2014/main" val="20000"/>
                    </a:ext>
                  </a:extLst>
                </a:gridCol>
                <a:gridCol w="3654425">
                  <a:extLst>
                    <a:ext uri="{9D8B030D-6E8A-4147-A177-3AD203B41FA5}">
                      <a16:colId xmlns:a16="http://schemas.microsoft.com/office/drawing/2014/main" val="20001"/>
                    </a:ext>
                  </a:extLst>
                </a:gridCol>
              </a:tblGrid>
              <a:tr h="483870">
                <a:tc>
                  <a:txBody>
                    <a:bodyPr/>
                    <a:lstStyle/>
                    <a:p>
                      <a:pPr marL="0" marR="0" algn="ctr">
                        <a:spcBef>
                          <a:spcPts val="0"/>
                        </a:spcBef>
                        <a:spcAft>
                          <a:spcPts val="0"/>
                        </a:spcAft>
                      </a:pPr>
                      <a:r>
                        <a:rPr lang="en-US" sz="2000" b="1">
                          <a:effectLst/>
                          <a:latin typeface="Verdana" charset="0"/>
                          <a:ea typeface="Helvetica Neue" charset="0"/>
                          <a:cs typeface="Helvetica Neue" charset="0"/>
                        </a:rPr>
                        <a:t>Pool</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Helvetica Neue" charset="0"/>
                          <a:cs typeface="Helvetica Neue" charset="0"/>
                        </a:rPr>
                        <a:t>Surface Area for Material</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497205">
                <a:tc>
                  <a:txBody>
                    <a:bodyPr/>
                    <a:lstStyle/>
                    <a:p>
                      <a:pPr marL="0" marR="0" algn="ctr">
                        <a:spcBef>
                          <a:spcPts val="0"/>
                        </a:spcBef>
                        <a:spcAft>
                          <a:spcPts val="0"/>
                        </a:spcAft>
                      </a:pPr>
                      <a:r>
                        <a:rPr lang="en-US" sz="2000">
                          <a:effectLst/>
                          <a:latin typeface="Verdana" charset="0"/>
                          <a:ea typeface="Helvetica Neue" charset="0"/>
                          <a:cs typeface="Helvetica Neue" charset="0"/>
                        </a:rPr>
                        <a:t>1</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7205">
                <a:tc>
                  <a:txBody>
                    <a:bodyPr/>
                    <a:lstStyle/>
                    <a:p>
                      <a:pPr marL="0" marR="0" algn="ctr">
                        <a:spcBef>
                          <a:spcPts val="0"/>
                        </a:spcBef>
                        <a:spcAft>
                          <a:spcPts val="0"/>
                        </a:spcAft>
                      </a:pPr>
                      <a:r>
                        <a:rPr lang="en-US" sz="2000">
                          <a:effectLst/>
                          <a:latin typeface="Verdana" charset="0"/>
                          <a:ea typeface="Helvetica Neue" charset="0"/>
                          <a:cs typeface="Helvetica Neue" charset="0"/>
                        </a:rPr>
                        <a:t>2</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83870">
                <a:tc>
                  <a:txBody>
                    <a:bodyPr/>
                    <a:lstStyle/>
                    <a:p>
                      <a:pPr marL="0" marR="0" algn="ctr">
                        <a:spcBef>
                          <a:spcPts val="0"/>
                        </a:spcBef>
                        <a:spcAft>
                          <a:spcPts val="0"/>
                        </a:spcAft>
                      </a:pPr>
                      <a:r>
                        <a:rPr lang="en-US" sz="2000">
                          <a:effectLst/>
                          <a:latin typeface="Verdana" charset="0"/>
                          <a:ea typeface="Helvetica Neue" charset="0"/>
                          <a:cs typeface="Helvetica Neue" charset="0"/>
                        </a:rPr>
                        <a:t>3</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97205">
                <a:tc>
                  <a:txBody>
                    <a:bodyPr/>
                    <a:lstStyle/>
                    <a:p>
                      <a:pPr marL="0" marR="0" algn="ctr">
                        <a:spcBef>
                          <a:spcPts val="0"/>
                        </a:spcBef>
                        <a:spcAft>
                          <a:spcPts val="0"/>
                        </a:spcAft>
                      </a:pPr>
                      <a:r>
                        <a:rPr lang="en-US" sz="2000" dirty="0">
                          <a:effectLst/>
                          <a:latin typeface="Verdana" charset="0"/>
                          <a:ea typeface="Helvetica Neue" charset="0"/>
                          <a:cs typeface="Helvetica Neue" charset="0"/>
                        </a:rPr>
                        <a:t>4</a:t>
                      </a:r>
                      <a:endParaRPr lang="en-US" sz="1400" dirty="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97205">
                <a:tc>
                  <a:txBody>
                    <a:bodyPr/>
                    <a:lstStyle/>
                    <a:p>
                      <a:pPr marL="0" marR="0" algn="ctr">
                        <a:spcBef>
                          <a:spcPts val="0"/>
                        </a:spcBef>
                        <a:spcAft>
                          <a:spcPts val="0"/>
                        </a:spcAft>
                      </a:pPr>
                      <a:r>
                        <a:rPr lang="en-US" sz="2000">
                          <a:effectLst/>
                          <a:latin typeface="Verdana" charset="0"/>
                          <a:ea typeface="Helvetica Neue" charset="0"/>
                          <a:cs typeface="Helvetica Neue" charset="0"/>
                        </a:rPr>
                        <a:t>5</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83870">
                <a:tc>
                  <a:txBody>
                    <a:bodyPr/>
                    <a:lstStyle/>
                    <a:p>
                      <a:pPr marL="0" marR="0" algn="ctr">
                        <a:spcBef>
                          <a:spcPts val="0"/>
                        </a:spcBef>
                        <a:spcAft>
                          <a:spcPts val="0"/>
                        </a:spcAft>
                      </a:pPr>
                      <a:r>
                        <a:rPr lang="en-US" sz="2000">
                          <a:effectLst/>
                          <a:latin typeface="Verdana" charset="0"/>
                          <a:ea typeface="Helvetica Neue" charset="0"/>
                          <a:cs typeface="Helvetica Neue" charset="0"/>
                        </a:rPr>
                        <a:t>6</a:t>
                      </a:r>
                      <a:endParaRPr lang="en-US" sz="140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102576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6168"/>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380246" y="520394"/>
            <a:ext cx="11697077" cy="2862322"/>
          </a:xfrm>
          <a:prstGeom prst="rect">
            <a:avLst/>
          </a:prstGeom>
          <a:noFill/>
        </p:spPr>
        <p:txBody>
          <a:bodyPr wrap="square" rtlCol="0">
            <a:spAutoFit/>
          </a:bodyPr>
          <a:lstStyle/>
          <a:p>
            <a:pPr marL="457200" indent="-457200">
              <a:buFont typeface="+mj-lt"/>
              <a:buAutoNum type="arabicPeriod" startAt="8"/>
            </a:pPr>
            <a:r>
              <a:rPr lang="en-US" sz="2000" dirty="0">
                <a:latin typeface="Verdana" charset="0"/>
                <a:ea typeface="Verdana" charset="0"/>
                <a:cs typeface="Verdana" charset="0"/>
              </a:rPr>
              <a:t>If Ryan wants the least expensive pool, which one should he purchase?</a:t>
            </a: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endParaRPr lang="en-US" sz="2000" dirty="0">
              <a:latin typeface="Verdana" charset="0"/>
              <a:ea typeface="Verdana" charset="0"/>
              <a:cs typeface="Verdana" charset="0"/>
            </a:endParaRPr>
          </a:p>
          <a:p>
            <a:pPr marL="457200" indent="-457200">
              <a:buFont typeface="+mj-lt"/>
              <a:buAutoNum type="arabicPeriod" startAt="8"/>
            </a:pPr>
            <a:r>
              <a:rPr lang="en-US" sz="2000" dirty="0">
                <a:latin typeface="Verdana" charset="0"/>
                <a:ea typeface="Verdana" charset="0"/>
                <a:cs typeface="Verdana" charset="0"/>
              </a:rPr>
              <a:t>Which pool would you purchase? State your reasoning. </a:t>
            </a:r>
          </a:p>
        </p:txBody>
      </p:sp>
    </p:spTree>
    <p:extLst>
      <p:ext uri="{BB962C8B-B14F-4D97-AF65-F5344CB8AC3E}">
        <p14:creationId xmlns:p14="http://schemas.microsoft.com/office/powerpoint/2010/main" val="747311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115</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1227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84483" y="-4127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9.11.3 Guided Practice: Ryan’s House</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115</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34675" y="18313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1D40250-DEDD-2C41-8538-3D4DD18CCC4A}"/>
              </a:ext>
            </a:extLst>
          </p:cNvPr>
          <p:cNvSpPr txBox="1"/>
          <p:nvPr/>
        </p:nvSpPr>
        <p:spPr>
          <a:xfrm>
            <a:off x="334675" y="1386026"/>
            <a:ext cx="11706434" cy="3477875"/>
          </a:xfrm>
          <a:prstGeom prst="rect">
            <a:avLst/>
          </a:prstGeom>
          <a:noFill/>
        </p:spPr>
        <p:txBody>
          <a:bodyPr wrap="square" rtlCol="0">
            <a:spAutoFit/>
          </a:bodyPr>
          <a:lstStyle/>
          <a:p>
            <a:r>
              <a:rPr lang="en-US" sz="2000" dirty="0">
                <a:latin typeface="Verdana" charset="0"/>
                <a:ea typeface="Verdana" charset="0"/>
                <a:cs typeface="Verdana" charset="0"/>
              </a:rPr>
              <a:t>Ryan is building a bathroom and needs to install either a bathtub or a shower. </a:t>
            </a:r>
          </a:p>
          <a:p>
            <a:r>
              <a:rPr lang="en-US" sz="2000" dirty="0">
                <a:latin typeface="Verdana" charset="0"/>
                <a:ea typeface="Verdana" charset="0"/>
                <a:cs typeface="Verdana" charset="0"/>
              </a:rPr>
              <a:t>The options for each bathroom size are given.</a:t>
            </a:r>
          </a:p>
          <a:p>
            <a:r>
              <a:rPr lang="en-US" sz="2000" dirty="0">
                <a:latin typeface="Verdana" charset="0"/>
                <a:ea typeface="Verdana" charset="0"/>
                <a:cs typeface="Verdana" charset="0"/>
              </a:rPr>
              <a:t> </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In order to determine the amount of drywall, Ryan needs to find the surface area of each of the room options.</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075965328"/>
                  </p:ext>
                </p:extLst>
              </p:nvPr>
            </p:nvGraphicFramePr>
            <p:xfrm>
              <a:off x="2695575" y="2532971"/>
              <a:ext cx="6800850" cy="15240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dirty="0">
                              <a:effectLst/>
                              <a:latin typeface="Verdana" charset="0"/>
                              <a:ea typeface="Verdana" charset="0"/>
                              <a:cs typeface="Verdana" charset="0"/>
                            </a:rPr>
                            <a:t>Shower 1</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Tub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r>
                            <a:rPr lang="en-US" sz="2000" dirty="0">
                              <a:effectLst/>
                              <a:latin typeface="Verdana" charset="0"/>
                              <a:ea typeface="Verdana" charset="0"/>
                              <a:cs typeface="Verdana" charset="0"/>
                            </a:rPr>
                            <a:t>length </a:t>
                          </a:r>
                          <a14:m>
                            <m:oMath xmlns:m="http://schemas.openxmlformats.org/officeDocument/2006/math">
                              <m:r>
                                <a:rPr lang="en-US" sz="2000" i="1">
                                  <a:effectLst/>
                                  <a:latin typeface="Cambria Math" charset="0"/>
                                  <a:ea typeface="Verdana" charset="0"/>
                                  <a:cs typeface="Verdana" charset="0"/>
                                </a:rPr>
                                <m:t>=4</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width </a:t>
                          </a:r>
                          <a14:m>
                            <m:oMath xmlns:m="http://schemas.openxmlformats.org/officeDocument/2006/math">
                              <m:r>
                                <a:rPr lang="en-US" sz="2000" i="1">
                                  <a:effectLst/>
                                  <a:latin typeface="Cambria Math" charset="0"/>
                                  <a:ea typeface="Verdana" charset="0"/>
                                  <a:cs typeface="Verdana" charset="0"/>
                                </a:rPr>
                                <m:t>=6</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height </a:t>
                          </a:r>
                          <a14:m>
                            <m:oMath xmlns:m="http://schemas.openxmlformats.org/officeDocument/2006/math">
                              <m:r>
                                <a:rPr lang="en-US" sz="2000" i="1">
                                  <a:effectLst/>
                                  <a:latin typeface="Cambria Math" charset="0"/>
                                  <a:ea typeface="Verdana" charset="0"/>
                                  <a:cs typeface="Verdana" charset="0"/>
                                </a:rPr>
                                <m:t>=12</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length</a:t>
                          </a:r>
                          <a14:m>
                            <m:oMath xmlns:m="http://schemas.openxmlformats.org/officeDocument/2006/math">
                              <m:r>
                                <a:rPr lang="en-US" sz="2000" i="1">
                                  <a:effectLst/>
                                  <a:latin typeface="Cambria Math" charset="0"/>
                                  <a:ea typeface="Verdana" charset="0"/>
                                  <a:cs typeface="Verdana" charset="0"/>
                                </a:rPr>
                                <m:t> =4</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width</a:t>
                          </a:r>
                          <a14:m>
                            <m:oMath xmlns:m="http://schemas.openxmlformats.org/officeDocument/2006/math">
                              <m:r>
                                <a:rPr lang="en-US" sz="2000" i="1">
                                  <a:effectLst/>
                                  <a:latin typeface="Cambria Math" charset="0"/>
                                  <a:ea typeface="Verdana" charset="0"/>
                                  <a:cs typeface="Verdana" charset="0"/>
                                </a:rPr>
                                <m:t> =8</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height</a:t>
                          </a:r>
                          <a14:m>
                            <m:oMath xmlns:m="http://schemas.openxmlformats.org/officeDocument/2006/math">
                              <m:r>
                                <a:rPr lang="en-US" sz="2000" i="1">
                                  <a:effectLst/>
                                  <a:latin typeface="Cambria Math" charset="0"/>
                                  <a:ea typeface="Verdana" charset="0"/>
                                  <a:cs typeface="Verdana" charset="0"/>
                                </a:rPr>
                                <m:t> =10</m:t>
                              </m:r>
                            </m:oMath>
                          </a14:m>
                          <a:r>
                            <a:rPr lang="en-US" sz="2000" dirty="0">
                              <a:effectLst/>
                              <a:latin typeface="Verdana" charset="0"/>
                              <a:ea typeface="Verdana" charset="0"/>
                              <a:cs typeface="Verdana" charset="0"/>
                            </a:rPr>
                            <a:t> </a:t>
                          </a:r>
                          <a:r>
                            <a:rPr lang="en-US" sz="2000" dirty="0" err="1">
                              <a:effectLst/>
                              <a:latin typeface="Verdana" charset="0"/>
                              <a:ea typeface="Verdana" charset="0"/>
                              <a:cs typeface="Verdana" charset="0"/>
                            </a:rPr>
                            <a:t>ft</a:t>
                          </a:r>
                          <a:endParaRPr lang="en-US" sz="2000" dirty="0">
                            <a:effectLst/>
                            <a:latin typeface="Verdana" charset="0"/>
                            <a:ea typeface="Verdana" charset="0"/>
                            <a:cs typeface="Verdana" charset="0"/>
                          </a:endParaRP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075965328"/>
                  </p:ext>
                </p:extLst>
              </p:nvPr>
            </p:nvGraphicFramePr>
            <p:xfrm>
              <a:off x="2695575" y="2532971"/>
              <a:ext cx="6800850" cy="15240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dirty="0">
                              <a:effectLst/>
                              <a:latin typeface="Verdana" charset="0"/>
                              <a:ea typeface="Verdana" charset="0"/>
                              <a:cs typeface="Verdana" charset="0"/>
                            </a:rPr>
                            <a:t>Shower 1</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Tub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2192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72" t="-30928" r="-99628" b="-1031"/>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1124" t="-30928" r="-375" b="-1031"/>
                          </a:stretch>
                        </a:blipFill>
                      </a:tcPr>
                    </a:tc>
                    <a:extLst>
                      <a:ext uri="{0D108BD9-81ED-4DB2-BD59-A6C34878D82A}">
                        <a16:rowId xmlns:a16="http://schemas.microsoft.com/office/drawing/2014/main" val="10001"/>
                      </a:ext>
                    </a:extLst>
                  </a:tr>
                </a:tbl>
              </a:graphicData>
            </a:graphic>
          </p:graphicFrame>
        </mc:Fallback>
      </mc:AlternateContent>
      <p:graphicFrame>
        <p:nvGraphicFramePr>
          <p:cNvPr id="3" name="Table 2"/>
          <p:cNvGraphicFramePr>
            <a:graphicFrameLocks noGrp="1"/>
          </p:cNvGraphicFramePr>
          <p:nvPr>
            <p:extLst>
              <p:ext uri="{D42A27DB-BD31-4B8C-83A1-F6EECF244321}">
                <p14:modId xmlns:p14="http://schemas.microsoft.com/office/powerpoint/2010/main" val="2144603948"/>
              </p:ext>
            </p:extLst>
          </p:nvPr>
        </p:nvGraphicFramePr>
        <p:xfrm>
          <a:off x="2695575" y="4983610"/>
          <a:ext cx="6800850" cy="1219200"/>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96118">
                <a:tc>
                  <a:txBody>
                    <a:bodyPr/>
                    <a:lstStyle/>
                    <a:p>
                      <a:pPr marL="0" marR="0" algn="ctr">
                        <a:spcBef>
                          <a:spcPts val="0"/>
                        </a:spcBef>
                        <a:spcAft>
                          <a:spcPts val="0"/>
                        </a:spcAft>
                      </a:pPr>
                      <a:r>
                        <a:rPr lang="en-US" sz="2000" b="1" dirty="0">
                          <a:effectLst/>
                          <a:latin typeface="Verdana" charset="0"/>
                          <a:ea typeface="Verdana" charset="0"/>
                          <a:cs typeface="Verdana" charset="0"/>
                        </a:rPr>
                        <a:t>Shower 1</a:t>
                      </a:r>
                      <a:endParaRPr lang="en-US" sz="2000" dirty="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Tub 1</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72829">
                <a:tc>
                  <a:txBody>
                    <a:bodyPr/>
                    <a:lstStyle/>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909134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3536"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604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263890" y="520393"/>
                <a:ext cx="11768165"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Ryan determines that the dimensions of the shower and tub are not up to code. The updated dimensions are shown. Use the new dimensions to determine the surface area of each room.</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461963"/>
                <a:r>
                  <a:rPr lang="en-US" sz="2000" dirty="0">
                    <a:latin typeface="Verdana" charset="0"/>
                    <a:ea typeface="Verdana" charset="0"/>
                    <a:cs typeface="Verdana" charset="0"/>
                  </a:rPr>
                  <a:t>Two of Shower 2’s dimensions were changed by a factor of </a:t>
                </a:r>
                <a14:m>
                  <m:oMath xmlns:m="http://schemas.openxmlformats.org/officeDocument/2006/math">
                    <m:r>
                      <a:rPr lang="en-US" sz="2000" i="1">
                        <a:latin typeface="Cambria Math" charset="0"/>
                        <a:ea typeface="Verdana" charset="0"/>
                        <a:cs typeface="Verdana" charset="0"/>
                      </a:rPr>
                      <m:t>1.5</m:t>
                    </m:r>
                  </m:oMath>
                </a14:m>
                <a:r>
                  <a:rPr lang="en-US" sz="2000" dirty="0">
                    <a:latin typeface="Verdana" charset="0"/>
                    <a:ea typeface="Verdana" charset="0"/>
                    <a:cs typeface="Verdana" charset="0"/>
                  </a:rPr>
                  <a:t>, whereas all of Tub 2’s dimensions were changed by a factor of </a:t>
                </a:r>
                <a14:m>
                  <m:oMath xmlns:m="http://schemas.openxmlformats.org/officeDocument/2006/math">
                    <m:r>
                      <a:rPr lang="en-US" sz="2000" i="1">
                        <a:latin typeface="Cambria Math" charset="0"/>
                        <a:ea typeface="Verdana" charset="0"/>
                        <a:cs typeface="Verdana" charset="0"/>
                      </a:rPr>
                      <m:t>1.5</m:t>
                    </m:r>
                  </m:oMath>
                </a14:m>
                <a:r>
                  <a:rPr lang="en-US" sz="2000" dirty="0">
                    <a:latin typeface="Verdana" charset="0"/>
                    <a:ea typeface="Verdana" charset="0"/>
                    <a:cs typeface="Verdana" charset="0"/>
                  </a:rPr>
                  <a:t>. Discuss with your partner on how to use the factor </a:t>
                </a:r>
                <a14:m>
                  <m:oMath xmlns:m="http://schemas.openxmlformats.org/officeDocument/2006/math">
                    <m:r>
                      <a:rPr lang="en-US" sz="2000" i="1">
                        <a:latin typeface="Cambria Math" charset="0"/>
                        <a:ea typeface="Verdana" charset="0"/>
                        <a:cs typeface="Verdana" charset="0"/>
                      </a:rPr>
                      <m:t>1.5</m:t>
                    </m:r>
                  </m:oMath>
                </a14:m>
                <a:r>
                  <a:rPr lang="en-US" sz="2000" dirty="0">
                    <a:latin typeface="Verdana" charset="0"/>
                    <a:ea typeface="Verdana" charset="0"/>
                    <a:cs typeface="Verdana" charset="0"/>
                  </a:rPr>
                  <a:t> and the number of changes in dimensions to find the new surface area from the original surface area.</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263890" y="520393"/>
                <a:ext cx="11768165" cy="5324535"/>
              </a:xfrm>
              <a:prstGeom prst="rect">
                <a:avLst/>
              </a:prstGeom>
              <a:blipFill>
                <a:blip r:embed="rId4"/>
                <a:stretch>
                  <a:fillRect l="-539" t="-475" b="-9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193591168"/>
                  </p:ext>
                </p:extLst>
              </p:nvPr>
            </p:nvGraphicFramePr>
            <p:xfrm>
              <a:off x="2813156" y="1904896"/>
              <a:ext cx="7135595" cy="2555527"/>
            </p:xfrm>
            <a:graphic>
              <a:graphicData uri="http://schemas.openxmlformats.org/drawingml/2006/table">
                <a:tbl>
                  <a:tblPr firstRow="1" firstCol="1" bandRow="1"/>
                  <a:tblGrid>
                    <a:gridCol w="3554128">
                      <a:extLst>
                        <a:ext uri="{9D8B030D-6E8A-4147-A177-3AD203B41FA5}">
                          <a16:colId xmlns:a16="http://schemas.microsoft.com/office/drawing/2014/main" val="20000"/>
                        </a:ext>
                      </a:extLst>
                    </a:gridCol>
                    <a:gridCol w="3581467">
                      <a:extLst>
                        <a:ext uri="{9D8B030D-6E8A-4147-A177-3AD203B41FA5}">
                          <a16:colId xmlns:a16="http://schemas.microsoft.com/office/drawing/2014/main" val="20001"/>
                        </a:ext>
                      </a:extLst>
                    </a:gridCol>
                  </a:tblGrid>
                  <a:tr h="276824">
                    <a:tc>
                      <a:txBody>
                        <a:bodyPr/>
                        <a:lstStyle/>
                        <a:p>
                          <a:pPr marL="0" marR="0" algn="ctr">
                            <a:spcBef>
                              <a:spcPts val="0"/>
                            </a:spcBef>
                            <a:spcAft>
                              <a:spcPts val="0"/>
                            </a:spcAft>
                          </a:pPr>
                          <a:r>
                            <a:rPr lang="en-US" sz="2000" b="1">
                              <a:effectLst/>
                              <a:latin typeface="Verdana" charset="0"/>
                              <a:ea typeface="Verdana" charset="0"/>
                              <a:cs typeface="Verdana" charset="0"/>
                            </a:rPr>
                            <a:t>Shower 2</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Tub 2</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107295">
                    <a:tc>
                      <a:txBody>
                        <a:bodyPr/>
                        <a:lstStyle/>
                        <a:p>
                          <a:pPr marL="0" marR="0">
                            <a:spcBef>
                              <a:spcPts val="0"/>
                            </a:spcBef>
                            <a:spcAft>
                              <a:spcPts val="0"/>
                            </a:spcAft>
                          </a:pPr>
                          <a:r>
                            <a:rPr lang="en-US" sz="2000" dirty="0">
                              <a:effectLst/>
                              <a:latin typeface="Verdana" charset="0"/>
                              <a:ea typeface="Verdana" charset="0"/>
                              <a:cs typeface="Verdana" charset="0"/>
                            </a:rPr>
                            <a:t>length </a:t>
                          </a:r>
                          <a14:m>
                            <m:oMath xmlns:m="http://schemas.openxmlformats.org/officeDocument/2006/math">
                              <m:r>
                                <a:rPr lang="en-US" sz="2000" i="1">
                                  <a:effectLst/>
                                  <a:latin typeface="Cambria Math" charset="0"/>
                                  <a:ea typeface="Verdana" charset="0"/>
                                  <a:cs typeface="Verdana" charset="0"/>
                                </a:rPr>
                                <m:t>=6</m:t>
                              </m:r>
                            </m:oMath>
                          </a14:m>
                          <a:r>
                            <a:rPr lang="en-US" sz="2000" dirty="0">
                              <a:effectLst/>
                              <a:latin typeface="Verdana" charset="0"/>
                              <a:ea typeface="Verdana" charset="0"/>
                              <a:cs typeface="Verdana" charset="0"/>
                            </a:rPr>
                            <a:t> ft </a:t>
                          </a:r>
                        </a:p>
                        <a:p>
                          <a:pPr marL="0" marR="0">
                            <a:spcBef>
                              <a:spcPts val="0"/>
                            </a:spcBef>
                            <a:spcAft>
                              <a:spcPts val="0"/>
                            </a:spcAft>
                          </a:pPr>
                          <a:r>
                            <a:rPr lang="en-US" sz="2000" dirty="0">
                              <a:effectLst/>
                              <a:latin typeface="Verdana" charset="0"/>
                              <a:ea typeface="Verdana" charset="0"/>
                              <a:cs typeface="Verdana" charset="0"/>
                            </a:rPr>
                            <a:t>width</a:t>
                          </a:r>
                          <a14:m>
                            <m:oMath xmlns:m="http://schemas.openxmlformats.org/officeDocument/2006/math">
                              <m:r>
                                <a:rPr lang="en-US" sz="2000" i="1">
                                  <a:effectLst/>
                                  <a:latin typeface="Cambria Math" charset="0"/>
                                  <a:ea typeface="Verdana" charset="0"/>
                                  <a:cs typeface="Verdana" charset="0"/>
                                </a:rPr>
                                <m:t> =9</m:t>
                              </m:r>
                            </m:oMath>
                          </a14:m>
                          <a:r>
                            <a:rPr lang="en-US" sz="2000" dirty="0">
                              <a:effectLst/>
                              <a:latin typeface="Verdana" charset="0"/>
                              <a:ea typeface="Verdana" charset="0"/>
                              <a:cs typeface="Verdana" charset="0"/>
                            </a:rPr>
                            <a:t> ft</a:t>
                          </a:r>
                        </a:p>
                        <a:p>
                          <a:pPr marL="0" marR="0">
                            <a:spcBef>
                              <a:spcPts val="0"/>
                            </a:spcBef>
                            <a:spcAft>
                              <a:spcPts val="0"/>
                            </a:spcAft>
                          </a:pPr>
                          <a:r>
                            <a:rPr lang="en-US" sz="2000" dirty="0">
                              <a:effectLst/>
                              <a:latin typeface="Verdana" charset="0"/>
                              <a:ea typeface="Verdana" charset="0"/>
                              <a:cs typeface="Verdana" charset="0"/>
                            </a:rPr>
                            <a:t>height </a:t>
                          </a:r>
                          <a14:m>
                            <m:oMath xmlns:m="http://schemas.openxmlformats.org/officeDocument/2006/math">
                              <m:r>
                                <a:rPr lang="en-US" sz="2000" i="1">
                                  <a:effectLst/>
                                  <a:latin typeface="Cambria Math" charset="0"/>
                                  <a:ea typeface="Verdana" charset="0"/>
                                  <a:cs typeface="Verdana" charset="0"/>
                                </a:rPr>
                                <m:t>=12</m:t>
                              </m:r>
                            </m:oMath>
                          </a14:m>
                          <a:r>
                            <a:rPr lang="en-US" sz="2000" dirty="0">
                              <a:effectLst/>
                              <a:latin typeface="Verdana" charset="0"/>
                              <a:ea typeface="Verdana" charset="0"/>
                              <a:cs typeface="Verdana" charset="0"/>
                            </a:rPr>
                            <a:t> ft</a:t>
                          </a: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Verdana" charset="0"/>
                              <a:cs typeface="Verdana" charset="0"/>
                            </a:rPr>
                            <a:t>length</a:t>
                          </a:r>
                          <a14:m>
                            <m:oMath xmlns:m="http://schemas.openxmlformats.org/officeDocument/2006/math">
                              <m:r>
                                <a:rPr lang="en-US" sz="2000" i="1">
                                  <a:effectLst/>
                                  <a:latin typeface="Cambria Math" charset="0"/>
                                  <a:ea typeface="Verdana" charset="0"/>
                                  <a:cs typeface="Verdana" charset="0"/>
                                </a:rPr>
                                <m:t> =6</m:t>
                              </m:r>
                            </m:oMath>
                          </a14:m>
                          <a:r>
                            <a:rPr lang="en-US" sz="2000">
                              <a:effectLst/>
                              <a:latin typeface="Verdana" charset="0"/>
                              <a:ea typeface="Verdana" charset="0"/>
                              <a:cs typeface="Verdana" charset="0"/>
                            </a:rPr>
                            <a:t> ft </a:t>
                          </a:r>
                        </a:p>
                        <a:p>
                          <a:pPr marL="0" marR="0">
                            <a:spcBef>
                              <a:spcPts val="0"/>
                            </a:spcBef>
                            <a:spcAft>
                              <a:spcPts val="0"/>
                            </a:spcAft>
                          </a:pPr>
                          <a:r>
                            <a:rPr lang="en-US" sz="2000">
                              <a:effectLst/>
                              <a:latin typeface="Verdana" charset="0"/>
                              <a:ea typeface="Verdana" charset="0"/>
                              <a:cs typeface="Verdana" charset="0"/>
                            </a:rPr>
                            <a:t>width </a:t>
                          </a:r>
                          <a14:m>
                            <m:oMath xmlns:m="http://schemas.openxmlformats.org/officeDocument/2006/math">
                              <m:r>
                                <a:rPr lang="en-US" sz="2000" i="1">
                                  <a:effectLst/>
                                  <a:latin typeface="Cambria Math" charset="0"/>
                                  <a:ea typeface="Verdana" charset="0"/>
                                  <a:cs typeface="Verdana" charset="0"/>
                                </a:rPr>
                                <m:t>=12</m:t>
                              </m:r>
                            </m:oMath>
                          </a14:m>
                          <a:r>
                            <a:rPr lang="en-US" sz="2000">
                              <a:effectLst/>
                              <a:latin typeface="Verdana" charset="0"/>
                              <a:ea typeface="Verdana" charset="0"/>
                              <a:cs typeface="Verdana" charset="0"/>
                            </a:rPr>
                            <a:t> ft </a:t>
                          </a:r>
                        </a:p>
                        <a:p>
                          <a:pPr marL="0" marR="0">
                            <a:spcBef>
                              <a:spcPts val="0"/>
                            </a:spcBef>
                            <a:spcAft>
                              <a:spcPts val="0"/>
                            </a:spcAft>
                          </a:pPr>
                          <a:r>
                            <a:rPr lang="en-US" sz="2000">
                              <a:effectLst/>
                              <a:latin typeface="Verdana" charset="0"/>
                              <a:ea typeface="Verdana" charset="0"/>
                              <a:cs typeface="Verdana" charset="0"/>
                            </a:rPr>
                            <a:t>height </a:t>
                          </a:r>
                          <a14:m>
                            <m:oMath xmlns:m="http://schemas.openxmlformats.org/officeDocument/2006/math">
                              <m:r>
                                <a:rPr lang="en-US" sz="2000" i="1">
                                  <a:effectLst/>
                                  <a:latin typeface="Cambria Math" charset="0"/>
                                  <a:ea typeface="Verdana" charset="0"/>
                                  <a:cs typeface="Verdana" charset="0"/>
                                </a:rPr>
                                <m:t>=15</m:t>
                              </m:r>
                            </m:oMath>
                          </a14:m>
                          <a:r>
                            <a:rPr lang="en-US" sz="2000">
                              <a:effectLst/>
                              <a:latin typeface="Verdana" charset="0"/>
                              <a:ea typeface="Verdana" charset="0"/>
                              <a:cs typeface="Verdana" charset="0"/>
                            </a:rPr>
                            <a:t> ft</a:t>
                          </a:r>
                        </a:p>
                        <a:p>
                          <a:pPr marL="0" marR="0">
                            <a:spcBef>
                              <a:spcPts val="0"/>
                            </a:spcBef>
                            <a:spcAft>
                              <a:spcPts val="0"/>
                            </a:spcAft>
                          </a:pPr>
                          <a:r>
                            <a:rPr lang="en-US" sz="2000">
                              <a:effectLst/>
                              <a:latin typeface="Verdana" charset="0"/>
                              <a:ea typeface="Verdana" charset="0"/>
                              <a:cs typeface="Verdana" charset="0"/>
                            </a:rPr>
                            <a:t> </a:t>
                          </a: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6824">
                    <a:tc>
                      <a:txBody>
                        <a:bodyPr/>
                        <a:lstStyle/>
                        <a:p>
                          <a:pPr marL="0" marR="0" algn="ctr">
                            <a:spcBef>
                              <a:spcPts val="0"/>
                            </a:spcBef>
                            <a:spcAft>
                              <a:spcPts val="0"/>
                            </a:spcAft>
                          </a:pPr>
                          <a:r>
                            <a:rPr lang="en-US" sz="2000" b="1" dirty="0">
                              <a:effectLst/>
                              <a:latin typeface="Verdana" charset="0"/>
                              <a:ea typeface="Verdana" charset="0"/>
                              <a:cs typeface="Verdana" charset="0"/>
                            </a:rPr>
                            <a:t>Surface Area</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726727">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193591168"/>
                  </p:ext>
                </p:extLst>
              </p:nvPr>
            </p:nvGraphicFramePr>
            <p:xfrm>
              <a:off x="2813156" y="1904896"/>
              <a:ext cx="7135595" cy="2555527"/>
            </p:xfrm>
            <a:graphic>
              <a:graphicData uri="http://schemas.openxmlformats.org/drawingml/2006/table">
                <a:tbl>
                  <a:tblPr firstRow="1" firstCol="1" bandRow="1"/>
                  <a:tblGrid>
                    <a:gridCol w="3554128">
                      <a:extLst>
                        <a:ext uri="{9D8B030D-6E8A-4147-A177-3AD203B41FA5}">
                          <a16:colId xmlns:a16="http://schemas.microsoft.com/office/drawing/2014/main" val="20000"/>
                        </a:ext>
                      </a:extLst>
                    </a:gridCol>
                    <a:gridCol w="3581467">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Shower 2</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Tub 2</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219200">
                    <a:tc>
                      <a:txBody>
                        <a:bodyPr/>
                        <a:lstStyle/>
                        <a:p>
                          <a:endParaRPr lang="en-US"/>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7" t="-30928" r="-101429" b="-85567"/>
                          </a:stretch>
                        </a:blipFill>
                      </a:tcPr>
                    </a:tc>
                    <a:tc>
                      <a:txBody>
                        <a:bodyPr/>
                        <a:lstStyle/>
                        <a:p>
                          <a:endParaRPr lang="en-US"/>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9293" t="-30928" r="-353" b="-85567"/>
                          </a:stretch>
                        </a:blipFill>
                      </a:tcPr>
                    </a:tc>
                    <a:extLst>
                      <a:ext uri="{0D108BD9-81ED-4DB2-BD59-A6C34878D82A}">
                        <a16:rowId xmlns:a16="http://schemas.microsoft.com/office/drawing/2014/main" val="10001"/>
                      </a:ext>
                    </a:extLst>
                  </a:tr>
                  <a:tr h="304800">
                    <a:tc>
                      <a:txBody>
                        <a:bodyPr/>
                        <a:lstStyle/>
                        <a:p>
                          <a:pPr marL="0" marR="0" algn="ctr">
                            <a:spcBef>
                              <a:spcPts val="0"/>
                            </a:spcBef>
                            <a:spcAft>
                              <a:spcPts val="0"/>
                            </a:spcAft>
                          </a:pPr>
                          <a:r>
                            <a:rPr lang="en-US" sz="2000" b="1" dirty="0">
                              <a:effectLst/>
                              <a:latin typeface="Verdana" charset="0"/>
                              <a:ea typeface="Verdana" charset="0"/>
                              <a:cs typeface="Verdana" charset="0"/>
                            </a:rPr>
                            <a:t>Surface Area</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2"/>
                      </a:ext>
                    </a:extLst>
                  </a:tr>
                  <a:tr h="726727">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b="1" dirty="0">
                              <a:effectLst/>
                              <a:latin typeface="Verdana" charset="0"/>
                              <a:ea typeface="Verdana" charset="0"/>
                              <a:cs typeface="Verdana" charset="0"/>
                            </a:rPr>
                            <a:t> </a:t>
                          </a:r>
                          <a:endParaRPr lang="en-US" sz="2000" dirty="0">
                            <a:effectLst/>
                            <a:latin typeface="Verdana" charset="0"/>
                            <a:ea typeface="Verdana" charset="0"/>
                            <a:cs typeface="Verdana" charset="0"/>
                          </a:endParaRPr>
                        </a:p>
                      </a:txBody>
                      <a:tcPr marL="53506" marR="535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977155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44032" y="538500"/>
                <a:ext cx="11715184" cy="163121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Complete the statements.</a:t>
                </a:r>
              </a:p>
              <a:p>
                <a:r>
                  <a:rPr lang="en-US" sz="2000" dirty="0">
                    <a:latin typeface="Verdana" charset="0"/>
                    <a:ea typeface="Verdana" charset="0"/>
                    <a:cs typeface="Verdana" charset="0"/>
                  </a:rPr>
                  <a:t> </a:t>
                </a:r>
              </a:p>
              <a:p>
                <a:pPr marL="461963"/>
                <a14:m>
                  <m:oMath xmlns:m="http://schemas.openxmlformats.org/officeDocument/2006/math">
                    <m:r>
                      <a:rPr lang="en-US" sz="2000" i="1">
                        <a:latin typeface="Cambria Math" charset="0"/>
                        <a:ea typeface="Verdana" charset="0"/>
                        <a:cs typeface="Verdana" charset="0"/>
                      </a:rPr>
                      <m:t>__________×</m:t>
                    </m:r>
                  </m:oMath>
                </a14:m>
                <a:r>
                  <a:rPr lang="en-US" sz="2000" dirty="0">
                    <a:latin typeface="Verdana" charset="0"/>
                    <a:ea typeface="Verdana" charset="0"/>
                    <a:cs typeface="Verdana" charset="0"/>
                  </a:rPr>
                  <a:t> surface area of Shower 1 = surface area of Shower 2</a:t>
                </a:r>
              </a:p>
              <a:p>
                <a:pPr marL="461963"/>
                <a:r>
                  <a:rPr lang="en-US" sz="2000" dirty="0">
                    <a:latin typeface="Verdana" charset="0"/>
                    <a:ea typeface="Verdana" charset="0"/>
                    <a:cs typeface="Verdana" charset="0"/>
                  </a:rPr>
                  <a:t> </a:t>
                </a:r>
              </a:p>
              <a:p>
                <a:pPr marL="461963"/>
                <a14:m>
                  <m:oMath xmlns:m="http://schemas.openxmlformats.org/officeDocument/2006/math">
                    <m:r>
                      <a:rPr lang="en-US" sz="2000" i="1">
                        <a:latin typeface="Cambria Math" charset="0"/>
                        <a:ea typeface="Verdana" charset="0"/>
                        <a:cs typeface="Verdana" charset="0"/>
                      </a:rPr>
                      <m:t>__________×</m:t>
                    </m:r>
                  </m:oMath>
                </a14:m>
                <a:r>
                  <a:rPr lang="en-US" sz="2000" dirty="0">
                    <a:latin typeface="Verdana" charset="0"/>
                    <a:ea typeface="Verdana" charset="0"/>
                    <a:cs typeface="Verdana" charset="0"/>
                  </a:rPr>
                  <a:t> surface area of Tub 1 = surface area of Tub 2</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44032" y="538500"/>
                <a:ext cx="11715184" cy="1631216"/>
              </a:xfrm>
              <a:prstGeom prst="rect">
                <a:avLst/>
              </a:prstGeom>
              <a:blipFill>
                <a:blip r:embed="rId4"/>
                <a:stretch>
                  <a:fillRect l="-433" t="-2326" b="-6202"/>
                </a:stretch>
              </a:blipFill>
            </p:spPr>
            <p:txBody>
              <a:bodyPr/>
              <a:lstStyle/>
              <a:p>
                <a:r>
                  <a:rPr lang="en-US">
                    <a:noFill/>
                  </a:rPr>
                  <a:t> </a:t>
                </a:r>
              </a:p>
            </p:txBody>
          </p:sp>
        </mc:Fallback>
      </mc:AlternateContent>
    </p:spTree>
    <p:extLst>
      <p:ext uri="{BB962C8B-B14F-4D97-AF65-F5344CB8AC3E}">
        <p14:creationId xmlns:p14="http://schemas.microsoft.com/office/powerpoint/2010/main" val="1683364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23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994150" y="6469408"/>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116</a:t>
            </a:r>
          </a:p>
        </p:txBody>
      </p:sp>
    </p:spTree>
    <p:extLst>
      <p:ext uri="{BB962C8B-B14F-4D97-AF65-F5344CB8AC3E}">
        <p14:creationId xmlns:p14="http://schemas.microsoft.com/office/powerpoint/2010/main" val="1790839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28438" y="196127"/>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9.11.4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94524" y="196127"/>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394524" y="1386025"/>
                <a:ext cx="11528890" cy="3170099"/>
              </a:xfrm>
              <a:prstGeom prst="rect">
                <a:avLst/>
              </a:prstGeom>
              <a:noFill/>
            </p:spPr>
            <p:txBody>
              <a:bodyPr wrap="square" rtlCol="0">
                <a:spAutoFit/>
              </a:bodyPr>
              <a:lstStyle/>
              <a:p>
                <a:r>
                  <a:rPr lang="en-US" sz="2000" dirty="0">
                    <a:latin typeface="Verdana" charset="0"/>
                    <a:ea typeface="Verdana" charset="0"/>
                    <a:cs typeface="Verdana" charset="0"/>
                  </a:rPr>
                  <a:t>The living room of Ryan’s house is </a:t>
                </a:r>
                <a14:m>
                  <m:oMath xmlns:m="http://schemas.openxmlformats.org/officeDocument/2006/math">
                    <m:r>
                      <a:rPr lang="en-US" sz="2000" i="1">
                        <a:latin typeface="Cambria Math" charset="0"/>
                        <a:ea typeface="Verdana" charset="0"/>
                        <a:cs typeface="Verdana" charset="0"/>
                      </a:rPr>
                      <m:t>12</m:t>
                    </m:r>
                  </m:oMath>
                </a14:m>
                <a:r>
                  <a:rPr lang="en-US" sz="2000" dirty="0">
                    <a:latin typeface="Verdana" charset="0"/>
                    <a:ea typeface="Verdana" charset="0"/>
                    <a:cs typeface="Verdana" charset="0"/>
                  </a:rPr>
                  <a:t> feet long and </a:t>
                </a:r>
                <a14:m>
                  <m:oMath xmlns:m="http://schemas.openxmlformats.org/officeDocument/2006/math">
                    <m:r>
                      <a:rPr lang="en-US" sz="2000" i="1">
                        <a:latin typeface="Cambria Math" charset="0"/>
                        <a:ea typeface="Verdana" charset="0"/>
                        <a:cs typeface="Verdana" charset="0"/>
                      </a:rPr>
                      <m:t>18</m:t>
                    </m:r>
                  </m:oMath>
                </a14:m>
                <a:r>
                  <a:rPr lang="en-US" sz="2000" dirty="0">
                    <a:latin typeface="Verdana" charset="0"/>
                    <a:ea typeface="Verdana" charset="0"/>
                    <a:cs typeface="Verdana" charset="0"/>
                  </a:rPr>
                  <a:t> feet wide. </a:t>
                </a:r>
              </a:p>
              <a:p>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The room is a rectangular shape. Find the area of Ryan’s living room.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How would the area of the living room change if Ryan decided to enlarge the dimensions by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What is the scale factor for a dimension increase of </a:t>
                </a:r>
                <a14:m>
                  <m:oMath xmlns:m="http://schemas.openxmlformats.org/officeDocument/2006/math">
                    <m:r>
                      <a:rPr lang="en-US" sz="2000" i="1">
                        <a:latin typeface="Cambria Math" charset="0"/>
                        <a:ea typeface="Verdana" charset="0"/>
                        <a:cs typeface="Verdana" charset="0"/>
                      </a:rPr>
                      <m:t>25%</m:t>
                    </m:r>
                  </m:oMath>
                </a14:m>
                <a:r>
                  <a:rPr lang="en-US" sz="2000" dirty="0">
                    <a:latin typeface="Verdana" charset="0"/>
                    <a:ea typeface="Verdana" charset="0"/>
                    <a:cs typeface="Verdana" charset="0"/>
                  </a:rPr>
                  <a:t>?</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How did the area of the living room change with the new dimensions? </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394524" y="1386025"/>
                <a:ext cx="11528890" cy="3170099"/>
              </a:xfrm>
              <a:prstGeom prst="rect">
                <a:avLst/>
              </a:prstGeom>
              <a:blipFill>
                <a:blip r:embed="rId5"/>
                <a:stretch>
                  <a:fillRect l="-661" t="-797" b="-2390"/>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EE3C8BB3-D8AE-154C-9B2D-B1D7451436FE}"/>
              </a:ext>
            </a:extLst>
          </p:cNvPr>
          <p:cNvSpPr txBox="1"/>
          <p:nvPr/>
        </p:nvSpPr>
        <p:spPr>
          <a:xfrm>
            <a:off x="8994150" y="6461773"/>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116</a:t>
            </a:r>
          </a:p>
        </p:txBody>
      </p:sp>
    </p:spTree>
    <p:extLst>
      <p:ext uri="{BB962C8B-B14F-4D97-AF65-F5344CB8AC3E}">
        <p14:creationId xmlns:p14="http://schemas.microsoft.com/office/powerpoint/2010/main" val="3101299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116</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116</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1824" y="-5239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9.11.5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206629"/>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394523" y="1386026"/>
            <a:ext cx="11619425" cy="461665"/>
          </a:xfrm>
          <a:prstGeom prst="rect">
            <a:avLst/>
          </a:prstGeom>
          <a:noFill/>
        </p:spPr>
        <p:txBody>
          <a:bodyPr wrap="square" rtlCol="0">
            <a:spAutoFit/>
          </a:bodyPr>
          <a:lstStyle/>
          <a:p>
            <a:pPr marL="463550" indent="-463550" rtl="0" fontAlgn="base">
              <a:spcBef>
                <a:spcPts val="0"/>
              </a:spcBef>
              <a:spcAft>
                <a:spcPts val="0"/>
              </a:spcAft>
              <a:buFont typeface="+mj-lt"/>
              <a:buAutoNum type="arabicPeriod"/>
            </a:pPr>
            <a:r>
              <a:rPr lang="en-US" sz="2400" b="0" i="0" u="none" strike="noStrike" dirty="0">
                <a:solidFill>
                  <a:srgbClr val="000000"/>
                </a:solidFill>
                <a:effectLst/>
                <a:latin typeface="Verdana" panose="020B0604030504040204" pitchFamily="34" charset="0"/>
              </a:rPr>
              <a:t>Write a summary of what you learned in this lesson.</a:t>
            </a:r>
            <a:endParaRPr lang="en-US" sz="2400" b="0" i="0" u="none"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1248</Words>
  <Application>Microsoft Office PowerPoint</Application>
  <PresentationFormat>Widescreen</PresentationFormat>
  <Paragraphs>297</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Geometry  Unit 9, Lesson 11  Determining Surface Area Given Dimension Changes  Volume 2, pg. 112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25</cp:revision>
  <dcterms:created xsi:type="dcterms:W3CDTF">2015-03-17T18:51:18Z</dcterms:created>
  <dcterms:modified xsi:type="dcterms:W3CDTF">2022-09-06T19:47:56Z</dcterms:modified>
</cp:coreProperties>
</file>