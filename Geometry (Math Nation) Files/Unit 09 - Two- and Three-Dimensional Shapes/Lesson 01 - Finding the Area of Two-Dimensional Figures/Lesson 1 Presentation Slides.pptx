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352" r:id="rId10"/>
    <p:sldId id="362" r:id="rId11"/>
    <p:sldId id="363" r:id="rId12"/>
    <p:sldId id="364" r:id="rId13"/>
    <p:sldId id="365" r:id="rId14"/>
    <p:sldId id="366" r:id="rId15"/>
    <p:sldId id="367" r:id="rId16"/>
    <p:sldId id="368" r:id="rId17"/>
    <p:sldId id="373" r:id="rId18"/>
    <p:sldId id="374" r:id="rId19"/>
    <p:sldId id="375" r:id="rId20"/>
    <p:sldId id="369" r:id="rId21"/>
    <p:sldId id="370" r:id="rId22"/>
    <p:sldId id="371" r:id="rId23"/>
    <p:sldId id="372" r:id="rId24"/>
    <p:sldId id="376" r:id="rId25"/>
    <p:sldId id="302" r:id="rId26"/>
    <p:sldId id="303" r:id="rId27"/>
    <p:sldId id="306" r:id="rId28"/>
    <p:sldId id="307" r:id="rId29"/>
    <p:sldId id="361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5B0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06" autoAdjust="0"/>
    <p:restoredTop sz="94695"/>
  </p:normalViewPr>
  <p:slideViewPr>
    <p:cSldViewPr snapToGrid="0">
      <p:cViewPr varScale="1">
        <p:scale>
          <a:sx n="78" d="100"/>
          <a:sy n="78" d="100"/>
        </p:scale>
        <p:origin x="662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316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49625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1610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13566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7630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73246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98425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93769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33930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08464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25897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34457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98822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64927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20303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4999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6439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5" Type="http://schemas.openxmlformats.org/officeDocument/2006/relationships/image" Target="../media/image360.png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1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Finding the Area of Two-Dimensional Figures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51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010" y="1598046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30328" y="1632857"/>
            <a:ext cx="1099359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MA.912.GR.4.4 </a:t>
            </a:r>
          </a:p>
          <a:p>
            <a:pPr marL="465138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Solve mathematical and real-world problems involving the area of two-dimensional figures.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29667"/>
            <a:ext cx="853499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51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390"/>
            <a:ext cx="105263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65719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557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51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66344" y="1600200"/>
            <a:ext cx="1105758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solve mathematical and real-world problems involving the area of two-dimensional figures.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642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10465" y="-57660"/>
            <a:ext cx="915117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9.1.1 Warm-Up: Michael Jordan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166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7820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51064" y="1386025"/>
            <a:ext cx="109611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Basketball legend Michael Jordan is often quoted as saying, “I’ve failed over and over and over again in my life and that is why I succeed.” 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	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is a skill, activity, or subject that you have failed at?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Explain Jordan’s quote in your own words.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How can you turn a failure into a success story? 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52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60325"/>
            <a:ext cx="927122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9.1.2 Collaboration: Finding Area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52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593248" y="1386025"/>
            <a:ext cx="927122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table.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How is the area of a triangle related to the area of a rectangle?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279066"/>
              </p:ext>
            </p:extLst>
          </p:nvPr>
        </p:nvGraphicFramePr>
        <p:xfrm>
          <a:off x="1390618" y="2012224"/>
          <a:ext cx="6476365" cy="1917700"/>
        </p:xfrm>
        <a:graphic>
          <a:graphicData uri="http://schemas.openxmlformats.org/drawingml/2006/table">
            <a:tbl>
              <a:tblPr firstRow="1" firstCol="1" bandRow="1"/>
              <a:tblGrid>
                <a:gridCol w="2289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6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643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Figure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Area Formula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43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Rectangle</a:t>
                      </a:r>
                      <a:endParaRPr lang="en-US" sz="1400" dirty="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Triangle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528618"/>
                <a:ext cx="83271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Parallelogram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𝐵𝑁𝑋𝑇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on the coordinate grid.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528618"/>
                <a:ext cx="8327136" cy="400110"/>
              </a:xfrm>
              <a:prstGeom prst="rect">
                <a:avLst/>
              </a:prstGeom>
              <a:blipFill>
                <a:blip r:embed="rId4"/>
                <a:stretch>
                  <a:fillRect l="-805" t="-10769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432" y="1307615"/>
            <a:ext cx="7815403" cy="425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022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4" y="520394"/>
                <a:ext cx="1098335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Tyrese could not remember how to find the area of a parallelogram so he divided the parallelogram into 2 triangles and a rectangle. Work with your partner to use Tyrese’s method to find the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𝐵𝑁𝑋𝑇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520394"/>
                <a:ext cx="10983359" cy="1015663"/>
              </a:xfrm>
              <a:prstGeom prst="rect">
                <a:avLst/>
              </a:prstGeom>
              <a:blipFill>
                <a:blip r:embed="rId4"/>
                <a:stretch>
                  <a:fillRect l="-611" t="-2994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610443"/>
              </p:ext>
            </p:extLst>
          </p:nvPr>
        </p:nvGraphicFramePr>
        <p:xfrm>
          <a:off x="875402" y="1787590"/>
          <a:ext cx="7710375" cy="3672840"/>
        </p:xfrm>
        <a:graphic>
          <a:graphicData uri="http://schemas.openxmlformats.org/drawingml/2006/table">
            <a:tbl>
              <a:tblPr firstRow="1" firstCol="1" bandRow="1"/>
              <a:tblGrid>
                <a:gridCol w="1943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6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Shape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Area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201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Triangle 1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201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Triangle 2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201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Rectangle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201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Total Area of Parallelogram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991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520394"/>
                <a:ext cx="9178622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Sarianna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rearranged the parallelogram to create a rectangle.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513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Sarianna’s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rectangle to find the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𝐵𝑁𝑋𝑇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.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520394"/>
                <a:ext cx="9178622" cy="5324535"/>
              </a:xfrm>
              <a:prstGeom prst="rect">
                <a:avLst/>
              </a:prstGeom>
              <a:blipFill>
                <a:blip r:embed="rId4"/>
                <a:stretch>
                  <a:fillRect l="-731" t="-686" b="-1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680" y="1278568"/>
            <a:ext cx="7917900" cy="380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256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4" y="528618"/>
                <a:ext cx="1051089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Quadrilateral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𝑀𝐵𝐿𝑌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decomposed as shown on the coordinate grid. Find the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𝑀𝐵𝐿𝑌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using the decomposition shown.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528618"/>
                <a:ext cx="10510893" cy="707886"/>
              </a:xfrm>
              <a:prstGeom prst="rect">
                <a:avLst/>
              </a:prstGeom>
              <a:blipFill>
                <a:blip r:embed="rId4"/>
                <a:stretch>
                  <a:fillRect l="-638" t="-6034" r="-81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1114" y="1313976"/>
            <a:ext cx="6781800" cy="534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522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528618"/>
                <a:ext cx="83271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6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𝐹𝐻𝑅𝑊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on the coordinate grid.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528618"/>
                <a:ext cx="8327136" cy="400110"/>
              </a:xfrm>
              <a:prstGeom prst="rect">
                <a:avLst/>
              </a:prstGeom>
              <a:blipFill>
                <a:blip r:embed="rId4"/>
                <a:stretch>
                  <a:fillRect l="-732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2866" y="1102307"/>
            <a:ext cx="7268849" cy="510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538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22214" y="528619"/>
                <a:ext cx="10683713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Divide the quadrilateral into two triangles and a rectangle. Then, find the area of each. 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𝐹𝐻𝑅𝑊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 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type of quadrilateral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𝐹𝐻𝑅𝑊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214" y="528619"/>
                <a:ext cx="10683713" cy="5324535"/>
              </a:xfrm>
              <a:prstGeom prst="rect">
                <a:avLst/>
              </a:prstGeom>
              <a:blipFill>
                <a:blip r:embed="rId4"/>
                <a:stretch>
                  <a:fillRect l="-627" t="-802" r="-1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816619"/>
              </p:ext>
            </p:extLst>
          </p:nvPr>
        </p:nvGraphicFramePr>
        <p:xfrm>
          <a:off x="1261033" y="1419808"/>
          <a:ext cx="6800850" cy="2499360"/>
        </p:xfrm>
        <a:graphic>
          <a:graphicData uri="http://schemas.openxmlformats.org/drawingml/2006/table">
            <a:tbl>
              <a:tblPr firstRow="1" firstCol="1" bandRow="1"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Shape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Area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Triangle 1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Triangle 2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Rectangle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7271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495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742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919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2059" y="520394"/>
                <a:ext cx="10755205" cy="1142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Ava found a formula for the area of a trapezoid. The formula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𝐴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h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h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the height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the bases. Use the formula Ava found to find the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𝐹𝐻𝑅𝑊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59" y="520394"/>
                <a:ext cx="10755205" cy="1142492"/>
              </a:xfrm>
              <a:prstGeom prst="rect">
                <a:avLst/>
              </a:prstGeom>
              <a:blipFill>
                <a:blip r:embed="rId4"/>
                <a:stretch>
                  <a:fillRect l="-624" r="-567" b="-7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4023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520394"/>
                <a:ext cx="8327136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8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𝑇𝐻𝑅𝐾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on the coordinate grid.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5988" indent="-45085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type of quadrilateral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𝑇𝐻𝑅𝐾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520394"/>
                <a:ext cx="8327136" cy="5632311"/>
              </a:xfrm>
              <a:prstGeom prst="rect">
                <a:avLst/>
              </a:prstGeom>
              <a:blipFill>
                <a:blip r:embed="rId4"/>
                <a:stretch>
                  <a:fillRect l="-732" t="-541" b="-1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3298" y="972147"/>
            <a:ext cx="6841671" cy="472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440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89557" y="520393"/>
                <a:ext cx="10038998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the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𝑇𝐻𝑅𝐾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Show your work or explain your thinking.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table.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57" y="520393"/>
                <a:ext cx="10038998" cy="2554545"/>
              </a:xfrm>
              <a:prstGeom prst="rect">
                <a:avLst/>
              </a:prstGeom>
              <a:blipFill>
                <a:blip r:embed="rId4"/>
                <a:stretch>
                  <a:fillRect l="-668" t="-1432" b="-3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9331424"/>
                  </p:ext>
                </p:extLst>
              </p:nvPr>
            </p:nvGraphicFramePr>
            <p:xfrm>
              <a:off x="1281905" y="3074938"/>
              <a:ext cx="8643760" cy="262939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497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9401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334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Line Segment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Length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8802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𝑇𝑅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8802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𝐾𝐻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9331424"/>
                  </p:ext>
                </p:extLst>
              </p:nvPr>
            </p:nvGraphicFramePr>
            <p:xfrm>
              <a:off x="1281905" y="3074938"/>
              <a:ext cx="8643760" cy="262939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497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9401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334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Line Segment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Length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880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8" t="-48603" r="-124842" b="-10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880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8" t="-148603" r="-124842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78101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520393"/>
                <a:ext cx="10961136" cy="4835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area of a rhombus can be found using the formula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𝐴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𝑝𝑞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𝑝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𝑞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the lengths of the diagonals.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15988" indent="-450850">
                  <a:buFont typeface="+mj-lt"/>
                  <a:buAutoNum type="alphaL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the formula to find the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𝑇𝐻𝑅𝐾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Formulas for area can easily be forgotten, so it is always helpful to be able to break a figure down into triangles and rectangles in order to find the area. The exception is finding the area of a circle or a part of a circle.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9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area of a circle?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520393"/>
                <a:ext cx="10961136" cy="4835811"/>
              </a:xfrm>
              <a:prstGeom prst="rect">
                <a:avLst/>
              </a:prstGeom>
              <a:blipFill>
                <a:blip r:embed="rId4"/>
                <a:stretch>
                  <a:fillRect l="-612" r="-723" b="-1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392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4" y="528619"/>
                <a:ext cx="1021100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10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drama program at school is building a new semi-circular stage. The longest distance across the stage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feet. What is the area of the new stage? Round to the nearest thousandth.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528619"/>
                <a:ext cx="10211009" cy="1015663"/>
              </a:xfrm>
              <a:prstGeom prst="rect">
                <a:avLst/>
              </a:prstGeom>
              <a:blipFill>
                <a:blip r:embed="rId4"/>
                <a:stretch>
                  <a:fillRect l="-657" t="-4217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37250" y="1719090"/>
            <a:ext cx="42164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40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56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8895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-110951"/>
            <a:ext cx="111393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9.1.3 Guided Practice: Using the Formulas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56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12881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93248" y="1386026"/>
                <a:ext cx="10930676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radius of a circle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feet (ft). Find the area, in square feet, of the circle. Leave the answer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form.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base of the parallelogram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22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inches (in.). The area of the parallelogram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132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square inches. Find the height, in inches, of the parallelogram.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6"/>
                <a:ext cx="10930676" cy="2862322"/>
              </a:xfrm>
              <a:prstGeom prst="rect">
                <a:avLst/>
              </a:prstGeom>
              <a:blipFill>
                <a:blip r:embed="rId5"/>
                <a:stretch>
                  <a:fillRect l="-613" t="-1277" r="-1394" b="-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81519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4" y="520394"/>
            <a:ext cx="105797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diagonals of a rhombus are 40 centimeters (cm) and 18 centimeters. Find the area, in square centimeters, of the rhombus. </a:t>
            </a:r>
          </a:p>
        </p:txBody>
      </p:sp>
    </p:spTree>
    <p:extLst>
      <p:ext uri="{BB962C8B-B14F-4D97-AF65-F5344CB8AC3E}">
        <p14:creationId xmlns:p14="http://schemas.microsoft.com/office/powerpoint/2010/main" val="1361912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4" y="520393"/>
            <a:ext cx="10417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 composite shape of a rhombus, a parallelogram, and a triangle is shown.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8347" y="992775"/>
            <a:ext cx="7632700" cy="48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76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520393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table. Round to the nearest thousandth.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421097"/>
              </p:ext>
            </p:extLst>
          </p:nvPr>
        </p:nvGraphicFramePr>
        <p:xfrm>
          <a:off x="1271006" y="1474539"/>
          <a:ext cx="6866255" cy="3586480"/>
        </p:xfrm>
        <a:graphic>
          <a:graphicData uri="http://schemas.openxmlformats.org/drawingml/2006/table">
            <a:tbl>
              <a:tblPr firstRow="1" firstCol="1" bandRow="1"/>
              <a:tblGrid>
                <a:gridCol w="3406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0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2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Shape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Area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32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9966FF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Rhombus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B05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Parallelogram</a:t>
                      </a:r>
                      <a:endParaRPr lang="en-US" sz="1400" dirty="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79646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Triangle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Composite Area</a:t>
                      </a:r>
                      <a:endParaRPr lang="en-US" sz="140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MS Mincho" charset="-128"/>
                        <a:cs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25001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58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2365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104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40353" y="61244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9.1.4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3053" y="6124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80951" y="1071546"/>
                <a:ext cx="11593948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design of a room is shown,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unit =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feet. 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513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the area, in square feet, of the room. Round to the nearest thousandth.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51" y="1071546"/>
                <a:ext cx="11593948" cy="5016758"/>
              </a:xfrm>
              <a:prstGeom prst="rect">
                <a:avLst/>
              </a:prstGeom>
              <a:blipFill>
                <a:blip r:embed="rId5"/>
                <a:stretch>
                  <a:fillRect l="-578" t="-851" b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7977" y="1598531"/>
            <a:ext cx="6133084" cy="3813003"/>
          </a:xfrm>
          <a:prstGeom prst="rect">
            <a:avLst/>
          </a:prstGeom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872823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58</a:t>
            </a: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58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7978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89924" y="647387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58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680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-6636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9.1.5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7652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7" y="1402228"/>
            <a:ext cx="87424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Circle the icon that best describes your understanding of each.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3316" y="2253010"/>
            <a:ext cx="7747000" cy="387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58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1476" y="642257"/>
            <a:ext cx="77343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24026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1284</TotalTime>
  <Words>1005</Words>
  <Application>Microsoft Office PowerPoint</Application>
  <PresentationFormat>Widescreen</PresentationFormat>
  <Paragraphs>246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Geometry  Unit 9, Lesson 1  Finding the Area of Two-Dimensional Figures  Volume 2, pg. 51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Morgan Palomino</cp:lastModifiedBy>
  <cp:revision>24</cp:revision>
  <dcterms:created xsi:type="dcterms:W3CDTF">2015-03-17T18:51:18Z</dcterms:created>
  <dcterms:modified xsi:type="dcterms:W3CDTF">2023-03-02T16:14:01Z</dcterms:modified>
</cp:coreProperties>
</file>