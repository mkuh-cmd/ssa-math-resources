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s/slide3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3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18" r:id="rId10"/>
    <p:sldId id="319" r:id="rId11"/>
    <p:sldId id="320" r:id="rId12"/>
    <p:sldId id="313" r:id="rId13"/>
    <p:sldId id="321" r:id="rId14"/>
    <p:sldId id="325" r:id="rId15"/>
    <p:sldId id="326" r:id="rId16"/>
    <p:sldId id="327" r:id="rId17"/>
    <p:sldId id="316" r:id="rId18"/>
    <p:sldId id="322" r:id="rId19"/>
    <p:sldId id="328" r:id="rId20"/>
    <p:sldId id="329" r:id="rId21"/>
    <p:sldId id="330" r:id="rId22"/>
    <p:sldId id="315" r:id="rId23"/>
    <p:sldId id="323" r:id="rId24"/>
    <p:sldId id="331" r:id="rId25"/>
    <p:sldId id="332" r:id="rId26"/>
    <p:sldId id="317" r:id="rId27"/>
    <p:sldId id="334" r:id="rId28"/>
    <p:sldId id="333" r:id="rId29"/>
    <p:sldId id="306" r:id="rId30"/>
    <p:sldId id="307" r:id="rId31"/>
    <p:sldId id="335" r:id="rId32"/>
  </p:sldIdLst>
  <p:sldSz cx="12192000" cy="6858000"/>
  <p:notesSz cx="6858000" cy="9144000"/>
  <p:embeddedFontLst>
    <p:embeddedFont>
      <p:font typeface="Arial Black" pitchFamily="34" charset="0"/>
      <p:bold r:id="rId34"/>
    </p:embeddedFont>
    <p:embeddedFont>
      <p:font typeface="Cambria Math" pitchFamily="18" charset="0"/>
      <p:regular r:id="rId35"/>
    </p:embeddedFont>
    <p:embeddedFont>
      <p:font typeface="MS Mincho" pitchFamily="49" charset="-128"/>
      <p:regular r:id="rId36"/>
    </p:embeddedFont>
    <p:embeddedFont>
      <p:font typeface="Cambria" pitchFamily="18" charset="0"/>
      <p:regular r:id="rId37"/>
      <p:bold r:id="rId38"/>
      <p:italic r:id="rId39"/>
      <p:boldItalic r:id="rId40"/>
    </p:embeddedFont>
    <p:embeddedFont>
      <p:font typeface="Verdana" pitchFamily="34" charset="0"/>
      <p:regular r:id="rId41"/>
      <p:bold r:id="rId42"/>
      <p:italic r:id="rId43"/>
      <p:boldItalic r:id="rId44"/>
    </p:embeddedFont>
    <p:embeddedFont>
      <p:font typeface="Century Gothic" pitchFamily="34" charset="0"/>
      <p:regular r:id="rId45"/>
      <p:bold r:id="rId46"/>
      <p:italic r:id="rId47"/>
      <p:boldItalic r:id="rId48"/>
    </p:embeddedFont>
    <p:embeddedFont>
      <p:font typeface="Calibri" pitchFamily="3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EA6"/>
    <a:srgbClr val="E45088"/>
    <a:srgbClr val="E24E5F"/>
    <a:srgbClr val="79B0DD"/>
    <a:srgbClr val="DA4487"/>
    <a:srgbClr val="276C46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9223" autoAdjust="0"/>
    <p:restoredTop sz="94591" autoAdjust="0"/>
  </p:normalViewPr>
  <p:slideViewPr>
    <p:cSldViewPr snapToGrid="0">
      <p:cViewPr varScale="1">
        <p:scale>
          <a:sx n="113" d="100"/>
          <a:sy n="113" d="100"/>
        </p:scale>
        <p:origin x="-129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63" Type="http://schemas.openxmlformats.org/officeDocument/2006/relationships/presProps" Target="presProps.xml"/><Relationship Id="rId68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64" Type="http://schemas.openxmlformats.org/officeDocument/2006/relationships/viewProps" Target="viewProps.xml"/><Relationship Id="rId69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font" Target="fonts/font1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67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Relationship Id="rId6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13245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0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4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70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486401" y="2132869"/>
            <a:ext cx="5815782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</a:t>
            </a:r>
            <a:r>
              <a:rPr lang="en-US" sz="38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9, 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Lesson </a:t>
            </a:r>
            <a:r>
              <a:rPr lang="en-US" sz="38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1a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Area of a </a:t>
            </a:r>
            <a:r>
              <a:rPr lang="en-US" sz="38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Polygon</a:t>
            </a:r>
            <a:br>
              <a:rPr lang="en-US" sz="38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 smtClean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12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-21978" y="-9144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=""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032" y="1597001"/>
            <a:ext cx="2973100" cy="3465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72938" y="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158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461877"/>
            <a:ext cx="11114150" cy="4710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MA.912.GR.4.4 </a:t>
            </a:r>
            <a:endParaRPr lang="en-US" sz="3500" dirty="0" smtClean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>
              <a:buNone/>
            </a:pPr>
            <a:r>
              <a:rPr lang="en-US" sz="3500" dirty="0" smtClean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Solve </a:t>
            </a: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mathematical and real-world problems involving the area of two-dimensional figures.</a:t>
            </a:r>
          </a:p>
        </p:txBody>
      </p:sp>
      <p:sp>
        <p:nvSpPr>
          <p:cNvPr id="10" name="Google Shape;278;g104476d1465_1_17"/>
          <p:cNvSpPr/>
          <p:nvPr/>
        </p:nvSpPr>
        <p:spPr>
          <a:xfrm>
            <a:off x="0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72938" y="26653"/>
            <a:ext cx="963962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538660" y="1468809"/>
            <a:ext cx="10681224" cy="474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3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  <a:endParaRPr lang="en-US" sz="3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158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78;g104476d1465_1_17"/>
          <p:cNvSpPr/>
          <p:nvPr/>
        </p:nvSpPr>
        <p:spPr>
          <a:xfrm>
            <a:off x="0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68692" y="-822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478" y="3158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6683" y="1459520"/>
            <a:ext cx="1109639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17550" indent="-711200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3500" dirty="0" smtClean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</a:t>
            </a: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can solve mathematical and real-world problems involving the area of a polygon.</a:t>
            </a: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78;g104476d1465_1_17"/>
          <p:cNvSpPr/>
          <p:nvPr/>
        </p:nvSpPr>
        <p:spPr>
          <a:xfrm>
            <a:off x="0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80076" y="26653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9.1a.1 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Warm-Up: </a:t>
            </a: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Which 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One Doesn’t Belong?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158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A4C0B51D-09DC-AA4D-9C14-AE2048199B26}"/>
              </a:ext>
            </a:extLst>
          </p:cNvPr>
          <p:cNvSpPr txBox="1"/>
          <p:nvPr/>
        </p:nvSpPr>
        <p:spPr>
          <a:xfrm>
            <a:off x="540666" y="1457697"/>
            <a:ext cx="110452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Four different polygons are shown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polygon does not belong?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characteristic did you use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make your decision?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78;g104476d1465_1_17"/>
          <p:cNvSpPr/>
          <p:nvPr/>
        </p:nvSpPr>
        <p:spPr>
          <a:xfrm>
            <a:off x="0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02" r="17406"/>
          <a:stretch/>
        </p:blipFill>
        <p:spPr bwMode="auto">
          <a:xfrm>
            <a:off x="6428076" y="1457698"/>
            <a:ext cx="5316445" cy="460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p:sp>
        <p:nvSpPr>
          <p:cNvPr id="13" name="Google Shape;313;g104476d1465_1_39"/>
          <p:cNvSpPr txBox="1">
            <a:spLocks/>
          </p:cNvSpPr>
          <p:nvPr/>
        </p:nvSpPr>
        <p:spPr>
          <a:xfrm>
            <a:off x="5707325" y="2850886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8" tIns="45691" rIns="91408" bIns="45691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=""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55181" y="2937664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70956" y="32696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9.1a.2 Collaboration: </a:t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Decomposing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 Regular Polygon</a:t>
            </a: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p:pic>
        <p:nvPicPr>
          <p:cNvPr id="15" name="Picture 2">
            <a:extLst>
              <a:ext uri="{FF2B5EF4-FFF2-40B4-BE49-F238E27FC236}">
                <a16:creationId xmlns=""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5298" y="32585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540667" y="1457697"/>
                <a:ext cx="613029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Regular polygon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𝐻𝑊𝑅𝐵𝑋𝐹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shown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 what information is necessary to determine the area of the polygon. Summarize your discussion.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7" y="1457697"/>
                <a:ext cx="6130290" cy="2308324"/>
              </a:xfrm>
              <a:prstGeom prst="rect">
                <a:avLst/>
              </a:prstGeom>
              <a:blipFill rotWithShape="1">
                <a:blip r:embed="rId5"/>
                <a:stretch>
                  <a:fillRect l="-1592" t="-2375" r="-1592" b="-501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33117" y="1232614"/>
            <a:ext cx="4751873" cy="467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A4C0B51D-09DC-AA4D-9C14-AE2048199B26}"/>
              </a:ext>
            </a:extLst>
          </p:cNvPr>
          <p:cNvSpPr txBox="1"/>
          <p:nvPr/>
        </p:nvSpPr>
        <p:spPr>
          <a:xfrm>
            <a:off x="540667" y="396056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Gregg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Dariq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shared their ideas with their class.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4167035"/>
                  </p:ext>
                </p:extLst>
              </p:nvPr>
            </p:nvGraphicFramePr>
            <p:xfrm>
              <a:off x="1216074" y="1085426"/>
              <a:ext cx="10206892" cy="5329442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890498"/>
                    <a:gridCol w="6316394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Gregg’s Idea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err="1" smtClean="0">
                              <a:latin typeface="Verdana" pitchFamily="34" charset="0"/>
                              <a:ea typeface="Verdana" pitchFamily="34" charset="0"/>
                            </a:rPr>
                            <a:t>Dariq’s</a:t>
                          </a:r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 Idea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3470162"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/>
                            </a:rPr>
                            <a:t>I drew the diagonals to find the center of the polygon. This resulted in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Helvetica Neue"/>
                                  <a:cs typeface="Helvetica Neue"/>
                                </a:rPr>
                                <m:t>6</m:t>
                              </m:r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Verdana" pitchFamily="34" charset="0"/>
                                  <a:cs typeface="Helvetica Neue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Helvetica Neue"/>
                            </a:rPr>
                            <a:t>congruent triangles.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Helvetica Neue"/>
                              <a:cs typeface="Helvetica Neue"/>
                            </a:rPr>
                            <a:t>I found the center of the polygon by using a compass to draw a circle that passes through the vertices. I then found the midpoint of one side and drew a right triangle.</a:t>
                          </a:r>
                          <a:endParaRPr lang="en-PH" sz="2000" dirty="0">
                            <a:effectLst/>
                            <a:latin typeface="Cambria"/>
                            <a:ea typeface="MS Mincho"/>
                            <a:cs typeface="Cambria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4167035"/>
                  </p:ext>
                </p:extLst>
              </p:nvPr>
            </p:nvGraphicFramePr>
            <p:xfrm>
              <a:off x="1216074" y="1085426"/>
              <a:ext cx="10206892" cy="5329442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890498"/>
                    <a:gridCol w="6316394"/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Gregg’s Idea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err="1" smtClean="0">
                              <a:latin typeface="Verdana" pitchFamily="34" charset="0"/>
                              <a:ea typeface="Verdana" pitchFamily="34" charset="0"/>
                            </a:rPr>
                            <a:t>Dariq’s</a:t>
                          </a:r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 Idea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3470162"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66250" r="-162539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Helvetica Neue"/>
                              <a:cs typeface="Helvetica Neue"/>
                            </a:rPr>
                            <a:t>I found the center of the polygon by using a compass to draw a circle that passes through the vertices. I then found the midpoint of one side and drew a right triangle.</a:t>
                          </a:r>
                          <a:endParaRPr lang="en-PH" sz="2000" dirty="0">
                            <a:effectLst/>
                            <a:latin typeface="Cambria"/>
                            <a:ea typeface="MS Mincho"/>
                            <a:cs typeface="Cambria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39801" y="1599509"/>
            <a:ext cx="3303587" cy="310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3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48148" y="1599827"/>
            <a:ext cx="3296285" cy="310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5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A4C0B51D-09DC-AA4D-9C14-AE2048199B26}"/>
              </a:ext>
            </a:extLst>
          </p:cNvPr>
          <p:cNvSpPr txBox="1"/>
          <p:nvPr/>
        </p:nvSpPr>
        <p:spPr>
          <a:xfrm>
            <a:off x="540667" y="396056"/>
            <a:ext cx="108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3763" indent="-457200">
              <a:buFont typeface="+mj-lt"/>
              <a:buAutoNum type="alphaLcPeriod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what, if any, further information Gregg needs to determine the area of the polygon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89376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3763" indent="-457200">
              <a:buFont typeface="+mj-lt"/>
              <a:buAutoNum type="alphaLcPeriod"/>
            </a:pPr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3763" indent="-457200">
              <a:buFont typeface="+mj-lt"/>
              <a:buAutoNum type="alphaLcPeriod"/>
            </a:pPr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376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3763" indent="-457200">
              <a:buFont typeface="+mj-lt"/>
              <a:buAutoNum type="alphaLcPeriod"/>
            </a:pPr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3763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3763" indent="-457200">
              <a:buFont typeface="+mj-lt"/>
              <a:buAutoNum type="alphaLcPeriod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what, if any, further information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Dariq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needs to determine the area of the polygon.</a:t>
            </a:r>
          </a:p>
        </p:txBody>
      </p:sp>
    </p:spTree>
    <p:extLst>
      <p:ext uri="{BB962C8B-B14F-4D97-AF65-F5344CB8AC3E}">
        <p14:creationId xmlns:p14="http://schemas.microsoft.com/office/powerpoint/2010/main" val="165580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540667" y="396056"/>
                <a:ext cx="1080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3550" indent="-463550" defTabSz="1082675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Regular polygon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𝑅𝑋𝑃𝑆𝑊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shown.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7" y="396056"/>
                <a:ext cx="10800000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3785552" y="910480"/>
            <a:ext cx="4620895" cy="4368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40667" y="5279280"/>
                <a:ext cx="10800000" cy="120032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0850"/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Determine whether Gregg’s or </a:t>
                </a:r>
                <a:r>
                  <a:rPr lang="en-US" sz="2400" dirty="0" err="1">
                    <a:latin typeface="Verdana" pitchFamily="34" charset="0"/>
                    <a:ea typeface="Verdana" pitchFamily="34" charset="0"/>
                  </a:rPr>
                  <a:t>Dariq’s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method could be used to determine the area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𝑅𝑋𝑃𝑆𝑊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. Explain your answer or show the method on the diagram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7" y="5279280"/>
                <a:ext cx="10800000" cy="1200329"/>
              </a:xfrm>
              <a:prstGeom prst="rect">
                <a:avLst/>
              </a:prstGeom>
              <a:blipFill rotWithShape="1">
                <a:blip r:embed="rId6"/>
                <a:stretch>
                  <a:fillRect t="-4061" b="-1066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096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p:sp>
        <p:nvSpPr>
          <p:cNvPr id="10" name="Google Shape;313;g104476d1465_1_39"/>
          <p:cNvSpPr txBox="1">
            <a:spLocks/>
          </p:cNvSpPr>
          <p:nvPr/>
        </p:nvSpPr>
        <p:spPr>
          <a:xfrm>
            <a:off x="5768580" y="2889504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8" tIns="45691" rIns="91408" bIns="45691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55181" y="2937664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756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p:sp>
        <p:nvSpPr>
          <p:cNvPr id="10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60706" y="77734"/>
            <a:ext cx="1063058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8" tIns="45691" rIns="91408" bIns="45691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9.1a.3 Exploration: Regular Polygons</a:t>
            </a:r>
          </a:p>
        </p:txBody>
      </p:sp>
      <p:pic>
        <p:nvPicPr>
          <p:cNvPr id="14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852" y="32585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/>
          <p:cNvGrpSpPr/>
          <p:nvPr/>
        </p:nvGrpSpPr>
        <p:grpSpPr>
          <a:xfrm>
            <a:off x="2587074" y="1403434"/>
            <a:ext cx="7977848" cy="1478942"/>
            <a:chOff x="-1" y="-225121"/>
            <a:chExt cx="7977848" cy="1478942"/>
          </a:xfrm>
        </p:grpSpPr>
        <p:sp>
          <p:nvSpPr>
            <p:cNvPr id="17" name="Rounded Rectangle 16"/>
            <p:cNvSpPr/>
            <p:nvPr/>
          </p:nvSpPr>
          <p:spPr>
            <a:xfrm>
              <a:off x="-1" y="-225121"/>
              <a:ext cx="7977848" cy="1478942"/>
            </a:xfrm>
            <a:prstGeom prst="roundRect">
              <a:avLst>
                <a:gd name="adj" fmla="val 16667"/>
              </a:avLst>
            </a:prstGeom>
            <a:solidFill>
              <a:srgbClr val="E2EFD5"/>
            </a:solidFill>
            <a:ln w="25400" cap="flat" cmpd="sng">
              <a:solidFill>
                <a:srgbClr val="E2EF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indent="633413">
                <a:lnSpc>
                  <a:spcPct val="107000"/>
                </a:lnSpc>
                <a:spcAft>
                  <a:spcPts val="1000"/>
                </a:spcAft>
              </a:pPr>
              <a:r>
                <a:rPr lang="en-US" sz="2000" b="1" dirty="0">
                  <a:solidFill>
                    <a:srgbClr val="6C993D"/>
                  </a:solidFill>
                  <a:effectLst/>
                  <a:latin typeface="Verdana" pitchFamily="34" charset="0"/>
                  <a:ea typeface="Verdana" pitchFamily="34" charset="0"/>
                  <a:cs typeface="Verdana"/>
                </a:rPr>
                <a:t>Regular Polygon</a:t>
              </a:r>
              <a:endParaRPr lang="en-PH" sz="2000" dirty="0">
                <a:effectLst/>
                <a:latin typeface="Verdana" pitchFamily="34" charset="0"/>
                <a:ea typeface="Verdana" pitchFamily="34" charset="0"/>
                <a:cs typeface="Cambria"/>
              </a:endParaRPr>
            </a:p>
            <a:p>
              <a:pPr marL="631825">
                <a:lnSpc>
                  <a:spcPct val="107000"/>
                </a:lnSpc>
                <a:spcAft>
                  <a:spcPts val="1000"/>
                </a:spcAft>
              </a:pPr>
              <a:r>
                <a:rPr lang="en-US" sz="2000" dirty="0">
                  <a:solidFill>
                    <a:srgbClr val="6C993D"/>
                  </a:solidFill>
                  <a:effectLst/>
                  <a:latin typeface="Verdana" pitchFamily="34" charset="0"/>
                  <a:ea typeface="Verdana" pitchFamily="34" charset="0"/>
                  <a:cs typeface="Verdana"/>
                </a:rPr>
                <a:t>A polygon that is both equilateral (all sides congruent) and equiangular (all angles congruent).</a:t>
              </a:r>
              <a:endParaRPr lang="en-PH" sz="2000" dirty="0">
                <a:effectLst/>
                <a:latin typeface="Verdana" pitchFamily="34" charset="0"/>
                <a:ea typeface="Verdana" pitchFamily="34" charset="0"/>
                <a:cs typeface="Cambria"/>
              </a:endParaRPr>
            </a:p>
          </p:txBody>
        </p:sp>
        <p:pic>
          <p:nvPicPr>
            <p:cNvPr id="18" name="Picture 17" descr="Icon&#10;&#10;Description automatically generated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423" y="-58826"/>
              <a:ext cx="548640" cy="548640"/>
            </a:xfrm>
            <a:prstGeom prst="rect">
              <a:avLst/>
            </a:prstGeom>
            <a:noFill/>
            <a:ln>
              <a:noFill/>
            </a:ln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41040" y="3167390"/>
                <a:ext cx="1101677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Polygons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𝐻𝑊𝑅𝐵𝑋𝐹</m:t>
                    </m:r>
                  </m:oMath>
                </a14:m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𝑅𝑋𝑃𝑆𝑊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are both regular polygons. The diagram shows the center of each polygon and the midpoint of one side. 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40" y="3167390"/>
                <a:ext cx="11016770" cy="830997"/>
              </a:xfrm>
              <a:prstGeom prst="rect">
                <a:avLst/>
              </a:prstGeom>
              <a:blipFill rotWithShape="1">
                <a:blip r:embed="rId6"/>
                <a:stretch>
                  <a:fillRect l="-885" t="-6618" r="-1605" b="-1617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48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6438" y="474298"/>
            <a:ext cx="2908300" cy="2886710"/>
          </a:xfrm>
          <a:prstGeom prst="rect">
            <a:avLst/>
          </a:prstGeom>
        </p:spPr>
      </p:pic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175465"/>
              </p:ext>
            </p:extLst>
          </p:nvPr>
        </p:nvGraphicFramePr>
        <p:xfrm>
          <a:off x="2354486" y="404788"/>
          <a:ext cx="7782098" cy="3013661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890498"/>
                <a:gridCol w="3891600"/>
              </a:tblGrid>
              <a:tr h="3013661">
                <a:tc>
                  <a:txBody>
                    <a:bodyPr/>
                    <a:lstStyle/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6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8766" y="514057"/>
            <a:ext cx="3071495" cy="2819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40601" y="3725187"/>
                <a:ext cx="112678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In polygon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𝐻𝑊𝑅𝐵𝑋𝐹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, draw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𝑋𝐶𝐵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, and in polygon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𝑅𝑋𝑃𝑆𝑊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, draw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𝑆𝐶𝑃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. 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01" y="3725187"/>
                <a:ext cx="11267828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866" t="-11842" b="-276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238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540667" y="396056"/>
                <a:ext cx="1080000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area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∆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𝑋𝐶𝐵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equal to one-half times the length of </a:t>
                </a:r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times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length of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   The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area of polygon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𝐻𝑊𝑅𝐵𝑋𝐹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can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</a:t>
                </a:r>
              </a:p>
              <a:p>
                <a:pPr marL="450850"/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found by multiplying the area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∆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𝑋𝐶𝐵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by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because polygon </a:t>
                </a:r>
              </a:p>
              <a:p>
                <a:pPr marL="450850"/>
                <a:endParaRPr lang="en-US" sz="2400" i="1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endParaRPr lang="en-US" sz="24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𝐻𝑊𝑅𝐵𝑋𝐹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can be decomposed into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  triangles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that are </a:t>
                </a:r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congruent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∆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𝑋𝐶𝐵</m:t>
                    </m:r>
                  </m:oMath>
                </a14:m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7" y="396056"/>
                <a:ext cx="10800000" cy="5632311"/>
              </a:xfrm>
              <a:prstGeom prst="rect">
                <a:avLst/>
              </a:prstGeom>
              <a:blipFill rotWithShape="1">
                <a:blip r:embed="rId4"/>
                <a:stretch>
                  <a:fillRect l="-903" t="-866" r="-56" b="-14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14"/>
              <p:cNvSpPr/>
              <p:nvPr/>
            </p:nvSpPr>
            <p:spPr>
              <a:xfrm>
                <a:off x="9920361" y="939936"/>
                <a:ext cx="1136845" cy="919401"/>
              </a:xfrm>
              <a:prstGeom prst="round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PH" sz="2400" i="1" smtClean="0">
                            <a:effectLst/>
                            <a:latin typeface="Cambria Math"/>
                            <a:ea typeface="Verdana" pitchFamily="34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effectLst/>
                            <a:latin typeface="Cambria Math"/>
                            <a:ea typeface="Verdana" pitchFamily="34" charset="0"/>
                          </a:rPr>
                          <m:t>𝑋𝑀</m:t>
                        </m:r>
                      </m:e>
                    </m:acc>
                  </m:oMath>
                </a14:m>
                <a:endParaRPr lang="en-US" sz="2400" dirty="0" smtClean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PH" sz="2400" i="1" smtClean="0">
                            <a:effectLst/>
                            <a:latin typeface="Cambria Math"/>
                            <a:ea typeface="Verdana" pitchFamily="34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effectLst/>
                            <a:latin typeface="Cambria Math"/>
                            <a:ea typeface="Verdana" pitchFamily="34" charset="0"/>
                          </a:rPr>
                          <m:t>𝑋𝐵</m:t>
                        </m:r>
                      </m:e>
                    </m:acc>
                  </m:oMath>
                </a14:m>
                <a:endParaRPr lang="en-PH" sz="2400" dirty="0">
                  <a:effectLst/>
                  <a:latin typeface="Verdana" pitchFamily="34" charset="0"/>
                  <a:ea typeface="Verdana" pitchFamily="34" charset="0"/>
                  <a:cs typeface="Cambria"/>
                </a:endParaRPr>
              </a:p>
            </p:txBody>
          </p:sp>
        </mc:Choice>
        <mc:Fallback xmlns="">
          <p:sp>
            <p:nvSpPr>
              <p:cNvPr id="6" name="Rectangle: Rounded Corners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0361" y="939936"/>
                <a:ext cx="1136845" cy="919401"/>
              </a:xfrm>
              <a:prstGeom prst="roundRect">
                <a:avLst/>
              </a:prstGeom>
              <a:blipFill rotWithShape="1">
                <a:blip r:embed="rId5"/>
                <a:stretch>
                  <a:fillRect l="-2646" b="-10458"/>
                </a:stretch>
              </a:blipFill>
              <a:ln w="127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14"/>
              <p:cNvSpPr/>
              <p:nvPr/>
            </p:nvSpPr>
            <p:spPr>
              <a:xfrm>
                <a:off x="4194809" y="1967221"/>
                <a:ext cx="1224000" cy="921103"/>
              </a:xfrm>
              <a:prstGeom prst="round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PH" sz="2400" i="1" smtClean="0">
                            <a:effectLst/>
                            <a:latin typeface="Cambria Math"/>
                            <a:ea typeface="Verdana" pitchFamily="34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effectLst/>
                            <a:latin typeface="Cambria Math"/>
                            <a:ea typeface="Verdana" pitchFamily="34" charset="0"/>
                          </a:rPr>
                          <m:t>𝐶𝑀</m:t>
                        </m:r>
                      </m:e>
                    </m:acc>
                  </m:oMath>
                </a14:m>
                <a:r>
                  <a:rPr lang="en-US" sz="2400" dirty="0" smtClean="0">
                    <a:effectLst/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PH" sz="2400" i="1" smtClean="0">
                            <a:effectLst/>
                            <a:latin typeface="Cambria Math"/>
                            <a:ea typeface="Verdana" pitchFamily="34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effectLst/>
                            <a:latin typeface="Cambria Math"/>
                            <a:ea typeface="Verdana" pitchFamily="34" charset="0"/>
                          </a:rPr>
                          <m:t>𝐶𝑋</m:t>
                        </m:r>
                      </m:e>
                    </m:acc>
                  </m:oMath>
                </a14:m>
                <a:r>
                  <a:rPr lang="en-PH" sz="2400" dirty="0" smtClean="0">
                    <a:effectLst/>
                    <a:latin typeface="Verdana" pitchFamily="34" charset="0"/>
                    <a:ea typeface="Verdana" pitchFamily="34" charset="0"/>
                    <a:cs typeface="Cambria"/>
                  </a:rPr>
                  <a:t>.</a:t>
                </a:r>
                <a:endParaRPr lang="en-PH" sz="2400" dirty="0">
                  <a:effectLst/>
                  <a:latin typeface="Verdana" pitchFamily="34" charset="0"/>
                  <a:ea typeface="Verdana" pitchFamily="34" charset="0"/>
                  <a:cs typeface="Cambria"/>
                </a:endParaRPr>
              </a:p>
            </p:txBody>
          </p:sp>
        </mc:Choice>
        <mc:Fallback xmlns="">
          <p:sp>
            <p:nvSpPr>
              <p:cNvPr id="7" name="Rectangle: Rounded Corners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809" y="1967221"/>
                <a:ext cx="1224000" cy="921103"/>
              </a:xfrm>
              <a:prstGeom prst="roundRect">
                <a:avLst/>
              </a:prstGeom>
              <a:blipFill rotWithShape="1">
                <a:blip r:embed="rId6"/>
                <a:stretch>
                  <a:fillRect l="-2463" b="-10458"/>
                </a:stretch>
              </a:blipFill>
              <a:ln w="127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14"/>
              <p:cNvSpPr/>
              <p:nvPr/>
            </p:nvSpPr>
            <p:spPr>
              <a:xfrm>
                <a:off x="7528963" y="2673024"/>
                <a:ext cx="855382" cy="1675924"/>
              </a:xfrm>
              <a:prstGeom prst="round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/>
                        <a:ea typeface="Verdana" pitchFamily="34" charset="0"/>
                      </a:rPr>
                      <m:t>4</m:t>
                    </m:r>
                  </m:oMath>
                </a14:m>
                <a:endParaRPr lang="en-US" sz="2400" b="0" dirty="0" smtClean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/>
                        <a:ea typeface="Verdana" pitchFamily="34" charset="0"/>
                        <a:cs typeface="Cambria"/>
                      </a:rPr>
                      <m:t>5</m:t>
                    </m:r>
                  </m:oMath>
                </a14:m>
                <a:endParaRPr lang="en-US" sz="2400" dirty="0" smtClean="0">
                  <a:effectLst/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  <a:cs typeface="Cambria"/>
                      </a:rPr>
                      <m:t>6</m:t>
                    </m:r>
                  </m:oMath>
                </a14:m>
                <a:endParaRPr lang="en-US" sz="2400" dirty="0" smtClean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/>
                        <a:ea typeface="Verdana" pitchFamily="34" charset="0"/>
                        <a:cs typeface="Cambria"/>
                      </a:rPr>
                      <m:t>7</m:t>
                    </m:r>
                  </m:oMath>
                </a14:m>
                <a:endParaRPr lang="en-PH" sz="2400" dirty="0">
                  <a:effectLst/>
                  <a:latin typeface="Verdana" pitchFamily="34" charset="0"/>
                  <a:ea typeface="Verdana" pitchFamily="34" charset="0"/>
                  <a:cs typeface="Cambria"/>
                </a:endParaRPr>
              </a:p>
            </p:txBody>
          </p:sp>
        </mc:Choice>
        <mc:Fallback xmlns="">
          <p:sp>
            <p:nvSpPr>
              <p:cNvPr id="8" name="Rectangle: Rounded Corners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963" y="2673024"/>
                <a:ext cx="855382" cy="1675924"/>
              </a:xfrm>
              <a:prstGeom prst="roundRect">
                <a:avLst/>
              </a:prstGeom>
              <a:blipFill rotWithShape="1">
                <a:blip r:embed="rId7"/>
                <a:stretch>
                  <a:fillRect l="-4225" b="-5054"/>
                </a:stretch>
              </a:blipFill>
              <a:ln w="127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4"/>
              <p:cNvSpPr/>
              <p:nvPr/>
            </p:nvSpPr>
            <p:spPr>
              <a:xfrm>
                <a:off x="6276938" y="3747463"/>
                <a:ext cx="855382" cy="1675924"/>
              </a:xfrm>
              <a:prstGeom prst="round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/>
                        <a:ea typeface="Verdana" pitchFamily="34" charset="0"/>
                      </a:rPr>
                      <m:t>4</m:t>
                    </m:r>
                  </m:oMath>
                </a14:m>
                <a:endParaRPr lang="en-US" sz="2400" b="0" dirty="0" smtClean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/>
                        <a:ea typeface="Verdana" pitchFamily="34" charset="0"/>
                        <a:cs typeface="Cambria"/>
                      </a:rPr>
                      <m:t>5</m:t>
                    </m:r>
                  </m:oMath>
                </a14:m>
                <a:endParaRPr lang="en-US" sz="2400" dirty="0" smtClean="0">
                  <a:effectLst/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  <a:cs typeface="Cambria"/>
                      </a:rPr>
                      <m:t>6</m:t>
                    </m:r>
                  </m:oMath>
                </a14:m>
                <a:endParaRPr lang="en-US" sz="2400" dirty="0" smtClean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/>
                        <a:ea typeface="Verdana" pitchFamily="34" charset="0"/>
                        <a:cs typeface="Cambria"/>
                      </a:rPr>
                      <m:t>7</m:t>
                    </m:r>
                  </m:oMath>
                </a14:m>
                <a:endParaRPr lang="en-PH" sz="2400" dirty="0">
                  <a:effectLst/>
                  <a:latin typeface="Verdana" pitchFamily="34" charset="0"/>
                  <a:ea typeface="Verdana" pitchFamily="34" charset="0"/>
                  <a:cs typeface="Cambria"/>
                </a:endParaRPr>
              </a:p>
            </p:txBody>
          </p:sp>
        </mc:Choice>
        <mc:Fallback xmlns="">
          <p:sp>
            <p:nvSpPr>
              <p:cNvPr id="9" name="Rectangle: Rounded Corners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938" y="3747463"/>
                <a:ext cx="855382" cy="1675924"/>
              </a:xfrm>
              <a:prstGeom prst="roundRect">
                <a:avLst/>
              </a:prstGeom>
              <a:blipFill rotWithShape="1">
                <a:blip r:embed="rId8"/>
                <a:stretch>
                  <a:fillRect l="-4225" b="-5054"/>
                </a:stretch>
              </a:blipFill>
              <a:ln w="127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2906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540667" y="396056"/>
                <a:ext cx="11299068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0850"/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area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∆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𝑆𝐶𝑃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equal to one-half times the length of</a:t>
                </a:r>
              </a:p>
              <a:p>
                <a:pPr marL="450850"/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times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length of 		   The area of polygon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𝑅𝑋𝑃𝑆𝑊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can be </a:t>
                </a:r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found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by multiplying the area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∆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𝑆𝐶𝑃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by	    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because polygon </a:t>
                </a:r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𝑅𝑋𝑃𝑆𝑊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can be decomposed into 		 triangles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that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congruent </a:t>
                </a:r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∆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𝑆𝐶𝑃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number of triangles in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polygon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𝐻𝑊𝑅𝐵𝑋𝐹</m:t>
                    </m:r>
                  </m:oMath>
                </a14:m>
                <a:r>
                  <a:rPr lang="en-US" sz="2400" dirty="0"/>
                  <a:t> </a:t>
                </a:r>
                <a:endParaRPr lang="en-US" sz="2400" dirty="0" smtClean="0"/>
              </a:p>
              <a:p>
                <a:pPr marL="45085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equal to the number of sides. The number of triangles in polygon </a:t>
                </a:r>
                <a:endParaRPr lang="en-US" sz="2400" i="1" dirty="0" smtClean="0">
                  <a:latin typeface="Cambria Math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:endParaRPr lang="en-US" sz="2400" i="1" dirty="0" smtClean="0">
                  <a:latin typeface="Cambria Math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0850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𝑅𝑋𝑃𝑆𝑊</m:t>
                    </m:r>
                  </m:oMath>
                </a14:m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     equal to the number of sides.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7" y="396056"/>
                <a:ext cx="11299068" cy="6001643"/>
              </a:xfrm>
              <a:prstGeom prst="rect">
                <a:avLst/>
              </a:prstGeom>
              <a:blipFill rotWithShape="1">
                <a:blip r:embed="rId4"/>
                <a:stretch>
                  <a:fillRect t="-915" b="-132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14"/>
              <p:cNvSpPr/>
              <p:nvPr/>
            </p:nvSpPr>
            <p:spPr>
              <a:xfrm>
                <a:off x="9906294" y="166213"/>
                <a:ext cx="1136845" cy="919401"/>
              </a:xfrm>
              <a:prstGeom prst="round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PH" sz="2400" i="1" smtClean="0">
                            <a:effectLst/>
                            <a:latin typeface="Cambria Math"/>
                            <a:ea typeface="Verdana" pitchFamily="34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effectLst/>
                            <a:latin typeface="Cambria Math"/>
                            <a:ea typeface="Verdana" pitchFamily="34" charset="0"/>
                          </a:rPr>
                          <m:t>𝑆𝑀</m:t>
                        </m:r>
                      </m:e>
                    </m:acc>
                  </m:oMath>
                </a14:m>
                <a:endParaRPr lang="en-US" sz="2400" dirty="0" smtClean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PH" sz="2400" i="1" smtClean="0">
                            <a:effectLst/>
                            <a:latin typeface="Cambria Math"/>
                            <a:ea typeface="Verdana" pitchFamily="34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effectLst/>
                            <a:latin typeface="Cambria Math"/>
                            <a:ea typeface="Verdana" pitchFamily="34" charset="0"/>
                          </a:rPr>
                          <m:t>𝑆𝑃</m:t>
                        </m:r>
                      </m:e>
                    </m:acc>
                  </m:oMath>
                </a14:m>
                <a:endParaRPr lang="en-PH" sz="2400" dirty="0">
                  <a:effectLst/>
                  <a:latin typeface="Verdana" pitchFamily="34" charset="0"/>
                  <a:ea typeface="Verdana" pitchFamily="34" charset="0"/>
                  <a:cs typeface="Cambria"/>
                </a:endParaRPr>
              </a:p>
            </p:txBody>
          </p:sp>
        </mc:Choice>
        <mc:Fallback xmlns="">
          <p:sp>
            <p:nvSpPr>
              <p:cNvPr id="6" name="Rectangle: Rounded Corners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294" y="166213"/>
                <a:ext cx="1136845" cy="919401"/>
              </a:xfrm>
              <a:prstGeom prst="roundRect">
                <a:avLst/>
              </a:prstGeom>
              <a:blipFill rotWithShape="1">
                <a:blip r:embed="rId5"/>
                <a:stretch>
                  <a:fillRect l="-2646" b="-10458"/>
                </a:stretch>
              </a:blipFill>
              <a:ln w="127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14"/>
              <p:cNvSpPr/>
              <p:nvPr/>
            </p:nvSpPr>
            <p:spPr>
              <a:xfrm>
                <a:off x="4194809" y="955112"/>
                <a:ext cx="1224000" cy="921103"/>
              </a:xfrm>
              <a:prstGeom prst="round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PH" sz="2400" i="1" smtClean="0">
                            <a:effectLst/>
                            <a:latin typeface="Cambria Math"/>
                            <a:ea typeface="Verdana" pitchFamily="34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effectLst/>
                            <a:latin typeface="Cambria Math"/>
                            <a:ea typeface="Verdana" pitchFamily="34" charset="0"/>
                          </a:rPr>
                          <m:t>𝐶𝑀</m:t>
                        </m:r>
                      </m:e>
                    </m:acc>
                  </m:oMath>
                </a14:m>
                <a:r>
                  <a:rPr lang="en-US" sz="2400" dirty="0" smtClean="0">
                    <a:effectLst/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PH" sz="2400" i="1" smtClean="0">
                            <a:effectLst/>
                            <a:latin typeface="Cambria Math"/>
                            <a:ea typeface="Verdana" pitchFamily="34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effectLst/>
                            <a:latin typeface="Cambria Math"/>
                            <a:ea typeface="Verdana" pitchFamily="34" charset="0"/>
                          </a:rPr>
                          <m:t>𝐶𝑆</m:t>
                        </m:r>
                      </m:e>
                    </m:acc>
                  </m:oMath>
                </a14:m>
                <a:r>
                  <a:rPr lang="en-PH" sz="2400" dirty="0" smtClean="0">
                    <a:effectLst/>
                    <a:latin typeface="Verdana" pitchFamily="34" charset="0"/>
                    <a:ea typeface="Verdana" pitchFamily="34" charset="0"/>
                    <a:cs typeface="Cambria"/>
                  </a:rPr>
                  <a:t>.</a:t>
                </a:r>
                <a:endParaRPr lang="en-PH" sz="2400" dirty="0">
                  <a:effectLst/>
                  <a:latin typeface="Verdana" pitchFamily="34" charset="0"/>
                  <a:ea typeface="Verdana" pitchFamily="34" charset="0"/>
                  <a:cs typeface="Cambria"/>
                </a:endParaRPr>
              </a:p>
            </p:txBody>
          </p:sp>
        </mc:Choice>
        <mc:Fallback xmlns="">
          <p:sp>
            <p:nvSpPr>
              <p:cNvPr id="7" name="Rectangle: Rounded Corners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809" y="955112"/>
                <a:ext cx="1224000" cy="921103"/>
              </a:xfrm>
              <a:prstGeom prst="roundRect">
                <a:avLst/>
              </a:prstGeom>
              <a:blipFill rotWithShape="1">
                <a:blip r:embed="rId6"/>
                <a:stretch>
                  <a:fillRect l="-2463" b="-10458"/>
                </a:stretch>
              </a:blipFill>
              <a:ln w="127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14"/>
              <p:cNvSpPr/>
              <p:nvPr/>
            </p:nvSpPr>
            <p:spPr>
              <a:xfrm>
                <a:off x="7472693" y="1733914"/>
                <a:ext cx="855382" cy="1675924"/>
              </a:xfrm>
              <a:prstGeom prst="round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/>
                        <a:ea typeface="Verdana" pitchFamily="34" charset="0"/>
                      </a:rPr>
                      <m:t>4</m:t>
                    </m:r>
                  </m:oMath>
                </a14:m>
                <a:endParaRPr lang="en-US" sz="2400" b="0" dirty="0" smtClean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/>
                        <a:ea typeface="Verdana" pitchFamily="34" charset="0"/>
                        <a:cs typeface="Cambria"/>
                      </a:rPr>
                      <m:t>5</m:t>
                    </m:r>
                  </m:oMath>
                </a14:m>
                <a:endParaRPr lang="en-US" sz="2400" dirty="0" smtClean="0">
                  <a:effectLst/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  <a:cs typeface="Cambria"/>
                      </a:rPr>
                      <m:t>6</m:t>
                    </m:r>
                  </m:oMath>
                </a14:m>
                <a:endParaRPr lang="en-US" sz="2400" dirty="0" smtClean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/>
                        <a:ea typeface="Verdana" pitchFamily="34" charset="0"/>
                        <a:cs typeface="Cambria"/>
                      </a:rPr>
                      <m:t>7</m:t>
                    </m:r>
                  </m:oMath>
                </a14:m>
                <a:endParaRPr lang="en-PH" sz="2400" dirty="0">
                  <a:effectLst/>
                  <a:latin typeface="Verdana" pitchFamily="34" charset="0"/>
                  <a:ea typeface="Verdana" pitchFamily="34" charset="0"/>
                  <a:cs typeface="Cambria"/>
                </a:endParaRPr>
              </a:p>
            </p:txBody>
          </p:sp>
        </mc:Choice>
        <mc:Fallback xmlns="">
          <p:sp>
            <p:nvSpPr>
              <p:cNvPr id="8" name="Rectangle: Rounded Corners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693" y="1733914"/>
                <a:ext cx="855382" cy="1675924"/>
              </a:xfrm>
              <a:prstGeom prst="roundRect">
                <a:avLst/>
              </a:prstGeom>
              <a:blipFill rotWithShape="1">
                <a:blip r:embed="rId7"/>
                <a:stretch>
                  <a:fillRect l="-4225" b="-5054"/>
                </a:stretch>
              </a:blipFill>
              <a:ln w="127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4"/>
              <p:cNvSpPr/>
              <p:nvPr/>
            </p:nvSpPr>
            <p:spPr>
              <a:xfrm>
                <a:off x="6079990" y="2748657"/>
                <a:ext cx="855382" cy="1675924"/>
              </a:xfrm>
              <a:prstGeom prst="round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/>
                        <a:ea typeface="Verdana" pitchFamily="34" charset="0"/>
                      </a:rPr>
                      <m:t>4</m:t>
                    </m:r>
                  </m:oMath>
                </a14:m>
                <a:endParaRPr lang="en-US" sz="2400" b="0" dirty="0" smtClean="0">
                  <a:effectLst/>
                  <a:latin typeface="Verdana" pitchFamily="34" charset="0"/>
                  <a:ea typeface="Verdana" pitchFamily="34" charset="0"/>
                </a:endParaRP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/>
                        <a:ea typeface="Verdana" pitchFamily="34" charset="0"/>
                        <a:cs typeface="Cambria"/>
                      </a:rPr>
                      <m:t>5</m:t>
                    </m:r>
                  </m:oMath>
                </a14:m>
                <a:endParaRPr lang="en-US" sz="2400" dirty="0" smtClean="0">
                  <a:effectLst/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  <a:cs typeface="Cambria"/>
                      </a:rPr>
                      <m:t>6</m:t>
                    </m:r>
                  </m:oMath>
                </a14:m>
                <a:endParaRPr lang="en-US" sz="2400" dirty="0" smtClean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342900" indent="-342900">
                  <a:spcAft>
                    <a:spcPts val="0"/>
                  </a:spcAft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/>
                        <a:ea typeface="Verdana" pitchFamily="34" charset="0"/>
                        <a:cs typeface="Cambria"/>
                      </a:rPr>
                      <m:t>7</m:t>
                    </m:r>
                  </m:oMath>
                </a14:m>
                <a:endParaRPr lang="en-PH" sz="2400" dirty="0">
                  <a:effectLst/>
                  <a:latin typeface="Verdana" pitchFamily="34" charset="0"/>
                  <a:ea typeface="Verdana" pitchFamily="34" charset="0"/>
                  <a:cs typeface="Cambria"/>
                </a:endParaRPr>
              </a:p>
            </p:txBody>
          </p:sp>
        </mc:Choice>
        <mc:Fallback xmlns="">
          <p:sp>
            <p:nvSpPr>
              <p:cNvPr id="9" name="Rectangle: Rounded Corners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9990" y="2748657"/>
                <a:ext cx="855382" cy="1675924"/>
              </a:xfrm>
              <a:prstGeom prst="roundRect">
                <a:avLst/>
              </a:prstGeom>
              <a:blipFill rotWithShape="1">
                <a:blip r:embed="rId8"/>
                <a:stretch>
                  <a:fillRect l="-3497" b="-5054"/>
                </a:stretch>
              </a:blipFill>
              <a:ln w="127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4"/>
          <p:cNvSpPr/>
          <p:nvPr/>
        </p:nvSpPr>
        <p:spPr>
          <a:xfrm>
            <a:off x="9380584" y="4162378"/>
            <a:ext cx="1512000" cy="919401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Aft>
                <a:spcPts val="0"/>
              </a:spcAft>
              <a:buFont typeface="Courier New" pitchFamily="49" charset="0"/>
              <a:buChar char="o"/>
            </a:pPr>
            <a:r>
              <a:rPr lang="en-US" sz="2400" dirty="0" smtClean="0">
                <a:effectLst/>
                <a:latin typeface="Verdana" pitchFamily="34" charset="0"/>
                <a:ea typeface="Verdana" pitchFamily="34" charset="0"/>
                <a:cs typeface="Cambria"/>
              </a:rPr>
              <a:t>is</a:t>
            </a:r>
          </a:p>
          <a:p>
            <a:pPr marL="342900" indent="-342900">
              <a:spcAft>
                <a:spcPts val="0"/>
              </a:spcAft>
              <a:buFont typeface="Courier New" pitchFamily="49" charset="0"/>
              <a:buChar char="o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Cambria"/>
              </a:rPr>
              <a:t>is not</a:t>
            </a:r>
            <a:endParaRPr lang="en-PH" sz="2400" dirty="0">
              <a:effectLst/>
              <a:latin typeface="Verdana" pitchFamily="34" charset="0"/>
              <a:ea typeface="Verdana" pitchFamily="34" charset="0"/>
              <a:cs typeface="Cambria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2248264" y="5670559"/>
            <a:ext cx="1512000" cy="919401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Aft>
                <a:spcPts val="0"/>
              </a:spcAft>
              <a:buFont typeface="Courier New" pitchFamily="49" charset="0"/>
              <a:buChar char="o"/>
            </a:pPr>
            <a:r>
              <a:rPr lang="en-US" sz="2400" dirty="0" smtClean="0">
                <a:effectLst/>
                <a:latin typeface="Verdana" pitchFamily="34" charset="0"/>
                <a:ea typeface="Verdana" pitchFamily="34" charset="0"/>
                <a:cs typeface="Cambria"/>
              </a:rPr>
              <a:t>is</a:t>
            </a:r>
          </a:p>
          <a:p>
            <a:pPr marL="342900" indent="-342900">
              <a:spcAft>
                <a:spcPts val="0"/>
              </a:spcAft>
              <a:buFont typeface="Courier New" pitchFamily="49" charset="0"/>
              <a:buChar char="o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Cambria"/>
              </a:rPr>
              <a:t>is not</a:t>
            </a:r>
            <a:endParaRPr lang="en-PH" sz="2400" dirty="0">
              <a:effectLst/>
              <a:latin typeface="Verdana" pitchFamily="34" charset="0"/>
              <a:ea typeface="Verdana" pitchFamily="34" charset="0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2434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9;g104476d1465_1_39"/>
          <p:cNvSpPr/>
          <p:nvPr/>
        </p:nvSpPr>
        <p:spPr>
          <a:xfrm>
            <a:off x="0" y="-13194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p:sp>
        <p:nvSpPr>
          <p:cNvPr id="14" name="Google Shape;313;g104476d1465_1_39"/>
          <p:cNvSpPr txBox="1">
            <a:spLocks/>
          </p:cNvSpPr>
          <p:nvPr/>
        </p:nvSpPr>
        <p:spPr>
          <a:xfrm>
            <a:off x="5706191" y="285388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8" tIns="45691" rIns="91408" bIns="45691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338;g103996e1364_0_315">
            <a:extLst>
              <a:ext uri="{FF2B5EF4-FFF2-40B4-BE49-F238E27FC236}">
                <a16:creationId xmlns=""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0399" y="2937664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350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6714015" y="1078112"/>
            <a:ext cx="5125720" cy="5306060"/>
          </a:xfrm>
          <a:prstGeom prst="rect">
            <a:avLst/>
          </a:prstGeom>
        </p:spPr>
      </p:pic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540667" y="1465200"/>
                <a:ext cx="5986742" cy="3786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Regular polygon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𝑋𝑊𝐷𝑌𝐿𝑅𝐺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is shown,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PH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𝐾𝐻</m:t>
                        </m:r>
                      </m:e>
                    </m:acc>
                    <m:r>
                      <a:rPr lang="en-US" sz="2400" i="1">
                        <a:latin typeface="Cambria Math"/>
                      </a:rPr>
                      <m:t>⊥</m:t>
                    </m:r>
                    <m:acc>
                      <m:accPr>
                        <m:chr m:val="̅"/>
                        <m:ctrlPr>
                          <a:rPr lang="en-PH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𝑋𝐺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PH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𝑋𝐾</m:t>
                        </m:r>
                      </m:e>
                    </m:acc>
                    <m:r>
                      <a:rPr lang="en-US" sz="2400" i="1">
                        <a:latin typeface="Cambria Math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PH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𝐾𝐺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𝑋𝐺</m:t>
                    </m:r>
                    <m:r>
                      <a:rPr lang="en-US" sz="2400" i="1">
                        <a:latin typeface="Cambria Math"/>
                      </a:rPr>
                      <m:t>=6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𝐾𝐻</m:t>
                    </m:r>
                    <m:r>
                      <a:rPr lang="en-US" sz="2400" i="1">
                        <a:latin typeface="Cambria Math"/>
                      </a:rPr>
                      <m:t>=6.23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. </a:t>
                </a: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anose="020B0604030504040204" pitchFamily="34" charset="0"/>
                  </a:rPr>
                  <a:t>Determine the area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∆</m:t>
                    </m:r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𝑋𝐻𝐺</m:t>
                    </m:r>
                  </m:oMath>
                </a14:m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information to determine the area of polygon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𝑋𝑊𝐷𝑌𝐿𝑅𝐺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7" y="1465200"/>
                <a:ext cx="5986742" cy="3786421"/>
              </a:xfrm>
              <a:prstGeom prst="rect">
                <a:avLst/>
              </a:prstGeom>
              <a:blipFill rotWithShape="1">
                <a:blip r:embed="rId5"/>
                <a:stretch>
                  <a:fillRect l="-1629" t="-1449" r="-407" b="-257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72489" y="4161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8" tIns="45691" rIns="91408" bIns="45691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9.1a.4 Guided Instruction: Area of a Regular Polygon</a:t>
            </a:r>
          </a:p>
        </p:txBody>
      </p:sp>
      <p:pic>
        <p:nvPicPr>
          <p:cNvPr id="7" name="Google Shape;345;g103996e1364_0_321">
            <a:extLst>
              <a:ext uri="{FF2B5EF4-FFF2-40B4-BE49-F238E27FC236}">
                <a16:creationId xmlns=""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806" y="33081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775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540667" y="396056"/>
                <a:ext cx="10800000" cy="5719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Determine the value of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∙7∙</m:t>
                    </m:r>
                    <m:r>
                      <a:rPr lang="en-US" sz="2400" i="1">
                        <a:latin typeface="Cambria Math"/>
                      </a:rPr>
                      <m:t>𝑋𝐺</m:t>
                    </m:r>
                    <m:r>
                      <a:rPr lang="en-US" sz="2400" i="1">
                        <a:latin typeface="Cambria Math"/>
                      </a:rPr>
                      <m:t>∙</m:t>
                    </m:r>
                    <m:r>
                      <a:rPr lang="en-US" sz="2400" i="1">
                        <a:latin typeface="Cambria Math"/>
                      </a:rPr>
                      <m:t>𝐾𝐻</m:t>
                    </m:r>
                  </m:oMath>
                </a14:m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What do you notice about the value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∙7∙</m:t>
                    </m:r>
                    <m:r>
                      <a:rPr lang="en-US" sz="2400" i="1">
                        <a:latin typeface="Cambria Math"/>
                      </a:rPr>
                      <m:t>𝑋𝐺</m:t>
                    </m:r>
                    <m:r>
                      <a:rPr lang="en-US" sz="2400" i="1">
                        <a:latin typeface="Cambria Math"/>
                      </a:rPr>
                      <m:t>∙</m:t>
                    </m:r>
                    <m:r>
                      <a:rPr lang="en-US" sz="2400" i="1">
                        <a:latin typeface="Cambria Math"/>
                      </a:rPr>
                      <m:t>𝐾𝐻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and the area of polygon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𝑋𝑊𝐷𝑌𝐿𝑅𝐺</m:t>
                    </m:r>
                  </m:oMath>
                </a14:m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?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In the expression,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∙7∙</m:t>
                    </m:r>
                    <m:r>
                      <a:rPr lang="en-US" sz="2400" i="1">
                        <a:latin typeface="Cambria Math"/>
                      </a:rPr>
                      <m:t>𝑋𝐺</m:t>
                    </m:r>
                    <m:r>
                      <a:rPr lang="en-US" sz="2400" i="1">
                        <a:latin typeface="Cambria Math"/>
                      </a:rPr>
                      <m:t>∙</m:t>
                    </m:r>
                    <m:r>
                      <a:rPr lang="en-US" sz="2400" i="1">
                        <a:latin typeface="Cambria Math"/>
                      </a:rPr>
                      <m:t>𝐾𝐻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, what does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7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represent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?</a:t>
                </a:r>
              </a:p>
              <a:p>
                <a:pPr marL="457200" lvl="0" indent="-457200">
                  <a:buFont typeface="+mj-lt"/>
                  <a:buAutoNum type="arabicPeriod" startAt="3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lvl="0" indent="-457200">
                  <a:buFont typeface="+mj-lt"/>
                  <a:buAutoNum type="arabicPeriod" startAt="3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What part of polygon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𝑋𝑊𝐷𝑌𝐿𝑅𝐺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does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7∙</m:t>
                    </m:r>
                    <m:r>
                      <a:rPr lang="en-US" sz="2400" i="1">
                        <a:latin typeface="Cambria Math"/>
                      </a:rPr>
                      <m:t>𝑋𝐺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represent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7" y="396056"/>
                <a:ext cx="10800000" cy="5719643"/>
              </a:xfrm>
              <a:prstGeom prst="rect">
                <a:avLst/>
              </a:prstGeom>
              <a:blipFill rotWithShape="1">
                <a:blip r:embed="rId4"/>
                <a:stretch>
                  <a:fillRect l="-903" b="-191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934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540666" y="396056"/>
                <a:ext cx="11017143" cy="4611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The formula for finding the area of a regular polygon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𝐴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PH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𝑃𝑎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is the perimeter of the polygon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is the apothem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lvl="0" indent="-457200">
                  <a:buFont typeface="+mj-lt"/>
                  <a:buAutoNum type="arabicPeriod" startAt="7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For polygon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𝑋𝑊𝐷𝑌𝐿𝑅𝐺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,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∙7∙</m:t>
                    </m:r>
                    <m:r>
                      <a:rPr lang="en-US" sz="2400" i="1">
                        <a:latin typeface="Cambria Math"/>
                      </a:rPr>
                      <m:t>𝑋𝐺</m:t>
                    </m:r>
                    <m:r>
                      <a:rPr lang="en-US" sz="2400" i="1">
                        <a:latin typeface="Cambria Math"/>
                      </a:rPr>
                      <m:t>∙</m:t>
                    </m:r>
                    <m:r>
                      <a:rPr lang="en-US" sz="2400" i="1">
                        <a:latin typeface="Cambria Math"/>
                      </a:rPr>
                      <m:t>𝐾𝐻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was used. Discuss with your partner which part of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∙7∙</m:t>
                    </m:r>
                    <m:r>
                      <a:rPr lang="en-US" sz="2400" i="1">
                        <a:latin typeface="Cambria Math"/>
                      </a:rPr>
                      <m:t>𝑋𝐺</m:t>
                    </m:r>
                    <m:r>
                      <a:rPr lang="en-US" sz="2400" i="1">
                        <a:latin typeface="Cambria Math"/>
                      </a:rPr>
                      <m:t>∙</m:t>
                    </m:r>
                    <m:r>
                      <a:rPr lang="en-US" sz="2400" i="1">
                        <a:latin typeface="Cambria Math"/>
                      </a:rPr>
                      <m:t>𝐾𝐻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is the apothem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457200" lvl="0" indent="-457200">
                  <a:buFont typeface="+mj-lt"/>
                  <a:buAutoNum type="arabicPeriod" startAt="7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lvl="0" indent="-457200">
                  <a:buFont typeface="+mj-lt"/>
                  <a:buAutoNum type="arabicPeriod" startAt="7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lvl="0" indent="-457200">
                  <a:buFont typeface="+mj-lt"/>
                  <a:buAutoNum type="arabicPeriod" startAt="7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lvl="0" indent="-457200">
                  <a:buFont typeface="+mj-lt"/>
                  <a:buAutoNum type="arabicPeriod" startAt="7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lvl="0" indent="-457200">
                  <a:buFont typeface="+mj-lt"/>
                  <a:buAutoNum type="arabicPeriod" startAt="7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Write a definition of an apothem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 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6" y="396056"/>
                <a:ext cx="11017143" cy="4611647"/>
              </a:xfrm>
              <a:prstGeom prst="rect">
                <a:avLst/>
              </a:prstGeom>
              <a:blipFill rotWithShape="1">
                <a:blip r:embed="rId4"/>
                <a:stretch>
                  <a:fillRect l="-885" b="-277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583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A4C0B51D-09DC-AA4D-9C14-AE2048199B26}"/>
              </a:ext>
            </a:extLst>
          </p:cNvPr>
          <p:cNvSpPr txBox="1"/>
          <p:nvPr/>
        </p:nvSpPr>
        <p:spPr>
          <a:xfrm>
            <a:off x="540666" y="396056"/>
            <a:ext cx="1101714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itchFamily="34" charset="0"/>
                <a:ea typeface="Verdana" pitchFamily="34" charset="0"/>
              </a:rPr>
              <a:t>Share your definition of an apothem with a classmate by stating the definition to each other. Record your classmate’s definition as they state it. </a:t>
            </a:r>
            <a:r>
              <a:rPr lang="en-US" sz="2400" i="1" dirty="0">
                <a:latin typeface="Verdana" pitchFamily="34" charset="0"/>
                <a:ea typeface="Verdana" pitchFamily="34" charset="0"/>
              </a:rPr>
              <a:t>You are the only person who should write in the first two columns of the table.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 Have the person initial next to their definition stating that your written definition is correct</a:t>
            </a:r>
            <a:r>
              <a:rPr lang="en-US" sz="2400" dirty="0" smtClean="0">
                <a:latin typeface="Verdana" pitchFamily="34" charset="0"/>
                <a:ea typeface="Verdana" pitchFamily="34" charset="0"/>
              </a:rPr>
              <a:t>.</a:t>
            </a:r>
          </a:p>
          <a:p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endParaRPr lang="en-US" sz="2400" dirty="0" smtClean="0">
              <a:latin typeface="Verdana" pitchFamily="34" charset="0"/>
              <a:ea typeface="Verdana" pitchFamily="34" charset="0"/>
            </a:endParaRPr>
          </a:p>
          <a:p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endParaRPr lang="en-US" sz="2400" dirty="0" smtClean="0">
              <a:latin typeface="Verdana" pitchFamily="34" charset="0"/>
              <a:ea typeface="Verdana" pitchFamily="34" charset="0"/>
            </a:endParaRPr>
          </a:p>
          <a:p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endParaRPr lang="en-US" sz="2400" dirty="0" smtClean="0">
              <a:latin typeface="Verdana" pitchFamily="34" charset="0"/>
              <a:ea typeface="Verdana" pitchFamily="34" charset="0"/>
            </a:endParaRPr>
          </a:p>
          <a:p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r>
              <a:rPr lang="en-PH" sz="2400" dirty="0">
                <a:latin typeface="Verdana" pitchFamily="34" charset="0"/>
                <a:ea typeface="Verdana" pitchFamily="34" charset="0"/>
              </a:rPr>
              <a:t>Class definition of apothem.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954400"/>
              </p:ext>
            </p:extLst>
          </p:nvPr>
        </p:nvGraphicFramePr>
        <p:xfrm>
          <a:off x="838200" y="2444603"/>
          <a:ext cx="10206891" cy="21962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402297"/>
                <a:gridCol w="3402297"/>
                <a:gridCol w="34022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Verdana" pitchFamily="34" charset="0"/>
                          <a:ea typeface="Verdana" pitchFamily="34" charset="0"/>
                        </a:rPr>
                        <a:t>Classmate</a:t>
                      </a:r>
                      <a:endParaRPr lang="en-PH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Verdana" pitchFamily="34" charset="0"/>
                          <a:ea typeface="Verdana" pitchFamily="34" charset="0"/>
                        </a:rPr>
                        <a:t>Definition of apothem</a:t>
                      </a:r>
                      <a:endParaRPr lang="en-PH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Verdana" pitchFamily="34" charset="0"/>
                          <a:ea typeface="Verdana" pitchFamily="34" charset="0"/>
                        </a:rPr>
                        <a:t>Initials</a:t>
                      </a:r>
                      <a:endParaRPr lang="en-PH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800000">
                <a:tc>
                  <a:txBody>
                    <a:bodyPr/>
                    <a:lstStyle/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: Rounded Corners 2"/>
          <p:cNvSpPr/>
          <p:nvPr/>
        </p:nvSpPr>
        <p:spPr>
          <a:xfrm>
            <a:off x="892711" y="5289702"/>
            <a:ext cx="10220765" cy="1364315"/>
          </a:xfrm>
          <a:prstGeom prst="roundRect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0807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268413" y="288950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8" tIns="45691" rIns="91408" bIns="45691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55181" y="297628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107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540667" y="1465202"/>
                <a:ext cx="108000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A game board is in the shape of regular pentagon where each side measures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45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centimeters (cm) and the length of the apothem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61.937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cm. Determine the area of the game board. Round your answer to the nearest thousandth.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7" y="1465202"/>
                <a:ext cx="10800000" cy="1569660"/>
              </a:xfrm>
              <a:prstGeom prst="rect">
                <a:avLst/>
              </a:prstGeom>
              <a:blipFill rotWithShape="1">
                <a:blip r:embed="rId4"/>
                <a:stretch>
                  <a:fillRect l="-903" t="-3101" b="-775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47309" y="-37211"/>
            <a:ext cx="1041480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8" tIns="45691" rIns="91408" bIns="45691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9.1a.5 Guided Practice: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Determining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Area of a Polygon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5298" y="32830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483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7232650" y="396056"/>
            <a:ext cx="4959350" cy="4914900"/>
          </a:xfrm>
          <a:prstGeom prst="rect">
            <a:avLst/>
          </a:prstGeom>
        </p:spPr>
      </p:pic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540666" y="396056"/>
                <a:ext cx="7365377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Polygon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𝐹𝑇𝑌𝐶𝐵𝑊𝐻𝐺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is shown where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𝑋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is the center of the polygon,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𝑇𝑋</m:t>
                    </m:r>
                    <m:r>
                      <a:rPr lang="en-US" sz="2400" i="1">
                        <a:latin typeface="Cambria Math"/>
                      </a:rPr>
                      <m:t> = 65.325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𝑊𝐵</m:t>
                    </m:r>
                    <m:r>
                      <a:rPr lang="en-US" sz="2400" i="1">
                        <a:latin typeface="Cambria Math"/>
                      </a:rPr>
                      <m:t> = 25</m:t>
                    </m:r>
                  </m:oMath>
                </a14:m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893763" lvl="0" indent="-457200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Draw an apothem from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𝑋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𝑇𝑌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. Label the point where the apothem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/>
                </a:r>
                <a:br>
                  <a:rPr lang="en-US" sz="2400" dirty="0" smtClean="0">
                    <a:latin typeface="Verdana" pitchFamily="34" charset="0"/>
                    <a:ea typeface="Verdana" pitchFamily="34" charset="0"/>
                  </a:rPr>
                </a:b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meets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𝑇𝑌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</m:t>
                    </m:r>
                  </m:oMath>
                </a14:m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6" y="396056"/>
                <a:ext cx="7365377" cy="2677656"/>
              </a:xfrm>
              <a:prstGeom prst="rect">
                <a:avLst/>
              </a:prstGeom>
              <a:blipFill rotWithShape="1">
                <a:blip r:embed="rId5"/>
                <a:stretch>
                  <a:fillRect l="-1325" t="-2050" b="-410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888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540666" y="396056"/>
                <a:ext cx="11017143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376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Determine the length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𝑇𝑅</m:t>
                    </m:r>
                  </m:oMath>
                </a14:m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893763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893763" indent="-457200">
                  <a:buFont typeface="+mj-lt"/>
                  <a:buAutoNum type="alphaLcPeriod" startAt="2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893763" indent="-457200">
                  <a:buFont typeface="+mj-lt"/>
                  <a:buAutoNum type="alphaLcPeriod" startAt="2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893763" lvl="0" indent="-457200">
                  <a:buFont typeface="+mj-lt"/>
                  <a:buAutoNum type="alphaLcPeriod" startAt="2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893763" lvl="0" indent="-457200">
                  <a:buFont typeface="+mj-lt"/>
                  <a:buAutoNum type="alphaLcPeriod" startAt="2"/>
                </a:pP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Determine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the length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𝑋𝑅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. Round to the nearest thousandth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893763" lvl="0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893763" lvl="0" indent="-457200">
                  <a:buFont typeface="+mj-lt"/>
                  <a:buAutoNum type="alphaLcPeriod" startAt="2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893763" lvl="0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893763" lvl="0" indent="-457200">
                  <a:buFont typeface="+mj-lt"/>
                  <a:buAutoNum type="alphaLcPeriod" startAt="2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893763" lvl="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Determine the area of polygon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𝐹𝑇𝑌𝐶𝐵𝑊𝐻𝐺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. Round to the nearest tenth.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893763" indent="-457200">
                  <a:buFont typeface="+mj-lt"/>
                  <a:buAutoNum type="alphaLcPeriod" startAt="2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6" y="396056"/>
                <a:ext cx="11017143" cy="4893647"/>
              </a:xfrm>
              <a:prstGeom prst="rect">
                <a:avLst/>
              </a:prstGeom>
              <a:blipFill rotWithShape="1">
                <a:blip r:embed="rId4"/>
                <a:stretch>
                  <a:fillRect t="-1121" r="-166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527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p:sp>
        <p:nvSpPr>
          <p:cNvPr id="10" name="Google Shape;313;g104476d1465_1_39"/>
          <p:cNvSpPr txBox="1">
            <a:spLocks/>
          </p:cNvSpPr>
          <p:nvPr/>
        </p:nvSpPr>
        <p:spPr>
          <a:xfrm>
            <a:off x="5822172" y="2889498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8" tIns="45691" rIns="91408" bIns="45691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423;g103996e1364_0_416">
            <a:extLst>
              <a:ext uri="{FF2B5EF4-FFF2-40B4-BE49-F238E27FC236}">
                <a16:creationId xmlns=""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0033" y="3021282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833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540667" y="1465202"/>
                <a:ext cx="108000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A tile is in the shape of a regular dodecagon (a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-sided polygon). Each side of the tile measures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74.4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centimeters (cm) and the length of the apothem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138.83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cm. Determine the area of the tile. Round your answer to the nearest thousandth.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7" y="1465202"/>
                <a:ext cx="10800000" cy="1569660"/>
              </a:xfrm>
              <a:prstGeom prst="rect">
                <a:avLst/>
              </a:prstGeom>
              <a:blipFill rotWithShape="1">
                <a:blip r:embed="rId4"/>
                <a:stretch>
                  <a:fillRect l="-903" t="-3488" b="-775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60014" y="330812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8" tIns="45691" rIns="91408" bIns="45691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9.1a.6 Your Turn!</a:t>
            </a:r>
          </a:p>
        </p:txBody>
      </p:sp>
      <p:pic>
        <p:nvPicPr>
          <p:cNvPr id="10" name="Google Shape;430;g103996e1364_0_428">
            <a:extLst>
              <a:ext uri="{FF2B5EF4-FFF2-40B4-BE49-F238E27FC236}">
                <a16:creationId xmlns=""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9482" y="33081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3321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540666" y="396056"/>
                <a:ext cx="7323174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Regular polygon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𝑌𝑇𝑅𝐷𝐾𝐵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is shown where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is the center of the polygon,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𝑊𝐻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is an apothem,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𝐵𝐾</m:t>
                    </m:r>
                    <m:r>
                      <a:rPr lang="en-US" sz="2400" i="1">
                        <a:latin typeface="Cambria Math"/>
                      </a:rPr>
                      <m:t> = 157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millimeters (mm),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𝑊𝑌</m:t>
                    </m:r>
                    <m:r>
                      <a:rPr lang="en-US" sz="2400" i="1">
                        <a:latin typeface="Cambria Math"/>
                      </a:rPr>
                      <m:t> = 157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mm. Determine the area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/>
                </a:r>
                <a:br>
                  <a:rPr lang="en-US" sz="2400" dirty="0" smtClean="0">
                    <a:latin typeface="Verdana" pitchFamily="34" charset="0"/>
                    <a:ea typeface="Verdana" pitchFamily="34" charset="0"/>
                  </a:rPr>
                </a:b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of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polygon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𝑌𝑇𝑅𝐷𝐾𝐵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. Round your answer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/>
                </a:r>
                <a:br>
                  <a:rPr lang="en-US" sz="2400" dirty="0" smtClean="0">
                    <a:latin typeface="Verdana" pitchFamily="34" charset="0"/>
                    <a:ea typeface="Verdana" pitchFamily="34" charset="0"/>
                  </a:rPr>
                </a:b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to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the nearest thousandth.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 defTabSz="1082675">
                  <a:buFont typeface="+mj-lt"/>
                  <a:buAutoNum type="arabicPeriod" startAt="2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6" y="396056"/>
                <a:ext cx="7323174" cy="2677656"/>
              </a:xfrm>
              <a:prstGeom prst="rect">
                <a:avLst/>
              </a:prstGeom>
              <a:blipFill rotWithShape="1">
                <a:blip r:embed="rId4"/>
                <a:stretch>
                  <a:fillRect l="-1332" t="-2050" r="-166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9606" y="396056"/>
            <a:ext cx="4620187" cy="493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8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66273" y="36230"/>
            <a:ext cx="1051228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9.1a.7 Wrap-Up: Enough Information?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384" y="32543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51090" y="1361930"/>
            <a:ext cx="89258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Six regular polygons are shown with measurements. </a:t>
            </a:r>
            <a:endParaRPr lang="en-PH" sz="2400" dirty="0">
              <a:latin typeface="Verdana" pitchFamily="34" charset="0"/>
              <a:ea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4652563"/>
                  </p:ext>
                </p:extLst>
              </p:nvPr>
            </p:nvGraphicFramePr>
            <p:xfrm>
              <a:off x="683456" y="1938167"/>
              <a:ext cx="10206891" cy="3491962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402297"/>
                    <a:gridCol w="3402297"/>
                    <a:gridCol w="3402297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Polygon</a:t>
                          </a:r>
                          <a:r>
                            <a:rPr lang="en-US" sz="2000" b="1" baseline="0" dirty="0" smtClean="0">
                              <a:latin typeface="Verdana" pitchFamily="34" charset="0"/>
                              <a:ea typeface="Verdana" pitchFamily="34" charset="0"/>
                            </a:rPr>
                            <a:t> A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Polygon B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Polygon C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309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apothem =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1.376</m:t>
                              </m:r>
                            </m:oMath>
                          </a14:m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apothem = 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dirty="0" smtClean="0">
                                  <a:effectLst/>
                                  <a:latin typeface="Cambria Math"/>
                                  <a:ea typeface="Verdana" pitchFamily="34" charset="0"/>
                                  <a:cs typeface="Verdana"/>
                                </a:rPr>
                                <m:t>24.5</m:t>
                              </m:r>
                            </m:oMath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68580" marR="68580" marT="0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apothem =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2.6</m:t>
                              </m:r>
                            </m:oMath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68580" marR="68580" marT="0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4652563"/>
                  </p:ext>
                </p:extLst>
              </p:nvPr>
            </p:nvGraphicFramePr>
            <p:xfrm>
              <a:off x="683456" y="1938167"/>
              <a:ext cx="10206891" cy="3491962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402297"/>
                    <a:gridCol w="3402297"/>
                    <a:gridCol w="3402297"/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Polygon</a:t>
                          </a:r>
                          <a:r>
                            <a:rPr lang="en-US" sz="2000" b="1" baseline="0" dirty="0" smtClean="0">
                              <a:latin typeface="Verdana" pitchFamily="34" charset="0"/>
                              <a:ea typeface="Verdana" pitchFamily="34" charset="0"/>
                            </a:rPr>
                            <a:t> A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Polygon B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Polygon C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30957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3780" r="-200179" b="-4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13780" r="-100179" b="-4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t="-13780" r="-179" b="-4921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13" name="Picture 12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6273" y="2574139"/>
            <a:ext cx="2131768" cy="2240846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9127" y="2542247"/>
            <a:ext cx="2607310" cy="2420620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9171" y="2360075"/>
            <a:ext cx="2168525" cy="245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78;g104476d1465_1_17"/>
          <p:cNvSpPr/>
          <p:nvPr/>
        </p:nvSpPr>
        <p:spPr>
          <a:xfrm>
            <a:off x="-42138" y="-9144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08" tIns="91408" rIns="91408" bIns="91408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51090" y="4146718"/>
            <a:ext cx="10800000" cy="110053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en-US" sz="2400" dirty="0">
                <a:latin typeface="Verdana" pitchFamily="34" charset="0"/>
                <a:ea typeface="Verdana" pitchFamily="34" charset="0"/>
              </a:rPr>
              <a:t>Select all of the regular polygons which have enough information to determine the area of the polygon</a:t>
            </a:r>
            <a:r>
              <a:rPr lang="en-US" sz="2400" dirty="0" smtClean="0">
                <a:latin typeface="Verdana" pitchFamily="34" charset="0"/>
                <a:ea typeface="Verdana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315369"/>
                  </p:ext>
                </p:extLst>
              </p:nvPr>
            </p:nvGraphicFramePr>
            <p:xfrm>
              <a:off x="683456" y="418857"/>
              <a:ext cx="10206891" cy="3491962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402297"/>
                    <a:gridCol w="3402297"/>
                    <a:gridCol w="3402297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Polygon</a:t>
                          </a:r>
                          <a:r>
                            <a:rPr lang="en-US" sz="2000" b="1" baseline="0" dirty="0" smtClean="0">
                              <a:latin typeface="Verdana" pitchFamily="34" charset="0"/>
                              <a:ea typeface="Verdana" pitchFamily="34" charset="0"/>
                            </a:rPr>
                            <a:t> A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Polygon B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Polygon C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3095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apothem = 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17.32</m:t>
                              </m:r>
                            </m:oMath>
                          </a14:m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68580" marR="68580" marT="0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apothem =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2.</m:t>
                              </m:r>
                              <m:r>
                                <a:rPr lang="en-PH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5</m:t>
                              </m:r>
                            </m:oMath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68580" marR="68580" marT="0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315369"/>
                  </p:ext>
                </p:extLst>
              </p:nvPr>
            </p:nvGraphicFramePr>
            <p:xfrm>
              <a:off x="683456" y="418857"/>
              <a:ext cx="10206891" cy="3491962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402297"/>
                    <a:gridCol w="3402297"/>
                    <a:gridCol w="3402297"/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Polygon</a:t>
                          </a:r>
                          <a:r>
                            <a:rPr lang="en-US" sz="2000" b="1" baseline="0" dirty="0" smtClean="0">
                              <a:latin typeface="Verdana" pitchFamily="34" charset="0"/>
                              <a:ea typeface="Verdana" pitchFamily="34" charset="0"/>
                            </a:rPr>
                            <a:t> A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Polygon B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Polygon C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30957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3780" r="-200179" b="-4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68580" marR="68580" marT="0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0000" t="-13780" r="-179" b="-4921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12" name="Picture 11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5746" y="1019272"/>
            <a:ext cx="2155121" cy="2292350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4199" y="1004227"/>
            <a:ext cx="3178078" cy="2765767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4328" y="1043937"/>
            <a:ext cx="2767953" cy="245451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978423"/>
              </p:ext>
            </p:extLst>
          </p:nvPr>
        </p:nvGraphicFramePr>
        <p:xfrm>
          <a:off x="978877" y="4994635"/>
          <a:ext cx="9951720" cy="14630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4975860"/>
                <a:gridCol w="4975860"/>
              </a:tblGrid>
              <a:tr h="1104854">
                <a:tc>
                  <a:txBody>
                    <a:bodyPr/>
                    <a:lstStyle/>
                    <a:p>
                      <a:pPr marL="342900" lvl="0" indent="-342900">
                        <a:buFont typeface="Wingdings" pitchFamily="2" charset="2"/>
                        <a:buChar char="o"/>
                      </a:pPr>
                      <a:r>
                        <a:rPr lang="en-US" sz="2400" dirty="0" smtClean="0">
                          <a:latin typeface="Verdana" pitchFamily="34" charset="0"/>
                          <a:ea typeface="Verdana" pitchFamily="34" charset="0"/>
                        </a:rPr>
                        <a:t>Polygon A</a:t>
                      </a:r>
                    </a:p>
                    <a:p>
                      <a:pPr marL="342900" lvl="0" indent="-342900">
                        <a:buFont typeface="Wingdings" pitchFamily="2" charset="2"/>
                        <a:buChar char="o"/>
                      </a:pPr>
                      <a:r>
                        <a:rPr lang="en-US" sz="2400" dirty="0" smtClean="0">
                          <a:latin typeface="Verdana" pitchFamily="34" charset="0"/>
                          <a:ea typeface="Verdana" pitchFamily="34" charset="0"/>
                        </a:rPr>
                        <a:t>Polygon B</a:t>
                      </a:r>
                    </a:p>
                    <a:p>
                      <a:pPr marL="342900" lvl="0" indent="-342900">
                        <a:buFont typeface="Wingdings" pitchFamily="2" charset="2"/>
                        <a:buChar char="o"/>
                      </a:pPr>
                      <a:r>
                        <a:rPr lang="en-US" sz="2400" dirty="0" smtClean="0">
                          <a:latin typeface="Verdana" pitchFamily="34" charset="0"/>
                          <a:ea typeface="Verdana" pitchFamily="34" charset="0"/>
                        </a:rPr>
                        <a:t>Polygon C</a:t>
                      </a:r>
                      <a:endParaRPr lang="en-PH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Wingdings" pitchFamily="2" charset="2"/>
                        <a:buChar char="o"/>
                      </a:pPr>
                      <a:r>
                        <a:rPr lang="en-US" sz="2400" dirty="0" smtClean="0">
                          <a:latin typeface="Verdana" pitchFamily="34" charset="0"/>
                          <a:ea typeface="Verdana" pitchFamily="34" charset="0"/>
                        </a:rPr>
                        <a:t>Polygon D</a:t>
                      </a:r>
                    </a:p>
                    <a:p>
                      <a:pPr marL="342900" lvl="0" indent="-342900">
                        <a:buFont typeface="Wingdings" pitchFamily="2" charset="2"/>
                        <a:buChar char="o"/>
                      </a:pPr>
                      <a:r>
                        <a:rPr lang="en-US" sz="2400" dirty="0" smtClean="0">
                          <a:latin typeface="Verdana" pitchFamily="34" charset="0"/>
                          <a:ea typeface="Verdana" pitchFamily="34" charset="0"/>
                        </a:rPr>
                        <a:t>Polygon E</a:t>
                      </a:r>
                    </a:p>
                    <a:p>
                      <a:pPr marL="342900" lvl="0" indent="-342900">
                        <a:buFont typeface="Wingdings" pitchFamily="2" charset="2"/>
                        <a:buChar char="o"/>
                      </a:pPr>
                      <a:r>
                        <a:rPr lang="en-US" sz="2400" dirty="0" smtClean="0">
                          <a:latin typeface="Verdana" pitchFamily="34" charset="0"/>
                          <a:ea typeface="Verdana" pitchFamily="34" charset="0"/>
                        </a:rPr>
                        <a:t>Polygon F</a:t>
                      </a:r>
                      <a:endParaRPr lang="en-PH" sz="2400" dirty="0" smtClean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PH" sz="2400" dirty="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68580" marR="6858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521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1B2F7870-112C-48E5-BFC0-1DB30757E73B}"/>
</file>

<file path=customXml/itemProps2.xml><?xml version="1.0" encoding="utf-8"?>
<ds:datastoreItem xmlns:ds="http://schemas.openxmlformats.org/officeDocument/2006/customXml" ds:itemID="{13BD617D-0CF9-4268-9DC7-D21547598B7E}"/>
</file>

<file path=customXml/itemProps3.xml><?xml version="1.0" encoding="utf-8"?>
<ds:datastoreItem xmlns:ds="http://schemas.openxmlformats.org/officeDocument/2006/customXml" ds:itemID="{74A4805A-DB31-4A68-9949-6B9FB6E45816}"/>
</file>

<file path=docProps/app.xml><?xml version="1.0" encoding="utf-8"?>
<Properties xmlns="http://schemas.openxmlformats.org/officeDocument/2006/extended-properties" xmlns:vt="http://schemas.openxmlformats.org/officeDocument/2006/docPropsVTypes">
  <TotalTime>1666</TotalTime>
  <Words>1018</Words>
  <Application>Microsoft Office PowerPoint</Application>
  <PresentationFormat>Custom</PresentationFormat>
  <Paragraphs>218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Arial</vt:lpstr>
      <vt:lpstr>Arial Black</vt:lpstr>
      <vt:lpstr>Cambria Math</vt:lpstr>
      <vt:lpstr>MS Mincho</vt:lpstr>
      <vt:lpstr>Courier New</vt:lpstr>
      <vt:lpstr>Cambria</vt:lpstr>
      <vt:lpstr>Verdana</vt:lpstr>
      <vt:lpstr>Century Gothic</vt:lpstr>
      <vt:lpstr>Helvetica Neue</vt:lpstr>
      <vt:lpstr>Calibri</vt:lpstr>
      <vt:lpstr>Wingdings</vt:lpstr>
      <vt:lpstr>1_Office Theme</vt:lpstr>
      <vt:lpstr>Geometry  Unit 9, Lesson 1a  Area of a Polygon   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42</cp:revision>
  <dcterms:created xsi:type="dcterms:W3CDTF">2015-03-17T18:51:18Z</dcterms:created>
  <dcterms:modified xsi:type="dcterms:W3CDTF">2022-12-06T22:18:37Z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