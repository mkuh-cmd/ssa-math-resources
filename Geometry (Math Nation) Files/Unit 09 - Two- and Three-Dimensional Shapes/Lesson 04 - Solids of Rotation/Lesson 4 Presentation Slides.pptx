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85" r:id="rId4"/>
    <p:sldId id="286" r:id="rId5"/>
    <p:sldId id="261" r:id="rId6"/>
    <p:sldId id="287" r:id="rId7"/>
    <p:sldId id="362" r:id="rId8"/>
    <p:sldId id="363" r:id="rId9"/>
    <p:sldId id="364" r:id="rId10"/>
    <p:sldId id="365" r:id="rId11"/>
    <p:sldId id="366" r:id="rId12"/>
    <p:sldId id="367" r:id="rId13"/>
    <p:sldId id="368" r:id="rId14"/>
    <p:sldId id="376" r:id="rId15"/>
    <p:sldId id="377" r:id="rId16"/>
    <p:sldId id="369" r:id="rId17"/>
    <p:sldId id="370" r:id="rId18"/>
    <p:sldId id="371" r:id="rId19"/>
    <p:sldId id="372" r:id="rId20"/>
    <p:sldId id="378" r:id="rId21"/>
    <p:sldId id="373" r:id="rId22"/>
    <p:sldId id="374" r:id="rId23"/>
    <p:sldId id="375" r:id="rId24"/>
    <p:sldId id="306" r:id="rId25"/>
    <p:sldId id="307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65B0"/>
    <a:srgbClr val="DA4487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835"/>
    <p:restoredTop sz="94674"/>
  </p:normalViewPr>
  <p:slideViewPr>
    <p:cSldViewPr snapToGrid="0">
      <p:cViewPr varScale="1">
        <p:scale>
          <a:sx n="77" d="100"/>
          <a:sy n="77" d="100"/>
        </p:scale>
        <p:origin x="802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808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68120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93553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78583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39073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90615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2085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01055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9054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74901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0104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58889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6468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97232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84612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8657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3071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0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5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3.png"/><Relationship Id="rId5" Type="http://schemas.openxmlformats.org/officeDocument/2006/relationships/image" Target="../media/image320.png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9, Lesson 4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Solids of Rotation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70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5010" y="1598046"/>
            <a:ext cx="2973100" cy="3465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MA.912.GR.4.2 </a:t>
            </a:r>
          </a:p>
          <a:p>
            <a:pPr marL="460375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Identify three-dimensional objects generated by rotations of two-dimensional figures.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199" y="129667"/>
            <a:ext cx="859398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70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596390"/>
            <a:ext cx="1042216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773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65719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557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45480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70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66344" y="1600200"/>
            <a:ext cx="1105758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identify three-dimensional objects generated by rotations of two-dimensional figures.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71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642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10465" y="-87155"/>
            <a:ext cx="984434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9.4.1 Warm-Up: Notice and Wonder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166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7820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71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51064" y="1386025"/>
            <a:ext cx="832713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A Rubik’s Cube and a Slinky are shown.</a:t>
            </a: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do you notice? 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do you wonder? 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Sketch the horizontal cross section of the Rubik’s cube.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Sketch the horizontal cross section of the Slinky. 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41953" y="1981200"/>
            <a:ext cx="2225138" cy="202932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94955" y="1981200"/>
            <a:ext cx="2503714" cy="2029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71</a:t>
            </a: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8980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7638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45012" y="60325"/>
            <a:ext cx="917562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9.4.2 Activity: Rotating Pencils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71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5204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547ABD-563B-A148-B65C-C7679A7B43D4}"/>
                  </a:ext>
                </a:extLst>
              </p:cNvPr>
              <p:cNvSpPr txBox="1"/>
              <p:nvPr/>
            </p:nvSpPr>
            <p:spPr>
              <a:xfrm>
                <a:off x="585610" y="1386025"/>
                <a:ext cx="10561378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Work with your partner to complete the following.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Place a sticky note on the side of the pencil. If necessary, use tape to secure the sticky note.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Make a prediction about which three-dimensional shape the sticky note would form when the pencil is rotated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360°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60375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Complete the table.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547ABD-563B-A148-B65C-C7679A7B4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610" y="1386025"/>
                <a:ext cx="10561378" cy="2862322"/>
              </a:xfrm>
              <a:prstGeom prst="rect">
                <a:avLst/>
              </a:prstGeom>
              <a:blipFill>
                <a:blip r:embed="rId5"/>
                <a:stretch>
                  <a:fillRect l="-635" t="-1064" r="-462" b="-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527782"/>
              </p:ext>
            </p:extLst>
          </p:nvPr>
        </p:nvGraphicFramePr>
        <p:xfrm>
          <a:off x="869733" y="4438611"/>
          <a:ext cx="7470775" cy="1828800"/>
        </p:xfrm>
        <a:graphic>
          <a:graphicData uri="http://schemas.openxmlformats.org/drawingml/2006/table">
            <a:tbl>
              <a:tblPr firstRow="1" firstCol="1" bandRow="1"/>
              <a:tblGrid>
                <a:gridCol w="2513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3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2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4626"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Sticky Note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Prediction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Reasoning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681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7511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71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4" y="520394"/>
                <a:ext cx="10063525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Using your pencil as a vertical axis of rotation, rotate the pencil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360°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three-dimensional figure did the sticky note seem to create?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520394"/>
                <a:ext cx="10063525" cy="2862322"/>
              </a:xfrm>
              <a:prstGeom prst="rect">
                <a:avLst/>
              </a:prstGeom>
              <a:blipFill>
                <a:blip r:embed="rId4"/>
                <a:stretch>
                  <a:fillRect l="-666" t="-1277" b="-29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466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770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72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520393"/>
                <a:ext cx="1096113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Work with your partner to predict what three-dimensional shape will be formed when each shape is rotated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360°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520393"/>
                <a:ext cx="10961136" cy="707886"/>
              </a:xfrm>
              <a:prstGeom prst="rect">
                <a:avLst/>
              </a:prstGeom>
              <a:blipFill>
                <a:blip r:embed="rId4"/>
                <a:stretch>
                  <a:fillRect l="-612" t="-517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940833"/>
              </p:ext>
            </p:extLst>
          </p:nvPr>
        </p:nvGraphicFramePr>
        <p:xfrm>
          <a:off x="1272276" y="1731920"/>
          <a:ext cx="6863715" cy="4222115"/>
        </p:xfrm>
        <a:graphic>
          <a:graphicData uri="http://schemas.openxmlformats.org/drawingml/2006/table">
            <a:tbl>
              <a:tblPr firstRow="1" firstCol="1" band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7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1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433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Shape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Prediction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Reasoning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189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Rectangle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189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Triangle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189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Semicircle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1158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72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4" y="520394"/>
                <a:ext cx="1012251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6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Using your pencil as a vertical axis of rotation, rotate the pencil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360°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Then, sketch or describe the resulting three-dimensional shape.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520394"/>
                <a:ext cx="10122519" cy="707886"/>
              </a:xfrm>
              <a:prstGeom prst="rect">
                <a:avLst/>
              </a:prstGeom>
              <a:blipFill>
                <a:blip r:embed="rId4"/>
                <a:stretch>
                  <a:fillRect l="-663" t="-517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994341"/>
              </p:ext>
            </p:extLst>
          </p:nvPr>
        </p:nvGraphicFramePr>
        <p:xfrm>
          <a:off x="1350087" y="1825625"/>
          <a:ext cx="6557427" cy="4515582"/>
        </p:xfrm>
        <a:graphic>
          <a:graphicData uri="http://schemas.openxmlformats.org/drawingml/2006/table">
            <a:tbl>
              <a:tblPr firstRow="1" firstCol="1" bandRow="1"/>
              <a:tblGrid>
                <a:gridCol w="2872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4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535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Helvetica Neue" charset="0"/>
                          <a:cs typeface="Helvetica Neue" charset="0"/>
                        </a:rPr>
                        <a:t>Shape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65708" marR="6570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Helvetica Neue" charset="0"/>
                          <a:cs typeface="Helvetica Neue" charset="0"/>
                        </a:rPr>
                        <a:t>Three-Dimensional Shape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65708" marR="6570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199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Helvetica Neue" charset="0"/>
                          <a:cs typeface="Helvetica Neue" charset="0"/>
                        </a:rPr>
                        <a:t>Rectangle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65708" marR="6570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Helvetica Neue" charset="0"/>
                          <a:cs typeface="Helvetica Neue" charset="0"/>
                        </a:rPr>
                        <a:t> </a:t>
                      </a:r>
                      <a:endParaRPr lang="en-US" sz="1400" dirty="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65708" marR="6570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199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Helvetica Neue" charset="0"/>
                          <a:cs typeface="Helvetica Neue" charset="0"/>
                        </a:rPr>
                        <a:t>Triangle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65708" marR="6570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Helvetica Neue" charset="0"/>
                          <a:cs typeface="Helvetica Neue" charset="0"/>
                        </a:rPr>
                        <a:t> 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65708" marR="6570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199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Helvetica Neue" charset="0"/>
                          <a:cs typeface="Helvetica Neue" charset="0"/>
                        </a:rPr>
                        <a:t>Semicircle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65708" marR="6570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Helvetica Neue" charset="0"/>
                          <a:cs typeface="Helvetica Neue" charset="0"/>
                        </a:rPr>
                        <a:t> </a:t>
                      </a:r>
                      <a:endParaRPr lang="en-US" sz="1400" dirty="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65708" marR="6570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212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770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72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5" y="528618"/>
            <a:ext cx="1096113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7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Discuss with your partner whether the three-dimensional shape would be different if the pencil were held horizontally instead of vertically. Summarize your discussion.</a:t>
            </a:r>
          </a:p>
          <a:p>
            <a:pPr marL="457200" indent="-457200">
              <a:buFont typeface="+mj-lt"/>
              <a:buAutoNum type="arabicPeriod" startAt="7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7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7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7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7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7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7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Draw any four-sided, two-dimensional shape on a 3x5 card. Make it as unique as possible. Cut out your shape. Draw the outline of your shape below. </a:t>
            </a:r>
          </a:p>
        </p:txBody>
      </p:sp>
    </p:spTree>
    <p:extLst>
      <p:ext uri="{BB962C8B-B14F-4D97-AF65-F5344CB8AC3E}">
        <p14:creationId xmlns:p14="http://schemas.microsoft.com/office/powerpoint/2010/main" val="162929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73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5" y="520394"/>
            <a:ext cx="1063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9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Sketch what you think the three-dimensional figure of your four-sided two-dimensional shape will look like if rotated around each axis.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046105"/>
              </p:ext>
            </p:extLst>
          </p:nvPr>
        </p:nvGraphicFramePr>
        <p:xfrm>
          <a:off x="1303708" y="1887128"/>
          <a:ext cx="6800850" cy="3962400"/>
        </p:xfrm>
        <a:graphic>
          <a:graphicData uri="http://schemas.openxmlformats.org/drawingml/2006/table">
            <a:tbl>
              <a:tblPr firstRow="1" firstCol="1" bandRow="1"/>
              <a:tblGrid>
                <a:gridCol w="341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Horizontal Axis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Vertical Axis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6021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73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5" y="520394"/>
            <a:ext cx="83271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10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Review your partner’s shape. Then, complete the following.</a:t>
            </a:r>
          </a:p>
          <a:p>
            <a:pPr marL="920750" indent="-333375">
              <a:buFont typeface="Arial" charset="0"/>
              <a:buChar char="•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Draw your partner’s shape on the grid below.</a:t>
            </a:r>
          </a:p>
          <a:p>
            <a:pPr marL="920750" indent="-333375">
              <a:buFont typeface="Arial" charset="0"/>
              <a:buChar char="•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Draw a horizontal axis of rotation.</a:t>
            </a:r>
          </a:p>
          <a:p>
            <a:pPr marL="920750" indent="-333375">
              <a:buFont typeface="Arial" charset="0"/>
              <a:buChar char="•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Draw the reflection of your partner’s shape.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524" y="2035540"/>
            <a:ext cx="7297218" cy="423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613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4" y="520394"/>
            <a:ext cx="1098335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11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Discuss with your partner how drawing a reflection could help envision the three-dimensional figure. Summarize your discussion. </a:t>
            </a:r>
          </a:p>
          <a:p>
            <a:pPr marL="457200" indent="-457200">
              <a:buFont typeface="+mj-lt"/>
              <a:buAutoNum type="arabicPeriod" startAt="11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11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11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Sketch what you think the three-dimensional figure of your partner’s four-sided, two-dimensional shape will look like if rotated around each axis.</a:t>
            </a:r>
          </a:p>
          <a:p>
            <a:pPr marL="457200" indent="-457200">
              <a:buFont typeface="+mj-lt"/>
              <a:buAutoNum type="arabicPeriod" startAt="11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11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11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11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11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11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11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11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Compare your sketches with your partner. Discuss any differences and make any adjustments. 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0712736"/>
              </p:ext>
            </p:extLst>
          </p:nvPr>
        </p:nvGraphicFramePr>
        <p:xfrm>
          <a:off x="1303708" y="2550615"/>
          <a:ext cx="6800850" cy="1748419"/>
        </p:xfrm>
        <a:graphic>
          <a:graphicData uri="http://schemas.openxmlformats.org/drawingml/2006/table">
            <a:tbl>
              <a:tblPr firstRow="1" firstCol="1" bandRow="1"/>
              <a:tblGrid>
                <a:gridCol w="341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47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Horizontal Axis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Vertical Axis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361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73</a:t>
            </a:r>
          </a:p>
        </p:txBody>
      </p:sp>
    </p:spTree>
    <p:extLst>
      <p:ext uri="{BB962C8B-B14F-4D97-AF65-F5344CB8AC3E}">
        <p14:creationId xmlns:p14="http://schemas.microsoft.com/office/powerpoint/2010/main" val="1267771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74</a:t>
            </a:r>
          </a:p>
        </p:txBody>
      </p:sp>
    </p:spTree>
    <p:extLst>
      <p:ext uri="{BB962C8B-B14F-4D97-AF65-F5344CB8AC3E}">
        <p14:creationId xmlns:p14="http://schemas.microsoft.com/office/powerpoint/2010/main" val="1738712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-8597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9.4.3 Guided Instruction: Rotations with Dimensions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1212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74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593248" y="1386026"/>
            <a:ext cx="109306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Draw a two-dimensional figure and an axis of rotation that would result in the real-world object when the two-dimensional figure is rotated around the axis of rotation.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3436347"/>
                  </p:ext>
                </p:extLst>
              </p:nvPr>
            </p:nvGraphicFramePr>
            <p:xfrm>
              <a:off x="1059111" y="2547992"/>
              <a:ext cx="7395411" cy="365260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65571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7396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7755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Image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6858" marR="6685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Two-Dimensional Figure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6858" marR="6685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7505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 set of revolving doors with a radius 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3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feet. 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6858" marR="6685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6858" marR="6685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3436347"/>
                  </p:ext>
                </p:extLst>
              </p:nvPr>
            </p:nvGraphicFramePr>
            <p:xfrm>
              <a:off x="1059111" y="2547992"/>
              <a:ext cx="7395411" cy="365260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65571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7396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7755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Image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6858" marR="6685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Two-Dimensional Figure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6858" marR="6685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750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858" marR="6685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29" t="-15326" r="-178899" b="-3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6858" marR="6685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70915" y="3969585"/>
            <a:ext cx="1860629" cy="217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5" name="Picture 5"/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19327" y="3121053"/>
            <a:ext cx="3968892" cy="2925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0302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74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329653"/>
                  </p:ext>
                </p:extLst>
              </p:nvPr>
            </p:nvGraphicFramePr>
            <p:xfrm>
              <a:off x="647267" y="518181"/>
              <a:ext cx="8104354" cy="517676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91030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1940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66432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Image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5047" marR="350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Two-Dimensional Figure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5047" marR="350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12443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An ice cream cone with a diameter 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4.5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centimeters (cm) and a height 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11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cm.</a:t>
                          </a:r>
                        </a:p>
                      </a:txBody>
                      <a:tcPr marL="35047" marR="3504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5047" marR="3504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329653"/>
                  </p:ext>
                </p:extLst>
              </p:nvPr>
            </p:nvGraphicFramePr>
            <p:xfrm>
              <a:off x="647267" y="518181"/>
              <a:ext cx="8104354" cy="517676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91030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1940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66432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Image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5047" marR="350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Two-Dimensional Figure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5047" marR="350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1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5047" marR="3504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9" t="-14980" r="-178661" b="-2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5047" marR="3504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169" name="Picture 12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69736" y="1892888"/>
            <a:ext cx="4157663" cy="306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3"/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29394" y="2836182"/>
            <a:ext cx="1930400" cy="256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628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74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5" y="528618"/>
            <a:ext cx="105354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Sketch the three-dimensional shape that is created. Include any dimensions in units.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0682227"/>
                  </p:ext>
                </p:extLst>
              </p:nvPr>
            </p:nvGraphicFramePr>
            <p:xfrm>
              <a:off x="834225" y="1533130"/>
              <a:ext cx="7751551" cy="44186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20461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4693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03831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Two-Dimensional Shape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Three-Dimensional Shape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38030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𝑊𝐶𝑌𝐻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is rotated around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⃡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𝑊𝐻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.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0682227"/>
                  </p:ext>
                </p:extLst>
              </p:nvPr>
            </p:nvGraphicFramePr>
            <p:xfrm>
              <a:off x="834225" y="1533130"/>
              <a:ext cx="7751551" cy="44186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20461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4693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03831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Two-Dimensional Shape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Three-Dimensional Shape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3803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7" t="-31171" r="-49123" b="-3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193" name="Picture 7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71518" y="3146120"/>
            <a:ext cx="3225800" cy="256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0315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74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6876866"/>
                  </p:ext>
                </p:extLst>
              </p:nvPr>
            </p:nvGraphicFramePr>
            <p:xfrm>
              <a:off x="738632" y="578331"/>
              <a:ext cx="7847144" cy="565011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2687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783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7670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Two-Dimensional Shape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104" marR="6810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Three-Dimensional Shape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104" marR="6810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735711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∆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𝐶𝑊𝐻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is rotated around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⃡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  <m:t>𝑅𝐵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.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104" marR="68104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104" marR="68104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6876866"/>
                  </p:ext>
                </p:extLst>
              </p:nvPr>
            </p:nvGraphicFramePr>
            <p:xfrm>
              <a:off x="738632" y="578331"/>
              <a:ext cx="7847144" cy="565011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2687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783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Two-Dimensional Shape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104" marR="6810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Three-Dimensional Shape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104" marR="6810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7357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104" marR="68104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6" t="-20823" r="-49133" b="-2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104" marR="68104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217" name="Picture 8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12789" y="2062046"/>
            <a:ext cx="4432300" cy="389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8891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75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9046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4918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323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7567" y="-140448"/>
            <a:ext cx="886809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9.4.4 Guided Practice: Rotations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500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75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7760" y="12881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598166" y="1386026"/>
                <a:ext cx="1046312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Describe and sketch the three-dimensional shape that is created when the rectangle is rotated around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‑axis. Include any known dimensions.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66" y="1386026"/>
                <a:ext cx="10463124" cy="707886"/>
              </a:xfrm>
              <a:prstGeom prst="rect">
                <a:avLst/>
              </a:prstGeom>
              <a:blipFill>
                <a:blip r:embed="rId5"/>
                <a:stretch>
                  <a:fillRect l="-641" t="-517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6418" y="2593187"/>
            <a:ext cx="3410632" cy="367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1270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75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520394"/>
                <a:ext cx="1096113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Describe and sketch the three-dimensional shape that is created when the isosceles triangle is rotated around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-axis. Include any known dimensions.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520394"/>
                <a:ext cx="10961136" cy="707886"/>
              </a:xfrm>
              <a:prstGeom prst="rect">
                <a:avLst/>
              </a:prstGeom>
              <a:blipFill>
                <a:blip r:embed="rId4"/>
                <a:stretch>
                  <a:fillRect l="-612" t="-517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83959" y="1929063"/>
            <a:ext cx="3852111" cy="394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0277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75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89924" y="6457673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75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8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34800" y="-185809"/>
            <a:ext cx="96020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9.4.5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032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93247" y="1386025"/>
            <a:ext cx="104237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Describe and sketch the three-dimensional shape that is created when the semicircle is rotated around its diameter. Include any known dimensions.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20544" y="2144611"/>
            <a:ext cx="4502042" cy="4055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1333</TotalTime>
  <Words>886</Words>
  <Application>Microsoft Office PowerPoint</Application>
  <PresentationFormat>Widescreen</PresentationFormat>
  <Paragraphs>202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Arial Black</vt:lpstr>
      <vt:lpstr>Calibri</vt:lpstr>
      <vt:lpstr>Cambria</vt:lpstr>
      <vt:lpstr>Cambria Math</vt:lpstr>
      <vt:lpstr>Century Gothic</vt:lpstr>
      <vt:lpstr>Verdana</vt:lpstr>
      <vt:lpstr>Wingdings</vt:lpstr>
      <vt:lpstr>1_Office Theme</vt:lpstr>
      <vt:lpstr>Geometry  Unit 9, Lesson 4  Solids of Rotation  Volume 2, pg. 70  </vt:lpstr>
      <vt:lpstr>Benchmark</vt:lpstr>
      <vt:lpstr>PowerPoint Presentation</vt:lpstr>
      <vt:lpstr>PowerPoint Presentation</vt:lpstr>
      <vt:lpstr>Warm-Up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23</cp:revision>
  <dcterms:created xsi:type="dcterms:W3CDTF">2015-03-17T18:51:18Z</dcterms:created>
  <dcterms:modified xsi:type="dcterms:W3CDTF">2022-07-04T20:54:20Z</dcterms:modified>
</cp:coreProperties>
</file>