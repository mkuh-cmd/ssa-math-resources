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8" r:id="rId8"/>
    <p:sldId id="314" r:id="rId9"/>
    <p:sldId id="315" r:id="rId10"/>
    <p:sldId id="370" r:id="rId11"/>
    <p:sldId id="352" r:id="rId12"/>
    <p:sldId id="371" r:id="rId13"/>
    <p:sldId id="363" r:id="rId14"/>
    <p:sldId id="364" r:id="rId15"/>
    <p:sldId id="365" r:id="rId16"/>
    <p:sldId id="366" r:id="rId17"/>
    <p:sldId id="372" r:id="rId18"/>
    <p:sldId id="373" r:id="rId19"/>
    <p:sldId id="367" r:id="rId20"/>
    <p:sldId id="368" r:id="rId21"/>
    <p:sldId id="369" r:id="rId22"/>
    <p:sldId id="374" r:id="rId23"/>
    <p:sldId id="306" r:id="rId24"/>
    <p:sldId id="307"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765"/>
    <p:restoredTop sz="94695"/>
  </p:normalViewPr>
  <p:slideViewPr>
    <p:cSldViewPr snapToGrid="0">
      <p:cViewPr varScale="1">
        <p:scale>
          <a:sx n="78" d="100"/>
          <a:sy n="78" d="100"/>
        </p:scale>
        <p:origin x="15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860432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788812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583431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436786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01337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68871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6388547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600433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783945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566347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534746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0246251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6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9, Lesson 9</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Surface Area in the Real World</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100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5010" y="1598046"/>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MA.912.GR.4.6 </a:t>
            </a:r>
          </a:p>
          <a:p>
            <a:pPr marL="465138" indent="0">
              <a:buNone/>
            </a:pPr>
            <a:r>
              <a:rPr lang="en-US" sz="2400" dirty="0">
                <a:latin typeface="Verdana" charset="0"/>
                <a:ea typeface="Verdana" charset="0"/>
                <a:cs typeface="Verdana" charset="0"/>
              </a:rPr>
              <a:t>Solve mathematical and real-world problems involving the surface area of three-dimensional figures limited to cylinders, pyramids, prisms, cones, and spheres.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29667"/>
            <a:ext cx="85349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100</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390"/>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417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65719"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3557"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69594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100</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6344" y="1600200"/>
            <a:ext cx="1096782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solve real-world problems involving the surface area of cylinders, pyramids, prisms, cones, and spheres.</a:t>
            </a:r>
          </a:p>
          <a:p>
            <a:endParaRPr lang="en-US" sz="2400" dirty="0">
              <a:latin typeface="Verdana" charset="0"/>
              <a:ea typeface="Verdana" charset="0"/>
              <a:cs typeface="Verdana" charset="0"/>
            </a:endParaRPr>
          </a:p>
          <a:p>
            <a:pPr marL="342900" indent="-342900">
              <a:buFont typeface="Wingdings" charset="2"/>
              <a:buChar char="q"/>
            </a:pPr>
            <a:r>
              <a:rPr lang="en-US" sz="2400" dirty="0">
                <a:latin typeface="Verdana" charset="0"/>
                <a:ea typeface="Verdana" charset="0"/>
                <a:cs typeface="Verdana" charset="0"/>
              </a:rPr>
              <a:t>I can solve real-world problems involving the surface area of composite figures.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8318"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760092"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6426"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10466"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9.9.1 Warm-Up: Math Magic</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3166"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78200"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100</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51064" y="1386025"/>
                <a:ext cx="10961136" cy="3785652"/>
              </a:xfrm>
              <a:prstGeom prst="rect">
                <a:avLst/>
              </a:prstGeom>
              <a:noFill/>
            </p:spPr>
            <p:txBody>
              <a:bodyPr wrap="square" rtlCol="0">
                <a:spAutoFit/>
              </a:bodyPr>
              <a:lstStyle/>
              <a:p>
                <a:r>
                  <a:rPr lang="en-US" sz="2000" dirty="0">
                    <a:latin typeface="Verdana" charset="0"/>
                    <a:ea typeface="Verdana" charset="0"/>
                    <a:cs typeface="Verdana" charset="0"/>
                  </a:rPr>
                  <a:t>Arthur Benjamin (b. 1961) is a professor of mathematics at Harvey </a:t>
                </a:r>
                <a:r>
                  <a:rPr lang="en-US" sz="2000" dirty="0" err="1">
                    <a:latin typeface="Verdana" charset="0"/>
                    <a:ea typeface="Verdana" charset="0"/>
                    <a:cs typeface="Verdana" charset="0"/>
                  </a:rPr>
                  <a:t>Mudd</a:t>
                </a:r>
                <a:r>
                  <a:rPr lang="en-US" sz="2000" dirty="0">
                    <a:latin typeface="Verdana" charset="0"/>
                    <a:ea typeface="Verdana" charset="0"/>
                    <a:cs typeface="Verdana" charset="0"/>
                  </a:rPr>
                  <a:t> College in California. Dr. Benjamin is often referred to as a “</a:t>
                </a:r>
                <a:r>
                  <a:rPr lang="en-US" sz="2000" dirty="0" err="1">
                    <a:latin typeface="Verdana" charset="0"/>
                    <a:ea typeface="Verdana" charset="0"/>
                    <a:cs typeface="Verdana" charset="0"/>
                  </a:rPr>
                  <a:t>mathemagician</a:t>
                </a:r>
                <a:r>
                  <a:rPr lang="en-US" sz="2000" dirty="0">
                    <a:latin typeface="Verdana" charset="0"/>
                    <a:ea typeface="Verdana" charset="0"/>
                    <a:cs typeface="Verdana" charset="0"/>
                  </a:rPr>
                  <a:t>” because he is known for his quick mental computational skills. Dr. Benjamin’s TED talks have been viewed millions of times on the internet.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Try one of Dr. Benjamin’s math “magic tricks.” </a:t>
                </a:r>
              </a:p>
              <a:p>
                <a:r>
                  <a:rPr lang="en-US" sz="2000" dirty="0">
                    <a:latin typeface="Verdana" charset="0"/>
                    <a:ea typeface="Verdana" charset="0"/>
                    <a:cs typeface="Verdana" charset="0"/>
                  </a:rPr>
                  <a:t> </a:t>
                </a:r>
              </a:p>
              <a:p>
                <a:pPr marL="342900" indent="-342900">
                  <a:buFont typeface="Arial" charset="0"/>
                  <a:buChar char="•"/>
                </a:pPr>
                <a:r>
                  <a:rPr lang="en-US" sz="2000" dirty="0">
                    <a:latin typeface="Verdana" charset="0"/>
                    <a:ea typeface="Verdana" charset="0"/>
                    <a:cs typeface="Verdana" charset="0"/>
                  </a:rPr>
                  <a:t>Pick a number between </a:t>
                </a:r>
                <a14:m>
                  <m:oMath xmlns:m="http://schemas.openxmlformats.org/officeDocument/2006/math">
                    <m:r>
                      <a:rPr lang="en-US" sz="2000" i="1">
                        <a:latin typeface="Cambria Math" panose="02040503050406030204" pitchFamily="18" charset="0"/>
                        <a:ea typeface="Verdana" charset="0"/>
                        <a:cs typeface="Verdana" charset="0"/>
                      </a:rPr>
                      <m:t>1</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10</m:t>
                    </m:r>
                  </m:oMath>
                </a14:m>
                <a:r>
                  <a:rPr lang="en-US" sz="2000" dirty="0">
                    <a:latin typeface="Verdana" charset="0"/>
                    <a:ea typeface="Verdana" charset="0"/>
                    <a:cs typeface="Verdana" charset="0"/>
                  </a:rPr>
                  <a:t>.</a:t>
                </a:r>
              </a:p>
              <a:p>
                <a:pPr marL="342900" indent="-342900">
                  <a:buFont typeface="Arial" charset="0"/>
                  <a:buChar char="•"/>
                </a:pPr>
                <a:r>
                  <a:rPr lang="en-US" sz="2000" dirty="0">
                    <a:latin typeface="Verdana" charset="0"/>
                    <a:ea typeface="Verdana" charset="0"/>
                    <a:cs typeface="Verdana" charset="0"/>
                  </a:rPr>
                  <a:t>Double your number.</a:t>
                </a:r>
              </a:p>
              <a:p>
                <a:pPr marL="342900" indent="-342900">
                  <a:buFont typeface="Arial" charset="0"/>
                  <a:buChar char="•"/>
                </a:pPr>
                <a:r>
                  <a:rPr lang="en-US" sz="2000" dirty="0">
                    <a:latin typeface="Verdana" charset="0"/>
                    <a:ea typeface="Verdana" charset="0"/>
                    <a:cs typeface="Verdana" charset="0"/>
                  </a:rPr>
                  <a:t>Add </a:t>
                </a:r>
                <a14:m>
                  <m:oMath xmlns:m="http://schemas.openxmlformats.org/officeDocument/2006/math">
                    <m:r>
                      <a:rPr lang="en-US" sz="2000" i="1">
                        <a:latin typeface="Cambria Math" panose="02040503050406030204" pitchFamily="18" charset="0"/>
                        <a:ea typeface="Verdana" charset="0"/>
                        <a:cs typeface="Verdana" charset="0"/>
                      </a:rPr>
                      <m:t>10</m:t>
                    </m:r>
                  </m:oMath>
                </a14:m>
                <a:r>
                  <a:rPr lang="en-US" sz="2000" dirty="0">
                    <a:latin typeface="Verdana" charset="0"/>
                    <a:ea typeface="Verdana" charset="0"/>
                    <a:cs typeface="Verdana" charset="0"/>
                  </a:rPr>
                  <a:t> to your number. </a:t>
                </a:r>
              </a:p>
              <a:p>
                <a:pPr marL="342900" indent="-342900">
                  <a:buFont typeface="Arial" charset="0"/>
                  <a:buChar char="•"/>
                </a:pPr>
                <a:r>
                  <a:rPr lang="en-US" sz="2000" dirty="0">
                    <a:latin typeface="Verdana" charset="0"/>
                    <a:ea typeface="Verdana" charset="0"/>
                    <a:cs typeface="Verdana" charset="0"/>
                  </a:rPr>
                  <a:t>Divide by </a:t>
                </a:r>
                <a14:m>
                  <m:oMath xmlns:m="http://schemas.openxmlformats.org/officeDocument/2006/math">
                    <m:r>
                      <a:rPr lang="en-US" sz="2000" i="1">
                        <a:latin typeface="Cambria Math" panose="02040503050406030204" pitchFamily="18" charset="0"/>
                        <a:ea typeface="Verdana" charset="0"/>
                        <a:cs typeface="Verdana" charset="0"/>
                      </a:rPr>
                      <m:t>2</m:t>
                    </m:r>
                  </m:oMath>
                </a14:m>
                <a:r>
                  <a:rPr lang="en-US" sz="2000" dirty="0">
                    <a:latin typeface="Verdana" charset="0"/>
                    <a:ea typeface="Verdana" charset="0"/>
                    <a:cs typeface="Verdana" charset="0"/>
                  </a:rPr>
                  <a:t>. </a:t>
                </a:r>
              </a:p>
              <a:p>
                <a:pPr marL="342900" indent="-342900">
                  <a:buFont typeface="Arial" charset="0"/>
                  <a:buChar char="•"/>
                </a:pPr>
                <a:r>
                  <a:rPr lang="en-US" sz="2000" dirty="0">
                    <a:latin typeface="Verdana" charset="0"/>
                    <a:ea typeface="Verdana" charset="0"/>
                    <a:cs typeface="Verdana" charset="0"/>
                  </a:rPr>
                  <a:t>Subtract the number you started with originally.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51064" y="1386025"/>
                <a:ext cx="10961136" cy="3785652"/>
              </a:xfrm>
              <a:prstGeom prst="rect">
                <a:avLst/>
              </a:prstGeom>
              <a:blipFill>
                <a:blip r:embed="rId5"/>
                <a:stretch>
                  <a:fillRect l="-556" t="-805" r="-1057" b="-1932"/>
                </a:stretch>
              </a:blipFill>
            </p:spPr>
            <p:txBody>
              <a:bodyPr/>
              <a:lstStyle/>
              <a:p>
                <a:r>
                  <a:rPr lang="en-US">
                    <a:noFill/>
                  </a:rPr>
                  <a:t> </a:t>
                </a:r>
              </a:p>
            </p:txBody>
          </p:sp>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100</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8619"/>
            <a:ext cx="10697706" cy="409342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What number did you get?</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Compare your number with your partner’s number. What do you notice? </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Why do you think the “trick” works?</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101</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9075"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33574" y="60325"/>
            <a:ext cx="1049034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9.9.2 Collaboration: The Best Package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101</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83767"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74173" y="1386026"/>
                <a:ext cx="10949750" cy="1569660"/>
              </a:xfrm>
              <a:prstGeom prst="rect">
                <a:avLst/>
              </a:prstGeom>
              <a:noFill/>
            </p:spPr>
            <p:txBody>
              <a:bodyPr wrap="square" rtlCol="0">
                <a:spAutoFit/>
              </a:bodyPr>
              <a:lstStyle/>
              <a:p>
                <a:r>
                  <a:rPr lang="en-US" sz="2400" dirty="0">
                    <a:latin typeface="Verdana" charset="0"/>
                    <a:ea typeface="Verdana" charset="0"/>
                    <a:cs typeface="Verdana" charset="0"/>
                  </a:rPr>
                  <a:t>Manuel is a graphic designer and works with various types of packaging. For the artwork, Manuel needs a container with a surface area of at least </a:t>
                </a:r>
                <a14:m>
                  <m:oMath xmlns:m="http://schemas.openxmlformats.org/officeDocument/2006/math">
                    <m:r>
                      <a:rPr lang="en-US" sz="2400" i="1">
                        <a:latin typeface="Cambria Math" panose="02040503050406030204" pitchFamily="18" charset="0"/>
                        <a:ea typeface="Verdana" charset="0"/>
                        <a:cs typeface="Verdana" charset="0"/>
                      </a:rPr>
                      <m:t>250</m:t>
                    </m:r>
                  </m:oMath>
                </a14:m>
                <a:r>
                  <a:rPr lang="en-US" sz="2400" dirty="0">
                    <a:latin typeface="Verdana" charset="0"/>
                    <a:ea typeface="Verdana" charset="0"/>
                    <a:cs typeface="Verdana" charset="0"/>
                  </a:rPr>
                  <a:t> square inches (in.) to ship the company’s products. </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74173" y="1386026"/>
                <a:ext cx="10949750" cy="1569660"/>
              </a:xfrm>
              <a:prstGeom prst="rect">
                <a:avLst/>
              </a:prstGeom>
              <a:blipFill>
                <a:blip r:embed="rId5"/>
                <a:stretch>
                  <a:fillRect l="-835" t="-3101" r="-111" b="-7752"/>
                </a:stretch>
              </a:blipFill>
            </p:spPr>
            <p:txBody>
              <a:bodyPr/>
              <a:lstStyle/>
              <a:p>
                <a:r>
                  <a:rPr lang="en-US">
                    <a:noFill/>
                  </a:rPr>
                  <a:t> </a:t>
                </a:r>
              </a:p>
            </p:txBody>
          </p:sp>
        </mc:Fallback>
      </mc:AlternateContent>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7"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7424" y="6200724"/>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69198"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101</a:t>
            </a:r>
          </a:p>
        </p:txBody>
      </p:sp>
      <p:sp>
        <p:nvSpPr>
          <p:cNvPr id="10" name="TextBox 9">
            <a:extLst>
              <a:ext uri="{FF2B5EF4-FFF2-40B4-BE49-F238E27FC236}">
                <a16:creationId xmlns:a16="http://schemas.microsoft.com/office/drawing/2014/main" id="{E44DF7DE-9172-3E4E-B74A-7A51585FB6EA}"/>
              </a:ext>
            </a:extLst>
          </p:cNvPr>
          <p:cNvSpPr txBox="1"/>
          <p:nvPr/>
        </p:nvSpPr>
        <p:spPr>
          <a:xfrm>
            <a:off x="542062" y="438968"/>
            <a:ext cx="10489732" cy="1200329"/>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The three types of packaging that the company has in stock are shown in the table. Find the surface area for each type of packaging.</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068190577"/>
                  </p:ext>
                </p:extLst>
              </p:nvPr>
            </p:nvGraphicFramePr>
            <p:xfrm>
              <a:off x="727770" y="1698170"/>
              <a:ext cx="7755279" cy="4759504"/>
            </p:xfrm>
            <a:graphic>
              <a:graphicData uri="http://schemas.openxmlformats.org/drawingml/2006/table">
                <a:tbl>
                  <a:tblPr firstRow="1" firstCol="1" bandRow="1"/>
                  <a:tblGrid>
                    <a:gridCol w="2576404">
                      <a:extLst>
                        <a:ext uri="{9D8B030D-6E8A-4147-A177-3AD203B41FA5}">
                          <a16:colId xmlns:a16="http://schemas.microsoft.com/office/drawing/2014/main" val="20000"/>
                        </a:ext>
                      </a:extLst>
                    </a:gridCol>
                    <a:gridCol w="2637953">
                      <a:extLst>
                        <a:ext uri="{9D8B030D-6E8A-4147-A177-3AD203B41FA5}">
                          <a16:colId xmlns:a16="http://schemas.microsoft.com/office/drawing/2014/main" val="20001"/>
                        </a:ext>
                      </a:extLst>
                    </a:gridCol>
                    <a:gridCol w="2540922">
                      <a:extLst>
                        <a:ext uri="{9D8B030D-6E8A-4147-A177-3AD203B41FA5}">
                          <a16:colId xmlns:a16="http://schemas.microsoft.com/office/drawing/2014/main" val="20002"/>
                        </a:ext>
                      </a:extLst>
                    </a:gridCol>
                  </a:tblGrid>
                  <a:tr h="314942">
                    <a:tc>
                      <a:txBody>
                        <a:bodyPr/>
                        <a:lstStyle/>
                        <a:p>
                          <a:pPr marL="0" marR="0" algn="ctr">
                            <a:spcBef>
                              <a:spcPts val="0"/>
                            </a:spcBef>
                            <a:spcAft>
                              <a:spcPts val="0"/>
                            </a:spcAft>
                          </a:pPr>
                          <a:r>
                            <a:rPr lang="en-US" sz="2000" b="1">
                              <a:effectLst/>
                              <a:latin typeface="Verdana" charset="0"/>
                              <a:ea typeface="Verdana" charset="0"/>
                              <a:cs typeface="Verdana" charset="0"/>
                            </a:rPr>
                            <a:t>Packaging</a:t>
                          </a:r>
                          <a:endParaRPr lang="en-US" sz="200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Dimensions</a:t>
                          </a:r>
                          <a:endParaRPr lang="en-US" sz="200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Surface Area</a:t>
                          </a:r>
                          <a:endParaRPr lang="en-US" sz="200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574712">
                    <a:tc>
                      <a:txBody>
                        <a:bodyPr/>
                        <a:lstStyle/>
                        <a:p>
                          <a:pPr marL="0" marR="0">
                            <a:spcBef>
                              <a:spcPts val="0"/>
                            </a:spcBef>
                            <a:spcAft>
                              <a:spcPts val="0"/>
                            </a:spcAft>
                          </a:pPr>
                          <a:r>
                            <a:rPr lang="en-US" sz="2000">
                              <a:effectLst/>
                              <a:latin typeface="Verdana" charset="0"/>
                              <a:ea typeface="Verdana" charset="0"/>
                              <a:cs typeface="Verdana" charset="0"/>
                            </a:rPr>
                            <a:t>Rectangular Prism</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br>
                            <a:rPr lang="en-US" sz="2000">
                              <a:effectLst/>
                              <a:latin typeface="Verdana" charset="0"/>
                              <a:ea typeface="Verdana" charset="0"/>
                              <a:cs typeface="Verdana" charset="0"/>
                            </a:rPr>
                          </a:br>
                          <a14:m>
                            <m:oMath xmlns:m="http://schemas.openxmlformats.org/officeDocument/2006/math">
                              <m:r>
                                <a:rPr lang="en-US" sz="2000" i="1">
                                  <a:effectLst/>
                                  <a:latin typeface="Cambria Math" panose="02040503050406030204" pitchFamily="18" charset="0"/>
                                  <a:ea typeface="Verdana" charset="0"/>
                                  <a:cs typeface="Verdana" charset="0"/>
                                </a:rPr>
                                <m:t>𝑙</m:t>
                              </m:r>
                              <m:r>
                                <a:rPr lang="en-US" sz="2000" i="1">
                                  <a:effectLst/>
                                  <a:latin typeface="Cambria Math" panose="02040503050406030204" pitchFamily="18" charset="0"/>
                                  <a:ea typeface="Verdana" charset="0"/>
                                  <a:cs typeface="Verdana" charset="0"/>
                                </a:rPr>
                                <m:t>:7</m:t>
                              </m:r>
                            </m:oMath>
                          </a14:m>
                          <a:r>
                            <a:rPr lang="en-US" sz="2000">
                              <a:effectLst/>
                              <a:latin typeface="Verdana" charset="0"/>
                              <a:ea typeface="Verdana" charset="0"/>
                              <a:cs typeface="Verdana" charset="0"/>
                            </a:rPr>
                            <a:t> in.</a:t>
                          </a:r>
                        </a:p>
                        <a:p>
                          <a:pPr marL="0" marR="0">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𝑤</m:t>
                              </m:r>
                              <m:r>
                                <a:rPr lang="en-US" sz="2000" i="1">
                                  <a:effectLst/>
                                  <a:latin typeface="Cambria Math" panose="02040503050406030204" pitchFamily="18" charset="0"/>
                                  <a:ea typeface="Verdana" charset="0"/>
                                  <a:cs typeface="Verdana" charset="0"/>
                                </a:rPr>
                                <m:t>:10</m:t>
                              </m:r>
                            </m:oMath>
                          </a14:m>
                          <a:r>
                            <a:rPr lang="en-US" sz="2000">
                              <a:effectLst/>
                              <a:latin typeface="Verdana" charset="0"/>
                              <a:ea typeface="Verdana" charset="0"/>
                              <a:cs typeface="Verdana" charset="0"/>
                            </a:rPr>
                            <a:t> in.</a:t>
                          </a:r>
                        </a:p>
                        <a:p>
                          <a:pPr marL="0" marR="0">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h</m:t>
                              </m:r>
                              <m:r>
                                <a:rPr lang="en-US" sz="2000" i="1">
                                  <a:effectLst/>
                                  <a:latin typeface="Cambria Math" panose="02040503050406030204" pitchFamily="18" charset="0"/>
                                  <a:ea typeface="Verdana" charset="0"/>
                                  <a:cs typeface="Verdana" charset="0"/>
                                </a:rPr>
                                <m:t>:4</m:t>
                              </m:r>
                            </m:oMath>
                          </a14:m>
                          <a:r>
                            <a:rPr lang="en-US" sz="2000">
                              <a:effectLst/>
                              <a:latin typeface="Verdana" charset="0"/>
                              <a:ea typeface="Verdana" charset="0"/>
                              <a:cs typeface="Verdana" charset="0"/>
                            </a:rPr>
                            <a:t> in.</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65373">
                    <a:tc>
                      <a:txBody>
                        <a:bodyPr/>
                        <a:lstStyle/>
                        <a:p>
                          <a:pPr marL="0" marR="0">
                            <a:spcBef>
                              <a:spcPts val="0"/>
                            </a:spcBef>
                            <a:spcAft>
                              <a:spcPts val="0"/>
                            </a:spcAft>
                          </a:pPr>
                          <a:r>
                            <a:rPr lang="en-US" sz="2000" dirty="0">
                              <a:effectLst/>
                              <a:latin typeface="Verdana" charset="0"/>
                              <a:ea typeface="Verdana" charset="0"/>
                              <a:cs typeface="Verdana" charset="0"/>
                            </a:rPr>
                            <a:t>Cylinder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br>
                            <a:rPr lang="en-US" sz="2000">
                              <a:effectLst/>
                              <a:latin typeface="Verdana" charset="0"/>
                              <a:ea typeface="Verdana" charset="0"/>
                              <a:cs typeface="Verdana" charset="0"/>
                            </a:rPr>
                          </a:br>
                          <a14:m>
                            <m:oMath xmlns:m="http://schemas.openxmlformats.org/officeDocument/2006/math">
                              <m:r>
                                <a:rPr lang="en-US" sz="2000" i="1">
                                  <a:effectLst/>
                                  <a:latin typeface="Cambria Math" panose="02040503050406030204" pitchFamily="18" charset="0"/>
                                  <a:ea typeface="Verdana" charset="0"/>
                                  <a:cs typeface="Verdana" charset="0"/>
                                </a:rPr>
                                <m:t>𝑑</m:t>
                              </m:r>
                              <m:r>
                                <a:rPr lang="en-US" sz="2000" i="1">
                                  <a:effectLst/>
                                  <a:latin typeface="Cambria Math" panose="02040503050406030204" pitchFamily="18" charset="0"/>
                                  <a:ea typeface="Verdana" charset="0"/>
                                  <a:cs typeface="Verdana" charset="0"/>
                                </a:rPr>
                                <m:t>:8</m:t>
                              </m:r>
                            </m:oMath>
                          </a14:m>
                          <a:r>
                            <a:rPr lang="en-US" sz="2000">
                              <a:effectLst/>
                              <a:latin typeface="Verdana" charset="0"/>
                              <a:ea typeface="Verdana" charset="0"/>
                              <a:cs typeface="Verdana" charset="0"/>
                            </a:rPr>
                            <a:t> in.</a:t>
                          </a:r>
                        </a:p>
                        <a:p>
                          <a:pPr marL="0" marR="0">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h</m:t>
                              </m:r>
                              <m:r>
                                <a:rPr lang="en-US" sz="2000" i="1">
                                  <a:effectLst/>
                                  <a:latin typeface="Cambria Math" panose="02040503050406030204" pitchFamily="18" charset="0"/>
                                  <a:ea typeface="Verdana" charset="0"/>
                                  <a:cs typeface="Verdana" charset="0"/>
                                </a:rPr>
                                <m:t>:8</m:t>
                              </m:r>
                            </m:oMath>
                          </a14:m>
                          <a:r>
                            <a:rPr lang="en-US" sz="2000">
                              <a:effectLst/>
                              <a:latin typeface="Verdana" charset="0"/>
                              <a:ea typeface="Verdana" charset="0"/>
                              <a:cs typeface="Verdana" charset="0"/>
                            </a:rPr>
                            <a:t> in.</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04477">
                    <a:tc>
                      <a:txBody>
                        <a:bodyPr/>
                        <a:lstStyle/>
                        <a:p>
                          <a:pPr marL="0" marR="0">
                            <a:spcBef>
                              <a:spcPts val="0"/>
                            </a:spcBef>
                            <a:spcAft>
                              <a:spcPts val="0"/>
                            </a:spcAft>
                          </a:pPr>
                          <a:r>
                            <a:rPr lang="en-US" sz="2000" dirty="0">
                              <a:effectLst/>
                              <a:latin typeface="Verdana" charset="0"/>
                              <a:ea typeface="Verdana" charset="0"/>
                              <a:cs typeface="Verdana" charset="0"/>
                            </a:rPr>
                            <a:t>Cube</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br>
                            <a:rPr lang="en-US" sz="2000" dirty="0">
                              <a:effectLst/>
                              <a:latin typeface="Verdana" charset="0"/>
                              <a:ea typeface="Verdana" charset="0"/>
                              <a:cs typeface="Verdana" charset="0"/>
                            </a:rPr>
                          </a:br>
                          <a14:m>
                            <m:oMath xmlns:m="http://schemas.openxmlformats.org/officeDocument/2006/math">
                              <m:r>
                                <a:rPr lang="en-US" sz="2000" i="1">
                                  <a:effectLst/>
                                  <a:latin typeface="Cambria Math" panose="02040503050406030204" pitchFamily="18" charset="0"/>
                                  <a:ea typeface="Verdana" charset="0"/>
                                  <a:cs typeface="Verdana" charset="0"/>
                                </a:rPr>
                                <m:t>𝑠</m:t>
                              </m:r>
                              <m:r>
                                <a:rPr lang="en-US" sz="2000" i="1">
                                  <a:effectLst/>
                                  <a:latin typeface="Cambria Math" panose="02040503050406030204" pitchFamily="18" charset="0"/>
                                  <a:ea typeface="Verdana" charset="0"/>
                                  <a:cs typeface="Verdana" charset="0"/>
                                </a:rPr>
                                <m:t>:12</m:t>
                              </m:r>
                            </m:oMath>
                          </a14:m>
                          <a:r>
                            <a:rPr lang="en-US" sz="2000" dirty="0">
                              <a:effectLst/>
                              <a:latin typeface="Verdana" charset="0"/>
                              <a:ea typeface="Verdana" charset="0"/>
                              <a:cs typeface="Verdana" charset="0"/>
                            </a:rPr>
                            <a:t> in.</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068190577"/>
                  </p:ext>
                </p:extLst>
              </p:nvPr>
            </p:nvGraphicFramePr>
            <p:xfrm>
              <a:off x="727770" y="1698170"/>
              <a:ext cx="7755279" cy="4759504"/>
            </p:xfrm>
            <a:graphic>
              <a:graphicData uri="http://schemas.openxmlformats.org/drawingml/2006/table">
                <a:tbl>
                  <a:tblPr firstRow="1" firstCol="1" bandRow="1"/>
                  <a:tblGrid>
                    <a:gridCol w="2576404">
                      <a:extLst>
                        <a:ext uri="{9D8B030D-6E8A-4147-A177-3AD203B41FA5}">
                          <a16:colId xmlns:a16="http://schemas.microsoft.com/office/drawing/2014/main" val="20000"/>
                        </a:ext>
                      </a:extLst>
                    </a:gridCol>
                    <a:gridCol w="2637953">
                      <a:extLst>
                        <a:ext uri="{9D8B030D-6E8A-4147-A177-3AD203B41FA5}">
                          <a16:colId xmlns:a16="http://schemas.microsoft.com/office/drawing/2014/main" val="20001"/>
                        </a:ext>
                      </a:extLst>
                    </a:gridCol>
                    <a:gridCol w="2540922">
                      <a:extLst>
                        <a:ext uri="{9D8B030D-6E8A-4147-A177-3AD203B41FA5}">
                          <a16:colId xmlns:a16="http://schemas.microsoft.com/office/drawing/2014/main" val="20002"/>
                        </a:ext>
                      </a:extLst>
                    </a:gridCol>
                  </a:tblGrid>
                  <a:tr h="314942">
                    <a:tc>
                      <a:txBody>
                        <a:bodyPr/>
                        <a:lstStyle/>
                        <a:p>
                          <a:pPr marL="0" marR="0" algn="ctr">
                            <a:spcBef>
                              <a:spcPts val="0"/>
                            </a:spcBef>
                            <a:spcAft>
                              <a:spcPts val="0"/>
                            </a:spcAft>
                          </a:pPr>
                          <a:r>
                            <a:rPr lang="en-US" sz="2000" b="1">
                              <a:effectLst/>
                              <a:latin typeface="Verdana" charset="0"/>
                              <a:ea typeface="Verdana" charset="0"/>
                              <a:cs typeface="Verdana" charset="0"/>
                            </a:rPr>
                            <a:t>Packaging</a:t>
                          </a:r>
                          <a:endParaRPr lang="en-US" sz="200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Dimensions</a:t>
                          </a:r>
                          <a:endParaRPr lang="en-US" sz="200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Surface Area</a:t>
                          </a:r>
                          <a:endParaRPr lang="en-US" sz="200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574712">
                    <a:tc>
                      <a:txBody>
                        <a:bodyPr/>
                        <a:lstStyle/>
                        <a:p>
                          <a:pPr marL="0" marR="0">
                            <a:spcBef>
                              <a:spcPts val="0"/>
                            </a:spcBef>
                            <a:spcAft>
                              <a:spcPts val="0"/>
                            </a:spcAft>
                          </a:pPr>
                          <a:r>
                            <a:rPr lang="en-US" sz="2000">
                              <a:effectLst/>
                              <a:latin typeface="Verdana" charset="0"/>
                              <a:ea typeface="Verdana" charset="0"/>
                              <a:cs typeface="Verdana" charset="0"/>
                            </a:rPr>
                            <a:t>Rectangular Prism</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7921" t="-24806" r="-96767" b="-183721"/>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65373">
                    <a:tc>
                      <a:txBody>
                        <a:bodyPr/>
                        <a:lstStyle/>
                        <a:p>
                          <a:pPr marL="0" marR="0">
                            <a:spcBef>
                              <a:spcPts val="0"/>
                            </a:spcBef>
                            <a:spcAft>
                              <a:spcPts val="0"/>
                            </a:spcAft>
                          </a:pPr>
                          <a:r>
                            <a:rPr lang="en-US" sz="2000" dirty="0">
                              <a:effectLst/>
                              <a:latin typeface="Verdana" charset="0"/>
                              <a:ea typeface="Verdana" charset="0"/>
                              <a:cs typeface="Verdana" charset="0"/>
                            </a:rPr>
                            <a:t>Cylinder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7921" t="-124806" r="-96767" b="-83721"/>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04477">
                    <a:tc>
                      <a:txBody>
                        <a:bodyPr/>
                        <a:lstStyle/>
                        <a:p>
                          <a:pPr marL="0" marR="0">
                            <a:spcBef>
                              <a:spcPts val="0"/>
                            </a:spcBef>
                            <a:spcAft>
                              <a:spcPts val="0"/>
                            </a:spcAft>
                          </a:pPr>
                          <a:r>
                            <a:rPr lang="en-US" sz="2000" dirty="0">
                              <a:effectLst/>
                              <a:latin typeface="Verdana" charset="0"/>
                              <a:ea typeface="Verdana" charset="0"/>
                              <a:cs typeface="Verdana" charset="0"/>
                            </a:rPr>
                            <a:t>Cube</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7921" t="-271028" r="-96767" b="-935"/>
                          </a:stretch>
                        </a:blipFill>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11" name="Cube 10"/>
          <p:cNvSpPr/>
          <p:nvPr/>
        </p:nvSpPr>
        <p:spPr>
          <a:xfrm>
            <a:off x="984914" y="2422568"/>
            <a:ext cx="2019300" cy="869950"/>
          </a:xfrm>
          <a:prstGeom prst="cube">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Can 11"/>
          <p:cNvSpPr/>
          <p:nvPr/>
        </p:nvSpPr>
        <p:spPr>
          <a:xfrm>
            <a:off x="1641460" y="3933427"/>
            <a:ext cx="930275" cy="1020762"/>
          </a:xfrm>
          <a:prstGeom prst="can">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Cube 12"/>
          <p:cNvSpPr/>
          <p:nvPr/>
        </p:nvSpPr>
        <p:spPr>
          <a:xfrm>
            <a:off x="1641460" y="5408476"/>
            <a:ext cx="960437" cy="922338"/>
          </a:xfrm>
          <a:prstGeom prst="cube">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013351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101</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8327136" cy="400110"/>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Rank the packaging’s surface area from smallest to largest. </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989562697"/>
                  </p:ext>
                </p:extLst>
              </p:nvPr>
            </p:nvGraphicFramePr>
            <p:xfrm>
              <a:off x="1348158" y="1331702"/>
              <a:ext cx="6711950" cy="1950343"/>
            </p:xfrm>
            <a:graphic>
              <a:graphicData uri="http://schemas.openxmlformats.org/drawingml/2006/table">
                <a:tbl>
                  <a:tblPr firstRow="1" firstCol="1" bandRow="1"/>
                  <a:tblGrid>
                    <a:gridCol w="3343275">
                      <a:extLst>
                        <a:ext uri="{9D8B030D-6E8A-4147-A177-3AD203B41FA5}">
                          <a16:colId xmlns:a16="http://schemas.microsoft.com/office/drawing/2014/main" val="20000"/>
                        </a:ext>
                      </a:extLst>
                    </a:gridCol>
                    <a:gridCol w="3368675">
                      <a:extLst>
                        <a:ext uri="{9D8B030D-6E8A-4147-A177-3AD203B41FA5}">
                          <a16:colId xmlns:a16="http://schemas.microsoft.com/office/drawing/2014/main" val="20001"/>
                        </a:ext>
                      </a:extLst>
                    </a:gridCol>
                  </a:tblGrid>
                  <a:tr h="480918">
                    <a:tc>
                      <a:txBody>
                        <a:bodyPr/>
                        <a:lstStyle/>
                        <a:p>
                          <a:pPr marL="0" marR="0" algn="ctr">
                            <a:spcBef>
                              <a:spcPts val="0"/>
                            </a:spcBef>
                            <a:spcAft>
                              <a:spcPts val="0"/>
                            </a:spcAft>
                          </a:pPr>
                          <a:r>
                            <a:rPr lang="en-US" sz="2000" b="1">
                              <a:effectLst/>
                              <a:latin typeface="Verdana" charset="0"/>
                              <a:ea typeface="Verdana" charset="0"/>
                              <a:cs typeface="Verdana" charset="0"/>
                            </a:rPr>
                            <a:t>Rank</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Packaging</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80918">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1 </m:t>
                              </m:r>
                            </m:oMath>
                          </a14:m>
                          <a:r>
                            <a:rPr lang="en-US" sz="2000">
                              <a:effectLst/>
                              <a:latin typeface="Verdana" charset="0"/>
                              <a:ea typeface="Verdana" charset="0"/>
                              <a:cs typeface="Verdana" charset="0"/>
                            </a:rPr>
                            <a:t>(smallest)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091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7589">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3</m:t>
                              </m:r>
                            </m:oMath>
                          </a14:m>
                          <a:r>
                            <a:rPr lang="en-US" sz="2000">
                              <a:effectLst/>
                              <a:latin typeface="Verdana" charset="0"/>
                              <a:ea typeface="Verdana" charset="0"/>
                              <a:cs typeface="Verdana" charset="0"/>
                            </a:rPr>
                            <a:t> (largest)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989562697"/>
                  </p:ext>
                </p:extLst>
              </p:nvPr>
            </p:nvGraphicFramePr>
            <p:xfrm>
              <a:off x="1348158" y="1331702"/>
              <a:ext cx="6711950" cy="1950343"/>
            </p:xfrm>
            <a:graphic>
              <a:graphicData uri="http://schemas.openxmlformats.org/drawingml/2006/table">
                <a:tbl>
                  <a:tblPr firstRow="1" firstCol="1" bandRow="1"/>
                  <a:tblGrid>
                    <a:gridCol w="3343275">
                      <a:extLst>
                        <a:ext uri="{9D8B030D-6E8A-4147-A177-3AD203B41FA5}">
                          <a16:colId xmlns:a16="http://schemas.microsoft.com/office/drawing/2014/main" val="20000"/>
                        </a:ext>
                      </a:extLst>
                    </a:gridCol>
                    <a:gridCol w="3368675">
                      <a:extLst>
                        <a:ext uri="{9D8B030D-6E8A-4147-A177-3AD203B41FA5}">
                          <a16:colId xmlns:a16="http://schemas.microsoft.com/office/drawing/2014/main" val="20001"/>
                        </a:ext>
                      </a:extLst>
                    </a:gridCol>
                  </a:tblGrid>
                  <a:tr h="480918">
                    <a:tc>
                      <a:txBody>
                        <a:bodyPr/>
                        <a:lstStyle/>
                        <a:p>
                          <a:pPr marL="0" marR="0" algn="ctr">
                            <a:spcBef>
                              <a:spcPts val="0"/>
                            </a:spcBef>
                            <a:spcAft>
                              <a:spcPts val="0"/>
                            </a:spcAft>
                          </a:pPr>
                          <a:r>
                            <a:rPr lang="en-US" sz="2000" b="1">
                              <a:effectLst/>
                              <a:latin typeface="Verdana" charset="0"/>
                              <a:ea typeface="Verdana" charset="0"/>
                              <a:cs typeface="Verdana" charset="0"/>
                            </a:rPr>
                            <a:t>Rank</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Packaging</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80918">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82" t="-116456" r="-101093" b="-216456"/>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0918">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82" t="-216456" r="-101093" b="-116456"/>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7589">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82" t="-297619" r="-101093" b="-9524"/>
                          </a:stretch>
                        </a:blipFill>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1841022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6"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7423" y="6200598"/>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69197" y="6457673"/>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101</a:t>
            </a:r>
          </a:p>
        </p:txBody>
      </p:sp>
      <p:sp>
        <p:nvSpPr>
          <p:cNvPr id="10" name="TextBox 9">
            <a:extLst>
              <a:ext uri="{FF2B5EF4-FFF2-40B4-BE49-F238E27FC236}">
                <a16:creationId xmlns:a16="http://schemas.microsoft.com/office/drawing/2014/main" id="{E44DF7DE-9172-3E4E-B74A-7A51585FB6EA}"/>
              </a:ext>
            </a:extLst>
          </p:cNvPr>
          <p:cNvSpPr txBox="1"/>
          <p:nvPr/>
        </p:nvSpPr>
        <p:spPr>
          <a:xfrm>
            <a:off x="542060" y="438967"/>
            <a:ext cx="10356997" cy="707886"/>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The prices for packaging are listed in the table. Based on the surface area of each package, find the cost of each type of packaging. </a:t>
            </a: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1892329187"/>
                  </p:ext>
                </p:extLst>
              </p:nvPr>
            </p:nvGraphicFramePr>
            <p:xfrm>
              <a:off x="727769" y="1698170"/>
              <a:ext cx="7755279" cy="4759505"/>
            </p:xfrm>
            <a:graphic>
              <a:graphicData uri="http://schemas.openxmlformats.org/drawingml/2006/table">
                <a:tbl>
                  <a:tblPr firstRow="1" firstCol="1" bandRow="1"/>
                  <a:tblGrid>
                    <a:gridCol w="2576404">
                      <a:extLst>
                        <a:ext uri="{9D8B030D-6E8A-4147-A177-3AD203B41FA5}">
                          <a16:colId xmlns:a16="http://schemas.microsoft.com/office/drawing/2014/main" val="20000"/>
                        </a:ext>
                      </a:extLst>
                    </a:gridCol>
                    <a:gridCol w="2637953">
                      <a:extLst>
                        <a:ext uri="{9D8B030D-6E8A-4147-A177-3AD203B41FA5}">
                          <a16:colId xmlns:a16="http://schemas.microsoft.com/office/drawing/2014/main" val="20001"/>
                        </a:ext>
                      </a:extLst>
                    </a:gridCol>
                    <a:gridCol w="2540922">
                      <a:extLst>
                        <a:ext uri="{9D8B030D-6E8A-4147-A177-3AD203B41FA5}">
                          <a16:colId xmlns:a16="http://schemas.microsoft.com/office/drawing/2014/main" val="20002"/>
                        </a:ext>
                      </a:extLst>
                    </a:gridCol>
                  </a:tblGrid>
                  <a:tr h="634601">
                    <a:tc>
                      <a:txBody>
                        <a:bodyPr/>
                        <a:lstStyle/>
                        <a:p>
                          <a:pPr marL="0" marR="0" algn="ctr">
                            <a:spcBef>
                              <a:spcPts val="0"/>
                            </a:spcBef>
                            <a:spcAft>
                              <a:spcPts val="0"/>
                            </a:spcAft>
                          </a:pPr>
                          <a:r>
                            <a:rPr lang="en-US" sz="2000" b="1">
                              <a:effectLst/>
                              <a:latin typeface="Verdana" charset="0"/>
                              <a:ea typeface="Verdana" charset="0"/>
                              <a:cs typeface="Verdana" charset="0"/>
                            </a:rPr>
                            <a:t>Packaging</a:t>
                          </a:r>
                          <a:endParaRPr lang="en-US" sz="200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Pricing</a:t>
                          </a:r>
                          <a:endParaRPr lang="en-US" sz="2000" dirty="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Cost of Packaging</a:t>
                          </a:r>
                          <a:endParaRPr lang="en-US" sz="2000" dirty="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586502">
                    <a:tc>
                      <a:txBody>
                        <a:bodyPr/>
                        <a:lstStyle/>
                        <a:p>
                          <a:pPr marL="0" marR="0">
                            <a:spcBef>
                              <a:spcPts val="0"/>
                            </a:spcBef>
                            <a:spcAft>
                              <a:spcPts val="0"/>
                            </a:spcAft>
                          </a:pPr>
                          <a:r>
                            <a:rPr lang="en-US" sz="2000">
                              <a:effectLst/>
                              <a:latin typeface="Verdana" charset="0"/>
                              <a:ea typeface="Verdana" charset="0"/>
                              <a:cs typeface="Verdana" charset="0"/>
                            </a:rPr>
                            <a:t>Rectangular Prism</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br>
                            <a:rPr lang="en-US" sz="2000" dirty="0">
                              <a:effectLst/>
                              <a:latin typeface="Verdana" charset="0"/>
                              <a:ea typeface="Verdana" charset="0"/>
                              <a:cs typeface="Verdana" charset="0"/>
                            </a:rPr>
                          </a:br>
                          <a14:m>
                            <m:oMath xmlns:m="http://schemas.openxmlformats.org/officeDocument/2006/math">
                              <m:r>
                                <a:rPr lang="en-US" sz="2000" b="0" i="1" u="none" strike="noStrike" cap="none" smtClean="0">
                                  <a:solidFill>
                                    <a:schemeClr val="tx1"/>
                                  </a:solidFill>
                                  <a:effectLst/>
                                  <a:latin typeface="Cambria Math" panose="02040503050406030204" pitchFamily="18" charset="0"/>
                                  <a:ea typeface="Verdana" charset="0"/>
                                  <a:cs typeface="Verdana" charset="0"/>
                                  <a:sym typeface="Arial"/>
                                </a:rPr>
                                <m:t>$1.75</m:t>
                              </m:r>
                            </m:oMath>
                          </a14:m>
                          <a:r>
                            <a:rPr lang="en-US" sz="2000" b="0" i="0" u="none" strike="noStrike" cap="none" dirty="0">
                              <a:solidFill>
                                <a:schemeClr val="tx1"/>
                              </a:solidFill>
                              <a:effectLst/>
                              <a:latin typeface="Verdana" charset="0"/>
                              <a:ea typeface="Verdana" charset="0"/>
                              <a:cs typeface="Verdana" charset="0"/>
                              <a:sym typeface="Arial"/>
                            </a:rPr>
                            <a:t> per </a:t>
                          </a:r>
                          <a14:m>
                            <m:oMath xmlns:m="http://schemas.openxmlformats.org/officeDocument/2006/math">
                              <m:r>
                                <a:rPr lang="en-US" sz="2000" b="0" i="1" u="none" strike="noStrike" cap="none">
                                  <a:solidFill>
                                    <a:schemeClr val="tx1"/>
                                  </a:solidFill>
                                  <a:effectLst/>
                                  <a:latin typeface="Cambria Math" panose="02040503050406030204" pitchFamily="18" charset="0"/>
                                  <a:ea typeface="Verdana" charset="0"/>
                                  <a:cs typeface="Verdana" charset="0"/>
                                  <a:sym typeface="Arial"/>
                                </a:rPr>
                                <m:t>100</m:t>
                              </m:r>
                            </m:oMath>
                          </a14:m>
                          <a:r>
                            <a:rPr lang="en-US" sz="2000" b="0" i="0" u="none" strike="noStrike" cap="none" dirty="0">
                              <a:solidFill>
                                <a:schemeClr val="tx1"/>
                              </a:solidFill>
                              <a:effectLst/>
                              <a:latin typeface="Verdana" charset="0"/>
                              <a:ea typeface="Verdana" charset="0"/>
                              <a:cs typeface="Verdana" charset="0"/>
                              <a:sym typeface="Arial"/>
                            </a:rPr>
                            <a:t> square inches. </a:t>
                          </a:r>
                          <a:endParaRPr lang="en-US" sz="2000" dirty="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69201">
                    <a:tc>
                      <a:txBody>
                        <a:bodyPr/>
                        <a:lstStyle/>
                        <a:p>
                          <a:pPr marL="0" marR="0">
                            <a:spcBef>
                              <a:spcPts val="0"/>
                            </a:spcBef>
                            <a:spcAft>
                              <a:spcPts val="0"/>
                            </a:spcAft>
                          </a:pPr>
                          <a:r>
                            <a:rPr lang="en-US" sz="2000" dirty="0">
                              <a:effectLst/>
                              <a:latin typeface="Verdana" charset="0"/>
                              <a:ea typeface="Verdana" charset="0"/>
                              <a:cs typeface="Verdana" charset="0"/>
                            </a:rPr>
                            <a:t>Cylinder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br>
                            <a:rPr lang="en-US" sz="2000" dirty="0">
                              <a:effectLst/>
                              <a:latin typeface="Verdana" charset="0"/>
                              <a:ea typeface="Verdana" charset="0"/>
                              <a:cs typeface="Verdana" charset="0"/>
                            </a:rPr>
                          </a:br>
                          <a14:m>
                            <m:oMath xmlns:m="http://schemas.openxmlformats.org/officeDocument/2006/math">
                              <m:r>
                                <a:rPr lang="en-US" sz="2000" b="0" i="1" u="none" strike="noStrike" cap="none" smtClean="0">
                                  <a:solidFill>
                                    <a:schemeClr val="tx1"/>
                                  </a:solidFill>
                                  <a:effectLst/>
                                  <a:latin typeface="Cambria Math" panose="02040503050406030204" pitchFamily="18" charset="0"/>
                                  <a:ea typeface="Verdana" charset="0"/>
                                  <a:cs typeface="Verdana" charset="0"/>
                                  <a:sym typeface="Arial"/>
                                </a:rPr>
                                <m:t>$2.25</m:t>
                              </m:r>
                            </m:oMath>
                          </a14:m>
                          <a:r>
                            <a:rPr lang="en-US" sz="2000" b="0" i="0" u="none" strike="noStrike" cap="none" dirty="0">
                              <a:solidFill>
                                <a:schemeClr val="tx1"/>
                              </a:solidFill>
                              <a:effectLst/>
                              <a:latin typeface="Verdana" charset="0"/>
                              <a:ea typeface="Verdana" charset="0"/>
                              <a:cs typeface="Verdana" charset="0"/>
                              <a:sym typeface="Arial"/>
                            </a:rPr>
                            <a:t> per </a:t>
                          </a:r>
                          <a14:m>
                            <m:oMath xmlns:m="http://schemas.openxmlformats.org/officeDocument/2006/math">
                              <m:r>
                                <a:rPr lang="en-US" sz="2000" b="0" i="1" u="none" strike="noStrike" cap="none">
                                  <a:solidFill>
                                    <a:schemeClr val="tx1"/>
                                  </a:solidFill>
                                  <a:effectLst/>
                                  <a:latin typeface="Cambria Math" panose="02040503050406030204" pitchFamily="18" charset="0"/>
                                  <a:ea typeface="Verdana" charset="0"/>
                                  <a:cs typeface="Verdana" charset="0"/>
                                  <a:sym typeface="Arial"/>
                                </a:rPr>
                                <m:t>100</m:t>
                              </m:r>
                            </m:oMath>
                          </a14:m>
                          <a:r>
                            <a:rPr lang="en-US" sz="2000" b="0" i="0" u="none" strike="noStrike" cap="none" dirty="0">
                              <a:solidFill>
                                <a:schemeClr val="tx1"/>
                              </a:solidFill>
                              <a:effectLst/>
                              <a:latin typeface="Verdana" charset="0"/>
                              <a:ea typeface="Verdana" charset="0"/>
                              <a:cs typeface="Verdana" charset="0"/>
                              <a:sym typeface="Arial"/>
                            </a:rPr>
                            <a:t> square inches. </a:t>
                          </a:r>
                          <a:endParaRPr lang="en-US" sz="2000" dirty="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69201">
                    <a:tc>
                      <a:txBody>
                        <a:bodyPr/>
                        <a:lstStyle/>
                        <a:p>
                          <a:pPr marL="0" marR="0">
                            <a:spcBef>
                              <a:spcPts val="0"/>
                            </a:spcBef>
                            <a:spcAft>
                              <a:spcPts val="0"/>
                            </a:spcAft>
                          </a:pPr>
                          <a:r>
                            <a:rPr lang="en-US" sz="2000" dirty="0">
                              <a:effectLst/>
                              <a:latin typeface="Verdana" charset="0"/>
                              <a:ea typeface="Verdana" charset="0"/>
                              <a:cs typeface="Verdana" charset="0"/>
                            </a:rPr>
                            <a:t>Cube</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br>
                            <a:rPr lang="en-US" sz="2000" dirty="0">
                              <a:effectLst/>
                              <a:latin typeface="Verdana" charset="0"/>
                              <a:ea typeface="Verdana" charset="0"/>
                              <a:cs typeface="Verdana" charset="0"/>
                            </a:rPr>
                          </a:br>
                          <a14:m>
                            <m:oMath xmlns:m="http://schemas.openxmlformats.org/officeDocument/2006/math">
                              <m:r>
                                <a:rPr lang="en-US" sz="2000" b="0" i="1" u="none" strike="noStrike" cap="none" smtClean="0">
                                  <a:solidFill>
                                    <a:schemeClr val="tx1"/>
                                  </a:solidFill>
                                  <a:effectLst/>
                                  <a:latin typeface="Cambria Math" panose="02040503050406030204" pitchFamily="18" charset="0"/>
                                  <a:ea typeface="Verdana" charset="0"/>
                                  <a:cs typeface="Verdana" charset="0"/>
                                  <a:sym typeface="Arial"/>
                                </a:rPr>
                                <m:t>$1.25</m:t>
                              </m:r>
                            </m:oMath>
                          </a14:m>
                          <a:r>
                            <a:rPr lang="en-US" sz="2000" b="0" i="0" u="none" strike="noStrike" cap="none" dirty="0">
                              <a:solidFill>
                                <a:schemeClr val="tx1"/>
                              </a:solidFill>
                              <a:effectLst/>
                              <a:latin typeface="Verdana" charset="0"/>
                              <a:ea typeface="Verdana" charset="0"/>
                              <a:cs typeface="Verdana" charset="0"/>
                              <a:sym typeface="Arial"/>
                            </a:rPr>
                            <a:t> per </a:t>
                          </a:r>
                          <a14:m>
                            <m:oMath xmlns:m="http://schemas.openxmlformats.org/officeDocument/2006/math">
                              <m:r>
                                <a:rPr lang="en-US" sz="2000" b="0" i="1" u="none" strike="noStrike" cap="none">
                                  <a:solidFill>
                                    <a:schemeClr val="tx1"/>
                                  </a:solidFill>
                                  <a:effectLst/>
                                  <a:latin typeface="Cambria Math" panose="02040503050406030204" pitchFamily="18" charset="0"/>
                                  <a:ea typeface="Verdana" charset="0"/>
                                  <a:cs typeface="Verdana" charset="0"/>
                                  <a:sym typeface="Arial"/>
                                </a:rPr>
                                <m:t>100</m:t>
                              </m:r>
                            </m:oMath>
                          </a14:m>
                          <a:r>
                            <a:rPr lang="en-US" sz="2000" b="0" i="0" u="none" strike="noStrike" cap="none" dirty="0">
                              <a:solidFill>
                                <a:schemeClr val="tx1"/>
                              </a:solidFill>
                              <a:effectLst/>
                              <a:latin typeface="Verdana" charset="0"/>
                              <a:ea typeface="Verdana" charset="0"/>
                              <a:cs typeface="Verdana" charset="0"/>
                              <a:sym typeface="Arial"/>
                            </a:rPr>
                            <a:t> </a:t>
                          </a:r>
                          <a:r>
                            <a:rPr lang="en-US" sz="2000" b="0" i="0" u="none" strike="noStrike" cap="none">
                              <a:solidFill>
                                <a:schemeClr val="tx1"/>
                              </a:solidFill>
                              <a:effectLst/>
                              <a:latin typeface="Verdana" charset="0"/>
                              <a:ea typeface="Verdana" charset="0"/>
                              <a:cs typeface="Verdana" charset="0"/>
                              <a:sym typeface="Arial"/>
                            </a:rPr>
                            <a:t>square inches. </a:t>
                          </a:r>
                          <a:endParaRPr lang="en-US" sz="2000" dirty="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1892329187"/>
                  </p:ext>
                </p:extLst>
              </p:nvPr>
            </p:nvGraphicFramePr>
            <p:xfrm>
              <a:off x="727769" y="1698170"/>
              <a:ext cx="7755279" cy="4759505"/>
            </p:xfrm>
            <a:graphic>
              <a:graphicData uri="http://schemas.openxmlformats.org/drawingml/2006/table">
                <a:tbl>
                  <a:tblPr firstRow="1" firstCol="1" bandRow="1"/>
                  <a:tblGrid>
                    <a:gridCol w="2576404">
                      <a:extLst>
                        <a:ext uri="{9D8B030D-6E8A-4147-A177-3AD203B41FA5}">
                          <a16:colId xmlns:a16="http://schemas.microsoft.com/office/drawing/2014/main" val="20000"/>
                        </a:ext>
                      </a:extLst>
                    </a:gridCol>
                    <a:gridCol w="2637953">
                      <a:extLst>
                        <a:ext uri="{9D8B030D-6E8A-4147-A177-3AD203B41FA5}">
                          <a16:colId xmlns:a16="http://schemas.microsoft.com/office/drawing/2014/main" val="20001"/>
                        </a:ext>
                      </a:extLst>
                    </a:gridCol>
                    <a:gridCol w="2540922">
                      <a:extLst>
                        <a:ext uri="{9D8B030D-6E8A-4147-A177-3AD203B41FA5}">
                          <a16:colId xmlns:a16="http://schemas.microsoft.com/office/drawing/2014/main" val="20002"/>
                        </a:ext>
                      </a:extLst>
                    </a:gridCol>
                  </a:tblGrid>
                  <a:tr h="634601">
                    <a:tc>
                      <a:txBody>
                        <a:bodyPr/>
                        <a:lstStyle/>
                        <a:p>
                          <a:pPr marL="0" marR="0" algn="ctr">
                            <a:spcBef>
                              <a:spcPts val="0"/>
                            </a:spcBef>
                            <a:spcAft>
                              <a:spcPts val="0"/>
                            </a:spcAft>
                          </a:pPr>
                          <a:r>
                            <a:rPr lang="en-US" sz="2000" b="1">
                              <a:effectLst/>
                              <a:latin typeface="Verdana" charset="0"/>
                              <a:ea typeface="Verdana" charset="0"/>
                              <a:cs typeface="Verdana" charset="0"/>
                            </a:rPr>
                            <a:t>Packaging</a:t>
                          </a:r>
                          <a:endParaRPr lang="en-US" sz="200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Pricing</a:t>
                          </a:r>
                          <a:endParaRPr lang="en-US" sz="2000" dirty="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Cost of Packaging</a:t>
                          </a:r>
                          <a:endParaRPr lang="en-US" sz="2000" dirty="0">
                            <a:effectLst/>
                            <a:latin typeface="Verdana" charset="0"/>
                            <a:ea typeface="Verdana" charset="0"/>
                            <a:cs typeface="Verdana" charset="0"/>
                          </a:endParaRP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586502">
                    <a:tc>
                      <a:txBody>
                        <a:bodyPr/>
                        <a:lstStyle/>
                        <a:p>
                          <a:pPr marL="0" marR="0">
                            <a:spcBef>
                              <a:spcPts val="0"/>
                            </a:spcBef>
                            <a:spcAft>
                              <a:spcPts val="0"/>
                            </a:spcAft>
                          </a:pPr>
                          <a:r>
                            <a:rPr lang="en-US" sz="2000">
                              <a:effectLst/>
                              <a:latin typeface="Verdana" charset="0"/>
                              <a:ea typeface="Verdana" charset="0"/>
                              <a:cs typeface="Verdana" charset="0"/>
                            </a:rPr>
                            <a:t>Rectangular Prism</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7921" t="-44444" r="-96767" b="-160536"/>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69201">
                    <a:tc>
                      <a:txBody>
                        <a:bodyPr/>
                        <a:lstStyle/>
                        <a:p>
                          <a:pPr marL="0" marR="0">
                            <a:spcBef>
                              <a:spcPts val="0"/>
                            </a:spcBef>
                            <a:spcAft>
                              <a:spcPts val="0"/>
                            </a:spcAft>
                          </a:pPr>
                          <a:r>
                            <a:rPr lang="en-US" sz="2000" dirty="0">
                              <a:effectLst/>
                              <a:latin typeface="Verdana" charset="0"/>
                              <a:ea typeface="Verdana" charset="0"/>
                              <a:cs typeface="Verdana" charset="0"/>
                            </a:rPr>
                            <a:t>Cylinder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7921" t="-181250" r="-96767" b="-101442"/>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69201">
                    <a:tc>
                      <a:txBody>
                        <a:bodyPr/>
                        <a:lstStyle/>
                        <a:p>
                          <a:pPr marL="0" marR="0">
                            <a:spcBef>
                              <a:spcPts val="0"/>
                            </a:spcBef>
                            <a:spcAft>
                              <a:spcPts val="0"/>
                            </a:spcAft>
                          </a:pPr>
                          <a:r>
                            <a:rPr lang="en-US" sz="2000" dirty="0">
                              <a:effectLst/>
                              <a:latin typeface="Verdana" charset="0"/>
                              <a:ea typeface="Verdana" charset="0"/>
                              <a:cs typeface="Verdana" charset="0"/>
                            </a:rPr>
                            <a:t>Cube</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7921" t="-279904" r="-96767" b="-957"/>
                          </a:stretch>
                        </a:blipFill>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63990" marR="639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11" name="Cube 10"/>
          <p:cNvSpPr/>
          <p:nvPr/>
        </p:nvSpPr>
        <p:spPr>
          <a:xfrm>
            <a:off x="1017571" y="2748788"/>
            <a:ext cx="2019300" cy="869950"/>
          </a:xfrm>
          <a:prstGeom prst="cube">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Can 11"/>
          <p:cNvSpPr/>
          <p:nvPr/>
        </p:nvSpPr>
        <p:spPr>
          <a:xfrm>
            <a:off x="1671621" y="4123438"/>
            <a:ext cx="930275" cy="1020762"/>
          </a:xfrm>
          <a:prstGeom prst="can">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Cube 12"/>
          <p:cNvSpPr/>
          <p:nvPr/>
        </p:nvSpPr>
        <p:spPr>
          <a:xfrm>
            <a:off x="1641459" y="5408475"/>
            <a:ext cx="960437" cy="922338"/>
          </a:xfrm>
          <a:prstGeom prst="cube">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142547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101</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10712454" cy="707886"/>
          </a:xfrm>
          <a:prstGeom prst="rect">
            <a:avLst/>
          </a:prstGeom>
          <a:noFill/>
        </p:spPr>
        <p:txBody>
          <a:bodyPr wrap="square" rtlCol="0">
            <a:spAutoFit/>
          </a:bodyPr>
          <a:lstStyle/>
          <a:p>
            <a:pPr marL="457200" indent="-457200">
              <a:buFont typeface="+mj-lt"/>
              <a:buAutoNum type="arabicPeriod" startAt="4"/>
            </a:pPr>
            <a:r>
              <a:rPr lang="en-US" sz="2000" dirty="0">
                <a:latin typeface="Verdana" charset="0"/>
                <a:ea typeface="Verdana" charset="0"/>
                <a:cs typeface="Verdana" charset="0"/>
              </a:rPr>
              <a:t>If Manuel wants to use the cheapest packaging possible for his client, which packaging should he choose? </a:t>
            </a:r>
          </a:p>
        </p:txBody>
      </p:sp>
    </p:spTree>
    <p:extLst>
      <p:ext uri="{BB962C8B-B14F-4D97-AF65-F5344CB8AC3E}">
        <p14:creationId xmlns:p14="http://schemas.microsoft.com/office/powerpoint/2010/main" val="226301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102</a:t>
            </a:r>
          </a:p>
        </p:txBody>
      </p:sp>
    </p:spTree>
    <p:extLst>
      <p:ext uri="{BB962C8B-B14F-4D97-AF65-F5344CB8AC3E}">
        <p14:creationId xmlns:p14="http://schemas.microsoft.com/office/powerpoint/2010/main" val="1088653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49" y="-85979"/>
            <a:ext cx="999389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9.9.3 Guided Instruction: Real-Life Applications of Surface Area</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121285"/>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102</a:t>
            </a:r>
          </a:p>
        </p:txBody>
      </p:sp>
      <p:sp>
        <p:nvSpPr>
          <p:cNvPr id="13" name="TextBox 12">
            <a:extLst>
              <a:ext uri="{FF2B5EF4-FFF2-40B4-BE49-F238E27FC236}">
                <a16:creationId xmlns:a16="http://schemas.microsoft.com/office/drawing/2014/main" id="{C01B13E8-EC8D-E443-A329-C5E3593DD13A}"/>
              </a:ext>
            </a:extLst>
          </p:cNvPr>
          <p:cNvSpPr txBox="1"/>
          <p:nvPr/>
        </p:nvSpPr>
        <p:spPr>
          <a:xfrm>
            <a:off x="593248" y="1386025"/>
            <a:ext cx="8327136" cy="400110"/>
          </a:xfrm>
          <a:prstGeom prst="rect">
            <a:avLst/>
          </a:prstGeom>
          <a:noFill/>
        </p:spPr>
        <p:txBody>
          <a:bodyPr wrap="square" rtlCol="0">
            <a:spAutoFit/>
          </a:bodyPr>
          <a:lstStyle/>
          <a:p>
            <a:r>
              <a:rPr lang="en-US" sz="2000" dirty="0">
                <a:latin typeface="Verdana" charset="0"/>
                <a:ea typeface="Verdana" charset="0"/>
                <a:cs typeface="Verdana" charset="0"/>
              </a:rPr>
              <a:t>Jeni owns a bakery and is making two cakes. </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752979644"/>
                  </p:ext>
                </p:extLst>
              </p:nvPr>
            </p:nvGraphicFramePr>
            <p:xfrm>
              <a:off x="1052650" y="2043165"/>
              <a:ext cx="6800850" cy="1755775"/>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2000" b="1" dirty="0">
                              <a:effectLst/>
                              <a:latin typeface="Verdana" charset="0"/>
                              <a:ea typeface="Verdana" charset="0"/>
                              <a:cs typeface="Verdana" charset="0"/>
                            </a:rPr>
                            <a:t>Cake A</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Cake B</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450975">
                    <a:tc>
                      <a:txBody>
                        <a:bodyPr/>
                        <a:lstStyle/>
                        <a:p>
                          <a:pPr marL="0" marR="0">
                            <a:spcBef>
                              <a:spcPts val="0"/>
                            </a:spcBef>
                            <a:spcAft>
                              <a:spcPts val="0"/>
                            </a:spcAft>
                          </a:pPr>
                          <a:r>
                            <a:rPr lang="en-US" sz="2000">
                              <a:effectLst/>
                              <a:latin typeface="Verdana" charset="0"/>
                              <a:ea typeface="Verdana" charset="0"/>
                              <a:cs typeface="Verdana" charset="0"/>
                            </a:rPr>
                            <a:t>Cake A is in the shape of a rectangular prism that is </a:t>
                          </a:r>
                          <a14:m>
                            <m:oMath xmlns:m="http://schemas.openxmlformats.org/officeDocument/2006/math">
                              <m:r>
                                <a:rPr lang="en-US" sz="2000" i="1">
                                  <a:effectLst/>
                                  <a:latin typeface="Cambria Math" panose="02040503050406030204" pitchFamily="18" charset="0"/>
                                  <a:ea typeface="Verdana" charset="0"/>
                                  <a:cs typeface="Verdana" charset="0"/>
                                </a:rPr>
                                <m:t>3</m:t>
                              </m:r>
                            </m:oMath>
                          </a14:m>
                          <a:r>
                            <a:rPr lang="en-US" sz="2000">
                              <a:effectLst/>
                              <a:latin typeface="Verdana" charset="0"/>
                              <a:ea typeface="Verdana" charset="0"/>
                              <a:cs typeface="Verdana" charset="0"/>
                            </a:rPr>
                            <a:t> inches thick, </a:t>
                          </a:r>
                          <a14:m>
                            <m:oMath xmlns:m="http://schemas.openxmlformats.org/officeDocument/2006/math">
                              <m:r>
                                <a:rPr lang="en-US" sz="2000" i="1">
                                  <a:effectLst/>
                                  <a:latin typeface="Cambria Math" panose="02040503050406030204" pitchFamily="18" charset="0"/>
                                  <a:ea typeface="Verdana" charset="0"/>
                                  <a:cs typeface="Verdana" charset="0"/>
                                </a:rPr>
                                <m:t>9</m:t>
                              </m:r>
                            </m:oMath>
                          </a14:m>
                          <a:r>
                            <a:rPr lang="en-US" sz="2000">
                              <a:effectLst/>
                              <a:latin typeface="Verdana" charset="0"/>
                              <a:ea typeface="Verdana" charset="0"/>
                              <a:cs typeface="Verdana" charset="0"/>
                            </a:rPr>
                            <a:t> inches long, and </a:t>
                          </a:r>
                          <a14:m>
                            <m:oMath xmlns:m="http://schemas.openxmlformats.org/officeDocument/2006/math">
                              <m:r>
                                <a:rPr lang="en-US" sz="2000" i="1">
                                  <a:effectLst/>
                                  <a:latin typeface="Cambria Math" panose="02040503050406030204" pitchFamily="18" charset="0"/>
                                  <a:ea typeface="Verdana" charset="0"/>
                                  <a:cs typeface="Verdana" charset="0"/>
                                </a:rPr>
                                <m:t>12</m:t>
                              </m:r>
                            </m:oMath>
                          </a14:m>
                          <a:r>
                            <a:rPr lang="en-US" sz="2000">
                              <a:effectLst/>
                              <a:latin typeface="Verdana" charset="0"/>
                              <a:ea typeface="Verdana" charset="0"/>
                              <a:cs typeface="Verdana" charset="0"/>
                            </a:rPr>
                            <a:t> inches wide.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The cake is in the shape of a cylinder and has a diameter of </a:t>
                          </a:r>
                          <a14:m>
                            <m:oMath xmlns:m="http://schemas.openxmlformats.org/officeDocument/2006/math">
                              <m:r>
                                <a:rPr lang="en-US" sz="2000" i="1">
                                  <a:effectLst/>
                                  <a:latin typeface="Cambria Math" panose="02040503050406030204" pitchFamily="18" charset="0"/>
                                  <a:ea typeface="Verdana" charset="0"/>
                                  <a:cs typeface="Verdana" charset="0"/>
                                </a:rPr>
                                <m:t>8</m:t>
                              </m:r>
                            </m:oMath>
                          </a14:m>
                          <a:r>
                            <a:rPr lang="en-US" sz="2000" dirty="0">
                              <a:effectLst/>
                              <a:latin typeface="Verdana" charset="0"/>
                              <a:ea typeface="Verdana" charset="0"/>
                              <a:cs typeface="Verdana" charset="0"/>
                            </a:rPr>
                            <a:t> inches and a height of </a:t>
                          </a:r>
                          <a14:m>
                            <m:oMath xmlns:m="http://schemas.openxmlformats.org/officeDocument/2006/math">
                              <m:r>
                                <a:rPr lang="en-US" sz="2000" i="1">
                                  <a:effectLst/>
                                  <a:latin typeface="Cambria Math" panose="02040503050406030204" pitchFamily="18" charset="0"/>
                                  <a:ea typeface="Verdana" charset="0"/>
                                  <a:cs typeface="Verdana" charset="0"/>
                                </a:rPr>
                                <m:t>6</m:t>
                              </m:r>
                            </m:oMath>
                          </a14:m>
                          <a:r>
                            <a:rPr lang="en-US" sz="2000" dirty="0">
                              <a:effectLst/>
                              <a:latin typeface="Verdana" charset="0"/>
                              <a:ea typeface="Verdana" charset="0"/>
                              <a:cs typeface="Verdana" charset="0"/>
                            </a:rPr>
                            <a:t> inches.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752979644"/>
                  </p:ext>
                </p:extLst>
              </p:nvPr>
            </p:nvGraphicFramePr>
            <p:xfrm>
              <a:off x="1052650" y="2043165"/>
              <a:ext cx="6800850" cy="1755775"/>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304800">
                    <a:tc>
                      <a:txBody>
                        <a:bodyPr/>
                        <a:lstStyle/>
                        <a:p>
                          <a:pPr marL="0" marR="0" algn="ctr">
                            <a:spcBef>
                              <a:spcPts val="0"/>
                            </a:spcBef>
                            <a:spcAft>
                              <a:spcPts val="0"/>
                            </a:spcAft>
                          </a:pPr>
                          <a:r>
                            <a:rPr lang="en-US" sz="2000" b="1" dirty="0">
                              <a:effectLst/>
                              <a:latin typeface="Verdana" charset="0"/>
                              <a:ea typeface="Verdana" charset="0"/>
                              <a:cs typeface="Verdana" charset="0"/>
                            </a:rPr>
                            <a:t>Cake A</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Cake B</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45097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78" t="-26360" r="-99465" b="-251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079" t="-26360" r="-360" b="-2510"/>
                          </a:stretch>
                        </a:blipFill>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1490114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102</a:t>
            </a:r>
          </a:p>
        </p:txBody>
      </p:sp>
      <p:sp>
        <p:nvSpPr>
          <p:cNvPr id="6" name="Rectangle 5"/>
          <p:cNvSpPr/>
          <p:nvPr/>
        </p:nvSpPr>
        <p:spPr>
          <a:xfrm>
            <a:off x="795874" y="667852"/>
            <a:ext cx="10728050" cy="1015663"/>
          </a:xfrm>
          <a:prstGeom prst="rect">
            <a:avLst/>
          </a:prstGeom>
        </p:spPr>
        <p:txBody>
          <a:bodyPr wrap="square">
            <a:spAutoFit/>
          </a:bodyPr>
          <a:lstStyle/>
          <a:p>
            <a:pPr marL="342900" indent="-342900">
              <a:buFont typeface="+mj-lt"/>
              <a:buAutoNum type="arabicPeriod"/>
            </a:pPr>
            <a:r>
              <a:rPr lang="en-US" sz="2000" dirty="0">
                <a:latin typeface="Verdana" charset="0"/>
                <a:ea typeface="Helvetica Neue" charset="0"/>
                <a:cs typeface="Helvetica Neue" charset="0"/>
              </a:rPr>
              <a:t>When Jeni frosts the cake, she applies the frosting to all surfaces except for the bottom of the cake. Determine the amount of frosting Jeni needs to apply to each cake. Show your work. </a:t>
            </a:r>
            <a:endParaRPr lang="en-US" dirty="0">
              <a:latin typeface="Cambria" charset="0"/>
              <a:ea typeface="Times New Roman" charset="0"/>
              <a:cs typeface="Cambria"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579632967"/>
              </p:ext>
            </p:extLst>
          </p:nvPr>
        </p:nvGraphicFramePr>
        <p:xfrm>
          <a:off x="1156137" y="1937057"/>
          <a:ext cx="6800850" cy="2133600"/>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2000" b="1" dirty="0">
                          <a:effectLst/>
                          <a:latin typeface="Verdana" charset="0"/>
                          <a:ea typeface="Verdana" charset="0"/>
                          <a:cs typeface="Verdana" charset="0"/>
                        </a:rPr>
                        <a:t>Cake A</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Cake B</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16439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737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102</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1242"/>
            <a:ext cx="10961136" cy="163121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Jeni makes a two-layer cake, as shown, where the measurements are in inches (in.) She will frost all of the cake except for the base. The frosting between the pyramid and the prism helps to hold the two cakes together. Determine the total surface area that Jeni needs to frost.</a:t>
            </a:r>
          </a:p>
          <a:p>
            <a:pPr marL="457200" indent="-457200">
              <a:buFont typeface="+mj-lt"/>
              <a:buAutoNum type="arabicPeriod" startAt="2"/>
            </a:pPr>
            <a:endParaRPr lang="en-US" sz="2000" dirty="0">
              <a:latin typeface="Verdana" charset="0"/>
              <a:ea typeface="Verdana" charset="0"/>
              <a:cs typeface="Verdana"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716650" y="2152458"/>
            <a:ext cx="3657600" cy="3759200"/>
          </a:xfrm>
          <a:prstGeom prst="rect">
            <a:avLst/>
          </a:prstGeom>
        </p:spPr>
      </p:pic>
    </p:spTree>
    <p:extLst>
      <p:ext uri="{BB962C8B-B14F-4D97-AF65-F5344CB8AC3E}">
        <p14:creationId xmlns:p14="http://schemas.microsoft.com/office/powerpoint/2010/main" val="108193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4" y="520394"/>
                <a:ext cx="11258145" cy="1323439"/>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Jeni’s recipe for buttercream icing typically frosts an </a:t>
                </a:r>
                <a14:m>
                  <m:oMath xmlns:m="http://schemas.openxmlformats.org/officeDocument/2006/math">
                    <m:r>
                      <a:rPr lang="en-US" sz="2000" i="1">
                        <a:latin typeface="Cambria Math" panose="02040503050406030204" pitchFamily="18" charset="0"/>
                        <a:ea typeface="Verdana" charset="0"/>
                        <a:cs typeface="Verdana" charset="0"/>
                      </a:rPr>
                      <m:t>8</m:t>
                    </m:r>
                  </m:oMath>
                </a14:m>
                <a:r>
                  <a:rPr lang="en-US" sz="2000" dirty="0">
                    <a:latin typeface="Verdana" charset="0"/>
                    <a:ea typeface="Verdana" charset="0"/>
                    <a:cs typeface="Verdana" charset="0"/>
                  </a:rPr>
                  <a:t>‑inch round cake that is </a:t>
                </a:r>
                <a14:m>
                  <m:oMath xmlns:m="http://schemas.openxmlformats.org/officeDocument/2006/math">
                    <m:r>
                      <a:rPr lang="en-US" sz="2000" i="1">
                        <a:latin typeface="Cambria Math" panose="02040503050406030204" pitchFamily="18" charset="0"/>
                        <a:ea typeface="Verdana" charset="0"/>
                        <a:cs typeface="Verdana" charset="0"/>
                      </a:rPr>
                      <m:t>1.5</m:t>
                    </m:r>
                  </m:oMath>
                </a14:m>
                <a:r>
                  <a:rPr lang="en-US" sz="2000" dirty="0">
                    <a:latin typeface="Verdana" charset="0"/>
                    <a:ea typeface="Verdana" charset="0"/>
                    <a:cs typeface="Verdana" charset="0"/>
                  </a:rPr>
                  <a:t> inches high. How many batches of frosting will Jeni need to frost the two-layer cake?</a:t>
                </a:r>
              </a:p>
              <a:p>
                <a:pPr marL="457200" indent="-457200">
                  <a:buFont typeface="+mj-lt"/>
                  <a:buAutoNum type="arabicPeriod" startAt="3"/>
                </a:pP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4" y="520394"/>
                <a:ext cx="11258145" cy="1323439"/>
              </a:xfrm>
              <a:prstGeom prst="rect">
                <a:avLst/>
              </a:prstGeom>
              <a:blipFill>
                <a:blip r:embed="rId4"/>
                <a:stretch>
                  <a:fillRect l="-596" t="-2765"/>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023676" y="2044700"/>
            <a:ext cx="5360914" cy="2364014"/>
          </a:xfrm>
          <a:prstGeom prst="rect">
            <a:avLst/>
          </a:prstGeom>
        </p:spPr>
      </p:pic>
    </p:spTree>
    <p:extLst>
      <p:ext uri="{BB962C8B-B14F-4D97-AF65-F5344CB8AC3E}">
        <p14:creationId xmlns:p14="http://schemas.microsoft.com/office/powerpoint/2010/main" val="1784703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103</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3999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37211"/>
            <a:ext cx="1047127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9.9.4 Guided Practice: Real-Life Applications of Surface Area</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103</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593248" y="1386025"/>
            <a:ext cx="10930676"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Lourdes’ garage is in the shape of a square pyramid. The garage is shown, with dimensions given in feet (</a:t>
            </a:r>
            <a:r>
              <a:rPr lang="en-US" sz="2000" dirty="0" err="1">
                <a:latin typeface="Verdana" charset="0"/>
                <a:ea typeface="Verdana" charset="0"/>
                <a:cs typeface="Verdana" charset="0"/>
              </a:rPr>
              <a:t>ft</a:t>
            </a:r>
            <a:r>
              <a:rPr lang="en-US" sz="2000" dirty="0">
                <a:latin typeface="Verdana" charset="0"/>
                <a:ea typeface="Verdana" charset="0"/>
                <a:cs typeface="Verdana" charset="0"/>
              </a:rPr>
              <a:t>).</a:t>
            </a: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818471" y="2505909"/>
            <a:ext cx="5588000" cy="3848100"/>
          </a:xfrm>
          <a:prstGeom prst="rect">
            <a:avLst/>
          </a:prstGeom>
        </p:spPr>
      </p:pic>
    </p:spTree>
    <p:extLst>
      <p:ext uri="{BB962C8B-B14F-4D97-AF65-F5344CB8AC3E}">
        <p14:creationId xmlns:p14="http://schemas.microsoft.com/office/powerpoint/2010/main" val="9998343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8327136" cy="1460272"/>
              </a:xfrm>
              <a:prstGeom prst="rect">
                <a:avLst/>
              </a:prstGeom>
              <a:noFill/>
            </p:spPr>
            <p:txBody>
              <a:bodyPr wrap="square" rtlCol="0">
                <a:spAutoFit/>
              </a:bodyPr>
              <a:lstStyle/>
              <a:p>
                <a:r>
                  <a:rPr lang="en-US" sz="2000" dirty="0">
                    <a:latin typeface="Verdana" charset="0"/>
                    <a:ea typeface="Verdana" charset="0"/>
                    <a:cs typeface="Verdana" charset="0"/>
                  </a:rPr>
                  <a:t>Lourdes is replacing the roof and installing shingles. In roofing terminology, a "square" is </a:t>
                </a:r>
                <a14:m>
                  <m:oMath xmlns:m="http://schemas.openxmlformats.org/officeDocument/2006/math">
                    <m:r>
                      <a:rPr lang="en-US" sz="2000" i="1">
                        <a:latin typeface="Cambria Math" panose="02040503050406030204" pitchFamily="18" charset="0"/>
                        <a:ea typeface="Verdana" charset="0"/>
                        <a:cs typeface="Verdana" charset="0"/>
                      </a:rPr>
                      <m:t>100</m:t>
                    </m:r>
                  </m:oMath>
                </a14:m>
                <a:r>
                  <a:rPr lang="en-US" sz="2000" dirty="0">
                    <a:latin typeface="Verdana" charset="0"/>
                    <a:ea typeface="Verdana" charset="0"/>
                    <a:cs typeface="Verdana" charset="0"/>
                  </a:rPr>
                  <a:t> square feet. Composition shingles come in bundles that cover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1</m:t>
                        </m:r>
                      </m:num>
                      <m:den>
                        <m:r>
                          <a:rPr lang="en-US" sz="2000" i="1">
                            <a:latin typeface="Cambria Math" panose="02040503050406030204" pitchFamily="18" charset="0"/>
                            <a:ea typeface="Verdana" charset="0"/>
                            <a:cs typeface="Verdana" charset="0"/>
                          </a:rPr>
                          <m:t>3</m:t>
                        </m:r>
                      </m:den>
                    </m:f>
                  </m:oMath>
                </a14:m>
                <a:r>
                  <a:rPr lang="en-US" sz="2000" dirty="0">
                    <a:latin typeface="Verdana" charset="0"/>
                    <a:ea typeface="Verdana" charset="0"/>
                    <a:cs typeface="Verdana" charset="0"/>
                  </a:rPr>
                  <a:t> of a square. </a:t>
                </a:r>
              </a:p>
              <a:p>
                <a:r>
                  <a:rPr lang="en-US" sz="2000" dirty="0">
                    <a:latin typeface="Verdana" charset="0"/>
                    <a:ea typeface="Verdana" charset="0"/>
                    <a:cs typeface="Verdana" charset="0"/>
                  </a:rPr>
                  <a:t>How many bundles should Lourdes buy to cover the roof?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8618"/>
                <a:ext cx="8327136" cy="1460272"/>
              </a:xfrm>
              <a:prstGeom prst="rect">
                <a:avLst/>
              </a:prstGeom>
              <a:blipFill>
                <a:blip r:embed="rId4"/>
                <a:stretch>
                  <a:fillRect l="-805" t="-2510" b="-6276"/>
                </a:stretch>
              </a:blipFill>
            </p:spPr>
            <p:txBody>
              <a:bodyPr/>
              <a:lstStyle/>
              <a:p>
                <a:r>
                  <a:rPr lang="en-US">
                    <a:noFill/>
                  </a:rPr>
                  <a:t> </a:t>
                </a:r>
              </a:p>
            </p:txBody>
          </p:sp>
        </mc:Fallback>
      </mc:AlternateContent>
    </p:spTree>
    <p:extLst>
      <p:ext uri="{BB962C8B-B14F-4D97-AF65-F5344CB8AC3E}">
        <p14:creationId xmlns:p14="http://schemas.microsoft.com/office/powerpoint/2010/main" val="952708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7374"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03190" y="520394"/>
            <a:ext cx="11124959" cy="1938992"/>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An architect is designing an art gallery. She used computer software to create a rough sketch of her idea. Her sketch is shown with measurements in meters (m). She would like for the art gallery to be all glass. To determine the estimated cost, she would need to find the area of all of the surfaces except for the floor. Determine the total surface area, in square meters, of the glass in the art gallery. Round to the nearest thousandth.</a:t>
            </a: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778925" y="2644398"/>
            <a:ext cx="3517900" cy="3149600"/>
          </a:xfrm>
          <a:prstGeom prst="rect">
            <a:avLst/>
          </a:prstGeom>
        </p:spPr>
      </p:pic>
    </p:spTree>
    <p:extLst>
      <p:ext uri="{BB962C8B-B14F-4D97-AF65-F5344CB8AC3E}">
        <p14:creationId xmlns:p14="http://schemas.microsoft.com/office/powerpoint/2010/main" val="1385633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104</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104</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215305"/>
            <a:ext cx="974951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9.9.5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3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93247" y="1386026"/>
            <a:ext cx="10645023" cy="1015663"/>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Jillian was building a birdhouse. Some of the dimensions, in inches (in.), of the birdhouse are shown. Determine the total amount of wood, in square inches, that Jillian will need to build the outside of the birdhouse. </a:t>
            </a:r>
          </a:p>
        </p:txBody>
      </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16634" y="2852361"/>
            <a:ext cx="3491980" cy="3845743"/>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1298</TotalTime>
  <Words>1151</Words>
  <Application>Microsoft Office PowerPoint</Application>
  <PresentationFormat>Widescreen</PresentationFormat>
  <Paragraphs>179</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Calibri</vt:lpstr>
      <vt:lpstr>Cambria</vt:lpstr>
      <vt:lpstr>Cambria Math</vt:lpstr>
      <vt:lpstr>Century Gothic</vt:lpstr>
      <vt:lpstr>Verdana</vt:lpstr>
      <vt:lpstr>Wingdings</vt:lpstr>
      <vt:lpstr>1_Office Theme</vt:lpstr>
      <vt:lpstr>Geometry  Unit 9, Lesson 9  Surface Area in the Real World  Volume 2, pg. 100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Morgan Palomino</cp:lastModifiedBy>
  <cp:revision>24</cp:revision>
  <dcterms:created xsi:type="dcterms:W3CDTF">2015-03-17T18:51:18Z</dcterms:created>
  <dcterms:modified xsi:type="dcterms:W3CDTF">2023-04-24T17:13:46Z</dcterms:modified>
</cp:coreProperties>
</file>