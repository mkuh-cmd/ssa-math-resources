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30"/>
  </p:notesMasterIdLst>
  <p:sldIdLst>
    <p:sldId id="256" r:id="rId2"/>
    <p:sldId id="257" r:id="rId3"/>
    <p:sldId id="285" r:id="rId4"/>
    <p:sldId id="286" r:id="rId5"/>
    <p:sldId id="261" r:id="rId6"/>
    <p:sldId id="287" r:id="rId7"/>
    <p:sldId id="314" r:id="rId8"/>
    <p:sldId id="315" r:id="rId9"/>
    <p:sldId id="352" r:id="rId10"/>
    <p:sldId id="362" r:id="rId11"/>
    <p:sldId id="363" r:id="rId12"/>
    <p:sldId id="364" r:id="rId13"/>
    <p:sldId id="365" r:id="rId14"/>
    <p:sldId id="366" r:id="rId15"/>
    <p:sldId id="367" r:id="rId16"/>
    <p:sldId id="368" r:id="rId17"/>
    <p:sldId id="369" r:id="rId18"/>
    <p:sldId id="376" r:id="rId19"/>
    <p:sldId id="370" r:id="rId20"/>
    <p:sldId id="371" r:id="rId21"/>
    <p:sldId id="372" r:id="rId22"/>
    <p:sldId id="373" r:id="rId23"/>
    <p:sldId id="374" r:id="rId24"/>
    <p:sldId id="375" r:id="rId25"/>
    <p:sldId id="302" r:id="rId26"/>
    <p:sldId id="303" r:id="rId27"/>
    <p:sldId id="306" r:id="rId28"/>
    <p:sldId id="307" r:id="rId2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5"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465B0"/>
    <a:srgbClr val="DA4487"/>
    <a:srgbClr val="276C46"/>
    <a:srgbClr val="C9DF6F"/>
    <a:srgbClr val="417DBF"/>
    <a:srgbClr val="3F2A67"/>
    <a:srgbClr val="E24E5F"/>
    <a:srgbClr val="26B7D4"/>
    <a:srgbClr val="54B5D1"/>
    <a:srgbClr val="33BEA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7101"/>
    <p:restoredTop sz="94695"/>
  </p:normalViewPr>
  <p:slideViewPr>
    <p:cSldViewPr snapToGrid="0">
      <p:cViewPr varScale="1">
        <p:scale>
          <a:sx n="78" d="100"/>
          <a:sy n="78" d="100"/>
        </p:scale>
        <p:origin x="322"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55" Type="http://customschemas.google.com/relationships/presentationmetadata" Target="meta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59"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8"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57"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56"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3</a:t>
            </a:fld>
            <a:endParaRPr/>
          </a:p>
        </p:txBody>
      </p:sp>
    </p:spTree>
    <p:extLst>
      <p:ext uri="{BB962C8B-B14F-4D97-AF65-F5344CB8AC3E}">
        <p14:creationId xmlns:p14="http://schemas.microsoft.com/office/powerpoint/2010/main" val="232868339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208931687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10</a:t>
            </a:fld>
            <a:endParaRPr/>
          </a:p>
        </p:txBody>
      </p:sp>
    </p:spTree>
    <p:extLst>
      <p:ext uri="{BB962C8B-B14F-4D97-AF65-F5344CB8AC3E}">
        <p14:creationId xmlns:p14="http://schemas.microsoft.com/office/powerpoint/2010/main" val="20862564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11</a:t>
            </a:fld>
            <a:endParaRPr/>
          </a:p>
        </p:txBody>
      </p:sp>
    </p:spTree>
    <p:extLst>
      <p:ext uri="{BB962C8B-B14F-4D97-AF65-F5344CB8AC3E}">
        <p14:creationId xmlns:p14="http://schemas.microsoft.com/office/powerpoint/2010/main" val="19000980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12648357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19285486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17160045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15</a:t>
            </a:fld>
            <a:endParaRPr/>
          </a:p>
        </p:txBody>
      </p:sp>
    </p:spTree>
    <p:extLst>
      <p:ext uri="{BB962C8B-B14F-4D97-AF65-F5344CB8AC3E}">
        <p14:creationId xmlns:p14="http://schemas.microsoft.com/office/powerpoint/2010/main" val="24384087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16</a:t>
            </a:fld>
            <a:endParaRPr/>
          </a:p>
        </p:txBody>
      </p:sp>
    </p:spTree>
    <p:extLst>
      <p:ext uri="{BB962C8B-B14F-4D97-AF65-F5344CB8AC3E}">
        <p14:creationId xmlns:p14="http://schemas.microsoft.com/office/powerpoint/2010/main" val="65429165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204597924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5958262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88352905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57387932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35218100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188890413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9359071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24</a:t>
            </a:fld>
            <a:endParaRPr/>
          </a:p>
        </p:txBody>
      </p:sp>
    </p:spTree>
    <p:extLst>
      <p:ext uri="{BB962C8B-B14F-4D97-AF65-F5344CB8AC3E}">
        <p14:creationId xmlns:p14="http://schemas.microsoft.com/office/powerpoint/2010/main" val="117057281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25</a:t>
            </a:fld>
            <a:endParaRPr/>
          </a:p>
        </p:txBody>
      </p:sp>
    </p:spTree>
    <p:extLst>
      <p:ext uri="{BB962C8B-B14F-4D97-AF65-F5344CB8AC3E}">
        <p14:creationId xmlns:p14="http://schemas.microsoft.com/office/powerpoint/2010/main" val="401656324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26</a:t>
            </a:fld>
            <a:endParaRPr/>
          </a:p>
        </p:txBody>
      </p:sp>
    </p:spTree>
    <p:extLst>
      <p:ext uri="{BB962C8B-B14F-4D97-AF65-F5344CB8AC3E}">
        <p14:creationId xmlns:p14="http://schemas.microsoft.com/office/powerpoint/2010/main" val="13361102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27</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28</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8.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14.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8.xml"/><Relationship Id="rId5" Type="http://schemas.openxmlformats.org/officeDocument/2006/relationships/image" Target="../media/image19.png"/><Relationship Id="rId4" Type="http://schemas.openxmlformats.org/officeDocument/2006/relationships/image" Target="../media/image18.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8.xml"/><Relationship Id="rId5" Type="http://schemas.openxmlformats.org/officeDocument/2006/relationships/image" Target="../media/image21.png"/><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00.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24.png"/><Relationship Id="rId4" Type="http://schemas.openxmlformats.org/officeDocument/2006/relationships/image" Target="../media/image230.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8.xml"/><Relationship Id="rId5" Type="http://schemas.openxmlformats.org/officeDocument/2006/relationships/image" Target="../media/image27.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28.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8.xml"/><Relationship Id="rId4" Type="http://schemas.openxmlformats.org/officeDocument/2006/relationships/image" Target="../media/image29.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8.xml"/><Relationship Id="rId5" Type="http://schemas.openxmlformats.org/officeDocument/2006/relationships/image" Target="../media/image290.png"/><Relationship Id="rId4" Type="http://schemas.openxmlformats.org/officeDocument/2006/relationships/image" Target="../media/image29.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30.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8.xml"/><Relationship Id="rId4" Type="http://schemas.openxmlformats.org/officeDocument/2006/relationships/image" Target="../media/image31.png"/></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8.xml"/><Relationship Id="rId5" Type="http://schemas.openxmlformats.org/officeDocument/2006/relationships/image" Target="../media/image320.png"/><Relationship Id="rId4" Type="http://schemas.openxmlformats.org/officeDocument/2006/relationships/image" Target="../media/image32.png"/></Relationships>
</file>

<file path=ppt/slides/_rels/slide2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8.xml"/><Relationship Id="rId4" Type="http://schemas.openxmlformats.org/officeDocument/2006/relationships/image" Target="../media/image33.png"/></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8.xml"/><Relationship Id="rId4" Type="http://schemas.openxmlformats.org/officeDocument/2006/relationships/image" Target="../media/image34.png"/></Relationships>
</file>

<file path=ppt/slides/_rels/slide2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8.xml"/><Relationship Id="rId5" Type="http://schemas.openxmlformats.org/officeDocument/2006/relationships/image" Target="../media/image35.png"/><Relationship Id="rId4" Type="http://schemas.openxmlformats.org/officeDocument/2006/relationships/image" Target="../media/image34.png"/></Relationships>
</file>

<file path=ppt/slides/_rels/slide2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8.xml"/><Relationship Id="rId4" Type="http://schemas.openxmlformats.org/officeDocument/2006/relationships/image" Target="../media/image36.png"/></Relationships>
</file>

<file path=ppt/slides/_rels/slide2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8.xml"/><Relationship Id="rId1" Type="http://schemas.openxmlformats.org/officeDocument/2006/relationships/slideLayout" Target="../slideLayouts/slideLayout8.xml"/><Relationship Id="rId6" Type="http://schemas.openxmlformats.org/officeDocument/2006/relationships/image" Target="../media/image38.png"/><Relationship Id="rId5" Type="http://schemas.openxmlformats.org/officeDocument/2006/relationships/image" Target="../media/image37.png"/><Relationship Id="rId4" Type="http://schemas.openxmlformats.org/officeDocument/2006/relationships/image" Target="../media/image3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2" y="2054277"/>
            <a:ext cx="5077649"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Geometry</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9, Lesson 8</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Surface Area of Three-Dimensional Figures</a:t>
            </a:r>
            <a:br>
              <a:rPr lang="en-US" sz="3800" b="1" dirty="0">
                <a:solidFill>
                  <a:srgbClr val="417DBF"/>
                </a:solidFill>
                <a:latin typeface="Verdana"/>
                <a:ea typeface="Verdana"/>
                <a:cs typeface="Verdana"/>
                <a:sym typeface="Verdana"/>
              </a:rPr>
            </a:br>
            <a:br>
              <a:rPr lang="en-US" sz="3800" b="1" dirty="0">
                <a:solidFill>
                  <a:srgbClr val="417DBF"/>
                </a:solidFill>
                <a:latin typeface="Verdana"/>
                <a:ea typeface="Verdana"/>
                <a:cs typeface="Verdana"/>
                <a:sym typeface="Verdana"/>
              </a:rPr>
            </a:br>
            <a:r>
              <a:rPr lang="en-US" sz="2800" b="1" dirty="0">
                <a:solidFill>
                  <a:srgbClr val="417DBF"/>
                </a:solidFill>
                <a:latin typeface="Verdana"/>
                <a:ea typeface="Verdana"/>
                <a:cs typeface="Verdana"/>
                <a:sym typeface="Verdana"/>
              </a:rPr>
              <a:t>Volume 2, pg. 93</a:t>
            </a:r>
          </a:p>
          <a:p>
            <a:pPr algn="ctr">
              <a:lnSpc>
                <a:spcPct val="100000"/>
              </a:lnSpc>
              <a:buClr>
                <a:srgbClr val="000000"/>
              </a:buClr>
            </a:pPr>
            <a:endParaRPr lang="en-US" sz="3400" b="1" dirty="0">
              <a:solidFill>
                <a:srgbClr val="417DBF"/>
              </a:solidFill>
              <a:latin typeface="Verdana"/>
              <a:ea typeface="Verdana"/>
              <a:cs typeface="Verdana"/>
              <a:sym typeface="Verdana"/>
            </a:endParaRPr>
          </a:p>
          <a:p>
            <a:pPr algn="ctr">
              <a:lnSpc>
                <a:spcPct val="75000"/>
              </a:lnSpc>
            </a:pPr>
            <a:endParaRPr sz="31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4" name="Picture 3" descr="Logo&#10;&#10;Description automatically generated">
            <a:extLst>
              <a:ext uri="{FF2B5EF4-FFF2-40B4-BE49-F238E27FC236}">
                <a16:creationId xmlns:a16="http://schemas.microsoft.com/office/drawing/2014/main" id="{52C00464-EFA3-6346-BE43-A03DFF537B3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05010" y="1598046"/>
            <a:ext cx="2973100" cy="346578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124050" y="136525"/>
            <a:ext cx="7509900"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sp>
        <p:nvSpPr>
          <p:cNvPr id="282" name="Google Shape;282;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2, pg. 93</a:t>
            </a:r>
            <a:endParaRPr i="1" dirty="0">
              <a:latin typeface="Calibri"/>
              <a:ea typeface="Calibri"/>
              <a:cs typeface="Calibri"/>
              <a:sym typeface="Calibri"/>
            </a:endParaRPr>
          </a:p>
        </p:txBody>
      </p:sp>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514000" y="1600200"/>
            <a:ext cx="11009924" cy="4205700"/>
          </a:xfrm>
          <a:prstGeom prst="rect">
            <a:avLst/>
          </a:prstGeom>
          <a:noFill/>
          <a:ln>
            <a:noFill/>
          </a:ln>
        </p:spPr>
        <p:txBody>
          <a:bodyPr spcFirstLastPara="1" wrap="square" lIns="91425" tIns="45700" rIns="91425" bIns="45700" anchor="t" anchorCtr="0">
            <a:norm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400" dirty="0">
                <a:latin typeface="Verdana" charset="0"/>
                <a:ea typeface="Verdana" charset="0"/>
                <a:cs typeface="Verdana" charset="0"/>
              </a:rPr>
              <a:t>MA.912.GR.4.6 </a:t>
            </a:r>
          </a:p>
          <a:p>
            <a:pPr marL="920750" indent="0">
              <a:buNone/>
            </a:pPr>
            <a:r>
              <a:rPr lang="en-US" sz="2400" dirty="0">
                <a:latin typeface="Verdana" charset="0"/>
                <a:ea typeface="Verdana" charset="0"/>
                <a:cs typeface="Verdana" charset="0"/>
              </a:rPr>
              <a:t>Solve mathematical and real-world problems involving the surface area of three-dimensional figures limited to cylinders, pyramids, prisms, cones, and spheres.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1" name="Google Shape;281;g104476d1465_1_17"/>
          <p:cNvPicPr preferRelativeResize="0"/>
          <p:nvPr/>
        </p:nvPicPr>
        <p:blipFill>
          <a:blip r:embed="rId3">
            <a:alphaModFix/>
          </a:blip>
          <a:stretch>
            <a:fillRect/>
          </a:stretch>
        </p:blipFill>
        <p:spPr>
          <a:xfrm>
            <a:off x="300550" y="372300"/>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95;g103996e1364_0_10">
            <a:extLst>
              <a:ext uri="{FF2B5EF4-FFF2-40B4-BE49-F238E27FC236}">
                <a16:creationId xmlns:a16="http://schemas.microsoft.com/office/drawing/2014/main" id="{08B3C7FF-E6D0-2145-9A84-003D15672764}"/>
              </a:ext>
            </a:extLst>
          </p:cNvPr>
          <p:cNvSpPr txBox="1">
            <a:spLocks/>
          </p:cNvSpPr>
          <p:nvPr/>
        </p:nvSpPr>
        <p:spPr>
          <a:xfrm>
            <a:off x="1125200" y="129667"/>
            <a:ext cx="853499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000" b="1" dirty="0">
                <a:solidFill>
                  <a:srgbClr val="54B5D1"/>
                </a:solidFill>
                <a:latin typeface="Verdana"/>
                <a:ea typeface="Verdana"/>
                <a:cs typeface="Verdana"/>
                <a:sym typeface="Verdana"/>
              </a:rPr>
              <a:t>Integrated Mathematical Thinking and Reasoning Standards</a:t>
            </a:r>
          </a:p>
        </p:txBody>
      </p:sp>
      <p:sp>
        <p:nvSpPr>
          <p:cNvPr id="10" name="Google Shape;282;g104476d1465_1_17">
            <a:extLst>
              <a:ext uri="{FF2B5EF4-FFF2-40B4-BE49-F238E27FC236}">
                <a16:creationId xmlns:a16="http://schemas.microsoft.com/office/drawing/2014/main" id="{E701C7D4-7BD4-5F4C-ACEB-5781D00837A2}"/>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93</a:t>
            </a:r>
          </a:p>
        </p:txBody>
      </p:sp>
      <p:sp>
        <p:nvSpPr>
          <p:cNvPr id="11" name="Google Shape;296;g103996e1364_0_10">
            <a:extLst>
              <a:ext uri="{FF2B5EF4-FFF2-40B4-BE49-F238E27FC236}">
                <a16:creationId xmlns:a16="http://schemas.microsoft.com/office/drawing/2014/main" id="{A6E18E39-B007-D647-9935-55A748533A45}"/>
              </a:ext>
            </a:extLst>
          </p:cNvPr>
          <p:cNvSpPr txBox="1">
            <a:spLocks/>
          </p:cNvSpPr>
          <p:nvPr/>
        </p:nvSpPr>
        <p:spPr>
          <a:xfrm>
            <a:off x="1101760" y="1596390"/>
            <a:ext cx="10422164"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MA.K12.MTR.2.1 Demonstrate understanding by representing problems in multiple ways.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MA.K12.MTR.4.1 Engage in discussions that reflect on the mathematical thinking of self and others.</a:t>
            </a:r>
          </a:p>
          <a:p>
            <a:pPr marL="457200">
              <a:buSzPts val="523"/>
            </a:pPr>
            <a:endPar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4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MA.K12.MTR.5.1 Use patterns and structure to help understand and connect mathematical concepts.</a:t>
            </a:r>
          </a:p>
        </p:txBody>
      </p:sp>
    </p:spTree>
    <p:extLst>
      <p:ext uri="{BB962C8B-B14F-4D97-AF65-F5344CB8AC3E}">
        <p14:creationId xmlns:p14="http://schemas.microsoft.com/office/powerpoint/2010/main" val="20808422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065719" y="30660"/>
            <a:ext cx="79584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4">
            <a:alphaModFix/>
          </a:blip>
          <a:stretch>
            <a:fillRect/>
          </a:stretch>
        </p:blipFill>
        <p:spPr>
          <a:xfrm>
            <a:off x="283557" y="319860"/>
            <a:ext cx="747300" cy="747300"/>
          </a:xfrm>
          <a:prstGeom prst="rect">
            <a:avLst/>
          </a:prstGeom>
          <a:noFill/>
          <a:ln>
            <a:noFill/>
          </a:ln>
          <a:effectLst>
            <a:outerShdw blurRad="50800" dist="38100" dir="2700000" algn="tl" rotWithShape="0">
              <a:prstClr val="black">
                <a:alpha val="40000"/>
              </a:prstClr>
            </a:outerShdw>
          </a:effectLst>
        </p:spPr>
      </p:pic>
      <p:sp>
        <p:nvSpPr>
          <p:cNvPr id="13" name="Google Shape;282;g104476d1465_1_17">
            <a:extLst>
              <a:ext uri="{FF2B5EF4-FFF2-40B4-BE49-F238E27FC236}">
                <a16:creationId xmlns:a16="http://schemas.microsoft.com/office/drawing/2014/main" id="{3ECD2D46-55D5-C547-91DD-0801CE9D6AD7}"/>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93</a:t>
            </a:r>
          </a:p>
        </p:txBody>
      </p:sp>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466344" y="1600200"/>
            <a:ext cx="11057580"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342900" indent="-342900">
              <a:buFont typeface="Wingdings" charset="2"/>
              <a:buChar char="q"/>
            </a:pPr>
            <a:r>
              <a:rPr lang="en-US" sz="2400" dirty="0">
                <a:latin typeface="Verdana" charset="0"/>
                <a:ea typeface="Verdana" charset="0"/>
                <a:cs typeface="Verdana" charset="0"/>
              </a:rPr>
              <a:t>I can solve mathematical problems involving the surface area of cylinders, pyramids, prisms, cones, and spheres.</a:t>
            </a:r>
          </a:p>
          <a:p>
            <a:endParaRPr lang="en-US" sz="2400" dirty="0">
              <a:latin typeface="Verdana" charset="0"/>
              <a:ea typeface="Verdana" charset="0"/>
              <a:cs typeface="Verdana" charset="0"/>
            </a:endParaRPr>
          </a:p>
          <a:p>
            <a:pPr marL="342900" indent="-342900">
              <a:buFont typeface="Wingdings" charset="2"/>
              <a:buChar char="q"/>
            </a:pPr>
            <a:r>
              <a:rPr lang="en-US" sz="2400" dirty="0">
                <a:latin typeface="Verdana" charset="0"/>
                <a:ea typeface="Verdana" charset="0"/>
                <a:cs typeface="Verdana" charset="0"/>
              </a:rPr>
              <a:t>I can solve mathematical problems involving the lateral area of cylinders, pyramids, prisms, cones, and spheres.</a:t>
            </a:r>
          </a:p>
        </p:txBody>
      </p:sp>
    </p:spTree>
    <p:extLst>
      <p:ext uri="{BB962C8B-B14F-4D97-AF65-F5344CB8AC3E}">
        <p14:creationId xmlns:p14="http://schemas.microsoft.com/office/powerpoint/2010/main" val="2071420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pic>
        <p:nvPicPr>
          <p:cNvPr id="312" name="Google Shape;312;g104476d1465_1_39"/>
          <p:cNvPicPr preferRelativeResize="0"/>
          <p:nvPr/>
        </p:nvPicPr>
        <p:blipFill>
          <a:blip r:embed="rId4">
            <a:alphaModFix/>
          </a:blip>
          <a:stretch>
            <a:fillRect/>
          </a:stretch>
        </p:blipFill>
        <p:spPr>
          <a:xfrm>
            <a:off x="4635550" y="2879325"/>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94</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6426"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10465" y="60325"/>
            <a:ext cx="962312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9.8.1 Warm-Up: Which One Doesn’t Belong?</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4">
            <a:alphaModFix/>
          </a:blip>
          <a:stretch>
            <a:fillRect/>
          </a:stretch>
        </p:blipFill>
        <p:spPr>
          <a:xfrm>
            <a:off x="263166" y="197485"/>
            <a:ext cx="747300" cy="747300"/>
          </a:xfrm>
          <a:prstGeom prst="rect">
            <a:avLst/>
          </a:prstGeom>
          <a:noFill/>
          <a:ln>
            <a:noFill/>
          </a:ln>
          <a:effectLst>
            <a:outerShdw blurRad="50800" dist="38100" dir="2700000" algn="tl" rotWithShape="0">
              <a:prstClr val="black">
                <a:alpha val="40000"/>
              </a:prstClr>
            </a:outerShdw>
          </a:effectLst>
        </p:spPr>
      </p:pic>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78200"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94</a:t>
            </a:r>
          </a:p>
        </p:txBody>
      </p:sp>
      <p:sp>
        <p:nvSpPr>
          <p:cNvPr id="2" name="TextBox 1">
            <a:extLst>
              <a:ext uri="{FF2B5EF4-FFF2-40B4-BE49-F238E27FC236}">
                <a16:creationId xmlns:a16="http://schemas.microsoft.com/office/drawing/2014/main" id="{E1D7562E-134F-D14B-AF1A-DF40E11EF758}"/>
              </a:ext>
            </a:extLst>
          </p:cNvPr>
          <p:cNvSpPr txBox="1"/>
          <p:nvPr/>
        </p:nvSpPr>
        <p:spPr>
          <a:xfrm>
            <a:off x="551064" y="1386025"/>
            <a:ext cx="8327136" cy="400110"/>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Which one doesn’t belong? Explain your answer. </a:t>
            </a:r>
          </a:p>
        </p:txBody>
      </p:sp>
      <p:pic>
        <p:nvPicPr>
          <p:cNvPr id="3" name="Picture 2"/>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1652756" y="1898782"/>
            <a:ext cx="5827040" cy="3789060"/>
          </a:xfrm>
          <a:prstGeom prst="rect">
            <a:avLst/>
          </a:prstGeom>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33BEA6"/>
                </a:solidFill>
                <a:latin typeface="Verdana"/>
                <a:ea typeface="Verdana"/>
                <a:cs typeface="Verdana"/>
                <a:sym typeface="Verdana"/>
              </a:rPr>
              <a:t>Collaboration</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94</a:t>
            </a:r>
          </a:p>
        </p:txBody>
      </p:sp>
      <p:pic>
        <p:nvPicPr>
          <p:cNvPr id="3074" name="Picture 2">
            <a:extLst>
              <a:ext uri="{FF2B5EF4-FFF2-40B4-BE49-F238E27FC236}">
                <a16:creationId xmlns:a16="http://schemas.microsoft.com/office/drawing/2014/main" id="{D0821C8B-4657-A74D-94B5-D6CF373A1741}"/>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3114"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60325"/>
            <a:ext cx="10362602"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9.8.2 Collaboration: Using Nets to Find Surface Area</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94</a:t>
            </a:r>
          </a:p>
        </p:txBody>
      </p:sp>
      <p:pic>
        <p:nvPicPr>
          <p:cNvPr id="9" name="Picture 2">
            <a:extLst>
              <a:ext uri="{FF2B5EF4-FFF2-40B4-BE49-F238E27FC236}">
                <a16:creationId xmlns:a16="http://schemas.microsoft.com/office/drawing/2014/main" id="{A80EBD0F-404F-0B4B-AC09-DA5A6DF6026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1" name="Text Box 24"/>
          <p:cNvSpPr txBox="1"/>
          <p:nvPr/>
        </p:nvSpPr>
        <p:spPr>
          <a:xfrm>
            <a:off x="1465116" y="2135636"/>
            <a:ext cx="6629400" cy="1186684"/>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0750"/>
            <a:r>
              <a:rPr lang="en-US" sz="2000" dirty="0">
                <a:solidFill>
                  <a:srgbClr val="3465B0"/>
                </a:solidFill>
                <a:latin typeface="Verdana" charset="0"/>
                <a:ea typeface="Verdana" charset="0"/>
                <a:cs typeface="Verdana" charset="0"/>
              </a:rPr>
              <a:t>The </a:t>
            </a:r>
            <a:r>
              <a:rPr lang="en-US" sz="2000" b="1" dirty="0">
                <a:solidFill>
                  <a:srgbClr val="3465B0"/>
                </a:solidFill>
                <a:latin typeface="Verdana" charset="0"/>
                <a:ea typeface="Verdana" charset="0"/>
                <a:cs typeface="Verdana" charset="0"/>
              </a:rPr>
              <a:t>lateral area</a:t>
            </a:r>
            <a:r>
              <a:rPr lang="en-US" sz="2000" dirty="0">
                <a:solidFill>
                  <a:srgbClr val="3465B0"/>
                </a:solidFill>
                <a:latin typeface="Verdana" charset="0"/>
                <a:ea typeface="Verdana" charset="0"/>
                <a:cs typeface="Verdana" charset="0"/>
              </a:rPr>
              <a:t> of a three-dimensional figure is the sum of the area of the figure’s faces.</a:t>
            </a:r>
          </a:p>
        </p:txBody>
      </p:sp>
      <p:pic>
        <p:nvPicPr>
          <p:cNvPr id="12" name="Picture 11"/>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737137" y="2358075"/>
            <a:ext cx="542544" cy="530352"/>
          </a:xfrm>
          <a:prstGeom prst="rect">
            <a:avLst/>
          </a:prstGeom>
          <a:effectLst>
            <a:outerShdw blurRad="50800" dist="76200" dir="2700000" algn="tl" rotWithShape="0">
              <a:prstClr val="black">
                <a:alpha val="40000"/>
              </a:prstClr>
            </a:outerShdw>
          </a:effectLst>
        </p:spPr>
      </p:pic>
      <p:sp>
        <p:nvSpPr>
          <p:cNvPr id="13" name="Text Box 24"/>
          <p:cNvSpPr txBox="1"/>
          <p:nvPr/>
        </p:nvSpPr>
        <p:spPr>
          <a:xfrm>
            <a:off x="1465116" y="3559340"/>
            <a:ext cx="6629400" cy="1561301"/>
          </a:xfrm>
          <a:prstGeom prst="roundRect">
            <a:avLst/>
          </a:prstGeom>
          <a:solidFill>
            <a:srgbClr val="B6E6F5"/>
          </a:solidFill>
          <a:ln>
            <a:noFill/>
          </a:ln>
          <a:effectLst>
            <a:outerShdw blurRad="50800" dist="76200" dir="2700000" algn="tl" rotWithShape="0">
              <a:prstClr val="black">
                <a:alpha val="40000"/>
              </a:prstClr>
            </a:outerShdw>
          </a:effectLst>
        </p:spPr>
        <p:style>
          <a:lnRef idx="3">
            <a:schemeClr val="lt1"/>
          </a:lnRef>
          <a:fillRef idx="1">
            <a:schemeClr val="accent5"/>
          </a:fillRef>
          <a:effectRef idx="1">
            <a:schemeClr val="accent5"/>
          </a:effectRef>
          <a:fontRef idx="minor">
            <a:schemeClr val="lt1"/>
          </a:fontRef>
        </p:style>
        <p:txBody>
          <a:bodyPr rot="0" spcFirstLastPara="0" vert="horz" wrap="square" lIns="91440" tIns="45720" rIns="91440" bIns="45720" numCol="1" spcCol="0" rtlCol="0" fromWordArt="0" anchor="ctr" anchorCtr="0" forceAA="0" compatLnSpc="1">
            <a:prstTxWarp prst="textNoShape">
              <a:avLst/>
            </a:prstTxWarp>
            <a:noAutofit/>
          </a:bodyPr>
          <a:lstStyle/>
          <a:p>
            <a:pPr marL="920750"/>
            <a:r>
              <a:rPr lang="en-US" sz="2000" dirty="0">
                <a:solidFill>
                  <a:srgbClr val="3465B0"/>
                </a:solidFill>
                <a:latin typeface="Verdana" charset="0"/>
                <a:ea typeface="Verdana" charset="0"/>
                <a:cs typeface="Verdana" charset="0"/>
              </a:rPr>
              <a:t>The </a:t>
            </a:r>
            <a:r>
              <a:rPr lang="en-US" sz="2000" b="1" dirty="0">
                <a:solidFill>
                  <a:srgbClr val="3465B0"/>
                </a:solidFill>
                <a:latin typeface="Verdana" charset="0"/>
                <a:ea typeface="Verdana" charset="0"/>
                <a:cs typeface="Verdana" charset="0"/>
              </a:rPr>
              <a:t>surface area</a:t>
            </a:r>
            <a:r>
              <a:rPr lang="en-US" sz="2000" dirty="0">
                <a:solidFill>
                  <a:srgbClr val="3465B0"/>
                </a:solidFill>
                <a:latin typeface="Verdana" charset="0"/>
                <a:ea typeface="Verdana" charset="0"/>
                <a:cs typeface="Verdana" charset="0"/>
              </a:rPr>
              <a:t> of a three-dimensional figure is the sum of the lateral area of the figure’s faces and the area of the figure’s bases.</a:t>
            </a:r>
          </a:p>
        </p:txBody>
      </p:sp>
      <p:pic>
        <p:nvPicPr>
          <p:cNvPr id="14" name="Picture 13"/>
          <p:cNvPicPr>
            <a:picLocks noChangeAspect="1"/>
          </p:cNvPicPr>
          <p:nvPr/>
        </p:nvPicPr>
        <p:blipFill>
          <a:blip r:embed="rId5">
            <a:extLst>
              <a:ext uri="{28A0092B-C50C-407E-A947-70E740481C1C}">
                <a14:useLocalDpi xmlns:a14="http://schemas.microsoft.com/office/drawing/2010/main"/>
              </a:ext>
            </a:extLst>
          </a:blip>
          <a:stretch>
            <a:fillRect/>
          </a:stretch>
        </p:blipFill>
        <p:spPr>
          <a:xfrm>
            <a:off x="1737137" y="3781779"/>
            <a:ext cx="542544" cy="530352"/>
          </a:xfrm>
          <a:prstGeom prst="rect">
            <a:avLst/>
          </a:prstGeom>
          <a:effectLst>
            <a:outerShdw blurRad="50800" dist="76200" dir="2700000" algn="tl" rotWithShape="0">
              <a:prstClr val="black">
                <a:alpha val="40000"/>
              </a:prstClr>
            </a:outerShdw>
          </a:effectLst>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94</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4" y="520394"/>
            <a:ext cx="10270003"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Work with your partner to determine a formula for the lateral area and the surface area of the figure you have been given. Complete the table.</a:t>
            </a:r>
          </a:p>
        </p:txBody>
      </p:sp>
      <p:graphicFrame>
        <p:nvGraphicFramePr>
          <p:cNvPr id="2" name="Table 1"/>
          <p:cNvGraphicFramePr>
            <a:graphicFrameLocks noGrp="1"/>
          </p:cNvGraphicFramePr>
          <p:nvPr>
            <p:extLst>
              <p:ext uri="{D42A27DB-BD31-4B8C-83A1-F6EECF244321}">
                <p14:modId xmlns:p14="http://schemas.microsoft.com/office/powerpoint/2010/main" val="3974478027"/>
              </p:ext>
            </p:extLst>
          </p:nvPr>
        </p:nvGraphicFramePr>
        <p:xfrm>
          <a:off x="946521" y="1977025"/>
          <a:ext cx="7515225" cy="2895600"/>
        </p:xfrm>
        <a:graphic>
          <a:graphicData uri="http://schemas.openxmlformats.org/drawingml/2006/table">
            <a:tbl>
              <a:tblPr firstRow="1" firstCol="1" bandRow="1"/>
              <a:tblGrid>
                <a:gridCol w="1743729">
                  <a:extLst>
                    <a:ext uri="{9D8B030D-6E8A-4147-A177-3AD203B41FA5}">
                      <a16:colId xmlns:a16="http://schemas.microsoft.com/office/drawing/2014/main" val="20000"/>
                    </a:ext>
                  </a:extLst>
                </a:gridCol>
                <a:gridCol w="1471468">
                  <a:extLst>
                    <a:ext uri="{9D8B030D-6E8A-4147-A177-3AD203B41FA5}">
                      <a16:colId xmlns:a16="http://schemas.microsoft.com/office/drawing/2014/main" val="20001"/>
                    </a:ext>
                  </a:extLst>
                </a:gridCol>
                <a:gridCol w="1467960">
                  <a:extLst>
                    <a:ext uri="{9D8B030D-6E8A-4147-A177-3AD203B41FA5}">
                      <a16:colId xmlns:a16="http://schemas.microsoft.com/office/drawing/2014/main" val="20002"/>
                    </a:ext>
                  </a:extLst>
                </a:gridCol>
                <a:gridCol w="1464451">
                  <a:extLst>
                    <a:ext uri="{9D8B030D-6E8A-4147-A177-3AD203B41FA5}">
                      <a16:colId xmlns:a16="http://schemas.microsoft.com/office/drawing/2014/main" val="20003"/>
                    </a:ext>
                  </a:extLst>
                </a:gridCol>
                <a:gridCol w="1367617">
                  <a:extLst>
                    <a:ext uri="{9D8B030D-6E8A-4147-A177-3AD203B41FA5}">
                      <a16:colId xmlns:a16="http://schemas.microsoft.com/office/drawing/2014/main" val="20004"/>
                    </a:ext>
                  </a:extLst>
                </a:gridCol>
              </a:tblGrid>
              <a:tr h="850900">
                <a:tc gridSpan="5">
                  <a:txBody>
                    <a:bodyPr/>
                    <a:lstStyle/>
                    <a:p>
                      <a:pPr marL="0" marR="0">
                        <a:spcBef>
                          <a:spcPts val="0"/>
                        </a:spcBef>
                        <a:spcAft>
                          <a:spcPts val="0"/>
                        </a:spcAft>
                      </a:pPr>
                      <a:r>
                        <a:rPr lang="en-US" sz="2000">
                          <a:effectLst/>
                          <a:latin typeface="Verdana" charset="0"/>
                          <a:ea typeface="Helvetica Neue" charset="0"/>
                          <a:cs typeface="Helvetica Neue" charset="0"/>
                        </a:rPr>
                        <a:t>Our figure was:</a:t>
                      </a:r>
                      <a:endParaRPr lang="en-US" sz="140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extLst>
                  <a:ext uri="{0D108BD9-81ED-4DB2-BD59-A6C34878D82A}">
                    <a16:rowId xmlns:a16="http://schemas.microsoft.com/office/drawing/2014/main" val="10000"/>
                  </a:ext>
                </a:extLst>
              </a:tr>
              <a:tr h="1022350">
                <a:tc>
                  <a:txBody>
                    <a:bodyPr/>
                    <a:lstStyle/>
                    <a:p>
                      <a:pPr marL="0" marR="0" algn="ctr">
                        <a:spcBef>
                          <a:spcPts val="0"/>
                        </a:spcBef>
                        <a:spcAft>
                          <a:spcPts val="0"/>
                        </a:spcAft>
                      </a:pPr>
                      <a:r>
                        <a:rPr lang="en-US" sz="2000" b="1" dirty="0">
                          <a:effectLst/>
                          <a:latin typeface="Verdana" charset="0"/>
                          <a:ea typeface="Helvetica Neue" charset="0"/>
                          <a:cs typeface="Helvetica Neue" charset="0"/>
                        </a:rPr>
                        <a:t>Dimension</a:t>
                      </a:r>
                      <a:endParaRPr lang="en-US" sz="1400" dirty="0">
                        <a:effectLst/>
                        <a:latin typeface="Cambria" charset="0"/>
                        <a:ea typeface="Times New Roman" charset="0"/>
                        <a:cs typeface="Cambri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022350">
                <a:tc>
                  <a:txBody>
                    <a:bodyPr/>
                    <a:lstStyle/>
                    <a:p>
                      <a:pPr marL="0" marR="0" algn="ctr">
                        <a:spcBef>
                          <a:spcPts val="0"/>
                        </a:spcBef>
                        <a:spcAft>
                          <a:spcPts val="0"/>
                        </a:spcAft>
                      </a:pPr>
                      <a:r>
                        <a:rPr lang="en-US" sz="2000" b="1">
                          <a:effectLst/>
                          <a:latin typeface="Verdana" charset="0"/>
                          <a:ea typeface="Helvetica Neue" charset="0"/>
                          <a:cs typeface="Helvetica Neue" charset="0"/>
                        </a:rPr>
                        <a:t>Variable Used</a:t>
                      </a:r>
                      <a:endParaRPr lang="en-US" sz="140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a:effectLst/>
                          <a:latin typeface="Verdana" charset="0"/>
                          <a:ea typeface="Helvetica Neue" charset="0"/>
                          <a:cs typeface="Helvetica Neue" charset="0"/>
                        </a:rPr>
                        <a:t> </a:t>
                      </a:r>
                      <a:endParaRPr lang="en-US" sz="140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r>
                        <a:rPr lang="en-US" sz="2000" dirty="0">
                          <a:effectLst/>
                          <a:latin typeface="Verdana" charset="0"/>
                          <a:ea typeface="Helvetica Neue" charset="0"/>
                          <a:cs typeface="Helvetica Neue" charset="0"/>
                        </a:rPr>
                        <a:t> </a:t>
                      </a:r>
                      <a:endParaRPr lang="en-US" sz="1400" dirty="0">
                        <a:effectLst/>
                        <a:latin typeface="Cambria" charset="0"/>
                        <a:ea typeface="Times New Roman" charset="0"/>
                        <a:cs typeface="Cambri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841022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Activity</a:t>
            </a:r>
            <a:endParaRPr sz="5100" b="1" dirty="0">
              <a:solidFill>
                <a:srgbClr val="33BEA6"/>
              </a:solidFill>
              <a:latin typeface="Verdana"/>
              <a:ea typeface="Verdana"/>
              <a:cs typeface="Verdana"/>
              <a:sym typeface="Verdana"/>
            </a:endParaRPr>
          </a:p>
        </p:txBody>
      </p:sp>
      <p:sp>
        <p:nvSpPr>
          <p:cNvPr id="7" name="Google Shape;282;g104476d1465_1_17">
            <a:extLst>
              <a:ext uri="{FF2B5EF4-FFF2-40B4-BE49-F238E27FC236}">
                <a16:creationId xmlns:a16="http://schemas.microsoft.com/office/drawing/2014/main" id="{B595484E-1C62-AC4F-B448-37E60F77A8C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95</a:t>
            </a:r>
          </a:p>
        </p:txBody>
      </p:sp>
      <p:pic>
        <p:nvPicPr>
          <p:cNvPr id="5122" name="Picture 2" descr="Icon&#10;&#10;Description automatically generated">
            <a:extLst>
              <a:ext uri="{FF2B5EF4-FFF2-40B4-BE49-F238E27FC236}">
                <a16:creationId xmlns:a16="http://schemas.microsoft.com/office/drawing/2014/main" id="{217F3A92-AA2C-4D41-A73D-4DC6608D6820}"/>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520890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386408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052650" y="60325"/>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3BEA6"/>
                </a:solidFill>
                <a:latin typeface="Verdana"/>
                <a:ea typeface="Verdana"/>
                <a:cs typeface="Verdana"/>
                <a:sym typeface="Verdana"/>
              </a:rPr>
              <a:t>9.8.3 Activity: Gallery Walk</a:t>
            </a:r>
          </a:p>
        </p:txBody>
      </p:sp>
      <p:sp>
        <p:nvSpPr>
          <p:cNvPr id="15" name="Google Shape;282;g104476d1465_1_17">
            <a:extLst>
              <a:ext uri="{FF2B5EF4-FFF2-40B4-BE49-F238E27FC236}">
                <a16:creationId xmlns:a16="http://schemas.microsoft.com/office/drawing/2014/main" id="{5B627696-920F-B441-B5C1-01510F09761A}"/>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95</a:t>
            </a:r>
          </a:p>
        </p:txBody>
      </p:sp>
      <p:pic>
        <p:nvPicPr>
          <p:cNvPr id="9" name="Picture 2" descr="Icon&#10;&#10;Description automatically generated">
            <a:extLst>
              <a:ext uri="{FF2B5EF4-FFF2-40B4-BE49-F238E27FC236}">
                <a16:creationId xmlns:a16="http://schemas.microsoft.com/office/drawing/2014/main" id="{37999C4E-6AE0-FA43-BC73-665C08EC572F}"/>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348271"/>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A3547ABD-563B-A148-B65C-C7679A7B43D4}"/>
              </a:ext>
            </a:extLst>
          </p:cNvPr>
          <p:cNvSpPr txBox="1"/>
          <p:nvPr/>
        </p:nvSpPr>
        <p:spPr>
          <a:xfrm>
            <a:off x="593247" y="1386025"/>
            <a:ext cx="9892855"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During the gallery walk, record the formulas. Make any useful notes on each figure’s net.</a:t>
            </a:r>
          </a:p>
        </p:txBody>
      </p:sp>
      <p:graphicFrame>
        <p:nvGraphicFramePr>
          <p:cNvPr id="2" name="Table 1"/>
          <p:cNvGraphicFramePr>
            <a:graphicFrameLocks noGrp="1"/>
          </p:cNvGraphicFramePr>
          <p:nvPr>
            <p:extLst>
              <p:ext uri="{D42A27DB-BD31-4B8C-83A1-F6EECF244321}">
                <p14:modId xmlns:p14="http://schemas.microsoft.com/office/powerpoint/2010/main" val="1182504129"/>
              </p:ext>
            </p:extLst>
          </p:nvPr>
        </p:nvGraphicFramePr>
        <p:xfrm>
          <a:off x="1228375" y="2502060"/>
          <a:ext cx="6800850" cy="3255405"/>
        </p:xfrm>
        <a:graphic>
          <a:graphicData uri="http://schemas.openxmlformats.org/drawingml/2006/table">
            <a:tbl>
              <a:tblPr firstRow="1" firstCol="1" bandRow="1"/>
              <a:tblGrid>
                <a:gridCol w="2082165">
                  <a:extLst>
                    <a:ext uri="{9D8B030D-6E8A-4147-A177-3AD203B41FA5}">
                      <a16:colId xmlns:a16="http://schemas.microsoft.com/office/drawing/2014/main" val="20000"/>
                    </a:ext>
                  </a:extLst>
                </a:gridCol>
                <a:gridCol w="4718685">
                  <a:extLst>
                    <a:ext uri="{9D8B030D-6E8A-4147-A177-3AD203B41FA5}">
                      <a16:colId xmlns:a16="http://schemas.microsoft.com/office/drawing/2014/main" val="20001"/>
                    </a:ext>
                  </a:extLst>
                </a:gridCol>
              </a:tblGrid>
              <a:tr h="297124">
                <a:tc>
                  <a:txBody>
                    <a:bodyPr/>
                    <a:lstStyle/>
                    <a:p>
                      <a:pPr marL="0" marR="0" algn="ctr">
                        <a:spcBef>
                          <a:spcPts val="0"/>
                        </a:spcBef>
                        <a:spcAft>
                          <a:spcPts val="0"/>
                        </a:spcAft>
                      </a:pPr>
                      <a:r>
                        <a:rPr lang="en-US" sz="2000" b="1">
                          <a:effectLst/>
                          <a:latin typeface="Verdana" charset="0"/>
                          <a:ea typeface="Verdana" charset="0"/>
                          <a:cs typeface="Verdana" charset="0"/>
                        </a:rPr>
                        <a:t>Figure</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Net</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983535">
                <a:tc>
                  <a:txBody>
                    <a:bodyPr/>
                    <a:lstStyle/>
                    <a:p>
                      <a:pPr marL="0" marR="0" algn="ctr">
                        <a:spcBef>
                          <a:spcPts val="0"/>
                        </a:spcBef>
                        <a:spcAft>
                          <a:spcPts val="0"/>
                        </a:spcAft>
                      </a:pPr>
                      <a:r>
                        <a:rPr lang="en-US" sz="2000" b="1" dirty="0">
                          <a:effectLst/>
                          <a:latin typeface="Verdana" charset="0"/>
                          <a:ea typeface="Verdana" charset="0"/>
                          <a:cs typeface="Verdana" charset="0"/>
                        </a:rPr>
                        <a:t>Cylinder</a:t>
                      </a:r>
                      <a:endParaRPr lang="en-US" sz="2000" dirty="0">
                        <a:effectLst/>
                        <a:latin typeface="Verdana" charset="0"/>
                        <a:ea typeface="Verdana" charset="0"/>
                        <a:cs typeface="Verdana" charset="0"/>
                      </a:endParaRP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a:noFill/>
                    </a:lnB>
                  </a:tcPr>
                </a:tc>
                <a:tc rowSpan="3">
                  <a:txBody>
                    <a:bodyPr/>
                    <a:lstStyle/>
                    <a:p>
                      <a:pPr marL="0" marR="0" algn="ctr">
                        <a:spcBef>
                          <a:spcPts val="0"/>
                        </a:spcBef>
                        <a:spcAft>
                          <a:spcPts val="0"/>
                        </a:spcAft>
                      </a:pPr>
                      <a:endParaRPr lang="en-US" sz="2000">
                        <a:effectLst/>
                        <a:latin typeface="Verdana" charset="0"/>
                        <a:ea typeface="Verdana" charset="0"/>
                        <a:cs typeface="Verdana" charset="0"/>
                      </a:endParaRP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83535">
                <a:tc>
                  <a:txBody>
                    <a:bodyPr/>
                    <a:lstStyle/>
                    <a:p>
                      <a:pPr marL="0" marR="0" algn="ctr">
                        <a:spcBef>
                          <a:spcPts val="0"/>
                        </a:spcBef>
                        <a:spcAft>
                          <a:spcPts val="0"/>
                        </a:spcAft>
                      </a:pPr>
                      <a:r>
                        <a:rPr lang="en-US" sz="2000">
                          <a:effectLst/>
                          <a:latin typeface="Verdana" charset="0"/>
                          <a:ea typeface="Verdana" charset="0"/>
                          <a:cs typeface="Verdana" charset="0"/>
                        </a:rPr>
                        <a:t>Lateral Area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a:noFill/>
                    </a:lnB>
                  </a:tcPr>
                </a:tc>
                <a:tc vMerge="1">
                  <a:txBody>
                    <a:bodyPr/>
                    <a:lstStyle/>
                    <a:p>
                      <a:endParaRPr lang="en-US"/>
                    </a:p>
                  </a:txBody>
                  <a:tcPr/>
                </a:tc>
                <a:extLst>
                  <a:ext uri="{0D108BD9-81ED-4DB2-BD59-A6C34878D82A}">
                    <a16:rowId xmlns:a16="http://schemas.microsoft.com/office/drawing/2014/main" val="10002"/>
                  </a:ext>
                </a:extLst>
              </a:tr>
              <a:tr h="983535">
                <a:tc>
                  <a:txBody>
                    <a:bodyPr/>
                    <a:lstStyle/>
                    <a:p>
                      <a:pPr marL="0" marR="0" algn="ctr">
                        <a:spcBef>
                          <a:spcPts val="0"/>
                        </a:spcBef>
                        <a:spcAft>
                          <a:spcPts val="0"/>
                        </a:spcAft>
                      </a:pPr>
                      <a:r>
                        <a:rPr lang="en-US" sz="2000" dirty="0">
                          <a:effectLst/>
                          <a:latin typeface="Verdana" charset="0"/>
                          <a:ea typeface="Verdana" charset="0"/>
                          <a:cs typeface="Verdana" charset="0"/>
                        </a:rPr>
                        <a:t>Surface Area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a:noFill/>
                    </a:lnT>
                    <a:lnB w="12700" cap="flat" cmpd="sng" algn="ctr">
                      <a:solidFill>
                        <a:srgbClr val="000000"/>
                      </a:solidFill>
                      <a:prstDash val="solid"/>
                      <a:round/>
                      <a:headEnd type="none" w="med" len="med"/>
                      <a:tailEnd type="none" w="med" len="med"/>
                    </a:lnB>
                  </a:tcPr>
                </a:tc>
                <a:tc vMerge="1">
                  <a:txBody>
                    <a:bodyPr/>
                    <a:lstStyle/>
                    <a:p>
                      <a:endParaRPr lang="en-US"/>
                    </a:p>
                  </a:txBody>
                  <a:tcPr/>
                </a:tc>
                <a:extLst>
                  <a:ext uri="{0D108BD9-81ED-4DB2-BD59-A6C34878D82A}">
                    <a16:rowId xmlns:a16="http://schemas.microsoft.com/office/drawing/2014/main" val="10003"/>
                  </a:ext>
                </a:extLst>
              </a:tr>
            </a:tbl>
          </a:graphicData>
        </a:graphic>
      </p:graphicFrame>
      <p:pic>
        <p:nvPicPr>
          <p:cNvPr id="2049" name="Picture 17"/>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925855" y="2916893"/>
            <a:ext cx="3543300" cy="27178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561810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95</a:t>
            </a:r>
          </a:p>
        </p:txBody>
      </p:sp>
      <p:graphicFrame>
        <p:nvGraphicFramePr>
          <p:cNvPr id="2" name="Table 1"/>
          <p:cNvGraphicFramePr>
            <a:graphicFrameLocks noGrp="1"/>
          </p:cNvGraphicFramePr>
          <p:nvPr>
            <p:extLst>
              <p:ext uri="{D42A27DB-BD31-4B8C-83A1-F6EECF244321}">
                <p14:modId xmlns:p14="http://schemas.microsoft.com/office/powerpoint/2010/main" val="3795268775"/>
              </p:ext>
            </p:extLst>
          </p:nvPr>
        </p:nvGraphicFramePr>
        <p:xfrm>
          <a:off x="844602" y="528938"/>
          <a:ext cx="7741174" cy="5791200"/>
        </p:xfrm>
        <a:graphic>
          <a:graphicData uri="http://schemas.openxmlformats.org/drawingml/2006/table">
            <a:tbl>
              <a:tblPr firstRow="1" firstCol="1" bandRow="1"/>
              <a:tblGrid>
                <a:gridCol w="2370057">
                  <a:extLst>
                    <a:ext uri="{9D8B030D-6E8A-4147-A177-3AD203B41FA5}">
                      <a16:colId xmlns:a16="http://schemas.microsoft.com/office/drawing/2014/main" val="20000"/>
                    </a:ext>
                  </a:extLst>
                </a:gridCol>
                <a:gridCol w="5371117">
                  <a:extLst>
                    <a:ext uri="{9D8B030D-6E8A-4147-A177-3AD203B41FA5}">
                      <a16:colId xmlns:a16="http://schemas.microsoft.com/office/drawing/2014/main" val="20001"/>
                    </a:ext>
                  </a:extLst>
                </a:gridCol>
              </a:tblGrid>
              <a:tr h="134155">
                <a:tc>
                  <a:txBody>
                    <a:bodyPr/>
                    <a:lstStyle/>
                    <a:p>
                      <a:pPr marL="0" marR="0" algn="ctr">
                        <a:spcBef>
                          <a:spcPts val="0"/>
                        </a:spcBef>
                        <a:spcAft>
                          <a:spcPts val="0"/>
                        </a:spcAft>
                      </a:pPr>
                      <a:r>
                        <a:rPr lang="en-US" sz="2000" b="1">
                          <a:effectLst/>
                          <a:latin typeface="Verdana" charset="0"/>
                          <a:ea typeface="Verdana" charset="0"/>
                          <a:cs typeface="Verdana" charset="0"/>
                        </a:rPr>
                        <a:t>Figure</a:t>
                      </a:r>
                      <a:endParaRPr lang="en-US" sz="2000">
                        <a:effectLst/>
                        <a:latin typeface="Verdana" charset="0"/>
                        <a:ea typeface="Verdana" charset="0"/>
                        <a:cs typeface="Verdana" charset="0"/>
                      </a:endParaRPr>
                    </a:p>
                  </a:txBody>
                  <a:tcPr marL="33539" marR="33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Net</a:t>
                      </a:r>
                      <a:endParaRPr lang="en-US" sz="2000">
                        <a:effectLst/>
                        <a:latin typeface="Verdana" charset="0"/>
                        <a:ea typeface="Verdana" charset="0"/>
                        <a:cs typeface="Verdana" charset="0"/>
                      </a:endParaRPr>
                    </a:p>
                  </a:txBody>
                  <a:tcPr marL="33539" marR="33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341549">
                <a:tc>
                  <a:txBody>
                    <a:bodyPr/>
                    <a:lstStyle/>
                    <a:p>
                      <a:pPr marL="0" marR="0" algn="ctr">
                        <a:spcBef>
                          <a:spcPts val="0"/>
                        </a:spcBef>
                        <a:spcAft>
                          <a:spcPts val="0"/>
                        </a:spcAft>
                      </a:pPr>
                      <a:r>
                        <a:rPr lang="en-US" sz="2000" b="1" dirty="0">
                          <a:effectLst/>
                          <a:latin typeface="Verdana" charset="0"/>
                          <a:ea typeface="Verdana" charset="0"/>
                          <a:cs typeface="Verdana" charset="0"/>
                        </a:rPr>
                        <a:t>Cube</a:t>
                      </a:r>
                      <a:endParaRPr lang="en-US" sz="2000" dirty="0">
                        <a:effectLst/>
                        <a:latin typeface="Verdana" charset="0"/>
                        <a:ea typeface="Verdana" charset="0"/>
                        <a:cs typeface="Verdana" charset="0"/>
                      </a:endParaRP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Lateral Area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Surface Area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txBody>
                  <a:tcPr marL="33539" marR="33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charset="0"/>
                        <a:ea typeface="Verdana" charset="0"/>
                        <a:cs typeface="Verdana" charset="0"/>
                      </a:endParaRPr>
                    </a:p>
                  </a:txBody>
                  <a:tcPr marL="33539" marR="33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543402">
                <a:tc>
                  <a:txBody>
                    <a:bodyPr/>
                    <a:lstStyle/>
                    <a:p>
                      <a:pPr marL="0" marR="0" algn="ctr">
                        <a:spcBef>
                          <a:spcPts val="0"/>
                        </a:spcBef>
                        <a:spcAft>
                          <a:spcPts val="0"/>
                        </a:spcAft>
                      </a:pPr>
                      <a:r>
                        <a:rPr lang="en-US" sz="2000" b="1" dirty="0">
                          <a:effectLst/>
                          <a:latin typeface="Verdana" charset="0"/>
                          <a:ea typeface="Verdana" charset="0"/>
                          <a:cs typeface="Verdana" charset="0"/>
                        </a:rPr>
                        <a:t>Rectangular Prism</a:t>
                      </a:r>
                      <a:endParaRPr lang="en-US" sz="2000" dirty="0">
                        <a:effectLst/>
                        <a:latin typeface="Verdana" charset="0"/>
                        <a:ea typeface="Verdana" charset="0"/>
                        <a:cs typeface="Verdana" charset="0"/>
                      </a:endParaRP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Lateral Area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Surface Area =</a:t>
                      </a:r>
                    </a:p>
                  </a:txBody>
                  <a:tcPr marL="33539" marR="3353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charset="0"/>
                        <a:ea typeface="Verdana" charset="0"/>
                        <a:cs typeface="Verdana" charset="0"/>
                      </a:endParaRPr>
                    </a:p>
                  </a:txBody>
                  <a:tcPr marL="33539" marR="33539"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pic>
        <p:nvPicPr>
          <p:cNvPr id="3074" name="Picture 24"/>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120037" y="1189338"/>
            <a:ext cx="3784600" cy="2235200"/>
          </a:xfrm>
          <a:prstGeom prst="rect">
            <a:avLst/>
          </a:prstGeom>
          <a:noFill/>
          <a:extLst>
            <a:ext uri="{909E8E84-426E-40DD-AFC4-6F175D3DCCD1}">
              <a14:hiddenFill xmlns:a14="http://schemas.microsoft.com/office/drawing/2010/main">
                <a:solidFill>
                  <a:srgbClr val="FFFFFF"/>
                </a:solidFill>
              </a14:hiddenFill>
            </a:ext>
          </a:extLst>
        </p:spPr>
      </p:pic>
      <p:pic>
        <p:nvPicPr>
          <p:cNvPr id="3073" name="Picture 18"/>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4439890" y="4012374"/>
            <a:ext cx="3008310" cy="21577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841970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1898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076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95</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227373286"/>
                  </p:ext>
                </p:extLst>
              </p:nvPr>
            </p:nvGraphicFramePr>
            <p:xfrm>
              <a:off x="765646" y="484505"/>
              <a:ext cx="8115115" cy="5520057"/>
            </p:xfrm>
            <a:graphic>
              <a:graphicData uri="http://schemas.openxmlformats.org/drawingml/2006/table">
                <a:tbl>
                  <a:tblPr firstRow="1" firstCol="1" bandRow="1"/>
                  <a:tblGrid>
                    <a:gridCol w="2417892">
                      <a:extLst>
                        <a:ext uri="{9D8B030D-6E8A-4147-A177-3AD203B41FA5}">
                          <a16:colId xmlns:a16="http://schemas.microsoft.com/office/drawing/2014/main" val="20000"/>
                        </a:ext>
                      </a:extLst>
                    </a:gridCol>
                    <a:gridCol w="5697223">
                      <a:extLst>
                        <a:ext uri="{9D8B030D-6E8A-4147-A177-3AD203B41FA5}">
                          <a16:colId xmlns:a16="http://schemas.microsoft.com/office/drawing/2014/main" val="20001"/>
                        </a:ext>
                      </a:extLst>
                    </a:gridCol>
                  </a:tblGrid>
                  <a:tr h="2415025">
                    <a:tc>
                      <a:txBody>
                        <a:bodyPr/>
                        <a:lstStyle/>
                        <a:p>
                          <a:pPr marL="0" marR="0" algn="ctr">
                            <a:spcBef>
                              <a:spcPts val="0"/>
                            </a:spcBef>
                            <a:spcAft>
                              <a:spcPts val="0"/>
                            </a:spcAft>
                          </a:pPr>
                          <a:r>
                            <a:rPr lang="en-US" sz="2000" b="1">
                              <a:effectLst/>
                              <a:latin typeface="Verdana" charset="0"/>
                              <a:ea typeface="Verdana" charset="0"/>
                              <a:cs typeface="Verdana" charset="0"/>
                            </a:rPr>
                            <a:t>Triangular Prism</a:t>
                          </a:r>
                          <a:endParaRPr lang="en-US" sz="2000">
                            <a:effectLst/>
                            <a:latin typeface="Verdana" charset="0"/>
                            <a:ea typeface="Verdana" charset="0"/>
                            <a:cs typeface="Verdana" charset="0"/>
                          </a:endParaRPr>
                        </a:p>
                        <a:p>
                          <a:pPr marL="0" marR="0" algn="ctr">
                            <a:spcBef>
                              <a:spcPts val="0"/>
                            </a:spcBef>
                            <a:spcAft>
                              <a:spcPts val="0"/>
                            </a:spcAft>
                          </a:pPr>
                          <a:r>
                            <a:rPr lang="en-US" sz="2000">
                              <a:effectLst/>
                              <a:latin typeface="Verdana" charset="0"/>
                              <a:ea typeface="Verdana" charset="0"/>
                              <a:cs typeface="Verdana" charset="0"/>
                            </a:rPr>
                            <a:t> </a:t>
                          </a:r>
                        </a:p>
                        <a:p>
                          <a:pPr marL="0" marR="0" algn="ctr">
                            <a:spcBef>
                              <a:spcPts val="0"/>
                            </a:spcBef>
                            <a:spcAft>
                              <a:spcPts val="0"/>
                            </a:spcAft>
                          </a:pPr>
                          <a:r>
                            <a:rPr lang="en-US" sz="2000">
                              <a:effectLst/>
                              <a:latin typeface="Verdana" charset="0"/>
                              <a:ea typeface="Verdana" charset="0"/>
                              <a:cs typeface="Verdana" charset="0"/>
                            </a:rPr>
                            <a:t>Lateral Area =</a:t>
                          </a:r>
                        </a:p>
                        <a:p>
                          <a:pPr marL="0" marR="0" algn="ctr">
                            <a:spcBef>
                              <a:spcPts val="0"/>
                            </a:spcBef>
                            <a:spcAft>
                              <a:spcPts val="0"/>
                            </a:spcAft>
                          </a:pPr>
                          <a:r>
                            <a:rPr lang="en-US" sz="2000">
                              <a:effectLst/>
                              <a:latin typeface="Verdana" charset="0"/>
                              <a:ea typeface="Verdana" charset="0"/>
                              <a:cs typeface="Verdana" charset="0"/>
                            </a:rPr>
                            <a:t> </a:t>
                          </a:r>
                        </a:p>
                        <a:p>
                          <a:pPr marL="0" marR="0" algn="ctr">
                            <a:spcBef>
                              <a:spcPts val="0"/>
                            </a:spcBef>
                            <a:spcAft>
                              <a:spcPts val="0"/>
                            </a:spcAft>
                          </a:pPr>
                          <a:r>
                            <a:rPr lang="en-US" sz="2000">
                              <a:effectLst/>
                              <a:latin typeface="Verdana" charset="0"/>
                              <a:ea typeface="Verdana" charset="0"/>
                              <a:cs typeface="Verdana" charset="0"/>
                            </a:rPr>
                            <a:t> </a:t>
                          </a:r>
                        </a:p>
                        <a:p>
                          <a:pPr marL="0" marR="0" algn="ctr">
                            <a:spcBef>
                              <a:spcPts val="0"/>
                            </a:spcBef>
                            <a:spcAft>
                              <a:spcPts val="0"/>
                            </a:spcAft>
                          </a:pPr>
                          <a:r>
                            <a:rPr lang="en-US" sz="2000">
                              <a:effectLst/>
                              <a:latin typeface="Verdana" charset="0"/>
                              <a:ea typeface="Verdana" charset="0"/>
                              <a:cs typeface="Verdana" charset="0"/>
                            </a:rPr>
                            <a:t>Surface Area =</a:t>
                          </a:r>
                        </a:p>
                      </a:txBody>
                      <a:tcPr marL="28556" marR="28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2000">
                            <a:effectLst/>
                            <a:latin typeface="Verdana" charset="0"/>
                            <a:ea typeface="Verdana" charset="0"/>
                            <a:cs typeface="Verdana" charset="0"/>
                          </a:endParaRPr>
                        </a:p>
                      </a:txBody>
                      <a:tcPr marL="28556" marR="285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05032">
                    <a:tc>
                      <a:txBody>
                        <a:bodyPr/>
                        <a:lstStyle/>
                        <a:p>
                          <a:pPr marL="0" marR="0" algn="ctr">
                            <a:spcBef>
                              <a:spcPts val="0"/>
                            </a:spcBef>
                            <a:spcAft>
                              <a:spcPts val="0"/>
                            </a:spcAft>
                          </a:pPr>
                          <a:r>
                            <a:rPr lang="en-US" sz="2000" b="1" dirty="0">
                              <a:effectLst/>
                              <a:latin typeface="Verdana" charset="0"/>
                              <a:ea typeface="Verdana" charset="0"/>
                              <a:cs typeface="Verdana" charset="0"/>
                            </a:rPr>
                            <a:t>Square Pyramid</a:t>
                          </a:r>
                          <a:endParaRPr lang="en-US" sz="2000" dirty="0">
                            <a:effectLst/>
                            <a:latin typeface="Verdana" charset="0"/>
                            <a:ea typeface="Verdana" charset="0"/>
                            <a:cs typeface="Verdana" charset="0"/>
                          </a:endParaRP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Lateral Area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Surface Area =</a:t>
                          </a:r>
                        </a:p>
                      </a:txBody>
                      <a:tcPr marL="28556" marR="28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r>
                            <a:rPr lang="en-US" sz="2000" dirty="0">
                              <a:effectLst/>
                              <a:latin typeface="Verdana" charset="0"/>
                              <a:ea typeface="Verdana" charset="0"/>
                              <a:cs typeface="Verdana" charset="0"/>
                            </a:rPr>
                            <a:t>The height of the triangle that is a face of a pyramid is also known as slant height, </a:t>
                          </a:r>
                          <a14:m>
                            <m:oMath xmlns:m="http://schemas.openxmlformats.org/officeDocument/2006/math">
                              <m:sSub>
                                <m:sSubPr>
                                  <m:ctrlPr>
                                    <a:rPr lang="en-US" sz="2000" i="1">
                                      <a:effectLst/>
                                      <a:latin typeface="Cambria Math" panose="02040503050406030204" pitchFamily="18" charset="0"/>
                                      <a:ea typeface="Verdana" charset="0"/>
                                      <a:cs typeface="Verdana" charset="0"/>
                                    </a:rPr>
                                  </m:ctrlPr>
                                </m:sSubPr>
                                <m:e>
                                  <m:r>
                                    <a:rPr lang="en-US" sz="2000" i="1">
                                      <a:effectLst/>
                                      <a:latin typeface="Cambria Math" charset="0"/>
                                      <a:ea typeface="Verdana" charset="0"/>
                                      <a:cs typeface="Verdana" charset="0"/>
                                    </a:rPr>
                                    <m:t>h</m:t>
                                  </m:r>
                                </m:e>
                                <m:sub>
                                  <m:r>
                                    <a:rPr lang="en-US" sz="2000" i="1">
                                      <a:effectLst/>
                                      <a:latin typeface="Cambria Math" charset="0"/>
                                      <a:ea typeface="Verdana" charset="0"/>
                                      <a:cs typeface="Verdana" charset="0"/>
                                    </a:rPr>
                                    <m:t>𝑠</m:t>
                                  </m:r>
                                </m:sub>
                              </m:sSub>
                            </m:oMath>
                          </a14:m>
                          <a:r>
                            <a:rPr lang="en-US" sz="2000" dirty="0">
                              <a:effectLst/>
                              <a:latin typeface="Verdana" charset="0"/>
                              <a:ea typeface="Verdana" charset="0"/>
                              <a:cs typeface="Verdana" charset="0"/>
                            </a:rPr>
                            <a:t>.</a:t>
                          </a:r>
                        </a:p>
                      </a:txBody>
                      <a:tcPr marL="28556" marR="285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227373286"/>
                  </p:ext>
                </p:extLst>
              </p:nvPr>
            </p:nvGraphicFramePr>
            <p:xfrm>
              <a:off x="765646" y="484505"/>
              <a:ext cx="8115115" cy="5520057"/>
            </p:xfrm>
            <a:graphic>
              <a:graphicData uri="http://schemas.openxmlformats.org/drawingml/2006/table">
                <a:tbl>
                  <a:tblPr firstRow="1" firstCol="1" bandRow="1"/>
                  <a:tblGrid>
                    <a:gridCol w="2417892">
                      <a:extLst>
                        <a:ext uri="{9D8B030D-6E8A-4147-A177-3AD203B41FA5}">
                          <a16:colId xmlns:a16="http://schemas.microsoft.com/office/drawing/2014/main" val="20000"/>
                        </a:ext>
                      </a:extLst>
                    </a:gridCol>
                    <a:gridCol w="5697223">
                      <a:extLst>
                        <a:ext uri="{9D8B030D-6E8A-4147-A177-3AD203B41FA5}">
                          <a16:colId xmlns:a16="http://schemas.microsoft.com/office/drawing/2014/main" val="20001"/>
                        </a:ext>
                      </a:extLst>
                    </a:gridCol>
                  </a:tblGrid>
                  <a:tr h="2415025">
                    <a:tc>
                      <a:txBody>
                        <a:bodyPr/>
                        <a:lstStyle/>
                        <a:p>
                          <a:pPr marL="0" marR="0" algn="ctr">
                            <a:spcBef>
                              <a:spcPts val="0"/>
                            </a:spcBef>
                            <a:spcAft>
                              <a:spcPts val="0"/>
                            </a:spcAft>
                          </a:pPr>
                          <a:r>
                            <a:rPr lang="en-US" sz="2000" b="1">
                              <a:effectLst/>
                              <a:latin typeface="Verdana" charset="0"/>
                              <a:ea typeface="Verdana" charset="0"/>
                              <a:cs typeface="Verdana" charset="0"/>
                            </a:rPr>
                            <a:t>Triangular Prism</a:t>
                          </a:r>
                          <a:endParaRPr lang="en-US" sz="2000">
                            <a:effectLst/>
                            <a:latin typeface="Verdana" charset="0"/>
                            <a:ea typeface="Verdana" charset="0"/>
                            <a:cs typeface="Verdana" charset="0"/>
                          </a:endParaRPr>
                        </a:p>
                        <a:p>
                          <a:pPr marL="0" marR="0" algn="ctr">
                            <a:spcBef>
                              <a:spcPts val="0"/>
                            </a:spcBef>
                            <a:spcAft>
                              <a:spcPts val="0"/>
                            </a:spcAft>
                          </a:pPr>
                          <a:r>
                            <a:rPr lang="en-US" sz="2000">
                              <a:effectLst/>
                              <a:latin typeface="Verdana" charset="0"/>
                              <a:ea typeface="Verdana" charset="0"/>
                              <a:cs typeface="Verdana" charset="0"/>
                            </a:rPr>
                            <a:t> </a:t>
                          </a:r>
                        </a:p>
                        <a:p>
                          <a:pPr marL="0" marR="0" algn="ctr">
                            <a:spcBef>
                              <a:spcPts val="0"/>
                            </a:spcBef>
                            <a:spcAft>
                              <a:spcPts val="0"/>
                            </a:spcAft>
                          </a:pPr>
                          <a:r>
                            <a:rPr lang="en-US" sz="2000">
                              <a:effectLst/>
                              <a:latin typeface="Verdana" charset="0"/>
                              <a:ea typeface="Verdana" charset="0"/>
                              <a:cs typeface="Verdana" charset="0"/>
                            </a:rPr>
                            <a:t>Lateral Area =</a:t>
                          </a:r>
                        </a:p>
                        <a:p>
                          <a:pPr marL="0" marR="0" algn="ctr">
                            <a:spcBef>
                              <a:spcPts val="0"/>
                            </a:spcBef>
                            <a:spcAft>
                              <a:spcPts val="0"/>
                            </a:spcAft>
                          </a:pPr>
                          <a:r>
                            <a:rPr lang="en-US" sz="2000">
                              <a:effectLst/>
                              <a:latin typeface="Verdana" charset="0"/>
                              <a:ea typeface="Verdana" charset="0"/>
                              <a:cs typeface="Verdana" charset="0"/>
                            </a:rPr>
                            <a:t> </a:t>
                          </a:r>
                        </a:p>
                        <a:p>
                          <a:pPr marL="0" marR="0" algn="ctr">
                            <a:spcBef>
                              <a:spcPts val="0"/>
                            </a:spcBef>
                            <a:spcAft>
                              <a:spcPts val="0"/>
                            </a:spcAft>
                          </a:pPr>
                          <a:r>
                            <a:rPr lang="en-US" sz="2000">
                              <a:effectLst/>
                              <a:latin typeface="Verdana" charset="0"/>
                              <a:ea typeface="Verdana" charset="0"/>
                              <a:cs typeface="Verdana" charset="0"/>
                            </a:rPr>
                            <a:t> </a:t>
                          </a:r>
                        </a:p>
                        <a:p>
                          <a:pPr marL="0" marR="0" algn="ctr">
                            <a:spcBef>
                              <a:spcPts val="0"/>
                            </a:spcBef>
                            <a:spcAft>
                              <a:spcPts val="0"/>
                            </a:spcAft>
                          </a:pPr>
                          <a:r>
                            <a:rPr lang="en-US" sz="2000">
                              <a:effectLst/>
                              <a:latin typeface="Verdana" charset="0"/>
                              <a:ea typeface="Verdana" charset="0"/>
                              <a:cs typeface="Verdana" charset="0"/>
                            </a:rPr>
                            <a:t>Surface Area =</a:t>
                          </a:r>
                        </a:p>
                      </a:txBody>
                      <a:tcPr marL="28556" marR="28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2000">
                            <a:effectLst/>
                            <a:latin typeface="Verdana" charset="0"/>
                            <a:ea typeface="Verdana" charset="0"/>
                            <a:cs typeface="Verdana" charset="0"/>
                          </a:endParaRPr>
                        </a:p>
                      </a:txBody>
                      <a:tcPr marL="28556" marR="285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3105032">
                    <a:tc>
                      <a:txBody>
                        <a:bodyPr/>
                        <a:lstStyle/>
                        <a:p>
                          <a:pPr marL="0" marR="0" algn="ctr">
                            <a:spcBef>
                              <a:spcPts val="0"/>
                            </a:spcBef>
                            <a:spcAft>
                              <a:spcPts val="0"/>
                            </a:spcAft>
                          </a:pPr>
                          <a:r>
                            <a:rPr lang="en-US" sz="2000" b="1" dirty="0">
                              <a:effectLst/>
                              <a:latin typeface="Verdana" charset="0"/>
                              <a:ea typeface="Verdana" charset="0"/>
                              <a:cs typeface="Verdana" charset="0"/>
                            </a:rPr>
                            <a:t>Square Pyramid</a:t>
                          </a:r>
                          <a:endParaRPr lang="en-US" sz="2000" dirty="0">
                            <a:effectLst/>
                            <a:latin typeface="Verdana" charset="0"/>
                            <a:ea typeface="Verdana" charset="0"/>
                            <a:cs typeface="Verdana" charset="0"/>
                          </a:endParaRP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Lateral Area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Surface Area =</a:t>
                          </a:r>
                        </a:p>
                      </a:txBody>
                      <a:tcPr marL="28556" marR="28556"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28556" marR="28556"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2567" t="-80392" r="-214" b="-392"/>
                          </a:stretch>
                        </a:blipFill>
                      </a:tcPr>
                    </a:tc>
                    <a:extLst>
                      <a:ext uri="{0D108BD9-81ED-4DB2-BD59-A6C34878D82A}">
                        <a16:rowId xmlns:a16="http://schemas.microsoft.com/office/drawing/2014/main" val="10001"/>
                      </a:ext>
                    </a:extLst>
                  </a:tr>
                </a:tbl>
              </a:graphicData>
            </a:graphic>
          </p:graphicFrame>
        </mc:Fallback>
      </mc:AlternateContent>
      <p:pic>
        <p:nvPicPr>
          <p:cNvPr id="4099" name="Picture 19"/>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668363" y="519909"/>
            <a:ext cx="4000500" cy="2133600"/>
          </a:xfrm>
          <a:prstGeom prst="rect">
            <a:avLst/>
          </a:prstGeom>
          <a:noFill/>
          <a:extLst>
            <a:ext uri="{909E8E84-426E-40DD-AFC4-6F175D3DCCD1}">
              <a14:hiddenFill xmlns:a14="http://schemas.microsoft.com/office/drawing/2010/main">
                <a:solidFill>
                  <a:srgbClr val="FFFFFF"/>
                </a:solidFill>
              </a14:hiddenFill>
            </a:ext>
          </a:extLst>
        </p:spPr>
      </p:pic>
      <p:pic>
        <p:nvPicPr>
          <p:cNvPr id="4" name="Picture 3">
            <a:extLst>
              <a:ext uri="{FF2B5EF4-FFF2-40B4-BE49-F238E27FC236}">
                <a16:creationId xmlns:a16="http://schemas.microsoft.com/office/drawing/2014/main" id="{9F64D1D0-0262-8545-5507-952FAF5C22AA}"/>
              </a:ext>
            </a:extLst>
          </p:cNvPr>
          <p:cNvPicPr>
            <a:picLocks noChangeAspect="1"/>
          </p:cNvPicPr>
          <p:nvPr/>
        </p:nvPicPr>
        <p:blipFill>
          <a:blip r:embed="rId6"/>
          <a:stretch>
            <a:fillRect/>
          </a:stretch>
        </p:blipFill>
        <p:spPr>
          <a:xfrm>
            <a:off x="4033681" y="3029982"/>
            <a:ext cx="3537157" cy="1867443"/>
          </a:xfrm>
          <a:prstGeom prst="rect">
            <a:avLst/>
          </a:prstGeom>
        </p:spPr>
      </p:pic>
    </p:spTree>
    <p:extLst>
      <p:ext uri="{BB962C8B-B14F-4D97-AF65-F5344CB8AC3E}">
        <p14:creationId xmlns:p14="http://schemas.microsoft.com/office/powerpoint/2010/main" val="18342985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95</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360302983"/>
                  </p:ext>
                </p:extLst>
              </p:nvPr>
            </p:nvGraphicFramePr>
            <p:xfrm>
              <a:off x="1276001" y="667227"/>
              <a:ext cx="6971316" cy="3681095"/>
            </p:xfrm>
            <a:graphic>
              <a:graphicData uri="http://schemas.openxmlformats.org/drawingml/2006/table">
                <a:tbl>
                  <a:tblPr firstRow="1" firstCol="1" bandRow="1"/>
                  <a:tblGrid>
                    <a:gridCol w="2077099">
                      <a:extLst>
                        <a:ext uri="{9D8B030D-6E8A-4147-A177-3AD203B41FA5}">
                          <a16:colId xmlns:a16="http://schemas.microsoft.com/office/drawing/2014/main" val="20000"/>
                        </a:ext>
                      </a:extLst>
                    </a:gridCol>
                    <a:gridCol w="4894217">
                      <a:extLst>
                        <a:ext uri="{9D8B030D-6E8A-4147-A177-3AD203B41FA5}">
                          <a16:colId xmlns:a16="http://schemas.microsoft.com/office/drawing/2014/main" val="20001"/>
                        </a:ext>
                      </a:extLst>
                    </a:gridCol>
                  </a:tblGrid>
                  <a:tr h="3681095">
                    <a:tc>
                      <a:txBody>
                        <a:bodyPr/>
                        <a:lstStyle/>
                        <a:p>
                          <a:pPr marL="0" marR="0" algn="ctr">
                            <a:spcBef>
                              <a:spcPts val="0"/>
                            </a:spcBef>
                            <a:spcAft>
                              <a:spcPts val="0"/>
                            </a:spcAft>
                          </a:pPr>
                          <a:br>
                            <a:rPr lang="en-US" sz="2000" dirty="0">
                              <a:effectLst/>
                              <a:latin typeface="Verdana" charset="0"/>
                              <a:ea typeface="Verdana" charset="0"/>
                              <a:cs typeface="Verdana" charset="0"/>
                            </a:rPr>
                          </a:br>
                          <a:r>
                            <a:rPr lang="en-US" sz="2000" b="1" dirty="0">
                              <a:effectLst/>
                              <a:latin typeface="Verdana" charset="0"/>
                              <a:ea typeface="Verdana" charset="0"/>
                              <a:cs typeface="Verdana" charset="0"/>
                            </a:rPr>
                            <a:t>Rectangular Pyramid</a:t>
                          </a:r>
                          <a:endParaRPr lang="en-US" sz="2000" dirty="0">
                            <a:effectLst/>
                            <a:latin typeface="Verdana" charset="0"/>
                            <a:ea typeface="Verdana" charset="0"/>
                            <a:cs typeface="Verdana" charset="0"/>
                          </a:endParaRP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Lateral Area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Surface Area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endParaRPr lang="en-US" sz="2000" dirty="0">
                            <a:effectLst/>
                            <a:latin typeface="Verdana" charset="0"/>
                            <a:ea typeface="Verdana" charset="0"/>
                            <a:cs typeface="Verdana" charset="0"/>
                          </a:endParaRPr>
                        </a:p>
                        <a:p>
                          <a:pPr marL="0" marR="0" algn="ctr">
                            <a:spcBef>
                              <a:spcPts val="0"/>
                            </a:spcBef>
                            <a:spcAft>
                              <a:spcPts val="0"/>
                            </a:spcAft>
                          </a:pPr>
                          <a:r>
                            <a:rPr lang="en-US" sz="2000" dirty="0">
                              <a:effectLst/>
                              <a:latin typeface="Verdana" charset="0"/>
                              <a:ea typeface="Verdana" charset="0"/>
                              <a:cs typeface="Verdana" charset="0"/>
                            </a:rPr>
                            <a:t>The height of the triangle that is a face of a pyramid is also known as slant height, </a:t>
                          </a:r>
                          <a14:m>
                            <m:oMath xmlns:m="http://schemas.openxmlformats.org/officeDocument/2006/math">
                              <m:sSub>
                                <m:sSubPr>
                                  <m:ctrlPr>
                                    <a:rPr lang="en-US" sz="2000" i="1">
                                      <a:effectLst/>
                                      <a:latin typeface="Cambria Math" panose="02040503050406030204" pitchFamily="18" charset="0"/>
                                      <a:ea typeface="Verdana" charset="0"/>
                                      <a:cs typeface="Verdana" charset="0"/>
                                    </a:rPr>
                                  </m:ctrlPr>
                                </m:sSubPr>
                                <m:e>
                                  <m:r>
                                    <a:rPr lang="en-US" sz="2000" i="1">
                                      <a:effectLst/>
                                      <a:latin typeface="Cambria Math" charset="0"/>
                                      <a:ea typeface="Verdana" charset="0"/>
                                      <a:cs typeface="Verdana" charset="0"/>
                                    </a:rPr>
                                    <m:t>h</m:t>
                                  </m:r>
                                </m:e>
                                <m:sub>
                                  <m:r>
                                    <a:rPr lang="en-US" sz="2000" i="1">
                                      <a:effectLst/>
                                      <a:latin typeface="Cambria Math" charset="0"/>
                                      <a:ea typeface="Verdana" charset="0"/>
                                      <a:cs typeface="Verdana" charset="0"/>
                                    </a:rPr>
                                    <m:t>𝑠</m:t>
                                  </m:r>
                                </m:sub>
                              </m:sSub>
                            </m:oMath>
                          </a14:m>
                          <a:r>
                            <a:rPr lang="en-US" sz="2000" dirty="0">
                              <a:effectLst/>
                              <a:latin typeface="Verdana" charset="0"/>
                              <a:ea typeface="Verdana" charset="0"/>
                              <a:cs typeface="Verdana" charset="0"/>
                            </a:rPr>
                            <a:t>.</a:t>
                          </a:r>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360302983"/>
                  </p:ext>
                </p:extLst>
              </p:nvPr>
            </p:nvGraphicFramePr>
            <p:xfrm>
              <a:off x="1276001" y="667227"/>
              <a:ext cx="6971316" cy="3681095"/>
            </p:xfrm>
            <a:graphic>
              <a:graphicData uri="http://schemas.openxmlformats.org/drawingml/2006/table">
                <a:tbl>
                  <a:tblPr firstRow="1" firstCol="1" bandRow="1"/>
                  <a:tblGrid>
                    <a:gridCol w="2077099">
                      <a:extLst>
                        <a:ext uri="{9D8B030D-6E8A-4147-A177-3AD203B41FA5}">
                          <a16:colId xmlns:a16="http://schemas.microsoft.com/office/drawing/2014/main" val="20000"/>
                        </a:ext>
                      </a:extLst>
                    </a:gridCol>
                    <a:gridCol w="4894217">
                      <a:extLst>
                        <a:ext uri="{9D8B030D-6E8A-4147-A177-3AD203B41FA5}">
                          <a16:colId xmlns:a16="http://schemas.microsoft.com/office/drawing/2014/main" val="20001"/>
                        </a:ext>
                      </a:extLst>
                    </a:gridCol>
                  </a:tblGrid>
                  <a:tr h="3681095">
                    <a:tc>
                      <a:txBody>
                        <a:bodyPr/>
                        <a:lstStyle/>
                        <a:p>
                          <a:pPr marL="0" marR="0" algn="ctr">
                            <a:spcBef>
                              <a:spcPts val="0"/>
                            </a:spcBef>
                            <a:spcAft>
                              <a:spcPts val="0"/>
                            </a:spcAft>
                          </a:pPr>
                          <a:br>
                            <a:rPr lang="en-US" sz="2000" dirty="0">
                              <a:effectLst/>
                              <a:latin typeface="Verdana" charset="0"/>
                              <a:ea typeface="Verdana" charset="0"/>
                              <a:cs typeface="Verdana" charset="0"/>
                            </a:rPr>
                          </a:br>
                          <a:r>
                            <a:rPr lang="en-US" sz="2000" b="1" dirty="0">
                              <a:effectLst/>
                              <a:latin typeface="Verdana" charset="0"/>
                              <a:ea typeface="Verdana" charset="0"/>
                              <a:cs typeface="Verdana" charset="0"/>
                            </a:rPr>
                            <a:t>Rectangular Pyramid</a:t>
                          </a:r>
                          <a:endParaRPr lang="en-US" sz="2000" dirty="0">
                            <a:effectLst/>
                            <a:latin typeface="Verdana" charset="0"/>
                            <a:ea typeface="Verdana" charset="0"/>
                            <a:cs typeface="Verdana" charset="0"/>
                          </a:endParaRP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Lateral Area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 </a:t>
                          </a:r>
                        </a:p>
                        <a:p>
                          <a:pPr marL="0" marR="0" algn="ctr">
                            <a:spcBef>
                              <a:spcPts val="0"/>
                            </a:spcBef>
                            <a:spcAft>
                              <a:spcPts val="0"/>
                            </a:spcAft>
                          </a:pPr>
                          <a:r>
                            <a:rPr lang="en-US" sz="2000" dirty="0">
                              <a:effectLst/>
                              <a:latin typeface="Verdana" charset="0"/>
                              <a:ea typeface="Verdana" charset="0"/>
                              <a:cs typeface="Verdana" charset="0"/>
                            </a:rPr>
                            <a:t>Surface Area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8580" marR="68580"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2590" t="-165" r="-249" b="-3802"/>
                          </a:stretch>
                        </a:blipFill>
                      </a:tcPr>
                    </a:tc>
                    <a:extLst>
                      <a:ext uri="{0D108BD9-81ED-4DB2-BD59-A6C34878D82A}">
                        <a16:rowId xmlns:a16="http://schemas.microsoft.com/office/drawing/2014/main" val="10000"/>
                      </a:ext>
                    </a:extLst>
                  </a:tr>
                </a:tbl>
              </a:graphicData>
            </a:graphic>
          </p:graphicFrame>
        </mc:Fallback>
      </mc:AlternateContent>
      <p:pic>
        <p:nvPicPr>
          <p:cNvPr id="5121" name="Picture 23"/>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621659" y="728186"/>
            <a:ext cx="4254500" cy="25527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68391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518563"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26B7D4"/>
                </a:solidFill>
                <a:latin typeface="Verdana"/>
                <a:ea typeface="Verdana"/>
                <a:cs typeface="Verdana"/>
                <a:sym typeface="Verdana"/>
              </a:rPr>
              <a:t>Bring It Together</a:t>
            </a:r>
            <a:endParaRPr sz="5100" b="1" dirty="0">
              <a:solidFill>
                <a:srgbClr val="26B7D4"/>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96</a:t>
            </a:r>
          </a:p>
        </p:txBody>
      </p:sp>
      <p:pic>
        <p:nvPicPr>
          <p:cNvPr id="13314" name="Picture 2" descr="Icon&#10;&#10;Description automatically generated">
            <a:extLst>
              <a:ext uri="{FF2B5EF4-FFF2-40B4-BE49-F238E27FC236}">
                <a16:creationId xmlns:a16="http://schemas.microsoft.com/office/drawing/2014/main" id="{31E4CCCA-703A-4C46-A49C-ABEAC0061CD4}"/>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705255"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156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4602"/>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13426"/>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49" y="-162231"/>
            <a:ext cx="9492447"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9.8.4 Bring It Together: Formulas</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70501"/>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96</a:t>
            </a: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69E00F9-F39F-5043-888E-B0A2D8C9AE0F}"/>
                  </a:ext>
                </a:extLst>
              </p:cNvPr>
              <p:cNvSpPr txBox="1"/>
              <p:nvPr/>
            </p:nvSpPr>
            <p:spPr>
              <a:xfrm>
                <a:off x="593248" y="1398852"/>
                <a:ext cx="10822004" cy="1323439"/>
              </a:xfrm>
              <a:prstGeom prst="rect">
                <a:avLst/>
              </a:prstGeom>
              <a:noFill/>
            </p:spPr>
            <p:txBody>
              <a:bodyPr wrap="square" rtlCol="0">
                <a:spAutoFit/>
              </a:bodyPr>
              <a:lstStyle/>
              <a:p>
                <a:r>
                  <a:rPr lang="en-US" sz="2000" dirty="0">
                    <a:latin typeface="Verdana" charset="0"/>
                    <a:ea typeface="Verdana" charset="0"/>
                    <a:cs typeface="Verdana" charset="0"/>
                  </a:rPr>
                  <a:t>Using the net of three-dimensional objects can help to find the lateral area and surface area. The net of a cone and a sphere make deriving the formulas for surface area from the net more challenging. A chart of formulas is given, where </a:t>
                </a:r>
                <a14:m>
                  <m:oMath xmlns:m="http://schemas.openxmlformats.org/officeDocument/2006/math">
                    <m:r>
                      <a:rPr lang="en-US" sz="2000" i="1">
                        <a:latin typeface="Cambria Math" charset="0"/>
                        <a:ea typeface="Verdana" charset="0"/>
                        <a:cs typeface="Verdana" charset="0"/>
                      </a:rPr>
                      <m:t>𝑆𝐴</m:t>
                    </m:r>
                  </m:oMath>
                </a14:m>
                <a:r>
                  <a:rPr lang="en-US" sz="2000" dirty="0">
                    <a:latin typeface="Verdana" charset="0"/>
                    <a:ea typeface="Verdana" charset="0"/>
                    <a:cs typeface="Verdana" charset="0"/>
                  </a:rPr>
                  <a:t> represents surface area.</a:t>
                </a:r>
              </a:p>
            </p:txBody>
          </p:sp>
        </mc:Choice>
        <mc:Fallback xmlns="">
          <p:sp>
            <p:nvSpPr>
              <p:cNvPr id="8" name="TextBox 7">
                <a:extLst>
                  <a:ext uri="{FF2B5EF4-FFF2-40B4-BE49-F238E27FC236}">
                    <a16:creationId xmlns:a16="http://schemas.microsoft.com/office/drawing/2014/main" id="{669E00F9-F39F-5043-888E-B0A2D8C9AE0F}"/>
                  </a:ext>
                </a:extLst>
              </p:cNvPr>
              <p:cNvSpPr txBox="1">
                <a:spLocks noRot="1" noChangeAspect="1" noMove="1" noResize="1" noEditPoints="1" noAdjustHandles="1" noChangeArrowheads="1" noChangeShapeType="1" noTextEdit="1"/>
              </p:cNvSpPr>
              <p:nvPr/>
            </p:nvSpPr>
            <p:spPr>
              <a:xfrm>
                <a:off x="593248" y="1398852"/>
                <a:ext cx="10822004" cy="1323439"/>
              </a:xfrm>
              <a:prstGeom prst="rect">
                <a:avLst/>
              </a:prstGeom>
              <a:blipFill>
                <a:blip r:embed="rId4"/>
                <a:stretch>
                  <a:fillRect l="-563" t="-2294" b="-6881"/>
                </a:stretch>
              </a:blipFill>
            </p:spPr>
            <p:txBody>
              <a:bodyPr/>
              <a:lstStyle/>
              <a:p>
                <a:r>
                  <a:rPr lang="en-US">
                    <a:noFill/>
                  </a:rPr>
                  <a:t> </a:t>
                </a:r>
              </a:p>
            </p:txBody>
          </p:sp>
        </mc:Fallback>
      </mc:AlternateContent>
      <p:pic>
        <p:nvPicPr>
          <p:cNvPr id="10" name="Picture 2" descr="Icon&#10;&#10;Description automatically generated">
            <a:extLst>
              <a:ext uri="{FF2B5EF4-FFF2-40B4-BE49-F238E27FC236}">
                <a16:creationId xmlns:a16="http://schemas.microsoft.com/office/drawing/2014/main" id="{BEDB11D9-D450-754F-8CDF-2076D1E96EEE}"/>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300928" y="112904"/>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365226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0"/>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724"/>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96</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521801"/>
            <a:ext cx="9768558" cy="707886"/>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The formulas in the table may not match the formulas recorded during the gallery walk. Which figures have formulas that are different?</a:t>
            </a: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540465854"/>
                  </p:ext>
                </p:extLst>
              </p:nvPr>
            </p:nvGraphicFramePr>
            <p:xfrm>
              <a:off x="646162" y="449597"/>
              <a:ext cx="8115942" cy="4768424"/>
            </p:xfrm>
            <a:graphic>
              <a:graphicData uri="http://schemas.openxmlformats.org/drawingml/2006/table">
                <a:tbl>
                  <a:tblPr firstRow="1" firstCol="1" bandRow="1"/>
                  <a:tblGrid>
                    <a:gridCol w="2401726">
                      <a:extLst>
                        <a:ext uri="{9D8B030D-6E8A-4147-A177-3AD203B41FA5}">
                          <a16:colId xmlns:a16="http://schemas.microsoft.com/office/drawing/2014/main" val="20000"/>
                        </a:ext>
                      </a:extLst>
                    </a:gridCol>
                    <a:gridCol w="2071914">
                      <a:extLst>
                        <a:ext uri="{9D8B030D-6E8A-4147-A177-3AD203B41FA5}">
                          <a16:colId xmlns:a16="http://schemas.microsoft.com/office/drawing/2014/main" val="20001"/>
                        </a:ext>
                      </a:extLst>
                    </a:gridCol>
                    <a:gridCol w="3642302">
                      <a:extLst>
                        <a:ext uri="{9D8B030D-6E8A-4147-A177-3AD203B41FA5}">
                          <a16:colId xmlns:a16="http://schemas.microsoft.com/office/drawing/2014/main" val="20002"/>
                        </a:ext>
                      </a:extLst>
                    </a:gridCol>
                  </a:tblGrid>
                  <a:tr h="525401">
                    <a:tc>
                      <a:txBody>
                        <a:bodyPr/>
                        <a:lstStyle/>
                        <a:p>
                          <a:pPr marL="0" marR="0" algn="ctr">
                            <a:spcBef>
                              <a:spcPts val="0"/>
                            </a:spcBef>
                            <a:spcAft>
                              <a:spcPts val="0"/>
                            </a:spcAft>
                          </a:pPr>
                          <a:r>
                            <a:rPr lang="en-US" sz="2000" b="1" dirty="0">
                              <a:effectLst/>
                              <a:latin typeface="Verdana" charset="0"/>
                              <a:ea typeface="Verdana" charset="0"/>
                              <a:cs typeface="Verdana" charset="0"/>
                            </a:rPr>
                            <a:t>Figure</a:t>
                          </a:r>
                          <a:endParaRPr lang="en-US" sz="2000" dirty="0">
                            <a:effectLst/>
                            <a:latin typeface="Verdana" charset="0"/>
                            <a:ea typeface="Verdana" charset="0"/>
                            <a:cs typeface="Verdana" charset="0"/>
                          </a:endParaRPr>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Surface Area</a:t>
                          </a:r>
                          <a:endParaRPr lang="en-US" sz="2000">
                            <a:effectLst/>
                            <a:latin typeface="Verdana" charset="0"/>
                            <a:ea typeface="Verdana" charset="0"/>
                            <a:cs typeface="Verdana" charset="0"/>
                          </a:endParaRPr>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Variables</a:t>
                          </a:r>
                          <a:endParaRPr lang="en-US" sz="2000">
                            <a:effectLst/>
                            <a:latin typeface="Verdana" charset="0"/>
                            <a:ea typeface="Verdana" charset="0"/>
                            <a:cs typeface="Verdana" charset="0"/>
                          </a:endParaRPr>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525401">
                    <a:tc>
                      <a:txBody>
                        <a:bodyPr/>
                        <a:lstStyle/>
                        <a:p>
                          <a:pPr marL="0" marR="0">
                            <a:spcBef>
                              <a:spcPts val="0"/>
                            </a:spcBef>
                            <a:spcAft>
                              <a:spcPts val="0"/>
                            </a:spcAft>
                          </a:pPr>
                          <a:r>
                            <a:rPr lang="en-US" sz="2000">
                              <a:effectLst/>
                              <a:latin typeface="Verdana" charset="0"/>
                              <a:ea typeface="Verdana" charset="0"/>
                              <a:cs typeface="Verdana" charset="0"/>
                            </a:rPr>
                            <a:t>Prism</a:t>
                          </a: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𝑆𝐴</m:t>
                                </m:r>
                                <m:r>
                                  <a:rPr lang="en-US" sz="2000" i="1">
                                    <a:effectLst/>
                                    <a:latin typeface="Cambria Math" charset="0"/>
                                    <a:ea typeface="Verdana" charset="0"/>
                                    <a:cs typeface="Verdana" charset="0"/>
                                  </a:rPr>
                                  <m:t>=2</m:t>
                                </m:r>
                                <m:r>
                                  <a:rPr lang="en-US" sz="2000" i="1">
                                    <a:effectLst/>
                                    <a:latin typeface="Cambria Math" charset="0"/>
                                    <a:ea typeface="Verdana" charset="0"/>
                                    <a:cs typeface="Verdana" charset="0"/>
                                  </a:rPr>
                                  <m:t>𝐵</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𝑃h</m:t>
                                </m:r>
                              </m:oMath>
                            </m:oMathPara>
                          </a14:m>
                          <a:endParaRPr lang="en-US" sz="2000">
                            <a:effectLst/>
                            <a:latin typeface="Verdana" charset="0"/>
                            <a:ea typeface="Verdana" charset="0"/>
                            <a:cs typeface="Verdana" charset="0"/>
                          </a:endParaRP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 xmlns:m="http://schemas.openxmlformats.org/officeDocument/2006/math">
                              <m:r>
                                <a:rPr lang="en-US" sz="2000" i="1">
                                  <a:effectLst/>
                                  <a:latin typeface="Cambria Math" charset="0"/>
                                  <a:ea typeface="Verdana" charset="0"/>
                                  <a:cs typeface="Verdana" charset="0"/>
                                </a:rPr>
                                <m:t>𝐵</m:t>
                              </m:r>
                              <m:r>
                                <a:rPr lang="en-US" sz="2000" i="1">
                                  <a:effectLst/>
                                  <a:latin typeface="Cambria Math" charset="0"/>
                                  <a:ea typeface="Verdana" charset="0"/>
                                  <a:cs typeface="Verdana" charset="0"/>
                                </a:rPr>
                                <m:t>=</m:t>
                              </m:r>
                            </m:oMath>
                          </a14:m>
                          <a:r>
                            <a:rPr lang="en-US" sz="2000">
                              <a:effectLst/>
                              <a:latin typeface="Verdana" charset="0"/>
                              <a:ea typeface="Verdana" charset="0"/>
                              <a:cs typeface="Verdana" charset="0"/>
                            </a:rPr>
                            <a:t> base, </a:t>
                          </a:r>
                          <a14:m>
                            <m:oMath xmlns:m="http://schemas.openxmlformats.org/officeDocument/2006/math">
                              <m:r>
                                <a:rPr lang="en-US" sz="2000" i="1">
                                  <a:effectLst/>
                                  <a:latin typeface="Cambria Math" charset="0"/>
                                  <a:ea typeface="Verdana" charset="0"/>
                                  <a:cs typeface="Verdana" charset="0"/>
                                </a:rPr>
                                <m:t>𝑃</m:t>
                              </m:r>
                              <m:r>
                                <a:rPr lang="en-US" sz="2000" i="1">
                                  <a:effectLst/>
                                  <a:latin typeface="Cambria Math" charset="0"/>
                                  <a:ea typeface="Verdana" charset="0"/>
                                  <a:cs typeface="Verdana" charset="0"/>
                                </a:rPr>
                                <m:t> =</m:t>
                              </m:r>
                            </m:oMath>
                          </a14:m>
                          <a:r>
                            <a:rPr lang="en-US" sz="2000">
                              <a:effectLst/>
                              <a:latin typeface="Verdana" charset="0"/>
                              <a:ea typeface="Verdana" charset="0"/>
                              <a:cs typeface="Verdana" charset="0"/>
                            </a:rPr>
                            <a:t> perimeter, </a:t>
                          </a:r>
                          <a14:m>
                            <m:oMath xmlns:m="http://schemas.openxmlformats.org/officeDocument/2006/math">
                              <m:r>
                                <a:rPr lang="en-US" sz="2000" i="1">
                                  <a:effectLst/>
                                  <a:latin typeface="Cambria Math" charset="0"/>
                                  <a:ea typeface="Verdana" charset="0"/>
                                  <a:cs typeface="Verdana" charset="0"/>
                                </a:rPr>
                                <m:t>h</m:t>
                              </m:r>
                              <m:r>
                                <a:rPr lang="en-US" sz="2000" i="1">
                                  <a:effectLst/>
                                  <a:latin typeface="Cambria Math" charset="0"/>
                                  <a:ea typeface="Verdana" charset="0"/>
                                  <a:cs typeface="Verdana" charset="0"/>
                                </a:rPr>
                                <m:t> =</m:t>
                              </m:r>
                            </m:oMath>
                          </a14:m>
                          <a:r>
                            <a:rPr lang="en-US" sz="2000">
                              <a:effectLst/>
                              <a:latin typeface="Verdana" charset="0"/>
                              <a:ea typeface="Verdana" charset="0"/>
                              <a:cs typeface="Verdana" charset="0"/>
                            </a:rPr>
                            <a:t> height </a:t>
                          </a:r>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999882">
                    <a:tc>
                      <a:txBody>
                        <a:bodyPr/>
                        <a:lstStyle/>
                        <a:p>
                          <a:pPr marL="0" marR="0">
                            <a:spcBef>
                              <a:spcPts val="0"/>
                            </a:spcBef>
                            <a:spcAft>
                              <a:spcPts val="0"/>
                            </a:spcAft>
                          </a:pPr>
                          <a:r>
                            <a:rPr lang="en-US" sz="2000">
                              <a:effectLst/>
                              <a:latin typeface="Verdana" charset="0"/>
                              <a:ea typeface="Verdana" charset="0"/>
                              <a:cs typeface="Verdana" charset="0"/>
                            </a:rPr>
                            <a:t>Cylinder</a:t>
                          </a: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𝑆𝐴</m:t>
                                </m:r>
                                <m:r>
                                  <a:rPr lang="en-US" sz="2000" i="1">
                                    <a:effectLst/>
                                    <a:latin typeface="Cambria Math" charset="0"/>
                                    <a:ea typeface="Verdana" charset="0"/>
                                    <a:cs typeface="Verdana" charset="0"/>
                                  </a:rPr>
                                  <m:t>=2</m:t>
                                </m:r>
                                <m:r>
                                  <a:rPr lang="en-US" sz="2000" i="1">
                                    <a:effectLst/>
                                    <a:latin typeface="Cambria Math" charset="0"/>
                                    <a:ea typeface="Verdana" charset="0"/>
                                    <a:cs typeface="Verdana" charset="0"/>
                                  </a:rPr>
                                  <m:t>𝐵</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𝐶h</m:t>
                                </m:r>
                              </m:oMath>
                            </m:oMathPara>
                          </a14:m>
                          <a:endParaRPr lang="en-US" sz="2000">
                            <a:effectLst/>
                            <a:latin typeface="Verdana" charset="0"/>
                            <a:ea typeface="Verdana" charset="0"/>
                            <a:cs typeface="Verdana" charset="0"/>
                          </a:endParaRPr>
                        </a:p>
                        <a:p>
                          <a:pPr marL="0" marR="0" algn="ctr">
                            <a:spcBef>
                              <a:spcPts val="0"/>
                            </a:spcBef>
                            <a:spcAft>
                              <a:spcPts val="0"/>
                            </a:spcAft>
                          </a:pPr>
                          <a:r>
                            <a:rPr lang="en-US" sz="2000">
                              <a:effectLst/>
                              <a:latin typeface="Verdana" charset="0"/>
                              <a:ea typeface="Verdana" charset="0"/>
                              <a:cs typeface="Verdana" charset="0"/>
                            </a:rPr>
                            <a:t>Or</a:t>
                          </a: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𝑆𝐴</m:t>
                                </m:r>
                                <m:r>
                                  <a:rPr lang="en-US" sz="2000" i="1">
                                    <a:effectLst/>
                                    <a:latin typeface="Cambria Math" charset="0"/>
                                    <a:ea typeface="Verdana" charset="0"/>
                                    <a:cs typeface="Verdana" charset="0"/>
                                  </a:rPr>
                                  <m:t>=2</m:t>
                                </m:r>
                                <m:r>
                                  <a:rPr lang="en-US" sz="2000" i="1">
                                    <a:effectLst/>
                                    <a:latin typeface="Cambria Math" charset="0"/>
                                    <a:ea typeface="Verdana" charset="0"/>
                                    <a:cs typeface="Verdana" charset="0"/>
                                  </a:rPr>
                                  <m:t>𝐵</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𝑃h</m:t>
                                </m:r>
                              </m:oMath>
                            </m:oMathPara>
                          </a14:m>
                          <a:endParaRPr lang="en-US" sz="2000">
                            <a:effectLst/>
                            <a:latin typeface="Verdana" charset="0"/>
                            <a:ea typeface="Verdana" charset="0"/>
                            <a:cs typeface="Verdana" charset="0"/>
                          </a:endParaRP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 xmlns:m="http://schemas.openxmlformats.org/officeDocument/2006/math">
                              <m:r>
                                <a:rPr lang="en-US" sz="2000" i="1">
                                  <a:effectLst/>
                                  <a:latin typeface="Cambria Math" charset="0"/>
                                  <a:ea typeface="Verdana" charset="0"/>
                                  <a:cs typeface="Verdana" charset="0"/>
                                </a:rPr>
                                <m:t>𝐵</m:t>
                              </m:r>
                              <m:r>
                                <a:rPr lang="en-US" sz="2000" i="1">
                                  <a:effectLst/>
                                  <a:latin typeface="Cambria Math" charset="0"/>
                                  <a:ea typeface="Verdana" charset="0"/>
                                  <a:cs typeface="Verdana" charset="0"/>
                                </a:rPr>
                                <m:t>=</m:t>
                              </m:r>
                            </m:oMath>
                          </a14:m>
                          <a:r>
                            <a:rPr lang="en-US" sz="2000" dirty="0">
                              <a:effectLst/>
                              <a:latin typeface="Verdana" charset="0"/>
                              <a:ea typeface="Verdana" charset="0"/>
                              <a:cs typeface="Verdana" charset="0"/>
                            </a:rPr>
                            <a:t> base, </a:t>
                          </a:r>
                        </a:p>
                        <a:p>
                          <a:pPr marL="0" marR="0">
                            <a:spcBef>
                              <a:spcPts val="0"/>
                            </a:spcBef>
                            <a:spcAft>
                              <a:spcPts val="0"/>
                            </a:spcAft>
                          </a:pPr>
                          <a14:m>
                            <m:oMath xmlns:m="http://schemas.openxmlformats.org/officeDocument/2006/math">
                              <m:r>
                                <a:rPr lang="en-US" sz="2000" i="1">
                                  <a:effectLst/>
                                  <a:latin typeface="Cambria Math" charset="0"/>
                                  <a:ea typeface="Verdana" charset="0"/>
                                  <a:cs typeface="Verdana" charset="0"/>
                                </a:rPr>
                                <m:t>𝐶</m:t>
                              </m:r>
                              <m:r>
                                <a:rPr lang="en-US" sz="2000" i="1">
                                  <a:effectLst/>
                                  <a:latin typeface="Cambria Math" charset="0"/>
                                  <a:ea typeface="Verdana" charset="0"/>
                                  <a:cs typeface="Verdana" charset="0"/>
                                </a:rPr>
                                <m:t> =</m:t>
                              </m:r>
                            </m:oMath>
                          </a14:m>
                          <a:r>
                            <a:rPr lang="en-US" sz="2000" dirty="0">
                              <a:effectLst/>
                              <a:latin typeface="Verdana" charset="0"/>
                              <a:ea typeface="Verdana" charset="0"/>
                              <a:cs typeface="Verdana" charset="0"/>
                            </a:rPr>
                            <a:t> circumference (or    </a:t>
                          </a:r>
                          <a14:m>
                            <m:oMath xmlns:m="http://schemas.openxmlformats.org/officeDocument/2006/math">
                              <m:r>
                                <a:rPr lang="en-US" sz="2000" i="1">
                                  <a:effectLst/>
                                  <a:latin typeface="Cambria Math" charset="0"/>
                                  <a:ea typeface="Verdana" charset="0"/>
                                  <a:cs typeface="Verdana" charset="0"/>
                                </a:rPr>
                                <m:t>𝑃</m:t>
                              </m:r>
                              <m:r>
                                <a:rPr lang="en-US" sz="2000" i="1">
                                  <a:effectLst/>
                                  <a:latin typeface="Cambria Math" charset="0"/>
                                  <a:ea typeface="Verdana" charset="0"/>
                                  <a:cs typeface="Verdana" charset="0"/>
                                </a:rPr>
                                <m:t> = </m:t>
                              </m:r>
                            </m:oMath>
                          </a14:m>
                          <a:r>
                            <a:rPr lang="en-US" sz="2000" dirty="0">
                              <a:effectLst/>
                              <a:latin typeface="Verdana" charset="0"/>
                              <a:ea typeface="Verdana" charset="0"/>
                              <a:cs typeface="Verdana" charset="0"/>
                            </a:rPr>
                            <a:t>perimeter, </a:t>
                          </a:r>
                        </a:p>
                        <a:p>
                          <a:pPr marL="0" marR="0">
                            <a:spcBef>
                              <a:spcPts val="0"/>
                            </a:spcBef>
                            <a:spcAft>
                              <a:spcPts val="0"/>
                            </a:spcAft>
                          </a:pPr>
                          <a14:m>
                            <m:oMath xmlns:m="http://schemas.openxmlformats.org/officeDocument/2006/math">
                              <m:r>
                                <a:rPr lang="en-US" sz="2000" i="1">
                                  <a:effectLst/>
                                  <a:latin typeface="Cambria Math" charset="0"/>
                                  <a:ea typeface="Verdana" charset="0"/>
                                  <a:cs typeface="Verdana" charset="0"/>
                                </a:rPr>
                                <m:t>h</m:t>
                              </m:r>
                              <m:r>
                                <a:rPr lang="en-US" sz="2000" i="1">
                                  <a:effectLst/>
                                  <a:latin typeface="Cambria Math" charset="0"/>
                                  <a:ea typeface="Verdana" charset="0"/>
                                  <a:cs typeface="Verdana" charset="0"/>
                                </a:rPr>
                                <m:t> =</m:t>
                              </m:r>
                            </m:oMath>
                          </a14:m>
                          <a:r>
                            <a:rPr lang="en-US" sz="2000" dirty="0">
                              <a:effectLst/>
                              <a:latin typeface="Verdana" charset="0"/>
                              <a:ea typeface="Verdana" charset="0"/>
                              <a:cs typeface="Verdana" charset="0"/>
                            </a:rPr>
                            <a:t> height)</a:t>
                          </a:r>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525401">
                    <a:tc>
                      <a:txBody>
                        <a:bodyPr/>
                        <a:lstStyle/>
                        <a:p>
                          <a:pPr marL="0" marR="0">
                            <a:spcBef>
                              <a:spcPts val="0"/>
                            </a:spcBef>
                            <a:spcAft>
                              <a:spcPts val="0"/>
                            </a:spcAft>
                          </a:pPr>
                          <a:r>
                            <a:rPr lang="en-US" sz="2000">
                              <a:effectLst/>
                              <a:latin typeface="Verdana" charset="0"/>
                              <a:ea typeface="Verdana" charset="0"/>
                              <a:cs typeface="Verdana" charset="0"/>
                            </a:rPr>
                            <a:t>Cone</a:t>
                          </a: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𝑆𝐴</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𝐵</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𝜋</m:t>
                                </m:r>
                                <m:r>
                                  <a:rPr lang="en-US" sz="2000" i="1">
                                    <a:effectLst/>
                                    <a:latin typeface="Cambria Math" charset="0"/>
                                    <a:ea typeface="Verdana" charset="0"/>
                                    <a:cs typeface="Verdana" charset="0"/>
                                  </a:rPr>
                                  <m:t>𝑟</m:t>
                                </m:r>
                                <m:sSub>
                                  <m:sSubPr>
                                    <m:ctrlPr>
                                      <a:rPr lang="en-US" sz="2000" i="1" smtClean="0">
                                        <a:effectLst/>
                                        <a:latin typeface="Cambria Math" panose="02040503050406030204" pitchFamily="18" charset="0"/>
                                        <a:ea typeface="Verdana" charset="0"/>
                                        <a:cs typeface="Verdana" charset="0"/>
                                      </a:rPr>
                                    </m:ctrlPr>
                                  </m:sSubPr>
                                  <m:e>
                                    <m:r>
                                      <a:rPr lang="en-US" sz="2000" i="1">
                                        <a:effectLst/>
                                        <a:latin typeface="Cambria Math" charset="0"/>
                                        <a:ea typeface="Verdana" charset="0"/>
                                        <a:cs typeface="Verdana" charset="0"/>
                                      </a:rPr>
                                      <m:t>h</m:t>
                                    </m:r>
                                  </m:e>
                                  <m:sub>
                                    <m:r>
                                      <a:rPr lang="en-US" sz="2000" i="1">
                                        <a:effectLst/>
                                        <a:latin typeface="Cambria Math" charset="0"/>
                                        <a:ea typeface="Verdana" charset="0"/>
                                        <a:cs typeface="Verdana" charset="0"/>
                                      </a:rPr>
                                      <m:t>𝑠</m:t>
                                    </m:r>
                                  </m:sub>
                                </m:sSub>
                              </m:oMath>
                            </m:oMathPara>
                          </a14:m>
                          <a:endParaRPr lang="en-US" sz="2000" dirty="0">
                            <a:effectLst/>
                            <a:latin typeface="Verdana" charset="0"/>
                            <a:ea typeface="Verdana" charset="0"/>
                            <a:cs typeface="Verdana" charset="0"/>
                          </a:endParaRP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 xmlns:m="http://schemas.openxmlformats.org/officeDocument/2006/math">
                              <m:r>
                                <a:rPr lang="en-US" sz="2000" i="1">
                                  <a:effectLst/>
                                  <a:latin typeface="Cambria Math" charset="0"/>
                                  <a:ea typeface="Verdana" charset="0"/>
                                  <a:cs typeface="Verdana" charset="0"/>
                                </a:rPr>
                                <m:t>𝐵</m:t>
                              </m:r>
                              <m:r>
                                <a:rPr lang="en-US" sz="2000" i="1">
                                  <a:effectLst/>
                                  <a:latin typeface="Cambria Math" charset="0"/>
                                  <a:ea typeface="Verdana" charset="0"/>
                                  <a:cs typeface="Verdana" charset="0"/>
                                </a:rPr>
                                <m:t>=</m:t>
                              </m:r>
                            </m:oMath>
                          </a14:m>
                          <a:r>
                            <a:rPr lang="en-US" sz="2000" dirty="0">
                              <a:effectLst/>
                              <a:latin typeface="Verdana" charset="0"/>
                              <a:ea typeface="Verdana" charset="0"/>
                              <a:cs typeface="Verdana" charset="0"/>
                            </a:rPr>
                            <a:t> base, </a:t>
                          </a:r>
                          <a14:m>
                            <m:oMath xmlns:m="http://schemas.openxmlformats.org/officeDocument/2006/math">
                              <m:r>
                                <a:rPr lang="en-US" sz="2000" i="1">
                                  <a:effectLst/>
                                  <a:latin typeface="Cambria Math" charset="0"/>
                                  <a:ea typeface="Verdana" charset="0"/>
                                  <a:cs typeface="Verdana" charset="0"/>
                                </a:rPr>
                                <m:t>𝑟</m:t>
                              </m:r>
                              <m:r>
                                <a:rPr lang="en-US" sz="2000" i="1">
                                  <a:effectLst/>
                                  <a:latin typeface="Cambria Math" charset="0"/>
                                  <a:ea typeface="Verdana" charset="0"/>
                                  <a:cs typeface="Verdana" charset="0"/>
                                </a:rPr>
                                <m:t> =</m:t>
                              </m:r>
                            </m:oMath>
                          </a14:m>
                          <a:r>
                            <a:rPr lang="en-US" sz="2000" dirty="0">
                              <a:effectLst/>
                              <a:latin typeface="Verdana" charset="0"/>
                              <a:ea typeface="Verdana" charset="0"/>
                              <a:cs typeface="Verdana" charset="0"/>
                            </a:rPr>
                            <a:t> radius,</a:t>
                          </a:r>
                          <a:br>
                            <a:rPr lang="en-US" sz="2000" i="1" dirty="0">
                              <a:effectLst/>
                              <a:latin typeface="Cambria Math" panose="02040503050406030204" pitchFamily="18" charset="0"/>
                              <a:ea typeface="Verdana" charset="0"/>
                              <a:cs typeface="Verdana" charset="0"/>
                            </a:rPr>
                          </a:br>
                          <a14:m>
                            <m:oMath xmlns:m="http://schemas.openxmlformats.org/officeDocument/2006/math">
                              <m:sSub>
                                <m:sSubPr>
                                  <m:ctrlPr>
                                    <a:rPr lang="en-US" sz="2000" i="1" smtClean="0">
                                      <a:effectLst/>
                                      <a:latin typeface="Cambria Math" panose="02040503050406030204" pitchFamily="18" charset="0"/>
                                      <a:ea typeface="Verdana" charset="0"/>
                                      <a:cs typeface="Verdana" charset="0"/>
                                    </a:rPr>
                                  </m:ctrlPr>
                                </m:sSubPr>
                                <m:e>
                                  <m:r>
                                    <a:rPr lang="en-US" sz="2000" i="1">
                                      <a:effectLst/>
                                      <a:latin typeface="Cambria Math" charset="0"/>
                                      <a:ea typeface="Verdana" charset="0"/>
                                      <a:cs typeface="Verdana" charset="0"/>
                                    </a:rPr>
                                    <m:t>h</m:t>
                                  </m:r>
                                </m:e>
                                <m:sub>
                                  <m:r>
                                    <a:rPr lang="en-US" sz="2000" i="1">
                                      <a:effectLst/>
                                      <a:latin typeface="Cambria Math" charset="0"/>
                                      <a:ea typeface="Verdana" charset="0"/>
                                      <a:cs typeface="Verdana" charset="0"/>
                                    </a:rPr>
                                    <m:t>𝑠</m:t>
                                  </m:r>
                                </m:sub>
                              </m:sSub>
                              <m:r>
                                <a:rPr lang="en-US" sz="2000" i="1">
                                  <a:effectLst/>
                                  <a:latin typeface="Cambria Math" charset="0"/>
                                  <a:ea typeface="Verdana" charset="0"/>
                                  <a:cs typeface="Verdana" charset="0"/>
                                </a:rPr>
                                <m:t>=</m:t>
                              </m:r>
                            </m:oMath>
                          </a14:m>
                          <a:r>
                            <a:rPr lang="en-US" sz="2000" dirty="0">
                              <a:effectLst/>
                              <a:latin typeface="Verdana" charset="0"/>
                              <a:ea typeface="Verdana" charset="0"/>
                              <a:cs typeface="Verdana" charset="0"/>
                            </a:rPr>
                            <a:t> slant height</a:t>
                          </a:r>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499823">
                    <a:tc>
                      <a:txBody>
                        <a:bodyPr/>
                        <a:lstStyle/>
                        <a:p>
                          <a:pPr marL="0" marR="0">
                            <a:spcBef>
                              <a:spcPts val="0"/>
                            </a:spcBef>
                            <a:spcAft>
                              <a:spcPts val="0"/>
                            </a:spcAft>
                          </a:pPr>
                          <a:r>
                            <a:rPr lang="en-US" sz="2000" dirty="0">
                              <a:effectLst/>
                              <a:latin typeface="Verdana" charset="0"/>
                              <a:ea typeface="Verdana" charset="0"/>
                              <a:cs typeface="Verdana" charset="0"/>
                            </a:rPr>
                            <a:t>Regular Pyramid</a:t>
                          </a:r>
                        </a:p>
                        <a:p>
                          <a:pPr marL="0" marR="0">
                            <a:spcBef>
                              <a:spcPts val="0"/>
                            </a:spcBef>
                            <a:spcAft>
                              <a:spcPts val="0"/>
                            </a:spcAft>
                          </a:pPr>
                          <a:r>
                            <a:rPr lang="en-US" sz="2000" dirty="0">
                              <a:effectLst/>
                              <a:latin typeface="Verdana" charset="0"/>
                              <a:ea typeface="Verdana" charset="0"/>
                              <a:cs typeface="Verdana" charset="0"/>
                            </a:rPr>
                            <a:t>(a pyramid whose base is a regular polygon)</a:t>
                          </a: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𝑆𝐴</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𝐵</m:t>
                                </m:r>
                                <m:r>
                                  <a:rPr lang="en-US" sz="2000" i="1">
                                    <a:effectLst/>
                                    <a:latin typeface="Cambria Math"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1</m:t>
                                    </m:r>
                                  </m:num>
                                  <m:den>
                                    <m:r>
                                      <a:rPr lang="en-US" sz="2000" i="1">
                                        <a:effectLst/>
                                        <a:latin typeface="Cambria Math" charset="0"/>
                                        <a:ea typeface="Verdana" charset="0"/>
                                        <a:cs typeface="Verdana" charset="0"/>
                                      </a:rPr>
                                      <m:t>2</m:t>
                                    </m:r>
                                  </m:den>
                                </m:f>
                                <m:r>
                                  <a:rPr lang="en-US" sz="2000" i="1">
                                    <a:effectLst/>
                                    <a:latin typeface="Cambria Math" charset="0"/>
                                    <a:ea typeface="Verdana" charset="0"/>
                                    <a:cs typeface="Verdana" charset="0"/>
                                  </a:rPr>
                                  <m:t>𝑃</m:t>
                                </m:r>
                                <m:sSub>
                                  <m:sSubPr>
                                    <m:ctrlPr>
                                      <a:rPr lang="en-US" sz="2000" i="1">
                                        <a:effectLst/>
                                        <a:latin typeface="Cambria Math" panose="02040503050406030204" pitchFamily="18" charset="0"/>
                                        <a:ea typeface="Verdana" charset="0"/>
                                        <a:cs typeface="Verdana" charset="0"/>
                                      </a:rPr>
                                    </m:ctrlPr>
                                  </m:sSubPr>
                                  <m:e>
                                    <m:r>
                                      <a:rPr lang="en-US" sz="2000" i="1">
                                        <a:effectLst/>
                                        <a:latin typeface="Cambria Math" charset="0"/>
                                        <a:ea typeface="Verdana" charset="0"/>
                                        <a:cs typeface="Verdana" charset="0"/>
                                      </a:rPr>
                                      <m:t>h</m:t>
                                    </m:r>
                                  </m:e>
                                  <m:sub>
                                    <m:r>
                                      <a:rPr lang="en-US" sz="2000" i="1">
                                        <a:effectLst/>
                                        <a:latin typeface="Cambria Math" charset="0"/>
                                        <a:ea typeface="Verdana" charset="0"/>
                                        <a:cs typeface="Verdana" charset="0"/>
                                      </a:rPr>
                                      <m:t>𝑠</m:t>
                                    </m:r>
                                  </m:sub>
                                </m:sSub>
                              </m:oMath>
                            </m:oMathPara>
                          </a14:m>
                          <a:endParaRPr lang="en-US" sz="2000" dirty="0">
                            <a:effectLst/>
                            <a:latin typeface="Verdana" charset="0"/>
                            <a:ea typeface="Verdana" charset="0"/>
                            <a:cs typeface="Verdana" charset="0"/>
                          </a:endParaRP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 xmlns:m="http://schemas.openxmlformats.org/officeDocument/2006/math">
                              <m:r>
                                <a:rPr lang="en-US" sz="2000" i="1">
                                  <a:effectLst/>
                                  <a:latin typeface="Cambria Math" charset="0"/>
                                  <a:ea typeface="Verdana" charset="0"/>
                                  <a:cs typeface="Verdana" charset="0"/>
                                </a:rPr>
                                <m:t>𝐵</m:t>
                              </m:r>
                              <m:r>
                                <a:rPr lang="en-US" sz="2000" i="1">
                                  <a:effectLst/>
                                  <a:latin typeface="Cambria Math" charset="0"/>
                                  <a:ea typeface="Verdana" charset="0"/>
                                  <a:cs typeface="Verdana" charset="0"/>
                                </a:rPr>
                                <m:t>=</m:t>
                              </m:r>
                            </m:oMath>
                          </a14:m>
                          <a:r>
                            <a:rPr lang="en-US" sz="2000" dirty="0">
                              <a:effectLst/>
                              <a:latin typeface="Verdana" charset="0"/>
                              <a:ea typeface="Verdana" charset="0"/>
                              <a:cs typeface="Verdana" charset="0"/>
                            </a:rPr>
                            <a:t> base, </a:t>
                          </a:r>
                          <a14:m>
                            <m:oMath xmlns:m="http://schemas.openxmlformats.org/officeDocument/2006/math">
                              <m:r>
                                <a:rPr lang="en-US" sz="2000" i="1">
                                  <a:effectLst/>
                                  <a:latin typeface="Cambria Math" charset="0"/>
                                  <a:ea typeface="Verdana" charset="0"/>
                                  <a:cs typeface="Verdana" charset="0"/>
                                </a:rPr>
                                <m:t>𝑃</m:t>
                              </m:r>
                              <m:r>
                                <a:rPr lang="en-US" sz="2000" i="1">
                                  <a:effectLst/>
                                  <a:latin typeface="Cambria Math" charset="0"/>
                                  <a:ea typeface="Verdana" charset="0"/>
                                  <a:cs typeface="Verdana" charset="0"/>
                                </a:rPr>
                                <m:t> =</m:t>
                              </m:r>
                            </m:oMath>
                          </a14:m>
                          <a:r>
                            <a:rPr lang="en-US" sz="2000" dirty="0">
                              <a:effectLst/>
                              <a:latin typeface="Verdana" charset="0"/>
                              <a:ea typeface="Verdana" charset="0"/>
                              <a:cs typeface="Verdana" charset="0"/>
                            </a:rPr>
                            <a:t> perimeter, </a:t>
                          </a:r>
                          <a14:m>
                            <m:oMath xmlns:m="http://schemas.openxmlformats.org/officeDocument/2006/math">
                              <m:sSub>
                                <m:sSubPr>
                                  <m:ctrlPr>
                                    <a:rPr lang="en-US" sz="2000" i="1">
                                      <a:effectLst/>
                                      <a:latin typeface="Cambria Math" panose="02040503050406030204" pitchFamily="18" charset="0"/>
                                      <a:ea typeface="Verdana" charset="0"/>
                                      <a:cs typeface="Verdana" charset="0"/>
                                    </a:rPr>
                                  </m:ctrlPr>
                                </m:sSubPr>
                                <m:e>
                                  <m:r>
                                    <a:rPr lang="en-US" sz="2000" i="1">
                                      <a:effectLst/>
                                      <a:latin typeface="Cambria Math" charset="0"/>
                                      <a:ea typeface="Verdana" charset="0"/>
                                      <a:cs typeface="Verdana" charset="0"/>
                                    </a:rPr>
                                    <m:t>h</m:t>
                                  </m:r>
                                </m:e>
                                <m:sub>
                                  <m:r>
                                    <a:rPr lang="en-US" sz="2000" i="1">
                                      <a:effectLst/>
                                      <a:latin typeface="Cambria Math" charset="0"/>
                                      <a:ea typeface="Verdana" charset="0"/>
                                      <a:cs typeface="Verdana" charset="0"/>
                                    </a:rPr>
                                    <m:t>𝑠</m:t>
                                  </m:r>
                                </m:sub>
                              </m:sSub>
                              <m:r>
                                <a:rPr lang="en-US" sz="2000" i="1">
                                  <a:effectLst/>
                                  <a:latin typeface="Cambria Math" charset="0"/>
                                  <a:ea typeface="Verdana" charset="0"/>
                                  <a:cs typeface="Verdana" charset="0"/>
                                </a:rPr>
                                <m:t>=</m:t>
                              </m:r>
                            </m:oMath>
                          </a14:m>
                          <a:r>
                            <a:rPr lang="en-US" sz="2000" dirty="0">
                              <a:effectLst/>
                              <a:latin typeface="Verdana" charset="0"/>
                              <a:ea typeface="Verdana" charset="0"/>
                              <a:cs typeface="Verdana" charset="0"/>
                            </a:rPr>
                            <a:t> slant height</a:t>
                          </a: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275430">
                    <a:tc>
                      <a:txBody>
                        <a:bodyPr/>
                        <a:lstStyle/>
                        <a:p>
                          <a:pPr marL="0" marR="0">
                            <a:spcBef>
                              <a:spcPts val="0"/>
                            </a:spcBef>
                            <a:spcAft>
                              <a:spcPts val="0"/>
                            </a:spcAft>
                          </a:pPr>
                          <a:r>
                            <a:rPr lang="en-US" sz="2000">
                              <a:effectLst/>
                              <a:latin typeface="Verdana" charset="0"/>
                              <a:ea typeface="Verdana" charset="0"/>
                              <a:cs typeface="Verdana" charset="0"/>
                            </a:rPr>
                            <a:t>Sphere</a:t>
                          </a: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𝑆𝐴</m:t>
                                </m:r>
                                <m:r>
                                  <a:rPr lang="en-US" sz="2000" i="1">
                                    <a:effectLst/>
                                    <a:latin typeface="Cambria Math" charset="0"/>
                                    <a:ea typeface="Verdana" charset="0"/>
                                    <a:cs typeface="Verdana" charset="0"/>
                                  </a:rPr>
                                  <m:t>=4</m:t>
                                </m:r>
                                <m:r>
                                  <a:rPr lang="en-US" sz="2000" i="1">
                                    <a:effectLst/>
                                    <a:latin typeface="Cambria Math" charset="0"/>
                                    <a:ea typeface="Verdana" charset="0"/>
                                    <a:cs typeface="Verdana" charset="0"/>
                                  </a:rPr>
                                  <m:t>𝜋</m:t>
                                </m:r>
                                <m:sSup>
                                  <m:sSupPr>
                                    <m:ctrlPr>
                                      <a:rPr lang="en-US" sz="2000" i="1">
                                        <a:effectLst/>
                                        <a:latin typeface="Cambria Math" panose="02040503050406030204" pitchFamily="18" charset="0"/>
                                        <a:ea typeface="Verdana" charset="0"/>
                                        <a:cs typeface="Verdana" charset="0"/>
                                      </a:rPr>
                                    </m:ctrlPr>
                                  </m:sSupPr>
                                  <m:e>
                                    <m:r>
                                      <a:rPr lang="en-US" sz="2000" i="1">
                                        <a:effectLst/>
                                        <a:latin typeface="Cambria Math" charset="0"/>
                                        <a:ea typeface="Verdana" charset="0"/>
                                        <a:cs typeface="Verdana" charset="0"/>
                                      </a:rPr>
                                      <m:t>𝑟</m:t>
                                    </m:r>
                                  </m:e>
                                  <m:sup>
                                    <m:r>
                                      <a:rPr lang="en-US" sz="2000" i="1">
                                        <a:effectLst/>
                                        <a:latin typeface="Cambria Math" charset="0"/>
                                        <a:ea typeface="Verdana" charset="0"/>
                                        <a:cs typeface="Verdana" charset="0"/>
                                      </a:rPr>
                                      <m:t>2</m:t>
                                    </m:r>
                                  </m:sup>
                                </m:sSup>
                              </m:oMath>
                            </m:oMathPara>
                          </a14:m>
                          <a:endParaRPr lang="en-US" sz="2000">
                            <a:effectLst/>
                            <a:latin typeface="Verdana" charset="0"/>
                            <a:ea typeface="Verdana" charset="0"/>
                            <a:cs typeface="Verdana" charset="0"/>
                          </a:endParaRP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 xmlns:m="http://schemas.openxmlformats.org/officeDocument/2006/math">
                              <m:r>
                                <a:rPr lang="en-US" sz="2000" i="1">
                                  <a:effectLst/>
                                  <a:latin typeface="Cambria Math" charset="0"/>
                                  <a:ea typeface="Verdana" charset="0"/>
                                  <a:cs typeface="Verdana" charset="0"/>
                                </a:rPr>
                                <m:t>𝑟</m:t>
                              </m:r>
                              <m:r>
                                <a:rPr lang="en-US" sz="2000" i="1">
                                  <a:effectLst/>
                                  <a:latin typeface="Cambria Math" charset="0"/>
                                  <a:ea typeface="Verdana" charset="0"/>
                                  <a:cs typeface="Verdana" charset="0"/>
                                </a:rPr>
                                <m:t> =</m:t>
                              </m:r>
                            </m:oMath>
                          </a14:m>
                          <a:r>
                            <a:rPr lang="en-US" sz="2000" dirty="0">
                              <a:effectLst/>
                              <a:latin typeface="Verdana" charset="0"/>
                              <a:ea typeface="Verdana" charset="0"/>
                              <a:cs typeface="Verdana" charset="0"/>
                            </a:rPr>
                            <a:t> radius</a:t>
                          </a:r>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540465854"/>
                  </p:ext>
                </p:extLst>
              </p:nvPr>
            </p:nvGraphicFramePr>
            <p:xfrm>
              <a:off x="646162" y="449597"/>
              <a:ext cx="8115942" cy="4768424"/>
            </p:xfrm>
            <a:graphic>
              <a:graphicData uri="http://schemas.openxmlformats.org/drawingml/2006/table">
                <a:tbl>
                  <a:tblPr firstRow="1" firstCol="1" bandRow="1"/>
                  <a:tblGrid>
                    <a:gridCol w="2401726">
                      <a:extLst>
                        <a:ext uri="{9D8B030D-6E8A-4147-A177-3AD203B41FA5}">
                          <a16:colId xmlns:a16="http://schemas.microsoft.com/office/drawing/2014/main" val="20000"/>
                        </a:ext>
                      </a:extLst>
                    </a:gridCol>
                    <a:gridCol w="2071914">
                      <a:extLst>
                        <a:ext uri="{9D8B030D-6E8A-4147-A177-3AD203B41FA5}">
                          <a16:colId xmlns:a16="http://schemas.microsoft.com/office/drawing/2014/main" val="20001"/>
                        </a:ext>
                      </a:extLst>
                    </a:gridCol>
                    <a:gridCol w="3642302">
                      <a:extLst>
                        <a:ext uri="{9D8B030D-6E8A-4147-A177-3AD203B41FA5}">
                          <a16:colId xmlns:a16="http://schemas.microsoft.com/office/drawing/2014/main" val="20002"/>
                        </a:ext>
                      </a:extLst>
                    </a:gridCol>
                  </a:tblGrid>
                  <a:tr h="525401">
                    <a:tc>
                      <a:txBody>
                        <a:bodyPr/>
                        <a:lstStyle/>
                        <a:p>
                          <a:pPr marL="0" marR="0" algn="ctr">
                            <a:spcBef>
                              <a:spcPts val="0"/>
                            </a:spcBef>
                            <a:spcAft>
                              <a:spcPts val="0"/>
                            </a:spcAft>
                          </a:pPr>
                          <a:r>
                            <a:rPr lang="en-US" sz="2000" b="1" dirty="0">
                              <a:effectLst/>
                              <a:latin typeface="Verdana" charset="0"/>
                              <a:ea typeface="Verdana" charset="0"/>
                              <a:cs typeface="Verdana" charset="0"/>
                            </a:rPr>
                            <a:t>Figure</a:t>
                          </a:r>
                          <a:endParaRPr lang="en-US" sz="2000" dirty="0">
                            <a:effectLst/>
                            <a:latin typeface="Verdana" charset="0"/>
                            <a:ea typeface="Verdana" charset="0"/>
                            <a:cs typeface="Verdana" charset="0"/>
                          </a:endParaRPr>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Surface Area</a:t>
                          </a:r>
                          <a:endParaRPr lang="en-US" sz="2000">
                            <a:effectLst/>
                            <a:latin typeface="Verdana" charset="0"/>
                            <a:ea typeface="Verdana" charset="0"/>
                            <a:cs typeface="Verdana" charset="0"/>
                          </a:endParaRPr>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Variables</a:t>
                          </a:r>
                          <a:endParaRPr lang="en-US" sz="2000">
                            <a:effectLst/>
                            <a:latin typeface="Verdana" charset="0"/>
                            <a:ea typeface="Verdana" charset="0"/>
                            <a:cs typeface="Verdana" charset="0"/>
                          </a:endParaRPr>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609600">
                    <a:tc>
                      <a:txBody>
                        <a:bodyPr/>
                        <a:lstStyle/>
                        <a:p>
                          <a:pPr marL="0" marR="0">
                            <a:spcBef>
                              <a:spcPts val="0"/>
                            </a:spcBef>
                            <a:spcAft>
                              <a:spcPts val="0"/>
                            </a:spcAft>
                          </a:pPr>
                          <a:r>
                            <a:rPr lang="en-US" sz="2000">
                              <a:effectLst/>
                              <a:latin typeface="Verdana" charset="0"/>
                              <a:ea typeface="Verdana" charset="0"/>
                              <a:cs typeface="Verdana" charset="0"/>
                            </a:rPr>
                            <a:t>Prism</a:t>
                          </a: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5836" t="-98000" r="-175953" b="-622000"/>
                          </a:stretch>
                        </a:blipFill>
                      </a:tcPr>
                    </a:tc>
                    <a:tc>
                      <a:txBody>
                        <a:bodyPr/>
                        <a:lstStyle/>
                        <a:p>
                          <a:endParaRPr lang="en-US"/>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23077" t="-98000" r="-334" b="-622000"/>
                          </a:stretch>
                        </a:blipFill>
                      </a:tcPr>
                    </a:tc>
                    <a:extLst>
                      <a:ext uri="{0D108BD9-81ED-4DB2-BD59-A6C34878D82A}">
                        <a16:rowId xmlns:a16="http://schemas.microsoft.com/office/drawing/2014/main" val="10001"/>
                      </a:ext>
                    </a:extLst>
                  </a:tr>
                  <a:tr h="1219200">
                    <a:tc>
                      <a:txBody>
                        <a:bodyPr/>
                        <a:lstStyle/>
                        <a:p>
                          <a:pPr marL="0" marR="0">
                            <a:spcBef>
                              <a:spcPts val="0"/>
                            </a:spcBef>
                            <a:spcAft>
                              <a:spcPts val="0"/>
                            </a:spcAft>
                          </a:pPr>
                          <a:r>
                            <a:rPr lang="en-US" sz="2000">
                              <a:effectLst/>
                              <a:latin typeface="Verdana" charset="0"/>
                              <a:ea typeface="Verdana" charset="0"/>
                              <a:cs typeface="Verdana" charset="0"/>
                            </a:rPr>
                            <a:t>Cylinder</a:t>
                          </a: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5836" t="-98507" r="-175953" b="-209453"/>
                          </a:stretch>
                        </a:blipFill>
                      </a:tcPr>
                    </a:tc>
                    <a:tc>
                      <a:txBody>
                        <a:bodyPr/>
                        <a:lstStyle/>
                        <a:p>
                          <a:endParaRPr lang="en-US"/>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23077" t="-98507" r="-334" b="-209453"/>
                          </a:stretch>
                        </a:blipFill>
                      </a:tcPr>
                    </a:tc>
                    <a:extLst>
                      <a:ext uri="{0D108BD9-81ED-4DB2-BD59-A6C34878D82A}">
                        <a16:rowId xmlns:a16="http://schemas.microsoft.com/office/drawing/2014/main" val="10002"/>
                      </a:ext>
                    </a:extLst>
                  </a:tr>
                  <a:tr h="609600">
                    <a:tc>
                      <a:txBody>
                        <a:bodyPr/>
                        <a:lstStyle/>
                        <a:p>
                          <a:pPr marL="0" marR="0">
                            <a:spcBef>
                              <a:spcPts val="0"/>
                            </a:spcBef>
                            <a:spcAft>
                              <a:spcPts val="0"/>
                            </a:spcAft>
                          </a:pPr>
                          <a:r>
                            <a:rPr lang="en-US" sz="2000">
                              <a:effectLst/>
                              <a:latin typeface="Verdana" charset="0"/>
                              <a:ea typeface="Verdana" charset="0"/>
                              <a:cs typeface="Verdana" charset="0"/>
                            </a:rPr>
                            <a:t>Cone</a:t>
                          </a: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5836" t="-399000" r="-175953" b="-321000"/>
                          </a:stretch>
                        </a:blipFill>
                      </a:tcPr>
                    </a:tc>
                    <a:tc>
                      <a:txBody>
                        <a:bodyPr/>
                        <a:lstStyle/>
                        <a:p>
                          <a:endParaRPr lang="en-US"/>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23077" t="-399000" r="-334" b="-321000"/>
                          </a:stretch>
                        </a:blipFill>
                      </a:tcPr>
                    </a:tc>
                    <a:extLst>
                      <a:ext uri="{0D108BD9-81ED-4DB2-BD59-A6C34878D82A}">
                        <a16:rowId xmlns:a16="http://schemas.microsoft.com/office/drawing/2014/main" val="10003"/>
                      </a:ext>
                    </a:extLst>
                  </a:tr>
                  <a:tr h="1499823">
                    <a:tc>
                      <a:txBody>
                        <a:bodyPr/>
                        <a:lstStyle/>
                        <a:p>
                          <a:pPr marL="0" marR="0">
                            <a:spcBef>
                              <a:spcPts val="0"/>
                            </a:spcBef>
                            <a:spcAft>
                              <a:spcPts val="0"/>
                            </a:spcAft>
                          </a:pPr>
                          <a:r>
                            <a:rPr lang="en-US" sz="2000" dirty="0">
                              <a:effectLst/>
                              <a:latin typeface="Verdana" charset="0"/>
                              <a:ea typeface="Verdana" charset="0"/>
                              <a:cs typeface="Verdana" charset="0"/>
                            </a:rPr>
                            <a:t>Regular Pyramid</a:t>
                          </a:r>
                        </a:p>
                        <a:p>
                          <a:pPr marL="0" marR="0">
                            <a:spcBef>
                              <a:spcPts val="0"/>
                            </a:spcBef>
                            <a:spcAft>
                              <a:spcPts val="0"/>
                            </a:spcAft>
                          </a:pPr>
                          <a:r>
                            <a:rPr lang="en-US" sz="2000" dirty="0">
                              <a:effectLst/>
                              <a:latin typeface="Verdana" charset="0"/>
                              <a:ea typeface="Verdana" charset="0"/>
                              <a:cs typeface="Verdana" charset="0"/>
                            </a:rPr>
                            <a:t>(a pyramid whose base is a regular polygon)</a:t>
                          </a: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5836" t="-202846" r="-175953" b="-30488"/>
                          </a:stretch>
                        </a:blipFill>
                      </a:tcPr>
                    </a:tc>
                    <a:tc>
                      <a:txBody>
                        <a:bodyPr/>
                        <a:lstStyle/>
                        <a:p>
                          <a:endParaRPr lang="en-US"/>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23077" t="-202846" r="-334" b="-30488"/>
                          </a:stretch>
                        </a:blipFill>
                      </a:tcPr>
                    </a:tc>
                    <a:extLst>
                      <a:ext uri="{0D108BD9-81ED-4DB2-BD59-A6C34878D82A}">
                        <a16:rowId xmlns:a16="http://schemas.microsoft.com/office/drawing/2014/main" val="10004"/>
                      </a:ext>
                    </a:extLst>
                  </a:tr>
                  <a:tr h="304800">
                    <a:tc>
                      <a:txBody>
                        <a:bodyPr/>
                        <a:lstStyle/>
                        <a:p>
                          <a:pPr marL="0" marR="0">
                            <a:spcBef>
                              <a:spcPts val="0"/>
                            </a:spcBef>
                            <a:spcAft>
                              <a:spcPts val="0"/>
                            </a:spcAft>
                          </a:pPr>
                          <a:r>
                            <a:rPr lang="en-US" sz="2000">
                              <a:effectLst/>
                              <a:latin typeface="Verdana" charset="0"/>
                              <a:ea typeface="Verdana" charset="0"/>
                              <a:cs typeface="Verdana" charset="0"/>
                            </a:rPr>
                            <a:t>Sphere</a:t>
                          </a:r>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endParaRPr lang="en-US"/>
                        </a:p>
                      </a:txBody>
                      <a:tcPr marL="62493" marR="62493"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15836" t="-1490000" r="-175953" b="-50000"/>
                          </a:stretch>
                        </a:blipFill>
                      </a:tcPr>
                    </a:tc>
                    <a:tc>
                      <a:txBody>
                        <a:bodyPr/>
                        <a:lstStyle/>
                        <a:p>
                          <a:endParaRPr lang="en-US"/>
                        </a:p>
                      </a:txBody>
                      <a:tcPr marL="62493" marR="62493"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123077" t="-1490000" r="-334" b="-50000"/>
                          </a:stretch>
                        </a:blipFill>
                      </a:tcPr>
                    </a:tc>
                    <a:extLst>
                      <a:ext uri="{0D108BD9-81ED-4DB2-BD59-A6C34878D82A}">
                        <a16:rowId xmlns:a16="http://schemas.microsoft.com/office/drawing/2014/main" val="10005"/>
                      </a:ext>
                    </a:extLst>
                  </a:tr>
                </a:tbl>
              </a:graphicData>
            </a:graphic>
          </p:graphicFrame>
        </mc:Fallback>
      </mc:AlternateContent>
    </p:spTree>
    <p:extLst>
      <p:ext uri="{BB962C8B-B14F-4D97-AF65-F5344CB8AC3E}">
        <p14:creationId xmlns:p14="http://schemas.microsoft.com/office/powerpoint/2010/main" val="484934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96</a:t>
            </a:r>
          </a:p>
        </p:txBody>
      </p:sp>
      <p:sp>
        <p:nvSpPr>
          <p:cNvPr id="14" name="TextBox 13">
            <a:extLst>
              <a:ext uri="{FF2B5EF4-FFF2-40B4-BE49-F238E27FC236}">
                <a16:creationId xmlns:a16="http://schemas.microsoft.com/office/drawing/2014/main" id="{2FA392D8-3ED3-7940-83A8-1451AA8A08D4}"/>
              </a:ext>
            </a:extLst>
          </p:cNvPr>
          <p:cNvSpPr txBox="1"/>
          <p:nvPr/>
        </p:nvSpPr>
        <p:spPr>
          <a:xfrm>
            <a:off x="540565" y="520393"/>
            <a:ext cx="11065362" cy="3785652"/>
          </a:xfrm>
          <a:prstGeom prst="rect">
            <a:avLst/>
          </a:prstGeom>
          <a:noFill/>
        </p:spPr>
        <p:txBody>
          <a:bodyPr wrap="square" rtlCol="0">
            <a:spAutoFit/>
          </a:bodyPr>
          <a:lstStyle/>
          <a:p>
            <a:pPr marL="457200" indent="-457200">
              <a:buFont typeface="+mj-lt"/>
              <a:buAutoNum type="arabicPeriod" startAt="2"/>
            </a:pPr>
            <a:r>
              <a:rPr lang="en-US" sz="2000" dirty="0">
                <a:latin typeface="Verdana" charset="0"/>
                <a:ea typeface="Verdana" charset="0"/>
                <a:cs typeface="Verdana" charset="0"/>
              </a:rPr>
              <a:t>There are many ways to write and to understand formulas. Discuss with your partner which formulas make more sense to you. Discuss how the formulas in the formula chart can be used to help you remember how to find surface area. Summarize your discussion.</a:t>
            </a: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endParaRPr lang="en-US" sz="2000" dirty="0">
              <a:latin typeface="Verdana" charset="0"/>
              <a:ea typeface="Verdana" charset="0"/>
              <a:cs typeface="Verdana" charset="0"/>
            </a:endParaRPr>
          </a:p>
          <a:p>
            <a:pPr marL="457200" indent="-457200">
              <a:buFont typeface="+mj-lt"/>
              <a:buAutoNum type="arabicPeriod" startAt="2"/>
            </a:pPr>
            <a:r>
              <a:rPr lang="en-US" sz="2000" dirty="0">
                <a:latin typeface="Verdana" charset="0"/>
                <a:ea typeface="Verdana" charset="0"/>
                <a:cs typeface="Verdana" charset="0"/>
              </a:rPr>
              <a:t>The chart does not have a formula for lateral area. For each of the figures, except for spheres, circle the part of the surface area formula that gives the lateral area.</a:t>
            </a:r>
          </a:p>
        </p:txBody>
      </p:sp>
    </p:spTree>
    <p:extLst>
      <p:ext uri="{BB962C8B-B14F-4D97-AF65-F5344CB8AC3E}">
        <p14:creationId xmlns:p14="http://schemas.microsoft.com/office/powerpoint/2010/main" val="163500686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Google Shape;338;g103996e1364_0_315">
            <a:extLst>
              <a:ext uri="{FF2B5EF4-FFF2-40B4-BE49-F238E27FC236}">
                <a16:creationId xmlns:a16="http://schemas.microsoft.com/office/drawing/2014/main" id="{2AC58C8F-2DD8-F347-9ECA-58EE9E1B7E9C}"/>
              </a:ext>
            </a:extLst>
          </p:cNvPr>
          <p:cNvPicPr preferRelativeResize="0"/>
          <p:nvPr/>
        </p:nvPicPr>
        <p:blipFill rotWithShape="1">
          <a:blip r:embed="rId4">
            <a:alphaModFix/>
          </a:blip>
          <a:srcRect/>
          <a:stretch/>
        </p:blipFill>
        <p:spPr>
          <a:xfrm>
            <a:off x="4519075" y="2849920"/>
            <a:ext cx="1145792" cy="1158150"/>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97</a:t>
            </a:r>
          </a:p>
        </p:txBody>
      </p:sp>
    </p:spTree>
    <p:extLst>
      <p:ext uri="{BB962C8B-B14F-4D97-AF65-F5344CB8AC3E}">
        <p14:creationId xmlns:p14="http://schemas.microsoft.com/office/powerpoint/2010/main" val="15333900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50" y="-85979"/>
            <a:ext cx="1047127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9.8.5 Guided Instruction: Lateral Area and Surface Area</a:t>
            </a:r>
          </a:p>
        </p:txBody>
      </p:sp>
      <p:pic>
        <p:nvPicPr>
          <p:cNvPr id="9" name="Google Shape;345;g103996e1364_0_321">
            <a:extLst>
              <a:ext uri="{FF2B5EF4-FFF2-40B4-BE49-F238E27FC236}">
                <a16:creationId xmlns:a16="http://schemas.microsoft.com/office/drawing/2014/main" id="{CBDD45DF-949B-9F42-BFF6-A7167F0CF795}"/>
              </a:ext>
            </a:extLst>
          </p:cNvPr>
          <p:cNvPicPr preferRelativeResize="0"/>
          <p:nvPr/>
        </p:nvPicPr>
        <p:blipFill rotWithShape="1">
          <a:blip r:embed="rId4">
            <a:alphaModFix/>
          </a:blip>
          <a:srcRect/>
          <a:stretch/>
        </p:blipFill>
        <p:spPr>
          <a:xfrm>
            <a:off x="305350" y="121285"/>
            <a:ext cx="747300" cy="747300"/>
          </a:xfrm>
          <a:prstGeom prst="rect">
            <a:avLst/>
          </a:prstGeom>
          <a:noFill/>
          <a:ln>
            <a:noFill/>
          </a:ln>
          <a:effectLst>
            <a:outerShdw blurRad="50800" dist="38100" dir="2700000" algn="tl" rotWithShape="0">
              <a:prstClr val="black">
                <a:alpha val="40000"/>
              </a:prstClr>
            </a:outerShdw>
          </a:effectLst>
        </p:spPr>
      </p:pic>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97</a:t>
            </a: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C01B13E8-EC8D-E443-A329-C5E3593DD13A}"/>
                  </a:ext>
                </a:extLst>
              </p:cNvPr>
              <p:cNvSpPr txBox="1"/>
              <p:nvPr/>
            </p:nvSpPr>
            <p:spPr>
              <a:xfrm>
                <a:off x="593247" y="1386025"/>
                <a:ext cx="10659771" cy="2246769"/>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A square pyramid has a slant height of </a:t>
                </a:r>
                <a14:m>
                  <m:oMath xmlns:m="http://schemas.openxmlformats.org/officeDocument/2006/math">
                    <m:r>
                      <a:rPr lang="en-US" sz="2000" i="1">
                        <a:latin typeface="Cambria Math" charset="0"/>
                        <a:ea typeface="Verdana" charset="0"/>
                        <a:cs typeface="Verdana" charset="0"/>
                      </a:rPr>
                      <m:t>7</m:t>
                    </m:r>
                  </m:oMath>
                </a14:m>
                <a:r>
                  <a:rPr lang="en-US" sz="2000" dirty="0">
                    <a:latin typeface="Verdana" charset="0"/>
                    <a:ea typeface="Verdana" charset="0"/>
                    <a:cs typeface="Verdana" charset="0"/>
                  </a:rPr>
                  <a:t> inches, and the area of the base is </a:t>
                </a:r>
                <a14:m>
                  <m:oMath xmlns:m="http://schemas.openxmlformats.org/officeDocument/2006/math">
                    <m:r>
                      <a:rPr lang="en-US" sz="2000" i="1">
                        <a:latin typeface="Cambria Math" charset="0"/>
                        <a:ea typeface="Verdana" charset="0"/>
                        <a:cs typeface="Verdana" charset="0"/>
                      </a:rPr>
                      <m:t>16</m:t>
                    </m:r>
                  </m:oMath>
                </a14:m>
                <a:r>
                  <a:rPr lang="en-US" sz="2000" dirty="0">
                    <a:latin typeface="Verdana" charset="0"/>
                    <a:ea typeface="Verdana" charset="0"/>
                    <a:cs typeface="Verdana" charset="0"/>
                  </a:rPr>
                  <a:t> square inches. What is the surface area, in square inches? </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The surface area of a sphere is </a:t>
                </a:r>
                <a14:m>
                  <m:oMath xmlns:m="http://schemas.openxmlformats.org/officeDocument/2006/math">
                    <m:r>
                      <a:rPr lang="en-US" sz="2000" i="1">
                        <a:latin typeface="Cambria Math" charset="0"/>
                        <a:ea typeface="Verdana" charset="0"/>
                        <a:cs typeface="Verdana" charset="0"/>
                      </a:rPr>
                      <m:t>144</m:t>
                    </m:r>
                    <m:r>
                      <a:rPr lang="en-US" sz="2000" i="1">
                        <a:latin typeface="Cambria Math" charset="0"/>
                        <a:ea typeface="Verdana" charset="0"/>
                        <a:cs typeface="Verdana" charset="0"/>
                      </a:rPr>
                      <m:t>𝜋</m:t>
                    </m:r>
                  </m:oMath>
                </a14:m>
                <a:r>
                  <a:rPr lang="en-US" sz="2000" dirty="0">
                    <a:latin typeface="Verdana" charset="0"/>
                    <a:ea typeface="Verdana" charset="0"/>
                    <a:cs typeface="Verdana" charset="0"/>
                  </a:rPr>
                  <a:t> feet. What is the radius of the sphere? </a:t>
                </a:r>
              </a:p>
            </p:txBody>
          </p:sp>
        </mc:Choice>
        <mc:Fallback xmlns="">
          <p:sp>
            <p:nvSpPr>
              <p:cNvPr id="13" name="TextBox 12">
                <a:extLst>
                  <a:ext uri="{FF2B5EF4-FFF2-40B4-BE49-F238E27FC236}">
                    <a16:creationId xmlns:a16="http://schemas.microsoft.com/office/drawing/2014/main" id="{C01B13E8-EC8D-E443-A329-C5E3593DD13A}"/>
                  </a:ext>
                </a:extLst>
              </p:cNvPr>
              <p:cNvSpPr txBox="1">
                <a:spLocks noRot="1" noChangeAspect="1" noMove="1" noResize="1" noEditPoints="1" noAdjustHandles="1" noChangeArrowheads="1" noChangeShapeType="1" noTextEdit="1"/>
              </p:cNvSpPr>
              <p:nvPr/>
            </p:nvSpPr>
            <p:spPr>
              <a:xfrm>
                <a:off x="593247" y="1386025"/>
                <a:ext cx="10659771" cy="2246769"/>
              </a:xfrm>
              <a:prstGeom prst="rect">
                <a:avLst/>
              </a:prstGeom>
              <a:blipFill>
                <a:blip r:embed="rId5"/>
                <a:stretch>
                  <a:fillRect l="-629" t="-1626" b="-4065"/>
                </a:stretch>
              </a:blipFill>
            </p:spPr>
            <p:txBody>
              <a:bodyPr/>
              <a:lstStyle/>
              <a:p>
                <a:r>
                  <a:rPr lang="en-US">
                    <a:noFill/>
                  </a:rPr>
                  <a:t> </a:t>
                </a:r>
              </a:p>
            </p:txBody>
          </p:sp>
        </mc:Fallback>
      </mc:AlternateContent>
    </p:spTree>
    <p:extLst>
      <p:ext uri="{BB962C8B-B14F-4D97-AF65-F5344CB8AC3E}">
        <p14:creationId xmlns:p14="http://schemas.microsoft.com/office/powerpoint/2010/main" val="19981509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97</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0394"/>
                <a:ext cx="10961136" cy="4093428"/>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If a cylinder has a height of </a:t>
                </a:r>
                <a14:m>
                  <m:oMath xmlns:m="http://schemas.openxmlformats.org/officeDocument/2006/math">
                    <m:r>
                      <a:rPr lang="en-US" sz="2000" i="1">
                        <a:latin typeface="Cambria Math" charset="0"/>
                        <a:ea typeface="Verdana" charset="0"/>
                        <a:cs typeface="Verdana" charset="0"/>
                      </a:rPr>
                      <m:t>16</m:t>
                    </m:r>
                  </m:oMath>
                </a14:m>
                <a:r>
                  <a:rPr lang="en-US" sz="2000" dirty="0">
                    <a:latin typeface="Verdana" charset="0"/>
                    <a:ea typeface="Verdana" charset="0"/>
                    <a:cs typeface="Verdana" charset="0"/>
                  </a:rPr>
                  <a:t> centimeters and a radius of </a:t>
                </a:r>
                <a14:m>
                  <m:oMath xmlns:m="http://schemas.openxmlformats.org/officeDocument/2006/math">
                    <m:r>
                      <a:rPr lang="en-US" sz="2000" i="1">
                        <a:latin typeface="Cambria Math" charset="0"/>
                        <a:ea typeface="Verdana" charset="0"/>
                        <a:cs typeface="Verdana" charset="0"/>
                      </a:rPr>
                      <m:t>8</m:t>
                    </m:r>
                  </m:oMath>
                </a14:m>
                <a:r>
                  <a:rPr lang="en-US" sz="2000" dirty="0">
                    <a:latin typeface="Verdana" charset="0"/>
                    <a:ea typeface="Verdana" charset="0"/>
                    <a:cs typeface="Verdana" charset="0"/>
                  </a:rPr>
                  <a:t> centimeters. </a:t>
                </a:r>
              </a:p>
              <a:p>
                <a:r>
                  <a:rPr lang="en-US" sz="2000" dirty="0">
                    <a:latin typeface="Verdana" charset="0"/>
                    <a:ea typeface="Verdana" charset="0"/>
                    <a:cs typeface="Verdana" charset="0"/>
                  </a:rPr>
                  <a:t> </a:t>
                </a:r>
              </a:p>
              <a:p>
                <a:pPr marL="920750" indent="-528638">
                  <a:buFont typeface="+mj-lt"/>
                  <a:buAutoNum type="alphaLcPeriod"/>
                </a:pPr>
                <a:r>
                  <a:rPr lang="en-US" sz="2000" dirty="0">
                    <a:latin typeface="Verdana" charset="0"/>
                    <a:ea typeface="Verdana" charset="0"/>
                    <a:cs typeface="Verdana" charset="0"/>
                  </a:rPr>
                  <a:t>Find the lateral area. Leave your answer in </a:t>
                </a:r>
                <a14:m>
                  <m:oMath xmlns:m="http://schemas.openxmlformats.org/officeDocument/2006/math">
                    <m:r>
                      <a:rPr lang="en-US" sz="2000" i="1">
                        <a:latin typeface="Cambria Math" charset="0"/>
                        <a:ea typeface="Verdana" charset="0"/>
                        <a:cs typeface="Verdana" charset="0"/>
                      </a:rPr>
                      <m:t>𝜋</m:t>
                    </m:r>
                  </m:oMath>
                </a14:m>
                <a:r>
                  <a:rPr lang="en-US" sz="2000" dirty="0">
                    <a:latin typeface="Verdana" charset="0"/>
                    <a:ea typeface="Verdana" charset="0"/>
                    <a:cs typeface="Verdana" charset="0"/>
                  </a:rPr>
                  <a:t> form.</a:t>
                </a:r>
              </a:p>
              <a:p>
                <a:pPr marL="920750" indent="-528638">
                  <a:buFont typeface="+mj-lt"/>
                  <a:buAutoNum type="alphaLcPeriod"/>
                </a:pPr>
                <a:endParaRPr lang="en-US" sz="2000" dirty="0">
                  <a:latin typeface="Verdana" charset="0"/>
                  <a:ea typeface="Verdana" charset="0"/>
                  <a:cs typeface="Verdana" charset="0"/>
                </a:endParaRPr>
              </a:p>
              <a:p>
                <a:pPr marL="920750" indent="-528638">
                  <a:buFont typeface="+mj-lt"/>
                  <a:buAutoNum type="alphaLcPeriod"/>
                </a:pPr>
                <a:endParaRPr lang="en-US" sz="2000" dirty="0">
                  <a:latin typeface="Verdana" charset="0"/>
                  <a:ea typeface="Verdana" charset="0"/>
                  <a:cs typeface="Verdana" charset="0"/>
                </a:endParaRPr>
              </a:p>
              <a:p>
                <a:pPr marL="920750" indent="-528638">
                  <a:buFont typeface="+mj-lt"/>
                  <a:buAutoNum type="alphaLcPeriod"/>
                </a:pPr>
                <a:endParaRPr lang="en-US" sz="2000" dirty="0">
                  <a:latin typeface="Verdana" charset="0"/>
                  <a:ea typeface="Verdana" charset="0"/>
                  <a:cs typeface="Verdana" charset="0"/>
                </a:endParaRPr>
              </a:p>
              <a:p>
                <a:pPr marL="920750" indent="-528638">
                  <a:buFont typeface="+mj-lt"/>
                  <a:buAutoNum type="alphaLcPeriod"/>
                </a:pPr>
                <a:r>
                  <a:rPr lang="en-US" sz="2000" dirty="0">
                    <a:latin typeface="Verdana" charset="0"/>
                    <a:ea typeface="Verdana" charset="0"/>
                    <a:cs typeface="Verdana" charset="0"/>
                  </a:rPr>
                  <a:t>Find the surface area. Leave your answer in </a:t>
                </a:r>
                <a14:m>
                  <m:oMath xmlns:m="http://schemas.openxmlformats.org/officeDocument/2006/math">
                    <m:r>
                      <a:rPr lang="en-US" sz="2000" i="1">
                        <a:latin typeface="Cambria Math" charset="0"/>
                        <a:ea typeface="Verdana" charset="0"/>
                        <a:cs typeface="Verdana" charset="0"/>
                      </a:rPr>
                      <m:t>𝜋</m:t>
                    </m:r>
                  </m:oMath>
                </a14:m>
                <a:r>
                  <a:rPr lang="en-US" sz="2000" dirty="0">
                    <a:latin typeface="Verdana" charset="0"/>
                    <a:ea typeface="Verdana" charset="0"/>
                    <a:cs typeface="Verdana" charset="0"/>
                  </a:rPr>
                  <a:t> form.</a:t>
                </a:r>
              </a:p>
              <a:p>
                <a:r>
                  <a:rPr lang="en-US" sz="2000" b="1" dirty="0">
                    <a:latin typeface="Verdana" charset="0"/>
                    <a:ea typeface="Verdana" charset="0"/>
                    <a:cs typeface="Verdana" charset="0"/>
                  </a:rPr>
                  <a:t> </a:t>
                </a:r>
                <a:endParaRPr lang="en-US" sz="2000" dirty="0">
                  <a:latin typeface="Verdana" charset="0"/>
                  <a:ea typeface="Verdana" charset="0"/>
                  <a:cs typeface="Verdana" charset="0"/>
                </a:endParaRPr>
              </a:p>
              <a:p>
                <a:r>
                  <a:rPr lang="en-US" sz="2000" dirty="0">
                    <a:latin typeface="Verdana" charset="0"/>
                    <a:ea typeface="Verdana" charset="0"/>
                    <a:cs typeface="Verdana" charset="0"/>
                  </a:rPr>
                  <a:t> </a:t>
                </a:r>
              </a:p>
              <a:p>
                <a:endParaRPr lang="en-US" sz="2000" dirty="0">
                  <a:latin typeface="Verdana" charset="0"/>
                  <a:ea typeface="Verdana" charset="0"/>
                  <a:cs typeface="Verdana" charset="0"/>
                </a:endParaRPr>
              </a:p>
              <a:p>
                <a:pPr marL="457200" indent="-457200">
                  <a:buFont typeface="+mj-lt"/>
                  <a:buAutoNum type="arabicPeriod" startAt="4"/>
                </a:pPr>
                <a:r>
                  <a:rPr lang="en-US" sz="2000" dirty="0">
                    <a:latin typeface="Verdana" charset="0"/>
                    <a:ea typeface="Verdana" charset="0"/>
                    <a:cs typeface="Verdana" charset="0"/>
                  </a:rPr>
                  <a:t>A right triangular prism has the base side lengths of </a:t>
                </a:r>
                <a14:m>
                  <m:oMath xmlns:m="http://schemas.openxmlformats.org/officeDocument/2006/math">
                    <m:r>
                      <a:rPr lang="en-US" sz="2000" b="0" i="1" smtClean="0">
                        <a:latin typeface="Cambria Math" panose="02040503050406030204" pitchFamily="18" charset="0"/>
                        <a:ea typeface="Verdana" charset="0"/>
                        <a:cs typeface="Verdana" charset="0"/>
                      </a:rPr>
                      <m:t>8</m:t>
                    </m:r>
                    <m:r>
                      <a:rPr lang="en-US" sz="2000" i="1">
                        <a:latin typeface="Cambria Math" charset="0"/>
                        <a:ea typeface="Verdana" charset="0"/>
                        <a:cs typeface="Verdana" charset="0"/>
                      </a:rPr>
                      <m:t>, 1</m:t>
                    </m:r>
                    <m:r>
                      <a:rPr lang="en-US" sz="2000" b="0" i="1" smtClean="0">
                        <a:latin typeface="Cambria Math" panose="02040503050406030204" pitchFamily="18" charset="0"/>
                        <a:ea typeface="Verdana" charset="0"/>
                        <a:cs typeface="Verdana" charset="0"/>
                      </a:rPr>
                      <m:t>5</m:t>
                    </m:r>
                  </m:oMath>
                </a14:m>
                <a:r>
                  <a:rPr lang="en-US" sz="2000" dirty="0">
                    <a:latin typeface="Verdana" charset="0"/>
                    <a:ea typeface="Verdana" charset="0"/>
                    <a:cs typeface="Verdana" charset="0"/>
                  </a:rPr>
                  <a:t> and </a:t>
                </a:r>
                <a14:m>
                  <m:oMath xmlns:m="http://schemas.openxmlformats.org/officeDocument/2006/math">
                    <m:r>
                      <a:rPr lang="en-US" sz="2000" i="1">
                        <a:latin typeface="Cambria Math" charset="0"/>
                        <a:ea typeface="Verdana" charset="0"/>
                        <a:cs typeface="Verdana" charset="0"/>
                      </a:rPr>
                      <m:t>17</m:t>
                    </m:r>
                  </m:oMath>
                </a14:m>
                <a:r>
                  <a:rPr lang="en-US" sz="2000" dirty="0">
                    <a:latin typeface="Verdana" charset="0"/>
                    <a:ea typeface="Verdana" charset="0"/>
                    <a:cs typeface="Verdana" charset="0"/>
                  </a:rPr>
                  <a:t> feet (</a:t>
                </a:r>
                <a:r>
                  <a:rPr lang="en-US" sz="2000" dirty="0" err="1">
                    <a:latin typeface="Verdana" charset="0"/>
                    <a:ea typeface="Verdana" charset="0"/>
                    <a:cs typeface="Verdana" charset="0"/>
                  </a:rPr>
                  <a:t>ft</a:t>
                </a:r>
                <a:r>
                  <a:rPr lang="en-US" sz="2000" dirty="0">
                    <a:latin typeface="Verdana" charset="0"/>
                    <a:ea typeface="Verdana" charset="0"/>
                    <a:cs typeface="Verdana" charset="0"/>
                  </a:rPr>
                  <a:t>), where </a:t>
                </a:r>
                <a14:m>
                  <m:oMath xmlns:m="http://schemas.openxmlformats.org/officeDocument/2006/math">
                    <m:r>
                      <a:rPr lang="en-US" sz="2000" i="1">
                        <a:latin typeface="Cambria Math" charset="0"/>
                        <a:ea typeface="Verdana" charset="0"/>
                        <a:cs typeface="Verdana" charset="0"/>
                      </a:rPr>
                      <m:t>17</m:t>
                    </m:r>
                  </m:oMath>
                </a14:m>
                <a:r>
                  <a:rPr lang="en-US" sz="2000" dirty="0">
                    <a:latin typeface="Verdana" charset="0"/>
                    <a:ea typeface="Verdana" charset="0"/>
                    <a:cs typeface="Verdana" charset="0"/>
                  </a:rPr>
                  <a:t> ft is the hypotenuse of the triangle. The prism has a height of </a:t>
                </a:r>
                <a14:m>
                  <m:oMath xmlns:m="http://schemas.openxmlformats.org/officeDocument/2006/math">
                    <m:r>
                      <a:rPr lang="en-US" sz="2000" i="1">
                        <a:latin typeface="Cambria Math" charset="0"/>
                        <a:ea typeface="Verdana" charset="0"/>
                        <a:cs typeface="Verdana" charset="0"/>
                      </a:rPr>
                      <m:t>7</m:t>
                    </m:r>
                  </m:oMath>
                </a14:m>
                <a:r>
                  <a:rPr lang="en-US" sz="2000" dirty="0">
                    <a:latin typeface="Verdana" charset="0"/>
                    <a:ea typeface="Verdana" charset="0"/>
                    <a:cs typeface="Verdana" charset="0"/>
                  </a:rPr>
                  <a:t> ft. What is the surface area, in square feet, of the triangular prism? </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0394"/>
                <a:ext cx="10961136" cy="4093428"/>
              </a:xfrm>
              <a:prstGeom prst="rect">
                <a:avLst/>
              </a:prstGeom>
              <a:blipFill>
                <a:blip r:embed="rId4"/>
                <a:stretch>
                  <a:fillRect l="-612" t="-893" r="-667" b="-1637"/>
                </a:stretch>
              </a:blipFill>
            </p:spPr>
            <p:txBody>
              <a:bodyPr/>
              <a:lstStyle/>
              <a:p>
                <a:r>
                  <a:rPr lang="en-US">
                    <a:noFill/>
                  </a:rPr>
                  <a:t> </a:t>
                </a:r>
              </a:p>
            </p:txBody>
          </p:sp>
        </mc:Fallback>
      </mc:AlternateContent>
    </p:spTree>
    <p:extLst>
      <p:ext uri="{BB962C8B-B14F-4D97-AF65-F5344CB8AC3E}">
        <p14:creationId xmlns:p14="http://schemas.microsoft.com/office/powerpoint/2010/main" val="28214411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88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Practice</a:t>
            </a:r>
            <a:endParaRPr sz="5100" b="1" dirty="0">
              <a:solidFill>
                <a:srgbClr val="54B5D1"/>
              </a:solidFill>
              <a:latin typeface="Verdana"/>
              <a:ea typeface="Verdana"/>
              <a:cs typeface="Verdana"/>
              <a:sym typeface="Verdana"/>
            </a:endParaRPr>
          </a:p>
        </p:txBody>
      </p:sp>
      <p:sp>
        <p:nvSpPr>
          <p:cNvPr id="8" name="Google Shape;282;g104476d1465_1_17">
            <a:extLst>
              <a:ext uri="{FF2B5EF4-FFF2-40B4-BE49-F238E27FC236}">
                <a16:creationId xmlns:a16="http://schemas.microsoft.com/office/drawing/2014/main" id="{33005AFD-D615-1344-BDC0-5A40F6454816}"/>
              </a:ext>
            </a:extLst>
          </p:cNvPr>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98</a:t>
            </a:r>
          </a:p>
        </p:txBody>
      </p:sp>
      <p:pic>
        <p:nvPicPr>
          <p:cNvPr id="9218" name="Picture 2" descr="Icon&#10;&#10;Description automatically generated">
            <a:extLst>
              <a:ext uri="{FF2B5EF4-FFF2-40B4-BE49-F238E27FC236}">
                <a16:creationId xmlns:a16="http://schemas.microsoft.com/office/drawing/2014/main" id="{B02E8C6A-53AD-AA4E-A4ED-406F3B0E3707}"/>
              </a:ext>
            </a:extLst>
          </p:cNvPr>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4512723" y="2852923"/>
            <a:ext cx="1152144" cy="1152144"/>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270335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599"/>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052649" y="-37211"/>
            <a:ext cx="9728421"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54B5D1"/>
                </a:solidFill>
                <a:latin typeface="Verdana"/>
                <a:ea typeface="Verdana"/>
                <a:cs typeface="Verdana"/>
                <a:sym typeface="Verdana"/>
              </a:rPr>
              <a:t>9.8.6 Guided Practice: Lateral Area and Surface Area</a:t>
            </a:r>
          </a:p>
        </p:txBody>
      </p:sp>
      <p:sp>
        <p:nvSpPr>
          <p:cNvPr id="12" name="Google Shape;282;g104476d1465_1_17">
            <a:extLst>
              <a:ext uri="{FF2B5EF4-FFF2-40B4-BE49-F238E27FC236}">
                <a16:creationId xmlns:a16="http://schemas.microsoft.com/office/drawing/2014/main" id="{B2B1ECCC-8E07-F247-BB16-7B958B8E6B20}"/>
              </a:ext>
            </a:extLst>
          </p:cNvPr>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98</a:t>
            </a:r>
          </a:p>
        </p:txBody>
      </p:sp>
      <p:pic>
        <p:nvPicPr>
          <p:cNvPr id="8" name="Picture 2" descr="Icon&#10;&#10;Description automatically generated">
            <a:extLst>
              <a:ext uri="{FF2B5EF4-FFF2-40B4-BE49-F238E27FC236}">
                <a16:creationId xmlns:a16="http://schemas.microsoft.com/office/drawing/2014/main" id="{B3C42596-1BDF-794D-A82A-7C54635CB812}"/>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02842" y="128815"/>
            <a:ext cx="749808" cy="749808"/>
          </a:xfrm>
          <a:prstGeom prst="rect">
            <a:avLst/>
          </a:prstGeom>
          <a:noFill/>
          <a:effectLst>
            <a:outerShdw blurRad="50800" dist="38100" dir="2700000" algn="tl" rotWithShape="0">
              <a:prstClr val="black">
                <a:alpha val="40000"/>
              </a:prstClr>
            </a:outerShdw>
          </a:effectLst>
          <a:extLst>
            <a:ext uri="{909E8E84-426E-40DD-AFC4-6F175D3DCCD1}">
              <a14:hiddenFill xmlns:a14="http://schemas.microsoft.com/office/drawing/2010/main">
                <a:solidFill>
                  <a:srgbClr val="FFFFFF"/>
                </a:solidFill>
              </a14:hiddenFill>
            </a:ext>
          </a:extLst>
        </p:spPr>
      </p:pic>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1D40250-DEDD-2C41-8538-3D4DD18CCC4A}"/>
                  </a:ext>
                </a:extLst>
              </p:cNvPr>
              <p:cNvSpPr txBox="1"/>
              <p:nvPr/>
            </p:nvSpPr>
            <p:spPr>
              <a:xfrm>
                <a:off x="593248" y="1386026"/>
                <a:ext cx="11034902" cy="2862322"/>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A pyramid has a square base whose area is </a:t>
                </a:r>
                <a14:m>
                  <m:oMath xmlns:m="http://schemas.openxmlformats.org/officeDocument/2006/math">
                    <m:r>
                      <a:rPr lang="en-US" sz="2000" i="1">
                        <a:latin typeface="Cambria Math" charset="0"/>
                        <a:ea typeface="Verdana" charset="0"/>
                        <a:cs typeface="Verdana" charset="0"/>
                      </a:rPr>
                      <m:t>49</m:t>
                    </m:r>
                  </m:oMath>
                </a14:m>
                <a:r>
                  <a:rPr lang="en-US" sz="2000" dirty="0">
                    <a:latin typeface="Verdana" charset="0"/>
                    <a:ea typeface="Verdana" charset="0"/>
                    <a:cs typeface="Verdana" charset="0"/>
                  </a:rPr>
                  <a:t> square feet with a height of </a:t>
                </a:r>
                <a14:m>
                  <m:oMath xmlns:m="http://schemas.openxmlformats.org/officeDocument/2006/math">
                    <m:r>
                      <a:rPr lang="en-US" sz="2000" i="1">
                        <a:latin typeface="Cambria Math" charset="0"/>
                        <a:ea typeface="Verdana" charset="0"/>
                        <a:cs typeface="Verdana" charset="0"/>
                      </a:rPr>
                      <m:t>11.5</m:t>
                    </m:r>
                  </m:oMath>
                </a14:m>
                <a:r>
                  <a:rPr lang="en-US" sz="2000" dirty="0">
                    <a:latin typeface="Verdana" charset="0"/>
                    <a:ea typeface="Verdana" charset="0"/>
                    <a:cs typeface="Verdana" charset="0"/>
                  </a:rPr>
                  <a:t> feet. Find the lateral area, in square feet, of the pyramid. </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A rectangular prism has a length of </a:t>
                </a:r>
                <a14:m>
                  <m:oMath xmlns:m="http://schemas.openxmlformats.org/officeDocument/2006/math">
                    <m:r>
                      <a:rPr lang="en-US" sz="2000" i="1">
                        <a:latin typeface="Cambria Math" charset="0"/>
                        <a:ea typeface="Verdana" charset="0"/>
                        <a:cs typeface="Verdana" charset="0"/>
                      </a:rPr>
                      <m:t>12.5</m:t>
                    </m:r>
                  </m:oMath>
                </a14:m>
                <a:r>
                  <a:rPr lang="en-US" sz="2000" dirty="0">
                    <a:latin typeface="Verdana" charset="0"/>
                    <a:ea typeface="Verdana" charset="0"/>
                    <a:cs typeface="Verdana" charset="0"/>
                  </a:rPr>
                  <a:t> inches (in), a width of </a:t>
                </a:r>
                <a14:m>
                  <m:oMath xmlns:m="http://schemas.openxmlformats.org/officeDocument/2006/math">
                    <m:r>
                      <a:rPr lang="en-US" sz="2000" i="1">
                        <a:latin typeface="Cambria Math" charset="0"/>
                        <a:ea typeface="Verdana" charset="0"/>
                        <a:cs typeface="Verdana" charset="0"/>
                      </a:rPr>
                      <m:t>8</m:t>
                    </m:r>
                  </m:oMath>
                </a14:m>
                <a:r>
                  <a:rPr lang="en-US" sz="2000" dirty="0">
                    <a:latin typeface="Verdana" charset="0"/>
                    <a:ea typeface="Verdana" charset="0"/>
                    <a:cs typeface="Verdana" charset="0"/>
                  </a:rPr>
                  <a:t> in., and a height of </a:t>
                </a:r>
                <a14:m>
                  <m:oMath xmlns:m="http://schemas.openxmlformats.org/officeDocument/2006/math">
                    <m:r>
                      <a:rPr lang="en-US" sz="2000" i="1">
                        <a:latin typeface="Cambria Math" charset="0"/>
                        <a:ea typeface="Verdana" charset="0"/>
                        <a:cs typeface="Verdana" charset="0"/>
                      </a:rPr>
                      <m:t>5</m:t>
                    </m:r>
                  </m:oMath>
                </a14:m>
                <a:r>
                  <a:rPr lang="en-US" sz="2000" dirty="0">
                    <a:latin typeface="Verdana" charset="0"/>
                    <a:ea typeface="Verdana" charset="0"/>
                    <a:cs typeface="Verdana" charset="0"/>
                  </a:rPr>
                  <a:t> in. Determine the surface area, in square inches, of the rectangular prism. </a:t>
                </a:r>
              </a:p>
            </p:txBody>
          </p:sp>
        </mc:Choice>
        <mc:Fallback xmlns="">
          <p:sp>
            <p:nvSpPr>
              <p:cNvPr id="10" name="TextBox 9">
                <a:extLst>
                  <a:ext uri="{FF2B5EF4-FFF2-40B4-BE49-F238E27FC236}">
                    <a16:creationId xmlns:a16="http://schemas.microsoft.com/office/drawing/2014/main" id="{31D40250-DEDD-2C41-8538-3D4DD18CCC4A}"/>
                  </a:ext>
                </a:extLst>
              </p:cNvPr>
              <p:cNvSpPr txBox="1">
                <a:spLocks noRot="1" noChangeAspect="1" noMove="1" noResize="1" noEditPoints="1" noAdjustHandles="1" noChangeArrowheads="1" noChangeShapeType="1" noTextEdit="1"/>
              </p:cNvSpPr>
              <p:nvPr/>
            </p:nvSpPr>
            <p:spPr>
              <a:xfrm>
                <a:off x="593248" y="1386026"/>
                <a:ext cx="11034902" cy="2862322"/>
              </a:xfrm>
              <a:prstGeom prst="rect">
                <a:avLst/>
              </a:prstGeom>
              <a:blipFill>
                <a:blip r:embed="rId5"/>
                <a:stretch>
                  <a:fillRect l="-607" t="-1277" b="-2766"/>
                </a:stretch>
              </a:blipFill>
            </p:spPr>
            <p:txBody>
              <a:bodyPr/>
              <a:lstStyle/>
              <a:p>
                <a:r>
                  <a:rPr lang="en-US">
                    <a:noFill/>
                  </a:rPr>
                  <a:t> </a:t>
                </a:r>
              </a:p>
            </p:txBody>
          </p:sp>
        </mc:Fallback>
      </mc:AlternateContent>
    </p:spTree>
    <p:extLst>
      <p:ext uri="{BB962C8B-B14F-4D97-AF65-F5344CB8AC3E}">
        <p14:creationId xmlns:p14="http://schemas.microsoft.com/office/powerpoint/2010/main" val="16920279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05927" y="6200599"/>
            <a:ext cx="563850" cy="657276"/>
          </a:xfrm>
          <a:prstGeom prst="rect">
            <a:avLst/>
          </a:prstGeom>
          <a:noFill/>
          <a:ln>
            <a:noFill/>
          </a:ln>
          <a:effectLst>
            <a:outerShdw blurRad="57150" dist="19050" dir="5400000" algn="bl" rotWithShape="0">
              <a:srgbClr val="000000">
                <a:alpha val="50000"/>
              </a:srgbClr>
            </a:outerShdw>
          </a:effectLst>
        </p:spPr>
      </p:pic>
      <p:sp>
        <p:nvSpPr>
          <p:cNvPr id="12" name="Google Shape;282;g104476d1465_1_17">
            <a:extLst>
              <a:ext uri="{FF2B5EF4-FFF2-40B4-BE49-F238E27FC236}">
                <a16:creationId xmlns:a16="http://schemas.microsoft.com/office/drawing/2014/main" id="{647643F2-AA27-F54D-9B18-929351C91D74}"/>
              </a:ext>
            </a:extLst>
          </p:cNvPr>
          <p:cNvSpPr txBox="1"/>
          <p:nvPr/>
        </p:nvSpPr>
        <p:spPr>
          <a:xfrm>
            <a:off x="8867701" y="6457674"/>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98</a:t>
            </a: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2FA392D8-3ED3-7940-83A8-1451AA8A08D4}"/>
                  </a:ext>
                </a:extLst>
              </p:cNvPr>
              <p:cNvSpPr txBox="1"/>
              <p:nvPr/>
            </p:nvSpPr>
            <p:spPr>
              <a:xfrm>
                <a:off x="540565" y="520394"/>
                <a:ext cx="10961136" cy="707886"/>
              </a:xfrm>
              <a:prstGeom prst="rect">
                <a:avLst/>
              </a:prstGeom>
              <a:noFill/>
            </p:spPr>
            <p:txBody>
              <a:bodyPr wrap="square" rtlCol="0">
                <a:spAutoFit/>
              </a:bodyPr>
              <a:lstStyle/>
              <a:p>
                <a:pPr marL="457200" indent="-457200">
                  <a:buFont typeface="+mj-lt"/>
                  <a:buAutoNum type="arabicPeriod" startAt="3"/>
                </a:pPr>
                <a:r>
                  <a:rPr lang="en-US" sz="2000" dirty="0">
                    <a:latin typeface="Verdana" charset="0"/>
                    <a:ea typeface="Verdana" charset="0"/>
                    <a:cs typeface="Verdana" charset="0"/>
                  </a:rPr>
                  <a:t>The radius of a sphere is </a:t>
                </a:r>
                <a14:m>
                  <m:oMath xmlns:m="http://schemas.openxmlformats.org/officeDocument/2006/math">
                    <m:r>
                      <a:rPr lang="en-US" sz="2000" i="1">
                        <a:latin typeface="Cambria Math" charset="0"/>
                        <a:ea typeface="Verdana" charset="0"/>
                        <a:cs typeface="Verdana" charset="0"/>
                      </a:rPr>
                      <m:t>18.7</m:t>
                    </m:r>
                  </m:oMath>
                </a14:m>
                <a:r>
                  <a:rPr lang="en-US" sz="2000" dirty="0">
                    <a:latin typeface="Verdana" charset="0"/>
                    <a:ea typeface="Verdana" charset="0"/>
                    <a:cs typeface="Verdana" charset="0"/>
                  </a:rPr>
                  <a:t> feet. Find, in square feet, the surface area of the sphere. Round your answer to thousandths place.</a:t>
                </a:r>
              </a:p>
            </p:txBody>
          </p:sp>
        </mc:Choice>
        <mc:Fallback xmlns="">
          <p:sp>
            <p:nvSpPr>
              <p:cNvPr id="14" name="TextBox 13">
                <a:extLst>
                  <a:ext uri="{FF2B5EF4-FFF2-40B4-BE49-F238E27FC236}">
                    <a16:creationId xmlns:a16="http://schemas.microsoft.com/office/drawing/2014/main" id="{2FA392D8-3ED3-7940-83A8-1451AA8A08D4}"/>
                  </a:ext>
                </a:extLst>
              </p:cNvPr>
              <p:cNvSpPr txBox="1">
                <a:spLocks noRot="1" noChangeAspect="1" noMove="1" noResize="1" noEditPoints="1" noAdjustHandles="1" noChangeArrowheads="1" noChangeShapeType="1" noTextEdit="1"/>
              </p:cNvSpPr>
              <p:nvPr/>
            </p:nvSpPr>
            <p:spPr>
              <a:xfrm>
                <a:off x="540565" y="520394"/>
                <a:ext cx="10961136" cy="707886"/>
              </a:xfrm>
              <a:prstGeom prst="rect">
                <a:avLst/>
              </a:prstGeom>
              <a:blipFill>
                <a:blip r:embed="rId4"/>
                <a:stretch>
                  <a:fillRect l="-612" t="-5172" b="-14655"/>
                </a:stretch>
              </a:blipFill>
            </p:spPr>
            <p:txBody>
              <a:bodyPr/>
              <a:lstStyle/>
              <a:p>
                <a:r>
                  <a:rPr lang="en-US">
                    <a:noFill/>
                  </a:rPr>
                  <a:t> </a:t>
                </a:r>
              </a:p>
            </p:txBody>
          </p:sp>
        </mc:Fallback>
      </mc:AlternateContent>
    </p:spTree>
    <p:extLst>
      <p:ext uri="{BB962C8B-B14F-4D97-AF65-F5344CB8AC3E}">
        <p14:creationId xmlns:p14="http://schemas.microsoft.com/office/powerpoint/2010/main" val="11344398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8" name="Google Shape;423;g103996e1364_0_416">
            <a:extLst>
              <a:ext uri="{FF2B5EF4-FFF2-40B4-BE49-F238E27FC236}">
                <a16:creationId xmlns:a16="http://schemas.microsoft.com/office/drawing/2014/main" id="{93D338D9-F4F3-AC46-BAB5-0DC7D3916679}"/>
              </a:ext>
            </a:extLst>
          </p:cNvPr>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EE3C8BB3-D8AE-154C-9B2D-B1D7451436FE}"/>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99</a:t>
            </a:r>
          </a:p>
        </p:txBody>
      </p:sp>
    </p:spTree>
    <p:extLst>
      <p:ext uri="{BB962C8B-B14F-4D97-AF65-F5344CB8AC3E}">
        <p14:creationId xmlns:p14="http://schemas.microsoft.com/office/powerpoint/2010/main" val="179083965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6" name="Google Shape;428;g103996e1364_0_428">
            <a:extLst>
              <a:ext uri="{FF2B5EF4-FFF2-40B4-BE49-F238E27FC236}">
                <a16:creationId xmlns:a16="http://schemas.microsoft.com/office/drawing/2014/main" id="{07112538-C7A8-8B4A-B739-C3032B04086A}"/>
              </a:ext>
            </a:extLst>
          </p:cNvPr>
          <p:cNvSpPr txBox="1">
            <a:spLocks/>
          </p:cNvSpPr>
          <p:nvPr/>
        </p:nvSpPr>
        <p:spPr>
          <a:xfrm>
            <a:off x="1037988" y="61244"/>
            <a:ext cx="8019300" cy="7473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300" b="1" dirty="0">
                <a:solidFill>
                  <a:srgbClr val="E24E5F"/>
                </a:solidFill>
                <a:latin typeface="Verdana"/>
                <a:ea typeface="Verdana"/>
                <a:cs typeface="Verdana"/>
                <a:sym typeface="Verdana"/>
              </a:rPr>
              <a:t>9.8.7 Your Turn!</a:t>
            </a:r>
          </a:p>
        </p:txBody>
      </p:sp>
      <p:pic>
        <p:nvPicPr>
          <p:cNvPr id="9" name="Google Shape;430;g103996e1364_0_428">
            <a:extLst>
              <a:ext uri="{FF2B5EF4-FFF2-40B4-BE49-F238E27FC236}">
                <a16:creationId xmlns:a16="http://schemas.microsoft.com/office/drawing/2014/main" id="{032D5487-B5A9-DE4B-AE87-33198BE16145}"/>
              </a:ext>
            </a:extLst>
          </p:cNvPr>
          <p:cNvPicPr preferRelativeResize="0"/>
          <p:nvPr/>
        </p:nvPicPr>
        <p:blipFill rotWithShape="1">
          <a:blip r:embed="rId4">
            <a:alphaModFix/>
          </a:blip>
          <a:srcRect/>
          <a:stretch/>
        </p:blipFill>
        <p:spPr>
          <a:xfrm>
            <a:off x="290688" y="61244"/>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759C3E41-93EC-B84D-963F-86A3B15AC1C6}"/>
                  </a:ext>
                </a:extLst>
              </p:cNvPr>
              <p:cNvSpPr txBox="1"/>
              <p:nvPr/>
            </p:nvSpPr>
            <p:spPr>
              <a:xfrm>
                <a:off x="578586" y="1386945"/>
                <a:ext cx="11049564" cy="2554545"/>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Find the lateral area, in square meters, of a cone that has a radius of </a:t>
                </a:r>
                <a14:m>
                  <m:oMath xmlns:m="http://schemas.openxmlformats.org/officeDocument/2006/math">
                    <m:r>
                      <a:rPr lang="en-US" sz="2000" i="1">
                        <a:latin typeface="Cambria Math" charset="0"/>
                        <a:ea typeface="Verdana" charset="0"/>
                        <a:cs typeface="Verdana" charset="0"/>
                      </a:rPr>
                      <m:t>3</m:t>
                    </m:r>
                  </m:oMath>
                </a14:m>
                <a:r>
                  <a:rPr lang="en-US" sz="2000" dirty="0">
                    <a:latin typeface="Verdana" charset="0"/>
                    <a:ea typeface="Verdana" charset="0"/>
                    <a:cs typeface="Verdana" charset="0"/>
                  </a:rPr>
                  <a:t> meters (m) and a slant height of </a:t>
                </a:r>
                <a14:m>
                  <m:oMath xmlns:m="http://schemas.openxmlformats.org/officeDocument/2006/math">
                    <m:r>
                      <a:rPr lang="en-US" sz="2000" i="1">
                        <a:latin typeface="Cambria Math" charset="0"/>
                        <a:ea typeface="Verdana" charset="0"/>
                        <a:cs typeface="Verdana" charset="0"/>
                      </a:rPr>
                      <m:t>8.5</m:t>
                    </m:r>
                  </m:oMath>
                </a14:m>
                <a:r>
                  <a:rPr lang="en-US" sz="2000" dirty="0">
                    <a:latin typeface="Verdana" charset="0"/>
                    <a:ea typeface="Verdana" charset="0"/>
                    <a:cs typeface="Verdana" charset="0"/>
                  </a:rPr>
                  <a:t> m. Round your answer to thousandths place.</a:t>
                </a: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endParaRPr lang="en-US" sz="2000" dirty="0">
                  <a:latin typeface="Verdana" charset="0"/>
                  <a:ea typeface="Verdana" charset="0"/>
                  <a:cs typeface="Verdana" charset="0"/>
                </a:endParaRPr>
              </a:p>
              <a:p>
                <a:pPr marL="457200" indent="-457200">
                  <a:buFont typeface="+mj-lt"/>
                  <a:buAutoNum type="arabicPeriod"/>
                </a:pPr>
                <a:r>
                  <a:rPr lang="en-US" sz="2000" dirty="0">
                    <a:latin typeface="Verdana" charset="0"/>
                    <a:ea typeface="Verdana" charset="0"/>
                    <a:cs typeface="Verdana" charset="0"/>
                  </a:rPr>
                  <a:t>A cylinder has a radius of </a:t>
                </a:r>
                <a14:m>
                  <m:oMath xmlns:m="http://schemas.openxmlformats.org/officeDocument/2006/math">
                    <m:r>
                      <a:rPr lang="en-US" sz="2000" i="1">
                        <a:latin typeface="Cambria Math" charset="0"/>
                        <a:ea typeface="Verdana" charset="0"/>
                        <a:cs typeface="Verdana" charset="0"/>
                      </a:rPr>
                      <m:t>5</m:t>
                    </m:r>
                  </m:oMath>
                </a14:m>
                <a:r>
                  <a:rPr lang="en-US" sz="2000" dirty="0">
                    <a:latin typeface="Verdana" charset="0"/>
                    <a:ea typeface="Verdana" charset="0"/>
                    <a:cs typeface="Verdana" charset="0"/>
                  </a:rPr>
                  <a:t> inches (in) and a height of </a:t>
                </a:r>
                <a14:m>
                  <m:oMath xmlns:m="http://schemas.openxmlformats.org/officeDocument/2006/math">
                    <m:r>
                      <a:rPr lang="en-US" sz="2000" i="1">
                        <a:latin typeface="Cambria Math" charset="0"/>
                        <a:ea typeface="Verdana" charset="0"/>
                        <a:cs typeface="Verdana" charset="0"/>
                      </a:rPr>
                      <m:t>3.75</m:t>
                    </m:r>
                  </m:oMath>
                </a14:m>
                <a:r>
                  <a:rPr lang="en-US" sz="2000" dirty="0">
                    <a:latin typeface="Verdana" charset="0"/>
                    <a:ea typeface="Verdana" charset="0"/>
                    <a:cs typeface="Verdana" charset="0"/>
                  </a:rPr>
                  <a:t> in. Find the surface area, in inches, of the cylinder. Round your answer to thousandths place.</a:t>
                </a:r>
              </a:p>
            </p:txBody>
          </p:sp>
        </mc:Choice>
        <mc:Fallback xmlns="">
          <p:sp>
            <p:nvSpPr>
              <p:cNvPr id="12" name="TextBox 11">
                <a:extLst>
                  <a:ext uri="{FF2B5EF4-FFF2-40B4-BE49-F238E27FC236}">
                    <a16:creationId xmlns:a16="http://schemas.microsoft.com/office/drawing/2014/main" id="{759C3E41-93EC-B84D-963F-86A3B15AC1C6}"/>
                  </a:ext>
                </a:extLst>
              </p:cNvPr>
              <p:cNvSpPr txBox="1">
                <a:spLocks noRot="1" noChangeAspect="1" noMove="1" noResize="1" noEditPoints="1" noAdjustHandles="1" noChangeArrowheads="1" noChangeShapeType="1" noTextEdit="1"/>
              </p:cNvSpPr>
              <p:nvPr/>
            </p:nvSpPr>
            <p:spPr>
              <a:xfrm>
                <a:off x="578586" y="1386945"/>
                <a:ext cx="11049564" cy="2554545"/>
              </a:xfrm>
              <a:prstGeom prst="rect">
                <a:avLst/>
              </a:prstGeom>
              <a:blipFill>
                <a:blip r:embed="rId5"/>
                <a:stretch>
                  <a:fillRect l="-607" t="-1671" b="-3341"/>
                </a:stretch>
              </a:blipFill>
            </p:spPr>
            <p:txBody>
              <a:bodyPr/>
              <a:lstStyle/>
              <a:p>
                <a:r>
                  <a:rPr lang="en-US">
                    <a:noFill/>
                  </a:rPr>
                  <a:t> </a:t>
                </a:r>
              </a:p>
            </p:txBody>
          </p:sp>
        </mc:Fallback>
      </mc:AlternateContent>
      <p:sp>
        <p:nvSpPr>
          <p:cNvPr id="8" name="Google Shape;282;g104476d1465_1_17">
            <a:extLst>
              <a:ext uri="{FF2B5EF4-FFF2-40B4-BE49-F238E27FC236}">
                <a16:creationId xmlns:a16="http://schemas.microsoft.com/office/drawing/2014/main" id="{EE3C8BB3-D8AE-154C-9B2D-B1D7451436FE}"/>
              </a:ext>
            </a:extLst>
          </p:cNvPr>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99</a:t>
            </a:r>
          </a:p>
        </p:txBody>
      </p:sp>
    </p:spTree>
    <p:extLst>
      <p:ext uri="{BB962C8B-B14F-4D97-AF65-F5344CB8AC3E}">
        <p14:creationId xmlns:p14="http://schemas.microsoft.com/office/powerpoint/2010/main" val="310129987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4050"/>
            <a:ext cx="2731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0" name="Google Shape;310;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99</a:t>
            </a:r>
          </a:p>
        </p:txBody>
      </p:sp>
      <p:pic>
        <p:nvPicPr>
          <p:cNvPr id="311" name="Google Shape;311;g104476d1465_1_39"/>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628150" y="6200724"/>
            <a:ext cx="563850" cy="657276"/>
          </a:xfrm>
          <a:prstGeom prst="rect">
            <a:avLst/>
          </a:prstGeom>
          <a:noFill/>
          <a:ln>
            <a:noFill/>
          </a:ln>
          <a:effectLst>
            <a:outerShdw blurRad="57150" dist="19050" dir="5400000" algn="bl" rotWithShape="0">
              <a:srgbClr val="000000">
                <a:alpha val="50000"/>
              </a:srgbClr>
            </a:outerShdw>
          </a:effectLst>
        </p:spPr>
      </p:pic>
      <p:sp>
        <p:nvSpPr>
          <p:cNvPr id="313" name="Google Shape;313;g104476d1465_1_3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prstClr val="black">
                <a:alpha val="40000"/>
              </a:prstClr>
            </a:outerShdw>
          </a:effectLst>
        </p:spPr>
      </p:pic>
    </p:spTree>
    <p:extLst>
      <p:ext uri="{BB962C8B-B14F-4D97-AF65-F5344CB8AC3E}">
        <p14:creationId xmlns:p14="http://schemas.microsoft.com/office/powerpoint/2010/main" val="6769087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3465B0"/>
          </a:solidFill>
          <a:ln w="9525" cap="flat" cmpd="sng">
            <a:solidFill>
              <a:srgbClr val="3465B0"/>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82" name="Google Shape;282;g104476d1465_1_17"/>
          <p:cNvSpPr txBox="1"/>
          <p:nvPr/>
        </p:nvSpPr>
        <p:spPr>
          <a:xfrm>
            <a:off x="8860526" y="6444909"/>
            <a:ext cx="2634000" cy="400200"/>
          </a:xfrm>
          <a:prstGeom prst="rect">
            <a:avLst/>
          </a:prstGeom>
          <a:noFill/>
          <a:ln>
            <a:noFill/>
          </a:ln>
        </p:spPr>
        <p:txBody>
          <a:bodyPr spcFirstLastPara="1" wrap="square" lIns="91425" tIns="91425" rIns="91425" bIns="91425" anchor="t" anchorCtr="0">
            <a:spAutoFit/>
          </a:bodyPr>
          <a:lstStyle/>
          <a:p>
            <a:pPr lvl="0" algn="r"/>
            <a:r>
              <a:rPr lang="nb-NO" i="1" dirty="0" err="1">
                <a:latin typeface="Calibri"/>
                <a:ea typeface="Calibri"/>
                <a:cs typeface="Calibri"/>
                <a:sym typeface="Calibri"/>
              </a:rPr>
              <a:t>volume</a:t>
            </a:r>
            <a:r>
              <a:rPr lang="nb-NO" i="1" dirty="0">
                <a:latin typeface="Calibri"/>
                <a:ea typeface="Calibri"/>
                <a:cs typeface="Calibri"/>
                <a:sym typeface="Calibri"/>
              </a:rPr>
              <a:t> 2, </a:t>
            </a:r>
            <a:r>
              <a:rPr lang="nb-NO" i="1" dirty="0" err="1">
                <a:latin typeface="Calibri"/>
                <a:ea typeface="Calibri"/>
                <a:cs typeface="Calibri"/>
                <a:sym typeface="Calibri"/>
              </a:rPr>
              <a:t>pg</a:t>
            </a:r>
            <a:r>
              <a:rPr lang="nb-NO" i="1" dirty="0">
                <a:latin typeface="Calibri"/>
                <a:ea typeface="Calibri"/>
                <a:cs typeface="Calibri"/>
                <a:sym typeface="Calibri"/>
              </a:rPr>
              <a:t>. 99</a:t>
            </a:r>
          </a:p>
        </p:txBody>
      </p:sp>
      <p:pic>
        <p:nvPicPr>
          <p:cNvPr id="283" name="Google Shape;283;g104476d1465_1_17"/>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98752" y="6187834"/>
            <a:ext cx="563850" cy="657276"/>
          </a:xfrm>
          <a:prstGeom prst="rect">
            <a:avLst/>
          </a:prstGeom>
          <a:noFill/>
          <a:ln>
            <a:noFill/>
          </a:ln>
          <a:effectLst>
            <a:outerShdw blurRad="57150" dist="19050" dir="5400000" algn="bl" rotWithShape="0">
              <a:srgbClr val="000000">
                <a:alpha val="50000"/>
              </a:srgbClr>
            </a:outerShdw>
          </a:effectLst>
        </p:spPr>
      </p:pic>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134800" y="-82571"/>
            <a:ext cx="801930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600" b="1" dirty="0">
                <a:solidFill>
                  <a:srgbClr val="3F2A67"/>
                </a:solidFill>
                <a:latin typeface="Verdana"/>
                <a:ea typeface="Verdana"/>
                <a:cs typeface="Verdana"/>
                <a:sym typeface="Verdana"/>
              </a:rPr>
              <a:t>9.8.8 Wrap-Up: Error Analysis</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4">
            <a:alphaModFix/>
          </a:blip>
          <a:srcRect/>
          <a:stretch/>
        </p:blipFill>
        <p:spPr>
          <a:xfrm>
            <a:off x="305350" y="60325"/>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0370EDB7-6994-3D43-ABF9-E04CBAFB9CD9}"/>
                  </a:ext>
                </a:extLst>
              </p:cNvPr>
              <p:cNvSpPr txBox="1"/>
              <p:nvPr/>
            </p:nvSpPr>
            <p:spPr>
              <a:xfrm>
                <a:off x="593248" y="1386025"/>
                <a:ext cx="10901278" cy="4708981"/>
              </a:xfrm>
              <a:prstGeom prst="rect">
                <a:avLst/>
              </a:prstGeom>
              <a:noFill/>
            </p:spPr>
            <p:txBody>
              <a:bodyPr wrap="square" rtlCol="0">
                <a:spAutoFit/>
              </a:bodyPr>
              <a:lstStyle/>
              <a:p>
                <a:pPr marL="457200" indent="-457200">
                  <a:buFont typeface="+mj-lt"/>
                  <a:buAutoNum type="arabicPeriod"/>
                </a:pPr>
                <a:r>
                  <a:rPr lang="en-US" sz="2000" dirty="0">
                    <a:latin typeface="Verdana" charset="0"/>
                    <a:ea typeface="Verdana" charset="0"/>
                    <a:cs typeface="Verdana" charset="0"/>
                  </a:rPr>
                  <a:t>Cody and Mila are finding the surface area of a pyramid whose base area is </a:t>
                </a:r>
                <a14:m>
                  <m:oMath xmlns:m="http://schemas.openxmlformats.org/officeDocument/2006/math">
                    <m:r>
                      <a:rPr lang="en-US" sz="2000" i="1">
                        <a:latin typeface="Cambria Math" charset="0"/>
                        <a:ea typeface="Verdana" charset="0"/>
                        <a:cs typeface="Verdana" charset="0"/>
                      </a:rPr>
                      <m:t>144</m:t>
                    </m:r>
                  </m:oMath>
                </a14:m>
                <a:r>
                  <a:rPr lang="en-US" sz="2000" dirty="0">
                    <a:latin typeface="Verdana" charset="0"/>
                    <a:ea typeface="Verdana" charset="0"/>
                    <a:cs typeface="Verdana" charset="0"/>
                  </a:rPr>
                  <a:t> square inches and slant height is </a:t>
                </a:r>
                <a14:m>
                  <m:oMath xmlns:m="http://schemas.openxmlformats.org/officeDocument/2006/math">
                    <m:r>
                      <a:rPr lang="en-US" sz="2000" i="1">
                        <a:latin typeface="Cambria Math" charset="0"/>
                        <a:ea typeface="Verdana" charset="0"/>
                        <a:cs typeface="Verdana" charset="0"/>
                      </a:rPr>
                      <m:t>16</m:t>
                    </m:r>
                  </m:oMath>
                </a14:m>
                <a:r>
                  <a:rPr lang="en-US" sz="2000" dirty="0">
                    <a:latin typeface="Verdana" charset="0"/>
                    <a:ea typeface="Verdana" charset="0"/>
                    <a:cs typeface="Verdana" charset="0"/>
                  </a:rPr>
                  <a:t> inches. Their work is shown in the table.</a:t>
                </a: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lvl="0"/>
                <a:endParaRPr lang="en-US" sz="2000" dirty="0">
                  <a:latin typeface="Verdana" charset="0"/>
                  <a:ea typeface="Verdana" charset="0"/>
                  <a:cs typeface="Verdana" charset="0"/>
                </a:endParaRPr>
              </a:p>
              <a:p>
                <a:pPr marL="920750" indent="-528638">
                  <a:buFont typeface="+mj-lt"/>
                  <a:buAutoNum type="alphaLcPeriod"/>
                </a:pPr>
                <a:r>
                  <a:rPr lang="en-US" sz="2000" dirty="0">
                    <a:latin typeface="Verdana" charset="0"/>
                    <a:ea typeface="Verdana" charset="0"/>
                    <a:cs typeface="Verdana" charset="0"/>
                  </a:rPr>
                  <a:t>Whose work is correct? </a:t>
                </a:r>
              </a:p>
              <a:p>
                <a:pPr marL="920750" indent="-528638">
                  <a:buFont typeface="+mj-lt"/>
                  <a:buAutoNum type="alphaLcPeriod"/>
                </a:pPr>
                <a:endParaRPr lang="en-US" sz="2000" dirty="0">
                  <a:latin typeface="Verdana" charset="0"/>
                  <a:ea typeface="Verdana" charset="0"/>
                  <a:cs typeface="Verdana" charset="0"/>
                </a:endParaRPr>
              </a:p>
              <a:p>
                <a:pPr marL="920750" indent="-528638">
                  <a:buFont typeface="+mj-lt"/>
                  <a:buAutoNum type="alphaLcPeriod"/>
                </a:pPr>
                <a:endParaRPr lang="en-US" sz="2000" dirty="0">
                  <a:latin typeface="Verdana" charset="0"/>
                  <a:ea typeface="Verdana" charset="0"/>
                  <a:cs typeface="Verdana" charset="0"/>
                </a:endParaRPr>
              </a:p>
              <a:p>
                <a:pPr marL="920750" indent="-528638">
                  <a:buFont typeface="+mj-lt"/>
                  <a:buAutoNum type="alphaLcPeriod"/>
                </a:pPr>
                <a:r>
                  <a:rPr lang="en-US" sz="2000" dirty="0">
                    <a:latin typeface="Verdana" charset="0"/>
                    <a:ea typeface="Verdana" charset="0"/>
                    <a:cs typeface="Verdana" charset="0"/>
                  </a:rPr>
                  <a:t>Write a note to the student whose work is incorrect describing the mistake the student made. </a:t>
                </a:r>
              </a:p>
            </p:txBody>
          </p:sp>
        </mc:Choice>
        <mc:Fallback>
          <p:sp>
            <p:nvSpPr>
              <p:cNvPr id="12" name="TextBox 11">
                <a:extLst>
                  <a:ext uri="{FF2B5EF4-FFF2-40B4-BE49-F238E27FC236}">
                    <a16:creationId xmlns:a16="http://schemas.microsoft.com/office/drawing/2014/main" id="{0370EDB7-6994-3D43-ABF9-E04CBAFB9CD9}"/>
                  </a:ext>
                </a:extLst>
              </p:cNvPr>
              <p:cNvSpPr txBox="1">
                <a:spLocks noRot="1" noChangeAspect="1" noMove="1" noResize="1" noEditPoints="1" noAdjustHandles="1" noChangeArrowheads="1" noChangeShapeType="1" noTextEdit="1"/>
              </p:cNvSpPr>
              <p:nvPr/>
            </p:nvSpPr>
            <p:spPr>
              <a:xfrm>
                <a:off x="593248" y="1386025"/>
                <a:ext cx="10901278" cy="4708981"/>
              </a:xfrm>
              <a:prstGeom prst="rect">
                <a:avLst/>
              </a:prstGeom>
              <a:blipFill>
                <a:blip r:embed="rId5"/>
                <a:stretch>
                  <a:fillRect l="-615" t="-776" b="-1294"/>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1561168937"/>
                  </p:ext>
                </p:extLst>
              </p:nvPr>
            </p:nvGraphicFramePr>
            <p:xfrm>
              <a:off x="1385888" y="2269195"/>
              <a:ext cx="6800850" cy="1750822"/>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295910">
                    <a:tc>
                      <a:txBody>
                        <a:bodyPr/>
                        <a:lstStyle/>
                        <a:p>
                          <a:pPr marL="0" marR="0" algn="ctr">
                            <a:spcBef>
                              <a:spcPts val="0"/>
                            </a:spcBef>
                            <a:spcAft>
                              <a:spcPts val="0"/>
                            </a:spcAft>
                          </a:pPr>
                          <a:r>
                            <a:rPr lang="en-US" sz="2000" b="1">
                              <a:effectLst/>
                              <a:latin typeface="Verdana" charset="0"/>
                              <a:ea typeface="Verdana" charset="0"/>
                              <a:cs typeface="Verdana" charset="0"/>
                            </a:rPr>
                            <a:t>Cody’s Work</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Mila’s Work</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405255">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𝑆𝐴</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𝐵</m:t>
                                </m:r>
                                <m:r>
                                  <a:rPr lang="en-US" sz="2000" i="1">
                                    <a:effectLst/>
                                    <a:latin typeface="Cambria Math"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1</m:t>
                                    </m:r>
                                  </m:num>
                                  <m:den>
                                    <m:r>
                                      <a:rPr lang="en-US" sz="2000" i="1">
                                        <a:effectLst/>
                                        <a:latin typeface="Cambria Math" charset="0"/>
                                        <a:ea typeface="Verdana" charset="0"/>
                                        <a:cs typeface="Verdana" charset="0"/>
                                      </a:rPr>
                                      <m:t>2</m:t>
                                    </m:r>
                                  </m:den>
                                </m:f>
                                <m:r>
                                  <a:rPr lang="en-US" sz="2000" i="1">
                                    <a:effectLst/>
                                    <a:latin typeface="Cambria Math" charset="0"/>
                                    <a:ea typeface="Verdana" charset="0"/>
                                    <a:cs typeface="Verdana" charset="0"/>
                                  </a:rPr>
                                  <m:t>𝑃</m:t>
                                </m:r>
                                <m:sSub>
                                  <m:sSubPr>
                                    <m:ctrlPr>
                                      <a:rPr lang="en-US" sz="2000" i="1">
                                        <a:effectLst/>
                                        <a:latin typeface="Cambria Math" panose="02040503050406030204" pitchFamily="18" charset="0"/>
                                        <a:ea typeface="Verdana" charset="0"/>
                                        <a:cs typeface="Verdana" charset="0"/>
                                      </a:rPr>
                                    </m:ctrlPr>
                                  </m:sSubPr>
                                  <m:e>
                                    <m:r>
                                      <a:rPr lang="en-US" sz="2000" i="1">
                                        <a:effectLst/>
                                        <a:latin typeface="Cambria Math" charset="0"/>
                                        <a:ea typeface="Verdana" charset="0"/>
                                        <a:cs typeface="Verdana" charset="0"/>
                                      </a:rPr>
                                      <m:t>h</m:t>
                                    </m:r>
                                  </m:e>
                                  <m:sub>
                                    <m:r>
                                      <a:rPr lang="en-US" sz="2000" i="1">
                                        <a:effectLst/>
                                        <a:latin typeface="Cambria Math" charset="0"/>
                                        <a:ea typeface="Verdana" charset="0"/>
                                        <a:cs typeface="Verdana" charset="0"/>
                                      </a:rPr>
                                      <m:t>𝑠</m:t>
                                    </m:r>
                                  </m:sub>
                                </m:sSub>
                              </m:oMath>
                            </m:oMathPara>
                          </a14:m>
                          <a:endParaRPr lang="en-US" sz="2000" dirty="0">
                            <a:effectLst/>
                            <a:latin typeface="Verdana" charset="0"/>
                            <a:ea typeface="Verdana" charset="0"/>
                            <a:cs typeface="Verdana"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𝑆𝐴</m:t>
                                </m:r>
                                <m:r>
                                  <a:rPr lang="en-US" sz="2000" i="1">
                                    <a:effectLst/>
                                    <a:latin typeface="Cambria Math" charset="0"/>
                                    <a:ea typeface="Verdana" charset="0"/>
                                    <a:cs typeface="Verdana" charset="0"/>
                                  </a:rPr>
                                  <m:t>=144+</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1</m:t>
                                    </m:r>
                                  </m:num>
                                  <m:den>
                                    <m:r>
                                      <a:rPr lang="en-US" sz="2000" i="1">
                                        <a:effectLst/>
                                        <a:latin typeface="Cambria Math" charset="0"/>
                                        <a:ea typeface="Verdana" charset="0"/>
                                        <a:cs typeface="Verdana" charset="0"/>
                                      </a:rPr>
                                      <m:t>2</m:t>
                                    </m:r>
                                  </m:den>
                                </m:f>
                                <m:r>
                                  <a:rPr lang="en-US" sz="2000" i="1">
                                    <a:effectLst/>
                                    <a:latin typeface="Cambria Math" charset="0"/>
                                    <a:ea typeface="Verdana" charset="0"/>
                                    <a:cs typeface="Verdana" charset="0"/>
                                  </a:rPr>
                                  <m:t>(48)(16)</m:t>
                                </m:r>
                              </m:oMath>
                            </m:oMathPara>
                          </a14:m>
                          <a:endParaRPr lang="en-US" sz="2000" dirty="0">
                            <a:effectLst/>
                            <a:latin typeface="Verdana" charset="0"/>
                            <a:ea typeface="Verdana" charset="0"/>
                            <a:cs typeface="Verdana" charset="0"/>
                          </a:endParaRPr>
                        </a:p>
                        <a:p>
                          <a:pPr marL="0" marR="0" algn="ctr">
                            <a:spcBef>
                              <a:spcPts val="0"/>
                            </a:spcBef>
                            <a:spcAft>
                              <a:spcPts val="0"/>
                            </a:spcAft>
                          </a:pPr>
                          <a14:m>
                            <m:oMath xmlns:m="http://schemas.openxmlformats.org/officeDocument/2006/math">
                              <m:r>
                                <a:rPr lang="en-US" sz="2000" i="1">
                                  <a:effectLst/>
                                  <a:latin typeface="Cambria Math" charset="0"/>
                                  <a:ea typeface="Verdana" charset="0"/>
                                  <a:cs typeface="Verdana" charset="0"/>
                                </a:rPr>
                                <m:t>𝑆𝐴</m:t>
                              </m:r>
                              <m:r>
                                <a:rPr lang="en-US" sz="2000" i="1">
                                  <a:effectLst/>
                                  <a:latin typeface="Cambria Math" charset="0"/>
                                  <a:ea typeface="Verdana" charset="0"/>
                                  <a:cs typeface="Verdana" charset="0"/>
                                </a:rPr>
                                <m:t>=528</m:t>
                              </m:r>
                            </m:oMath>
                          </a14:m>
                          <a:r>
                            <a:rPr lang="en-US" sz="2000" dirty="0">
                              <a:effectLst/>
                              <a:latin typeface="Verdana" charset="0"/>
                              <a:ea typeface="Verdana" charset="0"/>
                              <a:cs typeface="Verdana" charset="0"/>
                            </a:rPr>
                            <a:t> square inches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𝑆𝐴</m:t>
                                </m:r>
                                <m:r>
                                  <a:rPr lang="en-US" sz="2000" i="1">
                                    <a:effectLst/>
                                    <a:latin typeface="Cambria Math" charset="0"/>
                                    <a:ea typeface="Verdana" charset="0"/>
                                    <a:cs typeface="Verdana" charset="0"/>
                                  </a:rPr>
                                  <m:t>=</m:t>
                                </m:r>
                                <m:r>
                                  <a:rPr lang="en-US" sz="2000" i="1">
                                    <a:effectLst/>
                                    <a:latin typeface="Cambria Math" charset="0"/>
                                    <a:ea typeface="Verdana" charset="0"/>
                                    <a:cs typeface="Verdana" charset="0"/>
                                  </a:rPr>
                                  <m:t>𝐵</m:t>
                                </m:r>
                                <m:r>
                                  <a:rPr lang="en-US" sz="2000" i="1">
                                    <a:effectLst/>
                                    <a:latin typeface="Cambria Math"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1</m:t>
                                    </m:r>
                                  </m:num>
                                  <m:den>
                                    <m:r>
                                      <a:rPr lang="en-US" sz="2000" i="1">
                                        <a:effectLst/>
                                        <a:latin typeface="Cambria Math" charset="0"/>
                                        <a:ea typeface="Verdana" charset="0"/>
                                        <a:cs typeface="Verdana" charset="0"/>
                                      </a:rPr>
                                      <m:t>2</m:t>
                                    </m:r>
                                  </m:den>
                                </m:f>
                                <m:r>
                                  <a:rPr lang="en-US" sz="2000" i="1">
                                    <a:effectLst/>
                                    <a:latin typeface="Cambria Math" charset="0"/>
                                    <a:ea typeface="Verdana" charset="0"/>
                                    <a:cs typeface="Verdana" charset="0"/>
                                  </a:rPr>
                                  <m:t>𝑃</m:t>
                                </m:r>
                                <m:sSub>
                                  <m:sSubPr>
                                    <m:ctrlPr>
                                      <a:rPr lang="en-US" sz="2000" i="1">
                                        <a:effectLst/>
                                        <a:latin typeface="Cambria Math" panose="02040503050406030204" pitchFamily="18" charset="0"/>
                                        <a:ea typeface="Verdana" charset="0"/>
                                        <a:cs typeface="Verdana" charset="0"/>
                                      </a:rPr>
                                    </m:ctrlPr>
                                  </m:sSubPr>
                                  <m:e>
                                    <m:r>
                                      <a:rPr lang="en-US" sz="2000" i="1">
                                        <a:effectLst/>
                                        <a:latin typeface="Cambria Math" charset="0"/>
                                        <a:ea typeface="Verdana" charset="0"/>
                                        <a:cs typeface="Verdana" charset="0"/>
                                      </a:rPr>
                                      <m:t>h</m:t>
                                    </m:r>
                                  </m:e>
                                  <m:sub>
                                    <m:r>
                                      <a:rPr lang="en-US" sz="2000" i="1">
                                        <a:effectLst/>
                                        <a:latin typeface="Cambria Math" charset="0"/>
                                        <a:ea typeface="Verdana" charset="0"/>
                                        <a:cs typeface="Verdana" charset="0"/>
                                      </a:rPr>
                                      <m:t>𝑠</m:t>
                                    </m:r>
                                  </m:sub>
                                </m:sSub>
                              </m:oMath>
                            </m:oMathPara>
                          </a14:m>
                          <a:endParaRPr lang="en-US" sz="2000" dirty="0">
                            <a:effectLst/>
                            <a:latin typeface="Verdana" charset="0"/>
                            <a:ea typeface="Verdana" charset="0"/>
                            <a:cs typeface="Verdana" charset="0"/>
                          </a:endParaRPr>
                        </a:p>
                        <a:p>
                          <a:pPr marL="0" marR="0">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charset="0"/>
                                    <a:ea typeface="Verdana" charset="0"/>
                                    <a:cs typeface="Verdana" charset="0"/>
                                  </a:rPr>
                                  <m:t>𝑆𝐴</m:t>
                                </m:r>
                                <m:r>
                                  <a:rPr lang="en-US" sz="2000" i="1">
                                    <a:effectLst/>
                                    <a:latin typeface="Cambria Math" charset="0"/>
                                    <a:ea typeface="Verdana" charset="0"/>
                                    <a:cs typeface="Verdana" charset="0"/>
                                  </a:rPr>
                                  <m:t>=</m:t>
                                </m:r>
                                <m:d>
                                  <m:dPr>
                                    <m:ctrlPr>
                                      <a:rPr lang="en-US" sz="2000" i="1">
                                        <a:effectLst/>
                                        <a:latin typeface="Cambria Math" panose="02040503050406030204" pitchFamily="18" charset="0"/>
                                        <a:ea typeface="Verdana" charset="0"/>
                                        <a:cs typeface="Verdana" charset="0"/>
                                      </a:rPr>
                                    </m:ctrlPr>
                                  </m:dPr>
                                  <m:e>
                                    <m:r>
                                      <a:rPr lang="en-US" sz="2000" i="1">
                                        <a:effectLst/>
                                        <a:latin typeface="Cambria Math" charset="0"/>
                                        <a:ea typeface="Verdana" charset="0"/>
                                        <a:cs typeface="Verdana" charset="0"/>
                                      </a:rPr>
                                      <m:t>144</m:t>
                                    </m:r>
                                  </m:e>
                                </m:d>
                                <m:r>
                                  <a:rPr lang="en-US" sz="2000" i="1">
                                    <a:effectLst/>
                                    <a:latin typeface="Cambria Math" charset="0"/>
                                    <a:ea typeface="Verdana" charset="0"/>
                                    <a:cs typeface="Verdana" charset="0"/>
                                  </a:rPr>
                                  <m:t>+</m:t>
                                </m:r>
                                <m:f>
                                  <m:fPr>
                                    <m:ctrlPr>
                                      <a:rPr lang="en-US" sz="2000" i="1">
                                        <a:effectLst/>
                                        <a:latin typeface="Cambria Math" panose="02040503050406030204" pitchFamily="18" charset="0"/>
                                        <a:ea typeface="Verdana" charset="0"/>
                                        <a:cs typeface="Verdana" charset="0"/>
                                      </a:rPr>
                                    </m:ctrlPr>
                                  </m:fPr>
                                  <m:num>
                                    <m:r>
                                      <a:rPr lang="en-US" sz="2000" i="1">
                                        <a:effectLst/>
                                        <a:latin typeface="Cambria Math" charset="0"/>
                                        <a:ea typeface="Verdana" charset="0"/>
                                        <a:cs typeface="Verdana" charset="0"/>
                                      </a:rPr>
                                      <m:t>1</m:t>
                                    </m:r>
                                  </m:num>
                                  <m:den>
                                    <m:r>
                                      <a:rPr lang="en-US" sz="2000" i="1">
                                        <a:effectLst/>
                                        <a:latin typeface="Cambria Math" charset="0"/>
                                        <a:ea typeface="Verdana" charset="0"/>
                                        <a:cs typeface="Verdana" charset="0"/>
                                      </a:rPr>
                                      <m:t>2</m:t>
                                    </m:r>
                                  </m:den>
                                </m:f>
                                <m:r>
                                  <a:rPr lang="en-US" sz="2000" i="1">
                                    <a:effectLst/>
                                    <a:latin typeface="Cambria Math" charset="0"/>
                                    <a:ea typeface="Verdana" charset="0"/>
                                    <a:cs typeface="Verdana" charset="0"/>
                                  </a:rPr>
                                  <m:t>(144)(16)</m:t>
                                </m:r>
                              </m:oMath>
                            </m:oMathPara>
                          </a14:m>
                          <a:endParaRPr lang="en-US" sz="2000" dirty="0">
                            <a:effectLst/>
                            <a:latin typeface="Verdana" charset="0"/>
                            <a:ea typeface="Verdana" charset="0"/>
                            <a:cs typeface="Verdana" charset="0"/>
                          </a:endParaRPr>
                        </a:p>
                        <a:p>
                          <a:pPr marL="0" marR="0" algn="ctr">
                            <a:spcBef>
                              <a:spcPts val="0"/>
                            </a:spcBef>
                            <a:spcAft>
                              <a:spcPts val="0"/>
                            </a:spcAft>
                          </a:pPr>
                          <a14:m>
                            <m:oMath xmlns:m="http://schemas.openxmlformats.org/officeDocument/2006/math">
                              <m:r>
                                <a:rPr lang="en-US" sz="2000" i="1">
                                  <a:effectLst/>
                                  <a:latin typeface="Cambria Math" charset="0"/>
                                  <a:ea typeface="Verdana" charset="0"/>
                                  <a:cs typeface="Verdana" charset="0"/>
                                </a:rPr>
                                <m:t>𝑆𝐴</m:t>
                              </m:r>
                              <m:r>
                                <a:rPr lang="en-US" sz="2000" i="1">
                                  <a:effectLst/>
                                  <a:latin typeface="Cambria Math" charset="0"/>
                                  <a:ea typeface="Verdana" charset="0"/>
                                  <a:cs typeface="Verdana" charset="0"/>
                                </a:rPr>
                                <m:t>=1296</m:t>
                              </m:r>
                            </m:oMath>
                          </a14:m>
                          <a:r>
                            <a:rPr lang="en-US" sz="2000" dirty="0">
                              <a:effectLst/>
                              <a:latin typeface="Verdana" charset="0"/>
                              <a:ea typeface="Verdana" charset="0"/>
                              <a:cs typeface="Verdana" charset="0"/>
                            </a:rPr>
                            <a:t> square inches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1561168937"/>
                  </p:ext>
                </p:extLst>
              </p:nvPr>
            </p:nvGraphicFramePr>
            <p:xfrm>
              <a:off x="1385888" y="2269195"/>
              <a:ext cx="6800850" cy="1750822"/>
            </p:xfrm>
            <a:graphic>
              <a:graphicData uri="http://schemas.openxmlformats.org/drawingml/2006/table">
                <a:tbl>
                  <a:tblPr firstRow="1" firstCol="1" bandRow="1"/>
                  <a:tblGrid>
                    <a:gridCol w="3416300">
                      <a:extLst>
                        <a:ext uri="{9D8B030D-6E8A-4147-A177-3AD203B41FA5}">
                          <a16:colId xmlns:a16="http://schemas.microsoft.com/office/drawing/2014/main" val="20000"/>
                        </a:ext>
                      </a:extLst>
                    </a:gridCol>
                    <a:gridCol w="3384550">
                      <a:extLst>
                        <a:ext uri="{9D8B030D-6E8A-4147-A177-3AD203B41FA5}">
                          <a16:colId xmlns:a16="http://schemas.microsoft.com/office/drawing/2014/main" val="20001"/>
                        </a:ext>
                      </a:extLst>
                    </a:gridCol>
                  </a:tblGrid>
                  <a:tr h="304800">
                    <a:tc>
                      <a:txBody>
                        <a:bodyPr/>
                        <a:lstStyle/>
                        <a:p>
                          <a:pPr marL="0" marR="0" algn="ctr">
                            <a:spcBef>
                              <a:spcPts val="0"/>
                            </a:spcBef>
                            <a:spcAft>
                              <a:spcPts val="0"/>
                            </a:spcAft>
                          </a:pPr>
                          <a:r>
                            <a:rPr lang="en-US" sz="2000" b="1">
                              <a:effectLst/>
                              <a:latin typeface="Verdana" charset="0"/>
                              <a:ea typeface="Verdana" charset="0"/>
                              <a:cs typeface="Verdana" charset="0"/>
                            </a:rPr>
                            <a:t>Cody’s Work</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spcBef>
                              <a:spcPts val="0"/>
                            </a:spcBef>
                            <a:spcAft>
                              <a:spcPts val="0"/>
                            </a:spcAft>
                          </a:pPr>
                          <a:r>
                            <a:rPr lang="en-US" sz="2000" b="1">
                              <a:effectLst/>
                              <a:latin typeface="Verdana" charset="0"/>
                              <a:ea typeface="Verdana" charset="0"/>
                              <a:cs typeface="Verdana" charset="0"/>
                            </a:rPr>
                            <a:t>Mila’s Work</a:t>
                          </a:r>
                          <a:endParaRPr lang="en-US" sz="2000">
                            <a:effectLst/>
                            <a:latin typeface="Verdana" charset="0"/>
                            <a:ea typeface="Verdana" charset="0"/>
                            <a:cs typeface="Verdana"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0000"/>
                      </a:ext>
                    </a:extLst>
                  </a:tr>
                  <a:tr h="1446022">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78" t="-26471" r="-99465" b="-10504"/>
                          </a:stretch>
                        </a:blipFill>
                      </a:tcPr>
                    </a:tc>
                    <a:tc>
                      <a:txBody>
                        <a:bodyPr/>
                        <a:lstStyle/>
                        <a:p>
                          <a:endParaRPr lang="en-US"/>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101261" t="-26471" r="-541" b="-10504"/>
                          </a:stretch>
                        </a:blipFill>
                      </a:tcPr>
                    </a:tc>
                    <a:extLst>
                      <a:ext uri="{0D108BD9-81ED-4DB2-BD59-A6C34878D82A}">
                        <a16:rowId xmlns:a16="http://schemas.microsoft.com/office/drawing/2014/main" val="10001"/>
                      </a:ext>
                    </a:extLst>
                  </a:tr>
                </a:tbl>
              </a:graphicData>
            </a:graphic>
          </p:graphicFrame>
        </mc:Fallback>
      </mc:AlternateContent>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1275</TotalTime>
  <Words>1365</Words>
  <Application>Microsoft Office PowerPoint</Application>
  <PresentationFormat>Widescreen</PresentationFormat>
  <Paragraphs>250</Paragraphs>
  <Slides>28</Slides>
  <Notes>28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28</vt:i4>
      </vt:variant>
    </vt:vector>
  </HeadingPairs>
  <TitlesOfParts>
    <vt:vector size="37" baseType="lpstr">
      <vt:lpstr>Arial</vt:lpstr>
      <vt:lpstr>Arial Black</vt:lpstr>
      <vt:lpstr>Calibri</vt:lpstr>
      <vt:lpstr>Cambria</vt:lpstr>
      <vt:lpstr>Cambria Math</vt:lpstr>
      <vt:lpstr>Century Gothic</vt:lpstr>
      <vt:lpstr>Verdana</vt:lpstr>
      <vt:lpstr>Wingdings</vt:lpstr>
      <vt:lpstr>1_Office Theme</vt:lpstr>
      <vt:lpstr>Geometry  Unit 9, Lesson 8  Surface Area of Three-Dimensional Figures  Volume 2, pg. 93  </vt:lpstr>
      <vt:lpstr>Benchmark</vt:lpstr>
      <vt:lpstr>PowerPoint Presentation</vt:lpstr>
      <vt:lpstr>PowerPoint Presentation</vt:lpstr>
      <vt:lpstr>Warm-Up</vt:lpstr>
      <vt:lpstr>PowerPoint Presentation</vt:lpstr>
      <vt:lpstr>Collaboration</vt:lpstr>
      <vt:lpstr>PowerPoint Presentation</vt:lpstr>
      <vt:lpstr>PowerPoint Presentation</vt:lpstr>
      <vt:lpstr>Activity</vt:lpstr>
      <vt:lpstr>PowerPoint Presentation</vt:lpstr>
      <vt:lpstr>PowerPoint Presentation</vt:lpstr>
      <vt:lpstr>PowerPoint Presentation</vt:lpstr>
      <vt:lpstr>PowerPoint Presentation</vt:lpstr>
      <vt:lpstr>Bring It Together</vt:lpstr>
      <vt:lpstr>PowerPoint Presentation</vt:lpstr>
      <vt:lpstr>PowerPoint Presentation</vt:lpstr>
      <vt:lpstr>PowerPoint Presentation</vt:lpstr>
      <vt:lpstr>Guided Instruction</vt:lpstr>
      <vt:lpstr>PowerPoint Presentation</vt:lpstr>
      <vt:lpstr>PowerPoint Presentation</vt:lpstr>
      <vt:lpstr>Guided Practice</vt:lpstr>
      <vt:lpstr>PowerPoint Presentation</vt:lpstr>
      <vt:lpstr>PowerPoint Presentation</vt:lpstr>
      <vt:lpstr>Your Turn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Morgan Palomino</cp:lastModifiedBy>
  <cp:revision>26</cp:revision>
  <dcterms:created xsi:type="dcterms:W3CDTF">2015-03-17T18:51:18Z</dcterms:created>
  <dcterms:modified xsi:type="dcterms:W3CDTF">2023-04-11T19:42:13Z</dcterms:modified>
</cp:coreProperties>
</file>