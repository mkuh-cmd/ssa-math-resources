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314" r:id="rId8"/>
    <p:sldId id="315" r:id="rId9"/>
    <p:sldId id="352" r:id="rId10"/>
    <p:sldId id="362" r:id="rId11"/>
    <p:sldId id="371" r:id="rId12"/>
    <p:sldId id="372" r:id="rId13"/>
    <p:sldId id="373" r:id="rId14"/>
    <p:sldId id="363" r:id="rId15"/>
    <p:sldId id="364" r:id="rId16"/>
    <p:sldId id="365" r:id="rId17"/>
    <p:sldId id="366" r:id="rId18"/>
    <p:sldId id="374" r:id="rId19"/>
    <p:sldId id="375" r:id="rId20"/>
    <p:sldId id="367" r:id="rId21"/>
    <p:sldId id="368" r:id="rId22"/>
    <p:sldId id="369" r:id="rId23"/>
    <p:sldId id="370" r:id="rId24"/>
    <p:sldId id="376" r:id="rId25"/>
    <p:sldId id="306" r:id="rId26"/>
    <p:sldId id="30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3465B0"/>
    <a:srgbClr val="DA4487"/>
    <a:srgbClr val="276C46"/>
    <a:srgbClr val="C9DF6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240"/>
    <p:restoredTop sz="94695"/>
  </p:normalViewPr>
  <p:slideViewPr>
    <p:cSldViewPr snapToGrid="0">
      <p:cViewPr varScale="1">
        <p:scale>
          <a:sx n="78" d="100"/>
          <a:sy n="78" d="100"/>
        </p:scale>
        <p:origin x="22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54390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074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06663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030508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666408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71790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37954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038055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01718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017754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012799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762800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655590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734234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95926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0.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Density Based on Area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59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010" y="1598046"/>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069477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MA.912.GR.4.4 </a:t>
            </a:r>
          </a:p>
          <a:p>
            <a:pPr marL="469900" indent="0">
              <a:buNone/>
            </a:pPr>
            <a:r>
              <a:rPr lang="en-US" sz="2400" dirty="0">
                <a:latin typeface="Verdana" charset="0"/>
                <a:ea typeface="Verdana" charset="0"/>
                <a:cs typeface="Verdana" charset="0"/>
              </a:rPr>
              <a:t>Solve mathematical and real-world problems involving the area of two-dimensional figures.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667"/>
            <a:ext cx="93461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59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454496"/>
            <a:ext cx="105263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2123"/>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5719" y="1676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3557" y="305962"/>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59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6344" y="1586302"/>
            <a:ext cx="110575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real-world problems that involve density using area.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59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5" y="-116652"/>
            <a:ext cx="96231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9.2.1 Warm-Up: Would You Rather?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59</a:t>
            </a:r>
          </a:p>
        </p:txBody>
      </p:sp>
      <p:sp>
        <p:nvSpPr>
          <p:cNvPr id="2" name="TextBox 1">
            <a:extLst>
              <a:ext uri="{FF2B5EF4-FFF2-40B4-BE49-F238E27FC236}">
                <a16:creationId xmlns:a16="http://schemas.microsoft.com/office/drawing/2014/main" id="{E1D7562E-134F-D14B-AF1A-DF40E11EF758}"/>
              </a:ext>
            </a:extLst>
          </p:cNvPr>
          <p:cNvSpPr txBox="1"/>
          <p:nvPr/>
        </p:nvSpPr>
        <p:spPr>
          <a:xfrm>
            <a:off x="551064" y="1386026"/>
            <a:ext cx="8327136" cy="317009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Which car would you rather buy?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your answer. </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186376539"/>
                  </p:ext>
                </p:extLst>
              </p:nvPr>
            </p:nvGraphicFramePr>
            <p:xfrm>
              <a:off x="1186191" y="2056674"/>
              <a:ext cx="6800850" cy="18288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Car A</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Car B</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$19,000</m:t>
                                </m:r>
                              </m:oMath>
                            </m:oMathPara>
                          </a14:m>
                          <a:endParaRPr lang="en-US" sz="2000" dirty="0">
                            <a:effectLst/>
                            <a:latin typeface="Verdana" charset="0"/>
                            <a:ea typeface="Verdana" charset="0"/>
                            <a:cs typeface="Verdana" charset="0"/>
                          </a:endParaRPr>
                        </a:p>
                        <a:p>
                          <a:pPr marL="0" marR="0">
                            <a:spcBef>
                              <a:spcPts val="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p>
                          <a:pPr marL="0" marR="0">
                            <a:spcBef>
                              <a:spcPts val="0"/>
                            </a:spcBef>
                            <a:spcAft>
                              <a:spcPts val="0"/>
                            </a:spcAft>
                          </a:pP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12%</m:t>
                              </m:r>
                            </m:oMath>
                          </a14:m>
                          <a:r>
                            <a:rPr lang="en-US" sz="2000" dirty="0">
                              <a:solidFill>
                                <a:srgbClr val="000000"/>
                              </a:solidFill>
                              <a:effectLst/>
                              <a:latin typeface="Verdana" charset="0"/>
                              <a:ea typeface="Verdana" charset="0"/>
                              <a:cs typeface="Verdana" charset="0"/>
                            </a:rPr>
                            <a:t> depreciation per year when you upgrade the car after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m:t>
                              </m:r>
                            </m:oMath>
                          </a14:m>
                          <a:r>
                            <a:rPr lang="en-US" sz="2000" dirty="0">
                              <a:solidFill>
                                <a:srgbClr val="000000"/>
                              </a:solidFill>
                              <a:effectLst/>
                              <a:latin typeface="Verdana" charset="0"/>
                              <a:ea typeface="Verdana" charset="0"/>
                              <a:cs typeface="Verdana" charset="0"/>
                            </a:rPr>
                            <a:t> years.</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$25,000</m:t>
                                </m:r>
                              </m:oMath>
                            </m:oMathPara>
                          </a14:m>
                          <a:endParaRPr lang="en-US" sz="2000" dirty="0">
                            <a:effectLst/>
                            <a:latin typeface="Verdana" charset="0"/>
                            <a:ea typeface="Verdana" charset="0"/>
                            <a:cs typeface="Verdana" charset="0"/>
                          </a:endParaRPr>
                        </a:p>
                        <a:p>
                          <a:pPr marL="0" marR="0">
                            <a:spcBef>
                              <a:spcPts val="0"/>
                            </a:spcBef>
                            <a:spcAft>
                              <a:spcPts val="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p>
                          <a:pPr marL="0" marR="0">
                            <a:spcBef>
                              <a:spcPts val="0"/>
                            </a:spcBef>
                            <a:spcAft>
                              <a:spcPts val="0"/>
                            </a:spcAft>
                          </a:pP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16%</m:t>
                              </m:r>
                            </m:oMath>
                          </a14:m>
                          <a:r>
                            <a:rPr lang="en-US" sz="2000" dirty="0">
                              <a:solidFill>
                                <a:srgbClr val="000000"/>
                              </a:solidFill>
                              <a:effectLst/>
                              <a:latin typeface="Verdana" charset="0"/>
                              <a:ea typeface="Verdana" charset="0"/>
                              <a:cs typeface="Verdana" charset="0"/>
                            </a:rPr>
                            <a:t> depreciation per year when you upgrade the car after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m:t>
                              </m:r>
                            </m:oMath>
                          </a14:m>
                          <a:r>
                            <a:rPr lang="en-US" sz="2000" dirty="0">
                              <a:solidFill>
                                <a:srgbClr val="000000"/>
                              </a:solidFill>
                              <a:effectLst/>
                              <a:latin typeface="Verdana" charset="0"/>
                              <a:ea typeface="Verdana" charset="0"/>
                              <a:cs typeface="Verdana" charset="0"/>
                            </a:rPr>
                            <a:t> years.</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186376539"/>
                  </p:ext>
                </p:extLst>
              </p:nvPr>
            </p:nvGraphicFramePr>
            <p:xfrm>
              <a:off x="1186191" y="2056674"/>
              <a:ext cx="6800850" cy="18288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Car A</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Car B</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5240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78" t="-25100" r="-99465" b="-996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79" t="-25100" r="-360" b="-9960"/>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60</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0325"/>
            <a:ext cx="1047127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9.2.2 Collaboration: Population Density</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60</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593248" y="1386026"/>
            <a:ext cx="9155436" cy="317009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five largest cities in Florida and their populations are shown. </a:t>
            </a:r>
          </a:p>
          <a:p>
            <a:pPr marL="457200" indent="-457200">
              <a:buFont typeface="+mj-lt"/>
              <a:buAutoNum type="arabicPeriod"/>
            </a:pPr>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469900"/>
            <a:r>
              <a:rPr lang="en-US" sz="2000" dirty="0">
                <a:latin typeface="Verdana" charset="0"/>
                <a:ea typeface="Verdana" charset="0"/>
                <a:cs typeface="Verdana" charset="0"/>
              </a:rPr>
              <a:t>The table shows the area of Florida’s five largest cities. </a:t>
            </a:r>
          </a:p>
          <a:p>
            <a:pPr lvl="0"/>
            <a:endParaRPr lang="en-US" sz="2000" dirty="0">
              <a:latin typeface="Verdana" charset="0"/>
              <a:ea typeface="Verdana" charset="0"/>
              <a:cs typeface="Verdana"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151932128"/>
                  </p:ext>
                </p:extLst>
              </p:nvPr>
            </p:nvGraphicFramePr>
            <p:xfrm>
              <a:off x="1244141" y="1843788"/>
              <a:ext cx="6686550" cy="1828800"/>
            </p:xfrm>
            <a:graphic>
              <a:graphicData uri="http://schemas.openxmlformats.org/drawingml/2006/table">
                <a:tbl>
                  <a:tblPr firstRow="1" firstCol="1" bandRow="1"/>
                  <a:tblGrid>
                    <a:gridCol w="3359150">
                      <a:extLst>
                        <a:ext uri="{9D8B030D-6E8A-4147-A177-3AD203B41FA5}">
                          <a16:colId xmlns:a16="http://schemas.microsoft.com/office/drawing/2014/main" val="20000"/>
                        </a:ext>
                      </a:extLst>
                    </a:gridCol>
                    <a:gridCol w="332740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a:effectLst/>
                              <a:latin typeface="Verdana" charset="0"/>
                              <a:ea typeface="Verdana" charset="0"/>
                              <a:cs typeface="Verdana" charset="0"/>
                            </a:rPr>
                            <a:t>City</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Population</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2000">
                              <a:effectLst/>
                              <a:latin typeface="Verdana" charset="0"/>
                              <a:ea typeface="Verdana" charset="0"/>
                              <a:cs typeface="Verdana" charset="0"/>
                            </a:rPr>
                            <a:t>Jacksonville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890,467</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2000">
                              <a:effectLst/>
                              <a:latin typeface="Verdana" charset="0"/>
                              <a:ea typeface="Verdana" charset="0"/>
                              <a:cs typeface="Verdana" charset="0"/>
                            </a:rPr>
                            <a:t>Miami</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454,279</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2000">
                              <a:effectLst/>
                              <a:latin typeface="Verdana" charset="0"/>
                              <a:ea typeface="Verdana" charset="0"/>
                              <a:cs typeface="Verdana" charset="0"/>
                            </a:rPr>
                            <a:t>Tampa</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387,916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spcBef>
                              <a:spcPts val="0"/>
                            </a:spcBef>
                            <a:spcAft>
                              <a:spcPts val="0"/>
                            </a:spcAft>
                          </a:pPr>
                          <a:r>
                            <a:rPr lang="en-US" sz="2000">
                              <a:effectLst/>
                              <a:latin typeface="Verdana" charset="0"/>
                              <a:ea typeface="Verdana" charset="0"/>
                              <a:cs typeface="Verdana" charset="0"/>
                            </a:rPr>
                            <a:t>Orlando</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280,832</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marR="0" algn="ctr">
                            <a:spcBef>
                              <a:spcPts val="0"/>
                            </a:spcBef>
                            <a:spcAft>
                              <a:spcPts val="0"/>
                            </a:spcAft>
                          </a:pPr>
                          <a:r>
                            <a:rPr lang="en-US" sz="2000" dirty="0">
                              <a:effectLst/>
                              <a:latin typeface="Verdana" charset="0"/>
                              <a:ea typeface="Verdana" charset="0"/>
                              <a:cs typeface="Verdana" charset="0"/>
                            </a:rPr>
                            <a:t>St. Petersburg</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261,338</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151932128"/>
                  </p:ext>
                </p:extLst>
              </p:nvPr>
            </p:nvGraphicFramePr>
            <p:xfrm>
              <a:off x="1244141" y="1843788"/>
              <a:ext cx="6686550" cy="1828800"/>
            </p:xfrm>
            <a:graphic>
              <a:graphicData uri="http://schemas.openxmlformats.org/drawingml/2006/table">
                <a:tbl>
                  <a:tblPr firstRow="1" firstCol="1" bandRow="1"/>
                  <a:tblGrid>
                    <a:gridCol w="3359150">
                      <a:extLst>
                        <a:ext uri="{9D8B030D-6E8A-4147-A177-3AD203B41FA5}">
                          <a16:colId xmlns:a16="http://schemas.microsoft.com/office/drawing/2014/main" val="20000"/>
                        </a:ext>
                      </a:extLst>
                    </a:gridCol>
                    <a:gridCol w="3327400">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a:effectLst/>
                              <a:latin typeface="Verdana" charset="0"/>
                              <a:ea typeface="Verdana" charset="0"/>
                              <a:cs typeface="Verdana" charset="0"/>
                            </a:rPr>
                            <a:t>City</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Population</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Jacksonville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99" t="-126000" r="-549" b="-452000"/>
                          </a:stretch>
                        </a:blipFill>
                      </a:tcPr>
                    </a:tc>
                    <a:extLst>
                      <a:ext uri="{0D108BD9-81ED-4DB2-BD59-A6C34878D82A}">
                        <a16:rowId xmlns:a16="http://schemas.microsoft.com/office/drawing/2014/main" val="10001"/>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Miami</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99" t="-221569" r="-549" b="-343137"/>
                          </a:stretch>
                        </a:blipFill>
                      </a:tcPr>
                    </a:tc>
                    <a:extLst>
                      <a:ext uri="{0D108BD9-81ED-4DB2-BD59-A6C34878D82A}">
                        <a16:rowId xmlns:a16="http://schemas.microsoft.com/office/drawing/2014/main" val="10002"/>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Tampa</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99" t="-328000" r="-549" b="-250000"/>
                          </a:stretch>
                        </a:blipFill>
                      </a:tcPr>
                    </a:tc>
                    <a:extLst>
                      <a:ext uri="{0D108BD9-81ED-4DB2-BD59-A6C34878D82A}">
                        <a16:rowId xmlns:a16="http://schemas.microsoft.com/office/drawing/2014/main" val="10003"/>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Orlando</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99" t="-428000" r="-549" b="-150000"/>
                          </a:stretch>
                        </a:blipFill>
                      </a:tcPr>
                    </a:tc>
                    <a:extLst>
                      <a:ext uri="{0D108BD9-81ED-4DB2-BD59-A6C34878D82A}">
                        <a16:rowId xmlns:a16="http://schemas.microsoft.com/office/drawing/2014/main" val="10004"/>
                      </a:ext>
                    </a:extLst>
                  </a:tr>
                  <a:tr h="304800">
                    <a:tc>
                      <a:txBody>
                        <a:bodyPr/>
                        <a:lstStyle/>
                        <a:p>
                          <a:pPr marL="0" marR="0" algn="ctr">
                            <a:spcBef>
                              <a:spcPts val="0"/>
                            </a:spcBef>
                            <a:spcAft>
                              <a:spcPts val="0"/>
                            </a:spcAft>
                          </a:pPr>
                          <a:r>
                            <a:rPr lang="en-US" sz="2000" dirty="0">
                              <a:effectLst/>
                              <a:latin typeface="Verdana" charset="0"/>
                              <a:ea typeface="Verdana" charset="0"/>
                              <a:cs typeface="Verdana" charset="0"/>
                            </a:rPr>
                            <a:t>St. Petersburg</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99" t="-528000" r="-549" b="-50000"/>
                          </a:stretch>
                        </a:blip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630644271"/>
                  </p:ext>
                </p:extLst>
              </p:nvPr>
            </p:nvGraphicFramePr>
            <p:xfrm>
              <a:off x="1244141" y="4333304"/>
              <a:ext cx="6800850" cy="18288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dirty="0">
                              <a:effectLst/>
                              <a:latin typeface="Verdana" charset="0"/>
                              <a:ea typeface="Verdana" charset="0"/>
                              <a:cs typeface="Verdana" charset="0"/>
                            </a:rPr>
                            <a:t>City</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Area (square miles)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lgn="ctr">
                            <a:spcBef>
                              <a:spcPts val="0"/>
                            </a:spcBef>
                            <a:spcAft>
                              <a:spcPts val="0"/>
                            </a:spcAft>
                          </a:pPr>
                          <a:r>
                            <a:rPr lang="en-US" sz="2000">
                              <a:effectLst/>
                              <a:latin typeface="Verdana" charset="0"/>
                              <a:ea typeface="Verdana" charset="0"/>
                              <a:cs typeface="Verdana" charset="0"/>
                            </a:rPr>
                            <a:t>Jacksonville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747</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2000">
                              <a:effectLst/>
                              <a:latin typeface="Verdana" charset="0"/>
                              <a:ea typeface="Verdana" charset="0"/>
                              <a:cs typeface="Verdana" charset="0"/>
                            </a:rPr>
                            <a:t>Miami</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35.87</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2000">
                              <a:effectLst/>
                              <a:latin typeface="Verdana" charset="0"/>
                              <a:ea typeface="Verdana" charset="0"/>
                              <a:cs typeface="Verdana" charset="0"/>
                            </a:rPr>
                            <a:t>Tampa</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113.41</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spcBef>
                              <a:spcPts val="0"/>
                            </a:spcBef>
                            <a:spcAft>
                              <a:spcPts val="0"/>
                            </a:spcAft>
                          </a:pPr>
                          <a:r>
                            <a:rPr lang="en-US" sz="2000">
                              <a:effectLst/>
                              <a:latin typeface="Verdana" charset="0"/>
                              <a:ea typeface="Verdana" charset="0"/>
                              <a:cs typeface="Verdana" charset="0"/>
                            </a:rPr>
                            <a:t>Orlando</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102.4</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marR="0" algn="ctr">
                            <a:spcBef>
                              <a:spcPts val="0"/>
                            </a:spcBef>
                            <a:spcAft>
                              <a:spcPts val="0"/>
                            </a:spcAft>
                          </a:pPr>
                          <a:r>
                            <a:rPr lang="en-US" sz="2000" dirty="0">
                              <a:effectLst/>
                              <a:latin typeface="Verdana" charset="0"/>
                              <a:ea typeface="Verdana" charset="0"/>
                              <a:cs typeface="Verdana" charset="0"/>
                            </a:rPr>
                            <a:t>St. Petersburg</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61.74</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630644271"/>
                  </p:ext>
                </p:extLst>
              </p:nvPr>
            </p:nvGraphicFramePr>
            <p:xfrm>
              <a:off x="1244141" y="4333304"/>
              <a:ext cx="6800850" cy="18288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dirty="0">
                              <a:effectLst/>
                              <a:latin typeface="Verdana" charset="0"/>
                              <a:ea typeface="Verdana" charset="0"/>
                              <a:cs typeface="Verdana" charset="0"/>
                            </a:rPr>
                            <a:t>City</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Area (square miles)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Jacksonville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1261" t="-124000" r="-360" b="-452000"/>
                          </a:stretch>
                        </a:blipFill>
                      </a:tcPr>
                    </a:tc>
                    <a:extLst>
                      <a:ext uri="{0D108BD9-81ED-4DB2-BD59-A6C34878D82A}">
                        <a16:rowId xmlns:a16="http://schemas.microsoft.com/office/drawing/2014/main" val="10001"/>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Miami</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1261" t="-219608" r="-360" b="-343137"/>
                          </a:stretch>
                        </a:blipFill>
                      </a:tcPr>
                    </a:tc>
                    <a:extLst>
                      <a:ext uri="{0D108BD9-81ED-4DB2-BD59-A6C34878D82A}">
                        <a16:rowId xmlns:a16="http://schemas.microsoft.com/office/drawing/2014/main" val="10002"/>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Tampa</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1261" t="-326000" r="-360" b="-250000"/>
                          </a:stretch>
                        </a:blipFill>
                      </a:tcPr>
                    </a:tc>
                    <a:extLst>
                      <a:ext uri="{0D108BD9-81ED-4DB2-BD59-A6C34878D82A}">
                        <a16:rowId xmlns:a16="http://schemas.microsoft.com/office/drawing/2014/main" val="10003"/>
                      </a:ext>
                    </a:extLst>
                  </a:tr>
                  <a:tr h="304800">
                    <a:tc>
                      <a:txBody>
                        <a:bodyPr/>
                        <a:lstStyle/>
                        <a:p>
                          <a:pPr marL="0" marR="0" algn="ctr">
                            <a:spcBef>
                              <a:spcPts val="0"/>
                            </a:spcBef>
                            <a:spcAft>
                              <a:spcPts val="0"/>
                            </a:spcAft>
                          </a:pPr>
                          <a:r>
                            <a:rPr lang="en-US" sz="2000">
                              <a:effectLst/>
                              <a:latin typeface="Verdana" charset="0"/>
                              <a:ea typeface="Verdana" charset="0"/>
                              <a:cs typeface="Verdana" charset="0"/>
                            </a:rPr>
                            <a:t>Orlando</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1261" t="-426000" r="-360" b="-150000"/>
                          </a:stretch>
                        </a:blipFill>
                      </a:tcPr>
                    </a:tc>
                    <a:extLst>
                      <a:ext uri="{0D108BD9-81ED-4DB2-BD59-A6C34878D82A}">
                        <a16:rowId xmlns:a16="http://schemas.microsoft.com/office/drawing/2014/main" val="10004"/>
                      </a:ext>
                    </a:extLst>
                  </a:tr>
                  <a:tr h="304800">
                    <a:tc>
                      <a:txBody>
                        <a:bodyPr/>
                        <a:lstStyle/>
                        <a:p>
                          <a:pPr marL="0" marR="0" algn="ctr">
                            <a:spcBef>
                              <a:spcPts val="0"/>
                            </a:spcBef>
                            <a:spcAft>
                              <a:spcPts val="0"/>
                            </a:spcAft>
                          </a:pPr>
                          <a:r>
                            <a:rPr lang="en-US" sz="2000" dirty="0">
                              <a:effectLst/>
                              <a:latin typeface="Verdana" charset="0"/>
                              <a:ea typeface="Verdana" charset="0"/>
                              <a:cs typeface="Verdana" charset="0"/>
                            </a:rPr>
                            <a:t>St. Petersburg</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1261" t="-526000" r="-360" b="-50000"/>
                          </a:stretch>
                        </a:blip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60</a:t>
            </a:r>
          </a:p>
        </p:txBody>
      </p:sp>
      <p:graphicFrame>
        <p:nvGraphicFramePr>
          <p:cNvPr id="2" name="Table 1"/>
          <p:cNvGraphicFramePr>
            <a:graphicFrameLocks noGrp="1"/>
          </p:cNvGraphicFramePr>
          <p:nvPr>
            <p:extLst>
              <p:ext uri="{D42A27DB-BD31-4B8C-83A1-F6EECF244321}">
                <p14:modId xmlns:p14="http://schemas.microsoft.com/office/powerpoint/2010/main" val="3494012376"/>
              </p:ext>
            </p:extLst>
          </p:nvPr>
        </p:nvGraphicFramePr>
        <p:xfrm>
          <a:off x="1354499" y="511522"/>
          <a:ext cx="6800850" cy="3603625"/>
        </p:xfrm>
        <a:graphic>
          <a:graphicData uri="http://schemas.openxmlformats.org/drawingml/2006/table">
            <a:tbl>
              <a:tblPr firstRow="1" firstCol="1" bandRow="1"/>
              <a:tblGrid>
                <a:gridCol w="6800850">
                  <a:extLst>
                    <a:ext uri="{9D8B030D-6E8A-4147-A177-3AD203B41FA5}">
                      <a16:colId xmlns:a16="http://schemas.microsoft.com/office/drawing/2014/main" val="20000"/>
                    </a:ext>
                  </a:extLst>
                </a:gridCol>
              </a:tblGrid>
              <a:tr h="0">
                <a:tc>
                  <a:txBody>
                    <a:bodyPr/>
                    <a:lstStyle/>
                    <a:p>
                      <a:pPr marL="0" marR="0" algn="ctr">
                        <a:spcBef>
                          <a:spcPts val="0"/>
                        </a:spcBef>
                        <a:spcAft>
                          <a:spcPts val="0"/>
                        </a:spcAft>
                      </a:pPr>
                      <a:r>
                        <a:rPr lang="en-US" sz="2000" b="1" dirty="0">
                          <a:effectLst/>
                          <a:latin typeface="Verdana" charset="0"/>
                          <a:ea typeface="Verdana" charset="0"/>
                          <a:cs typeface="Verdana" charset="0"/>
                        </a:rPr>
                        <a:t>What Do You Notice About the Population and the Area?</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94025">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4102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0225758" cy="163121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Discuss with your partner your understanding of population density. Describe the population density for the city or town you live in.</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Make predictions about the population density for Florida’s five largest cities. </a:t>
            </a:r>
          </a:p>
        </p:txBody>
      </p:sp>
      <p:graphicFrame>
        <p:nvGraphicFramePr>
          <p:cNvPr id="2" name="Table 1"/>
          <p:cNvGraphicFramePr>
            <a:graphicFrameLocks noGrp="1"/>
          </p:cNvGraphicFramePr>
          <p:nvPr>
            <p:extLst>
              <p:ext uri="{D42A27DB-BD31-4B8C-83A1-F6EECF244321}">
                <p14:modId xmlns:p14="http://schemas.microsoft.com/office/powerpoint/2010/main" val="2275596532"/>
              </p:ext>
            </p:extLst>
          </p:nvPr>
        </p:nvGraphicFramePr>
        <p:xfrm>
          <a:off x="1082937" y="2355566"/>
          <a:ext cx="7784764" cy="1752600"/>
        </p:xfrm>
        <a:graphic>
          <a:graphicData uri="http://schemas.openxmlformats.org/drawingml/2006/table">
            <a:tbl>
              <a:tblPr firstRow="1" firstCol="1" bandRow="1"/>
              <a:tblGrid>
                <a:gridCol w="3910554">
                  <a:extLst>
                    <a:ext uri="{9D8B030D-6E8A-4147-A177-3AD203B41FA5}">
                      <a16:colId xmlns:a16="http://schemas.microsoft.com/office/drawing/2014/main" val="20000"/>
                    </a:ext>
                  </a:extLst>
                </a:gridCol>
                <a:gridCol w="3874210">
                  <a:extLst>
                    <a:ext uri="{9D8B030D-6E8A-4147-A177-3AD203B41FA5}">
                      <a16:colId xmlns:a16="http://schemas.microsoft.com/office/drawing/2014/main" val="20001"/>
                    </a:ext>
                  </a:extLst>
                </a:gridCol>
              </a:tblGrid>
              <a:tr h="697794">
                <a:tc>
                  <a:txBody>
                    <a:bodyPr/>
                    <a:lstStyle/>
                    <a:p>
                      <a:pPr marL="0" marR="0" algn="ctr">
                        <a:spcBef>
                          <a:spcPts val="0"/>
                        </a:spcBef>
                        <a:spcAft>
                          <a:spcPts val="0"/>
                        </a:spcAft>
                      </a:pPr>
                      <a:r>
                        <a:rPr lang="en-US" sz="2300" b="1" dirty="0">
                          <a:effectLst/>
                          <a:latin typeface="Verdana" charset="0"/>
                          <a:ea typeface="Verdana" charset="0"/>
                          <a:cs typeface="Verdana" charset="0"/>
                        </a:rPr>
                        <a:t>Largest Population Density</a:t>
                      </a:r>
                      <a:endParaRPr lang="en-US" sz="2300" dirty="0">
                        <a:effectLst/>
                        <a:latin typeface="Verdana" charset="0"/>
                        <a:ea typeface="Verdana" charset="0"/>
                        <a:cs typeface="Verdana" charset="0"/>
                      </a:endParaRPr>
                    </a:p>
                  </a:txBody>
                  <a:tcPr marL="78502" marR="78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dirty="0">
                          <a:effectLst/>
                          <a:latin typeface="Verdana" charset="0"/>
                          <a:ea typeface="Verdana" charset="0"/>
                          <a:cs typeface="Verdana" charset="0"/>
                        </a:rPr>
                        <a:t>Smallest Population Density</a:t>
                      </a:r>
                      <a:endParaRPr lang="en-US" sz="2300" dirty="0">
                        <a:effectLst/>
                        <a:latin typeface="Verdana" charset="0"/>
                        <a:ea typeface="Verdana" charset="0"/>
                        <a:cs typeface="Verdana" charset="0"/>
                      </a:endParaRPr>
                    </a:p>
                  </a:txBody>
                  <a:tcPr marL="78502" marR="78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46691">
                <a:tc>
                  <a:txBody>
                    <a:bodyPr/>
                    <a:lstStyle/>
                    <a:p>
                      <a:pPr marL="0" marR="0">
                        <a:spcBef>
                          <a:spcPts val="0"/>
                        </a:spcBef>
                        <a:spcAft>
                          <a:spcPts val="0"/>
                        </a:spcAft>
                      </a:pPr>
                      <a:r>
                        <a:rPr lang="en-US" sz="2300">
                          <a:effectLst/>
                          <a:latin typeface="Verdana" charset="0"/>
                          <a:ea typeface="Verdana" charset="0"/>
                          <a:cs typeface="Verdana" charset="0"/>
                        </a:rPr>
                        <a:t> </a:t>
                      </a:r>
                    </a:p>
                    <a:p>
                      <a:pPr marL="0" marR="0">
                        <a:spcBef>
                          <a:spcPts val="0"/>
                        </a:spcBef>
                        <a:spcAft>
                          <a:spcPts val="0"/>
                        </a:spcAft>
                      </a:pPr>
                      <a:r>
                        <a:rPr lang="en-US" sz="2300">
                          <a:effectLst/>
                          <a:latin typeface="Verdana" charset="0"/>
                          <a:ea typeface="Verdana" charset="0"/>
                          <a:cs typeface="Verdana" charset="0"/>
                        </a:rPr>
                        <a:t> </a:t>
                      </a:r>
                    </a:p>
                    <a:p>
                      <a:pPr marL="0" marR="0">
                        <a:spcBef>
                          <a:spcPts val="0"/>
                        </a:spcBef>
                        <a:spcAft>
                          <a:spcPts val="0"/>
                        </a:spcAft>
                      </a:pPr>
                      <a:r>
                        <a:rPr lang="en-US" sz="2300">
                          <a:effectLst/>
                          <a:latin typeface="Verdana" charset="0"/>
                          <a:ea typeface="Verdana" charset="0"/>
                          <a:cs typeface="Verdana" charset="0"/>
                        </a:rPr>
                        <a:t> </a:t>
                      </a:r>
                    </a:p>
                  </a:txBody>
                  <a:tcPr marL="78502" marR="78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300" dirty="0">
                          <a:effectLst/>
                          <a:latin typeface="Verdana" charset="0"/>
                          <a:ea typeface="Verdana" charset="0"/>
                          <a:cs typeface="Verdana" charset="0"/>
                        </a:rPr>
                        <a:t> </a:t>
                      </a:r>
                    </a:p>
                  </a:txBody>
                  <a:tcPr marL="78502" marR="78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866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314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05473"/>
            <a:ext cx="10961136" cy="2246769"/>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Explain your thinking. </a:t>
            </a: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r>
              <a:rPr lang="en-US" sz="2000" dirty="0">
                <a:latin typeface="Verdana" charset="0"/>
                <a:ea typeface="Verdana" charset="0"/>
                <a:cs typeface="Verdana" charset="0"/>
              </a:rPr>
              <a:t>Ask a classmate for the predictions they made as well as their reasons. Record their cities and write your summary of their reason.  </a:t>
            </a:r>
            <a:r>
              <a:rPr lang="en-US" sz="2000" i="1" dirty="0">
                <a:latin typeface="Verdana" charset="0"/>
                <a:ea typeface="Verdana" charset="0"/>
                <a:cs typeface="Verdana" charset="0"/>
              </a:rPr>
              <a:t>You are the only person who should write in the middle two columns of the table.</a:t>
            </a:r>
            <a:r>
              <a:rPr lang="en-US" sz="2000" dirty="0">
                <a:latin typeface="Verdana" charset="0"/>
                <a:ea typeface="Verdana" charset="0"/>
                <a:cs typeface="Verdana" charset="0"/>
              </a:rPr>
              <a:t> Have the person initial next to your summary stating that your summary was correct.</a:t>
            </a:r>
          </a:p>
        </p:txBody>
      </p:sp>
      <p:graphicFrame>
        <p:nvGraphicFramePr>
          <p:cNvPr id="2" name="Table 1"/>
          <p:cNvGraphicFramePr>
            <a:graphicFrameLocks noGrp="1"/>
          </p:cNvGraphicFramePr>
          <p:nvPr>
            <p:extLst>
              <p:ext uri="{D42A27DB-BD31-4B8C-83A1-F6EECF244321}">
                <p14:modId xmlns:p14="http://schemas.microsoft.com/office/powerpoint/2010/main" val="3604510425"/>
              </p:ext>
            </p:extLst>
          </p:nvPr>
        </p:nvGraphicFramePr>
        <p:xfrm>
          <a:off x="981001" y="2886559"/>
          <a:ext cx="7886700" cy="2438400"/>
        </p:xfrm>
        <a:graphic>
          <a:graphicData uri="http://schemas.openxmlformats.org/drawingml/2006/table">
            <a:tbl>
              <a:tblPr bandRow="1"/>
              <a:tblGrid>
                <a:gridCol w="1775329">
                  <a:extLst>
                    <a:ext uri="{9D8B030D-6E8A-4147-A177-3AD203B41FA5}">
                      <a16:colId xmlns:a16="http://schemas.microsoft.com/office/drawing/2014/main" val="20000"/>
                    </a:ext>
                  </a:extLst>
                </a:gridCol>
                <a:gridCol w="1578071">
                  <a:extLst>
                    <a:ext uri="{9D8B030D-6E8A-4147-A177-3AD203B41FA5}">
                      <a16:colId xmlns:a16="http://schemas.microsoft.com/office/drawing/2014/main" val="20001"/>
                    </a:ext>
                  </a:extLst>
                </a:gridCol>
                <a:gridCol w="3287647">
                  <a:extLst>
                    <a:ext uri="{9D8B030D-6E8A-4147-A177-3AD203B41FA5}">
                      <a16:colId xmlns:a16="http://schemas.microsoft.com/office/drawing/2014/main" val="20002"/>
                    </a:ext>
                  </a:extLst>
                </a:gridCol>
                <a:gridCol w="1245653">
                  <a:extLst>
                    <a:ext uri="{9D8B030D-6E8A-4147-A177-3AD203B41FA5}">
                      <a16:colId xmlns:a16="http://schemas.microsoft.com/office/drawing/2014/main" val="20003"/>
                    </a:ext>
                  </a:extLst>
                </a:gridCol>
              </a:tblGrid>
              <a:tr h="473202">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1100">
                        <a:effectLst/>
                        <a:latin typeface="Cambria" charset="0"/>
                        <a:ea typeface="MS Mincho" charset="-128"/>
                        <a:cs typeface="Cambria" charset="0"/>
                      </a:endParaRPr>
                    </a:p>
                  </a:txBody>
                  <a:tcPr marL="59150" marR="591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City</a:t>
                      </a:r>
                      <a:endParaRPr lang="en-US" sz="1100">
                        <a:effectLst/>
                        <a:latin typeface="Cambria" charset="0"/>
                        <a:ea typeface="MS Mincho" charset="-128"/>
                        <a:cs typeface="Cambria" charset="0"/>
                      </a:endParaRPr>
                    </a:p>
                  </a:txBody>
                  <a:tcPr marL="59150" marR="591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My Summary of Their Reason</a:t>
                      </a:r>
                      <a:endParaRPr lang="en-US" sz="1100">
                        <a:effectLst/>
                        <a:latin typeface="Cambria" charset="0"/>
                        <a:ea typeface="MS Mincho" charset="-128"/>
                        <a:cs typeface="Cambria" charset="0"/>
                      </a:endParaRPr>
                    </a:p>
                  </a:txBody>
                  <a:tcPr marL="59150" marR="591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Initials</a:t>
                      </a:r>
                      <a:endParaRPr lang="en-US" sz="1100">
                        <a:effectLst/>
                        <a:latin typeface="Cambria" charset="0"/>
                        <a:ea typeface="MS Mincho" charset="-128"/>
                        <a:cs typeface="Cambria" charset="0"/>
                      </a:endParaRPr>
                    </a:p>
                  </a:txBody>
                  <a:tcPr marL="59150" marR="591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09803">
                <a:tc>
                  <a:txBody>
                    <a:bodyPr/>
                    <a:lstStyle/>
                    <a:p>
                      <a:pPr marL="0" marR="0" algn="ctr">
                        <a:spcBef>
                          <a:spcPts val="0"/>
                        </a:spcBef>
                        <a:spcAft>
                          <a:spcPts val="0"/>
                        </a:spcAft>
                      </a:pPr>
                      <a:r>
                        <a:rPr lang="en-US" sz="2000" b="1">
                          <a:effectLst/>
                          <a:latin typeface="Verdana" charset="0"/>
                          <a:ea typeface="Verdana" charset="0"/>
                          <a:cs typeface="Verdana" charset="0"/>
                        </a:rPr>
                        <a:t>Largest Population Density</a:t>
                      </a:r>
                      <a:endParaRPr lang="en-US" sz="110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solidFill>
                            <a:srgbClr val="FF0000"/>
                          </a:solidFill>
                          <a:effectLst/>
                          <a:latin typeface="Verdana" charset="0"/>
                          <a:ea typeface="Verdana" charset="0"/>
                          <a:cs typeface="Verdana" charset="0"/>
                        </a:rPr>
                        <a:t> </a:t>
                      </a:r>
                      <a:endParaRPr lang="en-US" sz="110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FF0000"/>
                          </a:solidFill>
                          <a:effectLst/>
                          <a:latin typeface="Verdana" charset="0"/>
                          <a:ea typeface="Verdana" charset="0"/>
                          <a:cs typeface="Verdana" charset="0"/>
                        </a:rPr>
                        <a:t> </a:t>
                      </a:r>
                      <a:endParaRPr lang="en-US" sz="1100" dirty="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10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9803">
                <a:tc>
                  <a:txBody>
                    <a:bodyPr/>
                    <a:lstStyle/>
                    <a:p>
                      <a:pPr marL="0" marR="0" algn="ctr">
                        <a:spcBef>
                          <a:spcPts val="0"/>
                        </a:spcBef>
                        <a:spcAft>
                          <a:spcPts val="0"/>
                        </a:spcAft>
                      </a:pPr>
                      <a:r>
                        <a:rPr lang="en-US" sz="2000" b="1">
                          <a:effectLst/>
                          <a:latin typeface="Verdana" charset="0"/>
                          <a:ea typeface="Verdana" charset="0"/>
                          <a:cs typeface="Verdana" charset="0"/>
                        </a:rPr>
                        <a:t>Smallest Population Density</a:t>
                      </a:r>
                      <a:endParaRPr lang="en-US" sz="110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FF0000"/>
                          </a:solidFill>
                          <a:effectLst/>
                          <a:latin typeface="Verdana" charset="0"/>
                          <a:ea typeface="Verdana" charset="0"/>
                          <a:cs typeface="Verdana" charset="0"/>
                        </a:rPr>
                        <a:t> </a:t>
                      </a:r>
                      <a:endParaRPr lang="en-US" sz="1100" dirty="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solidFill>
                            <a:srgbClr val="FF0000"/>
                          </a:solidFill>
                          <a:effectLst/>
                          <a:latin typeface="Verdana" charset="0"/>
                          <a:ea typeface="Verdana" charset="0"/>
                          <a:cs typeface="Verdana" charset="0"/>
                        </a:rPr>
                        <a:t> </a:t>
                      </a:r>
                      <a:endParaRPr lang="en-US" sz="110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100" dirty="0">
                        <a:effectLst/>
                        <a:latin typeface="Cambria" charset="0"/>
                        <a:ea typeface="MS Mincho" charset="-128"/>
                        <a:cs typeface="Cambria" charset="0"/>
                      </a:endParaRPr>
                    </a:p>
                  </a:txBody>
                  <a:tcPr marL="59150" marR="591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9340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61</a:t>
            </a:r>
          </a:p>
        </p:txBody>
      </p:sp>
      <mc:AlternateContent xmlns:mc="http://schemas.openxmlformats.org/markup-compatibility/2006" xmlns:a14="http://schemas.microsoft.com/office/drawing/2010/main">
        <mc:Choice Requires="a14">
          <p:sp>
            <p:nvSpPr>
              <p:cNvPr id="6" name="Text Box 24"/>
              <p:cNvSpPr txBox="1"/>
              <p:nvPr/>
            </p:nvSpPr>
            <p:spPr>
              <a:xfrm>
                <a:off x="1465116" y="663110"/>
                <a:ext cx="6629400" cy="1559829"/>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3925"/>
                <a:r>
                  <a:rPr lang="en-US" sz="2000" dirty="0">
                    <a:solidFill>
                      <a:srgbClr val="417DBF"/>
                    </a:solidFill>
                    <a:latin typeface="Verdana" charset="0"/>
                    <a:ea typeface="Verdana" charset="0"/>
                    <a:cs typeface="Verdana" charset="0"/>
                  </a:rPr>
                  <a:t>To find population density, divide the population by the area. </a:t>
                </a:r>
              </a:p>
              <a:p>
                <a:pPr marL="923925"/>
                <a14:m>
                  <m:oMathPara xmlns:m="http://schemas.openxmlformats.org/officeDocument/2006/math">
                    <m:oMathParaPr>
                      <m:jc m:val="centerGroup"/>
                    </m:oMathParaPr>
                    <m:oMath xmlns:m="http://schemas.openxmlformats.org/officeDocument/2006/math">
                      <m:r>
                        <m:rPr>
                          <m:sty m:val="p"/>
                        </m:rPr>
                        <a:rPr lang="en-US" sz="2000">
                          <a:solidFill>
                            <a:srgbClr val="417DBF"/>
                          </a:solidFill>
                          <a:latin typeface="Cambria Math" panose="02040503050406030204" pitchFamily="18" charset="0"/>
                          <a:ea typeface="Verdana" charset="0"/>
                          <a:cs typeface="Verdana" charset="0"/>
                        </a:rPr>
                        <m:t>Population</m:t>
                      </m:r>
                      <m:r>
                        <a:rPr lang="en-US" sz="2000">
                          <a:solidFill>
                            <a:srgbClr val="417DBF"/>
                          </a:solidFill>
                          <a:latin typeface="Cambria Math" panose="02040503050406030204" pitchFamily="18" charset="0"/>
                          <a:ea typeface="Verdana" charset="0"/>
                          <a:cs typeface="Verdana" charset="0"/>
                        </a:rPr>
                        <m:t> </m:t>
                      </m:r>
                      <m:r>
                        <m:rPr>
                          <m:sty m:val="p"/>
                        </m:rPr>
                        <a:rPr lang="en-US" sz="2000">
                          <a:solidFill>
                            <a:srgbClr val="417DBF"/>
                          </a:solidFill>
                          <a:latin typeface="Cambria Math" panose="02040503050406030204" pitchFamily="18" charset="0"/>
                          <a:ea typeface="Verdana" charset="0"/>
                          <a:cs typeface="Verdana" charset="0"/>
                        </a:rPr>
                        <m:t>Density</m:t>
                      </m:r>
                      <m:r>
                        <a:rPr lang="en-US" sz="2000">
                          <a:solidFill>
                            <a:srgbClr val="417DBF"/>
                          </a:solidFill>
                          <a:latin typeface="Cambria Math" panose="02040503050406030204" pitchFamily="18" charset="0"/>
                          <a:ea typeface="Verdana" charset="0"/>
                          <a:cs typeface="Verdana" charset="0"/>
                        </a:rPr>
                        <m:t>=</m:t>
                      </m:r>
                      <m:f>
                        <m:fPr>
                          <m:ctrlPr>
                            <a:rPr lang="en-US" sz="2000" i="1">
                              <a:solidFill>
                                <a:srgbClr val="417DBF"/>
                              </a:solidFill>
                              <a:latin typeface="Cambria Math" panose="02040503050406030204" pitchFamily="18" charset="0"/>
                              <a:ea typeface="Verdana" charset="0"/>
                              <a:cs typeface="Verdana" charset="0"/>
                            </a:rPr>
                          </m:ctrlPr>
                        </m:fPr>
                        <m:num>
                          <m:r>
                            <m:rPr>
                              <m:sty m:val="p"/>
                            </m:rPr>
                            <a:rPr lang="en-US" sz="2000">
                              <a:solidFill>
                                <a:srgbClr val="417DBF"/>
                              </a:solidFill>
                              <a:latin typeface="Cambria Math" panose="02040503050406030204" pitchFamily="18" charset="0"/>
                              <a:ea typeface="Verdana" charset="0"/>
                              <a:cs typeface="Verdana" charset="0"/>
                            </a:rPr>
                            <m:t>population</m:t>
                          </m:r>
                        </m:num>
                        <m:den>
                          <m:r>
                            <m:rPr>
                              <m:sty m:val="p"/>
                            </m:rPr>
                            <a:rPr lang="en-US" sz="2000">
                              <a:solidFill>
                                <a:srgbClr val="417DBF"/>
                              </a:solidFill>
                              <a:latin typeface="Cambria Math" panose="02040503050406030204" pitchFamily="18" charset="0"/>
                              <a:ea typeface="Verdana" charset="0"/>
                              <a:cs typeface="Verdana" charset="0"/>
                            </a:rPr>
                            <m:t>area</m:t>
                          </m:r>
                        </m:den>
                      </m:f>
                    </m:oMath>
                  </m:oMathPara>
                </a14:m>
                <a:endParaRPr lang="en-US" sz="2000" dirty="0">
                  <a:solidFill>
                    <a:srgbClr val="417DBF"/>
                  </a:solidFill>
                  <a:latin typeface="Verdana" charset="0"/>
                  <a:ea typeface="Verdana" charset="0"/>
                  <a:cs typeface="Verdana" charset="0"/>
                </a:endParaRPr>
              </a:p>
            </p:txBody>
          </p:sp>
        </mc:Choice>
        <mc:Fallback xmlns="">
          <p:sp>
            <p:nvSpPr>
              <p:cNvPr id="6" name="Text Box 24"/>
              <p:cNvSpPr txBox="1">
                <a:spLocks noRot="1" noChangeAspect="1" noMove="1" noResize="1" noEditPoints="1" noAdjustHandles="1" noChangeArrowheads="1" noChangeShapeType="1" noTextEdit="1"/>
              </p:cNvSpPr>
              <p:nvPr/>
            </p:nvSpPr>
            <p:spPr>
              <a:xfrm>
                <a:off x="1465116" y="663110"/>
                <a:ext cx="6629400" cy="1559829"/>
              </a:xfrm>
              <a:prstGeom prst="roundRect">
                <a:avLst/>
              </a:prstGeom>
              <a:blipFill>
                <a:blip r:embed="rId4"/>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pic>
        <p:nvPicPr>
          <p:cNvPr id="7" name="Picture 6"/>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737137" y="885548"/>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575027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4"/>
                <a:ext cx="10961136" cy="5016758"/>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Determine the population density, in persons per square mile </a:t>
                </a:r>
                <a14:m>
                  <m:oMath xmlns:m="http://schemas.openxmlformats.org/officeDocument/2006/math">
                    <m:d>
                      <m:dPr>
                        <m:ctrlPr>
                          <a:rPr lang="en-US" sz="2000" i="1">
                            <a:latin typeface="Cambria Math" panose="02040503050406030204" pitchFamily="18" charset="0"/>
                            <a:ea typeface="Verdana" charset="0"/>
                            <a:cs typeface="Verdana" charset="0"/>
                          </a:rPr>
                        </m:ctrlPr>
                      </m:dPr>
                      <m:e>
                        <m:r>
                          <m:rPr>
                            <m:sty m:val="p"/>
                          </m:rPr>
                          <a:rPr lang="en-US" sz="2000">
                            <a:latin typeface="Cambria Math" panose="02040503050406030204" pitchFamily="18" charset="0"/>
                            <a:ea typeface="Verdana" charset="0"/>
                            <a:cs typeface="Verdana" charset="0"/>
                          </a:rPr>
                          <m:t>persons</m:t>
                        </m:r>
                        <m:r>
                          <a:rPr lang="en-US" sz="2000">
                            <a:latin typeface="Cambria Math" panose="02040503050406030204" pitchFamily="18" charset="0"/>
                            <a:ea typeface="Verdana" charset="0"/>
                            <a:cs typeface="Verdana" charset="0"/>
                          </a:rPr>
                          <m:t>/</m:t>
                        </m:r>
                        <m:sSup>
                          <m:sSupPr>
                            <m:ctrlPr>
                              <a:rPr lang="en-US" sz="2000" i="1">
                                <a:latin typeface="Cambria Math" panose="02040503050406030204" pitchFamily="18" charset="0"/>
                                <a:ea typeface="Verdana" charset="0"/>
                                <a:cs typeface="Verdana" charset="0"/>
                              </a:rPr>
                            </m:ctrlPr>
                          </m:sSupPr>
                          <m:e>
                            <m:r>
                              <m:rPr>
                                <m:sty m:val="p"/>
                              </m:rPr>
                              <a:rPr lang="en-US" sz="2000">
                                <a:latin typeface="Cambria Math" panose="02040503050406030204" pitchFamily="18" charset="0"/>
                                <a:ea typeface="Verdana" charset="0"/>
                                <a:cs typeface="Verdana" charset="0"/>
                              </a:rPr>
                              <m:t>mi</m:t>
                            </m:r>
                          </m:e>
                          <m:sup>
                            <m:r>
                              <a:rPr lang="en-US" sz="2000">
                                <a:latin typeface="Cambria Math" panose="02040503050406030204" pitchFamily="18" charset="0"/>
                                <a:ea typeface="Verdana" charset="0"/>
                                <a:cs typeface="Verdana" charset="0"/>
                              </a:rPr>
                              <m:t>2</m:t>
                            </m:r>
                          </m:sup>
                        </m:sSup>
                      </m:e>
                    </m:d>
                  </m:oMath>
                </a14:m>
                <a:r>
                  <a:rPr lang="en-US" sz="2000" dirty="0">
                    <a:latin typeface="Verdana" charset="0"/>
                    <a:ea typeface="Verdana" charset="0"/>
                    <a:cs typeface="Verdana" charset="0"/>
                  </a:rPr>
                  <a:t>, of the five largest cities in Florida and record them in the table from largest to smallest. Round answers to the nearest whole number.</a:t>
                </a: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r>
                  <a:rPr lang="en-US" sz="2000" dirty="0">
                    <a:latin typeface="Verdana" charset="0"/>
                    <a:ea typeface="Verdana" charset="0"/>
                    <a:cs typeface="Verdana" charset="0"/>
                  </a:rPr>
                  <a:t>On July 1, 2019, Florida had a population of </a:t>
                </a:r>
                <a14:m>
                  <m:oMath xmlns:m="http://schemas.openxmlformats.org/officeDocument/2006/math">
                    <m:r>
                      <a:rPr lang="en-US" sz="2000" i="1">
                        <a:latin typeface="Cambria Math" panose="02040503050406030204" pitchFamily="18" charset="0"/>
                        <a:ea typeface="Verdana" charset="0"/>
                        <a:cs typeface="Verdana" charset="0"/>
                      </a:rPr>
                      <m:t>21,477,737</m:t>
                    </m:r>
                  </m:oMath>
                </a14:m>
                <a:r>
                  <a:rPr lang="en-US" sz="2000" dirty="0">
                    <a:latin typeface="Verdana" charset="0"/>
                    <a:ea typeface="Verdana" charset="0"/>
                    <a:cs typeface="Verdana" charset="0"/>
                  </a:rPr>
                  <a:t>. The area of Florida is </a:t>
                </a:r>
                <a14:m>
                  <m:oMath xmlns:m="http://schemas.openxmlformats.org/officeDocument/2006/math">
                    <m:r>
                      <a:rPr lang="en-US" sz="2000" i="1">
                        <a:latin typeface="Cambria Math" panose="02040503050406030204" pitchFamily="18" charset="0"/>
                        <a:ea typeface="Verdana" charset="0"/>
                        <a:cs typeface="Verdana" charset="0"/>
                      </a:rPr>
                      <m:t>53,624.76</m:t>
                    </m:r>
                  </m:oMath>
                </a14:m>
                <a:r>
                  <a:rPr lang="en-US" sz="2000" dirty="0">
                    <a:latin typeface="Verdana" charset="0"/>
                    <a:ea typeface="Verdana" charset="0"/>
                    <a:cs typeface="Verdana" charset="0"/>
                  </a:rPr>
                  <a:t> square miles. Find the population density of Florida.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4"/>
                <a:ext cx="10961136" cy="5016758"/>
              </a:xfrm>
              <a:prstGeom prst="rect">
                <a:avLst/>
              </a:prstGeom>
              <a:blipFill>
                <a:blip r:embed="rId4"/>
                <a:stretch>
                  <a:fillRect l="-612" t="-729" b="-1215"/>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3813943645"/>
              </p:ext>
            </p:extLst>
          </p:nvPr>
        </p:nvGraphicFramePr>
        <p:xfrm>
          <a:off x="1173600" y="1582298"/>
          <a:ext cx="6743700" cy="294341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27400">
                  <a:extLst>
                    <a:ext uri="{9D8B030D-6E8A-4147-A177-3AD203B41FA5}">
                      <a16:colId xmlns:a16="http://schemas.microsoft.com/office/drawing/2014/main" val="20001"/>
                    </a:ext>
                  </a:extLst>
                </a:gridCol>
              </a:tblGrid>
              <a:tr h="414900">
                <a:tc>
                  <a:txBody>
                    <a:bodyPr/>
                    <a:lstStyle/>
                    <a:p>
                      <a:pPr marL="0" marR="0" algn="ctr">
                        <a:spcBef>
                          <a:spcPts val="0"/>
                        </a:spcBef>
                        <a:spcAft>
                          <a:spcPts val="0"/>
                        </a:spcAft>
                      </a:pPr>
                      <a:r>
                        <a:rPr lang="en-US" sz="2000" b="1">
                          <a:effectLst/>
                          <a:latin typeface="Verdana" charset="0"/>
                          <a:ea typeface="Helvetica Neue" charset="0"/>
                          <a:cs typeface="Helvetica Neue" charset="0"/>
                        </a:rPr>
                        <a:t>City</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Population Density (persons/mi.</a:t>
                      </a:r>
                      <a:r>
                        <a:rPr lang="en-US" sz="2000" b="1" baseline="30000">
                          <a:effectLst/>
                          <a:latin typeface="Verdana" charset="0"/>
                          <a:ea typeface="Helvetica Neue" charset="0"/>
                          <a:cs typeface="Helvetica Neue" charset="0"/>
                        </a:rPr>
                        <a:t>2</a:t>
                      </a:r>
                      <a:r>
                        <a:rPr lang="en-US" sz="2000" b="1">
                          <a:effectLst/>
                          <a:latin typeface="Verdana" charset="0"/>
                          <a:ea typeface="Helvetica Neue" charset="0"/>
                          <a:cs typeface="Helvetica Neue" charset="0"/>
                        </a:rPr>
                        <a:t>)</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66762">
                <a:tc>
                  <a:txBody>
                    <a:bodyPr/>
                    <a:lstStyle/>
                    <a:p>
                      <a:pPr marL="0" marR="0">
                        <a:spcBef>
                          <a:spcPts val="0"/>
                        </a:spcBef>
                        <a:spcAft>
                          <a:spcPts val="0"/>
                        </a:spcAft>
                      </a:pPr>
                      <a:r>
                        <a:rPr lang="en-US" sz="2000">
                          <a:effectLst/>
                          <a:latin typeface="Verdana" charset="0"/>
                          <a:ea typeface="Helvetica Neue" charset="0"/>
                          <a:cs typeface="Helvetica Neue" charset="0"/>
                        </a:rPr>
                        <a:t>1.</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6762">
                <a:tc>
                  <a:txBody>
                    <a:bodyPr/>
                    <a:lstStyle/>
                    <a:p>
                      <a:pPr marL="0" marR="0">
                        <a:spcBef>
                          <a:spcPts val="0"/>
                        </a:spcBef>
                        <a:spcAft>
                          <a:spcPts val="0"/>
                        </a:spcAft>
                      </a:pPr>
                      <a:r>
                        <a:rPr lang="en-US" sz="2000">
                          <a:effectLst/>
                          <a:latin typeface="Verdana" charset="0"/>
                          <a:ea typeface="Helvetica Neue" charset="0"/>
                          <a:cs typeface="Helvetica Neue" charset="0"/>
                        </a:rPr>
                        <a:t>2.</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6762">
                <a:tc>
                  <a:txBody>
                    <a:bodyPr/>
                    <a:lstStyle/>
                    <a:p>
                      <a:pPr marL="0" marR="0">
                        <a:spcBef>
                          <a:spcPts val="0"/>
                        </a:spcBef>
                        <a:spcAft>
                          <a:spcPts val="0"/>
                        </a:spcAft>
                      </a:pPr>
                      <a:r>
                        <a:rPr lang="en-US" sz="2000">
                          <a:effectLst/>
                          <a:latin typeface="Verdana" charset="0"/>
                          <a:ea typeface="Helvetica Neue" charset="0"/>
                          <a:cs typeface="Helvetica Neue" charset="0"/>
                        </a:rPr>
                        <a:t>3.</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6762">
                <a:tc>
                  <a:txBody>
                    <a:bodyPr/>
                    <a:lstStyle/>
                    <a:p>
                      <a:pPr marL="0" marR="0">
                        <a:spcBef>
                          <a:spcPts val="0"/>
                        </a:spcBef>
                        <a:spcAft>
                          <a:spcPts val="0"/>
                        </a:spcAft>
                      </a:pPr>
                      <a:r>
                        <a:rPr lang="en-US" sz="2000">
                          <a:effectLst/>
                          <a:latin typeface="Verdana" charset="0"/>
                          <a:ea typeface="Helvetica Neue" charset="0"/>
                          <a:cs typeface="Helvetica Neue" charset="0"/>
                        </a:rPr>
                        <a:t>4.</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6762">
                <a:tc>
                  <a:txBody>
                    <a:bodyPr/>
                    <a:lstStyle/>
                    <a:p>
                      <a:pPr marL="0" marR="0">
                        <a:spcBef>
                          <a:spcPts val="0"/>
                        </a:spcBef>
                        <a:spcAft>
                          <a:spcPts val="0"/>
                        </a:spcAft>
                      </a:pPr>
                      <a:r>
                        <a:rPr lang="en-US" sz="2000">
                          <a:effectLst/>
                          <a:latin typeface="Verdana" charset="0"/>
                          <a:ea typeface="Helvetica Neue" charset="0"/>
                          <a:cs typeface="Helvetica Neue" charset="0"/>
                        </a:rPr>
                        <a:t>5.</a:t>
                      </a:r>
                      <a:endParaRPr lang="en-US" sz="140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MS Mincho" charset="-128"/>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55584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61</a:t>
            </a:r>
          </a:p>
        </p:txBody>
      </p:sp>
    </p:spTree>
    <p:extLst>
      <p:ext uri="{BB962C8B-B14F-4D97-AF65-F5344CB8AC3E}">
        <p14:creationId xmlns:p14="http://schemas.microsoft.com/office/powerpoint/2010/main" val="1943341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5979"/>
            <a:ext cx="10575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9.2.3 Guided Instruction: Area and Density</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61</a:t>
            </a:r>
          </a:p>
        </p:txBody>
      </p:sp>
      <p:sp>
        <p:nvSpPr>
          <p:cNvPr id="13" name="TextBox 12">
            <a:extLst>
              <a:ext uri="{FF2B5EF4-FFF2-40B4-BE49-F238E27FC236}">
                <a16:creationId xmlns:a16="http://schemas.microsoft.com/office/drawing/2014/main" id="{C01B13E8-EC8D-E443-A329-C5E3593DD13A}"/>
              </a:ext>
            </a:extLst>
          </p:cNvPr>
          <p:cNvSpPr txBox="1"/>
          <p:nvPr/>
        </p:nvSpPr>
        <p:spPr>
          <a:xfrm>
            <a:off x="593248" y="1386026"/>
            <a:ext cx="10379552" cy="317009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An outline of the city of Miramar, Florida, with measurements in miles (mi), is shown.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What is the area of the city, in square miles?</a:t>
            </a: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3248" y="2211213"/>
            <a:ext cx="8317220" cy="1860119"/>
          </a:xfrm>
          <a:prstGeom prst="rect">
            <a:avLst/>
          </a:prstGeom>
        </p:spPr>
      </p:pic>
    </p:spTree>
    <p:extLst>
      <p:ext uri="{BB962C8B-B14F-4D97-AF65-F5344CB8AC3E}">
        <p14:creationId xmlns:p14="http://schemas.microsoft.com/office/powerpoint/2010/main" val="216882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55434" y="520393"/>
            <a:ext cx="10990760" cy="3170099"/>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Determine the population density of Miramar for 1995 and 2015.  Include units.</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How did the population density change between 1995 to 2015? </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16942170"/>
                  </p:ext>
                </p:extLst>
              </p:nvPr>
            </p:nvGraphicFramePr>
            <p:xfrm>
              <a:off x="2169070" y="1114524"/>
              <a:ext cx="5040630" cy="1981835"/>
            </p:xfrm>
            <a:graphic>
              <a:graphicData uri="http://schemas.openxmlformats.org/drawingml/2006/table">
                <a:tbl>
                  <a:tblPr firstRow="1" firstCol="1" bandRow="1"/>
                  <a:tblGrid>
                    <a:gridCol w="817245">
                      <a:extLst>
                        <a:ext uri="{9D8B030D-6E8A-4147-A177-3AD203B41FA5}">
                          <a16:colId xmlns:a16="http://schemas.microsoft.com/office/drawing/2014/main" val="20000"/>
                        </a:ext>
                      </a:extLst>
                    </a:gridCol>
                    <a:gridCol w="1713230">
                      <a:extLst>
                        <a:ext uri="{9D8B030D-6E8A-4147-A177-3AD203B41FA5}">
                          <a16:colId xmlns:a16="http://schemas.microsoft.com/office/drawing/2014/main" val="20001"/>
                        </a:ext>
                      </a:extLst>
                    </a:gridCol>
                    <a:gridCol w="2510155">
                      <a:extLst>
                        <a:ext uri="{9D8B030D-6E8A-4147-A177-3AD203B41FA5}">
                          <a16:colId xmlns:a16="http://schemas.microsoft.com/office/drawing/2014/main" val="20002"/>
                        </a:ext>
                      </a:extLst>
                    </a:gridCol>
                  </a:tblGrid>
                  <a:tr h="667385">
                    <a:tc>
                      <a:txBody>
                        <a:bodyPr/>
                        <a:lstStyle/>
                        <a:p>
                          <a:pPr marL="0" marR="0" algn="ctr">
                            <a:spcBef>
                              <a:spcPts val="0"/>
                            </a:spcBef>
                            <a:spcAft>
                              <a:spcPts val="0"/>
                            </a:spcAft>
                          </a:pPr>
                          <a:r>
                            <a:rPr lang="en-US" sz="2000" b="1">
                              <a:effectLst/>
                              <a:latin typeface="Verdana" charset="0"/>
                              <a:ea typeface="Verdana" charset="0"/>
                              <a:cs typeface="Verdana" charset="0"/>
                            </a:rPr>
                            <a:t>Year</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Population</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Population Density</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47065">
                    <a:tc>
                      <a:txBody>
                        <a:bodyPr/>
                        <a:lstStyle/>
                        <a:p>
                          <a:pPr marL="0" marR="0" algn="ctr">
                            <a:spcBef>
                              <a:spcPts val="0"/>
                            </a:spcBef>
                            <a:spcAft>
                              <a:spcPts val="0"/>
                            </a:spcAft>
                          </a:pPr>
                          <a:r>
                            <a:rPr lang="en-US" sz="2000">
                              <a:effectLst/>
                              <a:latin typeface="Verdana" charset="0"/>
                              <a:ea typeface="Verdana" charset="0"/>
                              <a:cs typeface="Verdana" charset="0"/>
                            </a:rPr>
                            <a:t>1995</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48,099</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7385">
                    <a:tc>
                      <a:txBody>
                        <a:bodyPr/>
                        <a:lstStyle/>
                        <a:p>
                          <a:pPr marL="0" marR="0" algn="ctr">
                            <a:spcBef>
                              <a:spcPts val="0"/>
                            </a:spcBef>
                            <a:spcAft>
                              <a:spcPts val="0"/>
                            </a:spcAft>
                          </a:pPr>
                          <a:r>
                            <a:rPr lang="en-US" sz="2000">
                              <a:effectLst/>
                              <a:latin typeface="Verdana" charset="0"/>
                              <a:ea typeface="Verdana" charset="0"/>
                              <a:cs typeface="Verdana" charset="0"/>
                            </a:rPr>
                            <a:t>2015</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136,996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16942170"/>
                  </p:ext>
                </p:extLst>
              </p:nvPr>
            </p:nvGraphicFramePr>
            <p:xfrm>
              <a:off x="2169070" y="1114524"/>
              <a:ext cx="5040630" cy="1981835"/>
            </p:xfrm>
            <a:graphic>
              <a:graphicData uri="http://schemas.openxmlformats.org/drawingml/2006/table">
                <a:tbl>
                  <a:tblPr firstRow="1" firstCol="1" bandRow="1"/>
                  <a:tblGrid>
                    <a:gridCol w="817245">
                      <a:extLst>
                        <a:ext uri="{9D8B030D-6E8A-4147-A177-3AD203B41FA5}">
                          <a16:colId xmlns:a16="http://schemas.microsoft.com/office/drawing/2014/main" val="20000"/>
                        </a:ext>
                      </a:extLst>
                    </a:gridCol>
                    <a:gridCol w="1713230">
                      <a:extLst>
                        <a:ext uri="{9D8B030D-6E8A-4147-A177-3AD203B41FA5}">
                          <a16:colId xmlns:a16="http://schemas.microsoft.com/office/drawing/2014/main" val="20001"/>
                        </a:ext>
                      </a:extLst>
                    </a:gridCol>
                    <a:gridCol w="2510155">
                      <a:extLst>
                        <a:ext uri="{9D8B030D-6E8A-4147-A177-3AD203B41FA5}">
                          <a16:colId xmlns:a16="http://schemas.microsoft.com/office/drawing/2014/main" val="20002"/>
                        </a:ext>
                      </a:extLst>
                    </a:gridCol>
                  </a:tblGrid>
                  <a:tr h="667385">
                    <a:tc>
                      <a:txBody>
                        <a:bodyPr/>
                        <a:lstStyle/>
                        <a:p>
                          <a:pPr marL="0" marR="0" algn="ctr">
                            <a:spcBef>
                              <a:spcPts val="0"/>
                            </a:spcBef>
                            <a:spcAft>
                              <a:spcPts val="0"/>
                            </a:spcAft>
                          </a:pPr>
                          <a:r>
                            <a:rPr lang="en-US" sz="2000" b="1">
                              <a:effectLst/>
                              <a:latin typeface="Verdana" charset="0"/>
                              <a:ea typeface="Verdana" charset="0"/>
                              <a:cs typeface="Verdana" charset="0"/>
                            </a:rPr>
                            <a:t>Year</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Population</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Population Density</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47065">
                    <a:tc>
                      <a:txBody>
                        <a:bodyPr/>
                        <a:lstStyle/>
                        <a:p>
                          <a:pPr marL="0" marR="0" algn="ctr">
                            <a:spcBef>
                              <a:spcPts val="0"/>
                            </a:spcBef>
                            <a:spcAft>
                              <a:spcPts val="0"/>
                            </a:spcAft>
                          </a:pPr>
                          <a:r>
                            <a:rPr lang="en-US" sz="2000">
                              <a:effectLst/>
                              <a:latin typeface="Verdana" charset="0"/>
                              <a:ea typeface="Verdana" charset="0"/>
                              <a:cs typeface="Verdana" charset="0"/>
                            </a:rPr>
                            <a:t>1995</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7872" t="-110377" r="-146809" b="-106604"/>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7385">
                    <a:tc>
                      <a:txBody>
                        <a:bodyPr/>
                        <a:lstStyle/>
                        <a:p>
                          <a:pPr marL="0" marR="0" algn="ctr">
                            <a:spcBef>
                              <a:spcPts val="0"/>
                            </a:spcBef>
                            <a:spcAft>
                              <a:spcPts val="0"/>
                            </a:spcAft>
                          </a:pPr>
                          <a:r>
                            <a:rPr lang="en-US" sz="2000">
                              <a:effectLst/>
                              <a:latin typeface="Verdana" charset="0"/>
                              <a:ea typeface="Verdana" charset="0"/>
                              <a:cs typeface="Verdana" charset="0"/>
                            </a:rPr>
                            <a:t>2015</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7872" t="-202727" r="-146809" b="-2727"/>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277695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51"/>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7768"/>
                <a:ext cx="11087585" cy="5016758"/>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 Florida Fish and Wildlife Conservation Commission (FWC) tracks panthers in Florida. By tracking a panther, FWC can map the area in which a panther lives. The habitat of "Florida Panther 251" is shown with dimensions in kilometers, km.  </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What is the area, in square kilometers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m:rPr>
                            <m:sty m:val="p"/>
                          </m:rPr>
                          <a:rPr lang="en-US" sz="2000">
                            <a:latin typeface="Cambria Math" panose="02040503050406030204" pitchFamily="18" charset="0"/>
                            <a:ea typeface="Verdana" charset="0"/>
                            <a:cs typeface="Verdana" charset="0"/>
                          </a:rPr>
                          <m:t>km</m:t>
                        </m:r>
                      </m:e>
                      <m:sup>
                        <m:r>
                          <a:rPr lang="en-US" sz="2000" i="1">
                            <a:latin typeface="Cambria Math" panose="02040503050406030204" pitchFamily="18" charset="0"/>
                            <a:ea typeface="Verdana" charset="0"/>
                            <a:cs typeface="Verdana" charset="0"/>
                          </a:rPr>
                          <m:t>2</m:t>
                        </m:r>
                      </m:sup>
                    </m:sSup>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of Florida Panther 251’s habitat?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7768"/>
                <a:ext cx="11087585" cy="5016758"/>
              </a:xfrm>
              <a:prstGeom prst="rect">
                <a:avLst/>
              </a:prstGeom>
              <a:blipFill>
                <a:blip r:embed="rId4"/>
                <a:stretch>
                  <a:fillRect l="-605" t="-851" r="-1429" b="-1215"/>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99952" y="1593869"/>
            <a:ext cx="4235003" cy="3120529"/>
          </a:xfrm>
          <a:prstGeom prst="rect">
            <a:avLst/>
          </a:prstGeom>
        </p:spPr>
      </p:pic>
    </p:spTree>
    <p:extLst>
      <p:ext uri="{BB962C8B-B14F-4D97-AF65-F5344CB8AC3E}">
        <p14:creationId xmlns:p14="http://schemas.microsoft.com/office/powerpoint/2010/main" val="1484019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1065362" cy="2246769"/>
              </a:xfrm>
              <a:prstGeom prst="rect">
                <a:avLst/>
              </a:prstGeom>
              <a:noFill/>
            </p:spPr>
            <p:txBody>
              <a:bodyPr wrap="square" rtlCol="0">
                <a:spAutoFit/>
              </a:bodyPr>
              <a:lstStyle/>
              <a:p>
                <a:r>
                  <a:rPr lang="en-US" sz="2000" dirty="0">
                    <a:latin typeface="Verdana" charset="0"/>
                    <a:ea typeface="Verdana" charset="0"/>
                    <a:cs typeface="Verdana" charset="0"/>
                  </a:rPr>
                  <a:t>At one time, the entire southeastern United States was the habitat of the Florida panther. Today, their habitat is restricted to several national parks and wildlife preserves in southwest Florida. Today, the total combined area of the Florida panther habitat is </a:t>
                </a:r>
                <a14:m>
                  <m:oMath xmlns:m="http://schemas.openxmlformats.org/officeDocument/2006/math">
                    <m:r>
                      <a:rPr lang="en-US" sz="2000" i="1">
                        <a:latin typeface="Cambria Math" panose="02040503050406030204" pitchFamily="18" charset="0"/>
                        <a:ea typeface="Verdana" charset="0"/>
                        <a:cs typeface="Verdana" charset="0"/>
                      </a:rPr>
                      <m:t>9,466</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923925" indent="-454025">
                  <a:buFont typeface="+mj-lt"/>
                  <a:buAutoNum type="alphaLcPeriod" startAt="2"/>
                </a:pPr>
                <a:r>
                  <a:rPr lang="en-US" sz="2000" dirty="0">
                    <a:latin typeface="Verdana" charset="0"/>
                    <a:ea typeface="Verdana" charset="0"/>
                    <a:cs typeface="Verdana" charset="0"/>
                  </a:rPr>
                  <a:t>Based on the area of Florida Panther 251’s habitat, how many Florida panthers could be living in southwest Florida?</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3"/>
                <a:ext cx="11065362" cy="2246769"/>
              </a:xfrm>
              <a:prstGeom prst="rect">
                <a:avLst/>
              </a:prstGeom>
              <a:blipFill>
                <a:blip r:embed="rId4"/>
                <a:stretch>
                  <a:fillRect l="-606" t="-1355" b="-3794"/>
                </a:stretch>
              </a:blipFill>
            </p:spPr>
            <p:txBody>
              <a:bodyPr/>
              <a:lstStyle/>
              <a:p>
                <a:r>
                  <a:rPr lang="en-US">
                    <a:noFill/>
                  </a:rPr>
                  <a:t> </a:t>
                </a:r>
              </a:p>
            </p:txBody>
          </p:sp>
        </mc:Fallback>
      </mc:AlternateContent>
    </p:spTree>
    <p:extLst>
      <p:ext uri="{BB962C8B-B14F-4D97-AF65-F5344CB8AC3E}">
        <p14:creationId xmlns:p14="http://schemas.microsoft.com/office/powerpoint/2010/main" val="586586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4"/>
                <a:ext cx="10961136" cy="836639"/>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Town A has 20 city blocks, and each city block measures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20</m:t>
                        </m:r>
                      </m:den>
                    </m:f>
                  </m:oMath>
                </a14:m>
                <a:r>
                  <a:rPr lang="en-US" sz="2000" dirty="0">
                    <a:latin typeface="Verdana" charset="0"/>
                    <a:ea typeface="Verdana" charset="0"/>
                    <a:cs typeface="Verdana" charset="0"/>
                  </a:rPr>
                  <a:t> of a mile by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2</m:t>
                        </m:r>
                      </m:den>
                    </m:f>
                  </m:oMath>
                </a14:m>
                <a:r>
                  <a:rPr lang="en-US" sz="2000" dirty="0">
                    <a:latin typeface="Verdana" charset="0"/>
                    <a:ea typeface="Verdana" charset="0"/>
                    <a:cs typeface="Verdana" charset="0"/>
                  </a:rPr>
                  <a:t> mile. There are </a:t>
                </a:r>
                <a14:m>
                  <m:oMath xmlns:m="http://schemas.openxmlformats.org/officeDocument/2006/math">
                    <m:r>
                      <a:rPr lang="en-US" sz="2000" i="1">
                        <a:latin typeface="Cambria Math" panose="02040503050406030204" pitchFamily="18" charset="0"/>
                        <a:ea typeface="Verdana" charset="0"/>
                        <a:cs typeface="Verdana" charset="0"/>
                      </a:rPr>
                      <m:t>6,500</m:t>
                    </m:r>
                  </m:oMath>
                </a14:m>
                <a:r>
                  <a:rPr lang="en-US" sz="2000" dirty="0">
                    <a:latin typeface="Verdana" charset="0"/>
                    <a:ea typeface="Verdana" charset="0"/>
                    <a:cs typeface="Verdana" charset="0"/>
                  </a:rPr>
                  <a:t> people in this town. Find the population density of the town.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4"/>
                <a:ext cx="10961136" cy="836639"/>
              </a:xfrm>
              <a:prstGeom prst="rect">
                <a:avLst/>
              </a:prstGeom>
              <a:blipFill>
                <a:blip r:embed="rId4"/>
                <a:stretch>
                  <a:fillRect l="-612" b="-11594"/>
                </a:stretch>
              </a:blipFill>
            </p:spPr>
            <p:txBody>
              <a:bodyPr/>
              <a:lstStyle/>
              <a:p>
                <a:r>
                  <a:rPr lang="en-US">
                    <a:noFill/>
                  </a:rPr>
                  <a:t> </a:t>
                </a:r>
              </a:p>
            </p:txBody>
          </p:sp>
        </mc:Fallback>
      </mc:AlternateContent>
    </p:spTree>
    <p:extLst>
      <p:ext uri="{BB962C8B-B14F-4D97-AF65-F5344CB8AC3E}">
        <p14:creationId xmlns:p14="http://schemas.microsoft.com/office/powerpoint/2010/main" val="18732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63</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265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23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59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4021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9.2.4 Guided Practice: Density Based on Area</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466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63</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581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93248" y="1383021"/>
                <a:ext cx="11034902" cy="255454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number of leaves on a tree can be estimated using the crown of the tree. A tree crown is the top part of the tree where branches grow out from the main trunk.  The width of the tree’s crown is used as the diameter of the circle of the ground that lies under the tree’s crown.  The area where the leaves could fall is </a:t>
                </a:r>
                <a14:m>
                  <m:oMath xmlns:m="http://schemas.openxmlformats.org/officeDocument/2006/math">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 times the area of the circle that lays under the tree’s crown. The approximate number of leaves per square foot is based on the average size of a leaf for each type of tree. Use the table to approximate the number of leaves that could fall from each tree.</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93248" y="1383021"/>
                <a:ext cx="11034902" cy="2554545"/>
              </a:xfrm>
              <a:prstGeom prst="rect">
                <a:avLst/>
              </a:prstGeom>
              <a:blipFill>
                <a:blip r:embed="rId5"/>
                <a:stretch>
                  <a:fillRect l="-607" t="-1671" b="-33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192932308"/>
                  </p:ext>
                </p:extLst>
              </p:nvPr>
            </p:nvGraphicFramePr>
            <p:xfrm>
              <a:off x="1052650" y="4145322"/>
              <a:ext cx="7202169" cy="1478280"/>
            </p:xfrm>
            <a:graphic>
              <a:graphicData uri="http://schemas.openxmlformats.org/drawingml/2006/table">
                <a:tbl>
                  <a:tblPr firstRow="1" firstCol="1" bandRow="1"/>
                  <a:tblGrid>
                    <a:gridCol w="1866625">
                      <a:extLst>
                        <a:ext uri="{9D8B030D-6E8A-4147-A177-3AD203B41FA5}">
                          <a16:colId xmlns:a16="http://schemas.microsoft.com/office/drawing/2014/main" val="20000"/>
                        </a:ext>
                      </a:extLst>
                    </a:gridCol>
                    <a:gridCol w="1346797">
                      <a:extLst>
                        <a:ext uri="{9D8B030D-6E8A-4147-A177-3AD203B41FA5}">
                          <a16:colId xmlns:a16="http://schemas.microsoft.com/office/drawing/2014/main" val="20001"/>
                        </a:ext>
                      </a:extLst>
                    </a:gridCol>
                    <a:gridCol w="3988747">
                      <a:extLst>
                        <a:ext uri="{9D8B030D-6E8A-4147-A177-3AD203B41FA5}">
                          <a16:colId xmlns:a16="http://schemas.microsoft.com/office/drawing/2014/main" val="20002"/>
                        </a:ext>
                      </a:extLst>
                    </a:gridCol>
                  </a:tblGrid>
                  <a:tr h="432435">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Tree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Crown (in feet)</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Approximate Number of Leaves per Square Foot</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36245">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Sycamore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35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2435">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Live Oak</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14</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192932308"/>
                  </p:ext>
                </p:extLst>
              </p:nvPr>
            </p:nvGraphicFramePr>
            <p:xfrm>
              <a:off x="1052650" y="4145322"/>
              <a:ext cx="7202169" cy="1478280"/>
            </p:xfrm>
            <a:graphic>
              <a:graphicData uri="http://schemas.openxmlformats.org/drawingml/2006/table">
                <a:tbl>
                  <a:tblPr firstRow="1" firstCol="1" bandRow="1"/>
                  <a:tblGrid>
                    <a:gridCol w="1866625">
                      <a:extLst>
                        <a:ext uri="{9D8B030D-6E8A-4147-A177-3AD203B41FA5}">
                          <a16:colId xmlns:a16="http://schemas.microsoft.com/office/drawing/2014/main" val="20000"/>
                        </a:ext>
                      </a:extLst>
                    </a:gridCol>
                    <a:gridCol w="1346797">
                      <a:extLst>
                        <a:ext uri="{9D8B030D-6E8A-4147-A177-3AD203B41FA5}">
                          <a16:colId xmlns:a16="http://schemas.microsoft.com/office/drawing/2014/main" val="20001"/>
                        </a:ext>
                      </a:extLst>
                    </a:gridCol>
                    <a:gridCol w="3988747">
                      <a:extLst>
                        <a:ext uri="{9D8B030D-6E8A-4147-A177-3AD203B41FA5}">
                          <a16:colId xmlns:a16="http://schemas.microsoft.com/office/drawing/2014/main" val="20002"/>
                        </a:ext>
                      </a:extLst>
                    </a:gridCol>
                  </a:tblGrid>
                  <a:tr h="6096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Tree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Crown (in feet)</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Approximate Number of Leaves per Square Foot</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36245">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Sycamore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39367" t="-156944" r="-297285" b="-119444"/>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80763" t="-156944" r="-305" b="-119444"/>
                          </a:stretch>
                        </a:blipFill>
                      </a:tcPr>
                    </a:tc>
                    <a:extLst>
                      <a:ext uri="{0D108BD9-81ED-4DB2-BD59-A6C34878D82A}">
                        <a16:rowId xmlns:a16="http://schemas.microsoft.com/office/drawing/2014/main" val="10001"/>
                      </a:ext>
                    </a:extLst>
                  </a:tr>
                  <a:tr h="432435">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Live Oak</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39367" t="-260563" r="-297285" b="-21127"/>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80763" t="-260563" r="-305" b="-21127"/>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715762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0727203"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 population density of Gainesville, Florida, is </a:t>
                </a:r>
                <a14:m>
                  <m:oMath xmlns:m="http://schemas.openxmlformats.org/officeDocument/2006/math">
                    <m:r>
                      <a:rPr lang="en-US" sz="2000" i="1">
                        <a:latin typeface="Cambria Math" panose="02040503050406030204" pitchFamily="18" charset="0"/>
                        <a:ea typeface="Verdana" charset="0"/>
                        <a:cs typeface="Verdana" charset="0"/>
                      </a:rPr>
                      <m:t>2028.4</m:t>
                    </m:r>
                  </m:oMath>
                </a14:m>
                <a:r>
                  <a:rPr lang="en-US" sz="2000" dirty="0">
                    <a:latin typeface="Verdana" charset="0"/>
                    <a:ea typeface="Verdana" charset="0"/>
                    <a:cs typeface="Verdana" charset="0"/>
                  </a:rPr>
                  <a:t> persons per square mile, and the population of Gainesville is </a:t>
                </a:r>
                <a14:m>
                  <m:oMath xmlns:m="http://schemas.openxmlformats.org/officeDocument/2006/math">
                    <m:r>
                      <a:rPr lang="en-US" sz="2000" i="1">
                        <a:latin typeface="Cambria Math" panose="02040503050406030204" pitchFamily="18" charset="0"/>
                        <a:ea typeface="Verdana" charset="0"/>
                        <a:cs typeface="Verdana" charset="0"/>
                      </a:rPr>
                      <m:t>124,504</m:t>
                    </m:r>
                  </m:oMath>
                </a14:m>
                <a:r>
                  <a:rPr lang="en-US" sz="2000" dirty="0">
                    <a:latin typeface="Verdana" charset="0"/>
                    <a:ea typeface="Verdana" charset="0"/>
                    <a:cs typeface="Verdana" charset="0"/>
                  </a:rPr>
                  <a:t>. What is the area, in square miles, of Gainesville?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0394"/>
                <a:ext cx="10727203" cy="1015663"/>
              </a:xfrm>
              <a:prstGeom prst="rect">
                <a:avLst/>
              </a:prstGeom>
              <a:blipFill>
                <a:blip r:embed="rId4"/>
                <a:stretch>
                  <a:fillRect l="-625" t="-3593" b="-9581"/>
                </a:stretch>
              </a:blipFill>
            </p:spPr>
            <p:txBody>
              <a:bodyPr/>
              <a:lstStyle/>
              <a:p>
                <a:r>
                  <a:rPr lang="en-US">
                    <a:noFill/>
                  </a:rPr>
                  <a:t> </a:t>
                </a:r>
              </a:p>
            </p:txBody>
          </p:sp>
        </mc:Fallback>
      </mc:AlternateContent>
    </p:spTree>
    <p:extLst>
      <p:ext uri="{BB962C8B-B14F-4D97-AF65-F5344CB8AC3E}">
        <p14:creationId xmlns:p14="http://schemas.microsoft.com/office/powerpoint/2010/main" val="433956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0800945" cy="1142492"/>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Wildlife biologists divided a habitat in the Bear Island area of the Big Cypress National Preserve into </a:t>
                </a:r>
                <a14:m>
                  <m:oMath xmlns:m="http://schemas.openxmlformats.org/officeDocument/2006/math">
                    <m:r>
                      <a:rPr lang="en-US" sz="2000" i="1">
                        <a:latin typeface="Cambria Math" panose="02040503050406030204" pitchFamily="18" charset="0"/>
                        <a:ea typeface="Verdana" charset="0"/>
                        <a:cs typeface="Verdana" charset="0"/>
                      </a:rPr>
                      <m:t>96</m:t>
                    </m:r>
                  </m:oMath>
                </a14:m>
                <a:r>
                  <a:rPr lang="en-US" sz="2000" dirty="0">
                    <a:latin typeface="Verdana" charset="0"/>
                    <a:ea typeface="Verdana" charset="0"/>
                    <a:cs typeface="Verdana" charset="0"/>
                  </a:rPr>
                  <a:t> squares, as shown. Each square has the dimensions of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4</m:t>
                        </m:r>
                      </m:den>
                    </m:f>
                  </m:oMath>
                </a14:m>
                <a:r>
                  <a:rPr lang="en-US" sz="2000" dirty="0">
                    <a:latin typeface="Verdana" charset="0"/>
                    <a:ea typeface="Verdana" charset="0"/>
                    <a:cs typeface="Verdana" charset="0"/>
                  </a:rPr>
                  <a:t> mile (mi) by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4</m:t>
                        </m:r>
                      </m:den>
                    </m:f>
                  </m:oMath>
                </a14:m>
                <a:r>
                  <a:rPr lang="en-US" sz="2000" dirty="0">
                    <a:latin typeface="Verdana" charset="0"/>
                    <a:ea typeface="Verdana" charset="0"/>
                    <a:cs typeface="Verdana" charset="0"/>
                  </a:rPr>
                  <a:t> mi.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0394"/>
                <a:ext cx="10800945" cy="1142492"/>
              </a:xfrm>
              <a:prstGeom prst="rect">
                <a:avLst/>
              </a:prstGeom>
              <a:blipFill>
                <a:blip r:embed="rId4"/>
                <a:stretch>
                  <a:fillRect l="-621" t="-3191" b="-2128"/>
                </a:stretch>
              </a:blipFill>
            </p:spPr>
            <p:txBody>
              <a:bodyPr/>
              <a:lstStyle/>
              <a:p>
                <a:r>
                  <a:rPr lang="en-US">
                    <a:noFill/>
                  </a:rPr>
                  <a:t> </a:t>
                </a:r>
              </a:p>
            </p:txBody>
          </p:sp>
        </mc:Fallback>
      </mc:AlternateContent>
      <p:pic>
        <p:nvPicPr>
          <p:cNvPr id="3" name="Picture 2" descr="Chart, table, line chart&#10;&#10;Description automatically generated">
            <a:extLst>
              <a:ext uri="{FF2B5EF4-FFF2-40B4-BE49-F238E27FC236}">
                <a16:creationId xmlns:a16="http://schemas.microsoft.com/office/drawing/2014/main" id="{C2C75E90-5827-7794-F425-9156A71AA048}"/>
              </a:ext>
            </a:extLst>
          </p:cNvPr>
          <p:cNvPicPr>
            <a:picLocks noChangeAspect="1"/>
          </p:cNvPicPr>
          <p:nvPr/>
        </p:nvPicPr>
        <p:blipFill>
          <a:blip r:embed="rId5"/>
          <a:stretch>
            <a:fillRect/>
          </a:stretch>
        </p:blipFill>
        <p:spPr>
          <a:xfrm>
            <a:off x="2568524" y="1806030"/>
            <a:ext cx="6543675" cy="4508500"/>
          </a:xfrm>
          <a:prstGeom prst="rect">
            <a:avLst/>
          </a:prstGeom>
        </p:spPr>
      </p:pic>
    </p:spTree>
    <p:extLst>
      <p:ext uri="{BB962C8B-B14F-4D97-AF65-F5344CB8AC3E}">
        <p14:creationId xmlns:p14="http://schemas.microsoft.com/office/powerpoint/2010/main" val="1147047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0535474" cy="3296928"/>
              </a:xfrm>
              <a:prstGeom prst="rect">
                <a:avLst/>
              </a:prstGeom>
              <a:noFill/>
            </p:spPr>
            <p:txBody>
              <a:bodyPr wrap="square" rtlCol="0">
                <a:spAutoFit/>
              </a:bodyPr>
              <a:lstStyle/>
              <a:p>
                <a:r>
                  <a:rPr lang="en-US" sz="2000" dirty="0">
                    <a:latin typeface="Verdana" charset="0"/>
                    <a:ea typeface="Verdana" charset="0"/>
                    <a:cs typeface="Verdana" charset="0"/>
                  </a:rPr>
                  <a:t>The biologists found that in the Bear Island habitat, there are </a:t>
                </a:r>
                <a14:m>
                  <m:oMath xmlns:m="http://schemas.openxmlformats.org/officeDocument/2006/math">
                    <m:r>
                      <a:rPr lang="en-US" sz="2000" i="1">
                        <a:latin typeface="Cambria Math" panose="02040503050406030204" pitchFamily="18" charset="0"/>
                        <a:ea typeface="Verdana" charset="0"/>
                        <a:cs typeface="Verdana" charset="0"/>
                      </a:rPr>
                      <m:t>13.8</m:t>
                    </m:r>
                  </m:oMath>
                </a14:m>
                <a:r>
                  <a:rPr lang="en-US" sz="2000" dirty="0">
                    <a:latin typeface="Verdana" charset="0"/>
                    <a:ea typeface="Verdana" charset="0"/>
                    <a:cs typeface="Verdana" charset="0"/>
                  </a:rPr>
                  <a:t> deer per square mile.  </a:t>
                </a:r>
              </a:p>
              <a:p>
                <a:endParaRPr lang="en-US" sz="2000" dirty="0">
                  <a:latin typeface="Verdana" charset="0"/>
                  <a:ea typeface="Verdana" charset="0"/>
                  <a:cs typeface="Verdana" charset="0"/>
                </a:endParaRPr>
              </a:p>
              <a:p>
                <a:pPr marL="971550" indent="-455613">
                  <a:buFont typeface="+mj-lt"/>
                  <a:buAutoNum type="alphaLcPeriod"/>
                </a:pPr>
                <a:r>
                  <a:rPr lang="en-US" sz="2000" dirty="0">
                    <a:latin typeface="Verdana" charset="0"/>
                    <a:ea typeface="Verdana" charset="0"/>
                    <a:cs typeface="Verdana" charset="0"/>
                  </a:rPr>
                  <a:t>What is the population density for one of the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4</m:t>
                        </m:r>
                      </m:den>
                    </m:f>
                  </m:oMath>
                </a14:m>
                <a:r>
                  <a:rPr lang="en-US" sz="2000" dirty="0">
                    <a:latin typeface="Verdana" charset="0"/>
                    <a:ea typeface="Verdana" charset="0"/>
                    <a:cs typeface="Verdana" charset="0"/>
                  </a:rPr>
                  <a:t> mi by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4</m:t>
                        </m:r>
                      </m:den>
                    </m:f>
                  </m:oMath>
                </a14:m>
                <a:r>
                  <a:rPr lang="en-US" sz="2000" dirty="0">
                    <a:latin typeface="Verdana" charset="0"/>
                    <a:ea typeface="Verdana" charset="0"/>
                    <a:cs typeface="Verdana" charset="0"/>
                  </a:rPr>
                  <a:t> mi square?</a:t>
                </a: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endParaRPr lang="en-US" sz="2000" dirty="0">
                  <a:latin typeface="Verdana" charset="0"/>
                  <a:ea typeface="Verdana" charset="0"/>
                  <a:cs typeface="Verdana" charset="0"/>
                </a:endParaRPr>
              </a:p>
              <a:p>
                <a:pPr marL="971550" indent="-455613">
                  <a:buFont typeface="+mj-lt"/>
                  <a:buAutoNum type="alphaLcPeriod"/>
                </a:pPr>
                <a:r>
                  <a:rPr lang="en-US" sz="2000" dirty="0">
                    <a:latin typeface="Verdana" charset="0"/>
                    <a:ea typeface="Verdana" charset="0"/>
                    <a:cs typeface="Verdana" charset="0"/>
                  </a:rPr>
                  <a:t>How many deer live in the habitat area the biologists studied?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3"/>
                <a:ext cx="10535474" cy="3296928"/>
              </a:xfrm>
              <a:prstGeom prst="rect">
                <a:avLst/>
              </a:prstGeom>
              <a:blipFill>
                <a:blip r:embed="rId4"/>
                <a:stretch>
                  <a:fillRect l="-637" t="-924" b="-2588"/>
                </a:stretch>
              </a:blipFill>
            </p:spPr>
            <p:txBody>
              <a:bodyPr/>
              <a:lstStyle/>
              <a:p>
                <a:r>
                  <a:rPr lang="en-US">
                    <a:noFill/>
                  </a:rPr>
                  <a:t> </a:t>
                </a:r>
              </a:p>
            </p:txBody>
          </p:sp>
        </mc:Fallback>
      </mc:AlternateContent>
    </p:spTree>
    <p:extLst>
      <p:ext uri="{BB962C8B-B14F-4D97-AF65-F5344CB8AC3E}">
        <p14:creationId xmlns:p14="http://schemas.microsoft.com/office/powerpoint/2010/main" val="252898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64</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64</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9.2.5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9" y="1386025"/>
            <a:ext cx="11034901" cy="830997"/>
          </a:xfrm>
          <a:prstGeom prst="rect">
            <a:avLst/>
          </a:prstGeom>
          <a:noFill/>
        </p:spPr>
        <p:txBody>
          <a:bodyPr wrap="square" rtlCol="0">
            <a:spAutoFit/>
          </a:bodyPr>
          <a:lstStyle/>
          <a:p>
            <a:pPr marL="457200" indent="-457200">
              <a:buFont typeface="+mj-lt"/>
              <a:buAutoNum type="arabicPeriod"/>
            </a:pPr>
            <a:r>
              <a:rPr lang="en-US" sz="2400" b="0" i="0" u="none" strike="noStrike" dirty="0">
                <a:solidFill>
                  <a:srgbClr val="000000"/>
                </a:solidFill>
                <a:effectLst/>
                <a:latin typeface="Verdana" panose="020B0604030504040204" pitchFamily="34" charset="0"/>
              </a:rPr>
              <a:t>Write an explanation to a classmate who might have missed today’s lesson, in your own words, about population density.</a:t>
            </a:r>
            <a:endParaRPr lang="en-US" sz="24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1268</TotalTime>
  <Words>1249</Words>
  <Application>Microsoft Office PowerPoint</Application>
  <PresentationFormat>Widescreen</PresentationFormat>
  <Paragraphs>257</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Arial Black</vt:lpstr>
      <vt:lpstr>Calibri</vt:lpstr>
      <vt:lpstr>Cambria</vt:lpstr>
      <vt:lpstr>Cambria Math</vt:lpstr>
      <vt:lpstr>Century Gothic</vt:lpstr>
      <vt:lpstr>Verdana</vt:lpstr>
      <vt:lpstr>Wingdings</vt:lpstr>
      <vt:lpstr>1_Office Theme</vt:lpstr>
      <vt:lpstr>Geometry  Unit 9, Lesson 2  Density Based on Area  Volume 2, pg. 59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23</cp:revision>
  <dcterms:created xsi:type="dcterms:W3CDTF">2015-03-17T18:51:18Z</dcterms:created>
  <dcterms:modified xsi:type="dcterms:W3CDTF">2023-03-02T16:43:00Z</dcterms:modified>
</cp:coreProperties>
</file>