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365" r:id="rId11"/>
    <p:sldId id="362" r:id="rId12"/>
    <p:sldId id="363" r:id="rId13"/>
    <p:sldId id="364" r:id="rId14"/>
    <p:sldId id="302" r:id="rId15"/>
    <p:sldId id="303" r:id="rId16"/>
    <p:sldId id="368" r:id="rId17"/>
    <p:sldId id="360" r:id="rId18"/>
    <p:sldId id="366" r:id="rId19"/>
    <p:sldId id="367" r:id="rId20"/>
    <p:sldId id="306" r:id="rId21"/>
    <p:sldId id="30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62"/>
    <p:restoredTop sz="94695"/>
  </p:normalViewPr>
  <p:slideViewPr>
    <p:cSldViewPr snapToGrid="0">
      <p:cViewPr varScale="1">
        <p:scale>
          <a:sx n="78" d="100"/>
          <a:sy n="78" d="100"/>
        </p:scale>
        <p:origin x="2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41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7617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3604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6394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450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7127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6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in the Real World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88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MA.912.GR.4.5 </a:t>
            </a:r>
          </a:p>
          <a:p>
            <a:pPr marL="4603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Solve mathematical and real-world problems involving the volume of three-dimensional figures limited to cylinders, pyramids, prisms, cones and spheres.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6972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88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88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3" y="1608425"/>
            <a:ext cx="1075717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volume to solve problems with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89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5" y="1394250"/>
            <a:ext cx="847870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clearance sign shown is what is known as a “math fail.”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481013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sign that makes this a math fail?</a:t>
            </a:r>
          </a:p>
          <a:p>
            <a:pPr marL="928688" indent="-4810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4810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4810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4810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481013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 letter to the company explaining why this is a math fail and how to fix the issue.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0981" y="1394250"/>
            <a:ext cx="2292943" cy="31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89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3823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080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8827" y="60325"/>
            <a:ext cx="98359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9.7.2 Collaboration: Packing Peanuts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257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89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9019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59424" y="1386026"/>
                <a:ext cx="10957149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Josiah works for a sporting goods company in the shipping department. Josiah is trying to determine the best solution for packing a basketball with a diameter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28.5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inches.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8688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volume of the basketball?</a:t>
                </a: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size box do you think would be the best fit?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24" y="1386026"/>
                <a:ext cx="10957149" cy="3477875"/>
              </a:xfrm>
              <a:prstGeom prst="rect">
                <a:avLst/>
              </a:prstGeom>
              <a:blipFill>
                <a:blip r:embed="rId5"/>
                <a:stretch>
                  <a:fillRect l="-612" t="-1051" r="-501" b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92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9274" y="520394"/>
            <a:ext cx="4401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Find the volume of the three options of boxes below, from which Josiah can choose.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9727" y="520394"/>
            <a:ext cx="5719946" cy="526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02197" y="520394"/>
                <a:ext cx="1060373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to determine the amount of space left over in the package after the basketball has been placed in it. Summarize your discussion.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After the basketball has been placed in the package, the remaining space is filled with packing peanuts. If each peanut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>
                            <a:latin typeface="Verdana" charset="0"/>
                            <a:ea typeface="Verdana" charset="0"/>
                            <a:cs typeface="Verdana" charset="0"/>
                          </a:rPr>
                          <m:t>cm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which box will use the least amount of packing peanuts?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197" y="520394"/>
                <a:ext cx="10603730" cy="3477875"/>
              </a:xfrm>
              <a:prstGeom prst="rect">
                <a:avLst/>
              </a:prstGeom>
              <a:blipFill>
                <a:blip r:embed="rId4"/>
                <a:stretch>
                  <a:fillRect l="-632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61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90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508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9.7.3 Guided Practice: Volume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90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93067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Keon is building a raised garden bed that will have a width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(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), a depth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length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ft. If Keon fills the garden bed with soil, how much soil does he need to purchase?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930676" cy="1015663"/>
              </a:xfrm>
              <a:prstGeom prst="rect">
                <a:avLst/>
              </a:prstGeom>
              <a:blipFill>
                <a:blip r:embed="rId5"/>
                <a:stretch>
                  <a:fillRect l="-613" t="-3593" r="-100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40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1091605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Jasper wants to buy a new coffee mug, and he has narrowed it down to two options. The dimensions are given in inches (in.)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481013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volume, rounded to the thousandths place, of option A?</a:t>
            </a:r>
          </a:p>
          <a:p>
            <a:pPr marL="928688" indent="-4810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481013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volume, rounded to the thousandths place, of option B?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201" y="1211791"/>
            <a:ext cx="79375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6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2883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37988" y="5658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9.7.4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688" y="565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78586" y="1382286"/>
                <a:ext cx="903808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tennis ball canister with three tennis balls is shown. The diameter of the canister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2.7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inches (in.) and the height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8.1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volume of the canister?</a:t>
                </a: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volume of 1 tennis ball?</a:t>
                </a: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air is left in the canister after the tennis balls have been placed inside?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86" y="1382286"/>
                <a:ext cx="9038084" cy="3785652"/>
              </a:xfrm>
              <a:prstGeom prst="rect">
                <a:avLst/>
              </a:prstGeom>
              <a:blipFill>
                <a:blip r:embed="rId5"/>
                <a:stretch>
                  <a:fillRect l="-742" t="-1127" r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2056" y="1382286"/>
            <a:ext cx="952500" cy="318770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91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8618"/>
            <a:ext cx="110653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Club Cool in Epcot offers free samples of Coke products that are distributed worldwide. Flavors include Fanta Pineapple, Fanta Melon, Inca Cola,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VegitaBeta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, and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Sparberry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. You can choose to have your sample served in either of the below containers shown.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FD15F2-4D47-AC2D-E0A3-114D9DB37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291" y="2159680"/>
            <a:ext cx="5257510" cy="255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8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2419411"/>
                <a:ext cx="10961136" cy="3734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Gian, Yanessa, and Jack made different conclusions about the drink containers. Who is correct and why?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Gian: The volumes are the same because the height of the cone 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times its radius, and both containers have the same radius.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Yanessa: The volume of the sphere is greater than the cone’s because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𝜋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greater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𝜋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Jack: The volume of the cone is greater than the sphere’s because the height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times the radius of both containers.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419411"/>
                <a:ext cx="10961136" cy="3734099"/>
              </a:xfrm>
              <a:prstGeom prst="rect">
                <a:avLst/>
              </a:prstGeom>
              <a:blipFill>
                <a:blip r:embed="rId4"/>
                <a:stretch>
                  <a:fillRect l="-612" t="-980" b="-2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2AB613D-0454-CB31-3561-3188A2F3B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856" y="311216"/>
            <a:ext cx="3837274" cy="186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1078619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Julian owns a moving company and has a truck that measures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15 </m:t>
                    </m:r>
                    <m:r>
                      <m:rPr>
                        <m:nor/>
                      </m:rPr>
                      <a:rPr lang="en-US" sz="2000">
                        <a:latin typeface="Verdana" charset="0"/>
                        <a:ea typeface="Verdana" charset="0"/>
                        <a:cs typeface="Verdana" charset="0"/>
                      </a:rPr>
                      <m:t>ft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× 7.5 </m:t>
                    </m:r>
                    <m:r>
                      <m:rPr>
                        <m:nor/>
                      </m:rPr>
                      <a:rPr lang="en-US" sz="2000">
                        <a:latin typeface="Verdana" charset="0"/>
                        <a:ea typeface="Verdana" charset="0"/>
                        <a:cs typeface="Verdana" charset="0"/>
                      </a:rPr>
                      <m:t>ft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× 7.5 </m:t>
                    </m:r>
                    <m:r>
                      <m:rPr>
                        <m:nor/>
                      </m:rPr>
                      <a:rPr lang="en-US" sz="2000">
                        <a:latin typeface="Verdana" charset="0"/>
                        <a:ea typeface="Verdana" charset="0"/>
                        <a:cs typeface="Verdana" charset="0"/>
                      </a:rPr>
                      <m:t>ft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He charges individuals by the number of boxes in the moving truck. If each box is a cube with side lengths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1.5 </m:t>
                    </m:r>
                    <m:r>
                      <m:rPr>
                        <m:nor/>
                      </m:rPr>
                      <a:rPr lang="en-US" sz="2000">
                        <a:latin typeface="Verdana" charset="0"/>
                        <a:ea typeface="Verdana" charset="0"/>
                        <a:cs typeface="Verdana" charset="0"/>
                      </a:rPr>
                      <m:t>ft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how many boxes can he fit in the truck?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10786196" cy="5632311"/>
              </a:xfrm>
              <a:prstGeom prst="rect">
                <a:avLst/>
              </a:prstGeom>
              <a:blipFill>
                <a:blip r:embed="rId4"/>
                <a:stretch>
                  <a:fillRect l="-622" t="-649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832" y="1134678"/>
            <a:ext cx="48641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2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4"/>
                <a:ext cx="1098335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Pyramid of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Cestius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pictured below, is located in Rome, Italy. The base of the pyramid is a square with side lengths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30 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meters and stands at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36.5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meters. What is the volume of the pyramid?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4"/>
                <a:ext cx="10983359" cy="1015663"/>
              </a:xfrm>
              <a:prstGeom prst="rect">
                <a:avLst/>
              </a:prstGeom>
              <a:blipFill>
                <a:blip r:embed="rId4"/>
                <a:stretch>
                  <a:fillRect l="-611" t="-3593" r="-167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3462" y="1739539"/>
            <a:ext cx="38862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7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93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40565" y="1089286"/>
            <a:ext cx="10402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Provide a real-world context that would require you to find the volume of a three-dimensional figure.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922</Words>
  <Application>Microsoft Office PowerPoint</Application>
  <PresentationFormat>Widescreen</PresentationFormat>
  <Paragraphs>139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9, Lesson 7  Volume in the Real World  Volume 2, pg. 88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26</cp:revision>
  <dcterms:created xsi:type="dcterms:W3CDTF">2015-03-17T18:51:18Z</dcterms:created>
  <dcterms:modified xsi:type="dcterms:W3CDTF">2023-03-02T18:10:53Z</dcterms:modified>
</cp:coreProperties>
</file>