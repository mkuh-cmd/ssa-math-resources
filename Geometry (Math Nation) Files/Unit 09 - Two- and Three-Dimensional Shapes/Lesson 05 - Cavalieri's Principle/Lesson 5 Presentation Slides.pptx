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2"/>
  </p:notesMasterIdLst>
  <p:sldIdLst>
    <p:sldId id="256" r:id="rId2"/>
    <p:sldId id="257" r:id="rId3"/>
    <p:sldId id="285" r:id="rId4"/>
    <p:sldId id="286" r:id="rId5"/>
    <p:sldId id="261" r:id="rId6"/>
    <p:sldId id="287" r:id="rId7"/>
    <p:sldId id="288" r:id="rId8"/>
    <p:sldId id="314" r:id="rId9"/>
    <p:sldId id="315" r:id="rId10"/>
    <p:sldId id="352" r:id="rId11"/>
    <p:sldId id="362" r:id="rId12"/>
    <p:sldId id="363" r:id="rId13"/>
    <p:sldId id="364" r:id="rId14"/>
    <p:sldId id="375" r:id="rId15"/>
    <p:sldId id="365" r:id="rId16"/>
    <p:sldId id="366" r:id="rId17"/>
    <p:sldId id="367" r:id="rId18"/>
    <p:sldId id="376" r:id="rId19"/>
    <p:sldId id="368" r:id="rId20"/>
    <p:sldId id="369" r:id="rId21"/>
    <p:sldId id="370" r:id="rId22"/>
    <p:sldId id="371" r:id="rId23"/>
    <p:sldId id="372" r:id="rId24"/>
    <p:sldId id="373" r:id="rId25"/>
    <p:sldId id="374" r:id="rId26"/>
    <p:sldId id="377" r:id="rId27"/>
    <p:sldId id="378" r:id="rId28"/>
    <p:sldId id="379" r:id="rId29"/>
    <p:sldId id="306" r:id="rId30"/>
    <p:sldId id="307" r:id="rId3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7DBF"/>
    <a:srgbClr val="3465B0"/>
    <a:srgbClr val="DA4487"/>
    <a:srgbClr val="276C46"/>
    <a:srgbClr val="C9DF6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2262"/>
    <p:restoredTop sz="94695"/>
  </p:normalViewPr>
  <p:slideViewPr>
    <p:cSldViewPr snapToGrid="0">
      <p:cViewPr varScale="1">
        <p:scale>
          <a:sx n="79" d="100"/>
          <a:sy n="79" d="100"/>
        </p:scale>
        <p:origin x="132" y="18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580380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0893168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4611548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685614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5996922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4376875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13177412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4522406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8554730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1720262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2558124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60680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8950593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3087181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3807994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5930052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3179653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20206166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18614971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95125487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extLst>
      <p:ext uri="{BB962C8B-B14F-4D97-AF65-F5344CB8AC3E}">
        <p14:creationId xmlns:p14="http://schemas.microsoft.com/office/powerpoint/2010/main" val="7166881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30</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21.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24.png"/><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8.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6" Type="http://schemas.openxmlformats.org/officeDocument/2006/relationships/image" Target="../media/image31.png"/><Relationship Id="rId5" Type="http://schemas.openxmlformats.org/officeDocument/2006/relationships/image" Target="../media/image300.png"/><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6" Type="http://schemas.openxmlformats.org/officeDocument/2006/relationships/image" Target="../media/image33.jpeg"/><Relationship Id="rId5" Type="http://schemas.openxmlformats.org/officeDocument/2006/relationships/image" Target="../media/image32.jpeg"/><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35.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 Id="rId5" Type="http://schemas.openxmlformats.org/officeDocument/2006/relationships/image" Target="../media/image34.png"/><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8.xml"/><Relationship Id="rId5" Type="http://schemas.openxmlformats.org/officeDocument/2006/relationships/image" Target="../media/image37.png"/><Relationship Id="rId4" Type="http://schemas.openxmlformats.org/officeDocument/2006/relationships/image" Target="../media/image38.png"/></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8.xml"/><Relationship Id="rId4" Type="http://schemas.openxmlformats.org/officeDocument/2006/relationships/image" Target="../media/image39.png"/></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8.xml"/><Relationship Id="rId4"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Geometry</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9, Lesson 5</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err="1">
                <a:solidFill>
                  <a:srgbClr val="417DBF"/>
                </a:solidFill>
                <a:latin typeface="Verdana"/>
                <a:ea typeface="Verdana"/>
                <a:cs typeface="Verdana"/>
                <a:sym typeface="Verdana"/>
              </a:rPr>
              <a:t>Cavalieri’s</a:t>
            </a:r>
            <a:r>
              <a:rPr lang="en-US" sz="3600" b="1" dirty="0">
                <a:solidFill>
                  <a:srgbClr val="417DBF"/>
                </a:solidFill>
                <a:latin typeface="Verdana"/>
                <a:ea typeface="Verdana"/>
                <a:cs typeface="Verdana"/>
                <a:sym typeface="Verdana"/>
              </a:rPr>
              <a:t> Principle</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76</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4" name="Picture 3" descr="Logo&#10;&#10;Description automatically generated">
            <a:extLst>
              <a:ext uri="{FF2B5EF4-FFF2-40B4-BE49-F238E27FC236}">
                <a16:creationId xmlns:a16="http://schemas.microsoft.com/office/drawing/2014/main" id="{52C00464-EFA3-6346-BE43-A03DFF537B3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05010" y="1606146"/>
            <a:ext cx="2973100" cy="346578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24050" y="14475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00550" y="380525"/>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76</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514000" y="1608425"/>
            <a:ext cx="11009924"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2400" dirty="0">
                <a:latin typeface="Verdana" charset="0"/>
                <a:ea typeface="Verdana" charset="0"/>
                <a:cs typeface="Verdana" charset="0"/>
              </a:rPr>
              <a:t>MA.912.GR.4.5 </a:t>
            </a:r>
          </a:p>
          <a:p>
            <a:pPr marL="469900" indent="0">
              <a:buNone/>
            </a:pPr>
            <a:r>
              <a:rPr lang="en-US" sz="2400" dirty="0">
                <a:latin typeface="Verdana" charset="0"/>
                <a:ea typeface="Verdana" charset="0"/>
                <a:cs typeface="Verdana" charset="0"/>
              </a:rPr>
              <a:t>Solve mathematical and real-world problems involving the volume of three-dimensional figures limited to cylinders, pyramids, prisms, cones, and spheres.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25199" y="129667"/>
            <a:ext cx="860873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76</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101760" y="1596390"/>
            <a:ext cx="1042216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065719" y="38885"/>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283557" y="328085"/>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76</a:t>
            </a: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466344" y="1608425"/>
            <a:ext cx="1105758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buFont typeface="Wingdings" charset="2"/>
              <a:buChar char="q"/>
            </a:pPr>
            <a:r>
              <a:rPr lang="en-US" sz="2400" dirty="0">
                <a:latin typeface="Verdana" charset="0"/>
                <a:ea typeface="Verdana" charset="0"/>
                <a:cs typeface="Verdana" charset="0"/>
              </a:rPr>
              <a:t>I can use </a:t>
            </a:r>
            <a:r>
              <a:rPr lang="en-US" sz="2400" dirty="0" err="1">
                <a:latin typeface="Verdana" charset="0"/>
                <a:ea typeface="Verdana" charset="0"/>
                <a:cs typeface="Verdana" charset="0"/>
              </a:rPr>
              <a:t>Cavalieri’s</a:t>
            </a:r>
            <a:r>
              <a:rPr lang="en-US" sz="2400" dirty="0">
                <a:latin typeface="Verdana" charset="0"/>
                <a:ea typeface="Verdana" charset="0"/>
                <a:cs typeface="Verdana" charset="0"/>
              </a:rPr>
              <a:t> principle to give informal arguments about the formulas for the volumes of right and non-right cylinders, pyramids, prisms, and cones.</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76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9831"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00635" y="6032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9.5.1 Warm-Up: Notice and Wonder</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253335" y="197485"/>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76</a:t>
            </a:r>
          </a:p>
        </p:txBody>
      </p:sp>
      <p:sp>
        <p:nvSpPr>
          <p:cNvPr id="2" name="TextBox 1">
            <a:extLst>
              <a:ext uri="{FF2B5EF4-FFF2-40B4-BE49-F238E27FC236}">
                <a16:creationId xmlns:a16="http://schemas.microsoft.com/office/drawing/2014/main" id="{E1D7562E-134F-D14B-AF1A-DF40E11EF758}"/>
              </a:ext>
            </a:extLst>
          </p:cNvPr>
          <p:cNvSpPr txBox="1"/>
          <p:nvPr/>
        </p:nvSpPr>
        <p:spPr>
          <a:xfrm>
            <a:off x="541232" y="1386025"/>
            <a:ext cx="9753141" cy="400110"/>
          </a:xfrm>
          <a:prstGeom prst="rect">
            <a:avLst/>
          </a:prstGeom>
          <a:noFill/>
        </p:spPr>
        <p:txBody>
          <a:bodyPr wrap="square" rtlCol="0">
            <a:spAutoFit/>
          </a:bodyPr>
          <a:lstStyle/>
          <a:p>
            <a:r>
              <a:rPr lang="en-US" sz="2000" dirty="0">
                <a:latin typeface="Verdana" charset="0"/>
                <a:ea typeface="Verdana" charset="0"/>
                <a:cs typeface="Verdana" charset="0"/>
              </a:rPr>
              <a:t>Four different perspectives of the same stack of records are shown. </a:t>
            </a:r>
          </a:p>
        </p:txBody>
      </p:sp>
      <p:pic>
        <p:nvPicPr>
          <p:cNvPr id="3" name="Picture 2"/>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676059" y="2116921"/>
            <a:ext cx="5436476" cy="4317745"/>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7701"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76</a:t>
            </a:r>
          </a:p>
        </p:txBody>
      </p:sp>
      <p:sp>
        <p:nvSpPr>
          <p:cNvPr id="14" name="TextBox 13">
            <a:extLst>
              <a:ext uri="{FF2B5EF4-FFF2-40B4-BE49-F238E27FC236}">
                <a16:creationId xmlns:a16="http://schemas.microsoft.com/office/drawing/2014/main" id="{2FA392D8-3ED3-7940-83A8-1451AA8A08D4}"/>
              </a:ext>
            </a:extLst>
          </p:cNvPr>
          <p:cNvSpPr txBox="1"/>
          <p:nvPr/>
        </p:nvSpPr>
        <p:spPr>
          <a:xfrm>
            <a:off x="540565" y="520394"/>
            <a:ext cx="8327136" cy="3785652"/>
          </a:xfrm>
          <a:prstGeom prst="rect">
            <a:avLst/>
          </a:prstGeom>
          <a:noFill/>
        </p:spPr>
        <p:txBody>
          <a:bodyPr wrap="square" rtlCol="0">
            <a:spAutoFit/>
          </a:bodyPr>
          <a:lstStyle/>
          <a:p>
            <a:pPr marL="457200" indent="-457200">
              <a:buFont typeface="+mj-lt"/>
              <a:buAutoNum type="arabicPeriod"/>
            </a:pPr>
            <a:r>
              <a:rPr lang="en-US" sz="2400" dirty="0">
                <a:latin typeface="Verdana" charset="0"/>
                <a:ea typeface="Verdana" charset="0"/>
                <a:cs typeface="Verdana" charset="0"/>
              </a:rPr>
              <a:t>What do you notice?</a:t>
            </a:r>
          </a:p>
          <a:p>
            <a:pPr marL="457200" indent="-457200">
              <a:buFont typeface="+mj-lt"/>
              <a:buAutoNum type="arabicPeriod"/>
            </a:pPr>
            <a:endParaRPr lang="en-US" sz="2400" dirty="0">
              <a:latin typeface="Verdana" charset="0"/>
              <a:ea typeface="Verdana" charset="0"/>
              <a:cs typeface="Verdana" charset="0"/>
            </a:endParaRPr>
          </a:p>
          <a:p>
            <a:pPr marL="457200" indent="-457200">
              <a:buFont typeface="+mj-lt"/>
              <a:buAutoNum type="arabicPeriod"/>
            </a:pPr>
            <a:endParaRPr lang="en-US" sz="2400" dirty="0">
              <a:latin typeface="Verdana" charset="0"/>
              <a:ea typeface="Verdana" charset="0"/>
              <a:cs typeface="Verdana" charset="0"/>
            </a:endParaRPr>
          </a:p>
          <a:p>
            <a:pPr marL="457200" indent="-457200">
              <a:buFont typeface="+mj-lt"/>
              <a:buAutoNum type="arabicPeriod"/>
            </a:pPr>
            <a:endParaRPr lang="en-US" sz="2400" dirty="0">
              <a:latin typeface="Verdana" charset="0"/>
              <a:ea typeface="Verdana" charset="0"/>
              <a:cs typeface="Verdana" charset="0"/>
            </a:endParaRPr>
          </a:p>
          <a:p>
            <a:pPr marL="457200" indent="-457200">
              <a:buFont typeface="+mj-lt"/>
              <a:buAutoNum type="arabicPeriod"/>
            </a:pPr>
            <a:endParaRPr lang="en-US" sz="2400" dirty="0">
              <a:latin typeface="Verdana" charset="0"/>
              <a:ea typeface="Verdana" charset="0"/>
              <a:cs typeface="Verdana" charset="0"/>
            </a:endParaRPr>
          </a:p>
          <a:p>
            <a:pPr marL="457200" indent="-457200">
              <a:buFont typeface="+mj-lt"/>
              <a:buAutoNum type="arabicPeriod"/>
            </a:pPr>
            <a:endParaRPr lang="en-US" sz="2400" dirty="0">
              <a:latin typeface="Verdana" charset="0"/>
              <a:ea typeface="Verdana" charset="0"/>
              <a:cs typeface="Verdana" charset="0"/>
            </a:endParaRPr>
          </a:p>
          <a:p>
            <a:pPr marL="457200" indent="-457200">
              <a:buFont typeface="+mj-lt"/>
              <a:buAutoNum type="arabicPeriod"/>
            </a:pPr>
            <a:endParaRPr lang="en-US" sz="2400" dirty="0">
              <a:latin typeface="Verdana" charset="0"/>
              <a:ea typeface="Verdana" charset="0"/>
              <a:cs typeface="Verdana" charset="0"/>
            </a:endParaRPr>
          </a:p>
          <a:p>
            <a:pPr marL="457200" indent="-457200">
              <a:buFont typeface="+mj-lt"/>
              <a:buAutoNum type="arabicPeriod"/>
            </a:pPr>
            <a:endParaRPr lang="en-US" sz="2400" dirty="0">
              <a:latin typeface="Verdana" charset="0"/>
              <a:ea typeface="Verdana" charset="0"/>
              <a:cs typeface="Verdana" charset="0"/>
            </a:endParaRPr>
          </a:p>
          <a:p>
            <a:pPr marL="457200" indent="-457200">
              <a:buFont typeface="+mj-lt"/>
              <a:buAutoNum type="arabicPeriod"/>
            </a:pPr>
            <a:endParaRPr lang="en-US" sz="2400" dirty="0">
              <a:latin typeface="Verdana" charset="0"/>
              <a:ea typeface="Verdana" charset="0"/>
              <a:cs typeface="Verdana" charset="0"/>
            </a:endParaRPr>
          </a:p>
          <a:p>
            <a:pPr marL="457200" indent="-457200">
              <a:buFont typeface="+mj-lt"/>
              <a:buAutoNum type="arabicPeriod"/>
            </a:pPr>
            <a:r>
              <a:rPr lang="en-US" sz="2400" dirty="0">
                <a:latin typeface="Verdana" charset="0"/>
                <a:ea typeface="Verdana" charset="0"/>
                <a:cs typeface="Verdana" charset="0"/>
              </a:rPr>
              <a:t>What do you wonder?</a:t>
            </a:r>
          </a:p>
        </p:txBody>
      </p:sp>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77</a:t>
            </a: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0788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52650" y="6032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9.5.2 Collaboration: Exploring </a:t>
            </a:r>
            <a:r>
              <a:rPr lang="en-US" sz="3600" b="1" dirty="0" err="1">
                <a:solidFill>
                  <a:srgbClr val="33BEA6"/>
                </a:solidFill>
                <a:latin typeface="Verdana"/>
                <a:ea typeface="Verdana"/>
                <a:cs typeface="Verdana"/>
                <a:sym typeface="Verdana"/>
              </a:rPr>
              <a:t>Cavalieri’s</a:t>
            </a:r>
            <a:r>
              <a:rPr lang="en-US" sz="3600" b="1" dirty="0">
                <a:solidFill>
                  <a:srgbClr val="33BEA6"/>
                </a:solidFill>
                <a:latin typeface="Verdana"/>
                <a:ea typeface="Verdana"/>
                <a:cs typeface="Verdana"/>
                <a:sym typeface="Verdana"/>
              </a:rPr>
              <a:t> Principle</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77</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02842" y="34827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graphicFrame>
        <p:nvGraphicFramePr>
          <p:cNvPr id="2" name="Table 1"/>
          <p:cNvGraphicFramePr>
            <a:graphicFrameLocks noGrp="1"/>
          </p:cNvGraphicFramePr>
          <p:nvPr>
            <p:extLst>
              <p:ext uri="{D42A27DB-BD31-4B8C-83A1-F6EECF244321}">
                <p14:modId xmlns:p14="http://schemas.microsoft.com/office/powerpoint/2010/main" val="2329101030"/>
              </p:ext>
            </p:extLst>
          </p:nvPr>
        </p:nvGraphicFramePr>
        <p:xfrm>
          <a:off x="750484" y="1673971"/>
          <a:ext cx="7835293" cy="2743200"/>
        </p:xfrm>
        <a:graphic>
          <a:graphicData uri="http://schemas.openxmlformats.org/drawingml/2006/table">
            <a:tbl>
              <a:tblPr firstRow="1" firstCol="1" bandRow="1"/>
              <a:tblGrid>
                <a:gridCol w="3355113">
                  <a:extLst>
                    <a:ext uri="{9D8B030D-6E8A-4147-A177-3AD203B41FA5}">
                      <a16:colId xmlns:a16="http://schemas.microsoft.com/office/drawing/2014/main" val="20000"/>
                    </a:ext>
                  </a:extLst>
                </a:gridCol>
                <a:gridCol w="4480180">
                  <a:extLst>
                    <a:ext uri="{9D8B030D-6E8A-4147-A177-3AD203B41FA5}">
                      <a16:colId xmlns:a16="http://schemas.microsoft.com/office/drawing/2014/main" val="20001"/>
                    </a:ext>
                  </a:extLst>
                </a:gridCol>
              </a:tblGrid>
              <a:tr h="0">
                <a:tc gridSpan="2">
                  <a:txBody>
                    <a:bodyPr/>
                    <a:lstStyle/>
                    <a:p>
                      <a:pPr marL="0" marR="0" algn="ctr">
                        <a:spcBef>
                          <a:spcPts val="0"/>
                        </a:spcBef>
                        <a:spcAft>
                          <a:spcPts val="0"/>
                        </a:spcAft>
                      </a:pPr>
                      <a:r>
                        <a:rPr lang="en-US" sz="2000" b="1">
                          <a:solidFill>
                            <a:srgbClr val="000000"/>
                          </a:solidFill>
                          <a:effectLst/>
                          <a:latin typeface="Verdana" charset="0"/>
                          <a:ea typeface="Times New Roman" charset="0"/>
                        </a:rPr>
                        <a:t>Scenario 1</a:t>
                      </a:r>
                      <a:endParaRPr lang="en-US" sz="1400">
                        <a:effectLst/>
                        <a:latin typeface="Cambria" charset="0"/>
                        <a:ea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extLst>
                  <a:ext uri="{0D108BD9-81ED-4DB2-BD59-A6C34878D82A}">
                    <a16:rowId xmlns:a16="http://schemas.microsoft.com/office/drawing/2014/main" val="10000"/>
                  </a:ext>
                </a:extLst>
              </a:tr>
              <a:tr h="0">
                <a:tc>
                  <a:txBody>
                    <a:bodyPr/>
                    <a:lstStyle/>
                    <a:p>
                      <a:pPr marL="0" marR="0">
                        <a:spcBef>
                          <a:spcPts val="0"/>
                        </a:spcBef>
                        <a:spcAft>
                          <a:spcPts val="800"/>
                        </a:spcAft>
                      </a:pPr>
                      <a:r>
                        <a:rPr lang="en-US" sz="2000">
                          <a:solidFill>
                            <a:srgbClr val="000000"/>
                          </a:solidFill>
                          <a:effectLst/>
                          <a:latin typeface="Verdana" charset="0"/>
                          <a:ea typeface="Times New Roman" charset="0"/>
                        </a:rPr>
                        <a:t>Consider the two stacks of pennies, where each stack contains the same number of pennies. Discuss with your partner the relationship between the volumes of each stack.</a:t>
                      </a:r>
                      <a:endParaRPr lang="en-US" sz="1400">
                        <a:effectLst/>
                        <a:latin typeface="Cambria" charset="0"/>
                        <a:ea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800"/>
                        </a:spcAft>
                      </a:pPr>
                      <a:endParaRPr lang="en-US" sz="2000" dirty="0">
                        <a:solidFill>
                          <a:srgbClr val="000000"/>
                        </a:solidFill>
                        <a:effectLst/>
                        <a:latin typeface="Verdana" charset="0"/>
                        <a:ea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pic>
        <p:nvPicPr>
          <p:cNvPr id="1025" name="Picture 43"/>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4328270" y="2394005"/>
            <a:ext cx="3771900" cy="167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4437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7701"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77</a:t>
            </a:r>
          </a:p>
        </p:txBody>
      </p:sp>
      <p:sp>
        <p:nvSpPr>
          <p:cNvPr id="14" name="TextBox 13">
            <a:extLst>
              <a:ext uri="{FF2B5EF4-FFF2-40B4-BE49-F238E27FC236}">
                <a16:creationId xmlns:a16="http://schemas.microsoft.com/office/drawing/2014/main" id="{2FA392D8-3ED3-7940-83A8-1451AA8A08D4}"/>
              </a:ext>
            </a:extLst>
          </p:cNvPr>
          <p:cNvSpPr txBox="1"/>
          <p:nvPr/>
        </p:nvSpPr>
        <p:spPr>
          <a:xfrm>
            <a:off x="540565" y="520393"/>
            <a:ext cx="10961136" cy="707886"/>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Summarize your discussion in the table below and have your partner initial that your summary is correct.</a:t>
            </a:r>
          </a:p>
        </p:txBody>
      </p:sp>
      <p:graphicFrame>
        <p:nvGraphicFramePr>
          <p:cNvPr id="2" name="Table 1"/>
          <p:cNvGraphicFramePr>
            <a:graphicFrameLocks noGrp="1"/>
          </p:cNvGraphicFramePr>
          <p:nvPr>
            <p:extLst>
              <p:ext uri="{D42A27DB-BD31-4B8C-83A1-F6EECF244321}">
                <p14:modId xmlns:p14="http://schemas.microsoft.com/office/powerpoint/2010/main" val="423751806"/>
              </p:ext>
            </p:extLst>
          </p:nvPr>
        </p:nvGraphicFramePr>
        <p:xfrm>
          <a:off x="1187036" y="1596428"/>
          <a:ext cx="7034194" cy="4493099"/>
        </p:xfrm>
        <a:graphic>
          <a:graphicData uri="http://schemas.openxmlformats.org/drawingml/2006/table">
            <a:tbl>
              <a:tblPr firstRow="1" firstCol="1" bandRow="1"/>
              <a:tblGrid>
                <a:gridCol w="5111092">
                  <a:extLst>
                    <a:ext uri="{9D8B030D-6E8A-4147-A177-3AD203B41FA5}">
                      <a16:colId xmlns:a16="http://schemas.microsoft.com/office/drawing/2014/main" val="20000"/>
                    </a:ext>
                  </a:extLst>
                </a:gridCol>
                <a:gridCol w="1923102">
                  <a:extLst>
                    <a:ext uri="{9D8B030D-6E8A-4147-A177-3AD203B41FA5}">
                      <a16:colId xmlns:a16="http://schemas.microsoft.com/office/drawing/2014/main" val="20001"/>
                    </a:ext>
                  </a:extLst>
                </a:gridCol>
              </a:tblGrid>
              <a:tr h="467839">
                <a:tc>
                  <a:txBody>
                    <a:bodyPr/>
                    <a:lstStyle/>
                    <a:p>
                      <a:pPr marL="0" marR="0" algn="ctr">
                        <a:spcBef>
                          <a:spcPts val="0"/>
                        </a:spcBef>
                        <a:spcAft>
                          <a:spcPts val="0"/>
                        </a:spcAft>
                      </a:pPr>
                      <a:r>
                        <a:rPr lang="en-US" sz="2000" b="1">
                          <a:solidFill>
                            <a:srgbClr val="000000"/>
                          </a:solidFill>
                          <a:effectLst/>
                          <a:latin typeface="Verdana" charset="0"/>
                          <a:ea typeface="Times New Roman" charset="0"/>
                        </a:rPr>
                        <a:t>Summary</a:t>
                      </a:r>
                      <a:endParaRPr lang="en-US" sz="1200">
                        <a:effectLst/>
                        <a:latin typeface="Cambria" charset="0"/>
                        <a:ea typeface="Times New Roman" charset="0"/>
                      </a:endParaRPr>
                    </a:p>
                  </a:txBody>
                  <a:tcPr marL="58480" marR="584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charset="0"/>
                          <a:ea typeface="Times New Roman" charset="0"/>
                        </a:rPr>
                        <a:t>Partner’s Initials</a:t>
                      </a:r>
                      <a:endParaRPr lang="en-US" sz="1200">
                        <a:effectLst/>
                        <a:latin typeface="Cambria" charset="0"/>
                        <a:ea typeface="Times New Roman" charset="0"/>
                      </a:endParaRPr>
                    </a:p>
                  </a:txBody>
                  <a:tcPr marL="58480" marR="584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3883499">
                <a:tc>
                  <a:txBody>
                    <a:bodyPr/>
                    <a:lstStyle/>
                    <a:p>
                      <a:pPr marL="0" marR="0" algn="ctr">
                        <a:spcBef>
                          <a:spcPts val="0"/>
                        </a:spcBef>
                        <a:spcAft>
                          <a:spcPts val="0"/>
                        </a:spcAft>
                      </a:pPr>
                      <a:r>
                        <a:rPr lang="en-US" sz="2000" dirty="0">
                          <a:solidFill>
                            <a:srgbClr val="000000"/>
                          </a:solidFill>
                          <a:effectLst/>
                          <a:latin typeface="Verdana" charset="0"/>
                          <a:ea typeface="Times New Roman" charset="0"/>
                        </a:rPr>
                        <a:t> </a:t>
                      </a:r>
                      <a:endParaRPr lang="en-US" sz="1200" dirty="0">
                        <a:effectLst/>
                        <a:latin typeface="Cambria" charset="0"/>
                        <a:ea typeface="Times New Roman" charset="0"/>
                      </a:endParaRPr>
                    </a:p>
                  </a:txBody>
                  <a:tcPr marL="58480" marR="584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solidFill>
                            <a:srgbClr val="000000"/>
                          </a:solidFill>
                          <a:effectLst/>
                          <a:latin typeface="Verdana" charset="0"/>
                          <a:ea typeface="Times New Roman" charset="0"/>
                        </a:rPr>
                        <a:t> </a:t>
                      </a:r>
                      <a:endParaRPr lang="en-US" sz="1200" dirty="0">
                        <a:effectLst/>
                        <a:latin typeface="Cambria" charset="0"/>
                        <a:ea typeface="Times New Roman" charset="0"/>
                      </a:endParaRPr>
                    </a:p>
                  </a:txBody>
                  <a:tcPr marL="58480" marR="584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8410228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77</a:t>
            </a: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2020189774"/>
                  </p:ext>
                </p:extLst>
              </p:nvPr>
            </p:nvGraphicFramePr>
            <p:xfrm>
              <a:off x="690871" y="405381"/>
              <a:ext cx="8005433" cy="4166594"/>
            </p:xfrm>
            <a:graphic>
              <a:graphicData uri="http://schemas.openxmlformats.org/drawingml/2006/table">
                <a:tbl>
                  <a:tblPr firstRow="1" firstCol="1" bandRow="1"/>
                  <a:tblGrid>
                    <a:gridCol w="4426661">
                      <a:extLst>
                        <a:ext uri="{9D8B030D-6E8A-4147-A177-3AD203B41FA5}">
                          <a16:colId xmlns:a16="http://schemas.microsoft.com/office/drawing/2014/main" val="20000"/>
                        </a:ext>
                      </a:extLst>
                    </a:gridCol>
                    <a:gridCol w="3578772">
                      <a:extLst>
                        <a:ext uri="{9D8B030D-6E8A-4147-A177-3AD203B41FA5}">
                          <a16:colId xmlns:a16="http://schemas.microsoft.com/office/drawing/2014/main" val="20001"/>
                        </a:ext>
                      </a:extLst>
                    </a:gridCol>
                  </a:tblGrid>
                  <a:tr h="441552">
                    <a:tc gridSpan="2">
                      <a:txBody>
                        <a:bodyPr/>
                        <a:lstStyle/>
                        <a:p>
                          <a:pPr marL="0" marR="0" algn="ctr">
                            <a:spcBef>
                              <a:spcPts val="0"/>
                            </a:spcBef>
                            <a:spcAft>
                              <a:spcPts val="0"/>
                            </a:spcAft>
                          </a:pPr>
                          <a:r>
                            <a:rPr lang="en-US" sz="2000" b="1">
                              <a:solidFill>
                                <a:srgbClr val="000000"/>
                              </a:solidFill>
                              <a:effectLst/>
                              <a:latin typeface="Verdana" charset="0"/>
                              <a:ea typeface="Verdana" charset="0"/>
                              <a:cs typeface="Verdana" charset="0"/>
                            </a:rPr>
                            <a:t>Scenario 2</a:t>
                          </a:r>
                          <a:endParaRPr lang="en-US" sz="2000">
                            <a:effectLst/>
                            <a:latin typeface="Verdana" charset="0"/>
                            <a:ea typeface="Verdana" charset="0"/>
                            <a:cs typeface="Verdana" charset="0"/>
                          </a:endParaRPr>
                        </a:p>
                      </a:txBody>
                      <a:tcPr marL="62253" marR="6225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extLst>
                      <a:ext uri="{0D108BD9-81ED-4DB2-BD59-A6C34878D82A}">
                        <a16:rowId xmlns:a16="http://schemas.microsoft.com/office/drawing/2014/main" val="10000"/>
                      </a:ext>
                    </a:extLst>
                  </a:tr>
                  <a:tr h="3725042">
                    <a:tc>
                      <a:txBody>
                        <a:bodyPr/>
                        <a:lstStyle/>
                        <a:p>
                          <a:pPr marL="0" marR="0">
                            <a:spcBef>
                              <a:spcPts val="0"/>
                            </a:spcBef>
                            <a:spcAft>
                              <a:spcPts val="800"/>
                            </a:spcAft>
                          </a:pPr>
                          <a:r>
                            <a:rPr lang="en-US" sz="2000" dirty="0">
                              <a:solidFill>
                                <a:srgbClr val="000000"/>
                              </a:solidFill>
                              <a:effectLst/>
                              <a:latin typeface="Verdana" charset="0"/>
                              <a:ea typeface="Verdana" charset="0"/>
                              <a:cs typeface="Verdana" charset="0"/>
                            </a:rPr>
                            <a:t>Suppose two partners are both constructing towers that are to be </a:t>
                          </a:r>
                          <a14:m>
                            <m:oMath xmlns:m="http://schemas.openxmlformats.org/officeDocument/2006/math">
                              <m:r>
                                <a:rPr lang="en-US" sz="2000" i="1">
                                  <a:solidFill>
                                    <a:srgbClr val="000000"/>
                                  </a:solidFill>
                                  <a:effectLst/>
                                  <a:latin typeface="Cambria Math" charset="0"/>
                                  <a:ea typeface="Verdana" charset="0"/>
                                  <a:cs typeface="Verdana" charset="0"/>
                                </a:rPr>
                                <m:t>5</m:t>
                              </m:r>
                            </m:oMath>
                          </a14:m>
                          <a:r>
                            <a:rPr lang="en-US" sz="2000" dirty="0">
                              <a:solidFill>
                                <a:srgbClr val="000000"/>
                              </a:solidFill>
                              <a:effectLst/>
                              <a:latin typeface="Verdana" charset="0"/>
                              <a:ea typeface="Verdana" charset="0"/>
                              <a:cs typeface="Verdana" charset="0"/>
                            </a:rPr>
                            <a:t> inches high. Partner A decided to build a tower using rectangles with areas of </a:t>
                          </a:r>
                          <a14:m>
                            <m:oMath xmlns:m="http://schemas.openxmlformats.org/officeDocument/2006/math">
                              <m:r>
                                <a:rPr lang="en-US" sz="2000" i="1">
                                  <a:solidFill>
                                    <a:srgbClr val="000000"/>
                                  </a:solidFill>
                                  <a:effectLst/>
                                  <a:latin typeface="Cambria Math" charset="0"/>
                                  <a:ea typeface="Verdana" charset="0"/>
                                  <a:cs typeface="Verdana" charset="0"/>
                                </a:rPr>
                                <m:t>16</m:t>
                              </m:r>
                            </m:oMath>
                          </a14:m>
                          <a:r>
                            <a:rPr lang="en-US" sz="2000" dirty="0">
                              <a:solidFill>
                                <a:srgbClr val="000000"/>
                              </a:solidFill>
                              <a:effectLst/>
                              <a:latin typeface="Verdana" charset="0"/>
                              <a:ea typeface="Verdana" charset="0"/>
                              <a:cs typeface="Verdana" charset="0"/>
                            </a:rPr>
                            <a:t> square inches and partner B decided to construct a tower using squares with areas of </a:t>
                          </a:r>
                          <a14:m>
                            <m:oMath xmlns:m="http://schemas.openxmlformats.org/officeDocument/2006/math">
                              <m:r>
                                <a:rPr lang="en-US" sz="2000" i="1">
                                  <a:solidFill>
                                    <a:srgbClr val="000000"/>
                                  </a:solidFill>
                                  <a:effectLst/>
                                  <a:latin typeface="Cambria Math" charset="0"/>
                                  <a:ea typeface="Verdana" charset="0"/>
                                  <a:cs typeface="Verdana" charset="0"/>
                                </a:rPr>
                                <m:t>16</m:t>
                              </m:r>
                            </m:oMath>
                          </a14:m>
                          <a:r>
                            <a:rPr lang="en-US" sz="2000" dirty="0">
                              <a:solidFill>
                                <a:srgbClr val="000000"/>
                              </a:solidFill>
                              <a:effectLst/>
                              <a:latin typeface="Verdana" charset="0"/>
                              <a:ea typeface="Verdana" charset="0"/>
                              <a:cs typeface="Verdana" charset="0"/>
                            </a:rPr>
                            <a:t> square inches. The base of each partner’s tower is shown. </a:t>
                          </a:r>
                          <a:endParaRPr lang="en-US" sz="2000" dirty="0">
                            <a:effectLst/>
                            <a:latin typeface="Verdana" charset="0"/>
                            <a:ea typeface="Verdana" charset="0"/>
                            <a:cs typeface="Verdana" charset="0"/>
                          </a:endParaRPr>
                        </a:p>
                      </a:txBody>
                      <a:tcPr marL="62253" marR="6225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0"/>
                            </a:spcAft>
                          </a:pPr>
                          <a:endParaRPr lang="en-US" sz="2000" dirty="0">
                            <a:solidFill>
                              <a:srgbClr val="000000"/>
                            </a:solidFill>
                            <a:effectLst/>
                            <a:latin typeface="Verdana" charset="0"/>
                            <a:ea typeface="Verdana" charset="0"/>
                            <a:cs typeface="Verdana" charset="0"/>
                          </a:endParaRPr>
                        </a:p>
                        <a:p>
                          <a:pPr marL="0" marR="0" algn="ctr">
                            <a:spcBef>
                              <a:spcPts val="600"/>
                            </a:spcBef>
                            <a:spcAft>
                              <a:spcPts val="0"/>
                            </a:spcAft>
                          </a:pPr>
                          <a:r>
                            <a:rPr lang="en-US" sz="2000" dirty="0">
                              <a:solidFill>
                                <a:srgbClr val="000000"/>
                              </a:solidFill>
                              <a:effectLst/>
                              <a:latin typeface="Verdana" charset="0"/>
                              <a:ea typeface="Verdana" charset="0"/>
                              <a:cs typeface="Verdana" charset="0"/>
                            </a:rPr>
                            <a:t> </a:t>
                          </a:r>
                          <a:endParaRPr lang="en-US" sz="2000" dirty="0">
                            <a:effectLst/>
                            <a:latin typeface="Verdana" charset="0"/>
                            <a:ea typeface="Verdana" charset="0"/>
                            <a:cs typeface="Verdana" charset="0"/>
                          </a:endParaRPr>
                        </a:p>
                      </a:txBody>
                      <a:tcPr marL="62253" marR="6225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2020189774"/>
                  </p:ext>
                </p:extLst>
              </p:nvPr>
            </p:nvGraphicFramePr>
            <p:xfrm>
              <a:off x="690871" y="405381"/>
              <a:ext cx="8005433" cy="4166594"/>
            </p:xfrm>
            <a:graphic>
              <a:graphicData uri="http://schemas.openxmlformats.org/drawingml/2006/table">
                <a:tbl>
                  <a:tblPr firstRow="1" firstCol="1" bandRow="1"/>
                  <a:tblGrid>
                    <a:gridCol w="4426661">
                      <a:extLst>
                        <a:ext uri="{9D8B030D-6E8A-4147-A177-3AD203B41FA5}">
                          <a16:colId xmlns:a16="http://schemas.microsoft.com/office/drawing/2014/main" val="20000"/>
                        </a:ext>
                      </a:extLst>
                    </a:gridCol>
                    <a:gridCol w="3578772">
                      <a:extLst>
                        <a:ext uri="{9D8B030D-6E8A-4147-A177-3AD203B41FA5}">
                          <a16:colId xmlns:a16="http://schemas.microsoft.com/office/drawing/2014/main" val="20001"/>
                        </a:ext>
                      </a:extLst>
                    </a:gridCol>
                  </a:tblGrid>
                  <a:tr h="441552">
                    <a:tc gridSpan="2">
                      <a:txBody>
                        <a:bodyPr/>
                        <a:lstStyle/>
                        <a:p>
                          <a:pPr marL="0" marR="0" algn="ctr">
                            <a:spcBef>
                              <a:spcPts val="0"/>
                            </a:spcBef>
                            <a:spcAft>
                              <a:spcPts val="0"/>
                            </a:spcAft>
                          </a:pPr>
                          <a:r>
                            <a:rPr lang="en-US" sz="2000" b="1">
                              <a:solidFill>
                                <a:srgbClr val="000000"/>
                              </a:solidFill>
                              <a:effectLst/>
                              <a:latin typeface="Verdana" charset="0"/>
                              <a:ea typeface="Verdana" charset="0"/>
                              <a:cs typeface="Verdana" charset="0"/>
                            </a:rPr>
                            <a:t>Scenario 2</a:t>
                          </a:r>
                          <a:endParaRPr lang="en-US" sz="2000">
                            <a:effectLst/>
                            <a:latin typeface="Verdana" charset="0"/>
                            <a:ea typeface="Verdana" charset="0"/>
                            <a:cs typeface="Verdana" charset="0"/>
                          </a:endParaRPr>
                        </a:p>
                      </a:txBody>
                      <a:tcPr marL="62253" marR="6225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extLst>
                      <a:ext uri="{0D108BD9-81ED-4DB2-BD59-A6C34878D82A}">
                        <a16:rowId xmlns:a16="http://schemas.microsoft.com/office/drawing/2014/main" val="10000"/>
                      </a:ext>
                    </a:extLst>
                  </a:tr>
                  <a:tr h="3725042">
                    <a:tc>
                      <a:txBody>
                        <a:bodyPr/>
                        <a:lstStyle/>
                        <a:p>
                          <a:endParaRPr lang="en-US"/>
                        </a:p>
                      </a:txBody>
                      <a:tcPr marL="62253" marR="6225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38" t="-11928" r="-81018" b="-490"/>
                          </a:stretch>
                        </a:blipFill>
                      </a:tcPr>
                    </a:tc>
                    <a:tc>
                      <a:txBody>
                        <a:bodyPr/>
                        <a:lstStyle/>
                        <a:p>
                          <a:pPr marL="0" marR="0">
                            <a:spcBef>
                              <a:spcPts val="600"/>
                            </a:spcBef>
                            <a:spcAft>
                              <a:spcPts val="0"/>
                            </a:spcAft>
                          </a:pPr>
                          <a:endParaRPr lang="en-US" sz="2000" dirty="0">
                            <a:solidFill>
                              <a:srgbClr val="000000"/>
                            </a:solidFill>
                            <a:effectLst/>
                            <a:latin typeface="Verdana" charset="0"/>
                            <a:ea typeface="Verdana" charset="0"/>
                            <a:cs typeface="Verdana" charset="0"/>
                          </a:endParaRPr>
                        </a:p>
                        <a:p>
                          <a:pPr marL="0" marR="0" algn="ctr">
                            <a:spcBef>
                              <a:spcPts val="600"/>
                            </a:spcBef>
                            <a:spcAft>
                              <a:spcPts val="0"/>
                            </a:spcAft>
                          </a:pPr>
                          <a:r>
                            <a:rPr lang="en-US" sz="2000" dirty="0">
                              <a:solidFill>
                                <a:srgbClr val="000000"/>
                              </a:solidFill>
                              <a:effectLst/>
                              <a:latin typeface="Verdana" charset="0"/>
                              <a:ea typeface="Verdana" charset="0"/>
                              <a:cs typeface="Verdana" charset="0"/>
                            </a:rPr>
                            <a:t> </a:t>
                          </a:r>
                          <a:endParaRPr lang="en-US" sz="2000" dirty="0">
                            <a:effectLst/>
                            <a:latin typeface="Verdana" charset="0"/>
                            <a:ea typeface="Verdana" charset="0"/>
                            <a:cs typeface="Verdana" charset="0"/>
                          </a:endParaRPr>
                        </a:p>
                      </a:txBody>
                      <a:tcPr marL="62253" marR="6225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Fallback>
      </mc:AlternateContent>
      <p:pic>
        <p:nvPicPr>
          <p:cNvPr id="3074" name="Picture 6"/>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5957904" y="2378568"/>
            <a:ext cx="1842434" cy="1936332"/>
          </a:xfrm>
          <a:prstGeom prst="rect">
            <a:avLst/>
          </a:prstGeom>
          <a:noFill/>
          <a:extLst>
            <a:ext uri="{909E8E84-426E-40DD-AFC4-6F175D3DCCD1}">
              <a14:hiddenFill xmlns:a14="http://schemas.microsoft.com/office/drawing/2010/main">
                <a:solidFill>
                  <a:srgbClr val="FFFFFF"/>
                </a:solidFill>
              </a14:hiddenFill>
            </a:ext>
          </a:extLst>
        </p:spPr>
      </p:pic>
      <p:pic>
        <p:nvPicPr>
          <p:cNvPr id="3073" name="Picture 3"/>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5529018" y="980269"/>
            <a:ext cx="2700206" cy="14414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8534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7701"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77</a:t>
            </a:r>
          </a:p>
        </p:txBody>
      </p:sp>
      <p:sp>
        <p:nvSpPr>
          <p:cNvPr id="14" name="TextBox 13">
            <a:extLst>
              <a:ext uri="{FF2B5EF4-FFF2-40B4-BE49-F238E27FC236}">
                <a16:creationId xmlns:a16="http://schemas.microsoft.com/office/drawing/2014/main" id="{2FA392D8-3ED3-7940-83A8-1451AA8A08D4}"/>
              </a:ext>
            </a:extLst>
          </p:cNvPr>
          <p:cNvSpPr txBox="1"/>
          <p:nvPr/>
        </p:nvSpPr>
        <p:spPr>
          <a:xfrm>
            <a:off x="540565" y="520394"/>
            <a:ext cx="8327136" cy="1015663"/>
          </a:xfrm>
          <a:prstGeom prst="rect">
            <a:avLst/>
          </a:prstGeom>
          <a:noFill/>
        </p:spPr>
        <p:txBody>
          <a:bodyPr wrap="square" rtlCol="0">
            <a:spAutoFit/>
          </a:bodyPr>
          <a:lstStyle/>
          <a:p>
            <a:pPr marL="457200" indent="-457200">
              <a:buFont typeface="+mj-lt"/>
              <a:buAutoNum type="arabicPeriod" startAt="2"/>
            </a:pPr>
            <a:r>
              <a:rPr lang="en-US" sz="2000" dirty="0">
                <a:latin typeface="Verdana" charset="0"/>
                <a:ea typeface="Verdana" charset="0"/>
                <a:cs typeface="Verdana" charset="0"/>
              </a:rPr>
              <a:t>Discuss with your partner how the volumes will compare. Summarize your findings in the box below and have your partner initial that your summary is correct.</a:t>
            </a:r>
          </a:p>
        </p:txBody>
      </p:sp>
      <p:graphicFrame>
        <p:nvGraphicFramePr>
          <p:cNvPr id="2" name="Table 1"/>
          <p:cNvGraphicFramePr>
            <a:graphicFrameLocks noGrp="1"/>
          </p:cNvGraphicFramePr>
          <p:nvPr>
            <p:extLst>
              <p:ext uri="{D42A27DB-BD31-4B8C-83A1-F6EECF244321}">
                <p14:modId xmlns:p14="http://schemas.microsoft.com/office/powerpoint/2010/main" val="1575926323"/>
              </p:ext>
            </p:extLst>
          </p:nvPr>
        </p:nvGraphicFramePr>
        <p:xfrm>
          <a:off x="1282118" y="1978896"/>
          <a:ext cx="6844030" cy="3443605"/>
        </p:xfrm>
        <a:graphic>
          <a:graphicData uri="http://schemas.openxmlformats.org/drawingml/2006/table">
            <a:tbl>
              <a:tblPr firstRow="1" firstCol="1" bandRow="1"/>
              <a:tblGrid>
                <a:gridCol w="5086350">
                  <a:extLst>
                    <a:ext uri="{9D8B030D-6E8A-4147-A177-3AD203B41FA5}">
                      <a16:colId xmlns:a16="http://schemas.microsoft.com/office/drawing/2014/main" val="20000"/>
                    </a:ext>
                  </a:extLst>
                </a:gridCol>
                <a:gridCol w="1757680">
                  <a:extLst>
                    <a:ext uri="{9D8B030D-6E8A-4147-A177-3AD203B41FA5}">
                      <a16:colId xmlns:a16="http://schemas.microsoft.com/office/drawing/2014/main" val="20001"/>
                    </a:ext>
                  </a:extLst>
                </a:gridCol>
              </a:tblGrid>
              <a:tr h="410845">
                <a:tc>
                  <a:txBody>
                    <a:bodyPr/>
                    <a:lstStyle/>
                    <a:p>
                      <a:pPr marL="0" marR="0" algn="ctr">
                        <a:spcBef>
                          <a:spcPts val="0"/>
                        </a:spcBef>
                        <a:spcAft>
                          <a:spcPts val="800"/>
                        </a:spcAft>
                      </a:pPr>
                      <a:r>
                        <a:rPr lang="en-US" sz="2000" b="1">
                          <a:solidFill>
                            <a:srgbClr val="000000"/>
                          </a:solidFill>
                          <a:effectLst/>
                          <a:latin typeface="Verdana" charset="0"/>
                          <a:ea typeface="Times New Roman" charset="0"/>
                        </a:rPr>
                        <a:t>Summary</a:t>
                      </a:r>
                      <a:endParaRPr lang="en-US" sz="1400">
                        <a:effectLst/>
                        <a:latin typeface="Cambria" charset="0"/>
                        <a:ea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800"/>
                        </a:spcAft>
                      </a:pPr>
                      <a:r>
                        <a:rPr lang="en-US" sz="2000" b="1">
                          <a:solidFill>
                            <a:srgbClr val="000000"/>
                          </a:solidFill>
                          <a:effectLst/>
                          <a:latin typeface="Verdana" charset="0"/>
                          <a:ea typeface="Times New Roman" charset="0"/>
                        </a:rPr>
                        <a:t>Partner’s Initials</a:t>
                      </a:r>
                      <a:endParaRPr lang="en-US" sz="1400">
                        <a:effectLst/>
                        <a:latin typeface="Cambria" charset="0"/>
                        <a:ea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2834005">
                <a:tc>
                  <a:txBody>
                    <a:bodyPr/>
                    <a:lstStyle/>
                    <a:p>
                      <a:pPr marL="0" marR="0" algn="ctr">
                        <a:spcBef>
                          <a:spcPts val="0"/>
                        </a:spcBef>
                        <a:spcAft>
                          <a:spcPts val="800"/>
                        </a:spcAft>
                      </a:pPr>
                      <a:r>
                        <a:rPr lang="en-US" sz="2000" dirty="0">
                          <a:solidFill>
                            <a:srgbClr val="000000"/>
                          </a:solidFill>
                          <a:effectLst/>
                          <a:latin typeface="Verdana" charset="0"/>
                          <a:ea typeface="Times New Roman" charset="0"/>
                        </a:rPr>
                        <a:t> </a:t>
                      </a:r>
                      <a:endParaRPr lang="en-US" sz="1400" dirty="0">
                        <a:effectLst/>
                        <a:latin typeface="Cambria" charset="0"/>
                        <a:ea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800"/>
                        </a:spcAft>
                      </a:pPr>
                      <a:r>
                        <a:rPr lang="en-US" sz="2000" dirty="0">
                          <a:solidFill>
                            <a:srgbClr val="000000"/>
                          </a:solidFill>
                          <a:effectLst/>
                          <a:latin typeface="Verdana" charset="0"/>
                          <a:ea typeface="Times New Roman" charset="0"/>
                        </a:rPr>
                        <a:t> </a:t>
                      </a:r>
                      <a:endParaRPr lang="en-US" sz="1400" dirty="0">
                        <a:effectLst/>
                        <a:latin typeface="Cambria" charset="0"/>
                        <a:ea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06359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7637" y="-85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78</a:t>
            </a: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4121543459"/>
                  </p:ext>
                </p:extLst>
              </p:nvPr>
            </p:nvGraphicFramePr>
            <p:xfrm>
              <a:off x="628505" y="510301"/>
              <a:ext cx="7949634" cy="5181600"/>
            </p:xfrm>
            <a:graphic>
              <a:graphicData uri="http://schemas.openxmlformats.org/drawingml/2006/table">
                <a:tbl>
                  <a:tblPr firstRow="1" firstCol="1" bandRow="1"/>
                  <a:tblGrid>
                    <a:gridCol w="3993373">
                      <a:extLst>
                        <a:ext uri="{9D8B030D-6E8A-4147-A177-3AD203B41FA5}">
                          <a16:colId xmlns:a16="http://schemas.microsoft.com/office/drawing/2014/main" val="20000"/>
                        </a:ext>
                      </a:extLst>
                    </a:gridCol>
                    <a:gridCol w="3956261">
                      <a:extLst>
                        <a:ext uri="{9D8B030D-6E8A-4147-A177-3AD203B41FA5}">
                          <a16:colId xmlns:a16="http://schemas.microsoft.com/office/drawing/2014/main" val="20001"/>
                        </a:ext>
                      </a:extLst>
                    </a:gridCol>
                  </a:tblGrid>
                  <a:tr h="255961">
                    <a:tc gridSpan="2">
                      <a:txBody>
                        <a:bodyPr/>
                        <a:lstStyle/>
                        <a:p>
                          <a:pPr marL="0" marR="0" algn="ctr">
                            <a:spcBef>
                              <a:spcPts val="600"/>
                            </a:spcBef>
                            <a:spcAft>
                              <a:spcPts val="600"/>
                            </a:spcAft>
                          </a:pPr>
                          <a:r>
                            <a:rPr lang="en-US" sz="2000" b="1">
                              <a:solidFill>
                                <a:srgbClr val="000000"/>
                              </a:solidFill>
                              <a:effectLst/>
                              <a:latin typeface="Verdana" charset="0"/>
                              <a:ea typeface="Verdana" charset="0"/>
                              <a:cs typeface="Verdana" charset="0"/>
                            </a:rPr>
                            <a:t>Scenario 3</a:t>
                          </a:r>
                          <a:endParaRPr lang="en-US" sz="2000">
                            <a:effectLst/>
                            <a:latin typeface="Verdana" charset="0"/>
                            <a:ea typeface="Verdana" charset="0"/>
                            <a:cs typeface="Verdana" charset="0"/>
                          </a:endParaRPr>
                        </a:p>
                      </a:txBody>
                      <a:tcPr marL="63990" marR="6399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extLst>
                      <a:ext uri="{0D108BD9-81ED-4DB2-BD59-A6C34878D82A}">
                        <a16:rowId xmlns:a16="http://schemas.microsoft.com/office/drawing/2014/main" val="10000"/>
                      </a:ext>
                    </a:extLst>
                  </a:tr>
                  <a:tr h="4095377">
                    <a:tc>
                      <a:txBody>
                        <a:bodyPr/>
                        <a:lstStyle/>
                        <a:p>
                          <a:pPr marL="0" marR="0">
                            <a:spcBef>
                              <a:spcPts val="0"/>
                            </a:spcBef>
                            <a:spcAft>
                              <a:spcPts val="0"/>
                            </a:spcAft>
                          </a:pPr>
                          <a:r>
                            <a:rPr lang="en-US" sz="2000" dirty="0">
                              <a:solidFill>
                                <a:srgbClr val="000000"/>
                              </a:solidFill>
                              <a:effectLst/>
                              <a:latin typeface="Verdana" charset="0"/>
                              <a:ea typeface="Verdana" charset="0"/>
                              <a:cs typeface="Verdana" charset="0"/>
                            </a:rPr>
                            <a:t>ABC ice cream shop decided to run a special for the week and they’re offering two serving options for you to choose from. Option 1 is a cone with a circular base that has an area of </a:t>
                          </a:r>
                          <a14:m>
                            <m:oMath xmlns:m="http://schemas.openxmlformats.org/officeDocument/2006/math">
                              <m:r>
                                <a:rPr lang="en-US" sz="2000" i="1">
                                  <a:solidFill>
                                    <a:srgbClr val="000000"/>
                                  </a:solidFill>
                                  <a:effectLst/>
                                  <a:latin typeface="Cambria Math" charset="0"/>
                                  <a:ea typeface="Verdana" charset="0"/>
                                  <a:cs typeface="Verdana" charset="0"/>
                                </a:rPr>
                                <m:t>4</m:t>
                              </m:r>
                              <m:r>
                                <a:rPr lang="en-US" sz="2000" i="1">
                                  <a:solidFill>
                                    <a:srgbClr val="000000"/>
                                  </a:solidFill>
                                  <a:effectLst/>
                                  <a:latin typeface="Cambria Math" charset="0"/>
                                  <a:ea typeface="Verdana" charset="0"/>
                                  <a:cs typeface="Verdana" charset="0"/>
                                </a:rPr>
                                <m:t>𝜋</m:t>
                              </m:r>
                            </m:oMath>
                          </a14:m>
                          <a:r>
                            <a:rPr lang="en-US" sz="2000" dirty="0">
                              <a:solidFill>
                                <a:srgbClr val="000000"/>
                              </a:solidFill>
                              <a:effectLst/>
                              <a:latin typeface="Verdana" charset="0"/>
                              <a:ea typeface="Verdana" charset="0"/>
                              <a:cs typeface="Verdana" charset="0"/>
                            </a:rPr>
                            <a:t> square inches and a height of </a:t>
                          </a:r>
                          <a14:m>
                            <m:oMath xmlns:m="http://schemas.openxmlformats.org/officeDocument/2006/math">
                              <m:r>
                                <a:rPr lang="en-US" sz="2000" i="1">
                                  <a:solidFill>
                                    <a:srgbClr val="000000"/>
                                  </a:solidFill>
                                  <a:effectLst/>
                                  <a:latin typeface="Cambria Math" charset="0"/>
                                  <a:ea typeface="Verdana" charset="0"/>
                                  <a:cs typeface="Verdana" charset="0"/>
                                </a:rPr>
                                <m:t>4</m:t>
                              </m:r>
                            </m:oMath>
                          </a14:m>
                          <a:r>
                            <a:rPr lang="en-US" sz="2000" dirty="0">
                              <a:solidFill>
                                <a:srgbClr val="000000"/>
                              </a:solidFill>
                              <a:effectLst/>
                              <a:latin typeface="Verdana" charset="0"/>
                              <a:ea typeface="Verdana" charset="0"/>
                              <a:cs typeface="Verdana" charset="0"/>
                            </a:rPr>
                            <a:t> inches. Option 2 is a triangular pyramid container with a base of </a:t>
                          </a:r>
                          <a14:m>
                            <m:oMath xmlns:m="http://schemas.openxmlformats.org/officeDocument/2006/math">
                              <m:r>
                                <a:rPr lang="en-US" sz="2000" i="1">
                                  <a:solidFill>
                                    <a:srgbClr val="000000"/>
                                  </a:solidFill>
                                  <a:effectLst/>
                                  <a:latin typeface="Cambria Math" charset="0"/>
                                  <a:ea typeface="Verdana" charset="0"/>
                                  <a:cs typeface="Verdana" charset="0"/>
                                </a:rPr>
                                <m:t>4</m:t>
                              </m:r>
                              <m:r>
                                <a:rPr lang="en-US" sz="2000" i="1">
                                  <a:solidFill>
                                    <a:srgbClr val="000000"/>
                                  </a:solidFill>
                                  <a:effectLst/>
                                  <a:latin typeface="Cambria Math" charset="0"/>
                                  <a:ea typeface="Verdana" charset="0"/>
                                  <a:cs typeface="Verdana" charset="0"/>
                                </a:rPr>
                                <m:t>𝜋</m:t>
                              </m:r>
                            </m:oMath>
                          </a14:m>
                          <a:r>
                            <a:rPr lang="en-US" sz="2000" dirty="0">
                              <a:solidFill>
                                <a:srgbClr val="000000"/>
                              </a:solidFill>
                              <a:effectLst/>
                              <a:latin typeface="Verdana" charset="0"/>
                              <a:ea typeface="Verdana" charset="0"/>
                              <a:cs typeface="Verdana" charset="0"/>
                            </a:rPr>
                            <a:t> square inches and a height of </a:t>
                          </a:r>
                          <a14:m>
                            <m:oMath xmlns:m="http://schemas.openxmlformats.org/officeDocument/2006/math">
                              <m:r>
                                <a:rPr lang="en-US" sz="2000" i="1">
                                  <a:solidFill>
                                    <a:srgbClr val="000000"/>
                                  </a:solidFill>
                                  <a:effectLst/>
                                  <a:latin typeface="Cambria Math" charset="0"/>
                                  <a:ea typeface="Verdana" charset="0"/>
                                  <a:cs typeface="Verdana" charset="0"/>
                                </a:rPr>
                                <m:t>4</m:t>
                              </m:r>
                            </m:oMath>
                          </a14:m>
                          <a:r>
                            <a:rPr lang="en-US" sz="2000" dirty="0">
                              <a:solidFill>
                                <a:srgbClr val="000000"/>
                              </a:solidFill>
                              <a:effectLst/>
                              <a:latin typeface="Verdana" charset="0"/>
                              <a:ea typeface="Verdana" charset="0"/>
                              <a:cs typeface="Verdana" charset="0"/>
                            </a:rPr>
                            <a:t> inches. The base of each option is shown.</a:t>
                          </a:r>
                          <a:endParaRPr lang="en-US" sz="2000" dirty="0">
                            <a:effectLst/>
                            <a:latin typeface="Verdana" charset="0"/>
                            <a:ea typeface="Verdana" charset="0"/>
                            <a:cs typeface="Verdana" charset="0"/>
                          </a:endParaRPr>
                        </a:p>
                        <a:p>
                          <a:pPr marL="0" marR="0">
                            <a:spcBef>
                              <a:spcPts val="0"/>
                            </a:spcBef>
                            <a:spcAft>
                              <a:spcPts val="0"/>
                            </a:spcAft>
                          </a:pPr>
                          <a:r>
                            <a:rPr lang="en-US" sz="2000" dirty="0">
                              <a:solidFill>
                                <a:srgbClr val="000000"/>
                              </a:solidFill>
                              <a:effectLst/>
                              <a:latin typeface="Verdana" charset="0"/>
                              <a:ea typeface="Verdana" charset="0"/>
                              <a:cs typeface="Verdana" charset="0"/>
                            </a:rPr>
                            <a:t> </a:t>
                          </a:r>
                          <a:endParaRPr lang="en-US" sz="2000" dirty="0">
                            <a:effectLst/>
                            <a:latin typeface="Verdana" charset="0"/>
                            <a:ea typeface="Verdana" charset="0"/>
                            <a:cs typeface="Verdana" charset="0"/>
                          </a:endParaRPr>
                        </a:p>
                        <a:p>
                          <a:pPr marL="0" marR="0">
                            <a:spcBef>
                              <a:spcPts val="0"/>
                            </a:spcBef>
                            <a:spcAft>
                              <a:spcPts val="0"/>
                            </a:spcAft>
                          </a:pPr>
                          <a:r>
                            <a:rPr lang="en-US" sz="2000" dirty="0">
                              <a:solidFill>
                                <a:srgbClr val="000000"/>
                              </a:solidFill>
                              <a:effectLst/>
                              <a:latin typeface="Verdana" charset="0"/>
                              <a:ea typeface="Verdana" charset="0"/>
                              <a:cs typeface="Verdana" charset="0"/>
                            </a:rPr>
                            <a:t> </a:t>
                          </a:r>
                          <a:endParaRPr lang="en-US" sz="2000" dirty="0">
                            <a:effectLst/>
                            <a:latin typeface="Verdana" charset="0"/>
                            <a:ea typeface="Verdana" charset="0"/>
                            <a:cs typeface="Verdana" charset="0"/>
                          </a:endParaRPr>
                        </a:p>
                      </a:txBody>
                      <a:tcPr marL="63990" marR="639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endParaRPr lang="en-US" sz="2000" dirty="0">
                            <a:solidFill>
                              <a:srgbClr val="000000"/>
                            </a:solidFill>
                            <a:effectLst/>
                            <a:latin typeface="Verdana" charset="0"/>
                            <a:ea typeface="Verdana" charset="0"/>
                            <a:cs typeface="Verdana" charset="0"/>
                          </a:endParaRPr>
                        </a:p>
                      </a:txBody>
                      <a:tcPr marL="63990" marR="639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4121543459"/>
                  </p:ext>
                </p:extLst>
              </p:nvPr>
            </p:nvGraphicFramePr>
            <p:xfrm>
              <a:off x="628505" y="510301"/>
              <a:ext cx="7949634" cy="5181600"/>
            </p:xfrm>
            <a:graphic>
              <a:graphicData uri="http://schemas.openxmlformats.org/drawingml/2006/table">
                <a:tbl>
                  <a:tblPr firstRow="1" firstCol="1" bandRow="1"/>
                  <a:tblGrid>
                    <a:gridCol w="3993373">
                      <a:extLst>
                        <a:ext uri="{9D8B030D-6E8A-4147-A177-3AD203B41FA5}">
                          <a16:colId xmlns:a16="http://schemas.microsoft.com/office/drawing/2014/main" val="20000"/>
                        </a:ext>
                      </a:extLst>
                    </a:gridCol>
                    <a:gridCol w="3956261">
                      <a:extLst>
                        <a:ext uri="{9D8B030D-6E8A-4147-A177-3AD203B41FA5}">
                          <a16:colId xmlns:a16="http://schemas.microsoft.com/office/drawing/2014/main" val="20001"/>
                        </a:ext>
                      </a:extLst>
                    </a:gridCol>
                  </a:tblGrid>
                  <a:tr h="304800">
                    <a:tc gridSpan="2">
                      <a:txBody>
                        <a:bodyPr/>
                        <a:lstStyle/>
                        <a:p>
                          <a:pPr marL="0" marR="0" algn="ctr">
                            <a:spcBef>
                              <a:spcPts val="600"/>
                            </a:spcBef>
                            <a:spcAft>
                              <a:spcPts val="600"/>
                            </a:spcAft>
                          </a:pPr>
                          <a:r>
                            <a:rPr lang="en-US" sz="2000" b="1">
                              <a:solidFill>
                                <a:srgbClr val="000000"/>
                              </a:solidFill>
                              <a:effectLst/>
                              <a:latin typeface="Verdana" charset="0"/>
                              <a:ea typeface="Verdana" charset="0"/>
                              <a:cs typeface="Verdana" charset="0"/>
                            </a:rPr>
                            <a:t>Scenario 3</a:t>
                          </a:r>
                          <a:endParaRPr lang="en-US" sz="2000">
                            <a:effectLst/>
                            <a:latin typeface="Verdana" charset="0"/>
                            <a:ea typeface="Verdana" charset="0"/>
                            <a:cs typeface="Verdana" charset="0"/>
                          </a:endParaRPr>
                        </a:p>
                      </a:txBody>
                      <a:tcPr marL="63990" marR="6399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extLst>
                      <a:ext uri="{0D108BD9-81ED-4DB2-BD59-A6C34878D82A}">
                        <a16:rowId xmlns:a16="http://schemas.microsoft.com/office/drawing/2014/main" val="10000"/>
                      </a:ext>
                    </a:extLst>
                  </a:tr>
                  <a:tr h="4876800">
                    <a:tc>
                      <a:txBody>
                        <a:bodyPr/>
                        <a:lstStyle/>
                        <a:p>
                          <a:endParaRPr lang="en-US"/>
                        </a:p>
                      </a:txBody>
                      <a:tcPr marL="63990" marR="639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52" t="-7740" r="-99238" b="-250"/>
                          </a:stretch>
                        </a:blipFill>
                      </a:tcPr>
                    </a:tc>
                    <a:tc>
                      <a:txBody>
                        <a:bodyPr/>
                        <a:lstStyle/>
                        <a:p>
                          <a:pPr marL="0" marR="0">
                            <a:spcBef>
                              <a:spcPts val="600"/>
                            </a:spcBef>
                            <a:spcAft>
                              <a:spcPts val="600"/>
                            </a:spcAft>
                          </a:pPr>
                          <a:endParaRPr lang="en-US" sz="2000" dirty="0">
                            <a:solidFill>
                              <a:srgbClr val="000000"/>
                            </a:solidFill>
                            <a:effectLst/>
                            <a:latin typeface="Verdana" charset="0"/>
                            <a:ea typeface="Verdana" charset="0"/>
                            <a:cs typeface="Verdana" charset="0"/>
                          </a:endParaRPr>
                        </a:p>
                      </a:txBody>
                      <a:tcPr marL="63990" marR="639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Fallback>
      </mc:AlternateContent>
      <p:sp>
        <p:nvSpPr>
          <p:cNvPr id="7" name="Triangle 6"/>
          <p:cNvSpPr/>
          <p:nvPr/>
        </p:nvSpPr>
        <p:spPr>
          <a:xfrm>
            <a:off x="5550343" y="3373357"/>
            <a:ext cx="2071688" cy="2046288"/>
          </a:xfrm>
          <a:prstGeom prst="triangle">
            <a:avLst/>
          </a:prstGeom>
          <a:solidFill>
            <a:schemeClr val="accent2">
              <a:lumMod val="60000"/>
              <a:lumOff val="40000"/>
            </a:schemeClr>
          </a:solidFill>
          <a:ln w="28575">
            <a:solidFill>
              <a:schemeClr val="tx1"/>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 name="Oval 7"/>
          <p:cNvSpPr/>
          <p:nvPr/>
        </p:nvSpPr>
        <p:spPr>
          <a:xfrm>
            <a:off x="5508275" y="978615"/>
            <a:ext cx="2155825" cy="2122487"/>
          </a:xfrm>
          <a:prstGeom prst="ellipse">
            <a:avLst/>
          </a:prstGeom>
          <a:solidFill>
            <a:schemeClr val="accent1">
              <a:lumMod val="40000"/>
              <a:lumOff val="60000"/>
            </a:schemeClr>
          </a:solidFill>
          <a:ln w="28575">
            <a:solidFill>
              <a:schemeClr val="tx1"/>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7632843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7701"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78</a:t>
            </a:r>
          </a:p>
        </p:txBody>
      </p:sp>
      <p:sp>
        <p:nvSpPr>
          <p:cNvPr id="14" name="TextBox 13">
            <a:extLst>
              <a:ext uri="{FF2B5EF4-FFF2-40B4-BE49-F238E27FC236}">
                <a16:creationId xmlns:a16="http://schemas.microsoft.com/office/drawing/2014/main" id="{2FA392D8-3ED3-7940-83A8-1451AA8A08D4}"/>
              </a:ext>
            </a:extLst>
          </p:cNvPr>
          <p:cNvSpPr txBox="1"/>
          <p:nvPr/>
        </p:nvSpPr>
        <p:spPr>
          <a:xfrm>
            <a:off x="540564" y="520394"/>
            <a:ext cx="10520725" cy="1015663"/>
          </a:xfrm>
          <a:prstGeom prst="rect">
            <a:avLst/>
          </a:prstGeom>
          <a:noFill/>
        </p:spPr>
        <p:txBody>
          <a:bodyPr wrap="square" rtlCol="0">
            <a:spAutoFit/>
          </a:bodyPr>
          <a:lstStyle/>
          <a:p>
            <a:pPr marL="457200" indent="-457200">
              <a:buFont typeface="+mj-lt"/>
              <a:buAutoNum type="arabicPeriod" startAt="3"/>
            </a:pPr>
            <a:r>
              <a:rPr lang="en-US" sz="2000" dirty="0">
                <a:latin typeface="Verdana" charset="0"/>
                <a:ea typeface="Verdana" charset="0"/>
                <a:cs typeface="Verdana" charset="0"/>
              </a:rPr>
              <a:t>Discuss with your partner how the volumes will compare to one another. Summarize your findings in the box below and have your partner initial that your summary is correct.</a:t>
            </a:r>
          </a:p>
        </p:txBody>
      </p:sp>
      <p:graphicFrame>
        <p:nvGraphicFramePr>
          <p:cNvPr id="2" name="Table 1"/>
          <p:cNvGraphicFramePr>
            <a:graphicFrameLocks noGrp="1"/>
          </p:cNvGraphicFramePr>
          <p:nvPr>
            <p:extLst>
              <p:ext uri="{D42A27DB-BD31-4B8C-83A1-F6EECF244321}">
                <p14:modId xmlns:p14="http://schemas.microsoft.com/office/powerpoint/2010/main" val="1894848656"/>
              </p:ext>
            </p:extLst>
          </p:nvPr>
        </p:nvGraphicFramePr>
        <p:xfrm>
          <a:off x="1282118" y="1672181"/>
          <a:ext cx="6844030" cy="4392295"/>
        </p:xfrm>
        <a:graphic>
          <a:graphicData uri="http://schemas.openxmlformats.org/drawingml/2006/table">
            <a:tbl>
              <a:tblPr firstRow="1" firstCol="1" bandRow="1"/>
              <a:tblGrid>
                <a:gridCol w="5200650">
                  <a:extLst>
                    <a:ext uri="{9D8B030D-6E8A-4147-A177-3AD203B41FA5}">
                      <a16:colId xmlns:a16="http://schemas.microsoft.com/office/drawing/2014/main" val="20000"/>
                    </a:ext>
                  </a:extLst>
                </a:gridCol>
                <a:gridCol w="1643380">
                  <a:extLst>
                    <a:ext uri="{9D8B030D-6E8A-4147-A177-3AD203B41FA5}">
                      <a16:colId xmlns:a16="http://schemas.microsoft.com/office/drawing/2014/main" val="20001"/>
                    </a:ext>
                  </a:extLst>
                </a:gridCol>
              </a:tblGrid>
              <a:tr h="410845">
                <a:tc>
                  <a:txBody>
                    <a:bodyPr/>
                    <a:lstStyle/>
                    <a:p>
                      <a:pPr marL="0" marR="0" algn="ctr">
                        <a:spcBef>
                          <a:spcPts val="0"/>
                        </a:spcBef>
                        <a:spcAft>
                          <a:spcPts val="0"/>
                        </a:spcAft>
                      </a:pPr>
                      <a:r>
                        <a:rPr lang="en-US" sz="2000" b="1">
                          <a:solidFill>
                            <a:srgbClr val="000000"/>
                          </a:solidFill>
                          <a:effectLst/>
                          <a:latin typeface="Verdana" charset="0"/>
                          <a:ea typeface="Times New Roman" charset="0"/>
                        </a:rPr>
                        <a:t>Summary</a:t>
                      </a:r>
                      <a:endParaRPr lang="en-US" sz="1400">
                        <a:effectLst/>
                        <a:latin typeface="Cambria" charset="0"/>
                        <a:ea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charset="0"/>
                          <a:ea typeface="Times New Roman" charset="0"/>
                        </a:rPr>
                        <a:t>Partner’s Initials</a:t>
                      </a:r>
                      <a:endParaRPr lang="en-US" sz="1400">
                        <a:effectLst/>
                        <a:latin typeface="Cambria" charset="0"/>
                        <a:ea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3782695">
                <a:tc>
                  <a:txBody>
                    <a:bodyPr/>
                    <a:lstStyle/>
                    <a:p>
                      <a:pPr marL="0" marR="0" algn="ctr">
                        <a:spcBef>
                          <a:spcPts val="0"/>
                        </a:spcBef>
                        <a:spcAft>
                          <a:spcPts val="800"/>
                        </a:spcAft>
                      </a:pPr>
                      <a:r>
                        <a:rPr lang="en-US" sz="2000" dirty="0">
                          <a:solidFill>
                            <a:srgbClr val="000000"/>
                          </a:solidFill>
                          <a:effectLst/>
                          <a:latin typeface="Verdana" charset="0"/>
                          <a:ea typeface="Times New Roman" charset="0"/>
                        </a:rPr>
                        <a:t> </a:t>
                      </a:r>
                      <a:endParaRPr lang="en-US" sz="1400" dirty="0">
                        <a:effectLst/>
                        <a:latin typeface="Cambria" charset="0"/>
                        <a:ea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800"/>
                        </a:spcAft>
                      </a:pPr>
                      <a:r>
                        <a:rPr lang="en-US" sz="2000" dirty="0">
                          <a:solidFill>
                            <a:srgbClr val="000000"/>
                          </a:solidFill>
                          <a:effectLst/>
                          <a:latin typeface="Verdana" charset="0"/>
                          <a:ea typeface="Times New Roman" charset="0"/>
                        </a:rPr>
                        <a:t> </a:t>
                      </a:r>
                      <a:endParaRPr lang="en-US" sz="1400" dirty="0">
                        <a:effectLst/>
                        <a:latin typeface="Cambria" charset="0"/>
                        <a:ea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6898733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4">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78</a:t>
            </a:r>
          </a:p>
        </p:txBody>
      </p:sp>
    </p:spTree>
    <p:extLst>
      <p:ext uri="{BB962C8B-B14F-4D97-AF65-F5344CB8AC3E}">
        <p14:creationId xmlns:p14="http://schemas.microsoft.com/office/powerpoint/2010/main" val="8850353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052649" y="-85979"/>
            <a:ext cx="850430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9.5.3 Guided Instruction: </a:t>
            </a:r>
            <a:r>
              <a:rPr lang="en-US" sz="3600" b="1" dirty="0" err="1">
                <a:solidFill>
                  <a:srgbClr val="54B5D1"/>
                </a:solidFill>
                <a:latin typeface="Verdana"/>
                <a:ea typeface="Verdana"/>
                <a:cs typeface="Verdana"/>
                <a:sym typeface="Verdana"/>
              </a:rPr>
              <a:t>Cavalieri’s</a:t>
            </a:r>
            <a:r>
              <a:rPr lang="en-US" sz="3600" b="1" dirty="0">
                <a:solidFill>
                  <a:srgbClr val="54B5D1"/>
                </a:solidFill>
                <a:latin typeface="Verdana"/>
                <a:ea typeface="Verdana"/>
                <a:cs typeface="Verdana"/>
                <a:sym typeface="Verdana"/>
              </a:rPr>
              <a:t> Principle</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4">
            <a:alphaModFix/>
          </a:blip>
          <a:srcRect/>
          <a:stretch/>
        </p:blipFill>
        <p:spPr>
          <a:xfrm>
            <a:off x="305350" y="121285"/>
            <a:ext cx="747300" cy="747300"/>
          </a:xfrm>
          <a:prstGeom prst="rect">
            <a:avLst/>
          </a:prstGeom>
          <a:noFill/>
          <a:ln>
            <a:noFill/>
          </a:ln>
          <a:effectLst>
            <a:outerShdw blurRad="50800" dist="38100" dir="2700000" algn="tl" rotWithShape="0">
              <a:prstClr val="black">
                <a:alpha val="40000"/>
              </a:prstClr>
            </a:outerShdw>
          </a:effectLst>
        </p:spPr>
      </p:pic>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78</a:t>
            </a:r>
          </a:p>
        </p:txBody>
      </p:sp>
      <p:sp>
        <p:nvSpPr>
          <p:cNvPr id="8" name="Text Box 24"/>
          <p:cNvSpPr txBox="1"/>
          <p:nvPr/>
        </p:nvSpPr>
        <p:spPr>
          <a:xfrm>
            <a:off x="1465116" y="1508954"/>
            <a:ext cx="6629400" cy="2542784"/>
          </a:xfrm>
          <a:prstGeom prst="roundRect">
            <a:avLst/>
          </a:prstGeom>
          <a:solidFill>
            <a:srgbClr val="B6E6F5"/>
          </a:solidFill>
          <a:ln>
            <a:noFill/>
          </a:ln>
          <a:effectLst>
            <a:outerShdw blurRad="50800" dist="762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r>
              <a:rPr lang="en-US" sz="2000" b="1" dirty="0">
                <a:solidFill>
                  <a:srgbClr val="417DBF"/>
                </a:solidFill>
                <a:latin typeface="Verdana" charset="0"/>
                <a:ea typeface="Verdana" charset="0"/>
                <a:cs typeface="Verdana" charset="0"/>
              </a:rPr>
              <a:t>	</a:t>
            </a:r>
            <a:r>
              <a:rPr lang="en-US" sz="2000" b="1" dirty="0" err="1">
                <a:solidFill>
                  <a:srgbClr val="417DBF"/>
                </a:solidFill>
                <a:latin typeface="Verdana" charset="0"/>
                <a:ea typeface="Verdana" charset="0"/>
                <a:cs typeface="Verdana" charset="0"/>
              </a:rPr>
              <a:t>Cavalieri’s</a:t>
            </a:r>
            <a:r>
              <a:rPr lang="en-US" sz="2000" b="1" dirty="0">
                <a:solidFill>
                  <a:srgbClr val="417DBF"/>
                </a:solidFill>
                <a:latin typeface="Verdana" charset="0"/>
                <a:ea typeface="Verdana" charset="0"/>
                <a:cs typeface="Verdana" charset="0"/>
              </a:rPr>
              <a:t> Principle for Three-	Dimensional Solids</a:t>
            </a:r>
            <a:endParaRPr lang="en-US" sz="2000" dirty="0">
              <a:solidFill>
                <a:srgbClr val="417DBF"/>
              </a:solidFill>
              <a:latin typeface="Verdana" charset="0"/>
              <a:ea typeface="Verdana" charset="0"/>
              <a:cs typeface="Verdana" charset="0"/>
            </a:endParaRPr>
          </a:p>
          <a:p>
            <a:r>
              <a:rPr lang="en-US" sz="2000" dirty="0">
                <a:solidFill>
                  <a:srgbClr val="417DBF"/>
                </a:solidFill>
                <a:latin typeface="Verdana" charset="0"/>
                <a:ea typeface="Verdana" charset="0"/>
                <a:cs typeface="Verdana" charset="0"/>
              </a:rPr>
              <a:t>	If every plane parallel to the two bases 	of two solids results in cross sections of 	equal area and the two solids have 	congruent altitudes, then the solids have 	equal volumes.</a:t>
            </a:r>
          </a:p>
        </p:txBody>
      </p:sp>
      <p:pic>
        <p:nvPicPr>
          <p:cNvPr id="10" name="Picture 9"/>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737137" y="1731393"/>
            <a:ext cx="542544" cy="530352"/>
          </a:xfrm>
          <a:prstGeom prst="rect">
            <a:avLst/>
          </a:prstGeom>
          <a:effectLst>
            <a:outerShdw blurRad="50800" dist="76200" dir="2700000" algn="tl" rotWithShape="0">
              <a:prstClr val="black">
                <a:alpha val="40000"/>
              </a:prstClr>
            </a:outerShdw>
          </a:effectLst>
        </p:spPr>
      </p:pic>
    </p:spTree>
    <p:extLst>
      <p:ext uri="{BB962C8B-B14F-4D97-AF65-F5344CB8AC3E}">
        <p14:creationId xmlns:p14="http://schemas.microsoft.com/office/powerpoint/2010/main" val="3469310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5692225" y="387074"/>
            <a:ext cx="4737100" cy="6070600"/>
          </a:xfrm>
          <a:prstGeom prst="rect">
            <a:avLst/>
          </a:prstGeom>
        </p:spPr>
      </p:pic>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11961"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73735"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78</a:t>
            </a:r>
          </a:p>
        </p:txBody>
      </p:sp>
      <p:sp>
        <p:nvSpPr>
          <p:cNvPr id="14" name="TextBox 13">
            <a:extLst>
              <a:ext uri="{FF2B5EF4-FFF2-40B4-BE49-F238E27FC236}">
                <a16:creationId xmlns:a16="http://schemas.microsoft.com/office/drawing/2014/main" id="{2FA392D8-3ED3-7940-83A8-1451AA8A08D4}"/>
              </a:ext>
            </a:extLst>
          </p:cNvPr>
          <p:cNvSpPr txBox="1"/>
          <p:nvPr/>
        </p:nvSpPr>
        <p:spPr>
          <a:xfrm>
            <a:off x="540566" y="520394"/>
            <a:ext cx="4872092" cy="1323439"/>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Using </a:t>
            </a:r>
            <a:r>
              <a:rPr lang="en-US" sz="2000" dirty="0" err="1">
                <a:latin typeface="Verdana" charset="0"/>
                <a:ea typeface="Verdana" charset="0"/>
                <a:cs typeface="Verdana" charset="0"/>
              </a:rPr>
              <a:t>Cavalieri’s</a:t>
            </a:r>
            <a:r>
              <a:rPr lang="en-US" sz="2000" dirty="0">
                <a:latin typeface="Verdana" charset="0"/>
                <a:ea typeface="Verdana" charset="0"/>
                <a:cs typeface="Verdana" charset="0"/>
              </a:rPr>
              <a:t> Principle, determine whether or not the following solids have the same volumes. </a:t>
            </a:r>
          </a:p>
        </p:txBody>
      </p:sp>
    </p:spTree>
    <p:extLst>
      <p:ext uri="{BB962C8B-B14F-4D97-AF65-F5344CB8AC3E}">
        <p14:creationId xmlns:p14="http://schemas.microsoft.com/office/powerpoint/2010/main" val="2690134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79</a:t>
            </a:r>
          </a:p>
        </p:txBody>
      </p:sp>
      <p:sp>
        <p:nvSpPr>
          <p:cNvPr id="14" name="TextBox 13">
            <a:extLst>
              <a:ext uri="{FF2B5EF4-FFF2-40B4-BE49-F238E27FC236}">
                <a16:creationId xmlns:a16="http://schemas.microsoft.com/office/drawing/2014/main" id="{2FA392D8-3ED3-7940-83A8-1451AA8A08D4}"/>
              </a:ext>
            </a:extLst>
          </p:cNvPr>
          <p:cNvSpPr txBox="1"/>
          <p:nvPr/>
        </p:nvSpPr>
        <p:spPr>
          <a:xfrm>
            <a:off x="540566" y="520393"/>
            <a:ext cx="10983358" cy="5016758"/>
          </a:xfrm>
          <a:prstGeom prst="rect">
            <a:avLst/>
          </a:prstGeom>
          <a:noFill/>
        </p:spPr>
        <p:txBody>
          <a:bodyPr wrap="square" rtlCol="0">
            <a:spAutoFit/>
          </a:bodyPr>
          <a:lstStyle/>
          <a:p>
            <a:pPr marL="457200" indent="-457200">
              <a:buFont typeface="+mj-lt"/>
              <a:buAutoNum type="arabicPeriod" startAt="2"/>
            </a:pPr>
            <a:r>
              <a:rPr lang="en-US" sz="2000" dirty="0">
                <a:latin typeface="Verdana" charset="0"/>
                <a:ea typeface="Verdana" charset="0"/>
                <a:cs typeface="Verdana" charset="0"/>
              </a:rPr>
              <a:t>An oblique prism is shown.</a:t>
            </a:r>
          </a:p>
          <a:p>
            <a:pPr marL="457200" indent="-457200">
              <a:buFont typeface="+mj-lt"/>
              <a:buAutoNum type="arabicPeriod" startAt="2"/>
            </a:pPr>
            <a:endParaRPr lang="en-US" sz="2000" dirty="0">
              <a:latin typeface="Verdana" charset="0"/>
              <a:ea typeface="Verdana" charset="0"/>
              <a:cs typeface="Verdana" charset="0"/>
            </a:endParaRPr>
          </a:p>
          <a:p>
            <a:pPr marL="457200" indent="-457200">
              <a:buFont typeface="+mj-lt"/>
              <a:buAutoNum type="arabicPeriod" startAt="2"/>
            </a:pPr>
            <a:endParaRPr lang="en-US" sz="2000" dirty="0">
              <a:latin typeface="Verdana" charset="0"/>
              <a:ea typeface="Verdana" charset="0"/>
              <a:cs typeface="Verdana" charset="0"/>
            </a:endParaRPr>
          </a:p>
          <a:p>
            <a:pPr marL="457200" indent="-457200">
              <a:buFont typeface="+mj-lt"/>
              <a:buAutoNum type="arabicPeriod" startAt="2"/>
            </a:pPr>
            <a:endParaRPr lang="en-US" sz="2000" dirty="0">
              <a:latin typeface="Verdana" charset="0"/>
              <a:ea typeface="Verdana" charset="0"/>
              <a:cs typeface="Verdana" charset="0"/>
            </a:endParaRPr>
          </a:p>
          <a:p>
            <a:pPr marL="457200" indent="-457200">
              <a:buFont typeface="+mj-lt"/>
              <a:buAutoNum type="arabicPeriod" startAt="2"/>
            </a:pPr>
            <a:endParaRPr lang="en-US" sz="2000" dirty="0">
              <a:latin typeface="Verdana" charset="0"/>
              <a:ea typeface="Verdana" charset="0"/>
              <a:cs typeface="Verdana" charset="0"/>
            </a:endParaRPr>
          </a:p>
          <a:p>
            <a:pPr marL="457200" indent="-457200">
              <a:buFont typeface="+mj-lt"/>
              <a:buAutoNum type="arabicPeriod" startAt="2"/>
            </a:pPr>
            <a:endParaRPr lang="en-US" sz="2000" dirty="0">
              <a:latin typeface="Verdana" charset="0"/>
              <a:ea typeface="Verdana" charset="0"/>
              <a:cs typeface="Verdana" charset="0"/>
            </a:endParaRPr>
          </a:p>
          <a:p>
            <a:pPr marL="457200" indent="-457200">
              <a:buFont typeface="+mj-lt"/>
              <a:buAutoNum type="arabicPeriod" startAt="2"/>
            </a:pPr>
            <a:endParaRPr lang="en-US" sz="2000" dirty="0">
              <a:latin typeface="Verdana" charset="0"/>
              <a:ea typeface="Verdana" charset="0"/>
              <a:cs typeface="Verdana" charset="0"/>
            </a:endParaRPr>
          </a:p>
          <a:p>
            <a:pPr marL="923925" indent="-454025">
              <a:buFont typeface="+mj-lt"/>
              <a:buAutoNum type="alphaLcPeriod"/>
            </a:pPr>
            <a:r>
              <a:rPr lang="en-US" sz="2000" dirty="0">
                <a:latin typeface="Verdana" charset="0"/>
                <a:ea typeface="Verdana" charset="0"/>
                <a:cs typeface="Verdana" charset="0"/>
              </a:rPr>
              <a:t>What shape is each cross-section of the oblique prism?</a:t>
            </a:r>
          </a:p>
          <a:p>
            <a:pPr marL="923925" indent="-454025">
              <a:buFont typeface="+mj-lt"/>
              <a:buAutoNum type="alphaLcPeriod"/>
            </a:pPr>
            <a:endParaRPr lang="en-US" sz="2000" dirty="0">
              <a:latin typeface="Verdana" charset="0"/>
              <a:ea typeface="Verdana" charset="0"/>
              <a:cs typeface="Verdana" charset="0"/>
            </a:endParaRPr>
          </a:p>
          <a:p>
            <a:pPr marL="923925" indent="-454025">
              <a:buFont typeface="+mj-lt"/>
              <a:buAutoNum type="alphaLcPeriod"/>
            </a:pPr>
            <a:r>
              <a:rPr lang="en-US" sz="2000" dirty="0">
                <a:latin typeface="Verdana" charset="0"/>
                <a:ea typeface="Verdana" charset="0"/>
                <a:cs typeface="Verdana" charset="0"/>
              </a:rPr>
              <a:t>What is the area formula for the base?</a:t>
            </a:r>
          </a:p>
          <a:p>
            <a:pPr marL="923925" indent="-454025">
              <a:buFont typeface="+mj-lt"/>
              <a:buAutoNum type="alphaLcPeriod"/>
            </a:pPr>
            <a:endParaRPr lang="en-US" sz="2000" dirty="0">
              <a:latin typeface="Verdana" charset="0"/>
              <a:ea typeface="Verdana" charset="0"/>
              <a:cs typeface="Verdana" charset="0"/>
            </a:endParaRPr>
          </a:p>
          <a:p>
            <a:pPr marL="923925" indent="-454025">
              <a:buFont typeface="+mj-lt"/>
              <a:buAutoNum type="alphaLcPeriod"/>
            </a:pPr>
            <a:r>
              <a:rPr lang="en-US" sz="2000" dirty="0">
                <a:latin typeface="Verdana" charset="0"/>
                <a:ea typeface="Verdana" charset="0"/>
                <a:cs typeface="Verdana" charset="0"/>
              </a:rPr>
              <a:t>What is the volume formula for an oblique rectangular prism? </a:t>
            </a:r>
          </a:p>
          <a:p>
            <a:pPr marL="923925" indent="-454025">
              <a:buFont typeface="+mj-lt"/>
              <a:buAutoNum type="alphaLcPeriod"/>
            </a:pPr>
            <a:endParaRPr lang="en-US" sz="2000" dirty="0">
              <a:latin typeface="Verdana" charset="0"/>
              <a:ea typeface="Verdana" charset="0"/>
              <a:cs typeface="Verdana" charset="0"/>
            </a:endParaRPr>
          </a:p>
          <a:p>
            <a:pPr marL="923925" indent="-454025">
              <a:buFont typeface="+mj-lt"/>
              <a:buAutoNum type="alphaLcPeriod"/>
            </a:pPr>
            <a:r>
              <a:rPr lang="en-US" sz="2000" dirty="0">
                <a:latin typeface="Verdana" charset="0"/>
                <a:ea typeface="Verdana" charset="0"/>
                <a:cs typeface="Verdana" charset="0"/>
              </a:rPr>
              <a:t>Discuss with your partner how the formula for the oblique rectangular prism compares to the formula for a right rectangular prism. Explain your reasoning.</a:t>
            </a:r>
          </a:p>
        </p:txBody>
      </p:sp>
      <p:pic>
        <p:nvPicPr>
          <p:cNvPr id="3" name="Picture 2"/>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180594" y="272832"/>
            <a:ext cx="2922584" cy="2351252"/>
          </a:xfrm>
          <a:prstGeom prst="rect">
            <a:avLst/>
          </a:prstGeom>
        </p:spPr>
      </p:pic>
    </p:spTree>
    <p:extLst>
      <p:ext uri="{BB962C8B-B14F-4D97-AF65-F5344CB8AC3E}">
        <p14:creationId xmlns:p14="http://schemas.microsoft.com/office/powerpoint/2010/main" val="21018105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4">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79</a:t>
            </a:r>
          </a:p>
        </p:txBody>
      </p:sp>
    </p:spTree>
    <p:extLst>
      <p:ext uri="{BB962C8B-B14F-4D97-AF65-F5344CB8AC3E}">
        <p14:creationId xmlns:p14="http://schemas.microsoft.com/office/powerpoint/2010/main" val="13610550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052650" y="-85854"/>
            <a:ext cx="1014137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9.5.4 Guided Instruction: Slant Height vs. Vertical Height</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4">
            <a:alphaModFix/>
          </a:blip>
          <a:srcRect/>
          <a:stretch/>
        </p:blipFill>
        <p:spPr>
          <a:xfrm>
            <a:off x="305350" y="121410"/>
            <a:ext cx="747300" cy="747300"/>
          </a:xfrm>
          <a:prstGeom prst="rect">
            <a:avLst/>
          </a:prstGeom>
          <a:noFill/>
          <a:ln>
            <a:noFill/>
          </a:ln>
          <a:effectLst>
            <a:outerShdw blurRad="50800" dist="38100" dir="2700000" algn="tl" rotWithShape="0">
              <a:prstClr val="black">
                <a:alpha val="40000"/>
              </a:prstClr>
            </a:outerShdw>
          </a:effectLst>
        </p:spPr>
      </p:pic>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79</a:t>
            </a:r>
          </a:p>
        </p:txBody>
      </p:sp>
      <p:sp>
        <p:nvSpPr>
          <p:cNvPr id="13" name="TextBox 12">
            <a:extLst>
              <a:ext uri="{FF2B5EF4-FFF2-40B4-BE49-F238E27FC236}">
                <a16:creationId xmlns:a16="http://schemas.microsoft.com/office/drawing/2014/main" id="{C01B13E8-EC8D-E443-A329-C5E3593DD13A}"/>
              </a:ext>
            </a:extLst>
          </p:cNvPr>
          <p:cNvSpPr txBox="1"/>
          <p:nvPr/>
        </p:nvSpPr>
        <p:spPr>
          <a:xfrm>
            <a:off x="593247" y="1386150"/>
            <a:ext cx="9676703" cy="400110"/>
          </a:xfrm>
          <a:prstGeom prst="rect">
            <a:avLst/>
          </a:prstGeom>
          <a:noFill/>
        </p:spPr>
        <p:txBody>
          <a:bodyPr wrap="square" rtlCol="0">
            <a:spAutoFit/>
          </a:bodyPr>
          <a:lstStyle/>
          <a:p>
            <a:r>
              <a:rPr lang="en-US" sz="2000" dirty="0">
                <a:latin typeface="Verdana" charset="0"/>
                <a:ea typeface="Verdana" charset="0"/>
                <a:cs typeface="Verdana" charset="0"/>
              </a:rPr>
              <a:t>A square pyramid is shown with measurements in millimeters (mm). </a:t>
            </a:r>
          </a:p>
        </p:txBody>
      </p:sp>
      <p:pic>
        <p:nvPicPr>
          <p:cNvPr id="2" name="Picture 1"/>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922049" y="2090554"/>
            <a:ext cx="5669534" cy="4113654"/>
          </a:xfrm>
          <a:prstGeom prst="rect">
            <a:avLst/>
          </a:prstGeom>
        </p:spPr>
      </p:pic>
    </p:spTree>
    <p:extLst>
      <p:ext uri="{BB962C8B-B14F-4D97-AF65-F5344CB8AC3E}">
        <p14:creationId xmlns:p14="http://schemas.microsoft.com/office/powerpoint/2010/main" val="7685565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0598"/>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7701" y="6457673"/>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79</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40565" y="520393"/>
                <a:ext cx="11065362" cy="707886"/>
              </a:xfrm>
              <a:prstGeom prst="rect">
                <a:avLst/>
              </a:prstGeom>
              <a:noFill/>
            </p:spPr>
            <p:txBody>
              <a:bodyPr wrap="square" rtlCol="0">
                <a:spAutoFit/>
              </a:bodyPr>
              <a:lstStyle/>
              <a:p>
                <a:r>
                  <a:rPr lang="en-US" sz="2000" dirty="0">
                    <a:latin typeface="Verdana" charset="0"/>
                    <a:ea typeface="Verdana" charset="0"/>
                    <a:cs typeface="Verdana" charset="0"/>
                  </a:rPr>
                  <a:t>Samantha and Julian each found the measure of the slant height, </a:t>
                </a:r>
                <a14:m>
                  <m:oMath xmlns:m="http://schemas.openxmlformats.org/officeDocument/2006/math">
                    <m:r>
                      <a:rPr lang="en-US" sz="2000" i="1">
                        <a:latin typeface="Cambria Math" charset="0"/>
                        <a:ea typeface="Verdana" charset="0"/>
                        <a:cs typeface="Verdana" charset="0"/>
                      </a:rPr>
                      <m:t>𝑥</m:t>
                    </m:r>
                  </m:oMath>
                </a14:m>
                <a:r>
                  <a:rPr lang="en-US" sz="2000" dirty="0">
                    <a:latin typeface="Verdana" charset="0"/>
                    <a:ea typeface="Verdana" charset="0"/>
                    <a:cs typeface="Verdana" charset="0"/>
                  </a:rPr>
                  <a:t>, by first drawing a diagram and then applying the Pythagorean Theorem. Their work is shown.</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40565" y="520393"/>
                <a:ext cx="11065362" cy="707886"/>
              </a:xfrm>
              <a:prstGeom prst="rect">
                <a:avLst/>
              </a:prstGeom>
              <a:blipFill>
                <a:blip r:embed="rId4"/>
                <a:stretch>
                  <a:fillRect l="-606" t="-4310" r="-551" b="-146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2324426431"/>
                  </p:ext>
                </p:extLst>
              </p:nvPr>
            </p:nvGraphicFramePr>
            <p:xfrm>
              <a:off x="1228375" y="1797269"/>
              <a:ext cx="6800850" cy="4403331"/>
            </p:xfrm>
            <a:graphic>
              <a:graphicData uri="http://schemas.openxmlformats.org/drawingml/2006/table">
                <a:tbl>
                  <a:tblPr firstRow="1" firstCol="1" bandRow="1"/>
                  <a:tblGrid>
                    <a:gridCol w="3416300">
                      <a:extLst>
                        <a:ext uri="{9D8B030D-6E8A-4147-A177-3AD203B41FA5}">
                          <a16:colId xmlns:a16="http://schemas.microsoft.com/office/drawing/2014/main" val="20000"/>
                        </a:ext>
                      </a:extLst>
                    </a:gridCol>
                    <a:gridCol w="3384550">
                      <a:extLst>
                        <a:ext uri="{9D8B030D-6E8A-4147-A177-3AD203B41FA5}">
                          <a16:colId xmlns:a16="http://schemas.microsoft.com/office/drawing/2014/main" val="20001"/>
                        </a:ext>
                      </a:extLst>
                    </a:gridCol>
                  </a:tblGrid>
                  <a:tr h="418121">
                    <a:tc>
                      <a:txBody>
                        <a:bodyPr/>
                        <a:lstStyle/>
                        <a:p>
                          <a:pPr marL="0" marR="0" algn="ctr">
                            <a:spcBef>
                              <a:spcPts val="0"/>
                            </a:spcBef>
                            <a:spcAft>
                              <a:spcPts val="0"/>
                            </a:spcAft>
                          </a:pPr>
                          <a:r>
                            <a:rPr lang="en-US" sz="2000" b="1" dirty="0">
                              <a:effectLst/>
                              <a:latin typeface="Verdana" charset="0"/>
                            </a:rPr>
                            <a:t>Samantha</a:t>
                          </a:r>
                          <a:endParaRPr lang="en-US" sz="1400" dirty="0">
                            <a:effectLst/>
                            <a:latin typeface="Cambri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rPr>
                            <a:t>Julian</a:t>
                          </a:r>
                          <a:endParaRPr lang="en-US" sz="1400">
                            <a:effectLst/>
                            <a:latin typeface="Cambri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2939909">
                    <a:tc>
                      <a:txBody>
                        <a:bodyPr/>
                        <a:lstStyle/>
                        <a:p>
                          <a:pPr marL="0" marR="0" algn="ctr">
                            <a:spcBef>
                              <a:spcPts val="0"/>
                            </a:spcBef>
                            <a:spcAft>
                              <a:spcPts val="0"/>
                            </a:spcAft>
                          </a:pPr>
                          <a:r>
                            <a:rPr lang="en-US" sz="2000" dirty="0">
                              <a:effectLst/>
                              <a:latin typeface="Verdana" charset="0"/>
                            </a:rPr>
                            <a:t> </a:t>
                          </a:r>
                          <a:endParaRPr lang="en-US" sz="1400" dirty="0">
                            <a:effectLst/>
                            <a:latin typeface="Cambri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rPr>
                            <a:t> </a:t>
                          </a:r>
                          <a:endParaRPr lang="en-US" sz="1400" dirty="0">
                            <a:effectLst/>
                            <a:latin typeface="Cambri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045301">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rPr>
                                    </m:ctrlPr>
                                  </m:sSupPr>
                                  <m:e>
                                    <m:r>
                                      <a:rPr lang="en-US" sz="2000" i="1">
                                        <a:effectLst/>
                                        <a:latin typeface="Cambria Math" charset="0"/>
                                      </a:rPr>
                                      <m:t>𝑐</m:t>
                                    </m:r>
                                  </m:e>
                                  <m:sup>
                                    <m:r>
                                      <a:rPr lang="en-US" sz="2000" i="1">
                                        <a:effectLst/>
                                        <a:latin typeface="Cambria Math" charset="0"/>
                                      </a:rPr>
                                      <m:t>2</m:t>
                                    </m:r>
                                  </m:sup>
                                </m:sSup>
                                <m:r>
                                  <a:rPr lang="en-US" sz="2000" i="1">
                                    <a:effectLst/>
                                    <a:latin typeface="Cambria Math" charset="0"/>
                                  </a:rPr>
                                  <m:t>=</m:t>
                                </m:r>
                                <m:sSup>
                                  <m:sSupPr>
                                    <m:ctrlPr>
                                      <a:rPr lang="en-US" sz="2000" i="1">
                                        <a:effectLst/>
                                        <a:latin typeface="Cambria Math" panose="02040503050406030204" pitchFamily="18" charset="0"/>
                                      </a:rPr>
                                    </m:ctrlPr>
                                  </m:sSupPr>
                                  <m:e>
                                    <m:r>
                                      <a:rPr lang="en-US" sz="2000" i="1">
                                        <a:effectLst/>
                                        <a:latin typeface="Cambria Math" charset="0"/>
                                      </a:rPr>
                                      <m:t>3</m:t>
                                    </m:r>
                                  </m:e>
                                  <m:sup>
                                    <m:r>
                                      <a:rPr lang="en-US" sz="2000" i="1">
                                        <a:effectLst/>
                                        <a:latin typeface="Cambria Math" charset="0"/>
                                      </a:rPr>
                                      <m:t>2</m:t>
                                    </m:r>
                                  </m:sup>
                                </m:sSup>
                                <m:r>
                                  <a:rPr lang="en-US" sz="2000" i="1">
                                    <a:effectLst/>
                                    <a:latin typeface="Cambria Math" charset="0"/>
                                  </a:rPr>
                                  <m:t>+</m:t>
                                </m:r>
                                <m:sSup>
                                  <m:sSupPr>
                                    <m:ctrlPr>
                                      <a:rPr lang="en-US" sz="2000" i="1">
                                        <a:effectLst/>
                                        <a:latin typeface="Cambria Math" panose="02040503050406030204" pitchFamily="18" charset="0"/>
                                      </a:rPr>
                                    </m:ctrlPr>
                                  </m:sSupPr>
                                  <m:e>
                                    <m:r>
                                      <a:rPr lang="en-US" sz="2000" i="1">
                                        <a:effectLst/>
                                        <a:latin typeface="Cambria Math" charset="0"/>
                                      </a:rPr>
                                      <m:t>5</m:t>
                                    </m:r>
                                  </m:e>
                                  <m:sup>
                                    <m:r>
                                      <a:rPr lang="en-US" sz="2000" i="1">
                                        <a:effectLst/>
                                        <a:latin typeface="Cambria Math" charset="0"/>
                                      </a:rPr>
                                      <m:t>2</m:t>
                                    </m:r>
                                  </m:sup>
                                </m:sSup>
                              </m:oMath>
                            </m:oMathPara>
                          </a14:m>
                          <a:endParaRPr lang="en-US" sz="1400" dirty="0">
                            <a:effectLst/>
                            <a:latin typeface="Cambri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rPr>
                                    </m:ctrlPr>
                                  </m:sSupPr>
                                  <m:e>
                                    <m:r>
                                      <a:rPr lang="en-US" sz="2000" i="1">
                                        <a:effectLst/>
                                        <a:latin typeface="Cambria Math" charset="0"/>
                                      </a:rPr>
                                      <m:t>𝑐</m:t>
                                    </m:r>
                                  </m:e>
                                  <m:sup>
                                    <m:r>
                                      <a:rPr lang="en-US" sz="2000" i="1">
                                        <a:effectLst/>
                                        <a:latin typeface="Cambria Math" charset="0"/>
                                      </a:rPr>
                                      <m:t>2</m:t>
                                    </m:r>
                                  </m:sup>
                                </m:sSup>
                                <m:r>
                                  <a:rPr lang="en-US" sz="2000" i="1">
                                    <a:effectLst/>
                                    <a:latin typeface="Cambria Math" charset="0"/>
                                  </a:rPr>
                                  <m:t>=</m:t>
                                </m:r>
                                <m:sSup>
                                  <m:sSupPr>
                                    <m:ctrlPr>
                                      <a:rPr lang="en-US" sz="2000" i="1">
                                        <a:effectLst/>
                                        <a:latin typeface="Cambria Math" panose="02040503050406030204" pitchFamily="18" charset="0"/>
                                      </a:rPr>
                                    </m:ctrlPr>
                                  </m:sSupPr>
                                  <m:e>
                                    <m:r>
                                      <a:rPr lang="en-US" sz="2000" i="1">
                                        <a:effectLst/>
                                        <a:latin typeface="Cambria Math" charset="0"/>
                                      </a:rPr>
                                      <m:t>1.5</m:t>
                                    </m:r>
                                  </m:e>
                                  <m:sup>
                                    <m:r>
                                      <a:rPr lang="en-US" sz="2000" i="1">
                                        <a:effectLst/>
                                        <a:latin typeface="Cambria Math" charset="0"/>
                                      </a:rPr>
                                      <m:t>2</m:t>
                                    </m:r>
                                  </m:sup>
                                </m:sSup>
                                <m:r>
                                  <a:rPr lang="en-US" sz="2000" i="1">
                                    <a:effectLst/>
                                    <a:latin typeface="Cambria Math" charset="0"/>
                                  </a:rPr>
                                  <m:t>+</m:t>
                                </m:r>
                                <m:sSup>
                                  <m:sSupPr>
                                    <m:ctrlPr>
                                      <a:rPr lang="en-US" sz="2000" i="1">
                                        <a:effectLst/>
                                        <a:latin typeface="Cambria Math" panose="02040503050406030204" pitchFamily="18" charset="0"/>
                                      </a:rPr>
                                    </m:ctrlPr>
                                  </m:sSupPr>
                                  <m:e>
                                    <m:r>
                                      <a:rPr lang="en-US" sz="2000" i="1">
                                        <a:effectLst/>
                                        <a:latin typeface="Cambria Math" charset="0"/>
                                      </a:rPr>
                                      <m:t>5</m:t>
                                    </m:r>
                                  </m:e>
                                  <m:sup>
                                    <m:r>
                                      <a:rPr lang="en-US" sz="2000" i="1">
                                        <a:effectLst/>
                                        <a:latin typeface="Cambria Math" charset="0"/>
                                      </a:rPr>
                                      <m:t>2</m:t>
                                    </m:r>
                                  </m:sup>
                                </m:sSup>
                              </m:oMath>
                            </m:oMathPara>
                          </a14:m>
                          <a:endParaRPr lang="en-US" sz="1400" dirty="0">
                            <a:effectLst/>
                            <a:latin typeface="Cambri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2324426431"/>
                  </p:ext>
                </p:extLst>
              </p:nvPr>
            </p:nvGraphicFramePr>
            <p:xfrm>
              <a:off x="1228375" y="1797269"/>
              <a:ext cx="6800850" cy="4403331"/>
            </p:xfrm>
            <a:graphic>
              <a:graphicData uri="http://schemas.openxmlformats.org/drawingml/2006/table">
                <a:tbl>
                  <a:tblPr firstRow="1" firstCol="1" bandRow="1"/>
                  <a:tblGrid>
                    <a:gridCol w="3416300">
                      <a:extLst>
                        <a:ext uri="{9D8B030D-6E8A-4147-A177-3AD203B41FA5}">
                          <a16:colId xmlns:a16="http://schemas.microsoft.com/office/drawing/2014/main" val="20000"/>
                        </a:ext>
                      </a:extLst>
                    </a:gridCol>
                    <a:gridCol w="3384550">
                      <a:extLst>
                        <a:ext uri="{9D8B030D-6E8A-4147-A177-3AD203B41FA5}">
                          <a16:colId xmlns:a16="http://schemas.microsoft.com/office/drawing/2014/main" val="20001"/>
                        </a:ext>
                      </a:extLst>
                    </a:gridCol>
                  </a:tblGrid>
                  <a:tr h="418121">
                    <a:tc>
                      <a:txBody>
                        <a:bodyPr/>
                        <a:lstStyle/>
                        <a:p>
                          <a:pPr marL="0" marR="0" algn="ctr">
                            <a:spcBef>
                              <a:spcPts val="0"/>
                            </a:spcBef>
                            <a:spcAft>
                              <a:spcPts val="0"/>
                            </a:spcAft>
                          </a:pPr>
                          <a:r>
                            <a:rPr lang="en-US" sz="2000" b="1" dirty="0">
                              <a:effectLst/>
                              <a:latin typeface="Verdana" charset="0"/>
                            </a:rPr>
                            <a:t>Samantha</a:t>
                          </a:r>
                          <a:endParaRPr lang="en-US" sz="1400" dirty="0">
                            <a:effectLst/>
                            <a:latin typeface="Cambri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rPr>
                            <a:t>Julian</a:t>
                          </a:r>
                          <a:endParaRPr lang="en-US" sz="1400">
                            <a:effectLst/>
                            <a:latin typeface="Cambri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2939909">
                    <a:tc>
                      <a:txBody>
                        <a:bodyPr/>
                        <a:lstStyle/>
                        <a:p>
                          <a:pPr marL="0" marR="0" algn="ctr">
                            <a:spcBef>
                              <a:spcPts val="0"/>
                            </a:spcBef>
                            <a:spcAft>
                              <a:spcPts val="0"/>
                            </a:spcAft>
                          </a:pPr>
                          <a:r>
                            <a:rPr lang="en-US" sz="2000" dirty="0">
                              <a:effectLst/>
                              <a:latin typeface="Verdana" charset="0"/>
                            </a:rPr>
                            <a:t> </a:t>
                          </a:r>
                          <a:endParaRPr lang="en-US" sz="1400" dirty="0">
                            <a:effectLst/>
                            <a:latin typeface="Cambri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rPr>
                            <a:t> </a:t>
                          </a:r>
                          <a:endParaRPr lang="en-US" sz="1400" dirty="0">
                            <a:effectLst/>
                            <a:latin typeface="Cambri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045301">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78" t="-327907" r="-99465" b="-1163"/>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01079" t="-327907" r="-360" b="-1163"/>
                          </a:stretch>
                        </a:blipFill>
                      </a:tcPr>
                    </a:tc>
                    <a:extLst>
                      <a:ext uri="{0D108BD9-81ED-4DB2-BD59-A6C34878D82A}">
                        <a16:rowId xmlns:a16="http://schemas.microsoft.com/office/drawing/2014/main" val="10002"/>
                      </a:ext>
                    </a:extLst>
                  </a:tr>
                </a:tbl>
              </a:graphicData>
            </a:graphic>
          </p:graphicFrame>
        </mc:Fallback>
      </mc:AlternateContent>
      <p:pic>
        <p:nvPicPr>
          <p:cNvPr id="7170" name="Picture 19"/>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1665946" y="2272097"/>
            <a:ext cx="2717800" cy="2819400"/>
          </a:xfrm>
          <a:prstGeom prst="rect">
            <a:avLst/>
          </a:prstGeom>
          <a:noFill/>
          <a:extLst>
            <a:ext uri="{909E8E84-426E-40DD-AFC4-6F175D3DCCD1}">
              <a14:hiddenFill xmlns:a14="http://schemas.microsoft.com/office/drawing/2010/main">
                <a:solidFill>
                  <a:srgbClr val="FFFFFF"/>
                </a:solidFill>
              </a14:hiddenFill>
            </a:ext>
          </a:extLst>
        </p:spPr>
      </p:pic>
      <p:pic>
        <p:nvPicPr>
          <p:cNvPr id="7169" name="Picture 20"/>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4940298" y="2333335"/>
            <a:ext cx="2683951" cy="27581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03605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7701"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80</a:t>
            </a:r>
          </a:p>
        </p:txBody>
      </p:sp>
      <p:sp>
        <p:nvSpPr>
          <p:cNvPr id="14" name="TextBox 13">
            <a:extLst>
              <a:ext uri="{FF2B5EF4-FFF2-40B4-BE49-F238E27FC236}">
                <a16:creationId xmlns:a16="http://schemas.microsoft.com/office/drawing/2014/main" id="{2FA392D8-3ED3-7940-83A8-1451AA8A08D4}"/>
              </a:ext>
            </a:extLst>
          </p:cNvPr>
          <p:cNvSpPr txBox="1"/>
          <p:nvPr/>
        </p:nvSpPr>
        <p:spPr>
          <a:xfrm>
            <a:off x="540565" y="528618"/>
            <a:ext cx="10961136" cy="4401205"/>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Discuss with your partner which student correctly set up their work to determine the slant height. Summarize your discussion.</a:t>
            </a: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r>
              <a:rPr lang="en-US" sz="2000" dirty="0">
                <a:latin typeface="Verdana" charset="0"/>
                <a:ea typeface="Verdana" charset="0"/>
                <a:cs typeface="Verdana" charset="0"/>
              </a:rPr>
              <a:t>Discuss with your partner which height is important when finding the volume of an oblique figure. Summarize your discussion.</a:t>
            </a:r>
          </a:p>
        </p:txBody>
      </p:sp>
      <p:sp>
        <p:nvSpPr>
          <p:cNvPr id="6" name="Text Box 24"/>
          <p:cNvSpPr txBox="1"/>
          <p:nvPr/>
        </p:nvSpPr>
        <p:spPr>
          <a:xfrm>
            <a:off x="1450367" y="1518195"/>
            <a:ext cx="6629400" cy="2204001"/>
          </a:xfrm>
          <a:prstGeom prst="roundRect">
            <a:avLst/>
          </a:prstGeom>
          <a:solidFill>
            <a:srgbClr val="B6E6F5"/>
          </a:solidFill>
          <a:ln>
            <a:noFill/>
          </a:ln>
          <a:effectLst>
            <a:outerShdw blurRad="50800" dist="762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923925"/>
            <a:r>
              <a:rPr lang="en-US" sz="2000" dirty="0">
                <a:solidFill>
                  <a:srgbClr val="417DBF"/>
                </a:solidFill>
                <a:latin typeface="Verdana" charset="0"/>
                <a:ea typeface="Verdana" charset="0"/>
                <a:cs typeface="Verdana" charset="0"/>
              </a:rPr>
              <a:t>The </a:t>
            </a:r>
            <a:r>
              <a:rPr lang="en-US" sz="2000" b="1" dirty="0">
                <a:solidFill>
                  <a:srgbClr val="417DBF"/>
                </a:solidFill>
                <a:latin typeface="Verdana" charset="0"/>
                <a:ea typeface="Verdana" charset="0"/>
                <a:cs typeface="Verdana" charset="0"/>
              </a:rPr>
              <a:t>slant height</a:t>
            </a:r>
            <a:r>
              <a:rPr lang="en-US" sz="2000" dirty="0">
                <a:solidFill>
                  <a:srgbClr val="417DBF"/>
                </a:solidFill>
                <a:latin typeface="Verdana" charset="0"/>
                <a:ea typeface="Verdana" charset="0"/>
                <a:cs typeface="Verdana" charset="0"/>
              </a:rPr>
              <a:t> of an object is the distance from the base to the apex along a lateral face, whereas the </a:t>
            </a:r>
            <a:r>
              <a:rPr lang="en-US" sz="2000" b="1" dirty="0">
                <a:solidFill>
                  <a:srgbClr val="417DBF"/>
                </a:solidFill>
                <a:latin typeface="Verdana" charset="0"/>
                <a:ea typeface="Verdana" charset="0"/>
                <a:cs typeface="Verdana" charset="0"/>
              </a:rPr>
              <a:t>vertical height or altitude</a:t>
            </a:r>
            <a:r>
              <a:rPr lang="en-US" sz="2000" dirty="0">
                <a:solidFill>
                  <a:srgbClr val="417DBF"/>
                </a:solidFill>
                <a:latin typeface="Verdana" charset="0"/>
                <a:ea typeface="Verdana" charset="0"/>
                <a:cs typeface="Verdana" charset="0"/>
              </a:rPr>
              <a:t> of an object is the perpendicular distance from the apex to the base.</a:t>
            </a:r>
          </a:p>
        </p:txBody>
      </p:sp>
      <p:pic>
        <p:nvPicPr>
          <p:cNvPr id="7" name="Picture 6"/>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722388" y="1740634"/>
            <a:ext cx="542544" cy="530352"/>
          </a:xfrm>
          <a:prstGeom prst="rect">
            <a:avLst/>
          </a:prstGeom>
          <a:effectLst>
            <a:outerShdw blurRad="50800" dist="76200" dir="2700000" algn="tl" rotWithShape="0">
              <a:prstClr val="black">
                <a:alpha val="40000"/>
              </a:prstClr>
            </a:outerShdw>
          </a:effectLst>
        </p:spPr>
      </p:pic>
    </p:spTree>
    <p:extLst>
      <p:ext uri="{BB962C8B-B14F-4D97-AF65-F5344CB8AC3E}">
        <p14:creationId xmlns:p14="http://schemas.microsoft.com/office/powerpoint/2010/main" val="20586313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80</a:t>
            </a:r>
          </a:p>
        </p:txBody>
      </p:sp>
      <p:pic>
        <p:nvPicPr>
          <p:cNvPr id="9218" name="Picture 2" descr="Icon&#10;&#10;Description automatically generated">
            <a:extLst>
              <a:ext uri="{FF2B5EF4-FFF2-40B4-BE49-F238E27FC236}">
                <a16:creationId xmlns:a16="http://schemas.microsoft.com/office/drawing/2014/main" id="{B02E8C6A-53AD-AA4E-A4ED-406F3B0E370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15971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9254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052650" y="-37211"/>
            <a:ext cx="1015612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9.5.5 Guided Practice: </a:t>
            </a:r>
            <a:r>
              <a:rPr lang="en-US" sz="3200" b="1" dirty="0" err="1">
                <a:solidFill>
                  <a:srgbClr val="54B5D1"/>
                </a:solidFill>
                <a:latin typeface="Verdana"/>
                <a:ea typeface="Verdana"/>
                <a:cs typeface="Verdana"/>
                <a:sym typeface="Verdana"/>
              </a:rPr>
              <a:t>Cavalieri’s</a:t>
            </a:r>
            <a:r>
              <a:rPr lang="en-US" sz="3200" b="1" dirty="0">
                <a:solidFill>
                  <a:srgbClr val="54B5D1"/>
                </a:solidFill>
                <a:latin typeface="Verdana"/>
                <a:ea typeface="Verdana"/>
                <a:cs typeface="Verdana"/>
                <a:sym typeface="Verdana"/>
              </a:rPr>
              <a:t> Principle in the Real World</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89924" y="644961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80</a:t>
            </a:r>
          </a:p>
        </p:txBody>
      </p:sp>
      <p:pic>
        <p:nvPicPr>
          <p:cNvPr id="8" name="Picture 2" descr="Icon&#10;&#10;Description automatically generated">
            <a:extLst>
              <a:ext uri="{FF2B5EF4-FFF2-40B4-BE49-F238E27FC236}">
                <a16:creationId xmlns:a16="http://schemas.microsoft.com/office/drawing/2014/main" id="{B3C42596-1BDF-794D-A82A-7C54635CB81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02842" y="128815"/>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1D40250-DEDD-2C41-8538-3D4DD18CCC4A}"/>
                  </a:ext>
                </a:extLst>
              </p:cNvPr>
              <p:cNvSpPr txBox="1"/>
              <p:nvPr/>
            </p:nvSpPr>
            <p:spPr>
              <a:xfrm>
                <a:off x="593248" y="1386026"/>
                <a:ext cx="10930676" cy="4401205"/>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Consider the stack of sticky note pads below. </a:t>
                </a: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marL="469900"/>
                <a:r>
                  <a:rPr lang="en-US" sz="2000" dirty="0">
                    <a:latin typeface="Verdana" charset="0"/>
                    <a:ea typeface="Verdana" charset="0"/>
                    <a:cs typeface="Verdana" charset="0"/>
                  </a:rPr>
                  <a:t>If each pad is a square with side lengths of </a:t>
                </a:r>
                <a14:m>
                  <m:oMath xmlns:m="http://schemas.openxmlformats.org/officeDocument/2006/math">
                    <m:r>
                      <a:rPr lang="en-US" sz="2000" i="1">
                        <a:latin typeface="Cambria Math" charset="0"/>
                        <a:ea typeface="Verdana" charset="0"/>
                        <a:cs typeface="Verdana" charset="0"/>
                      </a:rPr>
                      <m:t>3</m:t>
                    </m:r>
                  </m:oMath>
                </a14:m>
                <a:r>
                  <a:rPr lang="en-US" sz="2000" dirty="0">
                    <a:latin typeface="Verdana" charset="0"/>
                    <a:ea typeface="Verdana" charset="0"/>
                    <a:cs typeface="Verdana" charset="0"/>
                  </a:rPr>
                  <a:t> inches and a height of </a:t>
                </a:r>
                <a14:m>
                  <m:oMath xmlns:m="http://schemas.openxmlformats.org/officeDocument/2006/math">
                    <m:r>
                      <a:rPr lang="en-US" sz="2000" i="1">
                        <a:latin typeface="Cambria Math" charset="0"/>
                        <a:ea typeface="Verdana" charset="0"/>
                        <a:cs typeface="Verdana" charset="0"/>
                      </a:rPr>
                      <m:t>0.97</m:t>
                    </m:r>
                  </m:oMath>
                </a14:m>
                <a:r>
                  <a:rPr lang="en-US" sz="2000" dirty="0">
                    <a:latin typeface="Verdana" charset="0"/>
                    <a:ea typeface="Verdana" charset="0"/>
                    <a:cs typeface="Verdana" charset="0"/>
                  </a:rPr>
                  <a:t> inches, approximate the volume of a stack of </a:t>
                </a:r>
                <a14:m>
                  <m:oMath xmlns:m="http://schemas.openxmlformats.org/officeDocument/2006/math">
                    <m:r>
                      <a:rPr lang="en-US" sz="2000" i="1">
                        <a:latin typeface="Cambria Math" charset="0"/>
                        <a:ea typeface="Verdana" charset="0"/>
                        <a:cs typeface="Verdana" charset="0"/>
                      </a:rPr>
                      <m:t>8</m:t>
                    </m:r>
                  </m:oMath>
                </a14:m>
                <a:r>
                  <a:rPr lang="en-US" sz="2000" dirty="0">
                    <a:latin typeface="Verdana" charset="0"/>
                    <a:ea typeface="Verdana" charset="0"/>
                    <a:cs typeface="Verdana" charset="0"/>
                  </a:rPr>
                  <a:t> sticky note pads.</a:t>
                </a:r>
              </a:p>
            </p:txBody>
          </p:sp>
        </mc:Choice>
        <mc:Fallback xmlns="">
          <p:sp>
            <p:nvSpPr>
              <p:cNvPr id="10" name="TextBox 9">
                <a:extLst>
                  <a:ext uri="{FF2B5EF4-FFF2-40B4-BE49-F238E27FC236}">
                    <a16:creationId xmlns:a16="http://schemas.microsoft.com/office/drawing/2014/main" id="{31D40250-DEDD-2C41-8538-3D4DD18CCC4A}"/>
                  </a:ext>
                </a:extLst>
              </p:cNvPr>
              <p:cNvSpPr txBox="1">
                <a:spLocks noRot="1" noChangeAspect="1" noMove="1" noResize="1" noEditPoints="1" noAdjustHandles="1" noChangeArrowheads="1" noChangeShapeType="1" noTextEdit="1"/>
              </p:cNvSpPr>
              <p:nvPr/>
            </p:nvSpPr>
            <p:spPr>
              <a:xfrm>
                <a:off x="593248" y="1386026"/>
                <a:ext cx="10930676" cy="4401205"/>
              </a:xfrm>
              <a:prstGeom prst="rect">
                <a:avLst/>
              </a:prstGeom>
              <a:blipFill>
                <a:blip r:embed="rId5"/>
                <a:stretch>
                  <a:fillRect l="-613" t="-831" r="-669" b="-1524"/>
                </a:stretch>
              </a:blipFill>
            </p:spPr>
            <p:txBody>
              <a:bodyPr/>
              <a:lstStyle/>
              <a:p>
                <a:r>
                  <a:rPr lang="en-US">
                    <a:noFill/>
                  </a:rPr>
                  <a:t> </a:t>
                </a:r>
              </a:p>
            </p:txBody>
          </p:sp>
        </mc:Fallback>
      </mc:AlternateContent>
      <p:pic>
        <p:nvPicPr>
          <p:cNvPr id="2" name="Picture 1"/>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458414" y="1909161"/>
            <a:ext cx="4456386" cy="2959319"/>
          </a:xfrm>
          <a:prstGeom prst="rect">
            <a:avLst/>
          </a:prstGeom>
        </p:spPr>
      </p:pic>
    </p:spTree>
    <p:extLst>
      <p:ext uri="{BB962C8B-B14F-4D97-AF65-F5344CB8AC3E}">
        <p14:creationId xmlns:p14="http://schemas.microsoft.com/office/powerpoint/2010/main" val="17634327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1964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7701" y="6453475"/>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81</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40565" y="520393"/>
                <a:ext cx="8327136" cy="400110"/>
              </a:xfrm>
              <a:prstGeom prst="rect">
                <a:avLst/>
              </a:prstGeom>
              <a:noFill/>
            </p:spPr>
            <p:txBody>
              <a:bodyPr wrap="square" rtlCol="0">
                <a:spAutoFit/>
              </a:bodyPr>
              <a:lstStyle/>
              <a:p>
                <a:pPr marL="457200" indent="-457200">
                  <a:buFont typeface="+mj-lt"/>
                  <a:buAutoNum type="arabicPeriod" startAt="2"/>
                </a:pPr>
                <a:r>
                  <a:rPr lang="en-US" sz="2000" dirty="0">
                    <a:latin typeface="Verdana" charset="0"/>
                    <a:ea typeface="Verdana" charset="0"/>
                    <a:cs typeface="Verdana" charset="0"/>
                  </a:rPr>
                  <a:t>Two stacks of </a:t>
                </a:r>
                <a14:m>
                  <m:oMath xmlns:m="http://schemas.openxmlformats.org/officeDocument/2006/math">
                    <m:r>
                      <a:rPr lang="en-US" sz="2000" i="1">
                        <a:latin typeface="Cambria Math" charset="0"/>
                        <a:ea typeface="Verdana" charset="0"/>
                        <a:cs typeface="Verdana" charset="0"/>
                      </a:rPr>
                      <m:t>12</m:t>
                    </m:r>
                  </m:oMath>
                </a14:m>
                <a:r>
                  <a:rPr lang="en-US" sz="2000" dirty="0">
                    <a:latin typeface="Verdana" charset="0"/>
                    <a:ea typeface="Verdana" charset="0"/>
                    <a:cs typeface="Verdana" charset="0"/>
                  </a:rPr>
                  <a:t> chocolate squares are shown. </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40565" y="520393"/>
                <a:ext cx="8327136" cy="400110"/>
              </a:xfrm>
              <a:prstGeom prst="rect">
                <a:avLst/>
              </a:prstGeom>
              <a:blipFill>
                <a:blip r:embed="rId4"/>
                <a:stretch>
                  <a:fillRect l="-805" t="-9091" b="-27273"/>
                </a:stretch>
              </a:blipFill>
            </p:spPr>
            <p:txBody>
              <a:bodyPr/>
              <a:lstStyle/>
              <a:p>
                <a:r>
                  <a:rPr lang="en-US">
                    <a:noFill/>
                  </a:rPr>
                  <a:t> </a:t>
                </a:r>
              </a:p>
            </p:txBody>
          </p:sp>
        </mc:Fallback>
      </mc:AlternateContent>
      <p:graphicFrame>
        <p:nvGraphicFramePr>
          <p:cNvPr id="2" name="Table 1"/>
          <p:cNvGraphicFramePr>
            <a:graphicFrameLocks noGrp="1"/>
          </p:cNvGraphicFramePr>
          <p:nvPr>
            <p:extLst>
              <p:ext uri="{D42A27DB-BD31-4B8C-83A1-F6EECF244321}">
                <p14:modId xmlns:p14="http://schemas.microsoft.com/office/powerpoint/2010/main" val="3412129890"/>
              </p:ext>
            </p:extLst>
          </p:nvPr>
        </p:nvGraphicFramePr>
        <p:xfrm>
          <a:off x="1201289" y="1261242"/>
          <a:ext cx="6791960" cy="3957145"/>
        </p:xfrm>
        <a:graphic>
          <a:graphicData uri="http://schemas.openxmlformats.org/drawingml/2006/table">
            <a:tbl>
              <a:tblPr firstRow="1" firstCol="1" bandRow="1"/>
              <a:tblGrid>
                <a:gridCol w="3411855">
                  <a:extLst>
                    <a:ext uri="{9D8B030D-6E8A-4147-A177-3AD203B41FA5}">
                      <a16:colId xmlns:a16="http://schemas.microsoft.com/office/drawing/2014/main" val="20000"/>
                    </a:ext>
                  </a:extLst>
                </a:gridCol>
                <a:gridCol w="3380105">
                  <a:extLst>
                    <a:ext uri="{9D8B030D-6E8A-4147-A177-3AD203B41FA5}">
                      <a16:colId xmlns:a16="http://schemas.microsoft.com/office/drawing/2014/main" val="20001"/>
                    </a:ext>
                  </a:extLst>
                </a:gridCol>
              </a:tblGrid>
              <a:tr h="321883">
                <a:tc>
                  <a:txBody>
                    <a:bodyPr/>
                    <a:lstStyle/>
                    <a:p>
                      <a:pPr marL="0" marR="0" algn="ctr">
                        <a:spcBef>
                          <a:spcPts val="0"/>
                        </a:spcBef>
                        <a:spcAft>
                          <a:spcPts val="0"/>
                        </a:spcAft>
                      </a:pPr>
                      <a:r>
                        <a:rPr lang="en-US" sz="2000" b="1" dirty="0">
                          <a:effectLst/>
                          <a:latin typeface="Verdana" charset="0"/>
                        </a:rPr>
                        <a:t>Stack A</a:t>
                      </a:r>
                      <a:endParaRPr lang="en-US" sz="1400" dirty="0">
                        <a:effectLst/>
                        <a:latin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rPr>
                        <a:t>Stack B</a:t>
                      </a:r>
                      <a:endParaRPr lang="en-US" sz="1400">
                        <a:effectLst/>
                        <a:latin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3635262">
                <a:tc>
                  <a:txBody>
                    <a:bodyPr/>
                    <a:lstStyle/>
                    <a:p>
                      <a:pPr marL="0" marR="0" algn="ctr">
                        <a:spcBef>
                          <a:spcPts val="0"/>
                        </a:spcBef>
                        <a:spcAft>
                          <a:spcPts val="0"/>
                        </a:spcAft>
                      </a:pPr>
                      <a:endParaRPr lang="en-US" sz="2000">
                        <a:effectLst/>
                        <a:latin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endParaRPr lang="en-US" sz="2000" dirty="0">
                        <a:effectLst/>
                        <a:latin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pic>
        <p:nvPicPr>
          <p:cNvPr id="7" name="Picture 6"/>
          <p:cNvPicPr/>
          <p:nvPr/>
        </p:nvPicPr>
        <p:blipFill>
          <a:blip r:embed="rId5" cstate="screen">
            <a:extLst>
              <a:ext uri="{28A0092B-C50C-407E-A947-70E740481C1C}">
                <a14:useLocalDpi xmlns:a14="http://schemas.microsoft.com/office/drawing/2010/main"/>
              </a:ext>
            </a:extLst>
          </a:blip>
          <a:stretch>
            <a:fillRect/>
          </a:stretch>
        </p:blipFill>
        <p:spPr>
          <a:xfrm rot="5400000">
            <a:off x="1228680" y="2141101"/>
            <a:ext cx="3248025" cy="2435225"/>
          </a:xfrm>
          <a:prstGeom prst="rect">
            <a:avLst/>
          </a:prstGeom>
        </p:spPr>
      </p:pic>
      <p:pic>
        <p:nvPicPr>
          <p:cNvPr id="8" name="Picture 7"/>
          <p:cNvPicPr/>
          <p:nvPr/>
        </p:nvPicPr>
        <p:blipFill>
          <a:blip r:embed="rId6" cstate="screen">
            <a:extLst>
              <a:ext uri="{28A0092B-C50C-407E-A947-70E740481C1C}">
                <a14:useLocalDpi xmlns:a14="http://schemas.microsoft.com/office/drawing/2010/main"/>
              </a:ext>
            </a:extLst>
          </a:blip>
          <a:stretch>
            <a:fillRect/>
          </a:stretch>
        </p:blipFill>
        <p:spPr>
          <a:xfrm rot="5400000">
            <a:off x="4675112" y="2144276"/>
            <a:ext cx="3243263" cy="2433637"/>
          </a:xfrm>
          <a:prstGeom prst="rect">
            <a:avLst/>
          </a:prstGeom>
        </p:spPr>
      </p:pic>
    </p:spTree>
    <p:extLst>
      <p:ext uri="{BB962C8B-B14F-4D97-AF65-F5344CB8AC3E}">
        <p14:creationId xmlns:p14="http://schemas.microsoft.com/office/powerpoint/2010/main" val="20985654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81</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40564" y="520393"/>
                <a:ext cx="11087585" cy="841897"/>
              </a:xfrm>
              <a:prstGeom prst="rect">
                <a:avLst/>
              </a:prstGeom>
              <a:noFill/>
            </p:spPr>
            <p:txBody>
              <a:bodyPr wrap="square" rtlCol="0">
                <a:spAutoFit/>
              </a:bodyPr>
              <a:lstStyle/>
              <a:p>
                <a:r>
                  <a:rPr lang="en-US" sz="2000" dirty="0">
                    <a:latin typeface="Verdana" charset="0"/>
                    <a:ea typeface="Verdana" charset="0"/>
                    <a:cs typeface="Verdana" charset="0"/>
                  </a:rPr>
                  <a:t>Each chocolate square has the dimensions </a:t>
                </a:r>
                <a14:m>
                  <m:oMath xmlns:m="http://schemas.openxmlformats.org/officeDocument/2006/math">
                    <m:r>
                      <a:rPr lang="en-US" sz="2000" i="1">
                        <a:latin typeface="Cambria Math" charset="0"/>
                        <a:ea typeface="Verdana" charset="0"/>
                        <a:cs typeface="Verdana" charset="0"/>
                      </a:rPr>
                      <m:t>1</m:t>
                    </m:r>
                    <m:f>
                      <m:fPr>
                        <m:ctrlPr>
                          <a:rPr lang="en-US" sz="2000" i="1">
                            <a:latin typeface="Cambria Math" panose="02040503050406030204" pitchFamily="18" charset="0"/>
                            <a:ea typeface="Verdana" charset="0"/>
                            <a:cs typeface="Verdana" charset="0"/>
                          </a:rPr>
                        </m:ctrlPr>
                      </m:fPr>
                      <m:num>
                        <m:r>
                          <a:rPr lang="en-US" sz="2000" i="1">
                            <a:latin typeface="Cambria Math" charset="0"/>
                            <a:ea typeface="Verdana" charset="0"/>
                            <a:cs typeface="Verdana" charset="0"/>
                          </a:rPr>
                          <m:t>5</m:t>
                        </m:r>
                      </m:num>
                      <m:den>
                        <m:r>
                          <a:rPr lang="en-US" sz="2000" i="1">
                            <a:latin typeface="Cambria Math" charset="0"/>
                            <a:ea typeface="Verdana" charset="0"/>
                            <a:cs typeface="Verdana" charset="0"/>
                          </a:rPr>
                          <m:t>8</m:t>
                        </m:r>
                      </m:den>
                    </m:f>
                  </m:oMath>
                </a14:m>
                <a:r>
                  <a:rPr lang="en-US" sz="2000" dirty="0">
                    <a:latin typeface="Verdana" charset="0"/>
                    <a:ea typeface="Verdana" charset="0"/>
                    <a:cs typeface="Verdana" charset="0"/>
                  </a:rPr>
                  <a:t> inches (in.) by </a:t>
                </a:r>
                <a14:m>
                  <m:oMath xmlns:m="http://schemas.openxmlformats.org/officeDocument/2006/math">
                    <m:r>
                      <a:rPr lang="en-US" sz="2000" i="1">
                        <a:latin typeface="Cambria Math" charset="0"/>
                        <a:ea typeface="Verdana" charset="0"/>
                        <a:cs typeface="Verdana" charset="0"/>
                      </a:rPr>
                      <m:t>1</m:t>
                    </m:r>
                    <m:f>
                      <m:fPr>
                        <m:ctrlPr>
                          <a:rPr lang="en-US" sz="2000" i="1">
                            <a:latin typeface="Cambria Math" panose="02040503050406030204" pitchFamily="18" charset="0"/>
                            <a:ea typeface="Verdana" charset="0"/>
                            <a:cs typeface="Verdana" charset="0"/>
                          </a:rPr>
                        </m:ctrlPr>
                      </m:fPr>
                      <m:num>
                        <m:r>
                          <a:rPr lang="en-US" sz="2000" i="1">
                            <a:latin typeface="Cambria Math" charset="0"/>
                            <a:ea typeface="Verdana" charset="0"/>
                            <a:cs typeface="Verdana" charset="0"/>
                          </a:rPr>
                          <m:t>5</m:t>
                        </m:r>
                      </m:num>
                      <m:den>
                        <m:r>
                          <a:rPr lang="en-US" sz="2000" i="1">
                            <a:latin typeface="Cambria Math" charset="0"/>
                            <a:ea typeface="Verdana" charset="0"/>
                            <a:cs typeface="Verdana" charset="0"/>
                          </a:rPr>
                          <m:t>8</m:t>
                        </m:r>
                      </m:den>
                    </m:f>
                  </m:oMath>
                </a14:m>
                <a:r>
                  <a:rPr lang="en-US" sz="2000" dirty="0">
                    <a:latin typeface="Verdana" charset="0"/>
                    <a:ea typeface="Verdana" charset="0"/>
                    <a:cs typeface="Verdana" charset="0"/>
                  </a:rPr>
                  <a:t> in. Each square is </a:t>
                </a:r>
                <a14:m>
                  <m:oMath xmlns:m="http://schemas.openxmlformats.org/officeDocument/2006/math">
                    <m:f>
                      <m:fPr>
                        <m:ctrlPr>
                          <a:rPr lang="en-US" sz="2000" i="1">
                            <a:latin typeface="Cambria Math" panose="02040503050406030204" pitchFamily="18" charset="0"/>
                            <a:ea typeface="Verdana" charset="0"/>
                            <a:cs typeface="Verdana" charset="0"/>
                          </a:rPr>
                        </m:ctrlPr>
                      </m:fPr>
                      <m:num>
                        <m:r>
                          <a:rPr lang="en-US" sz="2000" i="1">
                            <a:latin typeface="Cambria Math" charset="0"/>
                            <a:ea typeface="Verdana" charset="0"/>
                            <a:cs typeface="Verdana" charset="0"/>
                          </a:rPr>
                          <m:t>1</m:t>
                        </m:r>
                      </m:num>
                      <m:den>
                        <m:r>
                          <a:rPr lang="en-US" sz="2000" i="1">
                            <a:latin typeface="Cambria Math" charset="0"/>
                            <a:ea typeface="Verdana" charset="0"/>
                            <a:cs typeface="Verdana" charset="0"/>
                          </a:rPr>
                          <m:t>8</m:t>
                        </m:r>
                      </m:den>
                    </m:f>
                  </m:oMath>
                </a14:m>
                <a:r>
                  <a:rPr lang="en-US" sz="2000" dirty="0">
                    <a:latin typeface="Verdana" charset="0"/>
                    <a:ea typeface="Verdana" charset="0"/>
                    <a:cs typeface="Verdana" charset="0"/>
                  </a:rPr>
                  <a:t> in thick. Find the volume of each stack.</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40564" y="520393"/>
                <a:ext cx="11087585" cy="841897"/>
              </a:xfrm>
              <a:prstGeom prst="rect">
                <a:avLst/>
              </a:prstGeom>
              <a:blipFill>
                <a:blip r:embed="rId4"/>
                <a:stretch>
                  <a:fillRect l="-605" b="-12319"/>
                </a:stretch>
              </a:blipFill>
            </p:spPr>
            <p:txBody>
              <a:bodyPr/>
              <a:lstStyle/>
              <a:p>
                <a:r>
                  <a:rPr lang="en-US">
                    <a:noFill/>
                  </a:rPr>
                  <a:t> </a:t>
                </a:r>
              </a:p>
            </p:txBody>
          </p:sp>
        </mc:Fallback>
      </mc:AlternateContent>
      <p:graphicFrame>
        <p:nvGraphicFramePr>
          <p:cNvPr id="3" name="Table 2"/>
          <p:cNvGraphicFramePr>
            <a:graphicFrameLocks noGrp="1"/>
          </p:cNvGraphicFramePr>
          <p:nvPr>
            <p:extLst>
              <p:ext uri="{D42A27DB-BD31-4B8C-83A1-F6EECF244321}">
                <p14:modId xmlns:p14="http://schemas.microsoft.com/office/powerpoint/2010/main" val="2693334691"/>
              </p:ext>
            </p:extLst>
          </p:nvPr>
        </p:nvGraphicFramePr>
        <p:xfrm>
          <a:off x="1721821" y="1825626"/>
          <a:ext cx="5813959" cy="4420635"/>
        </p:xfrm>
        <a:graphic>
          <a:graphicData uri="http://schemas.openxmlformats.org/drawingml/2006/table">
            <a:tbl>
              <a:tblPr firstRow="1" firstCol="1" bandRow="1"/>
              <a:tblGrid>
                <a:gridCol w="2834748">
                  <a:extLst>
                    <a:ext uri="{9D8B030D-6E8A-4147-A177-3AD203B41FA5}">
                      <a16:colId xmlns:a16="http://schemas.microsoft.com/office/drawing/2014/main" val="20000"/>
                    </a:ext>
                  </a:extLst>
                </a:gridCol>
                <a:gridCol w="2979211">
                  <a:extLst>
                    <a:ext uri="{9D8B030D-6E8A-4147-A177-3AD203B41FA5}">
                      <a16:colId xmlns:a16="http://schemas.microsoft.com/office/drawing/2014/main" val="20001"/>
                    </a:ext>
                  </a:extLst>
                </a:gridCol>
              </a:tblGrid>
              <a:tr h="235502">
                <a:tc>
                  <a:txBody>
                    <a:bodyPr/>
                    <a:lstStyle/>
                    <a:p>
                      <a:pPr marL="0" marR="0" algn="ctr">
                        <a:spcBef>
                          <a:spcPts val="0"/>
                        </a:spcBef>
                        <a:spcAft>
                          <a:spcPts val="0"/>
                        </a:spcAft>
                      </a:pPr>
                      <a:r>
                        <a:rPr lang="en-US" sz="2000" b="1">
                          <a:effectLst/>
                          <a:latin typeface="Verdana" charset="0"/>
                        </a:rPr>
                        <a:t>Stack A</a:t>
                      </a:r>
                      <a:endParaRPr lang="en-US" sz="1200">
                        <a:effectLst/>
                        <a:latin typeface="Cambria" charset="0"/>
                      </a:endParaRPr>
                    </a:p>
                  </a:txBody>
                  <a:tcPr marL="58876" marR="588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rPr>
                        <a:t>Stack B</a:t>
                      </a:r>
                      <a:endParaRPr lang="en-US" sz="1200">
                        <a:effectLst/>
                        <a:latin typeface="Cambria" charset="0"/>
                      </a:endParaRPr>
                    </a:p>
                  </a:txBody>
                  <a:tcPr marL="58876" marR="588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4115835">
                <a:tc>
                  <a:txBody>
                    <a:bodyPr/>
                    <a:lstStyle/>
                    <a:p>
                      <a:pPr marL="0" marR="0">
                        <a:spcBef>
                          <a:spcPts val="0"/>
                        </a:spcBef>
                        <a:spcAft>
                          <a:spcPts val="0"/>
                        </a:spcAft>
                      </a:pPr>
                      <a:r>
                        <a:rPr lang="en-US" sz="2000" b="1" dirty="0">
                          <a:effectLst/>
                          <a:latin typeface="Verdana" charset="0"/>
                        </a:rPr>
                        <a:t> </a:t>
                      </a:r>
                      <a:endParaRPr lang="en-US" sz="1200" dirty="0">
                        <a:effectLst/>
                        <a:latin typeface="Cambria" charset="0"/>
                      </a:endParaRPr>
                    </a:p>
                  </a:txBody>
                  <a:tcPr marL="58876" marR="588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b="1" dirty="0">
                          <a:effectLst/>
                          <a:latin typeface="Verdana" charset="0"/>
                        </a:rPr>
                        <a:t> </a:t>
                      </a:r>
                      <a:endParaRPr lang="en-US" sz="1200" dirty="0">
                        <a:effectLst/>
                        <a:latin typeface="Cambria" charset="0"/>
                      </a:endParaRPr>
                    </a:p>
                  </a:txBody>
                  <a:tcPr marL="58876" marR="588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722306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7701"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81</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40565" y="520393"/>
                <a:ext cx="11065362" cy="1323439"/>
              </a:xfrm>
              <a:prstGeom prst="rect">
                <a:avLst/>
              </a:prstGeom>
              <a:noFill/>
            </p:spPr>
            <p:txBody>
              <a:bodyPr wrap="square" rtlCol="0">
                <a:spAutoFit/>
              </a:bodyPr>
              <a:lstStyle/>
              <a:p>
                <a:pPr marL="457200" indent="-457200">
                  <a:buFont typeface="+mj-lt"/>
                  <a:buAutoNum type="arabicPeriod" startAt="3"/>
                </a:pPr>
                <a:r>
                  <a:rPr lang="en-US" sz="2000" dirty="0">
                    <a:latin typeface="Verdana" charset="0"/>
                    <a:ea typeface="Verdana" charset="0"/>
                    <a:cs typeface="Verdana" charset="0"/>
                  </a:rPr>
                  <a:t>While cleaning out an attic, you found an old stack of compact discs (CDs) that were used to store music. If each disc has an area of </a:t>
                </a:r>
                <a14:m>
                  <m:oMath xmlns:m="http://schemas.openxmlformats.org/officeDocument/2006/math">
                    <m:r>
                      <a:rPr lang="en-US" sz="2000" i="1">
                        <a:latin typeface="Cambria Math" charset="0"/>
                        <a:ea typeface="Verdana" charset="0"/>
                        <a:cs typeface="Verdana" charset="0"/>
                      </a:rPr>
                      <m:t>36</m:t>
                    </m:r>
                    <m:r>
                      <a:rPr lang="en-US" sz="2000" i="1">
                        <a:latin typeface="Cambria Math" charset="0"/>
                        <a:ea typeface="Verdana" charset="0"/>
                        <a:cs typeface="Verdana" charset="0"/>
                      </a:rPr>
                      <m:t>𝜋</m:t>
                    </m:r>
                  </m:oMath>
                </a14:m>
                <a:r>
                  <a:rPr lang="en-US" sz="2000" dirty="0">
                    <a:latin typeface="Verdana" charset="0"/>
                    <a:ea typeface="Verdana" charset="0"/>
                    <a:cs typeface="Verdana" charset="0"/>
                  </a:rPr>
                  <a:t> cm</a:t>
                </a:r>
                <a:r>
                  <a:rPr lang="en-US" sz="2000" baseline="30000" dirty="0">
                    <a:latin typeface="Verdana" charset="0"/>
                    <a:ea typeface="Verdana" charset="0"/>
                    <a:cs typeface="Verdana" charset="0"/>
                  </a:rPr>
                  <a:t>2</a:t>
                </a:r>
                <a:r>
                  <a:rPr lang="en-US" sz="2000" dirty="0">
                    <a:latin typeface="Verdana" charset="0"/>
                    <a:ea typeface="Verdana" charset="0"/>
                    <a:cs typeface="Verdana" charset="0"/>
                  </a:rPr>
                  <a:t>, explain how you can find the approximate volume of a stack of </a:t>
                </a:r>
                <a14:m>
                  <m:oMath xmlns:m="http://schemas.openxmlformats.org/officeDocument/2006/math">
                    <m:r>
                      <a:rPr lang="en-US" sz="2000" i="1">
                        <a:latin typeface="Cambria Math" charset="0"/>
                        <a:ea typeface="Verdana" charset="0"/>
                        <a:cs typeface="Verdana" charset="0"/>
                      </a:rPr>
                      <m:t>25</m:t>
                    </m:r>
                  </m:oMath>
                </a14:m>
                <a:r>
                  <a:rPr lang="en-US" sz="2000" dirty="0">
                    <a:latin typeface="Verdana" charset="0"/>
                    <a:ea typeface="Verdana" charset="0"/>
                    <a:cs typeface="Verdana" charset="0"/>
                  </a:rPr>
                  <a:t> CDs. </a:t>
                </a:r>
              </a:p>
              <a:p>
                <a:pPr marL="457200" indent="-457200">
                  <a:buFont typeface="+mj-lt"/>
                  <a:buAutoNum type="arabicPeriod" startAt="3"/>
                </a:pPr>
                <a:endParaRPr lang="en-US" sz="2000" dirty="0">
                  <a:latin typeface="Verdana" charset="0"/>
                  <a:ea typeface="Verdana" charset="0"/>
                  <a:cs typeface="Verdana"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40565" y="520393"/>
                <a:ext cx="11065362" cy="1323439"/>
              </a:xfrm>
              <a:prstGeom prst="rect">
                <a:avLst/>
              </a:prstGeom>
              <a:blipFill>
                <a:blip r:embed="rId4"/>
                <a:stretch>
                  <a:fillRect l="-606" t="-2765"/>
                </a:stretch>
              </a:blipFill>
            </p:spPr>
            <p:txBody>
              <a:bodyPr/>
              <a:lstStyle/>
              <a:p>
                <a:r>
                  <a:rPr lang="en-US">
                    <a:noFill/>
                  </a:rPr>
                  <a:t> </a:t>
                </a:r>
              </a:p>
            </p:txBody>
          </p:sp>
        </mc:Fallback>
      </mc:AlternateContent>
      <p:pic>
        <p:nvPicPr>
          <p:cNvPr id="2" name="Picture 1"/>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5814550" y="2358025"/>
            <a:ext cx="2667000" cy="2133600"/>
          </a:xfrm>
          <a:prstGeom prst="rect">
            <a:avLst/>
          </a:prstGeom>
        </p:spPr>
      </p:pic>
    </p:spTree>
    <p:extLst>
      <p:ext uri="{BB962C8B-B14F-4D97-AF65-F5344CB8AC3E}">
        <p14:creationId xmlns:p14="http://schemas.microsoft.com/office/powerpoint/2010/main" val="2414742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7701"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81</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40566" y="520394"/>
                <a:ext cx="8057744" cy="3785652"/>
              </a:xfrm>
              <a:prstGeom prst="rect">
                <a:avLst/>
              </a:prstGeom>
              <a:noFill/>
            </p:spPr>
            <p:txBody>
              <a:bodyPr wrap="square" rtlCol="0">
                <a:spAutoFit/>
              </a:bodyPr>
              <a:lstStyle/>
              <a:p>
                <a:pPr marL="457200" indent="-457200">
                  <a:buFont typeface="+mj-lt"/>
                  <a:buAutoNum type="arabicPeriod" startAt="4"/>
                </a:pPr>
                <a:r>
                  <a:rPr lang="en-US" sz="2000" dirty="0">
                    <a:latin typeface="Verdana" charset="0"/>
                    <a:ea typeface="Verdana" charset="0"/>
                    <a:cs typeface="Verdana" charset="0"/>
                  </a:rPr>
                  <a:t>A zigzag crystal vase is shown, where the vase has a height of </a:t>
                </a:r>
                <a14:m>
                  <m:oMath xmlns:m="http://schemas.openxmlformats.org/officeDocument/2006/math">
                    <m:r>
                      <a:rPr lang="en-US" sz="2000" i="1">
                        <a:latin typeface="Cambria Math" charset="0"/>
                        <a:ea typeface="Verdana" charset="0"/>
                        <a:cs typeface="Verdana" charset="0"/>
                      </a:rPr>
                      <m:t>10</m:t>
                    </m:r>
                  </m:oMath>
                </a14:m>
                <a:r>
                  <a:rPr lang="en-US" sz="2000" dirty="0">
                    <a:latin typeface="Verdana" charset="0"/>
                    <a:ea typeface="Verdana" charset="0"/>
                    <a:cs typeface="Verdana" charset="0"/>
                  </a:rPr>
                  <a:t> inches (in.). The cross‑sections that are parallel to the base are always rectangles that are </a:t>
                </a:r>
                <a14:m>
                  <m:oMath xmlns:m="http://schemas.openxmlformats.org/officeDocument/2006/math">
                    <m:r>
                      <a:rPr lang="en-US" sz="2000" i="1">
                        <a:latin typeface="Cambria Math" charset="0"/>
                        <a:ea typeface="Verdana" charset="0"/>
                        <a:cs typeface="Verdana" charset="0"/>
                      </a:rPr>
                      <m:t>6</m:t>
                    </m:r>
                  </m:oMath>
                </a14:m>
                <a:r>
                  <a:rPr lang="en-US" sz="2000" dirty="0">
                    <a:latin typeface="Verdana" charset="0"/>
                    <a:ea typeface="Verdana" charset="0"/>
                    <a:cs typeface="Verdana" charset="0"/>
                  </a:rPr>
                  <a:t> in. wide by </a:t>
                </a:r>
                <a14:m>
                  <m:oMath xmlns:m="http://schemas.openxmlformats.org/officeDocument/2006/math">
                    <m:r>
                      <a:rPr lang="en-US" sz="2000" i="1">
                        <a:latin typeface="Cambria Math" charset="0"/>
                        <a:ea typeface="Verdana" charset="0"/>
                        <a:cs typeface="Verdana" charset="0"/>
                      </a:rPr>
                      <m:t>3</m:t>
                    </m:r>
                  </m:oMath>
                </a14:m>
                <a:r>
                  <a:rPr lang="en-US" sz="2000" dirty="0">
                    <a:latin typeface="Verdana" charset="0"/>
                    <a:ea typeface="Verdana" charset="0"/>
                    <a:cs typeface="Verdana" charset="0"/>
                  </a:rPr>
                  <a:t> in. long.</a:t>
                </a:r>
              </a:p>
              <a:p>
                <a:r>
                  <a:rPr lang="en-US" sz="2000" dirty="0">
                    <a:latin typeface="Verdana" charset="0"/>
                    <a:ea typeface="Verdana" charset="0"/>
                    <a:cs typeface="Verdana" charset="0"/>
                  </a:rPr>
                  <a:t> </a:t>
                </a:r>
              </a:p>
              <a:p>
                <a:pPr marL="923925" indent="-454025">
                  <a:buFont typeface="+mj-lt"/>
                  <a:buAutoNum type="alphaLcPeriod"/>
                </a:pPr>
                <a:r>
                  <a:rPr lang="en-US" sz="2000" dirty="0">
                    <a:latin typeface="Verdana" charset="0"/>
                    <a:ea typeface="Verdana" charset="0"/>
                    <a:cs typeface="Verdana" charset="0"/>
                  </a:rPr>
                  <a:t>Determine the volume of the vase, assuming the crystal itself has no thickness.</a:t>
                </a:r>
              </a:p>
              <a:p>
                <a:pPr marL="923925" indent="-454025">
                  <a:buFont typeface="+mj-lt"/>
                  <a:buAutoNum type="alphaLcPeriod"/>
                </a:pPr>
                <a:endParaRPr lang="en-US" sz="2000" dirty="0">
                  <a:latin typeface="Verdana" charset="0"/>
                  <a:ea typeface="Verdana" charset="0"/>
                  <a:cs typeface="Verdana" charset="0"/>
                </a:endParaRPr>
              </a:p>
              <a:p>
                <a:pPr marL="923925" indent="-454025">
                  <a:buFont typeface="+mj-lt"/>
                  <a:buAutoNum type="alphaLcPeriod"/>
                </a:pPr>
                <a:r>
                  <a:rPr lang="en-US" sz="2000" dirty="0">
                    <a:latin typeface="Verdana" charset="0"/>
                    <a:ea typeface="Verdana" charset="0"/>
                    <a:cs typeface="Verdana" charset="0"/>
                  </a:rPr>
                  <a:t>The crystal is actually half an inch thick on each of the sides and on the bottom. Approximately how much space is contained within the vase? Explain or show your reasoning. </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40566" y="520394"/>
                <a:ext cx="8057744" cy="3785652"/>
              </a:xfrm>
              <a:prstGeom prst="rect">
                <a:avLst/>
              </a:prstGeom>
              <a:blipFill>
                <a:blip r:embed="rId4"/>
                <a:stretch>
                  <a:fillRect l="-833" t="-966" b="-1932"/>
                </a:stretch>
              </a:blipFill>
            </p:spPr>
            <p:txBody>
              <a:bodyPr/>
              <a:lstStyle/>
              <a:p>
                <a:r>
                  <a:rPr lang="en-US">
                    <a:noFill/>
                  </a:rPr>
                  <a:t> </a:t>
                </a:r>
              </a:p>
            </p:txBody>
          </p:sp>
        </mc:Fallback>
      </mc:AlternateContent>
      <p:pic>
        <p:nvPicPr>
          <p:cNvPr id="2" name="Picture 1"/>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8720627" y="781823"/>
            <a:ext cx="2654300" cy="3505200"/>
          </a:xfrm>
          <a:prstGeom prst="rect">
            <a:avLst/>
          </a:prstGeom>
        </p:spPr>
      </p:pic>
    </p:spTree>
    <p:extLst>
      <p:ext uri="{BB962C8B-B14F-4D97-AF65-F5344CB8AC3E}">
        <p14:creationId xmlns:p14="http://schemas.microsoft.com/office/powerpoint/2010/main" val="8899967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82</a:t>
            </a: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82</a:t>
            </a: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34800" y="-82571"/>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9.5.6 Wrap-Up: Cool Down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05350" y="60325"/>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678591" y="1386026"/>
            <a:ext cx="10099333" cy="400110"/>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Write a summary of what you learned in this lesson.</a:t>
            </a: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1289</TotalTime>
  <Words>1205</Words>
  <Application>Microsoft Office PowerPoint</Application>
  <PresentationFormat>Widescreen</PresentationFormat>
  <Paragraphs>187</Paragraphs>
  <Slides>30</Slides>
  <Notes>30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30</vt:i4>
      </vt:variant>
    </vt:vector>
  </HeadingPairs>
  <TitlesOfParts>
    <vt:vector size="39" baseType="lpstr">
      <vt:lpstr>Arial</vt:lpstr>
      <vt:lpstr>Arial Black</vt:lpstr>
      <vt:lpstr>Calibri</vt:lpstr>
      <vt:lpstr>Cambria</vt:lpstr>
      <vt:lpstr>Cambria Math</vt:lpstr>
      <vt:lpstr>Century Gothic</vt:lpstr>
      <vt:lpstr>Verdana</vt:lpstr>
      <vt:lpstr>Wingdings</vt:lpstr>
      <vt:lpstr>1_Office Theme</vt:lpstr>
      <vt:lpstr>Geometry  Unit 9, Lesson 5  Cavalieri’s Principle  Volume 2, pg. 76  </vt:lpstr>
      <vt:lpstr>Benchmark</vt:lpstr>
      <vt:lpstr>PowerPoint Presentation</vt:lpstr>
      <vt:lpstr>PowerPoint Presentation</vt:lpstr>
      <vt:lpstr>Warm-Up</vt:lpstr>
      <vt:lpstr>PowerPoint Presentation</vt:lpstr>
      <vt:lpstr>PowerPoint Presentation</vt:lpstr>
      <vt:lpstr>Collaboration</vt:lpstr>
      <vt:lpstr>PowerPoint Presentation</vt:lpstr>
      <vt:lpstr>PowerPoint Presentation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Guided Practice</vt:lpstr>
      <vt:lpstr>PowerPoint Presentation</vt:lpstr>
      <vt:lpstr>PowerPoint Presentation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Natasha Dease</cp:lastModifiedBy>
  <cp:revision>26</cp:revision>
  <dcterms:created xsi:type="dcterms:W3CDTF">2015-03-17T18:51:18Z</dcterms:created>
  <dcterms:modified xsi:type="dcterms:W3CDTF">2022-09-06T14:46:59Z</dcterms:modified>
</cp:coreProperties>
</file>