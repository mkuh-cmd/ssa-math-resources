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42" r:id="rId9"/>
    <p:sldId id="343" r:id="rId10"/>
    <p:sldId id="344" r:id="rId11"/>
    <p:sldId id="345" r:id="rId12"/>
    <p:sldId id="346" r:id="rId13"/>
    <p:sldId id="347" r:id="rId14"/>
    <p:sldId id="348" r:id="rId15"/>
    <p:sldId id="354" r:id="rId16"/>
    <p:sldId id="355" r:id="rId17"/>
    <p:sldId id="349" r:id="rId18"/>
    <p:sldId id="350" r:id="rId19"/>
    <p:sldId id="351" r:id="rId20"/>
    <p:sldId id="352" r:id="rId21"/>
    <p:sldId id="302" r:id="rId22"/>
    <p:sldId id="303" r:id="rId23"/>
    <p:sldId id="340" r:id="rId24"/>
    <p:sldId id="356" r:id="rId25"/>
    <p:sldId id="357"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74"/>
    <p:restoredTop sz="94694"/>
  </p:normalViewPr>
  <p:slideViewPr>
    <p:cSldViewPr snapToGrid="0">
      <p:cViewPr varScale="1">
        <p:scale>
          <a:sx n="78" d="100"/>
          <a:sy n="78" d="100"/>
        </p:scale>
        <p:origin x="293"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137022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08267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53390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99202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3620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068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3442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369045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895287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06100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65233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96867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611067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710540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6152937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Similarity in Transformations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311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53700"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06400" y="2620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80456"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445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06400" y="1630680"/>
            <a:ext cx="115259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MA.912.GR.2.8 </a:t>
            </a:r>
          </a:p>
          <a:p>
            <a:pPr marL="468313" indent="0">
              <a:buNone/>
            </a:pPr>
            <a:r>
              <a:rPr lang="en-US" sz="2400" dirty="0">
                <a:latin typeface="Verdana" charset="0"/>
                <a:ea typeface="Verdana" charset="0"/>
                <a:cs typeface="Verdana" charset="0"/>
              </a:rPr>
              <a:t>Apply an appropriate transformation to map one figure onto another to justify that the two figures are similar. </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MA.912.GR.2.3 </a:t>
            </a:r>
          </a:p>
          <a:p>
            <a:pPr marL="468313" indent="0">
              <a:buNone/>
            </a:pPr>
            <a:r>
              <a:rPr lang="en-US" sz="2400" dirty="0">
                <a:latin typeface="Verdana" charset="0"/>
                <a:ea typeface="Verdana" charset="0"/>
                <a:cs typeface="Verdana" charset="0"/>
              </a:rPr>
              <a:t>Identify a sequence of transformations that will map a given figure onto itself or onto another congruent or similar figure.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90505" y="21425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37805"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311</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90505" y="1582776"/>
            <a:ext cx="112376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9351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9568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2714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311</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899" y="1600200"/>
            <a:ext cx="1149843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map one similar figure onto another and justify that the figures are similar. </a:t>
            </a:r>
          </a:p>
          <a:p>
            <a:pPr marL="342900" indent="-342900">
              <a:buFont typeface="Wingdings" charset="2"/>
              <a:buChar char="q"/>
            </a:pPr>
            <a:r>
              <a:rPr lang="en-US" sz="2400" dirty="0">
                <a:latin typeface="Verdana" charset="0"/>
                <a:ea typeface="Verdana" charset="0"/>
                <a:cs typeface="Verdana" charset="0"/>
              </a:rPr>
              <a:t>I can describe a sequence of transformations that will map the preimage onto the image.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9286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388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6.6.1 Warm-Up: Dilation on an Isometric Graph</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208773"/>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9592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311</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394524" y="1374057"/>
                <a:ext cx="9993061" cy="400110"/>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𝑇𝑅𝑊𝑀</m:t>
                    </m:r>
                  </m:oMath>
                </a14:m>
                <a:r>
                  <a:rPr lang="en-US" sz="2000" dirty="0">
                    <a:latin typeface="Verdana" charset="0"/>
                    <a:ea typeface="Verdana" charset="0"/>
                    <a:cs typeface="Verdana" charset="0"/>
                  </a:rPr>
                  <a:t> and point </a:t>
                </a:r>
                <a14:m>
                  <m:oMath xmlns:m="http://schemas.openxmlformats.org/officeDocument/2006/math">
                    <m:r>
                      <a:rPr lang="en-US" sz="2000" i="1">
                        <a:latin typeface="Cambria Math" panose="02040503050406030204" pitchFamily="18" charset="0"/>
                        <a:ea typeface="Verdana" charset="0"/>
                        <a:cs typeface="Verdana" charset="0"/>
                      </a:rPr>
                      <m:t>𝑃</m:t>
                    </m:r>
                  </m:oMath>
                </a14:m>
                <a:r>
                  <a:rPr lang="en-US" sz="2000" dirty="0">
                    <a:latin typeface="Verdana" charset="0"/>
                    <a:ea typeface="Verdana" charset="0"/>
                    <a:cs typeface="Verdana" charset="0"/>
                  </a:rPr>
                  <a:t> are drawn on an isometric graph.</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394524" y="1374057"/>
                <a:ext cx="9993061" cy="400110"/>
              </a:xfrm>
              <a:prstGeom prst="rect">
                <a:avLst/>
              </a:prstGeom>
              <a:blipFill>
                <a:blip r:embed="rId5"/>
                <a:stretch>
                  <a:fillRect l="-508" t="-9375" b="-25000"/>
                </a:stretch>
              </a:blipFill>
            </p:spPr>
            <p:txBody>
              <a:bodyPr/>
              <a:lstStyle/>
              <a:p>
                <a:r>
                  <a:rPr lang="en-US">
                    <a:noFill/>
                  </a:rPr>
                  <a:t> </a:t>
                </a:r>
              </a:p>
            </p:txBody>
          </p:sp>
        </mc:Fallback>
      </mc:AlternateContent>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060449" y="1921768"/>
            <a:ext cx="7860033" cy="440027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50709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06400" y="520394"/>
                <a:ext cx="11356622" cy="2989152"/>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Draw a dilation of </a:t>
                </a:r>
                <a14:m>
                  <m:oMath xmlns:m="http://schemas.openxmlformats.org/officeDocument/2006/math">
                    <m:r>
                      <a:rPr lang="en-US" sz="2000" i="1">
                        <a:latin typeface="Cambria Math" charset="0"/>
                        <a:ea typeface="Verdana" charset="0"/>
                        <a:cs typeface="Verdana" charset="0"/>
                      </a:rPr>
                      <m:t>𝑇𝑅𝑊𝑀</m:t>
                    </m:r>
                  </m:oMath>
                </a14:m>
                <a:r>
                  <a:rPr lang="en-US" sz="2000" dirty="0">
                    <a:latin typeface="Verdana" charset="0"/>
                    <a:ea typeface="Verdana" charset="0"/>
                    <a:cs typeface="Verdana" charset="0"/>
                  </a:rPr>
                  <a:t> centered at point </a:t>
                </a:r>
                <a14:m>
                  <m:oMath xmlns:m="http://schemas.openxmlformats.org/officeDocument/2006/math">
                    <m:r>
                      <a:rPr lang="en-US" sz="2000" i="1">
                        <a:latin typeface="Cambria Math" charset="0"/>
                        <a:ea typeface="Verdana" charset="0"/>
                        <a:cs typeface="Verdana" charset="0"/>
                      </a:rPr>
                      <m:t>𝑃</m:t>
                    </m:r>
                  </m:oMath>
                </a14:m>
                <a:r>
                  <a:rPr lang="en-US" sz="2000" dirty="0">
                    <a:latin typeface="Verdana" charset="0"/>
                    <a:ea typeface="Verdana" charset="0"/>
                    <a:cs typeface="Verdana" charset="0"/>
                  </a:rPr>
                  <a:t> using a scale factor of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2</m:t>
                        </m:r>
                      </m:den>
                    </m:f>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Explain what features on the graph were most useful in helping you determine where the dilation of </a:t>
                </a:r>
                <a14:m>
                  <m:oMath xmlns:m="http://schemas.openxmlformats.org/officeDocument/2006/math">
                    <m:r>
                      <a:rPr lang="en-US" sz="2000" i="1">
                        <a:latin typeface="Cambria Math" charset="0"/>
                        <a:ea typeface="Verdana" charset="0"/>
                        <a:cs typeface="Verdana" charset="0"/>
                      </a:rPr>
                      <m:t>𝑇𝑅𝑊𝑀</m:t>
                    </m:r>
                  </m:oMath>
                </a14:m>
                <a:r>
                  <a:rPr lang="en-US" sz="2000" dirty="0">
                    <a:latin typeface="Verdana" charset="0"/>
                    <a:ea typeface="Verdana" charset="0"/>
                    <a:cs typeface="Verdana" charset="0"/>
                  </a:rPr>
                  <a:t> should be drawn.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06400" y="520394"/>
                <a:ext cx="11356622" cy="2989152"/>
              </a:xfrm>
              <a:prstGeom prst="rect">
                <a:avLst/>
              </a:prstGeom>
              <a:blipFill>
                <a:blip r:embed="rId4"/>
                <a:stretch>
                  <a:fillRect l="-670" b="-2532"/>
                </a:stretch>
              </a:blipFill>
            </p:spPr>
            <p:txBody>
              <a:bodyPr/>
              <a:lstStyle/>
              <a:p>
                <a:r>
                  <a:rPr lang="en-US">
                    <a:noFill/>
                  </a:rPr>
                  <a:t> </a:t>
                </a:r>
              </a:p>
            </p:txBody>
          </p:sp>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2443"/>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312</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98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92643" y="-9356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6.6.2 Exploration: Similarity</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52936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312</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0389" y="172983"/>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417689" y="1386026"/>
                <a:ext cx="11017955" cy="1015663"/>
              </a:xfrm>
              <a:prstGeom prst="rect">
                <a:avLst/>
              </a:prstGeom>
              <a:noFill/>
            </p:spPr>
            <p:txBody>
              <a:bodyPr wrap="square" rtlCol="0">
                <a:spAutoFit/>
              </a:bodyPr>
              <a:lstStyle/>
              <a:p>
                <a:r>
                  <a:rPr lang="en-US" sz="2000" dirty="0">
                    <a:latin typeface="Verdana" charset="0"/>
                    <a:ea typeface="Verdana" charset="0"/>
                    <a:cs typeface="Verdana" charset="0"/>
                  </a:rPr>
                  <a:t>With your partner, complete the following. </a:t>
                </a:r>
              </a:p>
              <a:p>
                <a:r>
                  <a:rPr lang="en-US" sz="2000" dirty="0">
                    <a:latin typeface="Verdana" charset="0"/>
                    <a:ea typeface="Verdana" charset="0"/>
                    <a:cs typeface="Verdana" charset="0"/>
                  </a:rPr>
                  <a:t> </a:t>
                </a:r>
              </a:p>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𝑀</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𝑆</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was created by applying a sequence of  transformations to </a:t>
                </a:r>
                <a14:m>
                  <m:oMath xmlns:m="http://schemas.openxmlformats.org/officeDocument/2006/math">
                    <m:r>
                      <a:rPr lang="en-US" sz="2000" i="1">
                        <a:latin typeface="Cambria Math" panose="02040503050406030204" pitchFamily="18" charset="0"/>
                        <a:ea typeface="Verdana" charset="0"/>
                        <a:cs typeface="Verdana" charset="0"/>
                      </a:rPr>
                      <m:t>𝑀𝐶𝑆𝐹</m:t>
                    </m:r>
                  </m:oMath>
                </a14:m>
                <a:r>
                  <a:rPr lang="en-US" sz="2000" dirty="0">
                    <a:latin typeface="Verdana" charset="0"/>
                    <a:ea typeface="Verdana" charset="0"/>
                    <a:cs typeface="Verdana"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417689" y="1386026"/>
                <a:ext cx="11017955" cy="1015663"/>
              </a:xfrm>
              <a:prstGeom prst="rect">
                <a:avLst/>
              </a:prstGeom>
              <a:blipFill>
                <a:blip r:embed="rId5"/>
                <a:stretch>
                  <a:fillRect l="-691" t="-2439" b="-8537"/>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39679" y="2709464"/>
            <a:ext cx="7626418" cy="3748211"/>
          </a:xfrm>
          <a:prstGeom prst="rect">
            <a:avLst/>
          </a:prstGeom>
        </p:spPr>
      </p:pic>
    </p:spTree>
    <p:extLst>
      <p:ext uri="{BB962C8B-B14F-4D97-AF65-F5344CB8AC3E}">
        <p14:creationId xmlns:p14="http://schemas.microsoft.com/office/powerpoint/2010/main" val="1640799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312</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427805" y="418794"/>
                <a:ext cx="10973973" cy="4401205"/>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With patty paper, trace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𝐹𝑀𝐶</m:t>
                    </m:r>
                  </m:oMath>
                </a14:m>
                <a:r>
                  <a:rPr lang="en-US" sz="2000" dirty="0">
                    <a:latin typeface="Verdana" charset="0"/>
                    <a:ea typeface="Verdana" charset="0"/>
                    <a:cs typeface="Verdana" charset="0"/>
                  </a:rPr>
                  <a:t> in </a:t>
                </a:r>
                <a14:m>
                  <m:oMath xmlns:m="http://schemas.openxmlformats.org/officeDocument/2006/math">
                    <m:r>
                      <a:rPr lang="en-US" sz="2000" i="1">
                        <a:latin typeface="Cambria Math" charset="0"/>
                        <a:ea typeface="Verdana" charset="0"/>
                        <a:cs typeface="Verdana" charset="0"/>
                      </a:rPr>
                      <m:t>𝑀𝐶𝑆𝐹</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Place the tracing over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r>
                      <a:rPr lang="en-US" sz="2000" i="1">
                        <a:latin typeface="Cambria Math" charset="0"/>
                        <a:ea typeface="Verdana" charset="0"/>
                        <a:cs typeface="Verdana" charset="0"/>
                      </a:rPr>
                      <m:t>𝑀</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 </m:t>
                    </m:r>
                  </m:oMath>
                </a14:m>
                <a:r>
                  <a:rPr lang="en-US" sz="2000" dirty="0">
                    <a:latin typeface="Verdana" charset="0"/>
                    <a:ea typeface="Verdana" charset="0"/>
                    <a:cs typeface="Verdana" charset="0"/>
                  </a:rPr>
                  <a:t>in </a:t>
                </a:r>
                <a14:m>
                  <m:oMath xmlns:m="http://schemas.openxmlformats.org/officeDocument/2006/math">
                    <m:r>
                      <a:rPr lang="en-US" sz="2000" i="1">
                        <a:latin typeface="Cambria Math" charset="0"/>
                        <a:ea typeface="Verdana" charset="0"/>
                        <a:cs typeface="Verdana" charset="0"/>
                      </a:rPr>
                      <m:t>𝑀</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r>
                      <a:rPr lang="en-US" sz="2000" i="1">
                        <a:latin typeface="Cambria Math" charset="0"/>
                        <a:ea typeface="Verdana" charset="0"/>
                        <a:cs typeface="Verdana" charset="0"/>
                      </a:rPr>
                      <m:t>𝑆</m:t>
                    </m:r>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What do you notice about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𝐹𝑀𝐶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r>
                      <a:rPr lang="en-US" sz="2000" i="1">
                        <a:latin typeface="Cambria Math" charset="0"/>
                        <a:ea typeface="Verdana" charset="0"/>
                        <a:cs typeface="Verdana" charset="0"/>
                      </a:rPr>
                      <m:t>𝑀</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Repeat the tracing for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𝑆</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𝐹</m:t>
                    </m:r>
                  </m:oMath>
                </a14:m>
                <a:r>
                  <a:rPr lang="en-US" sz="2000" dirty="0">
                    <a:latin typeface="Verdana" charset="0"/>
                    <a:ea typeface="Verdana" charset="0"/>
                    <a:cs typeface="Verdana" charset="0"/>
                  </a:rPr>
                  <a:t>.  What do you notice about each angle and their corresponding angles?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27805" y="418794"/>
                <a:ext cx="10973973" cy="4401205"/>
              </a:xfrm>
              <a:prstGeom prst="rect">
                <a:avLst/>
              </a:prstGeom>
              <a:blipFill>
                <a:blip r:embed="rId4"/>
                <a:stretch>
                  <a:fillRect l="-611" t="-970" b="-1524"/>
                </a:stretch>
              </a:blipFill>
            </p:spPr>
            <p:txBody>
              <a:bodyPr/>
              <a:lstStyle/>
              <a:p>
                <a:r>
                  <a:rPr lang="en-US">
                    <a:noFill/>
                  </a:rPr>
                  <a:t> </a:t>
                </a:r>
              </a:p>
            </p:txBody>
          </p:sp>
        </mc:Fallback>
      </mc:AlternateContent>
    </p:spTree>
    <p:extLst>
      <p:ext uri="{BB962C8B-B14F-4D97-AF65-F5344CB8AC3E}">
        <p14:creationId xmlns:p14="http://schemas.microsoft.com/office/powerpoint/2010/main" val="1478751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50402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28978" y="520394"/>
                <a:ext cx="11763022" cy="5016758"/>
              </a:xfrm>
              <a:prstGeom prst="rect">
                <a:avLst/>
              </a:prstGeom>
              <a:noFill/>
            </p:spPr>
            <p:txBody>
              <a:bodyPr wrap="square" rtlCol="0">
                <a:spAutoFit/>
              </a:bodyPr>
              <a:lstStyle/>
              <a:p>
                <a:pPr marL="457200" indent="-457200">
                  <a:buFont typeface="+mj-lt"/>
                  <a:buAutoNum type="alphaLcPeriod" startAt="5"/>
                </a:pPr>
                <a:r>
                  <a:rPr lang="en-US" sz="2000" dirty="0">
                    <a:latin typeface="Verdana" charset="0"/>
                    <a:ea typeface="Verdana" charset="0"/>
                    <a:cs typeface="Verdana" charset="0"/>
                  </a:rPr>
                  <a:t>Complete the table.</a:t>
                </a: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r>
                  <a:rPr lang="en-US" sz="2000" dirty="0">
                    <a:latin typeface="Verdana" charset="0"/>
                    <a:ea typeface="Verdana" charset="0"/>
                    <a:cs typeface="Verdana" charset="0"/>
                  </a:rPr>
                  <a:t>Determine a sequence of transformations that can be used to map </a:t>
                </a:r>
                <a14:m>
                  <m:oMath xmlns:m="http://schemas.openxmlformats.org/officeDocument/2006/math">
                    <m:r>
                      <a:rPr lang="en-US" sz="2000" i="1">
                        <a:latin typeface="Cambria Math" charset="0"/>
                        <a:ea typeface="Verdana" charset="0"/>
                        <a:cs typeface="Verdana" charset="0"/>
                      </a:rPr>
                      <m:t>𝑀𝐶𝑆𝐹</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charset="0"/>
                        <a:ea typeface="Verdana" charset="0"/>
                        <a:cs typeface="Verdana" charset="0"/>
                      </a:rPr>
                      <m:t>𝑀</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r>
                      <a:rPr lang="en-US" sz="2000" i="1">
                        <a:latin typeface="Cambria Math" charset="0"/>
                        <a:ea typeface="Verdana" charset="0"/>
                        <a:cs typeface="Verdana" charset="0"/>
                      </a:rPr>
                      <m:t>𝑆</m:t>
                    </m:r>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a:t>
                </a:r>
              </a:p>
              <a:p>
                <a:pPr marL="457200" indent="-457200">
                  <a:buFont typeface="+mj-lt"/>
                  <a:buAutoNum type="alphaLcPeriod" startAt="5"/>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28978" y="520394"/>
                <a:ext cx="11763022" cy="5016758"/>
              </a:xfrm>
              <a:prstGeom prst="rect">
                <a:avLst/>
              </a:prstGeom>
              <a:blipFill>
                <a:blip r:embed="rId4"/>
                <a:stretch>
                  <a:fillRect l="-539" t="-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31805528"/>
                  </p:ext>
                </p:extLst>
              </p:nvPr>
            </p:nvGraphicFramePr>
            <p:xfrm>
              <a:off x="2189798" y="1190681"/>
              <a:ext cx="7863179" cy="3307081"/>
            </p:xfrm>
            <a:graphic>
              <a:graphicData uri="http://schemas.openxmlformats.org/drawingml/2006/table">
                <a:tbl>
                  <a:tblPr firstRow="1" firstCol="1" bandRow="1"/>
                  <a:tblGrid>
                    <a:gridCol w="2950442">
                      <a:extLst>
                        <a:ext uri="{9D8B030D-6E8A-4147-A177-3AD203B41FA5}">
                          <a16:colId xmlns:a16="http://schemas.microsoft.com/office/drawing/2014/main" val="20000"/>
                        </a:ext>
                      </a:extLst>
                    </a:gridCol>
                    <a:gridCol w="4912737">
                      <a:extLst>
                        <a:ext uri="{9D8B030D-6E8A-4147-A177-3AD203B41FA5}">
                          <a16:colId xmlns:a16="http://schemas.microsoft.com/office/drawing/2014/main" val="20001"/>
                        </a:ext>
                      </a:extLst>
                    </a:gridCol>
                  </a:tblGrid>
                  <a:tr h="367453">
                    <a:tc>
                      <a:txBody>
                        <a:bodyPr/>
                        <a:lstStyle/>
                        <a:p>
                          <a:pPr marL="0" marR="0" algn="ctr">
                            <a:spcBef>
                              <a:spcPts val="0"/>
                            </a:spcBef>
                            <a:spcAft>
                              <a:spcPts val="0"/>
                            </a:spcAft>
                          </a:pPr>
                          <a:r>
                            <a:rPr lang="en-US" sz="2000" b="1">
                              <a:effectLst/>
                              <a:latin typeface="Verdana" charset="0"/>
                              <a:ea typeface="Times New Roman" charset="0"/>
                              <a:cs typeface="Times New Roman" charset="0"/>
                            </a:rPr>
                            <a:t>Angles</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Comparison Between Angles</a:t>
                          </a:r>
                          <a:endParaRPr lang="en-US" sz="20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34907">
                    <a:tc>
                      <a:txBody>
                        <a:bodyPr/>
                        <a:lstStyle/>
                        <a:p>
                          <a:pPr marL="0" marR="0" algn="ctr">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𝐹𝑀𝐶</m:t>
                              </m:r>
                            </m:oMath>
                          </a14:m>
                          <a:r>
                            <a:rPr lang="en-US" sz="200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𝐹</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𝑀</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𝐶</m:t>
                              </m:r>
                              <m:r>
                                <a:rPr lang="en-US" sz="2000" i="1">
                                  <a:effectLst/>
                                  <a:latin typeface="Cambria Math" charset="0"/>
                                  <a:ea typeface="Times New Roman" charset="0"/>
                                  <a:cs typeface="Times New Roman" charset="0"/>
                                </a:rPr>
                                <m:t>′′</m:t>
                              </m:r>
                            </m:oMath>
                          </a14:m>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4907">
                    <a:tc>
                      <a:txBody>
                        <a:bodyPr/>
                        <a:lstStyle/>
                        <a:p>
                          <a:pPr marL="0" marR="0" algn="ctr">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𝑀𝐶𝑆</m:t>
                              </m:r>
                            </m:oMath>
                          </a14:m>
                          <a:r>
                            <a:rPr lang="en-US" sz="200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𝑀</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𝐶</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𝑆</m:t>
                              </m:r>
                              <m:r>
                                <a:rPr lang="en-US" sz="2000" i="1">
                                  <a:effectLst/>
                                  <a:latin typeface="Cambria Math" charset="0"/>
                                  <a:ea typeface="Times New Roman" charset="0"/>
                                  <a:cs typeface="Times New Roman" charset="0"/>
                                </a:rPr>
                                <m:t>′′</m:t>
                              </m:r>
                            </m:oMath>
                          </a14:m>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4907">
                    <a:tc>
                      <a:txBody>
                        <a:bodyPr/>
                        <a:lstStyle/>
                        <a:p>
                          <a:pPr marL="0" marR="0" algn="ctr">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𝐶𝑆𝐹</m:t>
                              </m:r>
                              <m:r>
                                <a:rPr lang="en-US" sz="2000" i="1">
                                  <a:effectLst/>
                                  <a:latin typeface="Cambria Math" charset="0"/>
                                  <a:ea typeface="Times New Roman" charset="0"/>
                                  <a:cs typeface="Times New Roman" charset="0"/>
                                </a:rPr>
                                <m:t> </m:t>
                              </m:r>
                            </m:oMath>
                          </a14:m>
                          <a:r>
                            <a:rPr lang="en-US" sz="200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𝐶</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𝑆</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𝐹</m:t>
                              </m:r>
                              <m:r>
                                <a:rPr lang="en-US" sz="2000" i="1">
                                  <a:effectLst/>
                                  <a:latin typeface="Cambria Math" charset="0"/>
                                  <a:ea typeface="Times New Roman" charset="0"/>
                                  <a:cs typeface="Times New Roman" charset="0"/>
                                </a:rPr>
                                <m:t>′′</m:t>
                              </m:r>
                            </m:oMath>
                          </a14:m>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34907">
                    <a:tc>
                      <a:txBody>
                        <a:bodyPr/>
                        <a:lstStyle/>
                        <a:p>
                          <a:pPr marL="0" marR="0" algn="ctr">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𝑆𝐹𝑀</m:t>
                              </m:r>
                              <m:r>
                                <a:rPr lang="en-US" sz="2000" i="1">
                                  <a:effectLst/>
                                  <a:latin typeface="Cambria Math" charset="0"/>
                                  <a:ea typeface="Times New Roman" charset="0"/>
                                  <a:cs typeface="Times New Roman" charset="0"/>
                                </a:rPr>
                                <m:t> </m:t>
                              </m:r>
                            </m:oMath>
                          </a14:m>
                          <a:r>
                            <a:rPr lang="en-US" sz="2000" dirty="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𝑆</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𝐹</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𝑀</m:t>
                              </m:r>
                              <m:r>
                                <a:rPr lang="en-US" sz="2000" i="1">
                                  <a:effectLst/>
                                  <a:latin typeface="Cambria Math" charset="0"/>
                                  <a:ea typeface="Times New Roman" charset="0"/>
                                  <a:cs typeface="Times New Roman" charset="0"/>
                                </a:rPr>
                                <m:t>′′</m:t>
                              </m:r>
                            </m:oMath>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31805528"/>
                  </p:ext>
                </p:extLst>
              </p:nvPr>
            </p:nvGraphicFramePr>
            <p:xfrm>
              <a:off x="2189798" y="1190681"/>
              <a:ext cx="7863179" cy="3307081"/>
            </p:xfrm>
            <a:graphic>
              <a:graphicData uri="http://schemas.openxmlformats.org/drawingml/2006/table">
                <a:tbl>
                  <a:tblPr firstRow="1" firstCol="1" bandRow="1"/>
                  <a:tblGrid>
                    <a:gridCol w="2950442">
                      <a:extLst>
                        <a:ext uri="{9D8B030D-6E8A-4147-A177-3AD203B41FA5}">
                          <a16:colId xmlns:a16="http://schemas.microsoft.com/office/drawing/2014/main" val="20000"/>
                        </a:ext>
                      </a:extLst>
                    </a:gridCol>
                    <a:gridCol w="4912737">
                      <a:extLst>
                        <a:ext uri="{9D8B030D-6E8A-4147-A177-3AD203B41FA5}">
                          <a16:colId xmlns:a16="http://schemas.microsoft.com/office/drawing/2014/main" val="20001"/>
                        </a:ext>
                      </a:extLst>
                    </a:gridCol>
                  </a:tblGrid>
                  <a:tr h="367453">
                    <a:tc>
                      <a:txBody>
                        <a:bodyPr/>
                        <a:lstStyle/>
                        <a:p>
                          <a:pPr marL="0" marR="0" algn="ctr">
                            <a:spcBef>
                              <a:spcPts val="0"/>
                            </a:spcBef>
                            <a:spcAft>
                              <a:spcPts val="0"/>
                            </a:spcAft>
                          </a:pPr>
                          <a:r>
                            <a:rPr lang="en-US" sz="2000" b="1">
                              <a:effectLst/>
                              <a:latin typeface="Verdana" charset="0"/>
                              <a:ea typeface="Times New Roman" charset="0"/>
                              <a:cs typeface="Times New Roman" charset="0"/>
                            </a:rPr>
                            <a:t>Angles</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Comparison Between Angles</a:t>
                          </a:r>
                          <a:endParaRPr lang="en-US" sz="20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3490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9" t="-60345" r="-166524" b="-303448"/>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490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9" t="-157627" r="-166524" b="-198305"/>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490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9" t="-262069" r="-166524" b="-101724"/>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3490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29" t="-362069" r="-166524" b="-1724"/>
                          </a:stretch>
                        </a:blipFill>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749541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356"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9794" y="618739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5794" y="644447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40267" y="247306"/>
            <a:ext cx="11492089" cy="5324535"/>
          </a:xfrm>
          <a:prstGeom prst="rect">
            <a:avLst/>
          </a:prstGeom>
          <a:noFill/>
        </p:spPr>
        <p:txBody>
          <a:bodyPr wrap="square" rtlCol="0">
            <a:spAutoFit/>
          </a:bodyPr>
          <a:lstStyle/>
          <a:p>
            <a:pPr marL="457200" indent="-457200">
              <a:buFont typeface="+mj-lt"/>
              <a:buAutoNum type="alphaLcPeriod" startAt="7"/>
            </a:pPr>
            <a:r>
              <a:rPr lang="en-US" sz="2000" dirty="0">
                <a:latin typeface="Verdana" charset="0"/>
                <a:ea typeface="Verdana" charset="0"/>
                <a:cs typeface="Verdana" charset="0"/>
              </a:rPr>
              <a:t>Ask two classmates the transformations they determined. Record their transformations and write a summary of their reasoning. </a:t>
            </a:r>
            <a:r>
              <a:rPr lang="en-US" sz="2000" i="1" dirty="0">
                <a:latin typeface="Verdana" charset="0"/>
                <a:ea typeface="Verdana" charset="0"/>
                <a:cs typeface="Verdana" charset="0"/>
              </a:rPr>
              <a:t>You are the only person who should write in the first two columns of the table.</a:t>
            </a:r>
            <a:r>
              <a:rPr lang="en-US" sz="2000" dirty="0">
                <a:latin typeface="Verdana" charset="0"/>
                <a:ea typeface="Verdana" charset="0"/>
                <a:cs typeface="Verdana" charset="0"/>
              </a:rPr>
              <a:t> Have the person initial next to your summary stating your summary was correct. Remind your classmates to include any details on the center of rotation or dilation and any scale factor.</a:t>
            </a: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60375" indent="-460375"/>
            <a:r>
              <a:rPr lang="en-US" sz="2000" dirty="0">
                <a:latin typeface="Verdana" charset="0"/>
                <a:ea typeface="Verdana" charset="0"/>
                <a:cs typeface="Verdana" charset="0"/>
              </a:rPr>
              <a:t>h.   Work with your partner to verify your classmates’ transformations are correct.</a:t>
            </a:r>
          </a:p>
        </p:txBody>
      </p:sp>
      <p:graphicFrame>
        <p:nvGraphicFramePr>
          <p:cNvPr id="2" name="Table 1"/>
          <p:cNvGraphicFramePr>
            <a:graphicFrameLocks noGrp="1"/>
          </p:cNvGraphicFramePr>
          <p:nvPr>
            <p:extLst>
              <p:ext uri="{D42A27DB-BD31-4B8C-83A1-F6EECF244321}">
                <p14:modId xmlns:p14="http://schemas.microsoft.com/office/powerpoint/2010/main" val="4064554346"/>
              </p:ext>
            </p:extLst>
          </p:nvPr>
        </p:nvGraphicFramePr>
        <p:xfrm>
          <a:off x="2152650" y="2103523"/>
          <a:ext cx="7886700" cy="2438400"/>
        </p:xfrm>
        <a:graphic>
          <a:graphicData uri="http://schemas.openxmlformats.org/drawingml/2006/table">
            <a:tbl>
              <a:tblPr bandRow="1"/>
              <a:tblGrid>
                <a:gridCol w="2621581">
                  <a:extLst>
                    <a:ext uri="{9D8B030D-6E8A-4147-A177-3AD203B41FA5}">
                      <a16:colId xmlns:a16="http://schemas.microsoft.com/office/drawing/2014/main" val="20000"/>
                    </a:ext>
                  </a:extLst>
                </a:gridCol>
                <a:gridCol w="3996777">
                  <a:extLst>
                    <a:ext uri="{9D8B030D-6E8A-4147-A177-3AD203B41FA5}">
                      <a16:colId xmlns:a16="http://schemas.microsoft.com/office/drawing/2014/main" val="20001"/>
                    </a:ext>
                  </a:extLst>
                </a:gridCol>
                <a:gridCol w="1268342">
                  <a:extLst>
                    <a:ext uri="{9D8B030D-6E8A-4147-A177-3AD203B41FA5}">
                      <a16:colId xmlns:a16="http://schemas.microsoft.com/office/drawing/2014/main" val="20002"/>
                    </a:ext>
                  </a:extLst>
                </a:gridCol>
              </a:tblGrid>
              <a:tr h="555254">
                <a:tc>
                  <a:txBody>
                    <a:bodyPr/>
                    <a:lstStyle/>
                    <a:p>
                      <a:pPr marL="0" marR="0" algn="ctr">
                        <a:spcBef>
                          <a:spcPts val="0"/>
                        </a:spcBef>
                        <a:spcAft>
                          <a:spcPts val="0"/>
                        </a:spcAft>
                      </a:pPr>
                      <a:r>
                        <a:rPr lang="en-US" sz="2000" b="1">
                          <a:effectLst/>
                          <a:latin typeface="Verdana" charset="0"/>
                          <a:ea typeface="Verdana" charset="0"/>
                          <a:cs typeface="Verdana" charset="0"/>
                        </a:rPr>
                        <a:t>Transformations</a:t>
                      </a:r>
                      <a:endParaRPr lang="en-US" sz="2000">
                        <a:effectLst/>
                        <a:latin typeface="Cambria" charset="0"/>
                        <a:ea typeface="Times New Roman" charset="0"/>
                        <a:cs typeface="Times New Roman" charset="0"/>
                      </a:endParaRPr>
                    </a:p>
                  </a:txBody>
                  <a:tcPr marL="59315" marR="59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My Summary of Their Reason</a:t>
                      </a:r>
                      <a:endParaRPr lang="en-US" sz="2000" dirty="0">
                        <a:effectLst/>
                        <a:latin typeface="Cambria" charset="0"/>
                        <a:ea typeface="Times New Roman" charset="0"/>
                        <a:cs typeface="Times New Roman" charset="0"/>
                      </a:endParaRPr>
                    </a:p>
                  </a:txBody>
                  <a:tcPr marL="59315" marR="59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Initials</a:t>
                      </a:r>
                      <a:endParaRPr lang="en-US" sz="2000">
                        <a:effectLst/>
                        <a:latin typeface="Cambria" charset="0"/>
                        <a:ea typeface="Times New Roman" charset="0"/>
                        <a:cs typeface="Times New Roman" charset="0"/>
                      </a:endParaRPr>
                    </a:p>
                  </a:txBody>
                  <a:tcPr marL="59315" marR="59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22172">
                <a:tc>
                  <a:txBody>
                    <a:bodyPr/>
                    <a:lstStyle/>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3156">
                <a:tc>
                  <a:txBody>
                    <a:bodyPr/>
                    <a:lstStyle/>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200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2000" dirty="0">
                        <a:effectLst/>
                        <a:latin typeface="Cambria" charset="0"/>
                        <a:ea typeface="Times New Roman" charset="0"/>
                        <a:cs typeface="Times New Roman" charset="0"/>
                      </a:endParaRPr>
                    </a:p>
                  </a:txBody>
                  <a:tcPr marL="59315" marR="593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5523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72532" y="520393"/>
                <a:ext cx="11559823" cy="707886"/>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𝐻</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𝐺</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was created using a sequence of transformations applied to </a:t>
                </a:r>
                <a14:m>
                  <m:oMath xmlns:m="http://schemas.openxmlformats.org/officeDocument/2006/math">
                    <m:r>
                      <a:rPr lang="en-US" sz="2000" i="1">
                        <a:latin typeface="Cambria Math" panose="02040503050406030204" pitchFamily="18" charset="0"/>
                        <a:ea typeface="Verdana" charset="0"/>
                        <a:cs typeface="Verdana" charset="0"/>
                      </a:rPr>
                      <m:t>𝐻𝐵𝐺𝑃</m:t>
                    </m:r>
                  </m:oMath>
                </a14:m>
                <a:r>
                  <a:rPr lang="en-US" sz="2000" dirty="0">
                    <a:latin typeface="Verdana" charset="0"/>
                    <a:ea typeface="Verdana" charset="0"/>
                    <a:cs typeface="Verdana" charset="0"/>
                  </a:rPr>
                  <a:t>, the preimage.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72532" y="520393"/>
                <a:ext cx="11559823" cy="707886"/>
              </a:xfrm>
              <a:prstGeom prst="rect">
                <a:avLst/>
              </a:prstGeom>
              <a:blipFill>
                <a:blip r:embed="rId4"/>
                <a:stretch>
                  <a:fillRect l="-329" t="-3509" b="-1403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07765" y="1406620"/>
            <a:ext cx="7863554" cy="4872715"/>
          </a:xfrm>
          <a:prstGeom prst="rect">
            <a:avLst/>
          </a:prstGeom>
        </p:spPr>
      </p:pic>
    </p:spTree>
    <p:extLst>
      <p:ext uri="{BB962C8B-B14F-4D97-AF65-F5344CB8AC3E}">
        <p14:creationId xmlns:p14="http://schemas.microsoft.com/office/powerpoint/2010/main" val="50048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72534" y="520394"/>
            <a:ext cx="11255616" cy="5324535"/>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Complete the table.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Describe the relationship between the ratios of the preimage to the image.</a:t>
            </a:r>
          </a:p>
          <a:p>
            <a:pPr marL="457200" indent="-457200">
              <a:buFont typeface="+mj-lt"/>
              <a:buAutoNum type="alphaLcPeriod"/>
            </a:pPr>
            <a:endParaRPr lang="en-US" sz="2000" dirty="0">
              <a:latin typeface="Verdana" charset="0"/>
              <a:ea typeface="Verdana" charset="0"/>
              <a:cs typeface="Verdana" charset="0"/>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774824383"/>
                  </p:ext>
                </p:extLst>
              </p:nvPr>
            </p:nvGraphicFramePr>
            <p:xfrm>
              <a:off x="2066923" y="1273335"/>
              <a:ext cx="8267976" cy="3329145"/>
            </p:xfrm>
            <a:graphic>
              <a:graphicData uri="http://schemas.openxmlformats.org/drawingml/2006/table">
                <a:tbl>
                  <a:tblPr firstRow="1" firstCol="1" bandRow="1"/>
                  <a:tblGrid>
                    <a:gridCol w="1754591">
                      <a:extLst>
                        <a:ext uri="{9D8B030D-6E8A-4147-A177-3AD203B41FA5}">
                          <a16:colId xmlns:a16="http://schemas.microsoft.com/office/drawing/2014/main" val="20000"/>
                        </a:ext>
                      </a:extLst>
                    </a:gridCol>
                    <a:gridCol w="1595083">
                      <a:extLst>
                        <a:ext uri="{9D8B030D-6E8A-4147-A177-3AD203B41FA5}">
                          <a16:colId xmlns:a16="http://schemas.microsoft.com/office/drawing/2014/main" val="20001"/>
                        </a:ext>
                      </a:extLst>
                    </a:gridCol>
                    <a:gridCol w="1567850">
                      <a:extLst>
                        <a:ext uri="{9D8B030D-6E8A-4147-A177-3AD203B41FA5}">
                          <a16:colId xmlns:a16="http://schemas.microsoft.com/office/drawing/2014/main" val="20002"/>
                        </a:ext>
                      </a:extLst>
                    </a:gridCol>
                    <a:gridCol w="1595083">
                      <a:extLst>
                        <a:ext uri="{9D8B030D-6E8A-4147-A177-3AD203B41FA5}">
                          <a16:colId xmlns:a16="http://schemas.microsoft.com/office/drawing/2014/main" val="20003"/>
                        </a:ext>
                      </a:extLst>
                    </a:gridCol>
                    <a:gridCol w="1755369">
                      <a:extLst>
                        <a:ext uri="{9D8B030D-6E8A-4147-A177-3AD203B41FA5}">
                          <a16:colId xmlns:a16="http://schemas.microsoft.com/office/drawing/2014/main" val="20004"/>
                        </a:ext>
                      </a:extLst>
                    </a:gridCol>
                  </a:tblGrid>
                  <a:tr h="1463361">
                    <a:tc>
                      <a:txBody>
                        <a:bodyPr/>
                        <a:lstStyle/>
                        <a:p>
                          <a:pPr marL="0" marR="0" algn="ctr">
                            <a:spcBef>
                              <a:spcPts val="0"/>
                            </a:spcBef>
                            <a:spcAft>
                              <a:spcPts val="0"/>
                            </a:spcAft>
                          </a:pPr>
                          <a:r>
                            <a:rPr lang="en-US" sz="2000" b="1">
                              <a:effectLst/>
                              <a:latin typeface="Verdana" charset="0"/>
                              <a:ea typeface="Times New Roman" charset="0"/>
                              <a:cs typeface="Times New Roman" charset="0"/>
                            </a:rPr>
                            <a:t>Preimage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Side Length</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Image</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Side Length</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Ratio of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b="1">
                              <a:effectLst/>
                              <a:latin typeface="Verdana" charset="0"/>
                              <a:ea typeface="Times New Roman" charset="0"/>
                              <a:cs typeface="Times New Roman" charset="0"/>
                            </a:rPr>
                            <a:t>Preimage to Image Lengths</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64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𝐺𝑃</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𝐺</m:t>
                                    </m:r>
                                    <m:r>
                                      <a:rPr lang="en-US" sz="2000" b="0" i="1" smtClean="0">
                                        <a:effectLst/>
                                        <a:latin typeface="Cambria Math" panose="02040503050406030204" pitchFamily="18" charset="0"/>
                                        <a:cs typeface="Times New Roman" charset="0"/>
                                      </a:rPr>
                                      <m:t>"</m:t>
                                    </m:r>
                                    <m:r>
                                      <a:rPr lang="en-US" sz="2000" b="0" i="1" smtClean="0">
                                        <a:effectLst/>
                                        <a:latin typeface="Cambria Math" panose="02040503050406030204" pitchFamily="18" charset="0"/>
                                        <a:cs typeface="Times New Roman" charset="0"/>
                                      </a:rPr>
                                      <m:t>𝑃</m:t>
                                    </m:r>
                                    <m:r>
                                      <a:rPr lang="en-US" sz="2000" b="0" i="1" smtClean="0">
                                        <a:effectLst/>
                                        <a:latin typeface="Cambria Math" panose="02040503050406030204" pitchFamily="18" charset="0"/>
                                        <a:cs typeface="Times New Roman" charset="0"/>
                                      </a:rPr>
                                      <m:t>"</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64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𝑃𝐻</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𝑃</m:t>
                                    </m:r>
                                    <m:r>
                                      <a:rPr lang="en-US" sz="2000" b="0" i="1" smtClean="0">
                                        <a:effectLst/>
                                        <a:latin typeface="Cambria Math" panose="02040503050406030204" pitchFamily="18" charset="0"/>
                                        <a:cs typeface="Times New Roman" charset="0"/>
                                      </a:rPr>
                                      <m:t>"</m:t>
                                    </m:r>
                                    <m:r>
                                      <a:rPr lang="en-US" sz="2000" b="0" i="1" smtClean="0">
                                        <a:effectLst/>
                                        <a:latin typeface="Cambria Math" panose="02040503050406030204" pitchFamily="18" charset="0"/>
                                        <a:cs typeface="Times New Roman" charset="0"/>
                                      </a:rPr>
                                      <m:t>𝐻</m:t>
                                    </m:r>
                                    <m:r>
                                      <a:rPr lang="en-US" sz="2000" b="0" i="1" smtClean="0">
                                        <a:effectLst/>
                                        <a:latin typeface="Cambria Math" panose="02040503050406030204" pitchFamily="18" charset="0"/>
                                        <a:cs typeface="Times New Roman" charset="0"/>
                                      </a:rPr>
                                      <m:t>"</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64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𝐻𝐵</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𝐻</m:t>
                                    </m:r>
                                    <m:r>
                                      <a:rPr lang="en-US" sz="2000" b="0" i="1" smtClean="0">
                                        <a:effectLst/>
                                        <a:latin typeface="Cambria Math" panose="02040503050406030204" pitchFamily="18" charset="0"/>
                                        <a:cs typeface="Times New Roman" charset="0"/>
                                      </a:rPr>
                                      <m:t>"</m:t>
                                    </m:r>
                                    <m:r>
                                      <a:rPr lang="en-US" sz="2000" b="0" i="1" smtClean="0">
                                        <a:effectLst/>
                                        <a:latin typeface="Cambria Math" panose="02040503050406030204" pitchFamily="18" charset="0"/>
                                        <a:cs typeface="Times New Roman" charset="0"/>
                                      </a:rPr>
                                      <m:t>𝐵</m:t>
                                    </m:r>
                                    <m:r>
                                      <a:rPr lang="en-US" sz="2000" b="0" i="1" smtClean="0">
                                        <a:effectLst/>
                                        <a:latin typeface="Cambria Math" panose="02040503050406030204" pitchFamily="18" charset="0"/>
                                        <a:cs typeface="Times New Roman" charset="0"/>
                                      </a:rPr>
                                      <m:t>"</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644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𝐵𝐺</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effectLst/>
                                        <a:latin typeface="Cambria Math" panose="02040503050406030204" pitchFamily="18" charset="0"/>
                                        <a:cs typeface="Times New Roman" charset="0"/>
                                      </a:rPr>
                                    </m:ctrlPr>
                                  </m:accPr>
                                  <m:e>
                                    <m:r>
                                      <a:rPr lang="en-US" sz="2000" b="0" i="1" smtClean="0">
                                        <a:effectLst/>
                                        <a:latin typeface="Cambria Math" panose="02040503050406030204" pitchFamily="18" charset="0"/>
                                        <a:cs typeface="Times New Roman" charset="0"/>
                                      </a:rPr>
                                      <m:t>𝐵</m:t>
                                    </m:r>
                                    <m:r>
                                      <a:rPr lang="en-US" sz="2000" b="0" i="1" smtClean="0">
                                        <a:effectLst/>
                                        <a:latin typeface="Cambria Math" panose="02040503050406030204" pitchFamily="18" charset="0"/>
                                        <a:cs typeface="Times New Roman" charset="0"/>
                                      </a:rPr>
                                      <m:t>"</m:t>
                                    </m:r>
                                    <m:r>
                                      <a:rPr lang="en-US" sz="2000" b="0" i="1" smtClean="0">
                                        <a:effectLst/>
                                        <a:latin typeface="Cambria Math" panose="02040503050406030204" pitchFamily="18" charset="0"/>
                                        <a:cs typeface="Times New Roman" charset="0"/>
                                      </a:rPr>
                                      <m:t>𝐺</m:t>
                                    </m:r>
                                    <m:r>
                                      <a:rPr lang="en-US" sz="2000" b="0" i="1" smtClean="0">
                                        <a:effectLst/>
                                        <a:latin typeface="Cambria Math" panose="02040503050406030204" pitchFamily="18" charset="0"/>
                                        <a:cs typeface="Times New Roman" charset="0"/>
                                      </a:rPr>
                                      <m:t>"</m:t>
                                    </m:r>
                                  </m:e>
                                </m:acc>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774824383"/>
                  </p:ext>
                </p:extLst>
              </p:nvPr>
            </p:nvGraphicFramePr>
            <p:xfrm>
              <a:off x="2066923" y="1273335"/>
              <a:ext cx="8267976" cy="3329145"/>
            </p:xfrm>
            <a:graphic>
              <a:graphicData uri="http://schemas.openxmlformats.org/drawingml/2006/table">
                <a:tbl>
                  <a:tblPr firstRow="1" firstCol="1" bandRow="1"/>
                  <a:tblGrid>
                    <a:gridCol w="1754591">
                      <a:extLst>
                        <a:ext uri="{9D8B030D-6E8A-4147-A177-3AD203B41FA5}">
                          <a16:colId xmlns:a16="http://schemas.microsoft.com/office/drawing/2014/main" val="20000"/>
                        </a:ext>
                      </a:extLst>
                    </a:gridCol>
                    <a:gridCol w="1595083">
                      <a:extLst>
                        <a:ext uri="{9D8B030D-6E8A-4147-A177-3AD203B41FA5}">
                          <a16:colId xmlns:a16="http://schemas.microsoft.com/office/drawing/2014/main" val="20001"/>
                        </a:ext>
                      </a:extLst>
                    </a:gridCol>
                    <a:gridCol w="1567850">
                      <a:extLst>
                        <a:ext uri="{9D8B030D-6E8A-4147-A177-3AD203B41FA5}">
                          <a16:colId xmlns:a16="http://schemas.microsoft.com/office/drawing/2014/main" val="20002"/>
                        </a:ext>
                      </a:extLst>
                    </a:gridCol>
                    <a:gridCol w="1595083">
                      <a:extLst>
                        <a:ext uri="{9D8B030D-6E8A-4147-A177-3AD203B41FA5}">
                          <a16:colId xmlns:a16="http://schemas.microsoft.com/office/drawing/2014/main" val="20003"/>
                        </a:ext>
                      </a:extLst>
                    </a:gridCol>
                    <a:gridCol w="1755369">
                      <a:extLst>
                        <a:ext uri="{9D8B030D-6E8A-4147-A177-3AD203B41FA5}">
                          <a16:colId xmlns:a16="http://schemas.microsoft.com/office/drawing/2014/main" val="20004"/>
                        </a:ext>
                      </a:extLst>
                    </a:gridCol>
                  </a:tblGrid>
                  <a:tr h="1463361">
                    <a:tc>
                      <a:txBody>
                        <a:bodyPr/>
                        <a:lstStyle/>
                        <a:p>
                          <a:pPr marL="0" marR="0" algn="ctr">
                            <a:spcBef>
                              <a:spcPts val="0"/>
                            </a:spcBef>
                            <a:spcAft>
                              <a:spcPts val="0"/>
                            </a:spcAft>
                          </a:pPr>
                          <a:r>
                            <a:rPr lang="en-US" sz="2000" b="1">
                              <a:effectLst/>
                              <a:latin typeface="Verdana" charset="0"/>
                              <a:ea typeface="Times New Roman" charset="0"/>
                              <a:cs typeface="Times New Roman" charset="0"/>
                            </a:rPr>
                            <a:t>Preimage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Side Length</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Image</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Side Length</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Ratio of </a:t>
                          </a:r>
                          <a:endParaRPr lang="en-US" sz="2000">
                            <a:effectLst/>
                            <a:latin typeface="Cambria" charset="0"/>
                            <a:ea typeface="Times New Roman" charset="0"/>
                            <a:cs typeface="Times New Roman" charset="0"/>
                          </a:endParaRPr>
                        </a:p>
                        <a:p>
                          <a:pPr marL="0" marR="0" algn="ctr">
                            <a:spcBef>
                              <a:spcPts val="0"/>
                            </a:spcBef>
                            <a:spcAft>
                              <a:spcPts val="0"/>
                            </a:spcAft>
                          </a:pPr>
                          <a:r>
                            <a:rPr lang="en-US" sz="2000" b="1">
                              <a:effectLst/>
                              <a:latin typeface="Verdana" charset="0"/>
                              <a:ea typeface="Times New Roman" charset="0"/>
                              <a:cs typeface="Times New Roman" charset="0"/>
                            </a:rPr>
                            <a:t>Preimage to Image Lengths</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64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47" t="-312987" r="-371875" b="-302597"/>
                          </a:stretch>
                        </a:blipFill>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4397" t="-312987" r="-214786" b="-302597"/>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64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47" t="-412987" r="-371875" b="-202597"/>
                          </a:stretch>
                        </a:blipFill>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4397" t="-412987" r="-214786" b="-202597"/>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64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47" t="-519737" r="-371875" b="-105263"/>
                          </a:stretch>
                        </a:blipFill>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4397" t="-519737" r="-214786" b="-105263"/>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644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47" t="-611688" r="-371875" b="-3896"/>
                          </a:stretch>
                        </a:blipFill>
                      </a:tcPr>
                    </a:tc>
                    <a:tc>
                      <a:txBody>
                        <a:bodyPr/>
                        <a:lstStyle/>
                        <a:p>
                          <a:pPr marL="0" marR="0" algn="ctr">
                            <a:spcBef>
                              <a:spcPts val="0"/>
                            </a:spcBef>
                            <a:spcAft>
                              <a:spcPts val="0"/>
                            </a:spcAft>
                          </a:pPr>
                          <a:r>
                            <a:rPr lang="en-US" sz="2000" i="1">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4397" t="-611688" r="-214786" b="-3896"/>
                          </a:stretch>
                        </a:blipFill>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996479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95110" y="520394"/>
                <a:ext cx="11233039" cy="2862322"/>
              </a:xfrm>
              <a:prstGeom prst="rect">
                <a:avLst/>
              </a:prstGeom>
              <a:noFill/>
            </p:spPr>
            <p:txBody>
              <a:bodyPr wrap="square" rtlCol="0">
                <a:spAutoFit/>
              </a:bodyPr>
              <a:lstStyle/>
              <a:p>
                <a:pPr marL="920750" indent="-528638">
                  <a:buFont typeface="+mj-lt"/>
                  <a:buAutoNum type="alphaLcPeriod" startAt="3"/>
                </a:pPr>
                <a:r>
                  <a:rPr lang="en-US" sz="2000" dirty="0">
                    <a:latin typeface="Verdana" charset="0"/>
                    <a:ea typeface="Verdana" charset="0"/>
                    <a:cs typeface="Verdana" charset="0"/>
                  </a:rPr>
                  <a:t>Determine the sequence of transformations that was used to create </a:t>
                </a:r>
                <a14:m>
                  <m:oMath xmlns:m="http://schemas.openxmlformats.org/officeDocument/2006/math">
                    <m:r>
                      <a:rPr lang="en-US" sz="2000" i="1">
                        <a:latin typeface="Cambria Math" charset="0"/>
                        <a:ea typeface="Verdana" charset="0"/>
                        <a:cs typeface="Verdana" charset="0"/>
                      </a:rPr>
                      <m:t>𝐻</m:t>
                    </m:r>
                    <m:r>
                      <a:rPr lang="en-US" sz="2000" i="1">
                        <a:latin typeface="Cambria Math" charset="0"/>
                        <a:ea typeface="Verdana" charset="0"/>
                        <a:cs typeface="Verdana" charset="0"/>
                      </a:rPr>
                      <m:t>′′</m:t>
                    </m:r>
                    <m:r>
                      <a:rPr lang="en-US" sz="2000" i="1">
                        <a:latin typeface="Cambria Math" charset="0"/>
                        <a:ea typeface="Verdana" charset="0"/>
                        <a:cs typeface="Verdana" charset="0"/>
                      </a:rPr>
                      <m:t>𝐵</m:t>
                    </m:r>
                    <m:r>
                      <a:rPr lang="en-US" sz="2000" i="1">
                        <a:latin typeface="Cambria Math" charset="0"/>
                        <a:ea typeface="Verdana" charset="0"/>
                        <a:cs typeface="Verdana" charset="0"/>
                      </a:rPr>
                      <m:t>′′</m:t>
                    </m:r>
                    <m:r>
                      <a:rPr lang="en-US" sz="2000" i="1">
                        <a:latin typeface="Cambria Math" charset="0"/>
                        <a:ea typeface="Verdana" charset="0"/>
                        <a:cs typeface="Verdana" charset="0"/>
                      </a:rPr>
                      <m:t>𝐺</m:t>
                    </m:r>
                    <m:r>
                      <a:rPr lang="en-US" sz="2000" i="1">
                        <a:latin typeface="Cambria Math" charset="0"/>
                        <a:ea typeface="Verdana" charset="0"/>
                        <a:cs typeface="Verdana" charset="0"/>
                      </a:rPr>
                      <m:t>′′</m:t>
                    </m:r>
                    <m:r>
                      <a:rPr lang="en-US" sz="2000" i="1">
                        <a:latin typeface="Cambria Math" charset="0"/>
                        <a:ea typeface="Verdana" charset="0"/>
                        <a:cs typeface="Verdana" charset="0"/>
                      </a:rPr>
                      <m:t>𝑃</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from </a:t>
                </a:r>
                <a14:m>
                  <m:oMath xmlns:m="http://schemas.openxmlformats.org/officeDocument/2006/math">
                    <m:r>
                      <a:rPr lang="en-US" sz="2000" i="1">
                        <a:latin typeface="Cambria Math" charset="0"/>
                        <a:ea typeface="Verdana" charset="0"/>
                        <a:cs typeface="Verdana" charset="0"/>
                      </a:rPr>
                      <m:t>𝐻𝐵𝐺𝑃</m:t>
                    </m:r>
                  </m:oMath>
                </a14:m>
                <a:r>
                  <a:rPr lang="en-US" sz="2000" dirty="0">
                    <a:latin typeface="Verdana" charset="0"/>
                    <a:ea typeface="Verdana" charset="0"/>
                    <a:cs typeface="Verdana" charset="0"/>
                  </a:rPr>
                  <a:t>.</a:t>
                </a:r>
              </a:p>
              <a:p>
                <a:pPr marL="920750" indent="-528638">
                  <a:buFont typeface="+mj-lt"/>
                  <a:buAutoNum type="alphaLcPeriod" startAt="3"/>
                </a:pPr>
                <a:endParaRPr lang="en-US" sz="2000" dirty="0">
                  <a:latin typeface="Verdana" charset="0"/>
                  <a:ea typeface="Verdana" charset="0"/>
                  <a:cs typeface="Verdana" charset="0"/>
                </a:endParaRPr>
              </a:p>
              <a:p>
                <a:pPr marL="920750" indent="-528638">
                  <a:buFont typeface="+mj-lt"/>
                  <a:buAutoNum type="alphaLcPeriod" startAt="3"/>
                </a:pPr>
                <a:endParaRPr lang="en-US" sz="2000" dirty="0">
                  <a:latin typeface="Verdana" charset="0"/>
                  <a:ea typeface="Verdana" charset="0"/>
                  <a:cs typeface="Verdana" charset="0"/>
                </a:endParaRPr>
              </a:p>
              <a:p>
                <a:pPr marL="920750" indent="-528638">
                  <a:buFont typeface="+mj-lt"/>
                  <a:buAutoNum type="alphaLcPeriod" startAt="3"/>
                </a:pPr>
                <a:r>
                  <a:rPr lang="en-US" sz="2000" dirty="0">
                    <a:latin typeface="Verdana" charset="0"/>
                    <a:ea typeface="Verdana" charset="0"/>
                    <a:cs typeface="Verdana" charset="0"/>
                  </a:rPr>
                  <a:t>Discuss with your partner how to describe how </a:t>
                </a:r>
                <a14:m>
                  <m:oMath xmlns:m="http://schemas.openxmlformats.org/officeDocument/2006/math">
                    <m:r>
                      <a:rPr lang="en-US" sz="2000" i="1">
                        <a:latin typeface="Cambria Math" charset="0"/>
                        <a:ea typeface="Verdana" charset="0"/>
                        <a:cs typeface="Verdana" charset="0"/>
                      </a:rPr>
                      <m:t>𝑀𝐶𝑆𝐹</m:t>
                    </m:r>
                  </m:oMath>
                </a14:m>
                <a:r>
                  <a:rPr lang="en-US" sz="2000" dirty="0">
                    <a:latin typeface="Verdana" charset="0"/>
                    <a:ea typeface="Verdana" charset="0"/>
                    <a:cs typeface="Verdana" charset="0"/>
                  </a:rPr>
                  <a:t> is related to </a:t>
                </a:r>
                <a14:m>
                  <m:oMath xmlns:m="http://schemas.openxmlformats.org/officeDocument/2006/math">
                    <m:r>
                      <a:rPr lang="en-US" sz="2000" i="1">
                        <a:latin typeface="Cambria Math" charset="0"/>
                        <a:ea typeface="Verdana" charset="0"/>
                        <a:cs typeface="Verdana" charset="0"/>
                      </a:rPr>
                      <m:t>𝑀</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r>
                      <a:rPr lang="en-US" sz="2000" i="1">
                        <a:latin typeface="Cambria Math" charset="0"/>
                        <a:ea typeface="Verdana" charset="0"/>
                        <a:cs typeface="Verdana" charset="0"/>
                      </a:rPr>
                      <m:t>𝑆</m:t>
                    </m:r>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and how </a:t>
                </a:r>
                <a14:m>
                  <m:oMath xmlns:m="http://schemas.openxmlformats.org/officeDocument/2006/math">
                    <m:r>
                      <a:rPr lang="en-US" sz="2000" i="1">
                        <a:latin typeface="Cambria Math" charset="0"/>
                        <a:ea typeface="Verdana" charset="0"/>
                        <a:cs typeface="Verdana" charset="0"/>
                      </a:rPr>
                      <m:t>𝐻𝐵𝐺𝑃</m:t>
                    </m:r>
                  </m:oMath>
                </a14:m>
                <a:r>
                  <a:rPr lang="en-US" sz="2000" dirty="0">
                    <a:latin typeface="Verdana" charset="0"/>
                    <a:ea typeface="Verdana" charset="0"/>
                    <a:cs typeface="Verdana" charset="0"/>
                  </a:rPr>
                  <a:t> is related to </a:t>
                </a:r>
                <a14:m>
                  <m:oMath xmlns:m="http://schemas.openxmlformats.org/officeDocument/2006/math">
                    <m:r>
                      <a:rPr lang="en-US" sz="2000" i="1">
                        <a:latin typeface="Cambria Math" charset="0"/>
                        <a:ea typeface="Verdana" charset="0"/>
                        <a:cs typeface="Verdana" charset="0"/>
                      </a:rPr>
                      <m:t>𝐻</m:t>
                    </m:r>
                    <m:r>
                      <a:rPr lang="en-US" sz="2000" i="1">
                        <a:latin typeface="Cambria Math" charset="0"/>
                        <a:ea typeface="Verdana" charset="0"/>
                        <a:cs typeface="Verdana" charset="0"/>
                      </a:rPr>
                      <m:t>′′</m:t>
                    </m:r>
                    <m:r>
                      <a:rPr lang="en-US" sz="2000" i="1">
                        <a:latin typeface="Cambria Math" charset="0"/>
                        <a:ea typeface="Verdana" charset="0"/>
                        <a:cs typeface="Verdana" charset="0"/>
                      </a:rPr>
                      <m:t>𝐵</m:t>
                    </m:r>
                    <m:r>
                      <a:rPr lang="en-US" sz="2000" i="1">
                        <a:latin typeface="Cambria Math" charset="0"/>
                        <a:ea typeface="Verdana" charset="0"/>
                        <a:cs typeface="Verdana" charset="0"/>
                      </a:rPr>
                      <m:t>′′</m:t>
                    </m:r>
                    <m:r>
                      <a:rPr lang="en-US" sz="2000" i="1">
                        <a:latin typeface="Cambria Math" charset="0"/>
                        <a:ea typeface="Verdana" charset="0"/>
                        <a:cs typeface="Verdana" charset="0"/>
                      </a:rPr>
                      <m:t>𝐺</m:t>
                    </m:r>
                    <m:r>
                      <a:rPr lang="en-US" sz="2000" i="1">
                        <a:latin typeface="Cambria Math" charset="0"/>
                        <a:ea typeface="Verdana" charset="0"/>
                        <a:cs typeface="Verdana" charset="0"/>
                      </a:rPr>
                      <m:t>′′</m:t>
                    </m:r>
                    <m:r>
                      <a:rPr lang="en-US" sz="2000" i="1">
                        <a:latin typeface="Cambria Math" charset="0"/>
                        <a:ea typeface="Verdana" charset="0"/>
                        <a:cs typeface="Verdana" charset="0"/>
                      </a:rPr>
                      <m:t>𝑃</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Summarize your discussion. </a:t>
                </a:r>
              </a:p>
              <a:p>
                <a:pPr marL="920750" indent="-528638">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rabicPeriod" startAt="3"/>
                </a:pPr>
                <a:r>
                  <a:rPr lang="en-US" sz="2000" dirty="0">
                    <a:latin typeface="Verdana" charset="0"/>
                    <a:ea typeface="Verdana" charset="0"/>
                    <a:cs typeface="Verdana" charset="0"/>
                  </a:rPr>
                  <a:t>What qualities of similar figures do these quadrilaterals have?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5110" y="520394"/>
                <a:ext cx="11233039" cy="2862322"/>
              </a:xfrm>
              <a:prstGeom prst="rect">
                <a:avLst/>
              </a:prstGeom>
              <a:blipFill>
                <a:blip r:embed="rId4"/>
                <a:stretch>
                  <a:fillRect l="-678" t="-881" b="-2643"/>
                </a:stretch>
              </a:blipFill>
            </p:spPr>
            <p:txBody>
              <a:bodyPr/>
              <a:lstStyle/>
              <a:p>
                <a:r>
                  <a:rPr lang="en-US">
                    <a:noFill/>
                  </a:rPr>
                  <a:t> </a:t>
                </a:r>
              </a:p>
            </p:txBody>
          </p:sp>
        </mc:Fallback>
      </mc:AlternateContent>
      <p:sp>
        <p:nvSpPr>
          <p:cNvPr id="6" name="Text Box 24"/>
          <p:cNvSpPr txBox="1"/>
          <p:nvPr/>
        </p:nvSpPr>
        <p:spPr>
          <a:xfrm>
            <a:off x="2810913" y="4140469"/>
            <a:ext cx="6629400" cy="2241006"/>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b="1" i="1" dirty="0">
                <a:solidFill>
                  <a:schemeClr val="accent6"/>
                </a:solidFill>
                <a:latin typeface="Verdana" charset="0"/>
                <a:ea typeface="Verdana" charset="0"/>
                <a:cs typeface="Verdana" charset="0"/>
              </a:rPr>
              <a:t>	Similarity</a:t>
            </a:r>
            <a:r>
              <a:rPr lang="en-US" sz="2000" dirty="0">
                <a:solidFill>
                  <a:schemeClr val="accent6"/>
                </a:solidFill>
                <a:latin typeface="Verdana" charset="0"/>
                <a:ea typeface="Verdana" charset="0"/>
                <a:cs typeface="Verdana" charset="0"/>
              </a:rPr>
              <a:t> is having exactly the same 	shape but not necessarily the same size. 	Two figures are similar</a:t>
            </a:r>
            <a:r>
              <a:rPr lang="en-US" sz="2000" b="1" i="1" dirty="0">
                <a:solidFill>
                  <a:schemeClr val="accent6"/>
                </a:solidFill>
                <a:latin typeface="Verdana" charset="0"/>
                <a:ea typeface="Verdana" charset="0"/>
                <a:cs typeface="Verdana" charset="0"/>
              </a:rPr>
              <a:t> </a:t>
            </a:r>
            <a:r>
              <a:rPr lang="en-US" sz="2000" dirty="0">
                <a:solidFill>
                  <a:schemeClr val="accent6"/>
                </a:solidFill>
                <a:latin typeface="Verdana" charset="0"/>
                <a:ea typeface="Verdana" charset="0"/>
                <a:cs typeface="Verdana" charset="0"/>
              </a:rPr>
              <a:t>if and only if one 	figure can be obtained from the other by 	a dilation or a sequence of 	transformations that includes a dilation.</a:t>
            </a:r>
          </a:p>
        </p:txBody>
      </p:sp>
      <p:pic>
        <p:nvPicPr>
          <p:cNvPr id="7" name="Picture 6"/>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44266" y="4379993"/>
            <a:ext cx="518433"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344255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06400" y="520393"/>
            <a:ext cx="9928501" cy="400110"/>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Complete the statements using words from the bank.</a:t>
            </a:r>
          </a:p>
        </p:txBody>
      </p:sp>
      <p:graphicFrame>
        <p:nvGraphicFramePr>
          <p:cNvPr id="2" name="Table 1"/>
          <p:cNvGraphicFramePr>
            <a:graphicFrameLocks noGrp="1"/>
          </p:cNvGraphicFramePr>
          <p:nvPr>
            <p:extLst>
              <p:ext uri="{D42A27DB-BD31-4B8C-83A1-F6EECF244321}">
                <p14:modId xmlns:p14="http://schemas.microsoft.com/office/powerpoint/2010/main" val="402024956"/>
              </p:ext>
            </p:extLst>
          </p:nvPr>
        </p:nvGraphicFramePr>
        <p:xfrm>
          <a:off x="2571952" y="1268889"/>
          <a:ext cx="7198763" cy="953770"/>
        </p:xfrm>
        <a:graphic>
          <a:graphicData uri="http://schemas.openxmlformats.org/drawingml/2006/table">
            <a:tbl>
              <a:tblPr firstRow="1" firstCol="1" bandRow="1"/>
              <a:tblGrid>
                <a:gridCol w="1799016">
                  <a:extLst>
                    <a:ext uri="{9D8B030D-6E8A-4147-A177-3AD203B41FA5}">
                      <a16:colId xmlns:a16="http://schemas.microsoft.com/office/drawing/2014/main" val="20000"/>
                    </a:ext>
                  </a:extLst>
                </a:gridCol>
                <a:gridCol w="1799691">
                  <a:extLst>
                    <a:ext uri="{9D8B030D-6E8A-4147-A177-3AD203B41FA5}">
                      <a16:colId xmlns:a16="http://schemas.microsoft.com/office/drawing/2014/main" val="20001"/>
                    </a:ext>
                  </a:extLst>
                </a:gridCol>
                <a:gridCol w="1799691">
                  <a:extLst>
                    <a:ext uri="{9D8B030D-6E8A-4147-A177-3AD203B41FA5}">
                      <a16:colId xmlns:a16="http://schemas.microsoft.com/office/drawing/2014/main" val="20002"/>
                    </a:ext>
                  </a:extLst>
                </a:gridCol>
                <a:gridCol w="1800365">
                  <a:extLst>
                    <a:ext uri="{9D8B030D-6E8A-4147-A177-3AD203B41FA5}">
                      <a16:colId xmlns:a16="http://schemas.microsoft.com/office/drawing/2014/main" val="20003"/>
                    </a:ext>
                  </a:extLst>
                </a:gridCol>
              </a:tblGrid>
              <a:tr h="476885">
                <a:tc gridSpan="4">
                  <a:txBody>
                    <a:bodyPr/>
                    <a:lstStyle/>
                    <a:p>
                      <a:pPr marL="0" marR="0" algn="ctr">
                        <a:spcBef>
                          <a:spcPts val="0"/>
                        </a:spcBef>
                        <a:spcAft>
                          <a:spcPts val="0"/>
                        </a:spcAft>
                      </a:pPr>
                      <a:r>
                        <a:rPr lang="en-US" sz="2000" b="1" dirty="0">
                          <a:effectLst/>
                          <a:latin typeface="Verdana" charset="0"/>
                          <a:ea typeface="Times New Roman" charset="0"/>
                          <a:cs typeface="Times New Roman" charset="0"/>
                        </a:rPr>
                        <a:t>Word Bank</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6885">
                <a:tc>
                  <a:txBody>
                    <a:bodyPr/>
                    <a:lstStyle/>
                    <a:p>
                      <a:pPr marL="0" marR="0" algn="ctr">
                        <a:spcBef>
                          <a:spcPts val="0"/>
                        </a:spcBef>
                        <a:spcAft>
                          <a:spcPts val="0"/>
                        </a:spcAft>
                      </a:pPr>
                      <a:r>
                        <a:rPr lang="en-US" sz="2000">
                          <a:effectLst/>
                          <a:latin typeface="Verdana" charset="0"/>
                          <a:ea typeface="Times New Roman" charset="0"/>
                          <a:cs typeface="Times New Roman" charset="0"/>
                        </a:rPr>
                        <a:t>congruent</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dilation</a:t>
                      </a:r>
                      <a:endParaRPr lang="en-US" sz="1400">
                        <a:effectLst/>
                        <a:latin typeface="Cambria" charset="0"/>
                        <a:ea typeface="Times New Roman" charset="0"/>
                        <a:cs typeface="Times New Roman"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proportional</a:t>
                      </a:r>
                      <a:endParaRPr lang="en-US" sz="1400">
                        <a:effectLst/>
                        <a:latin typeface="Cambria" charset="0"/>
                        <a:ea typeface="Times New Roman" charset="0"/>
                        <a:cs typeface="Times New Roman"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similar</a:t>
                      </a:r>
                      <a:endParaRPr lang="en-US" sz="1400" dirty="0">
                        <a:effectLst/>
                        <a:latin typeface="Cambria" charset="0"/>
                        <a:ea typeface="Times New Roman" charset="0"/>
                        <a:cs typeface="Times New Roman"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Rectangle 2"/>
          <p:cNvSpPr/>
          <p:nvPr/>
        </p:nvSpPr>
        <p:spPr>
          <a:xfrm>
            <a:off x="903111" y="2571046"/>
            <a:ext cx="10442222" cy="2342693"/>
          </a:xfrm>
          <a:prstGeom prst="rect">
            <a:avLst/>
          </a:prstGeom>
        </p:spPr>
        <p:txBody>
          <a:bodyPr wrap="square">
            <a:spAutoFit/>
          </a:bodyPr>
          <a:lstStyle/>
          <a:p>
            <a:pPr>
              <a:lnSpc>
                <a:spcPct val="150000"/>
              </a:lnSpc>
            </a:pPr>
            <a:r>
              <a:rPr lang="en-US" sz="2000" dirty="0">
                <a:latin typeface="Verdana" charset="0"/>
              </a:rPr>
              <a:t>When a sequence of transformations includes a _____________, the resulting image of the sequence of transformations is ____________ to the preimage. All of the angles of the resulting image are ____________ to the corresponding angles of the preimage. The corresponding sides of the image to the preimage are _______________.</a:t>
            </a:r>
            <a:endParaRPr lang="en-US" sz="2000" dirty="0"/>
          </a:p>
        </p:txBody>
      </p:sp>
    </p:spTree>
    <p:extLst>
      <p:ext uri="{BB962C8B-B14F-4D97-AF65-F5344CB8AC3E}">
        <p14:creationId xmlns:p14="http://schemas.microsoft.com/office/powerpoint/2010/main" val="181295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314</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715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9741"/>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1824" y="-4585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6.6.3 Guided Practice: Similarity</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43469"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314</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6268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392016" y="1386025"/>
            <a:ext cx="11438740" cy="1323439"/>
          </a:xfrm>
          <a:prstGeom prst="rect">
            <a:avLst/>
          </a:prstGeom>
          <a:noFill/>
        </p:spPr>
        <p:txBody>
          <a:bodyPr wrap="square" rtlCol="0">
            <a:spAutoFit/>
          </a:bodyPr>
          <a:lstStyle/>
          <a:p>
            <a:r>
              <a:rPr lang="en-US" sz="2000" dirty="0">
                <a:latin typeface="Verdana" charset="0"/>
                <a:ea typeface="Verdana" charset="0"/>
                <a:cs typeface="Verdana" charset="0"/>
              </a:rPr>
              <a:t>For each pair of figures, write the sequence of transformations that would show the figures are similar. If the figures are not similar, explain why.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1. </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16541" y="2499360"/>
            <a:ext cx="6276247" cy="3958315"/>
          </a:xfrm>
          <a:prstGeom prst="rect">
            <a:avLst/>
          </a:prstGeom>
        </p:spPr>
      </p:pic>
    </p:spTree>
    <p:extLst>
      <p:ext uri="{BB962C8B-B14F-4D97-AF65-F5344CB8AC3E}">
        <p14:creationId xmlns:p14="http://schemas.microsoft.com/office/powerpoint/2010/main" val="1560075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242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74133" y="520394"/>
            <a:ext cx="9860768"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2.</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25981" y="1207310"/>
            <a:ext cx="7711145" cy="5025115"/>
          </a:xfrm>
          <a:prstGeom prst="rect">
            <a:avLst/>
          </a:prstGeom>
        </p:spPr>
      </p:pic>
    </p:spTree>
    <p:extLst>
      <p:ext uri="{BB962C8B-B14F-4D97-AF65-F5344CB8AC3E}">
        <p14:creationId xmlns:p14="http://schemas.microsoft.com/office/powerpoint/2010/main" val="1530927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45107" y="531683"/>
            <a:ext cx="8327136"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3.</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07766" y="1119576"/>
            <a:ext cx="7940985" cy="5079063"/>
          </a:xfrm>
          <a:prstGeom prst="rect">
            <a:avLst/>
          </a:prstGeom>
        </p:spPr>
      </p:pic>
    </p:spTree>
    <p:extLst>
      <p:ext uri="{BB962C8B-B14F-4D97-AF65-F5344CB8AC3E}">
        <p14:creationId xmlns:p14="http://schemas.microsoft.com/office/powerpoint/2010/main" val="1011744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316</a:t>
            </a: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15482" y="19579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6.6.4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68182" y="195791"/>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994150" y="646325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316</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368182" y="1187905"/>
                <a:ext cx="9966719" cy="400110"/>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𝑅𝑊𝐶</m:t>
                    </m:r>
                  </m:oMath>
                </a14:m>
                <a:r>
                  <a:rPr lang="en-US" sz="2000" dirty="0">
                    <a:latin typeface="Verdana" charset="0"/>
                    <a:ea typeface="Verdana" charset="0"/>
                    <a:cs typeface="Verdana" charset="0"/>
                  </a:rPr>
                  <a:t> is shown on the coordinate plane. </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368182" y="1187905"/>
                <a:ext cx="9966719" cy="400110"/>
              </a:xfrm>
              <a:prstGeom prst="rect">
                <a:avLst/>
              </a:prstGeom>
              <a:blipFill>
                <a:blip r:embed="rId5"/>
                <a:stretch>
                  <a:fillRect l="-382" t="-9091" b="-24242"/>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46201" y="1722120"/>
            <a:ext cx="7240251" cy="4741130"/>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83822" y="520394"/>
                <a:ext cx="11672711" cy="3170099"/>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Draw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m:t>
                    </m:r>
                    <m:r>
                      <a:rPr lang="en-US" sz="2000" i="1">
                        <a:latin typeface="Cambria Math" charset="0"/>
                        <a:ea typeface="Verdana" charset="0"/>
                        <a:cs typeface="Verdana" charset="0"/>
                      </a:rPr>
                      <m:t>′′</m:t>
                    </m:r>
                    <m:r>
                      <a:rPr lang="en-US" sz="2000" i="1">
                        <a:latin typeface="Cambria Math" charset="0"/>
                        <a:ea typeface="Verdana" charset="0"/>
                        <a:cs typeface="Verdana" charset="0"/>
                      </a:rPr>
                      <m:t>𝑊</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which is a result of a translation up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units and left </a:t>
                </a:r>
                <a14:m>
                  <m:oMath xmlns:m="http://schemas.openxmlformats.org/officeDocument/2006/math">
                    <m:r>
                      <a:rPr lang="en-US" sz="2000" i="1">
                        <a:latin typeface="Cambria Math" charset="0"/>
                        <a:ea typeface="Verdana" charset="0"/>
                        <a:cs typeface="Verdana" charset="0"/>
                      </a:rPr>
                      <m:t>1</m:t>
                    </m:r>
                  </m:oMath>
                </a14:m>
                <a:r>
                  <a:rPr lang="en-US" sz="2000" dirty="0">
                    <a:latin typeface="Verdana" charset="0"/>
                    <a:ea typeface="Verdana" charset="0"/>
                    <a:cs typeface="Verdana" charset="0"/>
                  </a:rPr>
                  <a:t> unit, then dilated using a scale factor of </a:t>
                </a:r>
                <a14:m>
                  <m:oMath xmlns:m="http://schemas.openxmlformats.org/officeDocument/2006/math">
                    <m:r>
                      <a:rPr lang="en-US" sz="2000" i="1">
                        <a:latin typeface="Cambria Math" charset="0"/>
                        <a:ea typeface="Verdana" charset="0"/>
                        <a:cs typeface="Verdana" charset="0"/>
                      </a:rPr>
                      <m:t>5</m:t>
                    </m:r>
                  </m:oMath>
                </a14:m>
                <a:r>
                  <a:rPr lang="en-US" sz="2000" dirty="0">
                    <a:latin typeface="Verdana" charset="0"/>
                    <a:ea typeface="Verdana" charset="0"/>
                    <a:cs typeface="Verdana" charset="0"/>
                  </a:rPr>
                  <a:t> centered at </a:t>
                </a:r>
                <a14:m>
                  <m:oMath xmlns:m="http://schemas.openxmlformats.org/officeDocument/2006/math">
                    <m:r>
                      <a:rPr lang="en-US" sz="2000" i="1">
                        <a:latin typeface="Cambria Math" charset="0"/>
                        <a:ea typeface="Verdana" charset="0"/>
                        <a:cs typeface="Verdana" charset="0"/>
                      </a:rPr>
                      <m:t>𝐶</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Explain how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𝑅𝑊𝐶</m:t>
                    </m:r>
                  </m:oMath>
                </a14:m>
                <a:r>
                  <a:rPr lang="en-US" sz="2000" dirty="0">
                    <a:latin typeface="Verdana" charset="0"/>
                    <a:ea typeface="Verdana" charset="0"/>
                    <a:cs typeface="Verdana" charset="0"/>
                  </a:rPr>
                  <a:t> is similar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m:t>
                    </m:r>
                    <m:r>
                      <a:rPr lang="en-US" sz="2000" i="1">
                        <a:latin typeface="Cambria Math" charset="0"/>
                        <a:ea typeface="Verdana" charset="0"/>
                        <a:cs typeface="Verdana" charset="0"/>
                      </a:rPr>
                      <m:t>′′</m:t>
                    </m:r>
                    <m:r>
                      <a:rPr lang="en-US" sz="2000" i="1">
                        <a:latin typeface="Cambria Math" charset="0"/>
                        <a:ea typeface="Verdana" charset="0"/>
                        <a:cs typeface="Verdana" charset="0"/>
                      </a:rPr>
                      <m:t>𝑊</m:t>
                    </m:r>
                    <m:r>
                      <a:rPr lang="en-US" sz="2000" i="1">
                        <a:latin typeface="Cambria Math" charset="0"/>
                        <a:ea typeface="Verdana" charset="0"/>
                        <a:cs typeface="Verdana" charset="0"/>
                      </a:rPr>
                      <m:t>′′</m:t>
                    </m:r>
                    <m:r>
                      <a:rPr lang="en-US" sz="2000" i="1">
                        <a:latin typeface="Cambria Math" charset="0"/>
                        <a:ea typeface="Verdana" charset="0"/>
                        <a:cs typeface="Verdana" charset="0"/>
                      </a:rPr>
                      <m:t>𝐶</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83822" y="520394"/>
                <a:ext cx="11672711" cy="3170099"/>
              </a:xfrm>
              <a:prstGeom prst="rect">
                <a:avLst/>
              </a:prstGeom>
              <a:blipFill>
                <a:blip r:embed="rId4"/>
                <a:stretch>
                  <a:fillRect l="-652" t="-797" b="-2390"/>
                </a:stretch>
              </a:blipFill>
            </p:spPr>
            <p:txBody>
              <a:bodyPr/>
              <a:lstStyle/>
              <a:p>
                <a:r>
                  <a:rPr lang="en-US">
                    <a:noFill/>
                  </a:rPr>
                  <a:t> </a:t>
                </a:r>
              </a:p>
            </p:txBody>
          </p:sp>
        </mc:Fallback>
      </mc:AlternateContent>
    </p:spTree>
    <p:extLst>
      <p:ext uri="{BB962C8B-B14F-4D97-AF65-F5344CB8AC3E}">
        <p14:creationId xmlns:p14="http://schemas.microsoft.com/office/powerpoint/2010/main" val="25243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8518"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9017901"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49956" y="520394"/>
            <a:ext cx="10938933"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Carter and Isabella are asked to determine if the quadrilaterals are similar. Their responses are recorded in the table. </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74240" y="1536056"/>
            <a:ext cx="7575862" cy="4993182"/>
          </a:xfrm>
          <a:prstGeom prst="rect">
            <a:avLst/>
          </a:prstGeom>
        </p:spPr>
      </p:pic>
    </p:spTree>
    <p:extLst>
      <p:ext uri="{BB962C8B-B14F-4D97-AF65-F5344CB8AC3E}">
        <p14:creationId xmlns:p14="http://schemas.microsoft.com/office/powerpoint/2010/main" val="710716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95111" y="2716939"/>
            <a:ext cx="10221198" cy="400110"/>
          </a:xfrm>
          <a:prstGeom prst="rect">
            <a:avLst/>
          </a:prstGeom>
          <a:noFill/>
        </p:spPr>
        <p:txBody>
          <a:bodyPr wrap="square" rtlCol="0">
            <a:spAutoFit/>
          </a:bodyPr>
          <a:lstStyle/>
          <a:p>
            <a:r>
              <a:rPr lang="en-US" sz="2000" dirty="0">
                <a:latin typeface="Verdana" charset="0"/>
                <a:ea typeface="Verdana" charset="0"/>
                <a:cs typeface="Verdana" charset="0"/>
              </a:rPr>
              <a:t>Is Carter’s or Isabella’s response correct? Explain your decision. </a:t>
            </a:r>
          </a:p>
        </p:txBody>
      </p:sp>
      <p:graphicFrame>
        <p:nvGraphicFramePr>
          <p:cNvPr id="2" name="Table 1"/>
          <p:cNvGraphicFramePr>
            <a:graphicFrameLocks noGrp="1"/>
          </p:cNvGraphicFramePr>
          <p:nvPr>
            <p:extLst>
              <p:ext uri="{D42A27DB-BD31-4B8C-83A1-F6EECF244321}">
                <p14:modId xmlns:p14="http://schemas.microsoft.com/office/powerpoint/2010/main" val="1199515034"/>
              </p:ext>
            </p:extLst>
          </p:nvPr>
        </p:nvGraphicFramePr>
        <p:xfrm>
          <a:off x="2289173" y="596107"/>
          <a:ext cx="7763802" cy="1598295"/>
        </p:xfrm>
        <a:graphic>
          <a:graphicData uri="http://schemas.openxmlformats.org/drawingml/2006/table">
            <a:tbl>
              <a:tblPr firstRow="1" firstCol="1" bandRow="1"/>
              <a:tblGrid>
                <a:gridCol w="3881901">
                  <a:extLst>
                    <a:ext uri="{9D8B030D-6E8A-4147-A177-3AD203B41FA5}">
                      <a16:colId xmlns:a16="http://schemas.microsoft.com/office/drawing/2014/main" val="20000"/>
                    </a:ext>
                  </a:extLst>
                </a:gridCol>
                <a:gridCol w="3881901">
                  <a:extLst>
                    <a:ext uri="{9D8B030D-6E8A-4147-A177-3AD203B41FA5}">
                      <a16:colId xmlns:a16="http://schemas.microsoft.com/office/drawing/2014/main" val="20001"/>
                    </a:ext>
                  </a:extLst>
                </a:gridCol>
              </a:tblGrid>
              <a:tr h="379095">
                <a:tc>
                  <a:txBody>
                    <a:bodyPr/>
                    <a:lstStyle/>
                    <a:p>
                      <a:pPr marL="0" marR="0" algn="ctr">
                        <a:spcBef>
                          <a:spcPts val="0"/>
                        </a:spcBef>
                        <a:spcAft>
                          <a:spcPts val="0"/>
                        </a:spcAft>
                      </a:pPr>
                      <a:r>
                        <a:rPr lang="en-US" sz="2000" b="1">
                          <a:effectLst/>
                          <a:latin typeface="Verdana" charset="0"/>
                          <a:ea typeface="Times New Roman" charset="0"/>
                          <a:cs typeface="Times New Roman" charset="0"/>
                        </a:rPr>
                        <a:t>Carter’s Response</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Isabella’s Response</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79095">
                <a:tc>
                  <a:txBody>
                    <a:bodyPr/>
                    <a:lstStyle/>
                    <a:p>
                      <a:pPr marL="0" marR="0">
                        <a:spcBef>
                          <a:spcPts val="0"/>
                        </a:spcBef>
                        <a:spcAft>
                          <a:spcPts val="0"/>
                        </a:spcAft>
                      </a:pPr>
                      <a:r>
                        <a:rPr lang="en-US" sz="2000">
                          <a:effectLst/>
                          <a:latin typeface="Verdana" charset="0"/>
                          <a:ea typeface="Times New Roman" charset="0"/>
                          <a:cs typeface="Times New Roman" charset="0"/>
                        </a:rPr>
                        <a:t>Yes, the quadrilaterals are similar because all the corresponding angles are congruent. </a:t>
                      </a:r>
                      <a:endParaRPr lang="en-US" sz="14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Times New Roman" charset="0"/>
                          <a:cs typeface="Times New Roman" charset="0"/>
                        </a:rPr>
                        <a:t>No, the quadrilaterals are not similar because the corresponding sides are not proportional. </a:t>
                      </a:r>
                      <a:endParaRPr lang="en-US" sz="14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02034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3956"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317</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956"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1824" y="-6821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6.6.5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394523" y="1386026"/>
            <a:ext cx="11424943"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Your friend is absent today and will need the notes from class. Write a quick note to help them understand how to determine if a sequence of transformations results in similar figures. </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1260</TotalTime>
  <Words>1191</Words>
  <Application>Microsoft Office PowerPoint</Application>
  <PresentationFormat>Widescreen</PresentationFormat>
  <Paragraphs>243</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Calibri</vt:lpstr>
      <vt:lpstr>Cambria</vt:lpstr>
      <vt:lpstr>Cambria Math</vt:lpstr>
      <vt:lpstr>Century Gothic</vt:lpstr>
      <vt:lpstr>Verdana</vt:lpstr>
      <vt:lpstr>Wingdings</vt:lpstr>
      <vt:lpstr>1_Office Theme</vt:lpstr>
      <vt:lpstr>Geometry  Unit 6, Lesson 6  Similarity in Transformations  Volume 1, pg. 311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Morgan Palomino</cp:lastModifiedBy>
  <cp:revision>24</cp:revision>
  <dcterms:created xsi:type="dcterms:W3CDTF">2015-03-17T18:51:18Z</dcterms:created>
  <dcterms:modified xsi:type="dcterms:W3CDTF">2023-02-28T15:01:17Z</dcterms:modified>
</cp:coreProperties>
</file>