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26"/>
  </p:notesMasterIdLst>
  <p:sldIdLst>
    <p:sldId id="256" r:id="rId2"/>
    <p:sldId id="257" r:id="rId3"/>
    <p:sldId id="285" r:id="rId4"/>
    <p:sldId id="286" r:id="rId5"/>
    <p:sldId id="261" r:id="rId6"/>
    <p:sldId id="287" r:id="rId7"/>
    <p:sldId id="288" r:id="rId8"/>
    <p:sldId id="314" r:id="rId9"/>
    <p:sldId id="315" r:id="rId10"/>
    <p:sldId id="332" r:id="rId11"/>
    <p:sldId id="342" r:id="rId12"/>
    <p:sldId id="343" r:id="rId13"/>
    <p:sldId id="344" r:id="rId14"/>
    <p:sldId id="345" r:id="rId15"/>
    <p:sldId id="346" r:id="rId16"/>
    <p:sldId id="347" r:id="rId17"/>
    <p:sldId id="348" r:id="rId18"/>
    <p:sldId id="349" r:id="rId19"/>
    <p:sldId id="350" r:id="rId20"/>
    <p:sldId id="351" r:id="rId21"/>
    <p:sldId id="352" r:id="rId22"/>
    <p:sldId id="306" r:id="rId23"/>
    <p:sldId id="307" r:id="rId24"/>
    <p:sldId id="341" r:id="rId25"/>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55" roundtripDataSignature="AMtx7miXGu+iP6Z2M0kNO/4dLqrShsAMT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76C46"/>
    <a:srgbClr val="417DBF"/>
    <a:srgbClr val="C9DF6F"/>
    <a:srgbClr val="3F2A67"/>
    <a:srgbClr val="E24E5F"/>
    <a:srgbClr val="26B7D4"/>
    <a:srgbClr val="54B5D1"/>
    <a:srgbClr val="33BEA6"/>
    <a:srgbClr val="2DA48F"/>
    <a:srgbClr val="52BDA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A91F0D33-8C57-4600-99A7-42BC86742BE1}">
  <a:tblStyle styleId="{A91F0D33-8C57-4600-99A7-42BC86742BE1}"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30094"/>
    <p:restoredTop sz="94694"/>
  </p:normalViewPr>
  <p:slideViewPr>
    <p:cSldViewPr snapToGrid="0">
      <p:cViewPr varScale="1">
        <p:scale>
          <a:sx n="77" d="100"/>
          <a:sy n="77" d="100"/>
        </p:scale>
        <p:origin x="389" y="58"/>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55" Type="http://customschemas.google.com/relationships/presentationmetadata" Target="meta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59"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8"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57"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56"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6"/>
        <p:cNvGrpSpPr/>
        <p:nvPr/>
      </p:nvGrpSpPr>
      <p:grpSpPr>
        <a:xfrm>
          <a:off x="0" y="0"/>
          <a:ext cx="0" cy="0"/>
          <a:chOff x="0" y="0"/>
          <a:chExt cx="0" cy="0"/>
        </a:xfrm>
      </p:grpSpPr>
      <p:sp>
        <p:nvSpPr>
          <p:cNvPr id="257" name="Google Shape;257;g104476d1465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8" name="Google Shape;258;g104476d1465_0_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3</a:t>
            </a:fld>
            <a:endParaRPr/>
          </a:p>
        </p:txBody>
      </p:sp>
    </p:spTree>
    <p:extLst>
      <p:ext uri="{BB962C8B-B14F-4D97-AF65-F5344CB8AC3E}">
        <p14:creationId xmlns:p14="http://schemas.microsoft.com/office/powerpoint/2010/main" val="232868339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4</a:t>
            </a:fld>
            <a:endParaRPr/>
          </a:p>
        </p:txBody>
      </p:sp>
    </p:spTree>
    <p:extLst>
      <p:ext uri="{BB962C8B-B14F-4D97-AF65-F5344CB8AC3E}">
        <p14:creationId xmlns:p14="http://schemas.microsoft.com/office/powerpoint/2010/main" val="174684046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6</a:t>
            </a:fld>
            <a:endParaRPr/>
          </a:p>
        </p:txBody>
      </p:sp>
    </p:spTree>
    <p:extLst>
      <p:ext uri="{BB962C8B-B14F-4D97-AF65-F5344CB8AC3E}">
        <p14:creationId xmlns:p14="http://schemas.microsoft.com/office/powerpoint/2010/main" val="158337895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7</a:t>
            </a:fld>
            <a:endParaRPr/>
          </a:p>
        </p:txBody>
      </p:sp>
    </p:spTree>
    <p:extLst>
      <p:ext uri="{BB962C8B-B14F-4D97-AF65-F5344CB8AC3E}">
        <p14:creationId xmlns:p14="http://schemas.microsoft.com/office/powerpoint/2010/main" val="306399360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8</a:t>
            </a:fld>
            <a:endParaRPr/>
          </a:p>
        </p:txBody>
      </p:sp>
    </p:spTree>
    <p:extLst>
      <p:ext uri="{BB962C8B-B14F-4D97-AF65-F5344CB8AC3E}">
        <p14:creationId xmlns:p14="http://schemas.microsoft.com/office/powerpoint/2010/main" val="25803800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9</a:t>
            </a:fld>
            <a:endParaRPr/>
          </a:p>
        </p:txBody>
      </p:sp>
    </p:spTree>
    <p:extLst>
      <p:ext uri="{BB962C8B-B14F-4D97-AF65-F5344CB8AC3E}">
        <p14:creationId xmlns:p14="http://schemas.microsoft.com/office/powerpoint/2010/main" val="263999061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10</a:t>
            </a:fld>
            <a:endParaRPr/>
          </a:p>
        </p:txBody>
      </p:sp>
    </p:spTree>
    <p:extLst>
      <p:ext uri="{BB962C8B-B14F-4D97-AF65-F5344CB8AC3E}">
        <p14:creationId xmlns:p14="http://schemas.microsoft.com/office/powerpoint/2010/main" val="414602280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11</a:t>
            </a:fld>
            <a:endParaRPr/>
          </a:p>
        </p:txBody>
      </p:sp>
    </p:spTree>
    <p:extLst>
      <p:ext uri="{BB962C8B-B14F-4D97-AF65-F5344CB8AC3E}">
        <p14:creationId xmlns:p14="http://schemas.microsoft.com/office/powerpoint/2010/main" val="2667143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12</a:t>
            </a:fld>
            <a:endParaRPr/>
          </a:p>
        </p:txBody>
      </p:sp>
    </p:spTree>
    <p:extLst>
      <p:ext uri="{BB962C8B-B14F-4D97-AF65-F5344CB8AC3E}">
        <p14:creationId xmlns:p14="http://schemas.microsoft.com/office/powerpoint/2010/main" val="130348644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13</a:t>
            </a:fld>
            <a:endParaRPr/>
          </a:p>
        </p:txBody>
      </p:sp>
    </p:spTree>
    <p:extLst>
      <p:ext uri="{BB962C8B-B14F-4D97-AF65-F5344CB8AC3E}">
        <p14:creationId xmlns:p14="http://schemas.microsoft.com/office/powerpoint/2010/main" val="142232478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14</a:t>
            </a:fld>
            <a:endParaRPr/>
          </a:p>
        </p:txBody>
      </p:sp>
    </p:spTree>
    <p:extLst>
      <p:ext uri="{BB962C8B-B14F-4D97-AF65-F5344CB8AC3E}">
        <p14:creationId xmlns:p14="http://schemas.microsoft.com/office/powerpoint/2010/main" val="163003905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15</a:t>
            </a:fld>
            <a:endParaRPr/>
          </a:p>
        </p:txBody>
      </p:sp>
    </p:spTree>
    <p:extLst>
      <p:ext uri="{BB962C8B-B14F-4D97-AF65-F5344CB8AC3E}">
        <p14:creationId xmlns:p14="http://schemas.microsoft.com/office/powerpoint/2010/main" val="44939086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16</a:t>
            </a:fld>
            <a:endParaRPr/>
          </a:p>
        </p:txBody>
      </p:sp>
    </p:spTree>
    <p:extLst>
      <p:ext uri="{BB962C8B-B14F-4D97-AF65-F5344CB8AC3E}">
        <p14:creationId xmlns:p14="http://schemas.microsoft.com/office/powerpoint/2010/main" val="9709267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17</a:t>
            </a:fld>
            <a:endParaRPr/>
          </a:p>
        </p:txBody>
      </p:sp>
    </p:spTree>
    <p:extLst>
      <p:ext uri="{BB962C8B-B14F-4D97-AF65-F5344CB8AC3E}">
        <p14:creationId xmlns:p14="http://schemas.microsoft.com/office/powerpoint/2010/main" val="123418990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18</a:t>
            </a:fld>
            <a:endParaRPr/>
          </a:p>
        </p:txBody>
      </p:sp>
    </p:spTree>
    <p:extLst>
      <p:ext uri="{BB962C8B-B14F-4D97-AF65-F5344CB8AC3E}">
        <p14:creationId xmlns:p14="http://schemas.microsoft.com/office/powerpoint/2010/main" val="25043431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19</a:t>
            </a:fld>
            <a:endParaRPr/>
          </a:p>
        </p:txBody>
      </p:sp>
    </p:spTree>
    <p:extLst>
      <p:ext uri="{BB962C8B-B14F-4D97-AF65-F5344CB8AC3E}">
        <p14:creationId xmlns:p14="http://schemas.microsoft.com/office/powerpoint/2010/main" val="108433905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20</a:t>
            </a:fld>
            <a:endParaRPr/>
          </a:p>
        </p:txBody>
      </p:sp>
    </p:spTree>
    <p:extLst>
      <p:ext uri="{BB962C8B-B14F-4D97-AF65-F5344CB8AC3E}">
        <p14:creationId xmlns:p14="http://schemas.microsoft.com/office/powerpoint/2010/main" val="17591170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21</a:t>
            </a:fld>
            <a:endParaRPr/>
          </a:p>
        </p:txBody>
      </p:sp>
    </p:spTree>
    <p:extLst>
      <p:ext uri="{BB962C8B-B14F-4D97-AF65-F5344CB8AC3E}">
        <p14:creationId xmlns:p14="http://schemas.microsoft.com/office/powerpoint/2010/main" val="173799455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22</a:t>
            </a:fld>
            <a:endParaRPr/>
          </a:p>
        </p:txBody>
      </p:sp>
    </p:spTree>
    <p:extLst>
      <p:ext uri="{BB962C8B-B14F-4D97-AF65-F5344CB8AC3E}">
        <p14:creationId xmlns:p14="http://schemas.microsoft.com/office/powerpoint/2010/main" val="71668810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23</a:t>
            </a:fld>
            <a:endParaRPr/>
          </a:p>
        </p:txBody>
      </p:sp>
    </p:spTree>
    <p:extLst>
      <p:ext uri="{BB962C8B-B14F-4D97-AF65-F5344CB8AC3E}">
        <p14:creationId xmlns:p14="http://schemas.microsoft.com/office/powerpoint/2010/main" val="193732810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24</a:t>
            </a:fld>
            <a:endParaRPr/>
          </a:p>
        </p:txBody>
      </p:sp>
    </p:spTree>
    <p:extLst>
      <p:ext uri="{BB962C8B-B14F-4D97-AF65-F5344CB8AC3E}">
        <p14:creationId xmlns:p14="http://schemas.microsoft.com/office/powerpoint/2010/main" val="1684968322"/>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1_Title Slide">
  <p:cSld name="1_Title Slide">
    <p:bg>
      <p:bgPr>
        <a:blipFill>
          <a:blip r:embed="rId2" cstate="screen">
            <a:alphaModFix/>
            <a:extLst>
              <a:ext uri="{28A0092B-C50C-407E-A947-70E740481C1C}">
                <a14:useLocalDpi xmlns:a14="http://schemas.microsoft.com/office/drawing/2010/main"/>
              </a:ext>
            </a:extLst>
          </a:blip>
          <a:stretch>
            <a:fillRect/>
          </a:stretch>
        </a:blipFill>
        <a:effectLst/>
      </p:bgPr>
    </p:bg>
    <p:spTree>
      <p:nvGrpSpPr>
        <p:cNvPr id="1" name="Shape 15"/>
        <p:cNvGrpSpPr/>
        <p:nvPr/>
      </p:nvGrpSpPr>
      <p:grpSpPr>
        <a:xfrm>
          <a:off x="0" y="0"/>
          <a:ext cx="0" cy="0"/>
          <a:chOff x="0" y="0"/>
          <a:chExt cx="0" cy="0"/>
        </a:xfrm>
      </p:grpSpPr>
      <p:sp>
        <p:nvSpPr>
          <p:cNvPr id="16" name="Google Shape;16;p56"/>
          <p:cNvSpPr txBox="1">
            <a:spLocks noGrp="1"/>
          </p:cNvSpPr>
          <p:nvPr>
            <p:ph type="ctrTitle"/>
          </p:nvPr>
        </p:nvSpPr>
        <p:spPr>
          <a:xfrm>
            <a:off x="5299677" y="1070919"/>
            <a:ext cx="6526000" cy="3618000"/>
          </a:xfrm>
          <a:prstGeom prst="rect">
            <a:avLst/>
          </a:prstGeom>
          <a:noFill/>
          <a:ln>
            <a:noFill/>
          </a:ln>
        </p:spPr>
        <p:txBody>
          <a:bodyPr spcFirstLastPara="1" wrap="square" lIns="91425" tIns="91425" rIns="91425" bIns="91425" anchor="b" anchorCtr="0">
            <a:normAutofit/>
          </a:bodyPr>
          <a:lstStyle>
            <a:lvl1pPr lvl="0" algn="l" rtl="0">
              <a:lnSpc>
                <a:spcPct val="90000"/>
              </a:lnSpc>
              <a:spcBef>
                <a:spcPts val="0"/>
              </a:spcBef>
              <a:spcAft>
                <a:spcPts val="0"/>
              </a:spcAft>
              <a:buClr>
                <a:srgbClr val="FFFFFF"/>
              </a:buClr>
              <a:buSzPts val="3000"/>
              <a:buFont typeface="Arial Black"/>
              <a:buNone/>
              <a:defRPr sz="3000">
                <a:solidFill>
                  <a:srgbClr val="FFFFFF"/>
                </a:solidFill>
                <a:latin typeface="Arial Black"/>
                <a:ea typeface="Arial Black"/>
                <a:cs typeface="Arial Black"/>
                <a:sym typeface="Arial Black"/>
              </a:defRPr>
            </a:lvl1pPr>
            <a:lvl2pPr lvl="1" rtl="0">
              <a:spcBef>
                <a:spcPts val="0"/>
              </a:spcBef>
              <a:spcAft>
                <a:spcPts val="0"/>
              </a:spcAft>
              <a:buSzPts val="1400"/>
              <a:buNone/>
              <a:defRPr sz="7200"/>
            </a:lvl2pPr>
            <a:lvl3pPr lvl="2" rtl="0">
              <a:spcBef>
                <a:spcPts val="0"/>
              </a:spcBef>
              <a:spcAft>
                <a:spcPts val="0"/>
              </a:spcAft>
              <a:buSzPts val="1400"/>
              <a:buNone/>
              <a:defRPr sz="7200"/>
            </a:lvl3pPr>
            <a:lvl4pPr lvl="3" rtl="0">
              <a:spcBef>
                <a:spcPts val="0"/>
              </a:spcBef>
              <a:spcAft>
                <a:spcPts val="0"/>
              </a:spcAft>
              <a:buSzPts val="1400"/>
              <a:buNone/>
              <a:defRPr sz="7200"/>
            </a:lvl4pPr>
            <a:lvl5pPr lvl="4" rtl="0">
              <a:spcBef>
                <a:spcPts val="0"/>
              </a:spcBef>
              <a:spcAft>
                <a:spcPts val="0"/>
              </a:spcAft>
              <a:buSzPts val="1400"/>
              <a:buNone/>
              <a:defRPr sz="7200"/>
            </a:lvl5pPr>
            <a:lvl6pPr lvl="5" rtl="0">
              <a:spcBef>
                <a:spcPts val="0"/>
              </a:spcBef>
              <a:spcAft>
                <a:spcPts val="0"/>
              </a:spcAft>
              <a:buSzPts val="1400"/>
              <a:buNone/>
              <a:defRPr sz="7200"/>
            </a:lvl6pPr>
            <a:lvl7pPr lvl="6" rtl="0">
              <a:spcBef>
                <a:spcPts val="0"/>
              </a:spcBef>
              <a:spcAft>
                <a:spcPts val="0"/>
              </a:spcAft>
              <a:buSzPts val="1400"/>
              <a:buNone/>
              <a:defRPr sz="7200"/>
            </a:lvl7pPr>
            <a:lvl8pPr lvl="7" rtl="0">
              <a:spcBef>
                <a:spcPts val="0"/>
              </a:spcBef>
              <a:spcAft>
                <a:spcPts val="0"/>
              </a:spcAft>
              <a:buSzPts val="1400"/>
              <a:buNone/>
              <a:defRPr sz="7200"/>
            </a:lvl8pPr>
            <a:lvl9pPr lvl="8" rtl="0">
              <a:spcBef>
                <a:spcPts val="0"/>
              </a:spcBef>
              <a:spcAft>
                <a:spcPts val="0"/>
              </a:spcAft>
              <a:buSzPts val="1400"/>
              <a:buNone/>
              <a:defRPr sz="7200"/>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7"/>
        <p:cNvGrpSpPr/>
        <p:nvPr/>
      </p:nvGrpSpPr>
      <p:grpSpPr>
        <a:xfrm>
          <a:off x="0" y="0"/>
          <a:ext cx="0" cy="0"/>
          <a:chOff x="0" y="0"/>
          <a:chExt cx="0" cy="0"/>
        </a:xfrm>
      </p:grpSpPr>
      <p:sp>
        <p:nvSpPr>
          <p:cNvPr id="18" name="Google Shape;18;p77"/>
          <p:cNvSpPr txBox="1">
            <a:spLocks noGrp="1"/>
          </p:cNvSpPr>
          <p:nvPr>
            <p:ph type="ctrTitle"/>
          </p:nvPr>
        </p:nvSpPr>
        <p:spPr>
          <a:xfrm>
            <a:off x="1524000" y="1122363"/>
            <a:ext cx="9144000" cy="2387700"/>
          </a:xfrm>
          <a:prstGeom prst="rect">
            <a:avLst/>
          </a:prstGeom>
          <a:noFill/>
          <a:ln>
            <a:noFill/>
          </a:ln>
        </p:spPr>
        <p:txBody>
          <a:bodyPr spcFirstLastPara="1" wrap="square" lIns="91425" tIns="45700" rIns="91425" bIns="45700" anchor="b" anchorCtr="0">
            <a:normAutofit/>
          </a:bodyPr>
          <a:lstStyle>
            <a:lvl1pPr lvl="0" algn="ctr" rtl="0">
              <a:lnSpc>
                <a:spcPct val="90000"/>
              </a:lnSpc>
              <a:spcBef>
                <a:spcPts val="0"/>
              </a:spcBef>
              <a:spcAft>
                <a:spcPts val="0"/>
              </a:spcAft>
              <a:buClr>
                <a:schemeClr val="dk1"/>
              </a:buClr>
              <a:buSzPts val="4500"/>
              <a:buFont typeface="Calibri"/>
              <a:buNone/>
              <a:defRPr sz="45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9" name="Google Shape;19;p77"/>
          <p:cNvSpPr txBox="1">
            <a:spLocks noGrp="1"/>
          </p:cNvSpPr>
          <p:nvPr>
            <p:ph type="subTitle" idx="1"/>
          </p:nvPr>
        </p:nvSpPr>
        <p:spPr>
          <a:xfrm>
            <a:off x="1524000" y="3602038"/>
            <a:ext cx="9144000" cy="1655700"/>
          </a:xfrm>
          <a:prstGeom prst="rect">
            <a:avLst/>
          </a:prstGeom>
          <a:noFill/>
          <a:ln>
            <a:noFill/>
          </a:ln>
        </p:spPr>
        <p:txBody>
          <a:bodyPr spcFirstLastPara="1" wrap="square" lIns="91425" tIns="45700" rIns="91425" bIns="45700" anchor="t" anchorCtr="0">
            <a:normAutofit/>
          </a:bodyPr>
          <a:lstStyle>
            <a:lvl1pPr lvl="0" algn="ctr" rtl="0">
              <a:lnSpc>
                <a:spcPct val="90000"/>
              </a:lnSpc>
              <a:spcBef>
                <a:spcPts val="750"/>
              </a:spcBef>
              <a:spcAft>
                <a:spcPts val="0"/>
              </a:spcAft>
              <a:buClr>
                <a:schemeClr val="dk1"/>
              </a:buClr>
              <a:buSzPts val="1800"/>
              <a:buNone/>
              <a:defRPr sz="1800"/>
            </a:lvl1pPr>
            <a:lvl2pPr lvl="1" algn="ctr" rtl="0">
              <a:lnSpc>
                <a:spcPct val="90000"/>
              </a:lnSpc>
              <a:spcBef>
                <a:spcPts val="375"/>
              </a:spcBef>
              <a:spcAft>
                <a:spcPts val="0"/>
              </a:spcAft>
              <a:buClr>
                <a:schemeClr val="dk1"/>
              </a:buClr>
              <a:buSzPts val="1500"/>
              <a:buNone/>
              <a:defRPr sz="1500"/>
            </a:lvl2pPr>
            <a:lvl3pPr lvl="2" algn="ctr" rtl="0">
              <a:lnSpc>
                <a:spcPct val="90000"/>
              </a:lnSpc>
              <a:spcBef>
                <a:spcPts val="375"/>
              </a:spcBef>
              <a:spcAft>
                <a:spcPts val="0"/>
              </a:spcAft>
              <a:buClr>
                <a:schemeClr val="dk1"/>
              </a:buClr>
              <a:buSzPts val="1350"/>
              <a:buNone/>
              <a:defRPr sz="1350"/>
            </a:lvl3pPr>
            <a:lvl4pPr lvl="3" algn="ctr" rtl="0">
              <a:lnSpc>
                <a:spcPct val="90000"/>
              </a:lnSpc>
              <a:spcBef>
                <a:spcPts val="375"/>
              </a:spcBef>
              <a:spcAft>
                <a:spcPts val="0"/>
              </a:spcAft>
              <a:buClr>
                <a:schemeClr val="dk1"/>
              </a:buClr>
              <a:buSzPts val="1200"/>
              <a:buNone/>
              <a:defRPr sz="1200"/>
            </a:lvl4pPr>
            <a:lvl5pPr lvl="4" algn="ctr" rtl="0">
              <a:lnSpc>
                <a:spcPct val="90000"/>
              </a:lnSpc>
              <a:spcBef>
                <a:spcPts val="375"/>
              </a:spcBef>
              <a:spcAft>
                <a:spcPts val="0"/>
              </a:spcAft>
              <a:buClr>
                <a:schemeClr val="dk1"/>
              </a:buClr>
              <a:buSzPts val="1200"/>
              <a:buNone/>
              <a:defRPr sz="1200"/>
            </a:lvl5pPr>
            <a:lvl6pPr lvl="5" algn="ctr" rtl="0">
              <a:lnSpc>
                <a:spcPct val="90000"/>
              </a:lnSpc>
              <a:spcBef>
                <a:spcPts val="375"/>
              </a:spcBef>
              <a:spcAft>
                <a:spcPts val="0"/>
              </a:spcAft>
              <a:buClr>
                <a:schemeClr val="dk1"/>
              </a:buClr>
              <a:buSzPts val="1200"/>
              <a:buNone/>
              <a:defRPr sz="1200"/>
            </a:lvl6pPr>
            <a:lvl7pPr lvl="6" algn="ctr" rtl="0">
              <a:lnSpc>
                <a:spcPct val="90000"/>
              </a:lnSpc>
              <a:spcBef>
                <a:spcPts val="375"/>
              </a:spcBef>
              <a:spcAft>
                <a:spcPts val="0"/>
              </a:spcAft>
              <a:buClr>
                <a:schemeClr val="dk1"/>
              </a:buClr>
              <a:buSzPts val="1200"/>
              <a:buNone/>
              <a:defRPr sz="1200"/>
            </a:lvl7pPr>
            <a:lvl8pPr lvl="7" algn="ctr" rtl="0">
              <a:lnSpc>
                <a:spcPct val="90000"/>
              </a:lnSpc>
              <a:spcBef>
                <a:spcPts val="375"/>
              </a:spcBef>
              <a:spcAft>
                <a:spcPts val="0"/>
              </a:spcAft>
              <a:buClr>
                <a:schemeClr val="dk1"/>
              </a:buClr>
              <a:buSzPts val="1200"/>
              <a:buNone/>
              <a:defRPr sz="1200"/>
            </a:lvl8pPr>
            <a:lvl9pPr lvl="8" algn="ctr" rtl="0">
              <a:lnSpc>
                <a:spcPct val="90000"/>
              </a:lnSpc>
              <a:spcBef>
                <a:spcPts val="375"/>
              </a:spcBef>
              <a:spcAft>
                <a:spcPts val="0"/>
              </a:spcAft>
              <a:buClr>
                <a:schemeClr val="dk1"/>
              </a:buClr>
              <a:buSzPts val="1200"/>
              <a:buNone/>
              <a:defRPr sz="1200"/>
            </a:lvl9pPr>
          </a:lstStyle>
          <a:p>
            <a:endParaRPr/>
          </a:p>
        </p:txBody>
      </p:sp>
      <p:sp>
        <p:nvSpPr>
          <p:cNvPr id="20" name="Google Shape;20;p7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1" name="Google Shape;21;p7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2" name="Google Shape;22;p7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3"/>
        <p:cNvGrpSpPr/>
        <p:nvPr/>
      </p:nvGrpSpPr>
      <p:grpSpPr>
        <a:xfrm>
          <a:off x="0" y="0"/>
          <a:ext cx="0" cy="0"/>
          <a:chOff x="0" y="0"/>
          <a:chExt cx="0" cy="0"/>
        </a:xfrm>
      </p:grpSpPr>
      <p:sp>
        <p:nvSpPr>
          <p:cNvPr id="24" name="Google Shape;24;p78"/>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5" name="Google Shape;25;p78"/>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26" name="Google Shape;26;p78"/>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7" name="Google Shape;27;p78"/>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8" name="Google Shape;28;p78"/>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9"/>
        <p:cNvGrpSpPr/>
        <p:nvPr/>
      </p:nvGrpSpPr>
      <p:grpSpPr>
        <a:xfrm>
          <a:off x="0" y="0"/>
          <a:ext cx="0" cy="0"/>
          <a:chOff x="0" y="0"/>
          <a:chExt cx="0" cy="0"/>
        </a:xfrm>
      </p:grpSpPr>
      <p:sp>
        <p:nvSpPr>
          <p:cNvPr id="30" name="Google Shape;30;p79"/>
          <p:cNvSpPr txBox="1">
            <a:spLocks noGrp="1"/>
          </p:cNvSpPr>
          <p:nvPr>
            <p:ph type="title"/>
          </p:nvPr>
        </p:nvSpPr>
        <p:spPr>
          <a:xfrm>
            <a:off x="831851" y="1709739"/>
            <a:ext cx="10515600" cy="28527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4500"/>
              <a:buFont typeface="Calibri"/>
              <a:buNone/>
              <a:defRPr sz="45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1" name="Google Shape;31;p79"/>
          <p:cNvSpPr txBox="1">
            <a:spLocks noGrp="1"/>
          </p:cNvSpPr>
          <p:nvPr>
            <p:ph type="body" idx="1"/>
          </p:nvPr>
        </p:nvSpPr>
        <p:spPr>
          <a:xfrm>
            <a:off x="831851" y="4589464"/>
            <a:ext cx="10515600" cy="15003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rgbClr val="888888"/>
              </a:buClr>
              <a:buSzPts val="1800"/>
              <a:buNone/>
              <a:defRPr sz="1800">
                <a:solidFill>
                  <a:srgbClr val="888888"/>
                </a:solidFill>
              </a:defRPr>
            </a:lvl1pPr>
            <a:lvl2pPr marL="914400" lvl="1" indent="-228600" algn="l" rtl="0">
              <a:lnSpc>
                <a:spcPct val="90000"/>
              </a:lnSpc>
              <a:spcBef>
                <a:spcPts val="375"/>
              </a:spcBef>
              <a:spcAft>
                <a:spcPts val="0"/>
              </a:spcAft>
              <a:buClr>
                <a:srgbClr val="888888"/>
              </a:buClr>
              <a:buSzPts val="1500"/>
              <a:buNone/>
              <a:defRPr sz="1500">
                <a:solidFill>
                  <a:srgbClr val="888888"/>
                </a:solidFill>
              </a:defRPr>
            </a:lvl2pPr>
            <a:lvl3pPr marL="1371600" lvl="2" indent="-228600" algn="l" rtl="0">
              <a:lnSpc>
                <a:spcPct val="90000"/>
              </a:lnSpc>
              <a:spcBef>
                <a:spcPts val="375"/>
              </a:spcBef>
              <a:spcAft>
                <a:spcPts val="0"/>
              </a:spcAft>
              <a:buClr>
                <a:srgbClr val="888888"/>
              </a:buClr>
              <a:buSzPts val="1350"/>
              <a:buNone/>
              <a:defRPr sz="1350">
                <a:solidFill>
                  <a:srgbClr val="888888"/>
                </a:solidFill>
              </a:defRPr>
            </a:lvl3pPr>
            <a:lvl4pPr marL="1828800" lvl="3" indent="-228600" algn="l" rtl="0">
              <a:lnSpc>
                <a:spcPct val="90000"/>
              </a:lnSpc>
              <a:spcBef>
                <a:spcPts val="375"/>
              </a:spcBef>
              <a:spcAft>
                <a:spcPts val="0"/>
              </a:spcAft>
              <a:buClr>
                <a:srgbClr val="888888"/>
              </a:buClr>
              <a:buSzPts val="1200"/>
              <a:buNone/>
              <a:defRPr sz="1200">
                <a:solidFill>
                  <a:srgbClr val="888888"/>
                </a:solidFill>
              </a:defRPr>
            </a:lvl4pPr>
            <a:lvl5pPr marL="2286000" lvl="4" indent="-228600" algn="l" rtl="0">
              <a:lnSpc>
                <a:spcPct val="90000"/>
              </a:lnSpc>
              <a:spcBef>
                <a:spcPts val="375"/>
              </a:spcBef>
              <a:spcAft>
                <a:spcPts val="0"/>
              </a:spcAft>
              <a:buClr>
                <a:srgbClr val="888888"/>
              </a:buClr>
              <a:buSzPts val="1200"/>
              <a:buNone/>
              <a:defRPr sz="1200">
                <a:solidFill>
                  <a:srgbClr val="888888"/>
                </a:solidFill>
              </a:defRPr>
            </a:lvl5pPr>
            <a:lvl6pPr marL="2743200" lvl="5" indent="-228600" algn="l" rtl="0">
              <a:lnSpc>
                <a:spcPct val="90000"/>
              </a:lnSpc>
              <a:spcBef>
                <a:spcPts val="375"/>
              </a:spcBef>
              <a:spcAft>
                <a:spcPts val="0"/>
              </a:spcAft>
              <a:buClr>
                <a:srgbClr val="888888"/>
              </a:buClr>
              <a:buSzPts val="1200"/>
              <a:buNone/>
              <a:defRPr sz="1200">
                <a:solidFill>
                  <a:srgbClr val="888888"/>
                </a:solidFill>
              </a:defRPr>
            </a:lvl6pPr>
            <a:lvl7pPr marL="3200400" lvl="6" indent="-228600" algn="l" rtl="0">
              <a:lnSpc>
                <a:spcPct val="90000"/>
              </a:lnSpc>
              <a:spcBef>
                <a:spcPts val="375"/>
              </a:spcBef>
              <a:spcAft>
                <a:spcPts val="0"/>
              </a:spcAft>
              <a:buClr>
                <a:srgbClr val="888888"/>
              </a:buClr>
              <a:buSzPts val="1200"/>
              <a:buNone/>
              <a:defRPr sz="1200">
                <a:solidFill>
                  <a:srgbClr val="888888"/>
                </a:solidFill>
              </a:defRPr>
            </a:lvl7pPr>
            <a:lvl8pPr marL="3657600" lvl="7" indent="-228600" algn="l" rtl="0">
              <a:lnSpc>
                <a:spcPct val="90000"/>
              </a:lnSpc>
              <a:spcBef>
                <a:spcPts val="375"/>
              </a:spcBef>
              <a:spcAft>
                <a:spcPts val="0"/>
              </a:spcAft>
              <a:buClr>
                <a:srgbClr val="888888"/>
              </a:buClr>
              <a:buSzPts val="1200"/>
              <a:buNone/>
              <a:defRPr sz="1200">
                <a:solidFill>
                  <a:srgbClr val="888888"/>
                </a:solidFill>
              </a:defRPr>
            </a:lvl8pPr>
            <a:lvl9pPr marL="4114800" lvl="8" indent="-228600" algn="l" rtl="0">
              <a:lnSpc>
                <a:spcPct val="90000"/>
              </a:lnSpc>
              <a:spcBef>
                <a:spcPts val="375"/>
              </a:spcBef>
              <a:spcAft>
                <a:spcPts val="0"/>
              </a:spcAft>
              <a:buClr>
                <a:srgbClr val="888888"/>
              </a:buClr>
              <a:buSzPts val="1200"/>
              <a:buNone/>
              <a:defRPr sz="1200">
                <a:solidFill>
                  <a:srgbClr val="888888"/>
                </a:solidFill>
              </a:defRPr>
            </a:lvl9pPr>
          </a:lstStyle>
          <a:p>
            <a:endParaRPr/>
          </a:p>
        </p:txBody>
      </p:sp>
      <p:sp>
        <p:nvSpPr>
          <p:cNvPr id="32" name="Google Shape;32;p79"/>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3" name="Google Shape;33;p79"/>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4" name="Google Shape;34;p79"/>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5"/>
        <p:cNvGrpSpPr/>
        <p:nvPr/>
      </p:nvGrpSpPr>
      <p:grpSpPr>
        <a:xfrm>
          <a:off x="0" y="0"/>
          <a:ext cx="0" cy="0"/>
          <a:chOff x="0" y="0"/>
          <a:chExt cx="0" cy="0"/>
        </a:xfrm>
      </p:grpSpPr>
      <p:sp>
        <p:nvSpPr>
          <p:cNvPr id="36" name="Google Shape;36;p80"/>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7" name="Google Shape;37;p80"/>
          <p:cNvSpPr txBox="1">
            <a:spLocks noGrp="1"/>
          </p:cNvSpPr>
          <p:nvPr>
            <p:ph type="body" idx="1"/>
          </p:nvPr>
        </p:nvSpPr>
        <p:spPr>
          <a:xfrm>
            <a:off x="838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38" name="Google Shape;38;p80"/>
          <p:cNvSpPr txBox="1">
            <a:spLocks noGrp="1"/>
          </p:cNvSpPr>
          <p:nvPr>
            <p:ph type="body" idx="2"/>
          </p:nvPr>
        </p:nvSpPr>
        <p:spPr>
          <a:xfrm>
            <a:off x="6172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39" name="Google Shape;39;p80"/>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0" name="Google Shape;40;p80"/>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1" name="Google Shape;41;p80"/>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2"/>
        <p:cNvGrpSpPr/>
        <p:nvPr/>
      </p:nvGrpSpPr>
      <p:grpSpPr>
        <a:xfrm>
          <a:off x="0" y="0"/>
          <a:ext cx="0" cy="0"/>
          <a:chOff x="0" y="0"/>
          <a:chExt cx="0" cy="0"/>
        </a:xfrm>
      </p:grpSpPr>
      <p:sp>
        <p:nvSpPr>
          <p:cNvPr id="43" name="Google Shape;43;p81"/>
          <p:cNvSpPr txBox="1">
            <a:spLocks noGrp="1"/>
          </p:cNvSpPr>
          <p:nvPr>
            <p:ph type="title"/>
          </p:nvPr>
        </p:nvSpPr>
        <p:spPr>
          <a:xfrm>
            <a:off x="839788"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4" name="Google Shape;44;p81"/>
          <p:cNvSpPr txBox="1">
            <a:spLocks noGrp="1"/>
          </p:cNvSpPr>
          <p:nvPr>
            <p:ph type="body" idx="1"/>
          </p:nvPr>
        </p:nvSpPr>
        <p:spPr>
          <a:xfrm>
            <a:off x="839789" y="1681163"/>
            <a:ext cx="5157600" cy="8238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750"/>
              </a:spcBef>
              <a:spcAft>
                <a:spcPts val="0"/>
              </a:spcAft>
              <a:buClr>
                <a:schemeClr val="dk1"/>
              </a:buClr>
              <a:buSzPts val="1800"/>
              <a:buNone/>
              <a:defRPr sz="1800" b="1"/>
            </a:lvl1pPr>
            <a:lvl2pPr marL="914400" lvl="1" indent="-228600" algn="l" rtl="0">
              <a:lnSpc>
                <a:spcPct val="90000"/>
              </a:lnSpc>
              <a:spcBef>
                <a:spcPts val="375"/>
              </a:spcBef>
              <a:spcAft>
                <a:spcPts val="0"/>
              </a:spcAft>
              <a:buClr>
                <a:schemeClr val="dk1"/>
              </a:buClr>
              <a:buSzPts val="1500"/>
              <a:buNone/>
              <a:defRPr sz="1500" b="1"/>
            </a:lvl2pPr>
            <a:lvl3pPr marL="1371600" lvl="2" indent="-228600" algn="l" rtl="0">
              <a:lnSpc>
                <a:spcPct val="90000"/>
              </a:lnSpc>
              <a:spcBef>
                <a:spcPts val="375"/>
              </a:spcBef>
              <a:spcAft>
                <a:spcPts val="0"/>
              </a:spcAft>
              <a:buClr>
                <a:schemeClr val="dk1"/>
              </a:buClr>
              <a:buSzPts val="1350"/>
              <a:buNone/>
              <a:defRPr sz="1350" b="1"/>
            </a:lvl3pPr>
            <a:lvl4pPr marL="1828800" lvl="3" indent="-228600" algn="l" rtl="0">
              <a:lnSpc>
                <a:spcPct val="90000"/>
              </a:lnSpc>
              <a:spcBef>
                <a:spcPts val="375"/>
              </a:spcBef>
              <a:spcAft>
                <a:spcPts val="0"/>
              </a:spcAft>
              <a:buClr>
                <a:schemeClr val="dk1"/>
              </a:buClr>
              <a:buSzPts val="1200"/>
              <a:buNone/>
              <a:defRPr sz="1200" b="1"/>
            </a:lvl4pPr>
            <a:lvl5pPr marL="2286000" lvl="4" indent="-228600" algn="l" rtl="0">
              <a:lnSpc>
                <a:spcPct val="90000"/>
              </a:lnSpc>
              <a:spcBef>
                <a:spcPts val="375"/>
              </a:spcBef>
              <a:spcAft>
                <a:spcPts val="0"/>
              </a:spcAft>
              <a:buClr>
                <a:schemeClr val="dk1"/>
              </a:buClr>
              <a:buSzPts val="1200"/>
              <a:buNone/>
              <a:defRPr sz="1200" b="1"/>
            </a:lvl5pPr>
            <a:lvl6pPr marL="2743200" lvl="5" indent="-228600" algn="l" rtl="0">
              <a:lnSpc>
                <a:spcPct val="90000"/>
              </a:lnSpc>
              <a:spcBef>
                <a:spcPts val="375"/>
              </a:spcBef>
              <a:spcAft>
                <a:spcPts val="0"/>
              </a:spcAft>
              <a:buClr>
                <a:schemeClr val="dk1"/>
              </a:buClr>
              <a:buSzPts val="1200"/>
              <a:buNone/>
              <a:defRPr sz="1200" b="1"/>
            </a:lvl6pPr>
            <a:lvl7pPr marL="3200400" lvl="6" indent="-228600" algn="l" rtl="0">
              <a:lnSpc>
                <a:spcPct val="90000"/>
              </a:lnSpc>
              <a:spcBef>
                <a:spcPts val="375"/>
              </a:spcBef>
              <a:spcAft>
                <a:spcPts val="0"/>
              </a:spcAft>
              <a:buClr>
                <a:schemeClr val="dk1"/>
              </a:buClr>
              <a:buSzPts val="1200"/>
              <a:buNone/>
              <a:defRPr sz="1200" b="1"/>
            </a:lvl7pPr>
            <a:lvl8pPr marL="3657600" lvl="7" indent="-228600" algn="l" rtl="0">
              <a:lnSpc>
                <a:spcPct val="90000"/>
              </a:lnSpc>
              <a:spcBef>
                <a:spcPts val="375"/>
              </a:spcBef>
              <a:spcAft>
                <a:spcPts val="0"/>
              </a:spcAft>
              <a:buClr>
                <a:schemeClr val="dk1"/>
              </a:buClr>
              <a:buSzPts val="1200"/>
              <a:buNone/>
              <a:defRPr sz="1200" b="1"/>
            </a:lvl8pPr>
            <a:lvl9pPr marL="4114800" lvl="8" indent="-228600" algn="l" rtl="0">
              <a:lnSpc>
                <a:spcPct val="90000"/>
              </a:lnSpc>
              <a:spcBef>
                <a:spcPts val="375"/>
              </a:spcBef>
              <a:spcAft>
                <a:spcPts val="0"/>
              </a:spcAft>
              <a:buClr>
                <a:schemeClr val="dk1"/>
              </a:buClr>
              <a:buSzPts val="1200"/>
              <a:buNone/>
              <a:defRPr sz="1200" b="1"/>
            </a:lvl9pPr>
          </a:lstStyle>
          <a:p>
            <a:endParaRPr/>
          </a:p>
        </p:txBody>
      </p:sp>
      <p:sp>
        <p:nvSpPr>
          <p:cNvPr id="45" name="Google Shape;45;p81"/>
          <p:cNvSpPr txBox="1">
            <a:spLocks noGrp="1"/>
          </p:cNvSpPr>
          <p:nvPr>
            <p:ph type="body" idx="2"/>
          </p:nvPr>
        </p:nvSpPr>
        <p:spPr>
          <a:xfrm>
            <a:off x="839789" y="2505075"/>
            <a:ext cx="5157600" cy="3684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46" name="Google Shape;46;p81"/>
          <p:cNvSpPr txBox="1">
            <a:spLocks noGrp="1"/>
          </p:cNvSpPr>
          <p:nvPr>
            <p:ph type="body" idx="3"/>
          </p:nvPr>
        </p:nvSpPr>
        <p:spPr>
          <a:xfrm>
            <a:off x="6172200" y="1681163"/>
            <a:ext cx="5183200" cy="8238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750"/>
              </a:spcBef>
              <a:spcAft>
                <a:spcPts val="0"/>
              </a:spcAft>
              <a:buClr>
                <a:schemeClr val="dk1"/>
              </a:buClr>
              <a:buSzPts val="1800"/>
              <a:buNone/>
              <a:defRPr sz="1800" b="1"/>
            </a:lvl1pPr>
            <a:lvl2pPr marL="914400" lvl="1" indent="-228600" algn="l" rtl="0">
              <a:lnSpc>
                <a:spcPct val="90000"/>
              </a:lnSpc>
              <a:spcBef>
                <a:spcPts val="375"/>
              </a:spcBef>
              <a:spcAft>
                <a:spcPts val="0"/>
              </a:spcAft>
              <a:buClr>
                <a:schemeClr val="dk1"/>
              </a:buClr>
              <a:buSzPts val="1500"/>
              <a:buNone/>
              <a:defRPr sz="1500" b="1"/>
            </a:lvl2pPr>
            <a:lvl3pPr marL="1371600" lvl="2" indent="-228600" algn="l" rtl="0">
              <a:lnSpc>
                <a:spcPct val="90000"/>
              </a:lnSpc>
              <a:spcBef>
                <a:spcPts val="375"/>
              </a:spcBef>
              <a:spcAft>
                <a:spcPts val="0"/>
              </a:spcAft>
              <a:buClr>
                <a:schemeClr val="dk1"/>
              </a:buClr>
              <a:buSzPts val="1350"/>
              <a:buNone/>
              <a:defRPr sz="1350" b="1"/>
            </a:lvl3pPr>
            <a:lvl4pPr marL="1828800" lvl="3" indent="-228600" algn="l" rtl="0">
              <a:lnSpc>
                <a:spcPct val="90000"/>
              </a:lnSpc>
              <a:spcBef>
                <a:spcPts val="375"/>
              </a:spcBef>
              <a:spcAft>
                <a:spcPts val="0"/>
              </a:spcAft>
              <a:buClr>
                <a:schemeClr val="dk1"/>
              </a:buClr>
              <a:buSzPts val="1200"/>
              <a:buNone/>
              <a:defRPr sz="1200" b="1"/>
            </a:lvl4pPr>
            <a:lvl5pPr marL="2286000" lvl="4" indent="-228600" algn="l" rtl="0">
              <a:lnSpc>
                <a:spcPct val="90000"/>
              </a:lnSpc>
              <a:spcBef>
                <a:spcPts val="375"/>
              </a:spcBef>
              <a:spcAft>
                <a:spcPts val="0"/>
              </a:spcAft>
              <a:buClr>
                <a:schemeClr val="dk1"/>
              </a:buClr>
              <a:buSzPts val="1200"/>
              <a:buNone/>
              <a:defRPr sz="1200" b="1"/>
            </a:lvl5pPr>
            <a:lvl6pPr marL="2743200" lvl="5" indent="-228600" algn="l" rtl="0">
              <a:lnSpc>
                <a:spcPct val="90000"/>
              </a:lnSpc>
              <a:spcBef>
                <a:spcPts val="375"/>
              </a:spcBef>
              <a:spcAft>
                <a:spcPts val="0"/>
              </a:spcAft>
              <a:buClr>
                <a:schemeClr val="dk1"/>
              </a:buClr>
              <a:buSzPts val="1200"/>
              <a:buNone/>
              <a:defRPr sz="1200" b="1"/>
            </a:lvl6pPr>
            <a:lvl7pPr marL="3200400" lvl="6" indent="-228600" algn="l" rtl="0">
              <a:lnSpc>
                <a:spcPct val="90000"/>
              </a:lnSpc>
              <a:spcBef>
                <a:spcPts val="375"/>
              </a:spcBef>
              <a:spcAft>
                <a:spcPts val="0"/>
              </a:spcAft>
              <a:buClr>
                <a:schemeClr val="dk1"/>
              </a:buClr>
              <a:buSzPts val="1200"/>
              <a:buNone/>
              <a:defRPr sz="1200" b="1"/>
            </a:lvl7pPr>
            <a:lvl8pPr marL="3657600" lvl="7" indent="-228600" algn="l" rtl="0">
              <a:lnSpc>
                <a:spcPct val="90000"/>
              </a:lnSpc>
              <a:spcBef>
                <a:spcPts val="375"/>
              </a:spcBef>
              <a:spcAft>
                <a:spcPts val="0"/>
              </a:spcAft>
              <a:buClr>
                <a:schemeClr val="dk1"/>
              </a:buClr>
              <a:buSzPts val="1200"/>
              <a:buNone/>
              <a:defRPr sz="1200" b="1"/>
            </a:lvl8pPr>
            <a:lvl9pPr marL="4114800" lvl="8" indent="-228600" algn="l" rtl="0">
              <a:lnSpc>
                <a:spcPct val="90000"/>
              </a:lnSpc>
              <a:spcBef>
                <a:spcPts val="375"/>
              </a:spcBef>
              <a:spcAft>
                <a:spcPts val="0"/>
              </a:spcAft>
              <a:buClr>
                <a:schemeClr val="dk1"/>
              </a:buClr>
              <a:buSzPts val="1200"/>
              <a:buNone/>
              <a:defRPr sz="1200" b="1"/>
            </a:lvl9pPr>
          </a:lstStyle>
          <a:p>
            <a:endParaRPr/>
          </a:p>
        </p:txBody>
      </p:sp>
      <p:sp>
        <p:nvSpPr>
          <p:cNvPr id="47" name="Google Shape;47;p81"/>
          <p:cNvSpPr txBox="1">
            <a:spLocks noGrp="1"/>
          </p:cNvSpPr>
          <p:nvPr>
            <p:ph type="body" idx="4"/>
          </p:nvPr>
        </p:nvSpPr>
        <p:spPr>
          <a:xfrm>
            <a:off x="6172200" y="2505075"/>
            <a:ext cx="5183200" cy="3684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48" name="Google Shape;48;p81"/>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9" name="Google Shape;49;p81"/>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0" name="Google Shape;50;p81"/>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1"/>
        <p:cNvGrpSpPr/>
        <p:nvPr/>
      </p:nvGrpSpPr>
      <p:grpSpPr>
        <a:xfrm>
          <a:off x="0" y="0"/>
          <a:ext cx="0" cy="0"/>
          <a:chOff x="0" y="0"/>
          <a:chExt cx="0" cy="0"/>
        </a:xfrm>
      </p:grpSpPr>
      <p:sp>
        <p:nvSpPr>
          <p:cNvPr id="52" name="Google Shape;52;p82"/>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53" name="Google Shape;53;p82"/>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4" name="Google Shape;54;p82"/>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5" name="Google Shape;55;p82"/>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6"/>
        <p:cNvGrpSpPr/>
        <p:nvPr/>
      </p:nvGrpSpPr>
      <p:grpSpPr>
        <a:xfrm>
          <a:off x="0" y="0"/>
          <a:ext cx="0" cy="0"/>
          <a:chOff x="0" y="0"/>
          <a:chExt cx="0" cy="0"/>
        </a:xfrm>
      </p:grpSpPr>
      <p:sp>
        <p:nvSpPr>
          <p:cNvPr id="57" name="Google Shape;57;p83"/>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8" name="Google Shape;58;p83"/>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9" name="Google Shape;59;p83"/>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0"/>
        <p:cNvGrpSpPr/>
        <p:nvPr/>
      </p:nvGrpSpPr>
      <p:grpSpPr>
        <a:xfrm>
          <a:off x="0" y="0"/>
          <a:ext cx="0" cy="0"/>
          <a:chOff x="0" y="0"/>
          <a:chExt cx="0" cy="0"/>
        </a:xfrm>
      </p:grpSpPr>
      <p:sp>
        <p:nvSpPr>
          <p:cNvPr id="61" name="Google Shape;61;p84"/>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2400"/>
              <a:buFont typeface="Calibri"/>
              <a:buNone/>
              <a:defRPr sz="2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2" name="Google Shape;62;p84"/>
          <p:cNvSpPr txBox="1">
            <a:spLocks noGrp="1"/>
          </p:cNvSpPr>
          <p:nvPr>
            <p:ph type="body" idx="1"/>
          </p:nvPr>
        </p:nvSpPr>
        <p:spPr>
          <a:xfrm>
            <a:off x="5183188" y="987426"/>
            <a:ext cx="6172400" cy="4873500"/>
          </a:xfrm>
          <a:prstGeom prst="rect">
            <a:avLst/>
          </a:prstGeom>
          <a:noFill/>
          <a:ln>
            <a:noFill/>
          </a:ln>
        </p:spPr>
        <p:txBody>
          <a:bodyPr spcFirstLastPara="1" wrap="square" lIns="91425" tIns="45700" rIns="91425" bIns="45700" anchor="t" anchorCtr="0">
            <a:normAutofit/>
          </a:bodyPr>
          <a:lstStyle>
            <a:lvl1pPr marL="457200" lvl="0" indent="-381000" algn="l" rtl="0">
              <a:lnSpc>
                <a:spcPct val="90000"/>
              </a:lnSpc>
              <a:spcBef>
                <a:spcPts val="750"/>
              </a:spcBef>
              <a:spcAft>
                <a:spcPts val="0"/>
              </a:spcAft>
              <a:buClr>
                <a:schemeClr val="dk1"/>
              </a:buClr>
              <a:buSzPts val="2400"/>
              <a:buChar char="•"/>
              <a:defRPr sz="2400"/>
            </a:lvl1pPr>
            <a:lvl2pPr marL="914400" lvl="1" indent="-361950" algn="l" rtl="0">
              <a:lnSpc>
                <a:spcPct val="90000"/>
              </a:lnSpc>
              <a:spcBef>
                <a:spcPts val="375"/>
              </a:spcBef>
              <a:spcAft>
                <a:spcPts val="0"/>
              </a:spcAft>
              <a:buClr>
                <a:schemeClr val="dk1"/>
              </a:buClr>
              <a:buSzPts val="2100"/>
              <a:buChar char="•"/>
              <a:defRPr sz="2100"/>
            </a:lvl2pPr>
            <a:lvl3pPr marL="1371600" lvl="2" indent="-342900" algn="l" rtl="0">
              <a:lnSpc>
                <a:spcPct val="90000"/>
              </a:lnSpc>
              <a:spcBef>
                <a:spcPts val="375"/>
              </a:spcBef>
              <a:spcAft>
                <a:spcPts val="0"/>
              </a:spcAft>
              <a:buClr>
                <a:schemeClr val="dk1"/>
              </a:buClr>
              <a:buSzPts val="1800"/>
              <a:buChar char="•"/>
              <a:defRPr sz="1800"/>
            </a:lvl3pPr>
            <a:lvl4pPr marL="1828800" lvl="3" indent="-323850" algn="l" rtl="0">
              <a:lnSpc>
                <a:spcPct val="90000"/>
              </a:lnSpc>
              <a:spcBef>
                <a:spcPts val="375"/>
              </a:spcBef>
              <a:spcAft>
                <a:spcPts val="0"/>
              </a:spcAft>
              <a:buClr>
                <a:schemeClr val="dk1"/>
              </a:buClr>
              <a:buSzPts val="1500"/>
              <a:buChar char="•"/>
              <a:defRPr sz="1500"/>
            </a:lvl4pPr>
            <a:lvl5pPr marL="2286000" lvl="4" indent="-323850" algn="l" rtl="0">
              <a:lnSpc>
                <a:spcPct val="90000"/>
              </a:lnSpc>
              <a:spcBef>
                <a:spcPts val="375"/>
              </a:spcBef>
              <a:spcAft>
                <a:spcPts val="0"/>
              </a:spcAft>
              <a:buClr>
                <a:schemeClr val="dk1"/>
              </a:buClr>
              <a:buSzPts val="1500"/>
              <a:buChar char="•"/>
              <a:defRPr sz="1500"/>
            </a:lvl5pPr>
            <a:lvl6pPr marL="2743200" lvl="5" indent="-323850" algn="l" rtl="0">
              <a:lnSpc>
                <a:spcPct val="90000"/>
              </a:lnSpc>
              <a:spcBef>
                <a:spcPts val="375"/>
              </a:spcBef>
              <a:spcAft>
                <a:spcPts val="0"/>
              </a:spcAft>
              <a:buClr>
                <a:schemeClr val="dk1"/>
              </a:buClr>
              <a:buSzPts val="1500"/>
              <a:buChar char="•"/>
              <a:defRPr sz="1500"/>
            </a:lvl6pPr>
            <a:lvl7pPr marL="3200400" lvl="6" indent="-323850" algn="l" rtl="0">
              <a:lnSpc>
                <a:spcPct val="90000"/>
              </a:lnSpc>
              <a:spcBef>
                <a:spcPts val="375"/>
              </a:spcBef>
              <a:spcAft>
                <a:spcPts val="0"/>
              </a:spcAft>
              <a:buClr>
                <a:schemeClr val="dk1"/>
              </a:buClr>
              <a:buSzPts val="1500"/>
              <a:buChar char="•"/>
              <a:defRPr sz="1500"/>
            </a:lvl7pPr>
            <a:lvl8pPr marL="3657600" lvl="7" indent="-323850" algn="l" rtl="0">
              <a:lnSpc>
                <a:spcPct val="90000"/>
              </a:lnSpc>
              <a:spcBef>
                <a:spcPts val="375"/>
              </a:spcBef>
              <a:spcAft>
                <a:spcPts val="0"/>
              </a:spcAft>
              <a:buClr>
                <a:schemeClr val="dk1"/>
              </a:buClr>
              <a:buSzPts val="1500"/>
              <a:buChar char="•"/>
              <a:defRPr sz="1500"/>
            </a:lvl8pPr>
            <a:lvl9pPr marL="4114800" lvl="8" indent="-323850" algn="l" rtl="0">
              <a:lnSpc>
                <a:spcPct val="90000"/>
              </a:lnSpc>
              <a:spcBef>
                <a:spcPts val="375"/>
              </a:spcBef>
              <a:spcAft>
                <a:spcPts val="0"/>
              </a:spcAft>
              <a:buClr>
                <a:schemeClr val="dk1"/>
              </a:buClr>
              <a:buSzPts val="1500"/>
              <a:buChar char="•"/>
              <a:defRPr sz="1500"/>
            </a:lvl9pPr>
          </a:lstStyle>
          <a:p>
            <a:endParaRPr/>
          </a:p>
        </p:txBody>
      </p:sp>
      <p:sp>
        <p:nvSpPr>
          <p:cNvPr id="63" name="Google Shape;63;p84"/>
          <p:cNvSpPr txBox="1">
            <a:spLocks noGrp="1"/>
          </p:cNvSpPr>
          <p:nvPr>
            <p:ph type="body" idx="2"/>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chemeClr val="dk1"/>
              </a:buClr>
              <a:buSzPts val="1200"/>
              <a:buNone/>
              <a:defRPr sz="1200"/>
            </a:lvl1pPr>
            <a:lvl2pPr marL="914400" lvl="1" indent="-228600" algn="l" rtl="0">
              <a:lnSpc>
                <a:spcPct val="90000"/>
              </a:lnSpc>
              <a:spcBef>
                <a:spcPts val="375"/>
              </a:spcBef>
              <a:spcAft>
                <a:spcPts val="0"/>
              </a:spcAft>
              <a:buClr>
                <a:schemeClr val="dk1"/>
              </a:buClr>
              <a:buSzPts val="1050"/>
              <a:buNone/>
              <a:defRPr sz="1050"/>
            </a:lvl2pPr>
            <a:lvl3pPr marL="1371600" lvl="2" indent="-228600" algn="l" rtl="0">
              <a:lnSpc>
                <a:spcPct val="90000"/>
              </a:lnSpc>
              <a:spcBef>
                <a:spcPts val="375"/>
              </a:spcBef>
              <a:spcAft>
                <a:spcPts val="0"/>
              </a:spcAft>
              <a:buClr>
                <a:schemeClr val="dk1"/>
              </a:buClr>
              <a:buSzPts val="900"/>
              <a:buNone/>
              <a:defRPr sz="900"/>
            </a:lvl3pPr>
            <a:lvl4pPr marL="1828800" lvl="3" indent="-228600" algn="l" rtl="0">
              <a:lnSpc>
                <a:spcPct val="90000"/>
              </a:lnSpc>
              <a:spcBef>
                <a:spcPts val="375"/>
              </a:spcBef>
              <a:spcAft>
                <a:spcPts val="0"/>
              </a:spcAft>
              <a:buClr>
                <a:schemeClr val="dk1"/>
              </a:buClr>
              <a:buSzPts val="750"/>
              <a:buNone/>
              <a:defRPr sz="750"/>
            </a:lvl4pPr>
            <a:lvl5pPr marL="2286000" lvl="4" indent="-228600" algn="l" rtl="0">
              <a:lnSpc>
                <a:spcPct val="90000"/>
              </a:lnSpc>
              <a:spcBef>
                <a:spcPts val="375"/>
              </a:spcBef>
              <a:spcAft>
                <a:spcPts val="0"/>
              </a:spcAft>
              <a:buClr>
                <a:schemeClr val="dk1"/>
              </a:buClr>
              <a:buSzPts val="750"/>
              <a:buNone/>
              <a:defRPr sz="750"/>
            </a:lvl5pPr>
            <a:lvl6pPr marL="2743200" lvl="5" indent="-228600" algn="l" rtl="0">
              <a:lnSpc>
                <a:spcPct val="90000"/>
              </a:lnSpc>
              <a:spcBef>
                <a:spcPts val="375"/>
              </a:spcBef>
              <a:spcAft>
                <a:spcPts val="0"/>
              </a:spcAft>
              <a:buClr>
                <a:schemeClr val="dk1"/>
              </a:buClr>
              <a:buSzPts val="750"/>
              <a:buNone/>
              <a:defRPr sz="750"/>
            </a:lvl6pPr>
            <a:lvl7pPr marL="3200400" lvl="6" indent="-228600" algn="l" rtl="0">
              <a:lnSpc>
                <a:spcPct val="90000"/>
              </a:lnSpc>
              <a:spcBef>
                <a:spcPts val="375"/>
              </a:spcBef>
              <a:spcAft>
                <a:spcPts val="0"/>
              </a:spcAft>
              <a:buClr>
                <a:schemeClr val="dk1"/>
              </a:buClr>
              <a:buSzPts val="750"/>
              <a:buNone/>
              <a:defRPr sz="750"/>
            </a:lvl7pPr>
            <a:lvl8pPr marL="3657600" lvl="7" indent="-228600" algn="l" rtl="0">
              <a:lnSpc>
                <a:spcPct val="90000"/>
              </a:lnSpc>
              <a:spcBef>
                <a:spcPts val="375"/>
              </a:spcBef>
              <a:spcAft>
                <a:spcPts val="0"/>
              </a:spcAft>
              <a:buClr>
                <a:schemeClr val="dk1"/>
              </a:buClr>
              <a:buSzPts val="750"/>
              <a:buNone/>
              <a:defRPr sz="750"/>
            </a:lvl8pPr>
            <a:lvl9pPr marL="4114800" lvl="8" indent="-228600" algn="l" rtl="0">
              <a:lnSpc>
                <a:spcPct val="90000"/>
              </a:lnSpc>
              <a:spcBef>
                <a:spcPts val="375"/>
              </a:spcBef>
              <a:spcAft>
                <a:spcPts val="0"/>
              </a:spcAft>
              <a:buClr>
                <a:schemeClr val="dk1"/>
              </a:buClr>
              <a:buSzPts val="750"/>
              <a:buNone/>
              <a:defRPr sz="750"/>
            </a:lvl9pPr>
          </a:lstStyle>
          <a:p>
            <a:endParaRPr/>
          </a:p>
        </p:txBody>
      </p:sp>
      <p:sp>
        <p:nvSpPr>
          <p:cNvPr id="64" name="Google Shape;64;p84"/>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5" name="Google Shape;65;p84"/>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6" name="Google Shape;66;p84"/>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7"/>
        <p:cNvGrpSpPr/>
        <p:nvPr/>
      </p:nvGrpSpPr>
      <p:grpSpPr>
        <a:xfrm>
          <a:off x="0" y="0"/>
          <a:ext cx="0" cy="0"/>
          <a:chOff x="0" y="0"/>
          <a:chExt cx="0" cy="0"/>
        </a:xfrm>
      </p:grpSpPr>
      <p:sp>
        <p:nvSpPr>
          <p:cNvPr id="68" name="Google Shape;68;p85"/>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2400"/>
              <a:buFont typeface="Calibri"/>
              <a:buNone/>
              <a:defRPr sz="2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9" name="Google Shape;69;p85"/>
          <p:cNvSpPr>
            <a:spLocks noGrp="1"/>
          </p:cNvSpPr>
          <p:nvPr>
            <p:ph type="pic" idx="2"/>
          </p:nvPr>
        </p:nvSpPr>
        <p:spPr>
          <a:xfrm>
            <a:off x="5183188" y="987426"/>
            <a:ext cx="6172400" cy="4873500"/>
          </a:xfrm>
          <a:prstGeom prst="rect">
            <a:avLst/>
          </a:prstGeom>
          <a:noFill/>
          <a:ln>
            <a:noFill/>
          </a:ln>
        </p:spPr>
      </p:sp>
      <p:sp>
        <p:nvSpPr>
          <p:cNvPr id="70" name="Google Shape;70;p85"/>
          <p:cNvSpPr txBox="1">
            <a:spLocks noGrp="1"/>
          </p:cNvSpPr>
          <p:nvPr>
            <p:ph type="body" idx="1"/>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chemeClr val="dk1"/>
              </a:buClr>
              <a:buSzPts val="1200"/>
              <a:buNone/>
              <a:defRPr sz="1200"/>
            </a:lvl1pPr>
            <a:lvl2pPr marL="914400" lvl="1" indent="-228600" algn="l" rtl="0">
              <a:lnSpc>
                <a:spcPct val="90000"/>
              </a:lnSpc>
              <a:spcBef>
                <a:spcPts val="375"/>
              </a:spcBef>
              <a:spcAft>
                <a:spcPts val="0"/>
              </a:spcAft>
              <a:buClr>
                <a:schemeClr val="dk1"/>
              </a:buClr>
              <a:buSzPts val="1050"/>
              <a:buNone/>
              <a:defRPr sz="1050"/>
            </a:lvl2pPr>
            <a:lvl3pPr marL="1371600" lvl="2" indent="-228600" algn="l" rtl="0">
              <a:lnSpc>
                <a:spcPct val="90000"/>
              </a:lnSpc>
              <a:spcBef>
                <a:spcPts val="375"/>
              </a:spcBef>
              <a:spcAft>
                <a:spcPts val="0"/>
              </a:spcAft>
              <a:buClr>
                <a:schemeClr val="dk1"/>
              </a:buClr>
              <a:buSzPts val="900"/>
              <a:buNone/>
              <a:defRPr sz="900"/>
            </a:lvl3pPr>
            <a:lvl4pPr marL="1828800" lvl="3" indent="-228600" algn="l" rtl="0">
              <a:lnSpc>
                <a:spcPct val="90000"/>
              </a:lnSpc>
              <a:spcBef>
                <a:spcPts val="375"/>
              </a:spcBef>
              <a:spcAft>
                <a:spcPts val="0"/>
              </a:spcAft>
              <a:buClr>
                <a:schemeClr val="dk1"/>
              </a:buClr>
              <a:buSzPts val="750"/>
              <a:buNone/>
              <a:defRPr sz="750"/>
            </a:lvl4pPr>
            <a:lvl5pPr marL="2286000" lvl="4" indent="-228600" algn="l" rtl="0">
              <a:lnSpc>
                <a:spcPct val="90000"/>
              </a:lnSpc>
              <a:spcBef>
                <a:spcPts val="375"/>
              </a:spcBef>
              <a:spcAft>
                <a:spcPts val="0"/>
              </a:spcAft>
              <a:buClr>
                <a:schemeClr val="dk1"/>
              </a:buClr>
              <a:buSzPts val="750"/>
              <a:buNone/>
              <a:defRPr sz="750"/>
            </a:lvl5pPr>
            <a:lvl6pPr marL="2743200" lvl="5" indent="-228600" algn="l" rtl="0">
              <a:lnSpc>
                <a:spcPct val="90000"/>
              </a:lnSpc>
              <a:spcBef>
                <a:spcPts val="375"/>
              </a:spcBef>
              <a:spcAft>
                <a:spcPts val="0"/>
              </a:spcAft>
              <a:buClr>
                <a:schemeClr val="dk1"/>
              </a:buClr>
              <a:buSzPts val="750"/>
              <a:buNone/>
              <a:defRPr sz="750"/>
            </a:lvl6pPr>
            <a:lvl7pPr marL="3200400" lvl="6" indent="-228600" algn="l" rtl="0">
              <a:lnSpc>
                <a:spcPct val="90000"/>
              </a:lnSpc>
              <a:spcBef>
                <a:spcPts val="375"/>
              </a:spcBef>
              <a:spcAft>
                <a:spcPts val="0"/>
              </a:spcAft>
              <a:buClr>
                <a:schemeClr val="dk1"/>
              </a:buClr>
              <a:buSzPts val="750"/>
              <a:buNone/>
              <a:defRPr sz="750"/>
            </a:lvl7pPr>
            <a:lvl8pPr marL="3657600" lvl="7" indent="-228600" algn="l" rtl="0">
              <a:lnSpc>
                <a:spcPct val="90000"/>
              </a:lnSpc>
              <a:spcBef>
                <a:spcPts val="375"/>
              </a:spcBef>
              <a:spcAft>
                <a:spcPts val="0"/>
              </a:spcAft>
              <a:buClr>
                <a:schemeClr val="dk1"/>
              </a:buClr>
              <a:buSzPts val="750"/>
              <a:buNone/>
              <a:defRPr sz="750"/>
            </a:lvl8pPr>
            <a:lvl9pPr marL="4114800" lvl="8" indent="-228600" algn="l" rtl="0">
              <a:lnSpc>
                <a:spcPct val="90000"/>
              </a:lnSpc>
              <a:spcBef>
                <a:spcPts val="375"/>
              </a:spcBef>
              <a:spcAft>
                <a:spcPts val="0"/>
              </a:spcAft>
              <a:buClr>
                <a:schemeClr val="dk1"/>
              </a:buClr>
              <a:buSzPts val="750"/>
              <a:buNone/>
              <a:defRPr sz="750"/>
            </a:lvl9pPr>
          </a:lstStyle>
          <a:p>
            <a:endParaRPr/>
          </a:p>
        </p:txBody>
      </p:sp>
      <p:sp>
        <p:nvSpPr>
          <p:cNvPr id="71" name="Google Shape;71;p8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2" name="Google Shape;72;p8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3" name="Google Shape;73;p8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4"/>
        <p:cNvGrpSpPr/>
        <p:nvPr/>
      </p:nvGrpSpPr>
      <p:grpSpPr>
        <a:xfrm>
          <a:off x="0" y="0"/>
          <a:ext cx="0" cy="0"/>
          <a:chOff x="0" y="0"/>
          <a:chExt cx="0" cy="0"/>
        </a:xfrm>
      </p:grpSpPr>
      <p:sp>
        <p:nvSpPr>
          <p:cNvPr id="75" name="Google Shape;75;p86"/>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6" name="Google Shape;76;p86"/>
          <p:cNvSpPr txBox="1">
            <a:spLocks noGrp="1"/>
          </p:cNvSpPr>
          <p:nvPr>
            <p:ph type="body" idx="1"/>
          </p:nvPr>
        </p:nvSpPr>
        <p:spPr>
          <a:xfrm rot="5400000">
            <a:off x="3920400" y="-1256575"/>
            <a:ext cx="4351200" cy="10515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77" name="Google Shape;77;p86"/>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8" name="Google Shape;78;p86"/>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9" name="Google Shape;79;p86"/>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0"/>
        <p:cNvGrpSpPr/>
        <p:nvPr/>
      </p:nvGrpSpPr>
      <p:grpSpPr>
        <a:xfrm>
          <a:off x="0" y="0"/>
          <a:ext cx="0" cy="0"/>
          <a:chOff x="0" y="0"/>
          <a:chExt cx="0" cy="0"/>
        </a:xfrm>
      </p:grpSpPr>
      <p:sp>
        <p:nvSpPr>
          <p:cNvPr id="81" name="Google Shape;81;p87"/>
          <p:cNvSpPr txBox="1">
            <a:spLocks noGrp="1"/>
          </p:cNvSpPr>
          <p:nvPr>
            <p:ph type="title"/>
          </p:nvPr>
        </p:nvSpPr>
        <p:spPr>
          <a:xfrm rot="5400000">
            <a:off x="7133450" y="1956675"/>
            <a:ext cx="5811900" cy="26288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82" name="Google Shape;82;p87"/>
          <p:cNvSpPr txBox="1">
            <a:spLocks noGrp="1"/>
          </p:cNvSpPr>
          <p:nvPr>
            <p:ph type="body" idx="1"/>
          </p:nvPr>
        </p:nvSpPr>
        <p:spPr>
          <a:xfrm rot="5400000">
            <a:off x="1799350" y="-596125"/>
            <a:ext cx="5811900" cy="77344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83" name="Google Shape;83;p8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4" name="Google Shape;84;p8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5" name="Google Shape;85;p8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ext Slide">
  <p:cSld name="Text Slide">
    <p:bg>
      <p:bgPr>
        <a:solidFill>
          <a:schemeClr val="lt1"/>
        </a:solidFill>
        <a:effectLst/>
      </p:bgPr>
    </p:bg>
    <p:spTree>
      <p:nvGrpSpPr>
        <p:cNvPr id="1" name="Shape 86"/>
        <p:cNvGrpSpPr/>
        <p:nvPr/>
      </p:nvGrpSpPr>
      <p:grpSpPr>
        <a:xfrm>
          <a:off x="0" y="0"/>
          <a:ext cx="0" cy="0"/>
          <a:chOff x="0" y="0"/>
          <a:chExt cx="0" cy="0"/>
        </a:xfrm>
      </p:grpSpPr>
      <p:pic>
        <p:nvPicPr>
          <p:cNvPr id="87" name="Google Shape;87;p88" descr="A picture containing text, sign, seat&#10;&#10;Description automatically generated"/>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8576869" y="5603082"/>
            <a:ext cx="3413760" cy="1828800"/>
          </a:xfrm>
          <a:prstGeom prst="rect">
            <a:avLst/>
          </a:prstGeom>
          <a:noFill/>
          <a:ln>
            <a:noFill/>
          </a:ln>
        </p:spPr>
      </p:pic>
      <p:sp>
        <p:nvSpPr>
          <p:cNvPr id="88" name="Google Shape;88;p88"/>
          <p:cNvSpPr/>
          <p:nvPr/>
        </p:nvSpPr>
        <p:spPr>
          <a:xfrm>
            <a:off x="0" y="0"/>
            <a:ext cx="198000" cy="6858000"/>
          </a:xfrm>
          <a:prstGeom prst="rect">
            <a:avLst/>
          </a:prstGeom>
          <a:solidFill>
            <a:srgbClr val="2776B6"/>
          </a:solid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Divider 2">
  <p:cSld name="Divider 2">
    <p:spTree>
      <p:nvGrpSpPr>
        <p:cNvPr id="1" name="Shape 89"/>
        <p:cNvGrpSpPr/>
        <p:nvPr/>
      </p:nvGrpSpPr>
      <p:grpSpPr>
        <a:xfrm>
          <a:off x="0" y="0"/>
          <a:ext cx="0" cy="0"/>
          <a:chOff x="0" y="0"/>
          <a:chExt cx="0" cy="0"/>
        </a:xfrm>
      </p:grpSpPr>
      <p:pic>
        <p:nvPicPr>
          <p:cNvPr id="90" name="Google Shape;90;p89" descr="ANation-PPT22_5.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91" name="Google Shape;91;p89"/>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92" name="Google Shape;92;p89"/>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93" name="Google Shape;93;p89"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Divider 3">
  <p:cSld name="Divider 3">
    <p:spTree>
      <p:nvGrpSpPr>
        <p:cNvPr id="1" name="Shape 94"/>
        <p:cNvGrpSpPr/>
        <p:nvPr/>
      </p:nvGrpSpPr>
      <p:grpSpPr>
        <a:xfrm>
          <a:off x="0" y="0"/>
          <a:ext cx="0" cy="0"/>
          <a:chOff x="0" y="0"/>
          <a:chExt cx="0" cy="0"/>
        </a:xfrm>
      </p:grpSpPr>
      <p:pic>
        <p:nvPicPr>
          <p:cNvPr id="95" name="Google Shape;95;p90" descr="ANation-PPT22_6.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96" name="Google Shape;96;p90"/>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97" name="Google Shape;97;p90"/>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98" name="Google Shape;98;p90"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Divider 1">
  <p:cSld name="Divider 1">
    <p:spTree>
      <p:nvGrpSpPr>
        <p:cNvPr id="1" name="Shape 99"/>
        <p:cNvGrpSpPr/>
        <p:nvPr/>
      </p:nvGrpSpPr>
      <p:grpSpPr>
        <a:xfrm>
          <a:off x="0" y="0"/>
          <a:ext cx="0" cy="0"/>
          <a:chOff x="0" y="0"/>
          <a:chExt cx="0" cy="0"/>
        </a:xfrm>
      </p:grpSpPr>
      <p:pic>
        <p:nvPicPr>
          <p:cNvPr id="100" name="Google Shape;100;p91" descr="ANation-PPT22_2.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101" name="Google Shape;101;p91"/>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102" name="Google Shape;102;p91"/>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103" name="Google Shape;103;p91"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Divider 4">
  <p:cSld name="Divider 4">
    <p:spTree>
      <p:nvGrpSpPr>
        <p:cNvPr id="1" name="Shape 104"/>
        <p:cNvGrpSpPr/>
        <p:nvPr/>
      </p:nvGrpSpPr>
      <p:grpSpPr>
        <a:xfrm>
          <a:off x="0" y="0"/>
          <a:ext cx="0" cy="0"/>
          <a:chOff x="0" y="0"/>
          <a:chExt cx="0" cy="0"/>
        </a:xfrm>
      </p:grpSpPr>
      <p:pic>
        <p:nvPicPr>
          <p:cNvPr id="105" name="Google Shape;105;p92" descr="ANation-PPT2_7.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106" name="Google Shape;106;p92"/>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107" name="Google Shape;107;p92"/>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108" name="Google Shape;108;p92"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55"/>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11" name="Google Shape;11;p55"/>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12" name="Google Shape;12;p5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5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5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900" b="0" i="0" u="none" strike="noStrike" cap="none">
                <a:solidFill>
                  <a:srgbClr val="888888"/>
                </a:solidFill>
                <a:latin typeface="Calibri"/>
                <a:ea typeface="Calibri"/>
                <a:cs typeface="Calibri"/>
                <a:sym typeface="Calibri"/>
              </a:defRPr>
            </a:lvl1pPr>
            <a:lvl2pPr marL="0" marR="0" lvl="1" indent="0" algn="r" rtl="0">
              <a:spcBef>
                <a:spcPts val="0"/>
              </a:spcBef>
              <a:buNone/>
              <a:defRPr sz="900" b="0" i="0" u="none" strike="noStrike" cap="none">
                <a:solidFill>
                  <a:srgbClr val="888888"/>
                </a:solidFill>
                <a:latin typeface="Calibri"/>
                <a:ea typeface="Calibri"/>
                <a:cs typeface="Calibri"/>
                <a:sym typeface="Calibri"/>
              </a:defRPr>
            </a:lvl2pPr>
            <a:lvl3pPr marL="0" marR="0" lvl="2" indent="0" algn="r" rtl="0">
              <a:spcBef>
                <a:spcPts val="0"/>
              </a:spcBef>
              <a:buNone/>
              <a:defRPr sz="900" b="0" i="0" u="none" strike="noStrike" cap="none">
                <a:solidFill>
                  <a:srgbClr val="888888"/>
                </a:solidFill>
                <a:latin typeface="Calibri"/>
                <a:ea typeface="Calibri"/>
                <a:cs typeface="Calibri"/>
                <a:sym typeface="Calibri"/>
              </a:defRPr>
            </a:lvl3pPr>
            <a:lvl4pPr marL="0" marR="0" lvl="3" indent="0" algn="r" rtl="0">
              <a:spcBef>
                <a:spcPts val="0"/>
              </a:spcBef>
              <a:buNone/>
              <a:defRPr sz="900" b="0" i="0" u="none" strike="noStrike" cap="none">
                <a:solidFill>
                  <a:srgbClr val="888888"/>
                </a:solidFill>
                <a:latin typeface="Calibri"/>
                <a:ea typeface="Calibri"/>
                <a:cs typeface="Calibri"/>
                <a:sym typeface="Calibri"/>
              </a:defRPr>
            </a:lvl4pPr>
            <a:lvl5pPr marL="0" marR="0" lvl="4" indent="0" algn="r" rtl="0">
              <a:spcBef>
                <a:spcPts val="0"/>
              </a:spcBef>
              <a:buNone/>
              <a:defRPr sz="900" b="0" i="0" u="none" strike="noStrike" cap="none">
                <a:solidFill>
                  <a:srgbClr val="888888"/>
                </a:solidFill>
                <a:latin typeface="Calibri"/>
                <a:ea typeface="Calibri"/>
                <a:cs typeface="Calibri"/>
                <a:sym typeface="Calibri"/>
              </a:defRPr>
            </a:lvl5pPr>
            <a:lvl6pPr marL="0" marR="0" lvl="5" indent="0" algn="r" rtl="0">
              <a:spcBef>
                <a:spcPts val="0"/>
              </a:spcBef>
              <a:buNone/>
              <a:defRPr sz="900" b="0" i="0" u="none" strike="noStrike" cap="none">
                <a:solidFill>
                  <a:srgbClr val="888888"/>
                </a:solidFill>
                <a:latin typeface="Calibri"/>
                <a:ea typeface="Calibri"/>
                <a:cs typeface="Calibri"/>
                <a:sym typeface="Calibri"/>
              </a:defRPr>
            </a:lvl6pPr>
            <a:lvl7pPr marL="0" marR="0" lvl="6" indent="0" algn="r" rtl="0">
              <a:spcBef>
                <a:spcPts val="0"/>
              </a:spcBef>
              <a:buNone/>
              <a:defRPr sz="900" b="0" i="0" u="none" strike="noStrike" cap="none">
                <a:solidFill>
                  <a:srgbClr val="888888"/>
                </a:solidFill>
                <a:latin typeface="Calibri"/>
                <a:ea typeface="Calibri"/>
                <a:cs typeface="Calibri"/>
                <a:sym typeface="Calibri"/>
              </a:defRPr>
            </a:lvl7pPr>
            <a:lvl8pPr marL="0" marR="0" lvl="7" indent="0" algn="r" rtl="0">
              <a:spcBef>
                <a:spcPts val="0"/>
              </a:spcBef>
              <a:buNone/>
              <a:defRPr sz="900" b="0" i="0" u="none" strike="noStrike" cap="none">
                <a:solidFill>
                  <a:srgbClr val="888888"/>
                </a:solidFill>
                <a:latin typeface="Calibri"/>
                <a:ea typeface="Calibri"/>
                <a:cs typeface="Calibri"/>
                <a:sym typeface="Calibri"/>
              </a:defRPr>
            </a:lvl8pPr>
            <a:lvl9pPr marL="0" marR="0" lvl="8" indent="0" algn="r" rtl="0">
              <a:spcBef>
                <a:spcPts val="0"/>
              </a:spcBef>
              <a:buNone/>
              <a:defRPr sz="90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xml"/><Relationship Id="rId1" Type="http://schemas.openxmlformats.org/officeDocument/2006/relationships/slideLayout" Target="../slideLayouts/slideLayout8.xml"/></Relationships>
</file>

<file path=ppt/slides/_rels/slide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8.xml"/><Relationship Id="rId4" Type="http://schemas.openxmlformats.org/officeDocument/2006/relationships/image" Target="../media/image11.png"/></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8.xml"/><Relationship Id="rId4" Type="http://schemas.openxmlformats.org/officeDocument/2006/relationships/image" Target="../media/image12.png"/></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8.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8.xml"/><Relationship Id="rId5" Type="http://schemas.openxmlformats.org/officeDocument/2006/relationships/image" Target="../media/image16.png"/><Relationship Id="rId4" Type="http://schemas.openxmlformats.org/officeDocument/2006/relationships/image" Target="../media/image15.png"/></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8.xml"/><Relationship Id="rId4" Type="http://schemas.openxmlformats.org/officeDocument/2006/relationships/image" Target="../media/image17.png"/></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8.xml"/><Relationship Id="rId6" Type="http://schemas.openxmlformats.org/officeDocument/2006/relationships/image" Target="../media/image19.png"/><Relationship Id="rId5" Type="http://schemas.openxmlformats.org/officeDocument/2006/relationships/image" Target="../media/image180.png"/><Relationship Id="rId4" Type="http://schemas.openxmlformats.org/officeDocument/2006/relationships/image" Target="../media/image18.png"/></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8.xml"/><Relationship Id="rId4" Type="http://schemas.openxmlformats.org/officeDocument/2006/relationships/image" Target="../media/image20.png"/></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8.xml"/><Relationship Id="rId5" Type="http://schemas.openxmlformats.org/officeDocument/2006/relationships/image" Target="../media/image22.png"/><Relationship Id="rId4" Type="http://schemas.openxmlformats.org/officeDocument/2006/relationships/image" Target="../media/image21.png"/></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2.xml"/><Relationship Id="rId1" Type="http://schemas.openxmlformats.org/officeDocument/2006/relationships/slideLayout" Target="../slideLayouts/slideLayout8.xml"/><Relationship Id="rId6" Type="http://schemas.openxmlformats.org/officeDocument/2006/relationships/image" Target="../media/image25.png"/><Relationship Id="rId5" Type="http://schemas.openxmlformats.org/officeDocument/2006/relationships/image" Target="../media/image24.png"/><Relationship Id="rId4" Type="http://schemas.openxmlformats.org/officeDocument/2006/relationships/image" Target="../media/image23.png"/></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3.xml"/><Relationship Id="rId1" Type="http://schemas.openxmlformats.org/officeDocument/2006/relationships/slideLayout" Target="../slideLayouts/slideLayout8.xml"/><Relationship Id="rId4" Type="http://schemas.openxmlformats.org/officeDocument/2006/relationships/image" Target="../media/image26.png"/></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4.xml"/><Relationship Id="rId1" Type="http://schemas.openxmlformats.org/officeDocument/2006/relationships/slideLayout" Target="../slideLayouts/slideLayout8.xml"/><Relationship Id="rId6" Type="http://schemas.openxmlformats.org/officeDocument/2006/relationships/image" Target="../media/image29.png"/><Relationship Id="rId5" Type="http://schemas.openxmlformats.org/officeDocument/2006/relationships/image" Target="../media/image28.png"/><Relationship Id="rId4" Type="http://schemas.openxmlformats.org/officeDocument/2006/relationships/image" Target="../media/image27.png"/></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5.xml"/><Relationship Id="rId1" Type="http://schemas.openxmlformats.org/officeDocument/2006/relationships/slideLayout" Target="../slideLayouts/slideLayout8.xml"/><Relationship Id="rId4" Type="http://schemas.openxmlformats.org/officeDocument/2006/relationships/image" Target="../media/image30.png"/></Relationships>
</file>

<file path=ppt/slides/_rels/slide1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6.xml"/><Relationship Id="rId1" Type="http://schemas.openxmlformats.org/officeDocument/2006/relationships/slideLayout" Target="../slideLayouts/slideLayout8.xml"/></Relationships>
</file>

<file path=ppt/slides/_rels/slide1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7.xml"/><Relationship Id="rId1" Type="http://schemas.openxmlformats.org/officeDocument/2006/relationships/slideLayout" Target="../slideLayouts/slideLayout8.xml"/><Relationship Id="rId6" Type="http://schemas.openxmlformats.org/officeDocument/2006/relationships/image" Target="../media/image33.png"/><Relationship Id="rId5" Type="http://schemas.openxmlformats.org/officeDocument/2006/relationships/image" Target="../media/image32.png"/><Relationship Id="rId4" Type="http://schemas.openxmlformats.org/officeDocument/2006/relationships/image" Target="../media/image31.png"/></Relationships>
</file>

<file path=ppt/slides/_rels/slide1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8.xml"/><Relationship Id="rId1" Type="http://schemas.openxmlformats.org/officeDocument/2006/relationships/slideLayout" Target="../slideLayouts/slideLayout8.xml"/><Relationship Id="rId4" Type="http://schemas.openxmlformats.org/officeDocument/2006/relationships/image" Target="../media/image34.png"/></Relationships>
</file>

<file path=ppt/slides/_rels/slide1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9.xml"/><Relationship Id="rId1" Type="http://schemas.openxmlformats.org/officeDocument/2006/relationships/slideLayout" Target="../slideLayouts/slideLayout8.xml"/><Relationship Id="rId6" Type="http://schemas.openxmlformats.org/officeDocument/2006/relationships/image" Target="../media/image37.png"/><Relationship Id="rId5" Type="http://schemas.openxmlformats.org/officeDocument/2006/relationships/image" Target="../media/image36.png"/><Relationship Id="rId4" Type="http://schemas.openxmlformats.org/officeDocument/2006/relationships/image" Target="../media/image35.png"/></Relationships>
</file>

<file path=ppt/slides/_rels/slide2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0.xml"/><Relationship Id="rId1" Type="http://schemas.openxmlformats.org/officeDocument/2006/relationships/slideLayout" Target="../slideLayouts/slideLayout8.xml"/></Relationships>
</file>

<file path=ppt/slides/_rels/slide2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1.xml"/><Relationship Id="rId1" Type="http://schemas.openxmlformats.org/officeDocument/2006/relationships/slideLayout" Target="../slideLayouts/slideLayout8.xml"/><Relationship Id="rId4" Type="http://schemas.openxmlformats.org/officeDocument/2006/relationships/image" Target="../media/image38.png"/></Relationships>
</file>

<file path=ppt/slides/_rels/slide2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2.xml"/><Relationship Id="rId1" Type="http://schemas.openxmlformats.org/officeDocument/2006/relationships/slideLayout" Target="../slideLayouts/slideLayout8.xml"/><Relationship Id="rId4" Type="http://schemas.openxmlformats.org/officeDocument/2006/relationships/image" Target="../media/image39.png"/></Relationships>
</file>

<file path=ppt/slides/_rels/slide2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3.xml"/><Relationship Id="rId1" Type="http://schemas.openxmlformats.org/officeDocument/2006/relationships/slideLayout" Target="../slideLayouts/slideLayout8.xml"/><Relationship Id="rId6" Type="http://schemas.openxmlformats.org/officeDocument/2006/relationships/image" Target="../media/image41.png"/><Relationship Id="rId5" Type="http://schemas.openxmlformats.org/officeDocument/2006/relationships/image" Target="../media/image40.png"/><Relationship Id="rId4" Type="http://schemas.openxmlformats.org/officeDocument/2006/relationships/image" Target="../media/image39.png"/></Relationships>
</file>

<file path=ppt/slides/_rels/slide2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4.xml"/><Relationship Id="rId1" Type="http://schemas.openxmlformats.org/officeDocument/2006/relationships/slideLayout" Target="../slideLayouts/slideLayout8.xml"/><Relationship Id="rId5" Type="http://schemas.openxmlformats.org/officeDocument/2006/relationships/image" Target="../media/image43.png"/><Relationship Id="rId4" Type="http://schemas.openxmlformats.org/officeDocument/2006/relationships/image" Target="../media/image4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59"/>
        <p:cNvGrpSpPr/>
        <p:nvPr/>
      </p:nvGrpSpPr>
      <p:grpSpPr>
        <a:xfrm>
          <a:off x="0" y="0"/>
          <a:ext cx="0" cy="0"/>
          <a:chOff x="0" y="0"/>
          <a:chExt cx="0" cy="0"/>
        </a:xfrm>
      </p:grpSpPr>
      <p:sp>
        <p:nvSpPr>
          <p:cNvPr id="20" name="Google Shape;309;g104476d1465_1_39">
            <a:extLst>
              <a:ext uri="{FF2B5EF4-FFF2-40B4-BE49-F238E27FC236}">
                <a16:creationId xmlns:a16="http://schemas.microsoft.com/office/drawing/2014/main" id="{566F1422-A32C-7745-9E85-5AF7B9DBC697}"/>
              </a:ext>
            </a:extLst>
          </p:cNvPr>
          <p:cNvSpPr/>
          <p:nvPr/>
        </p:nvSpPr>
        <p:spPr>
          <a:xfrm>
            <a:off x="0" y="-8100"/>
            <a:ext cx="4094106" cy="6866100"/>
          </a:xfrm>
          <a:prstGeom prst="rect">
            <a:avLst/>
          </a:prstGeom>
          <a:solidFill>
            <a:srgbClr val="276C46"/>
          </a:solidFill>
          <a:ln w="9525" cap="flat" cmpd="sng">
            <a:solidFill>
              <a:srgbClr val="276C46"/>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sp>
        <p:nvSpPr>
          <p:cNvPr id="261" name="Google Shape;261;g104476d1465_0_0"/>
          <p:cNvSpPr txBox="1">
            <a:spLocks noGrp="1"/>
          </p:cNvSpPr>
          <p:nvPr>
            <p:ph type="ctrTitle" idx="4294967295"/>
          </p:nvPr>
        </p:nvSpPr>
        <p:spPr>
          <a:xfrm>
            <a:off x="5742834" y="2054277"/>
            <a:ext cx="4925167" cy="3194455"/>
          </a:xfrm>
          <a:prstGeom prst="rect">
            <a:avLst/>
          </a:prstGeom>
        </p:spPr>
        <p:txBody>
          <a:bodyPr spcFirstLastPara="1" wrap="square" lIns="91425" tIns="45700" rIns="91425" bIns="45700" anchor="ctr" anchorCtr="0">
            <a:noAutofit/>
          </a:bodyPr>
          <a:lstStyle/>
          <a:p>
            <a:pPr algn="ctr">
              <a:lnSpc>
                <a:spcPct val="100000"/>
              </a:lnSpc>
            </a:pPr>
            <a:r>
              <a:rPr lang="en-US" sz="3800" b="1" dirty="0">
                <a:solidFill>
                  <a:srgbClr val="417DBF"/>
                </a:solidFill>
                <a:latin typeface="Verdana"/>
                <a:ea typeface="Verdana"/>
                <a:cs typeface="Verdana"/>
                <a:sym typeface="Verdana"/>
              </a:rPr>
              <a:t>Geometry</a:t>
            </a:r>
            <a:br>
              <a:rPr lang="en-US" sz="3800" b="1" dirty="0">
                <a:solidFill>
                  <a:srgbClr val="417DBF"/>
                </a:solidFill>
                <a:latin typeface="Verdana"/>
                <a:ea typeface="Verdana"/>
                <a:cs typeface="Verdana"/>
                <a:sym typeface="Verdana"/>
              </a:rPr>
            </a:br>
            <a:endParaRPr lang="en-US" sz="3800" b="1" dirty="0">
              <a:solidFill>
                <a:srgbClr val="417DBF"/>
              </a:solidFill>
              <a:latin typeface="Verdana"/>
              <a:ea typeface="Verdana"/>
              <a:cs typeface="Verdana"/>
              <a:sym typeface="Verdana"/>
            </a:endParaRPr>
          </a:p>
          <a:p>
            <a:pPr algn="ctr">
              <a:lnSpc>
                <a:spcPct val="100000"/>
              </a:lnSpc>
              <a:buClr>
                <a:srgbClr val="000000"/>
              </a:buClr>
            </a:pPr>
            <a:r>
              <a:rPr lang="en-US" sz="3800" b="1" dirty="0">
                <a:solidFill>
                  <a:srgbClr val="417DBF"/>
                </a:solidFill>
                <a:latin typeface="Verdana"/>
                <a:ea typeface="Verdana"/>
                <a:cs typeface="Verdana"/>
                <a:sym typeface="Verdana"/>
              </a:rPr>
              <a:t>Unit 6, Lesson H3</a:t>
            </a:r>
            <a:br>
              <a:rPr lang="en-US" sz="3800" b="1" dirty="0">
                <a:solidFill>
                  <a:srgbClr val="417DBF"/>
                </a:solidFill>
                <a:latin typeface="Verdana"/>
                <a:ea typeface="Verdana"/>
                <a:cs typeface="Verdana"/>
                <a:sym typeface="Verdana"/>
              </a:rPr>
            </a:br>
            <a:br>
              <a:rPr lang="en-US" sz="3800" b="1" dirty="0">
                <a:solidFill>
                  <a:srgbClr val="417DBF"/>
                </a:solidFill>
                <a:latin typeface="Verdana"/>
                <a:ea typeface="Verdana"/>
                <a:cs typeface="Verdana"/>
                <a:sym typeface="Verdana"/>
              </a:rPr>
            </a:br>
            <a:r>
              <a:rPr lang="en-US" sz="3800" b="1" dirty="0">
                <a:solidFill>
                  <a:srgbClr val="417DBF"/>
                </a:solidFill>
                <a:latin typeface="Verdana"/>
                <a:ea typeface="Verdana"/>
                <a:cs typeface="Verdana"/>
                <a:sym typeface="Verdana"/>
              </a:rPr>
              <a:t>Justifying Similarity</a:t>
            </a:r>
            <a:br>
              <a:rPr lang="en-US" sz="3800" b="1" dirty="0">
                <a:solidFill>
                  <a:srgbClr val="417DBF"/>
                </a:solidFill>
                <a:latin typeface="Verdana"/>
                <a:ea typeface="Verdana"/>
                <a:cs typeface="Verdana"/>
                <a:sym typeface="Verdana"/>
              </a:rPr>
            </a:br>
            <a:br>
              <a:rPr lang="en-US" sz="3800" b="1" dirty="0">
                <a:solidFill>
                  <a:srgbClr val="417DBF"/>
                </a:solidFill>
                <a:latin typeface="Verdana"/>
                <a:ea typeface="Verdana"/>
                <a:cs typeface="Verdana"/>
                <a:sym typeface="Verdana"/>
              </a:rPr>
            </a:br>
            <a:r>
              <a:rPr lang="en-US" sz="2800" b="1" dirty="0">
                <a:solidFill>
                  <a:srgbClr val="417DBF"/>
                </a:solidFill>
                <a:latin typeface="Verdana"/>
                <a:ea typeface="Verdana"/>
                <a:cs typeface="Verdana"/>
                <a:sym typeface="Verdana"/>
              </a:rPr>
              <a:t>Volume 1, pg. 343</a:t>
            </a:r>
          </a:p>
          <a:p>
            <a:pPr algn="ctr">
              <a:lnSpc>
                <a:spcPct val="100000"/>
              </a:lnSpc>
              <a:buClr>
                <a:srgbClr val="000000"/>
              </a:buClr>
            </a:pPr>
            <a:endParaRPr lang="en-US" sz="3400" b="1" dirty="0">
              <a:solidFill>
                <a:srgbClr val="417DBF"/>
              </a:solidFill>
              <a:latin typeface="Verdana"/>
              <a:ea typeface="Verdana"/>
              <a:cs typeface="Verdana"/>
              <a:sym typeface="Verdana"/>
            </a:endParaRPr>
          </a:p>
          <a:p>
            <a:pPr algn="ctr">
              <a:lnSpc>
                <a:spcPct val="75000"/>
              </a:lnSpc>
            </a:pPr>
            <a:endParaRPr sz="3100" dirty="0">
              <a:solidFill>
                <a:srgbClr val="417DBF"/>
              </a:solidFill>
            </a:endParaRPr>
          </a:p>
        </p:txBody>
      </p:sp>
      <p:cxnSp>
        <p:nvCxnSpPr>
          <p:cNvPr id="262" name="Google Shape;262;g104476d1465_0_0"/>
          <p:cNvCxnSpPr/>
          <p:nvPr/>
        </p:nvCxnSpPr>
        <p:spPr>
          <a:xfrm>
            <a:off x="-1573225" y="3938167"/>
            <a:ext cx="1152600" cy="0"/>
          </a:xfrm>
          <a:prstGeom prst="straightConnector1">
            <a:avLst/>
          </a:prstGeom>
          <a:noFill/>
          <a:ln w="9525" cap="flat" cmpd="sng">
            <a:solidFill>
              <a:schemeClr val="lt1"/>
            </a:solidFill>
            <a:prstDash val="solid"/>
            <a:round/>
            <a:headEnd type="none" w="med" len="med"/>
            <a:tailEnd type="none" w="med" len="med"/>
          </a:ln>
        </p:spPr>
      </p:cxnSp>
      <p:pic>
        <p:nvPicPr>
          <p:cNvPr id="3" name="Picture 2" descr="A blue sign with white text&#10;&#10;Description automatically generated with medium confidence">
            <a:extLst>
              <a:ext uri="{FF2B5EF4-FFF2-40B4-BE49-F238E27FC236}">
                <a16:creationId xmlns:a16="http://schemas.microsoft.com/office/drawing/2014/main" id="{5DE477E5-56CA-9D49-B76A-D5EDA7B79A42}"/>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411640" y="1745080"/>
            <a:ext cx="3270825" cy="3812847"/>
          </a:xfrm>
          <a:prstGeom prst="rect">
            <a:avLst/>
          </a:prstGeom>
          <a:effectLst>
            <a:outerShdw blurRad="50800" dist="38100" dir="2700000" algn="tl" rotWithShape="0">
              <a:prstClr val="black">
                <a:alpha val="40000"/>
              </a:prstClr>
            </a:outerShdw>
          </a:effec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276C46"/>
          </a:solidFill>
          <a:ln w="9525" cap="flat" cmpd="sng">
            <a:solidFill>
              <a:srgbClr val="276C46"/>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279" name="Google Shape;279;g104476d1465_1_17"/>
          <p:cNvSpPr txBox="1">
            <a:spLocks noGrp="1"/>
          </p:cNvSpPr>
          <p:nvPr>
            <p:ph type="title" idx="4294967295"/>
          </p:nvPr>
        </p:nvSpPr>
        <p:spPr>
          <a:xfrm>
            <a:off x="1102200" y="-69300"/>
            <a:ext cx="7509900" cy="1325700"/>
          </a:xfrm>
          <a:prstGeom prst="rect">
            <a:avLst/>
          </a:prstGeom>
          <a:noFill/>
          <a:ln>
            <a:noFill/>
          </a:ln>
        </p:spPr>
        <p:txBody>
          <a:bodyPr spcFirstLastPara="1" wrap="square" lIns="91425" tIns="45700" rIns="91425" bIns="45700" anchor="ctr" anchorCtr="0">
            <a:normAutofit/>
          </a:bodyPr>
          <a:lstStyle/>
          <a:p>
            <a:pPr>
              <a:buSzPts val="5400"/>
            </a:pPr>
            <a:r>
              <a:rPr lang="en-US" sz="4700" b="1" dirty="0">
                <a:solidFill>
                  <a:srgbClr val="54B5D1"/>
                </a:solidFill>
                <a:latin typeface="Verdana"/>
                <a:ea typeface="Verdana"/>
                <a:cs typeface="Verdana"/>
                <a:sym typeface="Verdana"/>
              </a:rPr>
              <a:t>Benchmark</a:t>
            </a:r>
            <a:endParaRPr sz="3700" b="1" dirty="0">
              <a:solidFill>
                <a:srgbClr val="54B5D1"/>
              </a:solidFill>
              <a:latin typeface="Verdana"/>
              <a:ea typeface="Verdana"/>
              <a:cs typeface="Verdana"/>
              <a:sym typeface="Verdana"/>
            </a:endParaRPr>
          </a:p>
        </p:txBody>
      </p:sp>
      <p:pic>
        <p:nvPicPr>
          <p:cNvPr id="281" name="Google Shape;281;g104476d1465_1_17"/>
          <p:cNvPicPr preferRelativeResize="0"/>
          <p:nvPr/>
        </p:nvPicPr>
        <p:blipFill>
          <a:blip r:embed="rId3">
            <a:alphaModFix/>
          </a:blip>
          <a:stretch>
            <a:fillRect/>
          </a:stretch>
        </p:blipFill>
        <p:spPr>
          <a:xfrm>
            <a:off x="354900" y="219900"/>
            <a:ext cx="747300" cy="747300"/>
          </a:xfrm>
          <a:prstGeom prst="rect">
            <a:avLst/>
          </a:prstGeom>
          <a:noFill/>
          <a:ln>
            <a:noFill/>
          </a:ln>
          <a:effectLst>
            <a:outerShdw blurRad="57150" dist="19050" dir="5400000" algn="bl" rotWithShape="0">
              <a:srgbClr val="000000">
                <a:alpha val="50000"/>
              </a:srgbClr>
            </a:outerShdw>
          </a:effectLst>
        </p:spPr>
      </p:pic>
      <p:sp>
        <p:nvSpPr>
          <p:cNvPr id="282" name="Google Shape;282;g104476d1465_1_17"/>
          <p:cNvSpPr txBox="1"/>
          <p:nvPr/>
        </p:nvSpPr>
        <p:spPr>
          <a:xfrm>
            <a:off x="8994150"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343</a:t>
            </a:r>
            <a:endParaRPr i="1" dirty="0">
              <a:latin typeface="Calibri"/>
              <a:ea typeface="Calibri"/>
              <a:cs typeface="Calibri"/>
              <a:sym typeface="Calibri"/>
            </a:endParaRPr>
          </a:p>
        </p:txBody>
      </p:sp>
      <p:pic>
        <p:nvPicPr>
          <p:cNvPr id="283"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628150" y="6200599"/>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280;g104476d1465_1_17">
            <a:extLst>
              <a:ext uri="{FF2B5EF4-FFF2-40B4-BE49-F238E27FC236}">
                <a16:creationId xmlns:a16="http://schemas.microsoft.com/office/drawing/2014/main" id="{527A9F9F-07B8-ED47-B967-E5507C67DBC5}"/>
              </a:ext>
            </a:extLst>
          </p:cNvPr>
          <p:cNvSpPr txBox="1">
            <a:spLocks/>
          </p:cNvSpPr>
          <p:nvPr/>
        </p:nvSpPr>
        <p:spPr>
          <a:xfrm>
            <a:off x="354899" y="1600200"/>
            <a:ext cx="11626085" cy="4205700"/>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pPr marL="95250" indent="0">
              <a:buNone/>
            </a:pPr>
            <a:r>
              <a:rPr lang="en-US" sz="2400" dirty="0">
                <a:latin typeface="Verdana" charset="0"/>
                <a:ea typeface="Verdana" charset="0"/>
                <a:cs typeface="Verdana" charset="0"/>
              </a:rPr>
              <a:t>MA.912.GR.2.9 </a:t>
            </a:r>
          </a:p>
          <a:p>
            <a:pPr marL="463550" indent="0">
              <a:buNone/>
            </a:pPr>
            <a:r>
              <a:rPr lang="en-US" sz="2400" dirty="0">
                <a:latin typeface="Verdana" charset="0"/>
                <a:ea typeface="Verdana" charset="0"/>
                <a:cs typeface="Verdana" charset="0"/>
              </a:rPr>
              <a:t>Justify the criteria for triangle similarity using the definition of similarity in terms of non-rigid transformations. </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276C46"/>
          </a:solidFill>
          <a:ln w="9525" cap="flat" cmpd="sng">
            <a:solidFill>
              <a:srgbClr val="276C46"/>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1" name="Google Shape;281;g104476d1465_1_17"/>
          <p:cNvPicPr preferRelativeResize="0"/>
          <p:nvPr/>
        </p:nvPicPr>
        <p:blipFill>
          <a:blip r:embed="rId3">
            <a:alphaModFix/>
          </a:blip>
          <a:stretch>
            <a:fillRect/>
          </a:stretch>
        </p:blipFill>
        <p:spPr>
          <a:xfrm>
            <a:off x="422031" y="241502"/>
            <a:ext cx="747300" cy="747300"/>
          </a:xfrm>
          <a:prstGeom prst="rect">
            <a:avLst/>
          </a:prstGeom>
          <a:noFill/>
          <a:ln>
            <a:noFill/>
          </a:ln>
          <a:effectLst>
            <a:outerShdw blurRad="57150" dist="19050" dir="5400000" algn="bl" rotWithShape="0">
              <a:srgbClr val="000000">
                <a:alpha val="50000"/>
              </a:srgbClr>
            </a:outerShdw>
          </a:effectLst>
        </p:spPr>
      </p:pic>
      <p:pic>
        <p:nvPicPr>
          <p:cNvPr id="283"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628150" y="6200599"/>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295;g103996e1364_0_10">
            <a:extLst>
              <a:ext uri="{FF2B5EF4-FFF2-40B4-BE49-F238E27FC236}">
                <a16:creationId xmlns:a16="http://schemas.microsoft.com/office/drawing/2014/main" id="{08B3C7FF-E6D0-2145-9A84-003D15672764}"/>
              </a:ext>
            </a:extLst>
          </p:cNvPr>
          <p:cNvSpPr txBox="1">
            <a:spLocks/>
          </p:cNvSpPr>
          <p:nvPr/>
        </p:nvSpPr>
        <p:spPr>
          <a:xfrm>
            <a:off x="1169331" y="-33104"/>
            <a:ext cx="8024426"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000" b="1" dirty="0">
                <a:solidFill>
                  <a:srgbClr val="54B5D1"/>
                </a:solidFill>
                <a:latin typeface="Verdana"/>
                <a:ea typeface="Verdana"/>
                <a:cs typeface="Verdana"/>
                <a:sym typeface="Verdana"/>
              </a:rPr>
              <a:t>Integrated Mathematical Thinking and Reasoning Standards</a:t>
            </a:r>
          </a:p>
        </p:txBody>
      </p:sp>
      <p:sp>
        <p:nvSpPr>
          <p:cNvPr id="10" name="Google Shape;282;g104476d1465_1_17">
            <a:extLst>
              <a:ext uri="{FF2B5EF4-FFF2-40B4-BE49-F238E27FC236}">
                <a16:creationId xmlns:a16="http://schemas.microsoft.com/office/drawing/2014/main" id="{E701C7D4-7BD4-5F4C-ACEB-5781D00837A2}"/>
              </a:ext>
            </a:extLst>
          </p:cNvPr>
          <p:cNvSpPr txBox="1"/>
          <p:nvPr/>
        </p:nvSpPr>
        <p:spPr>
          <a:xfrm>
            <a:off x="8994150" y="6409678"/>
            <a:ext cx="2634000" cy="400200"/>
          </a:xfrm>
          <a:prstGeom prst="rect">
            <a:avLst/>
          </a:prstGeom>
          <a:noFill/>
          <a:ln>
            <a:noFill/>
          </a:ln>
        </p:spPr>
        <p:txBody>
          <a:bodyPr spcFirstLastPara="1" wrap="square" lIns="91425" tIns="91425" rIns="91425" bIns="91425" anchor="t" anchorCtr="0">
            <a:spAutoFit/>
          </a:bodyPr>
          <a:lstStyle/>
          <a:p>
            <a:pPr lvl="0" algn="r"/>
            <a:r>
              <a:rPr lang="it-IT" i="1" dirty="0">
                <a:latin typeface="Calibri"/>
                <a:ea typeface="Calibri"/>
                <a:cs typeface="Calibri"/>
                <a:sym typeface="Calibri"/>
              </a:rPr>
              <a:t>volume 1, </a:t>
            </a:r>
            <a:r>
              <a:rPr lang="it-IT" i="1" dirty="0" err="1">
                <a:latin typeface="Calibri"/>
                <a:ea typeface="Calibri"/>
                <a:cs typeface="Calibri"/>
                <a:sym typeface="Calibri"/>
              </a:rPr>
              <a:t>pg</a:t>
            </a:r>
            <a:r>
              <a:rPr lang="it-IT" i="1" dirty="0">
                <a:latin typeface="Calibri"/>
                <a:ea typeface="Calibri"/>
                <a:cs typeface="Calibri"/>
                <a:sym typeface="Calibri"/>
              </a:rPr>
              <a:t>. 343</a:t>
            </a:r>
          </a:p>
        </p:txBody>
      </p:sp>
      <p:sp>
        <p:nvSpPr>
          <p:cNvPr id="11" name="Google Shape;296;g103996e1364_0_10">
            <a:extLst>
              <a:ext uri="{FF2B5EF4-FFF2-40B4-BE49-F238E27FC236}">
                <a16:creationId xmlns:a16="http://schemas.microsoft.com/office/drawing/2014/main" id="{A6E18E39-B007-D647-9935-55A748533A45}"/>
              </a:ext>
            </a:extLst>
          </p:cNvPr>
          <p:cNvSpPr txBox="1">
            <a:spLocks/>
          </p:cNvSpPr>
          <p:nvPr/>
        </p:nvSpPr>
        <p:spPr>
          <a:xfrm>
            <a:off x="422031" y="1596390"/>
            <a:ext cx="11206119" cy="420570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buSzPts val="523"/>
            </a:pPr>
            <a:r>
              <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MA.K12.MTR.1.1 Actively participate in effortful learning both individually and collectively.</a:t>
            </a:r>
          </a:p>
          <a:p>
            <a:pPr marL="457200">
              <a:buSzPts val="523"/>
            </a:pPr>
            <a:endPar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MA.K12.MTR.2.1 Demonstrate understanding by representing problems in multiple ways.</a:t>
            </a:r>
          </a:p>
          <a:p>
            <a:pPr marL="457200">
              <a:buSzPts val="523"/>
            </a:pPr>
            <a:endPar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MA.K12.MTR.4.1 Engage in discussions that reflect on the mathematical thinking of self and others.</a:t>
            </a:r>
          </a:p>
          <a:p>
            <a:pPr marL="457200">
              <a:buSzPts val="523"/>
            </a:pPr>
            <a:endPar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MA.K12.MTR.5.1 Use patterns and structure to help understand and connect mathematical concepts.</a:t>
            </a:r>
          </a:p>
          <a:p>
            <a:pPr>
              <a:buSzPts val="523"/>
            </a:pPr>
            <a:endPar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MA.K12.MTR.6.1 Assess the reasonableness of solutions.</a:t>
            </a:r>
          </a:p>
        </p:txBody>
      </p:sp>
    </p:spTree>
    <p:extLst>
      <p:ext uri="{BB962C8B-B14F-4D97-AF65-F5344CB8AC3E}">
        <p14:creationId xmlns:p14="http://schemas.microsoft.com/office/powerpoint/2010/main" val="20808422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1">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1">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1">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276C46"/>
          </a:solidFill>
          <a:ln w="9525" cap="flat" cmpd="sng">
            <a:solidFill>
              <a:srgbClr val="276C46"/>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dirty="0">
              <a:highlight>
                <a:srgbClr val="FFFF00"/>
              </a:highlight>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6868" y="6187261"/>
            <a:ext cx="563850" cy="657276"/>
          </a:xfrm>
          <a:prstGeom prst="rect">
            <a:avLst/>
          </a:prstGeom>
          <a:noFill/>
          <a:ln>
            <a:noFill/>
          </a:ln>
          <a:effectLst>
            <a:outerShdw blurRad="57150" dist="19050" dir="5400000" algn="bl" rotWithShape="0">
              <a:srgbClr val="000000">
                <a:alpha val="50000"/>
              </a:srgbClr>
            </a:outerShdw>
          </a:effectLst>
        </p:spPr>
      </p:pic>
      <p:sp>
        <p:nvSpPr>
          <p:cNvPr id="10" name="Google Shape;301;g103996e1364_0_16">
            <a:extLst>
              <a:ext uri="{FF2B5EF4-FFF2-40B4-BE49-F238E27FC236}">
                <a16:creationId xmlns:a16="http://schemas.microsoft.com/office/drawing/2014/main" id="{5771FBFA-7311-BB45-8AFF-04B380531EE6}"/>
              </a:ext>
            </a:extLst>
          </p:cNvPr>
          <p:cNvSpPr txBox="1">
            <a:spLocks/>
          </p:cNvSpPr>
          <p:nvPr/>
        </p:nvSpPr>
        <p:spPr>
          <a:xfrm>
            <a:off x="1102200" y="-98294"/>
            <a:ext cx="79584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4700" b="1" dirty="0">
                <a:solidFill>
                  <a:srgbClr val="52BDA6"/>
                </a:solidFill>
                <a:latin typeface="Verdana"/>
                <a:ea typeface="Verdana"/>
                <a:cs typeface="Verdana"/>
                <a:sym typeface="Verdana"/>
              </a:rPr>
              <a:t>Learning Target</a:t>
            </a:r>
          </a:p>
        </p:txBody>
      </p:sp>
      <p:pic>
        <p:nvPicPr>
          <p:cNvPr id="12" name="Google Shape;303;g103996e1364_0_16">
            <a:extLst>
              <a:ext uri="{FF2B5EF4-FFF2-40B4-BE49-F238E27FC236}">
                <a16:creationId xmlns:a16="http://schemas.microsoft.com/office/drawing/2014/main" id="{81DC7EB0-4FED-FC45-BAEC-D699ED5C2169}"/>
              </a:ext>
            </a:extLst>
          </p:cNvPr>
          <p:cNvPicPr preferRelativeResize="0"/>
          <p:nvPr/>
        </p:nvPicPr>
        <p:blipFill>
          <a:blip r:embed="rId4">
            <a:alphaModFix/>
          </a:blip>
          <a:stretch>
            <a:fillRect/>
          </a:stretch>
        </p:blipFill>
        <p:spPr>
          <a:xfrm>
            <a:off x="354900" y="190906"/>
            <a:ext cx="747300" cy="747300"/>
          </a:xfrm>
          <a:prstGeom prst="rect">
            <a:avLst/>
          </a:prstGeom>
          <a:noFill/>
          <a:ln>
            <a:noFill/>
          </a:ln>
          <a:effectLst>
            <a:outerShdw blurRad="50800" dist="38100" dir="2700000" algn="tl" rotWithShape="0">
              <a:prstClr val="black">
                <a:alpha val="40000"/>
              </a:prstClr>
            </a:outerShdw>
          </a:effectLst>
        </p:spPr>
      </p:pic>
      <p:sp>
        <p:nvSpPr>
          <p:cNvPr id="13" name="Google Shape;282;g104476d1465_1_17">
            <a:extLst>
              <a:ext uri="{FF2B5EF4-FFF2-40B4-BE49-F238E27FC236}">
                <a16:creationId xmlns:a16="http://schemas.microsoft.com/office/drawing/2014/main" id="{3ECD2D46-55D5-C547-91DD-0801CE9D6AD7}"/>
              </a:ext>
            </a:extLst>
          </p:cNvPr>
          <p:cNvSpPr txBox="1"/>
          <p:nvPr/>
        </p:nvSpPr>
        <p:spPr>
          <a:xfrm>
            <a:off x="8992868" y="6457675"/>
            <a:ext cx="2634000" cy="400200"/>
          </a:xfrm>
          <a:prstGeom prst="rect">
            <a:avLst/>
          </a:prstGeom>
          <a:noFill/>
          <a:ln>
            <a:noFill/>
          </a:ln>
        </p:spPr>
        <p:txBody>
          <a:bodyPr spcFirstLastPara="1" wrap="square" lIns="91425" tIns="91425" rIns="91425" bIns="91425" anchor="t" anchorCtr="0">
            <a:spAutoFit/>
          </a:bodyPr>
          <a:lstStyle/>
          <a:p>
            <a:pPr lvl="0" algn="r"/>
            <a:r>
              <a:rPr lang="it-IT" i="1" dirty="0">
                <a:latin typeface="Calibri"/>
                <a:ea typeface="Calibri"/>
                <a:cs typeface="Calibri"/>
                <a:sym typeface="Calibri"/>
              </a:rPr>
              <a:t>volume 1, </a:t>
            </a:r>
            <a:r>
              <a:rPr lang="it-IT" i="1" dirty="0" err="1">
                <a:latin typeface="Calibri"/>
                <a:ea typeface="Calibri"/>
                <a:cs typeface="Calibri"/>
                <a:sym typeface="Calibri"/>
              </a:rPr>
              <a:t>pg</a:t>
            </a:r>
            <a:r>
              <a:rPr lang="it-IT" i="1" dirty="0">
                <a:latin typeface="Calibri"/>
                <a:ea typeface="Calibri"/>
                <a:cs typeface="Calibri"/>
                <a:sym typeface="Calibri"/>
              </a:rPr>
              <a:t>. 343</a:t>
            </a:r>
          </a:p>
        </p:txBody>
      </p:sp>
      <p:sp>
        <p:nvSpPr>
          <p:cNvPr id="14" name="Google Shape;302;g103996e1364_0_16">
            <a:extLst>
              <a:ext uri="{FF2B5EF4-FFF2-40B4-BE49-F238E27FC236}">
                <a16:creationId xmlns:a16="http://schemas.microsoft.com/office/drawing/2014/main" id="{9B7C98EC-F13C-9146-B728-D7044DB4247D}"/>
              </a:ext>
            </a:extLst>
          </p:cNvPr>
          <p:cNvSpPr txBox="1">
            <a:spLocks/>
          </p:cNvSpPr>
          <p:nvPr/>
        </p:nvSpPr>
        <p:spPr>
          <a:xfrm>
            <a:off x="354899" y="1600200"/>
            <a:ext cx="11520577" cy="420570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342900" indent="-342900">
              <a:buFont typeface="Wingdings" charset="2"/>
              <a:buChar char="q"/>
            </a:pPr>
            <a:r>
              <a:rPr lang="en-US" sz="2400" dirty="0">
                <a:latin typeface="Verdana" charset="0"/>
                <a:ea typeface="Verdana" charset="0"/>
                <a:cs typeface="Verdana" charset="0"/>
              </a:rPr>
              <a:t>I can use the definition of similarity to justify that SSS similarity, SAS similarity, and AA similarity are sufficient to show that two triangles are similar.  </a:t>
            </a:r>
          </a:p>
        </p:txBody>
      </p:sp>
    </p:spTree>
    <p:extLst>
      <p:ext uri="{BB962C8B-B14F-4D97-AF65-F5344CB8AC3E}">
        <p14:creationId xmlns:p14="http://schemas.microsoft.com/office/powerpoint/2010/main" val="20714203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276C46"/>
          </a:solidFill>
          <a:ln w="9525" cap="flat" cmpd="sng">
            <a:solidFill>
              <a:srgbClr val="276C46"/>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599"/>
            <a:ext cx="563850" cy="657276"/>
          </a:xfrm>
          <a:prstGeom prst="rect">
            <a:avLst/>
          </a:prstGeom>
          <a:noFill/>
          <a:ln>
            <a:noFill/>
          </a:ln>
          <a:effectLst>
            <a:outerShdw blurRad="57150" dist="19050" dir="5400000" algn="bl" rotWithShape="0">
              <a:srgbClr val="000000">
                <a:alpha val="50000"/>
              </a:srgbClr>
            </a:outerShdw>
          </a:effectLst>
        </p:spPr>
      </p:pic>
      <p:pic>
        <p:nvPicPr>
          <p:cNvPr id="312" name="Google Shape;312;g104476d1465_1_39"/>
          <p:cNvPicPr preferRelativeResize="0"/>
          <p:nvPr/>
        </p:nvPicPr>
        <p:blipFill>
          <a:blip r:embed="rId4">
            <a:alphaModFix/>
          </a:blip>
          <a:stretch>
            <a:fillRect/>
          </a:stretch>
        </p:blipFill>
        <p:spPr>
          <a:xfrm>
            <a:off x="4635550" y="2879325"/>
            <a:ext cx="1031750" cy="1031750"/>
          </a:xfrm>
          <a:prstGeom prst="rect">
            <a:avLst/>
          </a:prstGeom>
          <a:noFill/>
          <a:ln>
            <a:noFill/>
          </a:ln>
          <a:effectLst>
            <a:outerShdw blurRad="50800" dist="38100" dir="2700000" algn="tl" rotWithShape="0">
              <a:prstClr val="black">
                <a:alpha val="40000"/>
              </a:prstClr>
            </a:outerShdw>
          </a:effectLst>
        </p:spPr>
      </p:pic>
      <p:sp>
        <p:nvSpPr>
          <p:cNvPr id="313" name="Google Shape;313;g104476d1465_1_39"/>
          <p:cNvSpPr txBox="1">
            <a:spLocks noGrp="1"/>
          </p:cNvSpPr>
          <p:nvPr>
            <p:ph type="title" idx="4294967295"/>
          </p:nvPr>
        </p:nvSpPr>
        <p:spPr>
          <a:xfrm>
            <a:off x="5844350" y="2766145"/>
            <a:ext cx="404820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3F2A67"/>
                </a:solidFill>
                <a:latin typeface="Verdana"/>
                <a:ea typeface="Verdana"/>
                <a:cs typeface="Verdana"/>
                <a:sym typeface="Verdana"/>
              </a:rPr>
              <a:t>Warm-Up</a:t>
            </a:r>
            <a:endParaRPr sz="5100" b="1" dirty="0">
              <a:solidFill>
                <a:srgbClr val="3F2A67"/>
              </a:solidFill>
              <a:latin typeface="Verdana"/>
              <a:ea typeface="Verdana"/>
              <a:cs typeface="Verdana"/>
              <a:sym typeface="Verdana"/>
            </a:endParaRPr>
          </a:p>
        </p:txBody>
      </p:sp>
      <p:sp>
        <p:nvSpPr>
          <p:cNvPr id="7" name="Google Shape;282;g104476d1465_1_17">
            <a:extLst>
              <a:ext uri="{FF2B5EF4-FFF2-40B4-BE49-F238E27FC236}">
                <a16:creationId xmlns:a16="http://schemas.microsoft.com/office/drawing/2014/main" id="{B595484E-1C62-AC4F-B448-37E60F77A8C0}"/>
              </a:ext>
            </a:extLst>
          </p:cNvPr>
          <p:cNvSpPr txBox="1"/>
          <p:nvPr/>
        </p:nvSpPr>
        <p:spPr>
          <a:xfrm>
            <a:off x="8994150" y="6457675"/>
            <a:ext cx="2634000" cy="400200"/>
          </a:xfrm>
          <a:prstGeom prst="rect">
            <a:avLst/>
          </a:prstGeom>
          <a:noFill/>
          <a:ln>
            <a:noFill/>
          </a:ln>
        </p:spPr>
        <p:txBody>
          <a:bodyPr spcFirstLastPara="1" wrap="square" lIns="91425" tIns="91425" rIns="91425" bIns="91425" anchor="t" anchorCtr="0">
            <a:spAutoFit/>
          </a:bodyPr>
          <a:lstStyle/>
          <a:p>
            <a:pPr lvl="0" algn="r"/>
            <a:r>
              <a:rPr lang="it-IT" i="1" dirty="0">
                <a:latin typeface="Calibri"/>
                <a:ea typeface="Calibri"/>
                <a:cs typeface="Calibri"/>
                <a:sym typeface="Calibri"/>
              </a:rPr>
              <a:t>volume 1, </a:t>
            </a:r>
            <a:r>
              <a:rPr lang="it-IT" i="1" dirty="0" err="1">
                <a:latin typeface="Calibri"/>
                <a:ea typeface="Calibri"/>
                <a:cs typeface="Calibri"/>
                <a:sym typeface="Calibri"/>
              </a:rPr>
              <a:t>pg</a:t>
            </a:r>
            <a:r>
              <a:rPr lang="it-IT" i="1" dirty="0">
                <a:latin typeface="Calibri"/>
                <a:ea typeface="Calibri"/>
                <a:cs typeface="Calibri"/>
                <a:sym typeface="Calibri"/>
              </a:rPr>
              <a:t>. 343</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276C46"/>
          </a:solidFill>
          <a:ln w="9525" cap="flat" cmpd="sng">
            <a:solidFill>
              <a:srgbClr val="276C46"/>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23654"/>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324;g103996e1364_0_25">
            <a:extLst>
              <a:ext uri="{FF2B5EF4-FFF2-40B4-BE49-F238E27FC236}">
                <a16:creationId xmlns:a16="http://schemas.microsoft.com/office/drawing/2014/main" id="{DB5796CA-12EB-BB4C-8338-B127D750A026}"/>
              </a:ext>
            </a:extLst>
          </p:cNvPr>
          <p:cNvSpPr txBox="1">
            <a:spLocks/>
          </p:cNvSpPr>
          <p:nvPr/>
        </p:nvSpPr>
        <p:spPr>
          <a:xfrm>
            <a:off x="1170183" y="-44897"/>
            <a:ext cx="80193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3F2A67"/>
                </a:solidFill>
                <a:latin typeface="Verdana"/>
                <a:ea typeface="Verdana"/>
                <a:cs typeface="Verdana"/>
                <a:sym typeface="Verdana"/>
              </a:rPr>
              <a:t>6.H3.1 Warm-Up: Which One Doesn’t Belong?</a:t>
            </a:r>
          </a:p>
        </p:txBody>
      </p:sp>
      <p:pic>
        <p:nvPicPr>
          <p:cNvPr id="13" name="Google Shape;326;g103996e1364_0_25">
            <a:extLst>
              <a:ext uri="{FF2B5EF4-FFF2-40B4-BE49-F238E27FC236}">
                <a16:creationId xmlns:a16="http://schemas.microsoft.com/office/drawing/2014/main" id="{0B25478F-1F7B-DF44-A9BD-898178E878B3}"/>
              </a:ext>
            </a:extLst>
          </p:cNvPr>
          <p:cNvPicPr preferRelativeResize="0"/>
          <p:nvPr/>
        </p:nvPicPr>
        <p:blipFill>
          <a:blip r:embed="rId4">
            <a:alphaModFix/>
          </a:blip>
          <a:stretch>
            <a:fillRect/>
          </a:stretch>
        </p:blipFill>
        <p:spPr>
          <a:xfrm>
            <a:off x="422883" y="197485"/>
            <a:ext cx="747300" cy="747300"/>
          </a:xfrm>
          <a:prstGeom prst="rect">
            <a:avLst/>
          </a:prstGeom>
          <a:noFill/>
          <a:ln>
            <a:noFill/>
          </a:ln>
          <a:effectLst>
            <a:outerShdw blurRad="50800" dist="38100" dir="2700000" algn="tl" rotWithShape="0">
              <a:prstClr val="black">
                <a:alpha val="40000"/>
              </a:prstClr>
            </a:outerShdw>
          </a:effectLst>
        </p:spPr>
      </p:pic>
      <p:sp>
        <p:nvSpPr>
          <p:cNvPr id="15" name="Google Shape;282;g104476d1465_1_17">
            <a:extLst>
              <a:ext uri="{FF2B5EF4-FFF2-40B4-BE49-F238E27FC236}">
                <a16:creationId xmlns:a16="http://schemas.microsoft.com/office/drawing/2014/main" id="{5B627696-920F-B441-B5C1-01510F09761A}"/>
              </a:ext>
            </a:extLst>
          </p:cNvPr>
          <p:cNvSpPr txBox="1"/>
          <p:nvPr/>
        </p:nvSpPr>
        <p:spPr>
          <a:xfrm>
            <a:off x="8954291" y="6480730"/>
            <a:ext cx="2634000" cy="400200"/>
          </a:xfrm>
          <a:prstGeom prst="rect">
            <a:avLst/>
          </a:prstGeom>
          <a:noFill/>
          <a:ln>
            <a:noFill/>
          </a:ln>
        </p:spPr>
        <p:txBody>
          <a:bodyPr spcFirstLastPara="1" wrap="square" lIns="91425" tIns="91425" rIns="91425" bIns="91425" anchor="t" anchorCtr="0">
            <a:spAutoFit/>
          </a:bodyPr>
          <a:lstStyle/>
          <a:p>
            <a:pPr lvl="0" algn="r"/>
            <a:r>
              <a:rPr lang="it-IT" i="1" dirty="0">
                <a:latin typeface="Calibri"/>
                <a:ea typeface="Calibri"/>
                <a:cs typeface="Calibri"/>
                <a:sym typeface="Calibri"/>
              </a:rPr>
              <a:t>volume 1, </a:t>
            </a:r>
            <a:r>
              <a:rPr lang="it-IT" i="1" dirty="0" err="1">
                <a:latin typeface="Calibri"/>
                <a:ea typeface="Calibri"/>
                <a:cs typeface="Calibri"/>
                <a:sym typeface="Calibri"/>
              </a:rPr>
              <a:t>pg</a:t>
            </a:r>
            <a:r>
              <a:rPr lang="it-IT" i="1" dirty="0">
                <a:latin typeface="Calibri"/>
                <a:ea typeface="Calibri"/>
                <a:cs typeface="Calibri"/>
                <a:sym typeface="Calibri"/>
              </a:rPr>
              <a:t>. 343</a:t>
            </a:r>
          </a:p>
        </p:txBody>
      </p:sp>
      <p:sp>
        <p:nvSpPr>
          <p:cNvPr id="2" name="TextBox 1">
            <a:extLst>
              <a:ext uri="{FF2B5EF4-FFF2-40B4-BE49-F238E27FC236}">
                <a16:creationId xmlns:a16="http://schemas.microsoft.com/office/drawing/2014/main" id="{E1D7562E-134F-D14B-AF1A-DF40E11EF758}"/>
              </a:ext>
            </a:extLst>
          </p:cNvPr>
          <p:cNvSpPr txBox="1"/>
          <p:nvPr/>
        </p:nvSpPr>
        <p:spPr>
          <a:xfrm>
            <a:off x="422883" y="5600987"/>
            <a:ext cx="9848408" cy="400110"/>
          </a:xfrm>
          <a:prstGeom prst="rect">
            <a:avLst/>
          </a:prstGeom>
          <a:noFill/>
        </p:spPr>
        <p:txBody>
          <a:bodyPr wrap="square" rtlCol="0">
            <a:spAutoFit/>
          </a:bodyPr>
          <a:lstStyle/>
          <a:p>
            <a:pPr marL="457200" indent="-457200">
              <a:buFont typeface="+mj-lt"/>
              <a:buAutoNum type="arabicPeriod"/>
            </a:pPr>
            <a:r>
              <a:rPr lang="en-US" sz="2000" dirty="0">
                <a:latin typeface="Verdana" charset="0"/>
                <a:ea typeface="Verdana" charset="0"/>
                <a:cs typeface="Verdana" charset="0"/>
              </a:rPr>
              <a:t>Choose an image that does not belong and explain your choice.</a:t>
            </a:r>
          </a:p>
        </p:txBody>
      </p:sp>
      <p:graphicFrame>
        <p:nvGraphicFramePr>
          <p:cNvPr id="3" name="Table 2"/>
          <p:cNvGraphicFramePr>
            <a:graphicFrameLocks noGrp="1"/>
          </p:cNvGraphicFramePr>
          <p:nvPr>
            <p:extLst>
              <p:ext uri="{D42A27DB-BD31-4B8C-83A1-F6EECF244321}">
                <p14:modId xmlns:p14="http://schemas.microsoft.com/office/powerpoint/2010/main" val="620417303"/>
              </p:ext>
            </p:extLst>
          </p:nvPr>
        </p:nvGraphicFramePr>
        <p:xfrm>
          <a:off x="2439708" y="1730028"/>
          <a:ext cx="7509042" cy="3611105"/>
        </p:xfrm>
        <a:graphic>
          <a:graphicData uri="http://schemas.openxmlformats.org/drawingml/2006/table">
            <a:tbl>
              <a:tblPr firstRow="1" firstCol="1" bandRow="1"/>
              <a:tblGrid>
                <a:gridCol w="3500766">
                  <a:extLst>
                    <a:ext uri="{9D8B030D-6E8A-4147-A177-3AD203B41FA5}">
                      <a16:colId xmlns:a16="http://schemas.microsoft.com/office/drawing/2014/main" val="20000"/>
                    </a:ext>
                  </a:extLst>
                </a:gridCol>
                <a:gridCol w="4008276">
                  <a:extLst>
                    <a:ext uri="{9D8B030D-6E8A-4147-A177-3AD203B41FA5}">
                      <a16:colId xmlns:a16="http://schemas.microsoft.com/office/drawing/2014/main" val="20001"/>
                    </a:ext>
                  </a:extLst>
                </a:gridCol>
              </a:tblGrid>
              <a:tr h="587727">
                <a:tc>
                  <a:txBody>
                    <a:bodyPr/>
                    <a:lstStyle/>
                    <a:p>
                      <a:pPr marL="0" marR="0" algn="ctr">
                        <a:spcBef>
                          <a:spcPts val="0"/>
                        </a:spcBef>
                        <a:spcAft>
                          <a:spcPts val="0"/>
                        </a:spcAft>
                      </a:pPr>
                      <a:r>
                        <a:rPr lang="en-US" sz="2000" b="1" dirty="0">
                          <a:effectLst/>
                          <a:latin typeface="Verdana" charset="0"/>
                        </a:rPr>
                        <a:t>Image A</a:t>
                      </a:r>
                      <a:endParaRPr lang="en-US" sz="2000" dirty="0">
                        <a:effectLst/>
                        <a:latin typeface="Cambria" charset="0"/>
                      </a:endParaRPr>
                    </a:p>
                  </a:txBody>
                  <a:tcPr marL="38762" marR="3876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000" b="1" dirty="0">
                          <a:effectLst/>
                          <a:latin typeface="Verdana" charset="0"/>
                        </a:rPr>
                        <a:t>Image B</a:t>
                      </a:r>
                      <a:endParaRPr lang="en-US" sz="2000" dirty="0">
                        <a:effectLst/>
                        <a:latin typeface="Cambria" charset="0"/>
                      </a:endParaRPr>
                    </a:p>
                  </a:txBody>
                  <a:tcPr marL="38762" marR="3876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extLst>
                  <a:ext uri="{0D108BD9-81ED-4DB2-BD59-A6C34878D82A}">
                    <a16:rowId xmlns:a16="http://schemas.microsoft.com/office/drawing/2014/main" val="10000"/>
                  </a:ext>
                </a:extLst>
              </a:tr>
              <a:tr h="3023378">
                <a:tc>
                  <a:txBody>
                    <a:bodyPr/>
                    <a:lstStyle/>
                    <a:p>
                      <a:pPr marL="0" marR="0" algn="ctr">
                        <a:spcBef>
                          <a:spcPts val="0"/>
                        </a:spcBef>
                        <a:spcAft>
                          <a:spcPts val="0"/>
                        </a:spcAft>
                      </a:pPr>
                      <a:endParaRPr lang="en-US" sz="2000" dirty="0">
                        <a:effectLst/>
                        <a:latin typeface="Verdana" charset="0"/>
                      </a:endParaRPr>
                    </a:p>
                  </a:txBody>
                  <a:tcPr marL="38762" marR="3876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endParaRPr lang="en-US" sz="2000" dirty="0">
                        <a:effectLst/>
                        <a:latin typeface="Verdana" charset="0"/>
                      </a:endParaRPr>
                    </a:p>
                  </a:txBody>
                  <a:tcPr marL="38762" marR="3876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bl>
          </a:graphicData>
        </a:graphic>
      </p:graphicFrame>
      <p:pic>
        <p:nvPicPr>
          <p:cNvPr id="1028" name="Picture 30"/>
          <p:cNvPicPr>
            <a:picLocks noChangeAspect="1" noChangeArrowheads="1"/>
          </p:cNvPicPr>
          <p:nvPr/>
        </p:nvPicPr>
        <p:blipFill>
          <a:blip r:embed="rId5">
            <a:extLst>
              <a:ext uri="{28A0092B-C50C-407E-A947-70E740481C1C}">
                <a14:useLocalDpi xmlns:a14="http://schemas.microsoft.com/office/drawing/2010/main"/>
              </a:ext>
            </a:extLst>
          </a:blip>
          <a:srcRect/>
          <a:stretch>
            <a:fillRect/>
          </a:stretch>
        </p:blipFill>
        <p:spPr bwMode="auto">
          <a:xfrm>
            <a:off x="2535348" y="2413482"/>
            <a:ext cx="3312679" cy="2794647"/>
          </a:xfrm>
          <a:prstGeom prst="rect">
            <a:avLst/>
          </a:prstGeom>
          <a:noFill/>
          <a:extLst>
            <a:ext uri="{909E8E84-426E-40DD-AFC4-6F175D3DCCD1}">
              <a14:hiddenFill xmlns:a14="http://schemas.microsoft.com/office/drawing/2010/main">
                <a:solidFill>
                  <a:srgbClr val="FFFFFF"/>
                </a:solidFill>
              </a14:hiddenFill>
            </a:ext>
          </a:extLst>
        </p:spPr>
      </p:pic>
      <p:pic>
        <p:nvPicPr>
          <p:cNvPr id="1027" name="Picture 31"/>
          <p:cNvPicPr>
            <a:picLocks noChangeAspect="1" noChangeArrowheads="1"/>
          </p:cNvPicPr>
          <p:nvPr/>
        </p:nvPicPr>
        <p:blipFill>
          <a:blip r:embed="rId6">
            <a:extLst>
              <a:ext uri="{28A0092B-C50C-407E-A947-70E740481C1C}">
                <a14:useLocalDpi xmlns:a14="http://schemas.microsoft.com/office/drawing/2010/main"/>
              </a:ext>
            </a:extLst>
          </a:blip>
          <a:srcRect l="2901" r="7423"/>
          <a:stretch>
            <a:fillRect/>
          </a:stretch>
        </p:blipFill>
        <p:spPr bwMode="auto">
          <a:xfrm>
            <a:off x="6000014" y="2669686"/>
            <a:ext cx="3902242" cy="219865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490299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276C46"/>
          </a:solidFill>
          <a:ln w="9525" cap="flat" cmpd="sng">
            <a:solidFill>
              <a:srgbClr val="276C46"/>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14549" y="6200599"/>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980549" y="6457675"/>
            <a:ext cx="2634000" cy="400200"/>
          </a:xfrm>
          <a:prstGeom prst="rect">
            <a:avLst/>
          </a:prstGeom>
          <a:noFill/>
          <a:ln>
            <a:noFill/>
          </a:ln>
        </p:spPr>
        <p:txBody>
          <a:bodyPr spcFirstLastPara="1" wrap="square" lIns="91425" tIns="91425" rIns="91425" bIns="91425" anchor="t" anchorCtr="0">
            <a:spAutoFit/>
          </a:bodyPr>
          <a:lstStyle/>
          <a:p>
            <a:pPr lvl="0" algn="r"/>
            <a:r>
              <a:rPr lang="it-IT" i="1" dirty="0">
                <a:latin typeface="Calibri"/>
                <a:ea typeface="Calibri"/>
                <a:cs typeface="Calibri"/>
                <a:sym typeface="Calibri"/>
              </a:rPr>
              <a:t>volume 1, </a:t>
            </a:r>
            <a:r>
              <a:rPr lang="it-IT" i="1" dirty="0" err="1">
                <a:latin typeface="Calibri"/>
                <a:ea typeface="Calibri"/>
                <a:cs typeface="Calibri"/>
                <a:sym typeface="Calibri"/>
              </a:rPr>
              <a:t>pg</a:t>
            </a:r>
            <a:r>
              <a:rPr lang="it-IT" i="1" dirty="0">
                <a:latin typeface="Calibri"/>
                <a:ea typeface="Calibri"/>
                <a:cs typeface="Calibri"/>
                <a:sym typeface="Calibri"/>
              </a:rPr>
              <a:t>. 343</a:t>
            </a:r>
          </a:p>
        </p:txBody>
      </p:sp>
      <p:graphicFrame>
        <p:nvGraphicFramePr>
          <p:cNvPr id="2" name="Table 1"/>
          <p:cNvGraphicFramePr>
            <a:graphicFrameLocks noGrp="1"/>
          </p:cNvGraphicFramePr>
          <p:nvPr>
            <p:extLst>
              <p:ext uri="{D42A27DB-BD31-4B8C-83A1-F6EECF244321}">
                <p14:modId xmlns:p14="http://schemas.microsoft.com/office/powerpoint/2010/main" val="1334072159"/>
              </p:ext>
            </p:extLst>
          </p:nvPr>
        </p:nvGraphicFramePr>
        <p:xfrm>
          <a:off x="2152650" y="449452"/>
          <a:ext cx="8127892" cy="4096283"/>
        </p:xfrm>
        <a:graphic>
          <a:graphicData uri="http://schemas.openxmlformats.org/drawingml/2006/table">
            <a:tbl>
              <a:tblPr firstRow="1" firstCol="1" bandRow="1"/>
              <a:tblGrid>
                <a:gridCol w="4051838">
                  <a:extLst>
                    <a:ext uri="{9D8B030D-6E8A-4147-A177-3AD203B41FA5}">
                      <a16:colId xmlns:a16="http://schemas.microsoft.com/office/drawing/2014/main" val="20000"/>
                    </a:ext>
                  </a:extLst>
                </a:gridCol>
                <a:gridCol w="4076054">
                  <a:extLst>
                    <a:ext uri="{9D8B030D-6E8A-4147-A177-3AD203B41FA5}">
                      <a16:colId xmlns:a16="http://schemas.microsoft.com/office/drawing/2014/main" val="20001"/>
                    </a:ext>
                  </a:extLst>
                </a:gridCol>
              </a:tblGrid>
              <a:tr h="459006">
                <a:tc>
                  <a:txBody>
                    <a:bodyPr/>
                    <a:lstStyle/>
                    <a:p>
                      <a:pPr marL="0" marR="0" algn="ctr">
                        <a:spcBef>
                          <a:spcPts val="0"/>
                        </a:spcBef>
                        <a:spcAft>
                          <a:spcPts val="0"/>
                        </a:spcAft>
                      </a:pPr>
                      <a:r>
                        <a:rPr lang="en-US" sz="2000" b="1" dirty="0">
                          <a:effectLst/>
                          <a:latin typeface="Verdana" charset="0"/>
                        </a:rPr>
                        <a:t>Image C</a:t>
                      </a:r>
                      <a:endParaRPr lang="en-US" sz="2000" dirty="0">
                        <a:effectLst/>
                        <a:latin typeface="Cambria" charset="0"/>
                      </a:endParaRPr>
                    </a:p>
                  </a:txBody>
                  <a:tcPr marL="38762" marR="3876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000" b="1">
                          <a:effectLst/>
                          <a:latin typeface="Verdana" charset="0"/>
                        </a:rPr>
                        <a:t>Image D</a:t>
                      </a:r>
                      <a:endParaRPr lang="en-US" sz="2000">
                        <a:effectLst/>
                        <a:latin typeface="Cambria" charset="0"/>
                      </a:endParaRPr>
                    </a:p>
                  </a:txBody>
                  <a:tcPr marL="38762" marR="3876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extLst>
                  <a:ext uri="{0D108BD9-81ED-4DB2-BD59-A6C34878D82A}">
                    <a16:rowId xmlns:a16="http://schemas.microsoft.com/office/drawing/2014/main" val="10000"/>
                  </a:ext>
                </a:extLst>
              </a:tr>
              <a:tr h="3637277">
                <a:tc>
                  <a:txBody>
                    <a:bodyPr/>
                    <a:lstStyle/>
                    <a:p>
                      <a:pPr marL="0" marR="0" algn="ctr">
                        <a:spcBef>
                          <a:spcPts val="0"/>
                        </a:spcBef>
                        <a:spcAft>
                          <a:spcPts val="0"/>
                        </a:spcAft>
                      </a:pPr>
                      <a:endParaRPr lang="en-US" sz="2000">
                        <a:effectLst/>
                        <a:latin typeface="Verdana" charset="0"/>
                      </a:endParaRPr>
                    </a:p>
                  </a:txBody>
                  <a:tcPr marL="38762" marR="3876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endParaRPr lang="en-US" sz="2000" dirty="0">
                        <a:effectLst/>
                        <a:latin typeface="Verdana" charset="0"/>
                      </a:endParaRPr>
                    </a:p>
                  </a:txBody>
                  <a:tcPr marL="38762" marR="3876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bl>
          </a:graphicData>
        </a:graphic>
      </p:graphicFrame>
      <p:pic>
        <p:nvPicPr>
          <p:cNvPr id="7" name="Picture 32"/>
          <p:cNvPicPr>
            <a:picLocks noChangeAspect="1" noChangeArrowheads="1"/>
          </p:cNvPicPr>
          <p:nvPr/>
        </p:nvPicPr>
        <p:blipFill>
          <a:blip r:embed="rId4">
            <a:extLst>
              <a:ext uri="{28A0092B-C50C-407E-A947-70E740481C1C}">
                <a14:useLocalDpi xmlns:a14="http://schemas.microsoft.com/office/drawing/2010/main"/>
              </a:ext>
            </a:extLst>
          </a:blip>
          <a:srcRect/>
          <a:stretch>
            <a:fillRect/>
          </a:stretch>
        </p:blipFill>
        <p:spPr bwMode="auto">
          <a:xfrm>
            <a:off x="3093111" y="981763"/>
            <a:ext cx="2243468" cy="3470192"/>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33"/>
          <p:cNvPicPr>
            <a:picLocks noChangeAspect="1" noChangeArrowheads="1"/>
          </p:cNvPicPr>
          <p:nvPr/>
        </p:nvPicPr>
        <p:blipFill>
          <a:blip r:embed="rId5">
            <a:extLst>
              <a:ext uri="{28A0092B-C50C-407E-A947-70E740481C1C}">
                <a14:useLocalDpi xmlns:a14="http://schemas.microsoft.com/office/drawing/2010/main"/>
              </a:ext>
            </a:extLst>
          </a:blip>
          <a:srcRect/>
          <a:stretch>
            <a:fillRect/>
          </a:stretch>
        </p:blipFill>
        <p:spPr bwMode="auto">
          <a:xfrm>
            <a:off x="6424052" y="982446"/>
            <a:ext cx="3659921" cy="351679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9823303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8225"/>
            <a:ext cx="2731200" cy="6866100"/>
          </a:xfrm>
          <a:prstGeom prst="rect">
            <a:avLst/>
          </a:prstGeom>
          <a:solidFill>
            <a:srgbClr val="276C46"/>
          </a:solidFill>
          <a:ln w="9525" cap="flat" cmpd="sng">
            <a:solidFill>
              <a:srgbClr val="C9DF6F"/>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724"/>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5665258" y="2766145"/>
            <a:ext cx="5002742" cy="1325700"/>
          </a:xfrm>
          <a:prstGeom prst="rect">
            <a:avLst/>
          </a:prstGeom>
          <a:noFill/>
          <a:ln>
            <a:noFill/>
          </a:ln>
        </p:spPr>
        <p:txBody>
          <a:bodyPr spcFirstLastPara="1" wrap="square" lIns="91425" tIns="45700" rIns="91425" bIns="45700" anchor="ctr" anchorCtr="0">
            <a:normAutofit fontScale="90000"/>
          </a:bodyPr>
          <a:lstStyle/>
          <a:p>
            <a:pPr algn="ctr">
              <a:buClr>
                <a:schemeClr val="lt1"/>
              </a:buClr>
              <a:buSzPts val="4800"/>
            </a:pPr>
            <a:r>
              <a:rPr lang="en-US" sz="5500" b="1" dirty="0">
                <a:solidFill>
                  <a:srgbClr val="33BEA6"/>
                </a:solidFill>
                <a:latin typeface="Verdana"/>
                <a:ea typeface="Verdana"/>
                <a:cs typeface="Verdana"/>
                <a:sym typeface="Verdana"/>
              </a:rPr>
              <a:t>Collaboration</a:t>
            </a:r>
            <a:endParaRPr sz="5100" b="1" dirty="0">
              <a:solidFill>
                <a:srgbClr val="33BEA6"/>
              </a:solidFill>
              <a:latin typeface="Verdana"/>
              <a:ea typeface="Verdana"/>
              <a:cs typeface="Verdana"/>
              <a:sym typeface="Verdana"/>
            </a:endParaRPr>
          </a:p>
        </p:txBody>
      </p:sp>
      <p:sp>
        <p:nvSpPr>
          <p:cNvPr id="7" name="Google Shape;282;g104476d1465_1_17">
            <a:extLst>
              <a:ext uri="{FF2B5EF4-FFF2-40B4-BE49-F238E27FC236}">
                <a16:creationId xmlns:a16="http://schemas.microsoft.com/office/drawing/2014/main" id="{B595484E-1C62-AC4F-B448-37E60F77A8C0}"/>
              </a:ext>
            </a:extLst>
          </p:cNvPr>
          <p:cNvSpPr txBox="1"/>
          <p:nvPr/>
        </p:nvSpPr>
        <p:spPr>
          <a:xfrm>
            <a:off x="8994150" y="6457675"/>
            <a:ext cx="2634000" cy="400200"/>
          </a:xfrm>
          <a:prstGeom prst="rect">
            <a:avLst/>
          </a:prstGeom>
          <a:noFill/>
          <a:ln>
            <a:noFill/>
          </a:ln>
        </p:spPr>
        <p:txBody>
          <a:bodyPr spcFirstLastPara="1" wrap="square" lIns="91425" tIns="91425" rIns="91425" bIns="91425" anchor="t" anchorCtr="0">
            <a:spAutoFit/>
          </a:bodyPr>
          <a:lstStyle/>
          <a:p>
            <a:pPr lvl="0" algn="r"/>
            <a:r>
              <a:rPr lang="it-IT" i="1" dirty="0">
                <a:latin typeface="Calibri"/>
                <a:ea typeface="Calibri"/>
                <a:cs typeface="Calibri"/>
                <a:sym typeface="Calibri"/>
              </a:rPr>
              <a:t>volume 1, </a:t>
            </a:r>
            <a:r>
              <a:rPr lang="it-IT" i="1" dirty="0" err="1">
                <a:latin typeface="Calibri"/>
                <a:ea typeface="Calibri"/>
                <a:cs typeface="Calibri"/>
                <a:sym typeface="Calibri"/>
              </a:rPr>
              <a:t>pg</a:t>
            </a:r>
            <a:r>
              <a:rPr lang="it-IT" i="1" dirty="0">
                <a:latin typeface="Calibri"/>
                <a:ea typeface="Calibri"/>
                <a:cs typeface="Calibri"/>
                <a:sym typeface="Calibri"/>
              </a:rPr>
              <a:t>. 344</a:t>
            </a:r>
          </a:p>
        </p:txBody>
      </p:sp>
      <p:pic>
        <p:nvPicPr>
          <p:cNvPr id="3074" name="Picture 2">
            <a:extLst>
              <a:ext uri="{FF2B5EF4-FFF2-40B4-BE49-F238E27FC236}">
                <a16:creationId xmlns:a16="http://schemas.microsoft.com/office/drawing/2014/main" id="{D0821C8B-4657-A74D-94B5-D6CF373A1741}"/>
              </a:ext>
            </a:extLst>
          </p:cNvPr>
          <p:cNvPicPr>
            <a:picLocks noChangeAspect="1" noChangeArrowheads="1"/>
          </p:cNvPicPr>
          <p:nvPr/>
        </p:nvPicPr>
        <p:blipFill>
          <a:blip r:embed="rId4">
            <a:extLst>
              <a:ext uri="{28A0092B-C50C-407E-A947-70E740481C1C}">
                <a14:useLocalDpi xmlns:a14="http://schemas.microsoft.com/office/drawing/2010/main"/>
              </a:ext>
            </a:extLst>
          </a:blip>
          <a:srcRect/>
          <a:stretch>
            <a:fillRect/>
          </a:stretch>
        </p:blipFill>
        <p:spPr bwMode="auto">
          <a:xfrm>
            <a:off x="4513114" y="2852923"/>
            <a:ext cx="1152144" cy="1152144"/>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6078870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276C46"/>
          </a:solidFill>
          <a:ln w="9525" cap="flat" cmpd="sng">
            <a:solidFill>
              <a:srgbClr val="276C46"/>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599"/>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324;g103996e1364_0_25">
            <a:extLst>
              <a:ext uri="{FF2B5EF4-FFF2-40B4-BE49-F238E27FC236}">
                <a16:creationId xmlns:a16="http://schemas.microsoft.com/office/drawing/2014/main" id="{DB5796CA-12EB-BB4C-8338-B127D750A026}"/>
              </a:ext>
            </a:extLst>
          </p:cNvPr>
          <p:cNvSpPr txBox="1">
            <a:spLocks/>
          </p:cNvSpPr>
          <p:nvPr/>
        </p:nvSpPr>
        <p:spPr>
          <a:xfrm>
            <a:off x="1141824" y="-8225"/>
            <a:ext cx="80193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33BEA6"/>
                </a:solidFill>
                <a:latin typeface="Verdana"/>
                <a:ea typeface="Verdana"/>
                <a:cs typeface="Verdana"/>
                <a:sym typeface="Verdana"/>
              </a:rPr>
              <a:t>6.H3.2 Collaboration: Justifying Similarity</a:t>
            </a:r>
          </a:p>
        </p:txBody>
      </p:sp>
      <p:sp>
        <p:nvSpPr>
          <p:cNvPr id="15" name="Google Shape;282;g104476d1465_1_17">
            <a:extLst>
              <a:ext uri="{FF2B5EF4-FFF2-40B4-BE49-F238E27FC236}">
                <a16:creationId xmlns:a16="http://schemas.microsoft.com/office/drawing/2014/main" id="{5B627696-920F-B441-B5C1-01510F09761A}"/>
              </a:ext>
            </a:extLst>
          </p:cNvPr>
          <p:cNvSpPr txBox="1"/>
          <p:nvPr/>
        </p:nvSpPr>
        <p:spPr>
          <a:xfrm>
            <a:off x="8994150" y="6457800"/>
            <a:ext cx="2634000" cy="400200"/>
          </a:xfrm>
          <a:prstGeom prst="rect">
            <a:avLst/>
          </a:prstGeom>
          <a:noFill/>
          <a:ln>
            <a:noFill/>
          </a:ln>
        </p:spPr>
        <p:txBody>
          <a:bodyPr spcFirstLastPara="1" wrap="square" lIns="91425" tIns="91425" rIns="91425" bIns="91425" anchor="t" anchorCtr="0">
            <a:spAutoFit/>
          </a:bodyPr>
          <a:lstStyle/>
          <a:p>
            <a:pPr lvl="0" algn="r"/>
            <a:r>
              <a:rPr lang="it-IT" i="1" dirty="0">
                <a:latin typeface="Calibri"/>
                <a:ea typeface="Calibri"/>
                <a:cs typeface="Calibri"/>
                <a:sym typeface="Calibri"/>
              </a:rPr>
              <a:t>volume 1, </a:t>
            </a:r>
            <a:r>
              <a:rPr lang="it-IT" i="1" dirty="0" err="1">
                <a:latin typeface="Calibri"/>
                <a:ea typeface="Calibri"/>
                <a:cs typeface="Calibri"/>
                <a:sym typeface="Calibri"/>
              </a:rPr>
              <a:t>pg</a:t>
            </a:r>
            <a:r>
              <a:rPr lang="it-IT" i="1" dirty="0">
                <a:latin typeface="Calibri"/>
                <a:ea typeface="Calibri"/>
                <a:cs typeface="Calibri"/>
                <a:sym typeface="Calibri"/>
              </a:rPr>
              <a:t>. 344</a:t>
            </a:r>
          </a:p>
        </p:txBody>
      </p:sp>
      <p:pic>
        <p:nvPicPr>
          <p:cNvPr id="9" name="Picture 2">
            <a:extLst>
              <a:ext uri="{FF2B5EF4-FFF2-40B4-BE49-F238E27FC236}">
                <a16:creationId xmlns:a16="http://schemas.microsoft.com/office/drawing/2014/main" id="{A80EBD0F-404F-0B4B-AC09-DA5A6DF6026E}"/>
              </a:ext>
            </a:extLst>
          </p:cNvPr>
          <p:cNvPicPr>
            <a:picLocks noChangeAspect="1" noChangeArrowheads="1"/>
          </p:cNvPicPr>
          <p:nvPr/>
        </p:nvPicPr>
        <p:blipFill>
          <a:blip r:embed="rId4" cstate="screen">
            <a:extLst>
              <a:ext uri="{28A0092B-C50C-407E-A947-70E740481C1C}">
                <a14:useLocalDpi xmlns:a14="http://schemas.microsoft.com/office/drawing/2010/main"/>
              </a:ext>
            </a:extLst>
          </a:blip>
          <a:srcRect/>
          <a:stretch>
            <a:fillRect/>
          </a:stretch>
        </p:blipFill>
        <p:spPr bwMode="auto">
          <a:xfrm>
            <a:off x="392016" y="195871"/>
            <a:ext cx="749808" cy="749808"/>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E44DF7DE-9172-3E4E-B74A-7A51585FB6EA}"/>
                  </a:ext>
                </a:extLst>
              </p:cNvPr>
              <p:cNvSpPr txBox="1"/>
              <p:nvPr/>
            </p:nvSpPr>
            <p:spPr>
              <a:xfrm>
                <a:off x="392016" y="1386025"/>
                <a:ext cx="9995568" cy="400110"/>
              </a:xfrm>
              <a:prstGeom prst="rect">
                <a:avLst/>
              </a:prstGeom>
              <a:noFill/>
            </p:spPr>
            <p:txBody>
              <a:bodyPr wrap="square" rtlCol="0">
                <a:spAutoFit/>
              </a:bodyPr>
              <a:lstStyle/>
              <a:p>
                <a:pPr marL="457200" indent="-457200">
                  <a:buFont typeface="+mj-lt"/>
                  <a:buAutoNum type="arabicPeriod"/>
                </a:pPr>
                <a14:m>
                  <m:oMath xmlns:m="http://schemas.openxmlformats.org/officeDocument/2006/math">
                    <m:r>
                      <a:rPr lang="en-US" sz="2000" i="1">
                        <a:latin typeface="Cambria Math" panose="02040503050406030204" pitchFamily="18" charset="0"/>
                        <a:ea typeface="Verdana" charset="0"/>
                        <a:cs typeface="Verdana" charset="0"/>
                      </a:rPr>
                      <m:t>∆</m:t>
                    </m:r>
                    <m:r>
                      <a:rPr lang="en-US" sz="2000" i="1">
                        <a:latin typeface="Cambria Math" panose="02040503050406030204" pitchFamily="18" charset="0"/>
                        <a:ea typeface="Verdana" charset="0"/>
                        <a:cs typeface="Verdana" charset="0"/>
                      </a:rPr>
                      <m:t>𝑃𝑊𝐶</m:t>
                    </m:r>
                  </m:oMath>
                </a14:m>
                <a:r>
                  <a:rPr lang="en-US" sz="2000" dirty="0">
                    <a:latin typeface="Verdana" charset="0"/>
                    <a:ea typeface="Verdana" charset="0"/>
                    <a:cs typeface="Verdana" charset="0"/>
                  </a:rPr>
                  <a:t> and </a:t>
                </a:r>
                <a14:m>
                  <m:oMath xmlns:m="http://schemas.openxmlformats.org/officeDocument/2006/math">
                    <m:r>
                      <a:rPr lang="en-US" sz="2000" i="1">
                        <a:latin typeface="Cambria Math" panose="02040503050406030204" pitchFamily="18" charset="0"/>
                        <a:ea typeface="Verdana" charset="0"/>
                        <a:cs typeface="Verdana" charset="0"/>
                      </a:rPr>
                      <m:t>∆</m:t>
                    </m:r>
                    <m:r>
                      <a:rPr lang="en-US" sz="2000" i="1">
                        <a:latin typeface="Cambria Math" panose="02040503050406030204" pitchFamily="18" charset="0"/>
                        <a:ea typeface="Verdana" charset="0"/>
                        <a:cs typeface="Verdana" charset="0"/>
                      </a:rPr>
                      <m:t>𝑅𝑇𝐺</m:t>
                    </m:r>
                  </m:oMath>
                </a14:m>
                <a:r>
                  <a:rPr lang="en-US" sz="2000" dirty="0">
                    <a:latin typeface="Verdana" charset="0"/>
                    <a:ea typeface="Verdana" charset="0"/>
                    <a:cs typeface="Verdana" charset="0"/>
                  </a:rPr>
                  <a:t> are shown. </a:t>
                </a:r>
              </a:p>
            </p:txBody>
          </p:sp>
        </mc:Choice>
        <mc:Fallback xmlns="">
          <p:sp>
            <p:nvSpPr>
              <p:cNvPr id="10" name="TextBox 9">
                <a:extLst>
                  <a:ext uri="{FF2B5EF4-FFF2-40B4-BE49-F238E27FC236}">
                    <a16:creationId xmlns:a16="http://schemas.microsoft.com/office/drawing/2014/main" id="{E44DF7DE-9172-3E4E-B74A-7A51585FB6EA}"/>
                  </a:ext>
                </a:extLst>
              </p:cNvPr>
              <p:cNvSpPr txBox="1">
                <a:spLocks noRot="1" noChangeAspect="1" noMove="1" noResize="1" noEditPoints="1" noAdjustHandles="1" noChangeArrowheads="1" noChangeShapeType="1" noTextEdit="1"/>
              </p:cNvSpPr>
              <p:nvPr/>
            </p:nvSpPr>
            <p:spPr>
              <a:xfrm>
                <a:off x="392016" y="1386025"/>
                <a:ext cx="9995568" cy="400110"/>
              </a:xfrm>
              <a:prstGeom prst="rect">
                <a:avLst/>
              </a:prstGeom>
              <a:blipFill>
                <a:blip r:embed="rId5"/>
                <a:stretch>
                  <a:fillRect l="-381" t="-6061" b="-24242"/>
                </a:stretch>
              </a:blipFill>
            </p:spPr>
            <p:txBody>
              <a:bodyPr/>
              <a:lstStyle/>
              <a:p>
                <a:r>
                  <a:rPr lang="en-US">
                    <a:noFill/>
                  </a:rPr>
                  <a:t> </a:t>
                </a:r>
              </a:p>
            </p:txBody>
          </p:sp>
        </mc:Fallback>
      </mc:AlternateContent>
      <p:pic>
        <p:nvPicPr>
          <p:cNvPr id="2" name="Picture 1"/>
          <p:cNvPicPr>
            <a:picLocks noChangeAspect="1"/>
          </p:cNvPicPr>
          <p:nvPr/>
        </p:nvPicPr>
        <p:blipFill>
          <a:blip r:embed="rId6">
            <a:extLst>
              <a:ext uri="{28A0092B-C50C-407E-A947-70E740481C1C}">
                <a14:useLocalDpi xmlns:a14="http://schemas.microsoft.com/office/drawing/2010/main"/>
              </a:ext>
            </a:extLst>
          </a:blip>
          <a:stretch>
            <a:fillRect/>
          </a:stretch>
        </p:blipFill>
        <p:spPr>
          <a:xfrm>
            <a:off x="2144946" y="1917365"/>
            <a:ext cx="7562541" cy="4540310"/>
          </a:xfrm>
          <a:prstGeom prst="rect">
            <a:avLst/>
          </a:prstGeom>
        </p:spPr>
      </p:pic>
    </p:spTree>
    <p:extLst>
      <p:ext uri="{BB962C8B-B14F-4D97-AF65-F5344CB8AC3E}">
        <p14:creationId xmlns:p14="http://schemas.microsoft.com/office/powerpoint/2010/main" val="167443704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276C46"/>
          </a:solidFill>
          <a:ln w="9525" cap="flat" cmpd="sng">
            <a:solidFill>
              <a:srgbClr val="276C46"/>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599"/>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9017901" y="6457675"/>
            <a:ext cx="2634000" cy="400200"/>
          </a:xfrm>
          <a:prstGeom prst="rect">
            <a:avLst/>
          </a:prstGeom>
          <a:noFill/>
          <a:ln>
            <a:noFill/>
          </a:ln>
        </p:spPr>
        <p:txBody>
          <a:bodyPr spcFirstLastPara="1" wrap="square" lIns="91425" tIns="91425" rIns="91425" bIns="91425" anchor="t" anchorCtr="0">
            <a:spAutoFit/>
          </a:bodyPr>
          <a:lstStyle/>
          <a:p>
            <a:pPr lvl="0" algn="r"/>
            <a:r>
              <a:rPr lang="it-IT" i="1" dirty="0">
                <a:latin typeface="Calibri"/>
                <a:ea typeface="Calibri"/>
                <a:cs typeface="Calibri"/>
                <a:sym typeface="Calibri"/>
              </a:rPr>
              <a:t>volume 1, </a:t>
            </a:r>
            <a:r>
              <a:rPr lang="it-IT" i="1" dirty="0" err="1">
                <a:latin typeface="Calibri"/>
                <a:ea typeface="Calibri"/>
                <a:cs typeface="Calibri"/>
                <a:sym typeface="Calibri"/>
              </a:rPr>
              <a:t>pg</a:t>
            </a:r>
            <a:r>
              <a:rPr lang="it-IT" i="1" dirty="0">
                <a:latin typeface="Calibri"/>
                <a:ea typeface="Calibri"/>
                <a:cs typeface="Calibri"/>
                <a:sym typeface="Calibri"/>
              </a:rPr>
              <a:t>. 344</a:t>
            </a:r>
          </a:p>
        </p:txBody>
      </p: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2FA392D8-3ED3-7940-83A8-1451AA8A08D4}"/>
                  </a:ext>
                </a:extLst>
              </p:cNvPr>
              <p:cNvSpPr txBox="1"/>
              <p:nvPr/>
            </p:nvSpPr>
            <p:spPr>
              <a:xfrm>
                <a:off x="457200" y="520394"/>
                <a:ext cx="9877701" cy="4093428"/>
              </a:xfrm>
              <a:prstGeom prst="rect">
                <a:avLst/>
              </a:prstGeom>
              <a:noFill/>
            </p:spPr>
            <p:txBody>
              <a:bodyPr wrap="square" rtlCol="0">
                <a:spAutoFit/>
              </a:bodyPr>
              <a:lstStyle/>
              <a:p>
                <a:pPr marL="457200" indent="-457200">
                  <a:buFont typeface="+mj-lt"/>
                  <a:buAutoNum type="alphaLcPeriod"/>
                </a:pPr>
                <a:r>
                  <a:rPr lang="en-US" sz="2000" dirty="0">
                    <a:latin typeface="Verdana" charset="0"/>
                    <a:ea typeface="Verdana" charset="0"/>
                    <a:cs typeface="Verdana" charset="0"/>
                  </a:rPr>
                  <a:t>What do you notice about the two triangles?</a:t>
                </a:r>
              </a:p>
              <a:p>
                <a:pPr marL="457200" indent="-457200">
                  <a:buFont typeface="+mj-lt"/>
                  <a:buAutoNum type="alphaLcPeriod"/>
                </a:pPr>
                <a:endParaRPr lang="en-US" sz="2000" dirty="0">
                  <a:latin typeface="Verdana" charset="0"/>
                  <a:ea typeface="Verdana" charset="0"/>
                  <a:cs typeface="Verdana" charset="0"/>
                </a:endParaRPr>
              </a:p>
              <a:p>
                <a:pPr marL="457200" indent="-457200">
                  <a:buFont typeface="+mj-lt"/>
                  <a:buAutoNum type="alphaLcPeriod"/>
                </a:pPr>
                <a:endParaRPr lang="en-US" sz="2000" dirty="0">
                  <a:latin typeface="Verdana" charset="0"/>
                  <a:ea typeface="Verdana" charset="0"/>
                  <a:cs typeface="Verdana" charset="0"/>
                </a:endParaRPr>
              </a:p>
              <a:p>
                <a:pPr marL="457200" indent="-457200">
                  <a:buFont typeface="+mj-lt"/>
                  <a:buAutoNum type="alphaLcPeriod"/>
                </a:pPr>
                <a:endParaRPr lang="en-US" sz="2000" dirty="0">
                  <a:latin typeface="Verdana" charset="0"/>
                  <a:ea typeface="Verdana" charset="0"/>
                  <a:cs typeface="Verdana" charset="0"/>
                </a:endParaRPr>
              </a:p>
              <a:p>
                <a:pPr marL="457200" indent="-457200">
                  <a:buFont typeface="+mj-lt"/>
                  <a:buAutoNum type="alphaLcPeriod"/>
                </a:pPr>
                <a:endParaRPr lang="en-US" sz="2000" dirty="0">
                  <a:latin typeface="Verdana" charset="0"/>
                  <a:ea typeface="Verdana" charset="0"/>
                  <a:cs typeface="Verdana" charset="0"/>
                </a:endParaRPr>
              </a:p>
              <a:p>
                <a:pPr marL="457200" indent="-457200">
                  <a:buFont typeface="+mj-lt"/>
                  <a:buAutoNum type="alphaLcPeriod"/>
                </a:pPr>
                <a:endParaRPr lang="en-US" sz="2000" dirty="0">
                  <a:latin typeface="Verdana" charset="0"/>
                  <a:ea typeface="Verdana" charset="0"/>
                  <a:cs typeface="Verdana" charset="0"/>
                </a:endParaRPr>
              </a:p>
              <a:p>
                <a:pPr marL="457200" indent="-457200">
                  <a:buFont typeface="+mj-lt"/>
                  <a:buAutoNum type="alphaLcPeriod"/>
                </a:pPr>
                <a:r>
                  <a:rPr lang="en-US" sz="2000" dirty="0">
                    <a:latin typeface="Verdana" charset="0"/>
                    <a:ea typeface="Verdana" charset="0"/>
                    <a:cs typeface="Verdana" charset="0"/>
                  </a:rPr>
                  <a:t>What transformations can be applied so that </a:t>
                </a:r>
                <a14:m>
                  <m:oMath xmlns:m="http://schemas.openxmlformats.org/officeDocument/2006/math">
                    <m:r>
                      <a:rPr lang="en-US" sz="2000" i="1">
                        <a:latin typeface="Cambria Math" charset="0"/>
                        <a:ea typeface="Verdana" charset="0"/>
                        <a:cs typeface="Verdana" charset="0"/>
                      </a:rPr>
                      <m:t>∆</m:t>
                    </m:r>
                    <m:r>
                      <a:rPr lang="en-US" sz="2000" i="1">
                        <a:latin typeface="Cambria Math" charset="0"/>
                        <a:ea typeface="Verdana" charset="0"/>
                        <a:cs typeface="Verdana" charset="0"/>
                      </a:rPr>
                      <m:t>𝑊𝑃𝐶</m:t>
                    </m:r>
                  </m:oMath>
                </a14:m>
                <a:r>
                  <a:rPr lang="en-US" sz="2000" dirty="0">
                    <a:latin typeface="Verdana" charset="0"/>
                    <a:ea typeface="Verdana" charset="0"/>
                    <a:cs typeface="Verdana" charset="0"/>
                  </a:rPr>
                  <a:t> is mapped to </a:t>
                </a:r>
                <a14:m>
                  <m:oMath xmlns:m="http://schemas.openxmlformats.org/officeDocument/2006/math">
                    <m:r>
                      <a:rPr lang="en-US" sz="2000" i="1">
                        <a:latin typeface="Cambria Math" charset="0"/>
                        <a:ea typeface="Verdana" charset="0"/>
                        <a:cs typeface="Verdana" charset="0"/>
                      </a:rPr>
                      <m:t>∆</m:t>
                    </m:r>
                    <m:r>
                      <a:rPr lang="en-US" sz="2000" i="1">
                        <a:latin typeface="Cambria Math" charset="0"/>
                        <a:ea typeface="Verdana" charset="0"/>
                        <a:cs typeface="Verdana" charset="0"/>
                      </a:rPr>
                      <m:t>𝑇𝑅𝐺</m:t>
                    </m:r>
                  </m:oMath>
                </a14:m>
                <a:r>
                  <a:rPr lang="en-US" sz="2000" dirty="0">
                    <a:latin typeface="Verdana" charset="0"/>
                    <a:ea typeface="Verdana" charset="0"/>
                    <a:cs typeface="Verdana" charset="0"/>
                  </a:rPr>
                  <a:t>?</a:t>
                </a:r>
              </a:p>
              <a:p>
                <a:pPr marL="457200" indent="-457200">
                  <a:buFont typeface="+mj-lt"/>
                  <a:buAutoNum type="alphaLcPeriod"/>
                </a:pPr>
                <a:endParaRPr lang="en-US" sz="2000" dirty="0">
                  <a:latin typeface="Verdana" charset="0"/>
                  <a:ea typeface="Verdana" charset="0"/>
                  <a:cs typeface="Verdana" charset="0"/>
                </a:endParaRPr>
              </a:p>
              <a:p>
                <a:pPr marL="457200" indent="-457200">
                  <a:buFont typeface="+mj-lt"/>
                  <a:buAutoNum type="alphaLcPeriod"/>
                </a:pPr>
                <a:endParaRPr lang="en-US" sz="2000" dirty="0">
                  <a:latin typeface="Verdana" charset="0"/>
                  <a:ea typeface="Verdana" charset="0"/>
                  <a:cs typeface="Verdana" charset="0"/>
                </a:endParaRPr>
              </a:p>
              <a:p>
                <a:pPr marL="457200" indent="-457200">
                  <a:buFont typeface="+mj-lt"/>
                  <a:buAutoNum type="alphaLcPeriod"/>
                </a:pPr>
                <a:endParaRPr lang="en-US" sz="2000" dirty="0">
                  <a:latin typeface="Verdana" charset="0"/>
                  <a:ea typeface="Verdana" charset="0"/>
                  <a:cs typeface="Verdana" charset="0"/>
                </a:endParaRPr>
              </a:p>
              <a:p>
                <a:pPr marL="457200" indent="-457200">
                  <a:buFont typeface="+mj-lt"/>
                  <a:buAutoNum type="alphaLcPeriod"/>
                </a:pPr>
                <a:endParaRPr lang="en-US" sz="2000" dirty="0">
                  <a:latin typeface="Verdana" charset="0"/>
                  <a:ea typeface="Verdana" charset="0"/>
                  <a:cs typeface="Verdana" charset="0"/>
                </a:endParaRPr>
              </a:p>
              <a:p>
                <a:pPr marL="457200" indent="-457200">
                  <a:buFont typeface="+mj-lt"/>
                  <a:buAutoNum type="alphaLcPeriod"/>
                </a:pPr>
                <a:endParaRPr lang="en-US" sz="2000" dirty="0">
                  <a:latin typeface="Verdana" charset="0"/>
                  <a:ea typeface="Verdana" charset="0"/>
                  <a:cs typeface="Verdana" charset="0"/>
                </a:endParaRPr>
              </a:p>
              <a:p>
                <a:pPr marL="457200" indent="-457200">
                  <a:buFont typeface="+mj-lt"/>
                  <a:buAutoNum type="alphaLcPeriod"/>
                </a:pPr>
                <a:r>
                  <a:rPr lang="en-US" sz="2000" dirty="0">
                    <a:latin typeface="Verdana" charset="0"/>
                    <a:ea typeface="Verdana" charset="0"/>
                    <a:cs typeface="Verdana" charset="0"/>
                  </a:rPr>
                  <a:t>What can you conclude from the transformations?</a:t>
                </a:r>
              </a:p>
            </p:txBody>
          </p:sp>
        </mc:Choice>
        <mc:Fallback xmlns="">
          <p:sp>
            <p:nvSpPr>
              <p:cNvPr id="14" name="TextBox 13">
                <a:extLst>
                  <a:ext uri="{FF2B5EF4-FFF2-40B4-BE49-F238E27FC236}">
                    <a16:creationId xmlns:a16="http://schemas.microsoft.com/office/drawing/2014/main" id="{2FA392D8-3ED3-7940-83A8-1451AA8A08D4}"/>
                  </a:ext>
                </a:extLst>
              </p:cNvPr>
              <p:cNvSpPr txBox="1">
                <a:spLocks noRot="1" noChangeAspect="1" noMove="1" noResize="1" noEditPoints="1" noAdjustHandles="1" noChangeArrowheads="1" noChangeShapeType="1" noTextEdit="1"/>
              </p:cNvSpPr>
              <p:nvPr/>
            </p:nvSpPr>
            <p:spPr>
              <a:xfrm>
                <a:off x="457200" y="520394"/>
                <a:ext cx="9877701" cy="4093428"/>
              </a:xfrm>
              <a:prstGeom prst="rect">
                <a:avLst/>
              </a:prstGeom>
              <a:blipFill>
                <a:blip r:embed="rId4"/>
                <a:stretch>
                  <a:fillRect l="-643" t="-617" b="-1543"/>
                </a:stretch>
              </a:blipFill>
            </p:spPr>
            <p:txBody>
              <a:bodyPr/>
              <a:lstStyle/>
              <a:p>
                <a:r>
                  <a:rPr lang="en-US">
                    <a:noFill/>
                  </a:rPr>
                  <a:t> </a:t>
                </a:r>
              </a:p>
            </p:txBody>
          </p:sp>
        </mc:Fallback>
      </mc:AlternateContent>
    </p:spTree>
    <p:extLst>
      <p:ext uri="{BB962C8B-B14F-4D97-AF65-F5344CB8AC3E}">
        <p14:creationId xmlns:p14="http://schemas.microsoft.com/office/powerpoint/2010/main" val="313484167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25723" y="-8225"/>
            <a:ext cx="223200" cy="6866100"/>
          </a:xfrm>
          <a:prstGeom prst="rect">
            <a:avLst/>
          </a:prstGeom>
          <a:solidFill>
            <a:srgbClr val="276C46"/>
          </a:solidFill>
          <a:ln w="9525" cap="flat" cmpd="sng">
            <a:solidFill>
              <a:srgbClr val="276C46"/>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02427" y="6210707"/>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968427" y="6457675"/>
            <a:ext cx="2634000" cy="400200"/>
          </a:xfrm>
          <a:prstGeom prst="rect">
            <a:avLst/>
          </a:prstGeom>
          <a:noFill/>
          <a:ln>
            <a:noFill/>
          </a:ln>
        </p:spPr>
        <p:txBody>
          <a:bodyPr spcFirstLastPara="1" wrap="square" lIns="91425" tIns="91425" rIns="91425" bIns="91425" anchor="t" anchorCtr="0">
            <a:spAutoFit/>
          </a:bodyPr>
          <a:lstStyle/>
          <a:p>
            <a:pPr lvl="0" algn="r"/>
            <a:r>
              <a:rPr lang="it-IT" i="1" dirty="0">
                <a:latin typeface="Calibri"/>
                <a:ea typeface="Calibri"/>
                <a:cs typeface="Calibri"/>
                <a:sym typeface="Calibri"/>
              </a:rPr>
              <a:t>volume 1, </a:t>
            </a:r>
            <a:r>
              <a:rPr lang="it-IT" i="1" dirty="0" err="1">
                <a:latin typeface="Calibri"/>
                <a:ea typeface="Calibri"/>
                <a:cs typeface="Calibri"/>
                <a:sym typeface="Calibri"/>
              </a:rPr>
              <a:t>pg</a:t>
            </a:r>
            <a:r>
              <a:rPr lang="it-IT" i="1" dirty="0">
                <a:latin typeface="Calibri"/>
                <a:ea typeface="Calibri"/>
                <a:cs typeface="Calibri"/>
                <a:sym typeface="Calibri"/>
              </a:rPr>
              <a:t>. 344</a:t>
            </a:r>
          </a:p>
        </p:txBody>
      </p: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2FA392D8-3ED3-7940-83A8-1451AA8A08D4}"/>
                  </a:ext>
                </a:extLst>
              </p:cNvPr>
              <p:cNvSpPr txBox="1"/>
              <p:nvPr/>
            </p:nvSpPr>
            <p:spPr>
              <a:xfrm>
                <a:off x="445476" y="520394"/>
                <a:ext cx="11418277" cy="707886"/>
              </a:xfrm>
              <a:prstGeom prst="rect">
                <a:avLst/>
              </a:prstGeom>
              <a:noFill/>
            </p:spPr>
            <p:txBody>
              <a:bodyPr wrap="square" rtlCol="0">
                <a:spAutoFit/>
              </a:bodyPr>
              <a:lstStyle/>
              <a:p>
                <a:r>
                  <a:rPr lang="en-US" sz="2000" dirty="0" err="1">
                    <a:latin typeface="Verdana" charset="0"/>
                    <a:ea typeface="Verdana" charset="0"/>
                    <a:cs typeface="Verdana" charset="0"/>
                  </a:rPr>
                  <a:t>Omario’s</a:t>
                </a:r>
                <a:r>
                  <a:rPr lang="en-US" sz="2000" dirty="0">
                    <a:latin typeface="Verdana" charset="0"/>
                    <a:ea typeface="Verdana" charset="0"/>
                    <a:cs typeface="Verdana" charset="0"/>
                  </a:rPr>
                  <a:t> and Ernest’s answers to the question “If </a:t>
                </a:r>
                <a14:m>
                  <m:oMath xmlns:m="http://schemas.openxmlformats.org/officeDocument/2006/math">
                    <m:r>
                      <a:rPr lang="en-US" sz="2000" i="1">
                        <a:latin typeface="Cambria Math" charset="0"/>
                        <a:ea typeface="Verdana" charset="0"/>
                        <a:cs typeface="Verdana" charset="0"/>
                      </a:rPr>
                      <m:t>∆</m:t>
                    </m:r>
                    <m:r>
                      <a:rPr lang="en-US" sz="2000" i="1">
                        <a:latin typeface="Cambria Math" charset="0"/>
                        <a:ea typeface="Verdana" charset="0"/>
                        <a:cs typeface="Verdana" charset="0"/>
                      </a:rPr>
                      <m:t>𝑃𝑊𝐶</m:t>
                    </m:r>
                  </m:oMath>
                </a14:m>
                <a:r>
                  <a:rPr lang="en-US" sz="2000" dirty="0">
                    <a:latin typeface="Verdana" charset="0"/>
                    <a:ea typeface="Verdana" charset="0"/>
                    <a:cs typeface="Verdana" charset="0"/>
                  </a:rPr>
                  <a:t> and </a:t>
                </a:r>
                <a14:m>
                  <m:oMath xmlns:m="http://schemas.openxmlformats.org/officeDocument/2006/math">
                    <m:r>
                      <a:rPr lang="en-US" sz="2000" i="1">
                        <a:latin typeface="Cambria Math" charset="0"/>
                        <a:ea typeface="Verdana" charset="0"/>
                        <a:cs typeface="Verdana" charset="0"/>
                      </a:rPr>
                      <m:t>∆</m:t>
                    </m:r>
                    <m:r>
                      <a:rPr lang="en-US" sz="2000" i="1">
                        <a:latin typeface="Cambria Math" charset="0"/>
                        <a:ea typeface="Verdana" charset="0"/>
                        <a:cs typeface="Verdana" charset="0"/>
                      </a:rPr>
                      <m:t>𝑅𝑇𝐺</m:t>
                    </m:r>
                  </m:oMath>
                </a14:m>
                <a:r>
                  <a:rPr lang="en-US" sz="2000" dirty="0">
                    <a:latin typeface="Verdana" charset="0"/>
                    <a:ea typeface="Verdana" charset="0"/>
                    <a:cs typeface="Verdana" charset="0"/>
                  </a:rPr>
                  <a:t> are similar by angle-angle similarity, what information would need to be given?” are shown. </a:t>
                </a:r>
              </a:p>
            </p:txBody>
          </p:sp>
        </mc:Choice>
        <mc:Fallback xmlns="">
          <p:sp>
            <p:nvSpPr>
              <p:cNvPr id="14" name="TextBox 13">
                <a:extLst>
                  <a:ext uri="{FF2B5EF4-FFF2-40B4-BE49-F238E27FC236}">
                    <a16:creationId xmlns:a16="http://schemas.microsoft.com/office/drawing/2014/main" id="{2FA392D8-3ED3-7940-83A8-1451AA8A08D4}"/>
                  </a:ext>
                </a:extLst>
              </p:cNvPr>
              <p:cNvSpPr txBox="1">
                <a:spLocks noRot="1" noChangeAspect="1" noMove="1" noResize="1" noEditPoints="1" noAdjustHandles="1" noChangeArrowheads="1" noChangeShapeType="1" noTextEdit="1"/>
              </p:cNvSpPr>
              <p:nvPr/>
            </p:nvSpPr>
            <p:spPr>
              <a:xfrm>
                <a:off x="445476" y="520394"/>
                <a:ext cx="11418277" cy="707886"/>
              </a:xfrm>
              <a:prstGeom prst="rect">
                <a:avLst/>
              </a:prstGeom>
              <a:blipFill>
                <a:blip r:embed="rId4"/>
                <a:stretch>
                  <a:fillRect l="-556" t="-3509" b="-1403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graphicFrame>
            <p:nvGraphicFramePr>
              <p:cNvPr id="2" name="Table 1"/>
              <p:cNvGraphicFramePr>
                <a:graphicFrameLocks noGrp="1"/>
              </p:cNvGraphicFramePr>
              <p:nvPr>
                <p:extLst>
                  <p:ext uri="{D42A27DB-BD31-4B8C-83A1-F6EECF244321}">
                    <p14:modId xmlns:p14="http://schemas.microsoft.com/office/powerpoint/2010/main" val="184150257"/>
                  </p:ext>
                </p:extLst>
              </p:nvPr>
            </p:nvGraphicFramePr>
            <p:xfrm>
              <a:off x="2789797" y="1745515"/>
              <a:ext cx="7034967" cy="914400"/>
            </p:xfrm>
            <a:graphic>
              <a:graphicData uri="http://schemas.openxmlformats.org/drawingml/2006/table">
                <a:tbl>
                  <a:tblPr firstRow="1" firstCol="1" bandRow="1"/>
                  <a:tblGrid>
                    <a:gridCol w="3565480">
                      <a:extLst>
                        <a:ext uri="{9D8B030D-6E8A-4147-A177-3AD203B41FA5}">
                          <a16:colId xmlns:a16="http://schemas.microsoft.com/office/drawing/2014/main" val="20000"/>
                        </a:ext>
                      </a:extLst>
                    </a:gridCol>
                    <a:gridCol w="3469487">
                      <a:extLst>
                        <a:ext uri="{9D8B030D-6E8A-4147-A177-3AD203B41FA5}">
                          <a16:colId xmlns:a16="http://schemas.microsoft.com/office/drawing/2014/main" val="20001"/>
                        </a:ext>
                      </a:extLst>
                    </a:gridCol>
                  </a:tblGrid>
                  <a:tr h="0">
                    <a:tc>
                      <a:txBody>
                        <a:bodyPr/>
                        <a:lstStyle/>
                        <a:p>
                          <a:pPr marL="0" marR="0" algn="ctr">
                            <a:spcBef>
                              <a:spcPts val="0"/>
                            </a:spcBef>
                            <a:spcAft>
                              <a:spcPts val="0"/>
                            </a:spcAft>
                          </a:pPr>
                          <a:r>
                            <a:rPr lang="en-US" sz="2000" b="1">
                              <a:effectLst/>
                              <a:latin typeface="Verdana" charset="0"/>
                              <a:ea typeface="Times New Roman" charset="0"/>
                              <a:cs typeface="Times New Roman" charset="0"/>
                            </a:rPr>
                            <a:t>Omario</a:t>
                          </a:r>
                          <a:endParaRPr lang="en-US" sz="2000">
                            <a:effectLst/>
                            <a:latin typeface="Cambria" charset="0"/>
                            <a:ea typeface="Times New Roman" charset="0"/>
                            <a:cs typeface="Times New Roman"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000" b="1">
                              <a:effectLst/>
                              <a:latin typeface="Verdana" charset="0"/>
                              <a:ea typeface="Times New Roman" charset="0"/>
                              <a:cs typeface="Times New Roman" charset="0"/>
                            </a:rPr>
                            <a:t>Ernest</a:t>
                          </a:r>
                          <a:endParaRPr lang="en-US" sz="2000">
                            <a:effectLst/>
                            <a:latin typeface="Cambria" charset="0"/>
                            <a:ea typeface="Times New Roman" charset="0"/>
                            <a:cs typeface="Times New Roman"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extLst>
                      <a:ext uri="{0D108BD9-81ED-4DB2-BD59-A6C34878D82A}">
                        <a16:rowId xmlns:a16="http://schemas.microsoft.com/office/drawing/2014/main" val="10000"/>
                      </a:ext>
                    </a:extLst>
                  </a:tr>
                  <a:tr h="0">
                    <a:tc>
                      <a:txBody>
                        <a:bodyPr/>
                        <a:lstStyle/>
                        <a:p>
                          <a:pPr marL="0" marR="0">
                            <a:spcBef>
                              <a:spcPts val="0"/>
                            </a:spcBef>
                            <a:spcAft>
                              <a:spcPts val="0"/>
                            </a:spcAft>
                          </a:pPr>
                          <a14:m>
                            <m:oMath xmlns:m="http://schemas.openxmlformats.org/officeDocument/2006/math">
                              <m:r>
                                <a:rPr lang="en-US" sz="2000" i="1">
                                  <a:effectLst/>
                                  <a:latin typeface="Cambria Math" charset="0"/>
                                  <a:ea typeface="Times New Roman" charset="0"/>
                                  <a:cs typeface="Times New Roman" charset="0"/>
                                </a:rPr>
                                <m:t>∠</m:t>
                              </m:r>
                              <m:r>
                                <a:rPr lang="en-US" sz="2000" i="1">
                                  <a:effectLst/>
                                  <a:latin typeface="Cambria Math" charset="0"/>
                                  <a:ea typeface="Times New Roman" charset="0"/>
                                  <a:cs typeface="Times New Roman" charset="0"/>
                                </a:rPr>
                                <m:t>𝑊𝑃𝐶</m:t>
                              </m:r>
                              <m:r>
                                <a:rPr lang="en-US" sz="2000" i="1">
                                  <a:effectLst/>
                                  <a:latin typeface="Cambria Math" charset="0"/>
                                  <a:ea typeface="Times New Roman" charset="0"/>
                                  <a:cs typeface="Times New Roman" charset="0"/>
                                </a:rPr>
                                <m:t>≅∠</m:t>
                              </m:r>
                              <m:r>
                                <a:rPr lang="en-US" sz="2000" i="1">
                                  <a:effectLst/>
                                  <a:latin typeface="Cambria Math" charset="0"/>
                                  <a:ea typeface="Times New Roman" charset="0"/>
                                  <a:cs typeface="Times New Roman" charset="0"/>
                                </a:rPr>
                                <m:t>𝑇𝑅𝐺</m:t>
                              </m:r>
                            </m:oMath>
                          </a14:m>
                          <a:r>
                            <a:rPr lang="en-US" sz="2000" dirty="0">
                              <a:effectLst/>
                              <a:latin typeface="Verdana" charset="0"/>
                              <a:ea typeface="Times New Roman" charset="0"/>
                              <a:cs typeface="Times New Roman" charset="0"/>
                            </a:rPr>
                            <a:t> and</a:t>
                          </a:r>
                          <a:r>
                            <a:rPr lang="en-US" sz="2000" baseline="0" dirty="0">
                              <a:effectLst/>
                              <a:latin typeface="Cambria" charset="0"/>
                              <a:ea typeface="Times New Roman" charset="0"/>
                              <a:cs typeface="Times New Roman" charset="0"/>
                            </a:rPr>
                            <a:t>       </a:t>
                          </a:r>
                          <a14:m>
                            <m:oMath xmlns:m="http://schemas.openxmlformats.org/officeDocument/2006/math">
                              <m:r>
                                <a:rPr lang="en-US" sz="2000" i="1">
                                  <a:effectLst/>
                                  <a:latin typeface="Cambria Math" charset="0"/>
                                  <a:ea typeface="Times New Roman" charset="0"/>
                                  <a:cs typeface="Times New Roman" charset="0"/>
                                </a:rPr>
                                <m:t>∠</m:t>
                              </m:r>
                              <m:r>
                                <a:rPr lang="en-US" sz="2000" i="1">
                                  <a:effectLst/>
                                  <a:latin typeface="Cambria Math" charset="0"/>
                                  <a:ea typeface="Times New Roman" charset="0"/>
                                  <a:cs typeface="Times New Roman" charset="0"/>
                                </a:rPr>
                                <m:t>𝑊𝐶𝑃</m:t>
                              </m:r>
                              <m:r>
                                <a:rPr lang="en-US" sz="2000" i="1">
                                  <a:effectLst/>
                                  <a:latin typeface="Cambria Math" charset="0"/>
                                  <a:ea typeface="Times New Roman" charset="0"/>
                                  <a:cs typeface="Times New Roman" charset="0"/>
                                </a:rPr>
                                <m:t>≅∠</m:t>
                              </m:r>
                              <m:r>
                                <a:rPr lang="en-US" sz="2000" i="1">
                                  <a:effectLst/>
                                  <a:latin typeface="Cambria Math" charset="0"/>
                                  <a:ea typeface="Times New Roman" charset="0"/>
                                  <a:cs typeface="Times New Roman" charset="0"/>
                                </a:rPr>
                                <m:t>𝑇𝐺𝑅</m:t>
                              </m:r>
                            </m:oMath>
                          </a14:m>
                          <a:endParaRPr lang="en-US" sz="2000" dirty="0">
                            <a:effectLst/>
                            <a:latin typeface="Cambria" charset="0"/>
                            <a:ea typeface="Times New Roman" charset="0"/>
                            <a:cs typeface="Times New Roman"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14:m>
                            <m:oMath xmlns:m="http://schemas.openxmlformats.org/officeDocument/2006/math">
                              <m:r>
                                <a:rPr lang="en-US" sz="2000" i="1">
                                  <a:effectLst/>
                                  <a:latin typeface="Cambria Math" charset="0"/>
                                  <a:ea typeface="Times New Roman" charset="0"/>
                                  <a:cs typeface="Times New Roman" charset="0"/>
                                </a:rPr>
                                <m:t>∠</m:t>
                              </m:r>
                              <m:r>
                                <a:rPr lang="en-US" sz="2000" i="1">
                                  <a:effectLst/>
                                  <a:latin typeface="Cambria Math" charset="0"/>
                                  <a:ea typeface="Times New Roman" charset="0"/>
                                  <a:cs typeface="Times New Roman" charset="0"/>
                                </a:rPr>
                                <m:t>𝑃𝑊𝐶</m:t>
                              </m:r>
                              <m:r>
                                <a:rPr lang="en-US" sz="2000" i="1">
                                  <a:effectLst/>
                                  <a:latin typeface="Cambria Math" charset="0"/>
                                  <a:ea typeface="Times New Roman" charset="0"/>
                                  <a:cs typeface="Times New Roman" charset="0"/>
                                </a:rPr>
                                <m:t>≅∠</m:t>
                              </m:r>
                              <m:r>
                                <a:rPr lang="en-US" sz="2000" i="1">
                                  <a:effectLst/>
                                  <a:latin typeface="Cambria Math" charset="0"/>
                                  <a:ea typeface="Times New Roman" charset="0"/>
                                  <a:cs typeface="Times New Roman" charset="0"/>
                                </a:rPr>
                                <m:t>𝑅𝑇𝐺</m:t>
                              </m:r>
                              <m:r>
                                <a:rPr lang="en-US" sz="2000" i="1">
                                  <a:effectLst/>
                                  <a:latin typeface="Cambria Math" charset="0"/>
                                  <a:ea typeface="Times New Roman" charset="0"/>
                                  <a:cs typeface="Times New Roman" charset="0"/>
                                </a:rPr>
                                <m:t> </m:t>
                              </m:r>
                            </m:oMath>
                          </a14:m>
                          <a:r>
                            <a:rPr lang="en-US" sz="2000" dirty="0">
                              <a:effectLst/>
                              <a:latin typeface="Verdana" charset="0"/>
                              <a:ea typeface="Times New Roman" charset="0"/>
                              <a:cs typeface="Times New Roman" charset="0"/>
                            </a:rPr>
                            <a:t> and</a:t>
                          </a:r>
                          <a:r>
                            <a:rPr lang="en-US" sz="2000" baseline="0" dirty="0">
                              <a:effectLst/>
                              <a:latin typeface="Cambria" charset="0"/>
                              <a:ea typeface="Times New Roman" charset="0"/>
                              <a:cs typeface="Times New Roman" charset="0"/>
                            </a:rPr>
                            <a:t> </a:t>
                          </a:r>
                          <a14:m>
                            <m:oMath xmlns:m="http://schemas.openxmlformats.org/officeDocument/2006/math">
                              <m:r>
                                <a:rPr lang="en-US" sz="2000" i="1">
                                  <a:effectLst/>
                                  <a:latin typeface="Cambria Math" charset="0"/>
                                  <a:ea typeface="Times New Roman" charset="0"/>
                                  <a:cs typeface="Times New Roman" charset="0"/>
                                </a:rPr>
                                <m:t>∠</m:t>
                              </m:r>
                              <m:r>
                                <a:rPr lang="en-US" sz="2000" i="1">
                                  <a:effectLst/>
                                  <a:latin typeface="Cambria Math" charset="0"/>
                                  <a:ea typeface="Times New Roman" charset="0"/>
                                  <a:cs typeface="Times New Roman" charset="0"/>
                                </a:rPr>
                                <m:t>𝑃𝐶𝑊</m:t>
                              </m:r>
                              <m:r>
                                <a:rPr lang="en-US" sz="2000" i="1">
                                  <a:effectLst/>
                                  <a:latin typeface="Cambria Math" charset="0"/>
                                  <a:ea typeface="Times New Roman" charset="0"/>
                                  <a:cs typeface="Times New Roman" charset="0"/>
                                </a:rPr>
                                <m:t>≅∠</m:t>
                              </m:r>
                              <m:r>
                                <a:rPr lang="en-US" sz="2000" i="1">
                                  <a:effectLst/>
                                  <a:latin typeface="Cambria Math" charset="0"/>
                                  <a:ea typeface="Times New Roman" charset="0"/>
                                  <a:cs typeface="Times New Roman" charset="0"/>
                                </a:rPr>
                                <m:t>𝑅𝐺𝑇</m:t>
                              </m:r>
                            </m:oMath>
                          </a14:m>
                          <a:endParaRPr lang="en-US" sz="2000" dirty="0">
                            <a:effectLst/>
                            <a:latin typeface="Cambria" charset="0"/>
                            <a:ea typeface="Times New Roman" charset="0"/>
                            <a:cs typeface="Times New Roman"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bl>
              </a:graphicData>
            </a:graphic>
          </p:graphicFrame>
        </mc:Choice>
        <mc:Fallback xmlns="">
          <p:graphicFrame>
            <p:nvGraphicFramePr>
              <p:cNvPr id="2" name="Table 1"/>
              <p:cNvGraphicFramePr>
                <a:graphicFrameLocks noGrp="1"/>
              </p:cNvGraphicFramePr>
              <p:nvPr>
                <p:extLst>
                  <p:ext uri="{D42A27DB-BD31-4B8C-83A1-F6EECF244321}">
                    <p14:modId xmlns:p14="http://schemas.microsoft.com/office/powerpoint/2010/main" val="184150257"/>
                  </p:ext>
                </p:extLst>
              </p:nvPr>
            </p:nvGraphicFramePr>
            <p:xfrm>
              <a:off x="2789797" y="1745515"/>
              <a:ext cx="7034967" cy="914400"/>
            </p:xfrm>
            <a:graphic>
              <a:graphicData uri="http://schemas.openxmlformats.org/drawingml/2006/table">
                <a:tbl>
                  <a:tblPr firstRow="1" firstCol="1" bandRow="1"/>
                  <a:tblGrid>
                    <a:gridCol w="3565480">
                      <a:extLst>
                        <a:ext uri="{9D8B030D-6E8A-4147-A177-3AD203B41FA5}">
                          <a16:colId xmlns:a16="http://schemas.microsoft.com/office/drawing/2014/main" val="20000"/>
                        </a:ext>
                      </a:extLst>
                    </a:gridCol>
                    <a:gridCol w="3469487">
                      <a:extLst>
                        <a:ext uri="{9D8B030D-6E8A-4147-A177-3AD203B41FA5}">
                          <a16:colId xmlns:a16="http://schemas.microsoft.com/office/drawing/2014/main" val="20001"/>
                        </a:ext>
                      </a:extLst>
                    </a:gridCol>
                  </a:tblGrid>
                  <a:tr h="304800">
                    <a:tc>
                      <a:txBody>
                        <a:bodyPr/>
                        <a:lstStyle/>
                        <a:p>
                          <a:pPr marL="0" marR="0" algn="ctr">
                            <a:spcBef>
                              <a:spcPts val="0"/>
                            </a:spcBef>
                            <a:spcAft>
                              <a:spcPts val="0"/>
                            </a:spcAft>
                          </a:pPr>
                          <a:r>
                            <a:rPr lang="en-US" sz="2000" b="1">
                              <a:effectLst/>
                              <a:latin typeface="Verdana" charset="0"/>
                              <a:ea typeface="Times New Roman" charset="0"/>
                              <a:cs typeface="Times New Roman" charset="0"/>
                            </a:rPr>
                            <a:t>Omario</a:t>
                          </a:r>
                          <a:endParaRPr lang="en-US" sz="2000">
                            <a:effectLst/>
                            <a:latin typeface="Cambria" charset="0"/>
                            <a:ea typeface="Times New Roman" charset="0"/>
                            <a:cs typeface="Times New Roman"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000" b="1">
                              <a:effectLst/>
                              <a:latin typeface="Verdana" charset="0"/>
                              <a:ea typeface="Times New Roman" charset="0"/>
                              <a:cs typeface="Times New Roman" charset="0"/>
                            </a:rPr>
                            <a:t>Ernest</a:t>
                          </a:r>
                          <a:endParaRPr lang="en-US" sz="2000">
                            <a:effectLst/>
                            <a:latin typeface="Cambria" charset="0"/>
                            <a:ea typeface="Times New Roman" charset="0"/>
                            <a:cs typeface="Times New Roman"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extLst>
                      <a:ext uri="{0D108BD9-81ED-4DB2-BD59-A6C34878D82A}">
                        <a16:rowId xmlns:a16="http://schemas.microsoft.com/office/drawing/2014/main" val="10000"/>
                      </a:ext>
                    </a:extLst>
                  </a:tr>
                  <a:tr h="609600">
                    <a:tc>
                      <a:txBody>
                        <a:bodyPr/>
                        <a:lstStyle/>
                        <a:p>
                          <a:endParaRPr lang="en-US"/>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5"/>
                          <a:stretch>
                            <a:fillRect l="-356" t="-61224" r="-97865" b="-4082"/>
                          </a:stretch>
                        </a:blipFill>
                      </a:tcPr>
                    </a:tc>
                    <a:tc>
                      <a:txBody>
                        <a:bodyPr/>
                        <a:lstStyle/>
                        <a:p>
                          <a:endParaRPr lang="en-US"/>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5"/>
                          <a:stretch>
                            <a:fillRect l="-102920" t="-61224" r="-365" b="-4082"/>
                          </a:stretch>
                        </a:blipFill>
                      </a:tcPr>
                    </a:tc>
                    <a:extLst>
                      <a:ext uri="{0D108BD9-81ED-4DB2-BD59-A6C34878D82A}">
                        <a16:rowId xmlns:a16="http://schemas.microsoft.com/office/drawing/2014/main" val="10001"/>
                      </a:ext>
                    </a:extLst>
                  </a:tr>
                </a:tbl>
              </a:graphicData>
            </a:graphic>
          </p:graphicFrame>
        </mc:Fallback>
      </mc:AlternateContent>
      <p:sp>
        <p:nvSpPr>
          <p:cNvPr id="3" name="Rectangle 2"/>
          <p:cNvSpPr/>
          <p:nvPr/>
        </p:nvSpPr>
        <p:spPr>
          <a:xfrm>
            <a:off x="1688123" y="3127634"/>
            <a:ext cx="9366739" cy="1323439"/>
          </a:xfrm>
          <a:prstGeom prst="rect">
            <a:avLst/>
          </a:prstGeom>
        </p:spPr>
        <p:txBody>
          <a:bodyPr wrap="square">
            <a:spAutoFit/>
          </a:bodyPr>
          <a:lstStyle/>
          <a:p>
            <a:pPr marL="457200" indent="-457200">
              <a:buFont typeface="+mj-lt"/>
              <a:buAutoNum type="alphaLcPeriod" startAt="4"/>
            </a:pPr>
            <a:r>
              <a:rPr lang="en-US" sz="2000" dirty="0">
                <a:latin typeface="Verdana" charset="0"/>
                <a:ea typeface="Verdana" charset="0"/>
                <a:cs typeface="Verdana" charset="0"/>
              </a:rPr>
              <a:t>What do you notice about their answers? </a:t>
            </a:r>
          </a:p>
          <a:p>
            <a:pPr marL="457200" indent="-457200">
              <a:buFont typeface="+mj-lt"/>
              <a:buAutoNum type="alphaLcPeriod" startAt="4"/>
            </a:pPr>
            <a:endParaRPr lang="en-US" sz="2000" dirty="0">
              <a:latin typeface="Verdana" charset="0"/>
              <a:ea typeface="Verdana" charset="0"/>
              <a:cs typeface="Verdana" charset="0"/>
            </a:endParaRPr>
          </a:p>
          <a:p>
            <a:pPr marL="457200" indent="-457200">
              <a:buFont typeface="+mj-lt"/>
              <a:buAutoNum type="alphaLcPeriod" startAt="4"/>
            </a:pPr>
            <a:endParaRPr lang="en-US" sz="2000" dirty="0">
              <a:latin typeface="Verdana" charset="0"/>
              <a:ea typeface="Verdana" charset="0"/>
              <a:cs typeface="Verdana" charset="0"/>
            </a:endParaRPr>
          </a:p>
          <a:p>
            <a:pPr marL="457200" indent="-457200">
              <a:buFont typeface="+mj-lt"/>
              <a:buAutoNum type="alphaLcPeriod" startAt="4"/>
            </a:pPr>
            <a:r>
              <a:rPr lang="en-US" sz="2000" dirty="0">
                <a:latin typeface="Verdana" charset="0"/>
                <a:ea typeface="Verdana" charset="0"/>
                <a:cs typeface="Verdana" charset="0"/>
              </a:rPr>
              <a:t>Explain why both students correctly answered the question.</a:t>
            </a:r>
          </a:p>
        </p:txBody>
      </p:sp>
    </p:spTree>
    <p:extLst>
      <p:ext uri="{BB962C8B-B14F-4D97-AF65-F5344CB8AC3E}">
        <p14:creationId xmlns:p14="http://schemas.microsoft.com/office/powerpoint/2010/main" val="124796212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276C46"/>
          </a:solidFill>
          <a:ln w="9525" cap="flat" cmpd="sng">
            <a:solidFill>
              <a:srgbClr val="276C46"/>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599"/>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967765" y="6457675"/>
            <a:ext cx="2634000" cy="400200"/>
          </a:xfrm>
          <a:prstGeom prst="rect">
            <a:avLst/>
          </a:prstGeom>
          <a:noFill/>
          <a:ln>
            <a:noFill/>
          </a:ln>
        </p:spPr>
        <p:txBody>
          <a:bodyPr spcFirstLastPara="1" wrap="square" lIns="91425" tIns="91425" rIns="91425" bIns="91425" anchor="t" anchorCtr="0">
            <a:spAutoFit/>
          </a:bodyPr>
          <a:lstStyle/>
          <a:p>
            <a:pPr lvl="0" algn="r"/>
            <a:r>
              <a:rPr lang="it-IT" i="1" dirty="0">
                <a:latin typeface="Calibri"/>
                <a:ea typeface="Calibri"/>
                <a:cs typeface="Calibri"/>
                <a:sym typeface="Calibri"/>
              </a:rPr>
              <a:t>volume 1, </a:t>
            </a:r>
            <a:r>
              <a:rPr lang="it-IT" i="1" dirty="0" err="1">
                <a:latin typeface="Calibri"/>
                <a:ea typeface="Calibri"/>
                <a:cs typeface="Calibri"/>
                <a:sym typeface="Calibri"/>
              </a:rPr>
              <a:t>pg</a:t>
            </a:r>
            <a:r>
              <a:rPr lang="it-IT" i="1" dirty="0">
                <a:latin typeface="Calibri"/>
                <a:ea typeface="Calibri"/>
                <a:cs typeface="Calibri"/>
                <a:sym typeface="Calibri"/>
              </a:rPr>
              <a:t>. 345</a:t>
            </a:r>
          </a:p>
        </p:txBody>
      </p: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2FA392D8-3ED3-7940-83A8-1451AA8A08D4}"/>
                  </a:ext>
                </a:extLst>
              </p:cNvPr>
              <p:cNvSpPr txBox="1"/>
              <p:nvPr/>
            </p:nvSpPr>
            <p:spPr>
              <a:xfrm>
                <a:off x="375138" y="520393"/>
                <a:ext cx="9959763" cy="1631216"/>
              </a:xfrm>
              <a:prstGeom prst="rect">
                <a:avLst/>
              </a:prstGeom>
              <a:noFill/>
            </p:spPr>
            <p:txBody>
              <a:bodyPr wrap="square" rtlCol="0">
                <a:spAutoFit/>
              </a:bodyPr>
              <a:lstStyle/>
              <a:p>
                <a:pPr marL="457200" indent="-457200">
                  <a:buFont typeface="+mj-lt"/>
                  <a:buAutoNum type="arabicPeriod" startAt="2"/>
                </a:pPr>
                <a14:m>
                  <m:oMath xmlns:m="http://schemas.openxmlformats.org/officeDocument/2006/math">
                    <m:r>
                      <a:rPr lang="en-US" sz="2000" i="1">
                        <a:latin typeface="Cambria Math" panose="02040503050406030204" pitchFamily="18" charset="0"/>
                        <a:ea typeface="Verdana" charset="0"/>
                        <a:cs typeface="Verdana" charset="0"/>
                      </a:rPr>
                      <m:t>∆</m:t>
                    </m:r>
                    <m:r>
                      <a:rPr lang="en-US" sz="2000" i="1">
                        <a:latin typeface="Cambria Math" panose="02040503050406030204" pitchFamily="18" charset="0"/>
                        <a:ea typeface="Verdana" charset="0"/>
                        <a:cs typeface="Verdana" charset="0"/>
                      </a:rPr>
                      <m:t>𝑀𝑅𝐶</m:t>
                    </m:r>
                  </m:oMath>
                </a14:m>
                <a:r>
                  <a:rPr lang="en-US" sz="2000" dirty="0">
                    <a:latin typeface="Verdana" charset="0"/>
                    <a:ea typeface="Verdana" charset="0"/>
                    <a:cs typeface="Verdana" charset="0"/>
                  </a:rPr>
                  <a:t> and </a:t>
                </a:r>
                <a14:m>
                  <m:oMath xmlns:m="http://schemas.openxmlformats.org/officeDocument/2006/math">
                    <m:r>
                      <a:rPr lang="en-US" sz="2000" i="1">
                        <a:latin typeface="Cambria Math" panose="02040503050406030204" pitchFamily="18" charset="0"/>
                        <a:ea typeface="Verdana" charset="0"/>
                        <a:cs typeface="Verdana" charset="0"/>
                      </a:rPr>
                      <m:t>∆</m:t>
                    </m:r>
                    <m:r>
                      <a:rPr lang="en-US" sz="2000" i="1">
                        <a:latin typeface="Cambria Math" panose="02040503050406030204" pitchFamily="18" charset="0"/>
                        <a:ea typeface="Verdana" charset="0"/>
                        <a:cs typeface="Verdana" charset="0"/>
                      </a:rPr>
                      <m:t>𝑌𝐻𝐶</m:t>
                    </m:r>
                  </m:oMath>
                </a14:m>
                <a:r>
                  <a:rPr lang="en-US" sz="2000" dirty="0">
                    <a:latin typeface="Verdana" charset="0"/>
                    <a:ea typeface="Verdana" charset="0"/>
                    <a:cs typeface="Verdana" charset="0"/>
                  </a:rPr>
                  <a:t> are shown. </a:t>
                </a:r>
              </a:p>
              <a:p>
                <a:pPr marL="457200" indent="-457200">
                  <a:buFont typeface="+mj-lt"/>
                  <a:buAutoNum type="arabicPeriod" startAt="2"/>
                </a:pPr>
                <a:endParaRPr lang="en-US" sz="2000" dirty="0">
                  <a:latin typeface="Verdana" charset="0"/>
                  <a:ea typeface="Verdana" charset="0"/>
                  <a:cs typeface="Verdana" charset="0"/>
                </a:endParaRPr>
              </a:p>
              <a:p>
                <a:pPr marL="457200" indent="-457200">
                  <a:buFont typeface="+mj-lt"/>
                  <a:buAutoNum type="arabicPeriod" startAt="2"/>
                </a:pPr>
                <a:endParaRPr lang="en-US" sz="2000" dirty="0">
                  <a:latin typeface="Verdana" charset="0"/>
                  <a:ea typeface="Verdana" charset="0"/>
                  <a:cs typeface="Verdana" charset="0"/>
                </a:endParaRPr>
              </a:p>
              <a:p>
                <a:pPr marL="457200" indent="-457200">
                  <a:buFont typeface="+mj-lt"/>
                  <a:buAutoNum type="arabicPeriod" startAt="2"/>
                </a:pPr>
                <a:endParaRPr lang="en-US" sz="2000" dirty="0">
                  <a:latin typeface="Verdana" charset="0"/>
                  <a:ea typeface="Verdana" charset="0"/>
                  <a:cs typeface="Verdana" charset="0"/>
                </a:endParaRPr>
              </a:p>
              <a:p>
                <a:pPr marL="457200" indent="-457200">
                  <a:buFont typeface="+mj-lt"/>
                  <a:buAutoNum type="arabicPeriod" startAt="2"/>
                </a:pPr>
                <a:endParaRPr lang="en-US" sz="2000" dirty="0">
                  <a:latin typeface="Verdana" charset="0"/>
                  <a:ea typeface="Verdana" charset="0"/>
                  <a:cs typeface="Verdana" charset="0"/>
                </a:endParaRPr>
              </a:p>
            </p:txBody>
          </p:sp>
        </mc:Choice>
        <mc:Fallback xmlns="">
          <p:sp>
            <p:nvSpPr>
              <p:cNvPr id="14" name="TextBox 13">
                <a:extLst>
                  <a:ext uri="{FF2B5EF4-FFF2-40B4-BE49-F238E27FC236}">
                    <a16:creationId xmlns:a16="http://schemas.microsoft.com/office/drawing/2014/main" id="{2FA392D8-3ED3-7940-83A8-1451AA8A08D4}"/>
                  </a:ext>
                </a:extLst>
              </p:cNvPr>
              <p:cNvSpPr txBox="1">
                <a:spLocks noRot="1" noChangeAspect="1" noMove="1" noResize="1" noEditPoints="1" noAdjustHandles="1" noChangeArrowheads="1" noChangeShapeType="1" noTextEdit="1"/>
              </p:cNvSpPr>
              <p:nvPr/>
            </p:nvSpPr>
            <p:spPr>
              <a:xfrm>
                <a:off x="375138" y="520393"/>
                <a:ext cx="9959763" cy="1631216"/>
              </a:xfrm>
              <a:prstGeom prst="rect">
                <a:avLst/>
              </a:prstGeom>
              <a:blipFill>
                <a:blip r:embed="rId4"/>
                <a:stretch>
                  <a:fillRect l="-382" t="-1538"/>
                </a:stretch>
              </a:blipFill>
            </p:spPr>
            <p:txBody>
              <a:bodyPr/>
              <a:lstStyle/>
              <a:p>
                <a:r>
                  <a:rPr lang="en-US">
                    <a:noFill/>
                  </a:rPr>
                  <a:t> </a:t>
                </a:r>
              </a:p>
            </p:txBody>
          </p:sp>
        </mc:Fallback>
      </mc:AlternateContent>
      <p:pic>
        <p:nvPicPr>
          <p:cNvPr id="2" name="Picture 1"/>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7051279" y="286679"/>
            <a:ext cx="2582212" cy="2678643"/>
          </a:xfrm>
          <a:prstGeom prst="rect">
            <a:avLst/>
          </a:prstGeom>
        </p:spPr>
      </p:pic>
      <p:sp>
        <p:nvSpPr>
          <p:cNvPr id="3" name="Rectangle 2"/>
          <p:cNvSpPr/>
          <p:nvPr/>
        </p:nvSpPr>
        <p:spPr>
          <a:xfrm>
            <a:off x="1688123" y="1336001"/>
            <a:ext cx="3847033" cy="400110"/>
          </a:xfrm>
          <a:prstGeom prst="rect">
            <a:avLst/>
          </a:prstGeom>
        </p:spPr>
        <p:txBody>
          <a:bodyPr wrap="square">
            <a:spAutoFit/>
          </a:bodyPr>
          <a:lstStyle/>
          <a:p>
            <a:pPr marL="342900" indent="-342900">
              <a:buSzPts val="1800"/>
              <a:buFont typeface="+mj-lt"/>
              <a:buAutoNum type="alphaLcPeriod"/>
            </a:pPr>
            <a:r>
              <a:rPr lang="en-US" sz="2000" dirty="0">
                <a:latin typeface="Verdana" charset="0"/>
                <a:ea typeface="Times New Roman" charset="0"/>
                <a:cs typeface="Times New Roman" charset="0"/>
              </a:rPr>
              <a:t>Complete the table.</a:t>
            </a:r>
            <a:endParaRPr lang="en-US" sz="2000" dirty="0">
              <a:latin typeface="Cambria" charset="0"/>
              <a:ea typeface="Times New Roman" charset="0"/>
              <a:cs typeface="Times New Roman" charset="0"/>
            </a:endParaRPr>
          </a:p>
        </p:txBody>
      </p:sp>
      <mc:AlternateContent xmlns:mc="http://schemas.openxmlformats.org/markup-compatibility/2006" xmlns:a14="http://schemas.microsoft.com/office/drawing/2010/main">
        <mc:Choice Requires="a14">
          <p:graphicFrame>
            <p:nvGraphicFramePr>
              <p:cNvPr id="4" name="Table 3"/>
              <p:cNvGraphicFramePr>
                <a:graphicFrameLocks noGrp="1"/>
              </p:cNvGraphicFramePr>
              <p:nvPr>
                <p:extLst>
                  <p:ext uri="{D42A27DB-BD31-4B8C-83A1-F6EECF244321}">
                    <p14:modId xmlns:p14="http://schemas.microsoft.com/office/powerpoint/2010/main" val="971356865"/>
                  </p:ext>
                </p:extLst>
              </p:nvPr>
            </p:nvGraphicFramePr>
            <p:xfrm>
              <a:off x="2398204" y="2965322"/>
              <a:ext cx="7546259" cy="3437763"/>
            </p:xfrm>
            <a:graphic>
              <a:graphicData uri="http://schemas.openxmlformats.org/drawingml/2006/table">
                <a:tbl>
                  <a:tblPr firstRow="1" firstCol="1" bandRow="1"/>
                  <a:tblGrid>
                    <a:gridCol w="2558418">
                      <a:extLst>
                        <a:ext uri="{9D8B030D-6E8A-4147-A177-3AD203B41FA5}">
                          <a16:colId xmlns:a16="http://schemas.microsoft.com/office/drawing/2014/main" val="20000"/>
                        </a:ext>
                      </a:extLst>
                    </a:gridCol>
                    <a:gridCol w="2579201">
                      <a:extLst>
                        <a:ext uri="{9D8B030D-6E8A-4147-A177-3AD203B41FA5}">
                          <a16:colId xmlns:a16="http://schemas.microsoft.com/office/drawing/2014/main" val="20001"/>
                        </a:ext>
                      </a:extLst>
                    </a:gridCol>
                    <a:gridCol w="2408640">
                      <a:extLst>
                        <a:ext uri="{9D8B030D-6E8A-4147-A177-3AD203B41FA5}">
                          <a16:colId xmlns:a16="http://schemas.microsoft.com/office/drawing/2014/main" val="20002"/>
                        </a:ext>
                      </a:extLst>
                    </a:gridCol>
                  </a:tblGrid>
                  <a:tr h="640080">
                    <a:tc>
                      <a:txBody>
                        <a:bodyPr/>
                        <a:lstStyle/>
                        <a:p>
                          <a:pPr marL="0" marR="0" indent="-19050" algn="ctr">
                            <a:spcBef>
                              <a:spcPts val="0"/>
                            </a:spcBef>
                            <a:spcAft>
                              <a:spcPts val="0"/>
                            </a:spcAft>
                          </a:pPr>
                          <a:r>
                            <a:rPr lang="en-US" sz="2000" b="1">
                              <a:effectLst/>
                              <a:latin typeface="Verdana" charset="0"/>
                              <a:ea typeface="Verdana" charset="0"/>
                              <a:cs typeface="Verdana" charset="0"/>
                            </a:rPr>
                            <a:t>Given Information</a:t>
                          </a:r>
                          <a:endParaRPr lang="en-US" sz="200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indent="-19050" algn="ctr">
                            <a:spcBef>
                              <a:spcPts val="0"/>
                            </a:spcBef>
                            <a:spcAft>
                              <a:spcPts val="0"/>
                            </a:spcAft>
                          </a:pPr>
                          <a:r>
                            <a:rPr lang="en-US" sz="2000" b="1">
                              <a:effectLst/>
                              <a:latin typeface="Verdana" charset="0"/>
                              <a:ea typeface="Verdana" charset="0"/>
                              <a:cs typeface="Verdana" charset="0"/>
                            </a:rPr>
                            <a:t>True or False?</a:t>
                          </a:r>
                          <a:endParaRPr lang="en-US" sz="2000">
                            <a:effectLst/>
                            <a:latin typeface="Verdana" charset="0"/>
                            <a:ea typeface="Verdana" charset="0"/>
                            <a:cs typeface="Verdana" charset="0"/>
                          </a:endParaRPr>
                        </a:p>
                        <a:p>
                          <a:pPr marL="0" marR="0" indent="-19050" algn="ctr">
                            <a:spcBef>
                              <a:spcPts val="0"/>
                            </a:spcBef>
                            <a:spcAft>
                              <a:spcPts val="0"/>
                            </a:spcAft>
                          </a:pPr>
                          <a14:m>
                            <m:oMath xmlns:m="http://schemas.openxmlformats.org/officeDocument/2006/math">
                              <m:r>
                                <a:rPr lang="en-US" sz="2000" b="1" i="1">
                                  <a:effectLst/>
                                  <a:latin typeface="Cambria Math" charset="0"/>
                                  <a:ea typeface="Verdana" charset="0"/>
                                  <a:cs typeface="Verdana" charset="0"/>
                                </a:rPr>
                                <m:t>∆</m:t>
                              </m:r>
                              <m:r>
                                <a:rPr lang="en-US" sz="2000" b="1" i="1">
                                  <a:effectLst/>
                                  <a:latin typeface="Cambria Math" charset="0"/>
                                  <a:ea typeface="Verdana" charset="0"/>
                                  <a:cs typeface="Verdana" charset="0"/>
                                </a:rPr>
                                <m:t>𝑴𝑹𝑪</m:t>
                              </m:r>
                              <m:r>
                                <a:rPr lang="en-US" sz="2000" b="1" i="1">
                                  <a:effectLst/>
                                  <a:latin typeface="Cambria Math" charset="0"/>
                                  <a:ea typeface="Verdana" charset="0"/>
                                  <a:cs typeface="Verdana" charset="0"/>
                                </a:rPr>
                                <m:t>~∆</m:t>
                              </m:r>
                              <m:r>
                                <a:rPr lang="en-US" sz="2000" b="1" i="1">
                                  <a:effectLst/>
                                  <a:latin typeface="Cambria Math" charset="0"/>
                                  <a:ea typeface="Verdana" charset="0"/>
                                  <a:cs typeface="Verdana" charset="0"/>
                                </a:rPr>
                                <m:t>𝒀𝑯𝑪</m:t>
                              </m:r>
                            </m:oMath>
                          </a14:m>
                          <a:r>
                            <a:rPr lang="en-US" sz="2000" b="1">
                              <a:effectLst/>
                              <a:latin typeface="Verdana" charset="0"/>
                              <a:ea typeface="Verdana" charset="0"/>
                              <a:cs typeface="Verdana" charset="0"/>
                            </a:rPr>
                            <a:t> by AA Similarity</a:t>
                          </a:r>
                          <a:endParaRPr lang="en-US" sz="200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indent="-19050" algn="ctr">
                            <a:spcBef>
                              <a:spcPts val="0"/>
                            </a:spcBef>
                            <a:spcAft>
                              <a:spcPts val="0"/>
                            </a:spcAft>
                          </a:pPr>
                          <a:r>
                            <a:rPr lang="en-US" sz="2000" b="1">
                              <a:effectLst/>
                              <a:latin typeface="Verdana" charset="0"/>
                              <a:ea typeface="Verdana" charset="0"/>
                              <a:cs typeface="Verdana" charset="0"/>
                            </a:rPr>
                            <a:t>Justification</a:t>
                          </a:r>
                          <a:endParaRPr lang="en-US" sz="200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extLst>
                      <a:ext uri="{0D108BD9-81ED-4DB2-BD59-A6C34878D82A}">
                        <a16:rowId xmlns:a16="http://schemas.microsoft.com/office/drawing/2014/main" val="10000"/>
                      </a:ext>
                    </a:extLst>
                  </a:tr>
                  <a:tr h="822960">
                    <a:tc>
                      <a:txBody>
                        <a:bodyPr/>
                        <a:lstStyle/>
                        <a:p>
                          <a:pPr marL="0" marR="0" indent="-1905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i="1">
                                    <a:effectLst/>
                                    <a:latin typeface="Cambria Math" charset="0"/>
                                    <a:ea typeface="Verdana" charset="0"/>
                                    <a:cs typeface="Verdana" charset="0"/>
                                  </a:rPr>
                                  <m:t>∠</m:t>
                                </m:r>
                                <m:r>
                                  <a:rPr lang="en-US" sz="2000" i="1">
                                    <a:effectLst/>
                                    <a:latin typeface="Cambria Math" charset="0"/>
                                    <a:ea typeface="Verdana" charset="0"/>
                                    <a:cs typeface="Verdana" charset="0"/>
                                  </a:rPr>
                                  <m:t>𝐻𝐶𝑌</m:t>
                                </m:r>
                                <m:r>
                                  <a:rPr lang="en-US" sz="2000" i="1">
                                    <a:effectLst/>
                                    <a:latin typeface="Cambria Math" charset="0"/>
                                    <a:ea typeface="Verdana" charset="0"/>
                                    <a:cs typeface="Verdana" charset="0"/>
                                  </a:rPr>
                                  <m:t>≅∠</m:t>
                                </m:r>
                                <m:r>
                                  <a:rPr lang="en-US" sz="2000" i="1">
                                    <a:effectLst/>
                                    <a:latin typeface="Cambria Math" charset="0"/>
                                    <a:ea typeface="Verdana" charset="0"/>
                                    <a:cs typeface="Verdana" charset="0"/>
                                  </a:rPr>
                                  <m:t>𝑅𝐶𝑀</m:t>
                                </m:r>
                              </m:oMath>
                            </m:oMathPara>
                          </a14:m>
                          <a:endParaRPr lang="en-US" sz="2000" dirty="0">
                            <a:effectLst/>
                            <a:latin typeface="Verdana" charset="0"/>
                            <a:ea typeface="Verdana" charset="0"/>
                            <a:cs typeface="Verdana" charset="0"/>
                          </a:endParaRPr>
                        </a:p>
                        <a:p>
                          <a:pPr marL="0" marR="0" indent="-1905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i="1">
                                    <a:effectLst/>
                                    <a:latin typeface="Cambria Math" charset="0"/>
                                    <a:ea typeface="Verdana" charset="0"/>
                                    <a:cs typeface="Verdana" charset="0"/>
                                  </a:rPr>
                                  <m:t>∠</m:t>
                                </m:r>
                                <m:r>
                                  <a:rPr lang="en-US" sz="2000" i="1">
                                    <a:effectLst/>
                                    <a:latin typeface="Cambria Math" charset="0"/>
                                    <a:ea typeface="Verdana" charset="0"/>
                                    <a:cs typeface="Verdana" charset="0"/>
                                  </a:rPr>
                                  <m:t>𝐻</m:t>
                                </m:r>
                                <m:r>
                                  <a:rPr lang="en-US" sz="2000" i="1">
                                    <a:effectLst/>
                                    <a:latin typeface="Cambria Math" charset="0"/>
                                    <a:ea typeface="Verdana" charset="0"/>
                                    <a:cs typeface="Verdana" charset="0"/>
                                  </a:rPr>
                                  <m:t>≅∠</m:t>
                                </m:r>
                                <m:r>
                                  <a:rPr lang="en-US" sz="2000" i="1">
                                    <a:effectLst/>
                                    <a:latin typeface="Cambria Math" charset="0"/>
                                    <a:ea typeface="Verdana" charset="0"/>
                                    <a:cs typeface="Verdana" charset="0"/>
                                  </a:rPr>
                                  <m:t>𝑅</m:t>
                                </m:r>
                              </m:oMath>
                            </m:oMathPara>
                          </a14:m>
                          <a:endParaRPr lang="en-US" sz="2000" dirty="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342900" marR="0" lvl="0" indent="-342900" algn="ctr">
                            <a:spcBef>
                              <a:spcPts val="0"/>
                            </a:spcBef>
                            <a:spcAft>
                              <a:spcPts val="0"/>
                            </a:spcAft>
                            <a:buFont typeface="Courier New" charset="0"/>
                            <a:buChar char="o"/>
                          </a:pPr>
                          <a:r>
                            <a:rPr lang="en-US" sz="2000" dirty="0">
                              <a:effectLst/>
                              <a:latin typeface="Verdana" charset="0"/>
                              <a:ea typeface="Verdana" charset="0"/>
                              <a:cs typeface="Verdana" charset="0"/>
                            </a:rPr>
                            <a:t>True </a:t>
                          </a:r>
                        </a:p>
                        <a:p>
                          <a:pPr marL="342900" marR="0" lvl="0" indent="-342900" algn="ctr">
                            <a:spcBef>
                              <a:spcPts val="0"/>
                            </a:spcBef>
                            <a:spcAft>
                              <a:spcPts val="0"/>
                            </a:spcAft>
                            <a:buFont typeface="Courier New" charset="0"/>
                            <a:buChar char="o"/>
                          </a:pPr>
                          <a:r>
                            <a:rPr lang="en-US" sz="2000" dirty="0">
                              <a:effectLst/>
                              <a:latin typeface="Verdana" charset="0"/>
                              <a:ea typeface="Verdana" charset="0"/>
                              <a:cs typeface="Verdana" charset="0"/>
                            </a:rPr>
                            <a:t>False</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indent="-19050" algn="ctr">
                            <a:spcBef>
                              <a:spcPts val="0"/>
                            </a:spcBef>
                            <a:spcAft>
                              <a:spcPts val="0"/>
                            </a:spcAft>
                          </a:pPr>
                          <a:r>
                            <a:rPr lang="en-US" sz="2000">
                              <a:effectLst/>
                              <a:latin typeface="Verdana" charset="0"/>
                              <a:ea typeface="Verdana" charset="0"/>
                              <a:cs typeface="Verdana" charset="0"/>
                            </a:rPr>
                            <a:t> </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822960">
                    <a:tc>
                      <a:txBody>
                        <a:bodyPr/>
                        <a:lstStyle/>
                        <a:p>
                          <a:pPr marL="0" marR="0" indent="-1905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i="1">
                                    <a:effectLst/>
                                    <a:latin typeface="Cambria Math" charset="0"/>
                                    <a:ea typeface="Verdana" charset="0"/>
                                    <a:cs typeface="Verdana" charset="0"/>
                                  </a:rPr>
                                  <m:t>∠</m:t>
                                </m:r>
                                <m:r>
                                  <a:rPr lang="en-US" sz="2000" i="1">
                                    <a:effectLst/>
                                    <a:latin typeface="Cambria Math" charset="0"/>
                                    <a:ea typeface="Verdana" charset="0"/>
                                    <a:cs typeface="Verdana" charset="0"/>
                                  </a:rPr>
                                  <m:t>𝐻𝐶𝑌</m:t>
                                </m:r>
                                <m:r>
                                  <a:rPr lang="en-US" sz="2000" i="1">
                                    <a:effectLst/>
                                    <a:latin typeface="Cambria Math" charset="0"/>
                                    <a:ea typeface="Verdana" charset="0"/>
                                    <a:cs typeface="Verdana" charset="0"/>
                                  </a:rPr>
                                  <m:t>≅∠</m:t>
                                </m:r>
                                <m:r>
                                  <a:rPr lang="en-US" sz="2000" i="1">
                                    <a:effectLst/>
                                    <a:latin typeface="Cambria Math" charset="0"/>
                                    <a:ea typeface="Verdana" charset="0"/>
                                    <a:cs typeface="Verdana" charset="0"/>
                                  </a:rPr>
                                  <m:t>𝑅𝐶𝑀</m:t>
                                </m:r>
                              </m:oMath>
                            </m:oMathPara>
                          </a14:m>
                          <a:endParaRPr lang="en-US" sz="2000">
                            <a:effectLst/>
                            <a:latin typeface="Verdana" charset="0"/>
                            <a:ea typeface="Verdana" charset="0"/>
                            <a:cs typeface="Verdana" charset="0"/>
                          </a:endParaRPr>
                        </a:p>
                        <a:p>
                          <a:pPr marL="0" marR="0" indent="-19050" algn="ctr">
                            <a:spcBef>
                              <a:spcPts val="0"/>
                            </a:spcBef>
                            <a:spcAft>
                              <a:spcPts val="0"/>
                            </a:spcAft>
                          </a:pPr>
                          <a14:m>
                            <m:oMathPara xmlns:m="http://schemas.openxmlformats.org/officeDocument/2006/math">
                              <m:oMathParaPr>
                                <m:jc m:val="centerGroup"/>
                              </m:oMathParaPr>
                              <m:oMath xmlns:m="http://schemas.openxmlformats.org/officeDocument/2006/math">
                                <m:f>
                                  <m:fPr>
                                    <m:ctrlPr>
                                      <a:rPr lang="en-US" sz="2000" i="1">
                                        <a:effectLst/>
                                        <a:latin typeface="Cambria Math" panose="02040503050406030204" pitchFamily="18" charset="0"/>
                                        <a:ea typeface="Verdana" charset="0"/>
                                        <a:cs typeface="Verdana" charset="0"/>
                                      </a:rPr>
                                    </m:ctrlPr>
                                  </m:fPr>
                                  <m:num>
                                    <m:r>
                                      <a:rPr lang="en-US" sz="2000" i="1">
                                        <a:effectLst/>
                                        <a:latin typeface="Cambria Math" charset="0"/>
                                        <a:ea typeface="Verdana" charset="0"/>
                                        <a:cs typeface="Verdana" charset="0"/>
                                      </a:rPr>
                                      <m:t>𝑀𝑅</m:t>
                                    </m:r>
                                  </m:num>
                                  <m:den>
                                    <m:r>
                                      <a:rPr lang="en-US" sz="2000" i="1">
                                        <a:effectLst/>
                                        <a:latin typeface="Cambria Math" charset="0"/>
                                        <a:ea typeface="Verdana" charset="0"/>
                                        <a:cs typeface="Verdana" charset="0"/>
                                      </a:rPr>
                                      <m:t>𝑌𝐻</m:t>
                                    </m:r>
                                  </m:den>
                                </m:f>
                                <m:r>
                                  <a:rPr lang="en-US" sz="2000" i="1">
                                    <a:effectLst/>
                                    <a:latin typeface="Cambria Math" charset="0"/>
                                    <a:ea typeface="Verdana" charset="0"/>
                                    <a:cs typeface="Verdana" charset="0"/>
                                  </a:rPr>
                                  <m:t>=</m:t>
                                </m:r>
                                <m:f>
                                  <m:fPr>
                                    <m:ctrlPr>
                                      <a:rPr lang="en-US" sz="2000" i="1">
                                        <a:effectLst/>
                                        <a:latin typeface="Cambria Math" panose="02040503050406030204" pitchFamily="18" charset="0"/>
                                        <a:ea typeface="Verdana" charset="0"/>
                                        <a:cs typeface="Verdana" charset="0"/>
                                      </a:rPr>
                                    </m:ctrlPr>
                                  </m:fPr>
                                  <m:num>
                                    <m:r>
                                      <a:rPr lang="en-US" sz="2000" i="1">
                                        <a:effectLst/>
                                        <a:latin typeface="Cambria Math" charset="0"/>
                                        <a:ea typeface="Verdana" charset="0"/>
                                        <a:cs typeface="Verdana" charset="0"/>
                                      </a:rPr>
                                      <m:t>𝑀𝐶</m:t>
                                    </m:r>
                                  </m:num>
                                  <m:den>
                                    <m:r>
                                      <a:rPr lang="en-US" sz="2000" i="1">
                                        <a:effectLst/>
                                        <a:latin typeface="Cambria Math" charset="0"/>
                                        <a:ea typeface="Verdana" charset="0"/>
                                        <a:cs typeface="Verdana" charset="0"/>
                                      </a:rPr>
                                      <m:t>𝑌𝐶</m:t>
                                    </m:r>
                                  </m:den>
                                </m:f>
                              </m:oMath>
                            </m:oMathPara>
                          </a14:m>
                          <a:endParaRPr lang="en-US" sz="200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342900" marR="0" lvl="0" indent="-342900" algn="ctr">
                            <a:spcBef>
                              <a:spcPts val="0"/>
                            </a:spcBef>
                            <a:spcAft>
                              <a:spcPts val="0"/>
                            </a:spcAft>
                            <a:buFont typeface="Courier New" charset="0"/>
                            <a:buChar char="o"/>
                          </a:pPr>
                          <a:r>
                            <a:rPr lang="en-US" sz="2000">
                              <a:effectLst/>
                              <a:latin typeface="Verdana" charset="0"/>
                              <a:ea typeface="Verdana" charset="0"/>
                              <a:cs typeface="Verdana" charset="0"/>
                            </a:rPr>
                            <a:t>True </a:t>
                          </a:r>
                        </a:p>
                        <a:p>
                          <a:pPr marL="342900" marR="0" lvl="0" indent="-342900" algn="ctr">
                            <a:spcBef>
                              <a:spcPts val="0"/>
                            </a:spcBef>
                            <a:spcAft>
                              <a:spcPts val="0"/>
                            </a:spcAft>
                            <a:buFont typeface="Courier New" charset="0"/>
                            <a:buChar char="o"/>
                          </a:pPr>
                          <a:r>
                            <a:rPr lang="en-US" sz="2000">
                              <a:effectLst/>
                              <a:latin typeface="Verdana" charset="0"/>
                              <a:ea typeface="Verdana" charset="0"/>
                              <a:cs typeface="Verdana" charset="0"/>
                            </a:rPr>
                            <a:t>False</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indent="-19050" algn="ctr">
                            <a:spcBef>
                              <a:spcPts val="0"/>
                            </a:spcBef>
                            <a:spcAft>
                              <a:spcPts val="0"/>
                            </a:spcAft>
                          </a:pPr>
                          <a:r>
                            <a:rPr lang="en-US" sz="2000">
                              <a:effectLst/>
                              <a:latin typeface="Verdana" charset="0"/>
                              <a:ea typeface="Verdana" charset="0"/>
                              <a:cs typeface="Verdana" charset="0"/>
                            </a:rPr>
                            <a:t> </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822960">
                    <a:tc>
                      <a:txBody>
                        <a:bodyPr/>
                        <a:lstStyle/>
                        <a:p>
                          <a:pPr marL="0" marR="0" indent="-1905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i="1">
                                    <a:effectLst/>
                                    <a:latin typeface="Cambria Math" charset="0"/>
                                    <a:ea typeface="Verdana" charset="0"/>
                                    <a:cs typeface="Verdana" charset="0"/>
                                  </a:rPr>
                                  <m:t>∠</m:t>
                                </m:r>
                                <m:r>
                                  <a:rPr lang="en-US" sz="2000" i="1">
                                    <a:effectLst/>
                                    <a:latin typeface="Cambria Math" charset="0"/>
                                    <a:ea typeface="Verdana" charset="0"/>
                                    <a:cs typeface="Verdana" charset="0"/>
                                  </a:rPr>
                                  <m:t>𝐻</m:t>
                                </m:r>
                                <m:r>
                                  <a:rPr lang="en-US" sz="2000" i="1">
                                    <a:effectLst/>
                                    <a:latin typeface="Cambria Math" charset="0"/>
                                    <a:ea typeface="Verdana" charset="0"/>
                                    <a:cs typeface="Verdana" charset="0"/>
                                  </a:rPr>
                                  <m:t>≅∠</m:t>
                                </m:r>
                                <m:r>
                                  <a:rPr lang="en-US" sz="2000" i="1">
                                    <a:effectLst/>
                                    <a:latin typeface="Cambria Math" charset="0"/>
                                    <a:ea typeface="Verdana" charset="0"/>
                                    <a:cs typeface="Verdana" charset="0"/>
                                  </a:rPr>
                                  <m:t>𝑅</m:t>
                                </m:r>
                              </m:oMath>
                            </m:oMathPara>
                          </a14:m>
                          <a:endParaRPr lang="en-US" sz="2000">
                            <a:effectLst/>
                            <a:latin typeface="Verdana" charset="0"/>
                            <a:ea typeface="Verdana" charset="0"/>
                            <a:cs typeface="Verdana" charset="0"/>
                          </a:endParaRPr>
                        </a:p>
                        <a:p>
                          <a:pPr marL="0" marR="0" indent="-1905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i="1">
                                    <a:effectLst/>
                                    <a:latin typeface="Cambria Math" charset="0"/>
                                    <a:ea typeface="Verdana" charset="0"/>
                                    <a:cs typeface="Verdana" charset="0"/>
                                  </a:rPr>
                                  <m:t>∠</m:t>
                                </m:r>
                                <m:r>
                                  <a:rPr lang="en-US" sz="2000" i="1">
                                    <a:effectLst/>
                                    <a:latin typeface="Cambria Math" charset="0"/>
                                    <a:ea typeface="Verdana" charset="0"/>
                                    <a:cs typeface="Verdana" charset="0"/>
                                  </a:rPr>
                                  <m:t>𝑌</m:t>
                                </m:r>
                                <m:r>
                                  <a:rPr lang="en-US" sz="2000" i="1">
                                    <a:effectLst/>
                                    <a:latin typeface="Cambria Math" charset="0"/>
                                    <a:ea typeface="Verdana" charset="0"/>
                                    <a:cs typeface="Verdana" charset="0"/>
                                  </a:rPr>
                                  <m:t>≅∠</m:t>
                                </m:r>
                                <m:r>
                                  <a:rPr lang="en-US" sz="2000" i="1">
                                    <a:effectLst/>
                                    <a:latin typeface="Cambria Math" charset="0"/>
                                    <a:ea typeface="Verdana" charset="0"/>
                                    <a:cs typeface="Verdana" charset="0"/>
                                  </a:rPr>
                                  <m:t>𝑀</m:t>
                                </m:r>
                              </m:oMath>
                            </m:oMathPara>
                          </a14:m>
                          <a:endParaRPr lang="en-US" sz="200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342900" marR="0" lvl="0" indent="-342900" algn="ctr">
                            <a:spcBef>
                              <a:spcPts val="0"/>
                            </a:spcBef>
                            <a:spcAft>
                              <a:spcPts val="0"/>
                            </a:spcAft>
                            <a:buFont typeface="Courier New" charset="0"/>
                            <a:buChar char="o"/>
                          </a:pPr>
                          <a:r>
                            <a:rPr lang="en-US" sz="2000" dirty="0">
                              <a:effectLst/>
                              <a:latin typeface="Verdana" charset="0"/>
                              <a:ea typeface="Verdana" charset="0"/>
                              <a:cs typeface="Verdana" charset="0"/>
                            </a:rPr>
                            <a:t>True </a:t>
                          </a:r>
                        </a:p>
                        <a:p>
                          <a:pPr marL="342900" marR="0" lvl="0" indent="-342900" algn="ctr">
                            <a:spcBef>
                              <a:spcPts val="0"/>
                            </a:spcBef>
                            <a:spcAft>
                              <a:spcPts val="0"/>
                            </a:spcAft>
                            <a:buFont typeface="Courier New" charset="0"/>
                            <a:buChar char="o"/>
                          </a:pPr>
                          <a:r>
                            <a:rPr lang="en-US" sz="2000" dirty="0">
                              <a:effectLst/>
                              <a:latin typeface="Verdana" charset="0"/>
                              <a:ea typeface="Verdana" charset="0"/>
                              <a:cs typeface="Verdana" charset="0"/>
                            </a:rPr>
                            <a:t>False</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indent="-19050" algn="ctr">
                            <a:spcBef>
                              <a:spcPts val="0"/>
                            </a:spcBef>
                            <a:spcAft>
                              <a:spcPts val="0"/>
                            </a:spcAft>
                          </a:pPr>
                          <a:r>
                            <a:rPr lang="en-US" sz="2000" dirty="0">
                              <a:effectLst/>
                              <a:latin typeface="Verdana" charset="0"/>
                              <a:ea typeface="Verdana" charset="0"/>
                              <a:cs typeface="Verdana" charset="0"/>
                            </a:rPr>
                            <a:t> </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mc:Choice>
        <mc:Fallback xmlns="">
          <p:graphicFrame>
            <p:nvGraphicFramePr>
              <p:cNvPr id="4" name="Table 3"/>
              <p:cNvGraphicFramePr>
                <a:graphicFrameLocks noGrp="1"/>
              </p:cNvGraphicFramePr>
              <p:nvPr>
                <p:extLst>
                  <p:ext uri="{D42A27DB-BD31-4B8C-83A1-F6EECF244321}">
                    <p14:modId xmlns:p14="http://schemas.microsoft.com/office/powerpoint/2010/main" val="971356865"/>
                  </p:ext>
                </p:extLst>
              </p:nvPr>
            </p:nvGraphicFramePr>
            <p:xfrm>
              <a:off x="2398204" y="2965322"/>
              <a:ext cx="7546259" cy="3437763"/>
            </p:xfrm>
            <a:graphic>
              <a:graphicData uri="http://schemas.openxmlformats.org/drawingml/2006/table">
                <a:tbl>
                  <a:tblPr firstRow="1" firstCol="1" bandRow="1"/>
                  <a:tblGrid>
                    <a:gridCol w="2558418">
                      <a:extLst>
                        <a:ext uri="{9D8B030D-6E8A-4147-A177-3AD203B41FA5}">
                          <a16:colId xmlns:a16="http://schemas.microsoft.com/office/drawing/2014/main" val="20000"/>
                        </a:ext>
                      </a:extLst>
                    </a:gridCol>
                    <a:gridCol w="2579201">
                      <a:extLst>
                        <a:ext uri="{9D8B030D-6E8A-4147-A177-3AD203B41FA5}">
                          <a16:colId xmlns:a16="http://schemas.microsoft.com/office/drawing/2014/main" val="20001"/>
                        </a:ext>
                      </a:extLst>
                    </a:gridCol>
                    <a:gridCol w="2408640">
                      <a:extLst>
                        <a:ext uri="{9D8B030D-6E8A-4147-A177-3AD203B41FA5}">
                          <a16:colId xmlns:a16="http://schemas.microsoft.com/office/drawing/2014/main" val="20002"/>
                        </a:ext>
                      </a:extLst>
                    </a:gridCol>
                  </a:tblGrid>
                  <a:tr h="914400">
                    <a:tc>
                      <a:txBody>
                        <a:bodyPr/>
                        <a:lstStyle/>
                        <a:p>
                          <a:pPr marL="0" marR="0" indent="-19050" algn="ctr">
                            <a:spcBef>
                              <a:spcPts val="0"/>
                            </a:spcBef>
                            <a:spcAft>
                              <a:spcPts val="0"/>
                            </a:spcAft>
                          </a:pPr>
                          <a:r>
                            <a:rPr lang="en-US" sz="2000" b="1">
                              <a:effectLst/>
                              <a:latin typeface="Verdana" charset="0"/>
                              <a:ea typeface="Verdana" charset="0"/>
                              <a:cs typeface="Verdana" charset="0"/>
                            </a:rPr>
                            <a:t>Given Information</a:t>
                          </a:r>
                          <a:endParaRPr lang="en-US" sz="200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endParaRPr lang="en-US"/>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6"/>
                          <a:stretch>
                            <a:fillRect l="-99020" t="-8333" r="-93627" b="-284722"/>
                          </a:stretch>
                        </a:blipFill>
                      </a:tcPr>
                    </a:tc>
                    <a:tc>
                      <a:txBody>
                        <a:bodyPr/>
                        <a:lstStyle/>
                        <a:p>
                          <a:pPr marL="0" marR="0" indent="-19050" algn="ctr">
                            <a:spcBef>
                              <a:spcPts val="0"/>
                            </a:spcBef>
                            <a:spcAft>
                              <a:spcPts val="0"/>
                            </a:spcAft>
                          </a:pPr>
                          <a:r>
                            <a:rPr lang="en-US" sz="2000" b="1">
                              <a:effectLst/>
                              <a:latin typeface="Verdana" charset="0"/>
                              <a:ea typeface="Verdana" charset="0"/>
                              <a:cs typeface="Verdana" charset="0"/>
                            </a:rPr>
                            <a:t>Justification</a:t>
                          </a:r>
                          <a:endParaRPr lang="en-US" sz="200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extLst>
                      <a:ext uri="{0D108BD9-81ED-4DB2-BD59-A6C34878D82A}">
                        <a16:rowId xmlns:a16="http://schemas.microsoft.com/office/drawing/2014/main" val="10000"/>
                      </a:ext>
                    </a:extLst>
                  </a:tr>
                  <a:tr h="822960">
                    <a:tc>
                      <a:txBody>
                        <a:bodyPr/>
                        <a:lstStyle/>
                        <a:p>
                          <a:endParaRPr lang="en-US"/>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6"/>
                          <a:stretch>
                            <a:fillRect t="-120000" r="-195545" b="-215385"/>
                          </a:stretch>
                        </a:blipFill>
                      </a:tcPr>
                    </a:tc>
                    <a:tc>
                      <a:txBody>
                        <a:bodyPr/>
                        <a:lstStyle/>
                        <a:p>
                          <a:pPr marL="342900" marR="0" lvl="0" indent="-342900" algn="ctr">
                            <a:spcBef>
                              <a:spcPts val="0"/>
                            </a:spcBef>
                            <a:spcAft>
                              <a:spcPts val="0"/>
                            </a:spcAft>
                            <a:buFont typeface="Courier New" charset="0"/>
                            <a:buChar char="o"/>
                          </a:pPr>
                          <a:r>
                            <a:rPr lang="en-US" sz="2000" dirty="0">
                              <a:effectLst/>
                              <a:latin typeface="Verdana" charset="0"/>
                              <a:ea typeface="Verdana" charset="0"/>
                              <a:cs typeface="Verdana" charset="0"/>
                            </a:rPr>
                            <a:t>True </a:t>
                          </a:r>
                        </a:p>
                        <a:p>
                          <a:pPr marL="342900" marR="0" lvl="0" indent="-342900" algn="ctr">
                            <a:spcBef>
                              <a:spcPts val="0"/>
                            </a:spcBef>
                            <a:spcAft>
                              <a:spcPts val="0"/>
                            </a:spcAft>
                            <a:buFont typeface="Courier New" charset="0"/>
                            <a:buChar char="o"/>
                          </a:pPr>
                          <a:r>
                            <a:rPr lang="en-US" sz="2000" dirty="0">
                              <a:effectLst/>
                              <a:latin typeface="Verdana" charset="0"/>
                              <a:ea typeface="Verdana" charset="0"/>
                              <a:cs typeface="Verdana" charset="0"/>
                            </a:rPr>
                            <a:t>False</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indent="-19050" algn="ctr">
                            <a:spcBef>
                              <a:spcPts val="0"/>
                            </a:spcBef>
                            <a:spcAft>
                              <a:spcPts val="0"/>
                            </a:spcAft>
                          </a:pPr>
                          <a:r>
                            <a:rPr lang="en-US" sz="2000">
                              <a:effectLst/>
                              <a:latin typeface="Verdana" charset="0"/>
                              <a:ea typeface="Verdana" charset="0"/>
                              <a:cs typeface="Verdana" charset="0"/>
                            </a:rPr>
                            <a:t> </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877443">
                    <a:tc>
                      <a:txBody>
                        <a:bodyPr/>
                        <a:lstStyle/>
                        <a:p>
                          <a:endParaRPr lang="en-US"/>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6"/>
                          <a:stretch>
                            <a:fillRect t="-204286" r="-195545" b="-100000"/>
                          </a:stretch>
                        </a:blipFill>
                      </a:tcPr>
                    </a:tc>
                    <a:tc>
                      <a:txBody>
                        <a:bodyPr/>
                        <a:lstStyle/>
                        <a:p>
                          <a:pPr marL="342900" marR="0" lvl="0" indent="-342900" algn="ctr">
                            <a:spcBef>
                              <a:spcPts val="0"/>
                            </a:spcBef>
                            <a:spcAft>
                              <a:spcPts val="0"/>
                            </a:spcAft>
                            <a:buFont typeface="Courier New" charset="0"/>
                            <a:buChar char="o"/>
                          </a:pPr>
                          <a:r>
                            <a:rPr lang="en-US" sz="2000">
                              <a:effectLst/>
                              <a:latin typeface="Verdana" charset="0"/>
                              <a:ea typeface="Verdana" charset="0"/>
                              <a:cs typeface="Verdana" charset="0"/>
                            </a:rPr>
                            <a:t>True </a:t>
                          </a:r>
                        </a:p>
                        <a:p>
                          <a:pPr marL="342900" marR="0" lvl="0" indent="-342900" algn="ctr">
                            <a:spcBef>
                              <a:spcPts val="0"/>
                            </a:spcBef>
                            <a:spcAft>
                              <a:spcPts val="0"/>
                            </a:spcAft>
                            <a:buFont typeface="Courier New" charset="0"/>
                            <a:buChar char="o"/>
                          </a:pPr>
                          <a:r>
                            <a:rPr lang="en-US" sz="2000">
                              <a:effectLst/>
                              <a:latin typeface="Verdana" charset="0"/>
                              <a:ea typeface="Verdana" charset="0"/>
                              <a:cs typeface="Verdana" charset="0"/>
                            </a:rPr>
                            <a:t>False</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indent="-19050" algn="ctr">
                            <a:spcBef>
                              <a:spcPts val="0"/>
                            </a:spcBef>
                            <a:spcAft>
                              <a:spcPts val="0"/>
                            </a:spcAft>
                          </a:pPr>
                          <a:r>
                            <a:rPr lang="en-US" sz="2000">
                              <a:effectLst/>
                              <a:latin typeface="Verdana" charset="0"/>
                              <a:ea typeface="Verdana" charset="0"/>
                              <a:cs typeface="Verdana" charset="0"/>
                            </a:rPr>
                            <a:t> </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822960">
                    <a:tc>
                      <a:txBody>
                        <a:bodyPr/>
                        <a:lstStyle/>
                        <a:p>
                          <a:endParaRPr lang="en-US"/>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6"/>
                          <a:stretch>
                            <a:fillRect t="-327692" r="-195545" b="-7692"/>
                          </a:stretch>
                        </a:blipFill>
                      </a:tcPr>
                    </a:tc>
                    <a:tc>
                      <a:txBody>
                        <a:bodyPr/>
                        <a:lstStyle/>
                        <a:p>
                          <a:pPr marL="342900" marR="0" lvl="0" indent="-342900" algn="ctr">
                            <a:spcBef>
                              <a:spcPts val="0"/>
                            </a:spcBef>
                            <a:spcAft>
                              <a:spcPts val="0"/>
                            </a:spcAft>
                            <a:buFont typeface="Courier New" charset="0"/>
                            <a:buChar char="o"/>
                          </a:pPr>
                          <a:r>
                            <a:rPr lang="en-US" sz="2000" dirty="0">
                              <a:effectLst/>
                              <a:latin typeface="Verdana" charset="0"/>
                              <a:ea typeface="Verdana" charset="0"/>
                              <a:cs typeface="Verdana" charset="0"/>
                            </a:rPr>
                            <a:t>True </a:t>
                          </a:r>
                        </a:p>
                        <a:p>
                          <a:pPr marL="342900" marR="0" lvl="0" indent="-342900" algn="ctr">
                            <a:spcBef>
                              <a:spcPts val="0"/>
                            </a:spcBef>
                            <a:spcAft>
                              <a:spcPts val="0"/>
                            </a:spcAft>
                            <a:buFont typeface="Courier New" charset="0"/>
                            <a:buChar char="o"/>
                          </a:pPr>
                          <a:r>
                            <a:rPr lang="en-US" sz="2000" dirty="0">
                              <a:effectLst/>
                              <a:latin typeface="Verdana" charset="0"/>
                              <a:ea typeface="Verdana" charset="0"/>
                              <a:cs typeface="Verdana" charset="0"/>
                            </a:rPr>
                            <a:t>False</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indent="-19050" algn="ctr">
                            <a:spcBef>
                              <a:spcPts val="0"/>
                            </a:spcBef>
                            <a:spcAft>
                              <a:spcPts val="0"/>
                            </a:spcAft>
                          </a:pPr>
                          <a:r>
                            <a:rPr lang="en-US" sz="2000" dirty="0">
                              <a:effectLst/>
                              <a:latin typeface="Verdana" charset="0"/>
                              <a:ea typeface="Verdana" charset="0"/>
                              <a:cs typeface="Verdana" charset="0"/>
                            </a:rPr>
                            <a:t> </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mc:Fallback>
      </mc:AlternateContent>
    </p:spTree>
    <p:extLst>
      <p:ext uri="{BB962C8B-B14F-4D97-AF65-F5344CB8AC3E}">
        <p14:creationId xmlns:p14="http://schemas.microsoft.com/office/powerpoint/2010/main" val="194222972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276C46"/>
          </a:solidFill>
          <a:ln w="9525" cap="flat" cmpd="sng">
            <a:solidFill>
              <a:srgbClr val="276C46"/>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599"/>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994150" y="6457800"/>
            <a:ext cx="2634000" cy="400200"/>
          </a:xfrm>
          <a:prstGeom prst="rect">
            <a:avLst/>
          </a:prstGeom>
          <a:noFill/>
          <a:ln>
            <a:noFill/>
          </a:ln>
        </p:spPr>
        <p:txBody>
          <a:bodyPr spcFirstLastPara="1" wrap="square" lIns="91425" tIns="91425" rIns="91425" bIns="91425" anchor="t" anchorCtr="0">
            <a:spAutoFit/>
          </a:bodyPr>
          <a:lstStyle/>
          <a:p>
            <a:pPr lvl="0" algn="r"/>
            <a:r>
              <a:rPr lang="it-IT" i="1" dirty="0">
                <a:latin typeface="Calibri"/>
                <a:ea typeface="Calibri"/>
                <a:cs typeface="Calibri"/>
                <a:sym typeface="Calibri"/>
              </a:rPr>
              <a:t>volume 1, </a:t>
            </a:r>
            <a:r>
              <a:rPr lang="it-IT" i="1" dirty="0" err="1">
                <a:latin typeface="Calibri"/>
                <a:ea typeface="Calibri"/>
                <a:cs typeface="Calibri"/>
                <a:sym typeface="Calibri"/>
              </a:rPr>
              <a:t>pg</a:t>
            </a:r>
            <a:r>
              <a:rPr lang="it-IT" i="1" dirty="0">
                <a:latin typeface="Calibri"/>
                <a:ea typeface="Calibri"/>
                <a:cs typeface="Calibri"/>
                <a:sym typeface="Calibri"/>
              </a:rPr>
              <a:t>. 345</a:t>
            </a:r>
          </a:p>
        </p:txBody>
      </p: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2FA392D8-3ED3-7940-83A8-1451AA8A08D4}"/>
                  </a:ext>
                </a:extLst>
              </p:cNvPr>
              <p:cNvSpPr txBox="1"/>
              <p:nvPr/>
            </p:nvSpPr>
            <p:spPr>
              <a:xfrm>
                <a:off x="433754" y="520393"/>
                <a:ext cx="11500338" cy="5016758"/>
              </a:xfrm>
              <a:prstGeom prst="rect">
                <a:avLst/>
              </a:prstGeom>
              <a:noFill/>
            </p:spPr>
            <p:txBody>
              <a:bodyPr wrap="square" rtlCol="0">
                <a:spAutoFit/>
              </a:bodyPr>
              <a:lstStyle/>
              <a:p>
                <a:pPr marL="457200" indent="-457200">
                  <a:buFont typeface="+mj-lt"/>
                  <a:buAutoNum type="alphaLcPeriod" startAt="2"/>
                </a:pPr>
                <a:r>
                  <a:rPr lang="en-US" sz="2000" dirty="0">
                    <a:latin typeface="Verdana" charset="0"/>
                    <a:ea typeface="Verdana" charset="0"/>
                    <a:cs typeface="Verdana" charset="0"/>
                  </a:rPr>
                  <a:t>Select all of the transformations in a sequence that could be applied so that </a:t>
                </a:r>
                <a14:m>
                  <m:oMath xmlns:m="http://schemas.openxmlformats.org/officeDocument/2006/math">
                    <m:r>
                      <a:rPr lang="en-US" sz="2000" i="1">
                        <a:latin typeface="Cambria Math" charset="0"/>
                        <a:ea typeface="Verdana" charset="0"/>
                        <a:cs typeface="Verdana" charset="0"/>
                      </a:rPr>
                      <m:t>∆</m:t>
                    </m:r>
                    <m:r>
                      <a:rPr lang="en-US" sz="2000" i="1">
                        <a:latin typeface="Cambria Math" charset="0"/>
                        <a:ea typeface="Verdana" charset="0"/>
                        <a:cs typeface="Verdana" charset="0"/>
                      </a:rPr>
                      <m:t>𝑀𝑅𝐶</m:t>
                    </m:r>
                  </m:oMath>
                </a14:m>
                <a:r>
                  <a:rPr lang="en-US" sz="2000" dirty="0">
                    <a:latin typeface="Verdana" charset="0"/>
                    <a:ea typeface="Verdana" charset="0"/>
                    <a:cs typeface="Verdana" charset="0"/>
                  </a:rPr>
                  <a:t> coincides with </a:t>
                </a:r>
                <a14:m>
                  <m:oMath xmlns:m="http://schemas.openxmlformats.org/officeDocument/2006/math">
                    <m:r>
                      <a:rPr lang="en-US" sz="2000" i="1">
                        <a:latin typeface="Cambria Math" charset="0"/>
                        <a:ea typeface="Verdana" charset="0"/>
                        <a:cs typeface="Verdana" charset="0"/>
                      </a:rPr>
                      <m:t>∆</m:t>
                    </m:r>
                    <m:r>
                      <a:rPr lang="en-US" sz="2000" i="1">
                        <a:latin typeface="Cambria Math" charset="0"/>
                        <a:ea typeface="Verdana" charset="0"/>
                        <a:cs typeface="Verdana" charset="0"/>
                      </a:rPr>
                      <m:t>𝑌𝐻𝐶</m:t>
                    </m:r>
                  </m:oMath>
                </a14:m>
                <a:r>
                  <a:rPr lang="en-US" sz="2000" dirty="0">
                    <a:latin typeface="Verdana" charset="0"/>
                    <a:ea typeface="Verdana" charset="0"/>
                    <a:cs typeface="Verdana" charset="0"/>
                  </a:rPr>
                  <a:t>:</a:t>
                </a:r>
              </a:p>
              <a:p>
                <a:pPr marL="457200" indent="-457200">
                  <a:buFont typeface="+mj-lt"/>
                  <a:buAutoNum type="alphaLcPeriod" startAt="2"/>
                </a:pPr>
                <a:endParaRPr lang="en-US" sz="2000" dirty="0">
                  <a:latin typeface="Verdana" charset="0"/>
                  <a:ea typeface="Verdana" charset="0"/>
                  <a:cs typeface="Verdana" charset="0"/>
                </a:endParaRPr>
              </a:p>
              <a:p>
                <a:pPr marL="866775" indent="-371475">
                  <a:buFont typeface="Wingdings" charset="2"/>
                  <a:buChar char="q"/>
                </a:pPr>
                <a:r>
                  <a:rPr lang="en-US" sz="2000" dirty="0">
                    <a:latin typeface="Verdana" charset="0"/>
                    <a:ea typeface="Verdana" charset="0"/>
                    <a:cs typeface="Verdana" charset="0"/>
                  </a:rPr>
                  <a:t>rotate </a:t>
                </a:r>
                <a14:m>
                  <m:oMath xmlns:m="http://schemas.openxmlformats.org/officeDocument/2006/math">
                    <m:r>
                      <a:rPr lang="en-US" sz="2000" i="1">
                        <a:latin typeface="Cambria Math" charset="0"/>
                        <a:ea typeface="Verdana" charset="0"/>
                        <a:cs typeface="Verdana" charset="0"/>
                      </a:rPr>
                      <m:t>∆</m:t>
                    </m:r>
                    <m:r>
                      <a:rPr lang="en-US" sz="2000" i="1">
                        <a:latin typeface="Cambria Math" charset="0"/>
                        <a:ea typeface="Verdana" charset="0"/>
                        <a:cs typeface="Verdana" charset="0"/>
                      </a:rPr>
                      <m:t>𝑀𝑅𝐶</m:t>
                    </m:r>
                  </m:oMath>
                </a14:m>
                <a:r>
                  <a:rPr lang="en-US" sz="2000" dirty="0">
                    <a:latin typeface="Verdana" charset="0"/>
                    <a:ea typeface="Verdana" charset="0"/>
                    <a:cs typeface="Verdana" charset="0"/>
                  </a:rPr>
                  <a:t> about point </a:t>
                </a:r>
                <a14:m>
                  <m:oMath xmlns:m="http://schemas.openxmlformats.org/officeDocument/2006/math">
                    <m:r>
                      <a:rPr lang="en-US" sz="2000" i="1">
                        <a:latin typeface="Cambria Math" charset="0"/>
                        <a:ea typeface="Verdana" charset="0"/>
                        <a:cs typeface="Verdana" charset="0"/>
                      </a:rPr>
                      <m:t>𝐶</m:t>
                    </m:r>
                  </m:oMath>
                </a14:m>
                <a:endParaRPr lang="en-US" sz="2000" dirty="0">
                  <a:latin typeface="Verdana" charset="0"/>
                  <a:ea typeface="Verdana" charset="0"/>
                  <a:cs typeface="Verdana" charset="0"/>
                </a:endParaRPr>
              </a:p>
              <a:p>
                <a:pPr marL="866775" indent="-371475">
                  <a:buFont typeface="Wingdings" charset="2"/>
                  <a:buChar char="q"/>
                </a:pPr>
                <a:endParaRPr lang="en-US" sz="2000" dirty="0">
                  <a:latin typeface="Verdana" charset="0"/>
                  <a:ea typeface="Verdana" charset="0"/>
                  <a:cs typeface="Verdana" charset="0"/>
                </a:endParaRPr>
              </a:p>
              <a:p>
                <a:pPr marL="866775" indent="-371475">
                  <a:buFont typeface="Wingdings" charset="2"/>
                  <a:buChar char="q"/>
                </a:pPr>
                <a:r>
                  <a:rPr lang="en-US" sz="2000" dirty="0">
                    <a:latin typeface="Verdana" charset="0"/>
                    <a:ea typeface="Verdana" charset="0"/>
                    <a:cs typeface="Verdana" charset="0"/>
                  </a:rPr>
                  <a:t>rotate </a:t>
                </a:r>
                <a14:m>
                  <m:oMath xmlns:m="http://schemas.openxmlformats.org/officeDocument/2006/math">
                    <m:r>
                      <a:rPr lang="en-US" sz="2000" i="1">
                        <a:latin typeface="Cambria Math" charset="0"/>
                        <a:ea typeface="Verdana" charset="0"/>
                        <a:cs typeface="Verdana" charset="0"/>
                      </a:rPr>
                      <m:t>∆</m:t>
                    </m:r>
                    <m:r>
                      <a:rPr lang="en-US" sz="2000" i="1">
                        <a:latin typeface="Cambria Math" charset="0"/>
                        <a:ea typeface="Verdana" charset="0"/>
                        <a:cs typeface="Verdana" charset="0"/>
                      </a:rPr>
                      <m:t>𝑀𝑅𝐶</m:t>
                    </m:r>
                  </m:oMath>
                </a14:m>
                <a:r>
                  <a:rPr lang="en-US" sz="2000" dirty="0">
                    <a:latin typeface="Verdana" charset="0"/>
                    <a:ea typeface="Verdana" charset="0"/>
                    <a:cs typeface="Verdana" charset="0"/>
                  </a:rPr>
                  <a:t> about point </a:t>
                </a:r>
                <a14:m>
                  <m:oMath xmlns:m="http://schemas.openxmlformats.org/officeDocument/2006/math">
                    <m:r>
                      <a:rPr lang="en-US" sz="2000" i="1">
                        <a:latin typeface="Cambria Math" charset="0"/>
                        <a:ea typeface="Verdana" charset="0"/>
                        <a:cs typeface="Verdana" charset="0"/>
                      </a:rPr>
                      <m:t>𝑅</m:t>
                    </m:r>
                  </m:oMath>
                </a14:m>
                <a:endParaRPr lang="en-US" sz="2000" dirty="0">
                  <a:latin typeface="Verdana" charset="0"/>
                  <a:ea typeface="Verdana" charset="0"/>
                  <a:cs typeface="Verdana" charset="0"/>
                </a:endParaRPr>
              </a:p>
              <a:p>
                <a:pPr marL="866775" indent="-371475">
                  <a:buFont typeface="Wingdings" charset="2"/>
                  <a:buChar char="q"/>
                </a:pPr>
                <a:endParaRPr lang="en-US" sz="2000" dirty="0">
                  <a:latin typeface="Verdana" charset="0"/>
                  <a:ea typeface="Verdana" charset="0"/>
                  <a:cs typeface="Verdana" charset="0"/>
                </a:endParaRPr>
              </a:p>
              <a:p>
                <a:pPr marL="866775" indent="-371475">
                  <a:buFont typeface="Wingdings" charset="2"/>
                  <a:buChar char="q"/>
                </a:pPr>
                <a:r>
                  <a:rPr lang="en-US" sz="2000" dirty="0">
                    <a:latin typeface="Verdana" charset="0"/>
                    <a:ea typeface="Verdana" charset="0"/>
                    <a:cs typeface="Verdana" charset="0"/>
                  </a:rPr>
                  <a:t>reflect </a:t>
                </a:r>
                <a14:m>
                  <m:oMath xmlns:m="http://schemas.openxmlformats.org/officeDocument/2006/math">
                    <m:r>
                      <a:rPr lang="en-US" sz="2000" i="1">
                        <a:latin typeface="Cambria Math" charset="0"/>
                        <a:ea typeface="Verdana" charset="0"/>
                        <a:cs typeface="Verdana" charset="0"/>
                      </a:rPr>
                      <m:t>∆</m:t>
                    </m:r>
                    <m:r>
                      <a:rPr lang="en-US" sz="2000" i="1">
                        <a:latin typeface="Cambria Math" charset="0"/>
                        <a:ea typeface="Verdana" charset="0"/>
                        <a:cs typeface="Verdana" charset="0"/>
                      </a:rPr>
                      <m:t>𝑀𝑅𝐶</m:t>
                    </m:r>
                  </m:oMath>
                </a14:m>
                <a:r>
                  <a:rPr lang="en-US" sz="2000" dirty="0">
                    <a:latin typeface="Verdana" charset="0"/>
                    <a:ea typeface="Verdana" charset="0"/>
                    <a:cs typeface="Verdana" charset="0"/>
                  </a:rPr>
                  <a:t> across </a:t>
                </a:r>
                <a14:m>
                  <m:oMath xmlns:m="http://schemas.openxmlformats.org/officeDocument/2006/math">
                    <m:acc>
                      <m:accPr>
                        <m:chr m:val="̅"/>
                        <m:ctrlPr>
                          <a:rPr lang="en-US" sz="2000" i="1">
                            <a:latin typeface="Cambria Math" panose="02040503050406030204" pitchFamily="18" charset="0"/>
                            <a:ea typeface="Verdana" charset="0"/>
                            <a:cs typeface="Verdana" charset="0"/>
                          </a:rPr>
                        </m:ctrlPr>
                      </m:accPr>
                      <m:e>
                        <m:r>
                          <a:rPr lang="en-US" sz="2000" i="1">
                            <a:latin typeface="Cambria Math" charset="0"/>
                            <a:ea typeface="Verdana" charset="0"/>
                            <a:cs typeface="Verdana" charset="0"/>
                          </a:rPr>
                          <m:t>𝑀𝑅</m:t>
                        </m:r>
                      </m:e>
                    </m:acc>
                  </m:oMath>
                </a14:m>
                <a:endParaRPr lang="en-US" sz="2000" dirty="0">
                  <a:latin typeface="Verdana" charset="0"/>
                  <a:ea typeface="Verdana" charset="0"/>
                  <a:cs typeface="Verdana" charset="0"/>
                </a:endParaRPr>
              </a:p>
              <a:p>
                <a:pPr marL="866775" indent="-371475">
                  <a:buFont typeface="Wingdings" charset="2"/>
                  <a:buChar char="q"/>
                </a:pPr>
                <a:endParaRPr lang="en-US" sz="2000" dirty="0">
                  <a:latin typeface="Verdana" charset="0"/>
                  <a:ea typeface="Verdana" charset="0"/>
                  <a:cs typeface="Verdana" charset="0"/>
                </a:endParaRPr>
              </a:p>
              <a:p>
                <a:pPr marL="866775" indent="-371475">
                  <a:buFont typeface="Wingdings" charset="2"/>
                  <a:buChar char="q"/>
                </a:pPr>
                <a:r>
                  <a:rPr lang="en-US" sz="2000" dirty="0">
                    <a:latin typeface="Verdana" charset="0"/>
                    <a:ea typeface="Verdana" charset="0"/>
                    <a:cs typeface="Verdana" charset="0"/>
                  </a:rPr>
                  <a:t>reflect </a:t>
                </a:r>
                <a14:m>
                  <m:oMath xmlns:m="http://schemas.openxmlformats.org/officeDocument/2006/math">
                    <m:r>
                      <a:rPr lang="en-US" sz="2000" i="1">
                        <a:latin typeface="Cambria Math" charset="0"/>
                        <a:ea typeface="Verdana" charset="0"/>
                        <a:cs typeface="Verdana" charset="0"/>
                      </a:rPr>
                      <m:t>∆</m:t>
                    </m:r>
                    <m:r>
                      <a:rPr lang="en-US" sz="2000" i="1">
                        <a:latin typeface="Cambria Math" charset="0"/>
                        <a:ea typeface="Verdana" charset="0"/>
                        <a:cs typeface="Verdana" charset="0"/>
                      </a:rPr>
                      <m:t>𝑀𝑅𝐶</m:t>
                    </m:r>
                  </m:oMath>
                </a14:m>
                <a:r>
                  <a:rPr lang="en-US" sz="2000" dirty="0">
                    <a:latin typeface="Verdana" charset="0"/>
                    <a:ea typeface="Verdana" charset="0"/>
                    <a:cs typeface="Verdana" charset="0"/>
                  </a:rPr>
                  <a:t> across </a:t>
                </a:r>
                <a14:m>
                  <m:oMath xmlns:m="http://schemas.openxmlformats.org/officeDocument/2006/math">
                    <m:acc>
                      <m:accPr>
                        <m:chr m:val="̅"/>
                        <m:ctrlPr>
                          <a:rPr lang="en-US" sz="2000" i="1">
                            <a:latin typeface="Cambria Math" panose="02040503050406030204" pitchFamily="18" charset="0"/>
                            <a:ea typeface="Verdana" charset="0"/>
                            <a:cs typeface="Verdana" charset="0"/>
                          </a:rPr>
                        </m:ctrlPr>
                      </m:accPr>
                      <m:e>
                        <m:r>
                          <a:rPr lang="en-US" sz="2000" i="1">
                            <a:latin typeface="Cambria Math" charset="0"/>
                            <a:ea typeface="Verdana" charset="0"/>
                            <a:cs typeface="Verdana" charset="0"/>
                          </a:rPr>
                          <m:t>𝑌𝐻</m:t>
                        </m:r>
                      </m:e>
                    </m:acc>
                  </m:oMath>
                </a14:m>
                <a:endParaRPr lang="en-US" sz="2000" dirty="0">
                  <a:latin typeface="Verdana" charset="0"/>
                  <a:ea typeface="Verdana" charset="0"/>
                  <a:cs typeface="Verdana" charset="0"/>
                </a:endParaRPr>
              </a:p>
              <a:p>
                <a:pPr marL="866775" indent="-371475">
                  <a:buFont typeface="Wingdings" charset="2"/>
                  <a:buChar char="q"/>
                </a:pPr>
                <a:endParaRPr lang="en-US" sz="2000" dirty="0">
                  <a:latin typeface="Verdana" charset="0"/>
                  <a:ea typeface="Verdana" charset="0"/>
                  <a:cs typeface="Verdana" charset="0"/>
                </a:endParaRPr>
              </a:p>
              <a:p>
                <a:pPr marL="866775" indent="-371475">
                  <a:buFont typeface="Wingdings" charset="2"/>
                  <a:buChar char="q"/>
                </a:pPr>
                <a:r>
                  <a:rPr lang="en-US" sz="2000" dirty="0">
                    <a:latin typeface="Verdana" charset="0"/>
                    <a:ea typeface="Verdana" charset="0"/>
                    <a:cs typeface="Verdana" charset="0"/>
                  </a:rPr>
                  <a:t>translate </a:t>
                </a:r>
                <a14:m>
                  <m:oMath xmlns:m="http://schemas.openxmlformats.org/officeDocument/2006/math">
                    <m:r>
                      <a:rPr lang="en-US" sz="2000" i="1">
                        <a:latin typeface="Cambria Math" charset="0"/>
                        <a:ea typeface="Verdana" charset="0"/>
                        <a:cs typeface="Verdana" charset="0"/>
                      </a:rPr>
                      <m:t>∆</m:t>
                    </m:r>
                    <m:r>
                      <a:rPr lang="en-US" sz="2000" i="1">
                        <a:latin typeface="Cambria Math" charset="0"/>
                        <a:ea typeface="Verdana" charset="0"/>
                        <a:cs typeface="Verdana" charset="0"/>
                      </a:rPr>
                      <m:t>𝑀𝑅𝐶</m:t>
                    </m:r>
                  </m:oMath>
                </a14:m>
                <a:r>
                  <a:rPr lang="en-US" sz="2000" dirty="0">
                    <a:latin typeface="Verdana" charset="0"/>
                    <a:ea typeface="Verdana" charset="0"/>
                    <a:cs typeface="Verdana" charset="0"/>
                  </a:rPr>
                  <a:t> left and up</a:t>
                </a:r>
              </a:p>
              <a:p>
                <a:pPr marL="866775" indent="-371475">
                  <a:buFont typeface="Wingdings" charset="2"/>
                  <a:buChar char="q"/>
                </a:pPr>
                <a:endParaRPr lang="en-US" sz="2000" dirty="0">
                  <a:latin typeface="Verdana" charset="0"/>
                  <a:ea typeface="Verdana" charset="0"/>
                  <a:cs typeface="Verdana" charset="0"/>
                </a:endParaRPr>
              </a:p>
              <a:p>
                <a:pPr marL="866775" indent="-371475">
                  <a:buFont typeface="Wingdings" charset="2"/>
                  <a:buChar char="q"/>
                </a:pPr>
                <a:r>
                  <a:rPr lang="en-US" sz="2000" dirty="0">
                    <a:latin typeface="Verdana" charset="0"/>
                    <a:ea typeface="Verdana" charset="0"/>
                    <a:cs typeface="Verdana" charset="0"/>
                  </a:rPr>
                  <a:t>dilate </a:t>
                </a:r>
                <a14:m>
                  <m:oMath xmlns:m="http://schemas.openxmlformats.org/officeDocument/2006/math">
                    <m:r>
                      <a:rPr lang="en-US" sz="2000" i="1">
                        <a:latin typeface="Cambria Math" charset="0"/>
                        <a:ea typeface="Verdana" charset="0"/>
                        <a:cs typeface="Verdana" charset="0"/>
                      </a:rPr>
                      <m:t>∆</m:t>
                    </m:r>
                    <m:r>
                      <a:rPr lang="en-US" sz="2000" i="1">
                        <a:latin typeface="Cambria Math" charset="0"/>
                        <a:ea typeface="Verdana" charset="0"/>
                        <a:cs typeface="Verdana" charset="0"/>
                      </a:rPr>
                      <m:t>𝑀𝑅𝐶</m:t>
                    </m:r>
                  </m:oMath>
                </a14:m>
                <a:r>
                  <a:rPr lang="en-US" sz="2000" dirty="0">
                    <a:latin typeface="Verdana" charset="0"/>
                    <a:ea typeface="Verdana" charset="0"/>
                    <a:cs typeface="Verdana" charset="0"/>
                  </a:rPr>
                  <a:t> using point </a:t>
                </a:r>
                <a14:m>
                  <m:oMath xmlns:m="http://schemas.openxmlformats.org/officeDocument/2006/math">
                    <m:r>
                      <a:rPr lang="en-US" sz="2000" i="1">
                        <a:latin typeface="Cambria Math" charset="0"/>
                        <a:ea typeface="Verdana" charset="0"/>
                        <a:cs typeface="Verdana" charset="0"/>
                      </a:rPr>
                      <m:t>𝐶</m:t>
                    </m:r>
                  </m:oMath>
                </a14:m>
                <a:r>
                  <a:rPr lang="en-US" sz="2000" dirty="0">
                    <a:latin typeface="Verdana" charset="0"/>
                    <a:ea typeface="Verdana" charset="0"/>
                    <a:cs typeface="Verdana" charset="0"/>
                  </a:rPr>
                  <a:t> as the center</a:t>
                </a:r>
              </a:p>
              <a:p>
                <a:pPr marL="866775" indent="-371475">
                  <a:buFont typeface="Wingdings" charset="2"/>
                  <a:buChar char="q"/>
                </a:pPr>
                <a:endParaRPr lang="en-US" sz="2000" dirty="0">
                  <a:latin typeface="Verdana" charset="0"/>
                  <a:ea typeface="Verdana" charset="0"/>
                  <a:cs typeface="Verdana" charset="0"/>
                </a:endParaRPr>
              </a:p>
              <a:p>
                <a:pPr marL="866775" indent="-371475">
                  <a:buFont typeface="Wingdings" charset="2"/>
                  <a:buChar char="q"/>
                </a:pPr>
                <a:r>
                  <a:rPr lang="en-US" sz="2000" dirty="0">
                    <a:latin typeface="Verdana" charset="0"/>
                    <a:ea typeface="Verdana" charset="0"/>
                    <a:cs typeface="Verdana" charset="0"/>
                  </a:rPr>
                  <a:t>dilate </a:t>
                </a:r>
                <a14:m>
                  <m:oMath xmlns:m="http://schemas.openxmlformats.org/officeDocument/2006/math">
                    <m:r>
                      <a:rPr lang="en-US" sz="2000" i="1">
                        <a:latin typeface="Cambria Math" charset="0"/>
                        <a:ea typeface="Verdana" charset="0"/>
                        <a:cs typeface="Verdana" charset="0"/>
                      </a:rPr>
                      <m:t>∆</m:t>
                    </m:r>
                    <m:r>
                      <a:rPr lang="en-US" sz="2000" i="1">
                        <a:latin typeface="Cambria Math" charset="0"/>
                        <a:ea typeface="Verdana" charset="0"/>
                        <a:cs typeface="Verdana" charset="0"/>
                      </a:rPr>
                      <m:t>𝑀𝑅𝐶</m:t>
                    </m:r>
                  </m:oMath>
                </a14:m>
                <a:r>
                  <a:rPr lang="en-US" sz="2000" dirty="0">
                    <a:latin typeface="Verdana" charset="0"/>
                    <a:ea typeface="Verdana" charset="0"/>
                    <a:cs typeface="Verdana" charset="0"/>
                  </a:rPr>
                  <a:t> using point </a:t>
                </a:r>
                <a14:m>
                  <m:oMath xmlns:m="http://schemas.openxmlformats.org/officeDocument/2006/math">
                    <m:r>
                      <a:rPr lang="en-US" sz="2000" i="1">
                        <a:latin typeface="Cambria Math" charset="0"/>
                        <a:ea typeface="Verdana" charset="0"/>
                        <a:cs typeface="Verdana" charset="0"/>
                      </a:rPr>
                      <m:t>𝑅</m:t>
                    </m:r>
                  </m:oMath>
                </a14:m>
                <a:r>
                  <a:rPr lang="en-US" sz="2000" dirty="0">
                    <a:latin typeface="Verdana" charset="0"/>
                    <a:ea typeface="Verdana" charset="0"/>
                    <a:cs typeface="Verdana" charset="0"/>
                  </a:rPr>
                  <a:t> as the center</a:t>
                </a:r>
              </a:p>
            </p:txBody>
          </p:sp>
        </mc:Choice>
        <mc:Fallback xmlns="">
          <p:sp>
            <p:nvSpPr>
              <p:cNvPr id="14" name="TextBox 13">
                <a:extLst>
                  <a:ext uri="{FF2B5EF4-FFF2-40B4-BE49-F238E27FC236}">
                    <a16:creationId xmlns:a16="http://schemas.microsoft.com/office/drawing/2014/main" id="{2FA392D8-3ED3-7940-83A8-1451AA8A08D4}"/>
                  </a:ext>
                </a:extLst>
              </p:cNvPr>
              <p:cNvSpPr txBox="1">
                <a:spLocks noRot="1" noChangeAspect="1" noMove="1" noResize="1" noEditPoints="1" noAdjustHandles="1" noChangeArrowheads="1" noChangeShapeType="1" noTextEdit="1"/>
              </p:cNvSpPr>
              <p:nvPr/>
            </p:nvSpPr>
            <p:spPr>
              <a:xfrm>
                <a:off x="433754" y="520393"/>
                <a:ext cx="11500338" cy="5016758"/>
              </a:xfrm>
              <a:prstGeom prst="rect">
                <a:avLst/>
              </a:prstGeom>
              <a:blipFill>
                <a:blip r:embed="rId4"/>
                <a:stretch>
                  <a:fillRect l="-552" t="-505" b="-1263"/>
                </a:stretch>
              </a:blipFill>
            </p:spPr>
            <p:txBody>
              <a:bodyPr/>
              <a:lstStyle/>
              <a:p>
                <a:r>
                  <a:rPr lang="en-US">
                    <a:noFill/>
                  </a:rPr>
                  <a:t> </a:t>
                </a:r>
              </a:p>
            </p:txBody>
          </p:sp>
        </mc:Fallback>
      </mc:AlternateContent>
    </p:spTree>
    <p:extLst>
      <p:ext uri="{BB962C8B-B14F-4D97-AF65-F5344CB8AC3E}">
        <p14:creationId xmlns:p14="http://schemas.microsoft.com/office/powerpoint/2010/main" val="107312369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276C46"/>
          </a:solidFill>
          <a:ln w="9525" cap="flat" cmpd="sng">
            <a:solidFill>
              <a:srgbClr val="276C46"/>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10292" y="6200599"/>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976292" y="6457675"/>
            <a:ext cx="2634000" cy="400200"/>
          </a:xfrm>
          <a:prstGeom prst="rect">
            <a:avLst/>
          </a:prstGeom>
          <a:noFill/>
          <a:ln>
            <a:noFill/>
          </a:ln>
        </p:spPr>
        <p:txBody>
          <a:bodyPr spcFirstLastPara="1" wrap="square" lIns="91425" tIns="91425" rIns="91425" bIns="91425" anchor="t" anchorCtr="0">
            <a:spAutoFit/>
          </a:bodyPr>
          <a:lstStyle/>
          <a:p>
            <a:pPr lvl="0" algn="r"/>
            <a:r>
              <a:rPr lang="it-IT" i="1" dirty="0">
                <a:latin typeface="Calibri"/>
                <a:ea typeface="Calibri"/>
                <a:cs typeface="Calibri"/>
                <a:sym typeface="Calibri"/>
              </a:rPr>
              <a:t>volume 1, </a:t>
            </a:r>
            <a:r>
              <a:rPr lang="it-IT" i="1" dirty="0" err="1">
                <a:latin typeface="Calibri"/>
                <a:ea typeface="Calibri"/>
                <a:cs typeface="Calibri"/>
                <a:sym typeface="Calibri"/>
              </a:rPr>
              <a:t>pg</a:t>
            </a:r>
            <a:r>
              <a:rPr lang="it-IT" i="1" dirty="0">
                <a:latin typeface="Calibri"/>
                <a:ea typeface="Calibri"/>
                <a:cs typeface="Calibri"/>
                <a:sym typeface="Calibri"/>
              </a:rPr>
              <a:t>. 345</a:t>
            </a:r>
          </a:p>
        </p:txBody>
      </p:sp>
      <p:sp>
        <p:nvSpPr>
          <p:cNvPr id="14" name="TextBox 13">
            <a:extLst>
              <a:ext uri="{FF2B5EF4-FFF2-40B4-BE49-F238E27FC236}">
                <a16:creationId xmlns:a16="http://schemas.microsoft.com/office/drawing/2014/main" id="{2FA392D8-3ED3-7940-83A8-1451AA8A08D4}"/>
              </a:ext>
            </a:extLst>
          </p:cNvPr>
          <p:cNvSpPr txBox="1"/>
          <p:nvPr/>
        </p:nvSpPr>
        <p:spPr>
          <a:xfrm>
            <a:off x="468924" y="520394"/>
            <a:ext cx="11336214" cy="707886"/>
          </a:xfrm>
          <a:prstGeom prst="rect">
            <a:avLst/>
          </a:prstGeom>
          <a:noFill/>
        </p:spPr>
        <p:txBody>
          <a:bodyPr wrap="square" rtlCol="0">
            <a:spAutoFit/>
          </a:bodyPr>
          <a:lstStyle/>
          <a:p>
            <a:pPr marL="457200" indent="-457200">
              <a:buFont typeface="+mj-lt"/>
              <a:buAutoNum type="alphaLcPeriod" startAt="3"/>
            </a:pPr>
            <a:r>
              <a:rPr lang="en-US" sz="2000" dirty="0">
                <a:latin typeface="Verdana" charset="0"/>
                <a:ea typeface="Verdana" charset="0"/>
                <a:cs typeface="Verdana" charset="0"/>
              </a:rPr>
              <a:t>Discuss with your partner what is true about the triangles when all of the transformations have been applied.</a:t>
            </a:r>
          </a:p>
        </p:txBody>
      </p:sp>
      <p:sp>
        <p:nvSpPr>
          <p:cNvPr id="6" name="Text Box 40"/>
          <p:cNvSpPr txBox="1"/>
          <p:nvPr/>
        </p:nvSpPr>
        <p:spPr>
          <a:xfrm>
            <a:off x="2287680" y="1748860"/>
            <a:ext cx="7661071" cy="1958458"/>
          </a:xfrm>
          <a:prstGeom prst="roundRect">
            <a:avLst/>
          </a:prstGeom>
          <a:blipFill dpi="0" rotWithShape="1">
            <a:blip r:embed="rId4">
              <a:extLst>
                <a:ext uri="{28A0092B-C50C-407E-A947-70E740481C1C}">
                  <a14:useLocalDpi xmlns:a14="http://schemas.microsoft.com/office/drawing/2010/main"/>
                </a:ext>
              </a:extLst>
            </a:blip>
            <a:srcRect/>
            <a:stretch>
              <a:fillRect/>
            </a:stretch>
          </a:blipFill>
          <a:ln>
            <a:noFill/>
          </a:ln>
          <a:effectLst>
            <a:outerShdw blurRad="50800" dist="76200" dir="2700000" algn="tl" rotWithShape="0">
              <a:prstClr val="black">
                <a:alpha val="40000"/>
              </a:prstClr>
            </a:outerShdw>
          </a:effectLst>
        </p:spPr>
        <p:style>
          <a:lnRef idx="3">
            <a:schemeClr val="lt1"/>
          </a:lnRef>
          <a:fillRef idx="1">
            <a:schemeClr val="accent5"/>
          </a:fillRef>
          <a:effectRef idx="1">
            <a:schemeClr val="accent5"/>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r>
              <a:rPr lang="en-US" sz="2000" b="1">
                <a:solidFill>
                  <a:srgbClr val="417DBF"/>
                </a:solidFill>
                <a:latin typeface="Verdana" charset="0"/>
                <a:ea typeface="Verdana" charset="0"/>
                <a:cs typeface="Verdana" charset="0"/>
              </a:rPr>
              <a:t>	Similarity </a:t>
            </a:r>
            <a:r>
              <a:rPr lang="en-US" sz="2000" b="1" dirty="0">
                <a:solidFill>
                  <a:srgbClr val="417DBF"/>
                </a:solidFill>
                <a:latin typeface="Verdana" charset="0"/>
                <a:ea typeface="Verdana" charset="0"/>
                <a:cs typeface="Verdana" charset="0"/>
              </a:rPr>
              <a:t>in terms of </a:t>
            </a:r>
            <a:r>
              <a:rPr lang="en-US" sz="2000" b="1">
                <a:solidFill>
                  <a:srgbClr val="417DBF"/>
                </a:solidFill>
                <a:latin typeface="Verdana" charset="0"/>
                <a:ea typeface="Verdana" charset="0"/>
                <a:cs typeface="Verdana" charset="0"/>
              </a:rPr>
              <a:t>non-rigid 	transformations</a:t>
            </a:r>
            <a:r>
              <a:rPr lang="en-US" sz="2000">
                <a:solidFill>
                  <a:srgbClr val="417DBF"/>
                </a:solidFill>
                <a:latin typeface="Verdana" charset="0"/>
                <a:ea typeface="Verdana" charset="0"/>
                <a:cs typeface="Verdana" charset="0"/>
              </a:rPr>
              <a:t> </a:t>
            </a:r>
            <a:r>
              <a:rPr lang="en-US" sz="2000" dirty="0">
                <a:solidFill>
                  <a:srgbClr val="417DBF"/>
                </a:solidFill>
                <a:latin typeface="Verdana" charset="0"/>
                <a:ea typeface="Verdana" charset="0"/>
                <a:cs typeface="Verdana" charset="0"/>
              </a:rPr>
              <a:t>is one or more </a:t>
            </a:r>
            <a:r>
              <a:rPr lang="en-US" sz="2000">
                <a:solidFill>
                  <a:srgbClr val="417DBF"/>
                </a:solidFill>
                <a:latin typeface="Verdana" charset="0"/>
                <a:ea typeface="Verdana" charset="0"/>
                <a:cs typeface="Verdana" charset="0"/>
              </a:rPr>
              <a:t>rigid 	transformations </a:t>
            </a:r>
            <a:r>
              <a:rPr lang="en-US" sz="2000" dirty="0">
                <a:solidFill>
                  <a:srgbClr val="417DBF"/>
                </a:solidFill>
                <a:latin typeface="Verdana" charset="0"/>
                <a:ea typeface="Verdana" charset="0"/>
                <a:cs typeface="Verdana" charset="0"/>
              </a:rPr>
              <a:t>(reflection, rotation, translation</a:t>
            </a:r>
            <a:r>
              <a:rPr lang="en-US" sz="2000">
                <a:solidFill>
                  <a:srgbClr val="417DBF"/>
                </a:solidFill>
                <a:latin typeface="Verdana" charset="0"/>
                <a:ea typeface="Verdana" charset="0"/>
                <a:cs typeface="Verdana" charset="0"/>
              </a:rPr>
              <a:t>) 	combined </a:t>
            </a:r>
            <a:r>
              <a:rPr lang="en-US" sz="2000" dirty="0">
                <a:solidFill>
                  <a:srgbClr val="417DBF"/>
                </a:solidFill>
                <a:latin typeface="Verdana" charset="0"/>
                <a:ea typeface="Verdana" charset="0"/>
                <a:cs typeface="Verdana" charset="0"/>
              </a:rPr>
              <a:t>with a dilation that leads to two </a:t>
            </a:r>
            <a:r>
              <a:rPr lang="en-US" sz="2000">
                <a:solidFill>
                  <a:srgbClr val="417DBF"/>
                </a:solidFill>
                <a:latin typeface="Verdana" charset="0"/>
                <a:ea typeface="Verdana" charset="0"/>
                <a:cs typeface="Verdana" charset="0"/>
              </a:rPr>
              <a:t>figures 	being </a:t>
            </a:r>
            <a:r>
              <a:rPr lang="en-US" sz="2000" dirty="0">
                <a:solidFill>
                  <a:srgbClr val="417DBF"/>
                </a:solidFill>
                <a:latin typeface="Verdana" charset="0"/>
                <a:ea typeface="Verdana" charset="0"/>
                <a:cs typeface="Verdana" charset="0"/>
              </a:rPr>
              <a:t>similar. </a:t>
            </a:r>
          </a:p>
        </p:txBody>
      </p:sp>
      <p:pic>
        <p:nvPicPr>
          <p:cNvPr id="7" name="Picture 6"/>
          <p:cNvPicPr>
            <a:picLocks noChangeAspect="1"/>
          </p:cNvPicPr>
          <p:nvPr/>
        </p:nvPicPr>
        <p:blipFill>
          <a:blip r:embed="rId5">
            <a:extLst>
              <a:ext uri="{28A0092B-C50C-407E-A947-70E740481C1C}">
                <a14:useLocalDpi xmlns:a14="http://schemas.microsoft.com/office/drawing/2010/main"/>
              </a:ext>
            </a:extLst>
          </a:blip>
          <a:stretch>
            <a:fillRect/>
          </a:stretch>
        </p:blipFill>
        <p:spPr>
          <a:xfrm>
            <a:off x="2600479" y="2033486"/>
            <a:ext cx="542544" cy="530352"/>
          </a:xfrm>
          <a:prstGeom prst="rect">
            <a:avLst/>
          </a:prstGeom>
          <a:effectLst>
            <a:outerShdw blurRad="50800" dist="76200" dir="2700000" algn="tl" rotWithShape="0">
              <a:prstClr val="black">
                <a:alpha val="40000"/>
              </a:prstClr>
            </a:outerShdw>
          </a:effectLst>
        </p:spPr>
      </p:pic>
      <p:sp>
        <p:nvSpPr>
          <p:cNvPr id="8" name="Text Box 24"/>
          <p:cNvSpPr txBox="1"/>
          <p:nvPr/>
        </p:nvSpPr>
        <p:spPr>
          <a:xfrm>
            <a:off x="2287680" y="3997600"/>
            <a:ext cx="7661071" cy="1990196"/>
          </a:xfrm>
          <a:prstGeom prst="roundRect">
            <a:avLst/>
          </a:prstGeom>
          <a:solidFill>
            <a:srgbClr val="E2EFD6"/>
          </a:solidFill>
          <a:ln>
            <a:noFill/>
          </a:ln>
          <a:effectLst>
            <a:outerShdw blurRad="50800" dist="76200" dir="2700000" algn="tl" rotWithShape="0">
              <a:prstClr val="black">
                <a:alpha val="40000"/>
              </a:prstClr>
            </a:outerShdw>
          </a:effectLst>
        </p:spPr>
        <p:style>
          <a:lnRef idx="3">
            <a:schemeClr val="lt1"/>
          </a:lnRef>
          <a:fillRef idx="1">
            <a:schemeClr val="accent5"/>
          </a:fillRef>
          <a:effectRef idx="1">
            <a:schemeClr val="accent5"/>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r>
              <a:rPr lang="en-US" sz="2000" b="1" i="1" dirty="0">
                <a:solidFill>
                  <a:schemeClr val="accent6"/>
                </a:solidFill>
                <a:latin typeface="Verdana" charset="0"/>
                <a:ea typeface="Verdana" charset="0"/>
                <a:cs typeface="Verdana" charset="0"/>
              </a:rPr>
              <a:t>	Similarity</a:t>
            </a:r>
            <a:r>
              <a:rPr lang="en-US" sz="2000" dirty="0">
                <a:solidFill>
                  <a:schemeClr val="accent6"/>
                </a:solidFill>
                <a:latin typeface="Verdana" charset="0"/>
                <a:ea typeface="Verdana" charset="0"/>
                <a:cs typeface="Verdana" charset="0"/>
              </a:rPr>
              <a:t> is having exactly the same shape but 	not necessarily the same size. Two figures are 	similar</a:t>
            </a:r>
            <a:r>
              <a:rPr lang="en-US" sz="2000" b="1" i="1" dirty="0">
                <a:solidFill>
                  <a:schemeClr val="accent6"/>
                </a:solidFill>
                <a:latin typeface="Verdana" charset="0"/>
                <a:ea typeface="Verdana" charset="0"/>
                <a:cs typeface="Verdana" charset="0"/>
              </a:rPr>
              <a:t> </a:t>
            </a:r>
            <a:r>
              <a:rPr lang="en-US" sz="2000" dirty="0">
                <a:solidFill>
                  <a:schemeClr val="accent6"/>
                </a:solidFill>
                <a:latin typeface="Verdana" charset="0"/>
                <a:ea typeface="Verdana" charset="0"/>
                <a:cs typeface="Verdana" charset="0"/>
              </a:rPr>
              <a:t>if and only if one figure can be obtained 	from the other by a dilation, or a sequence of 	transformations that includes a dilation.</a:t>
            </a:r>
          </a:p>
        </p:txBody>
      </p:sp>
      <p:pic>
        <p:nvPicPr>
          <p:cNvPr id="9" name="Picture 8"/>
          <p:cNvPicPr>
            <a:picLocks noChangeAspect="1"/>
          </p:cNvPicPr>
          <p:nvPr/>
        </p:nvPicPr>
        <p:blipFill>
          <a:blip r:embed="rId6">
            <a:extLst>
              <a:ext uri="{28A0092B-C50C-407E-A947-70E740481C1C}">
                <a14:useLocalDpi xmlns:a14="http://schemas.microsoft.com/office/drawing/2010/main"/>
              </a:ext>
            </a:extLst>
          </a:blip>
          <a:stretch>
            <a:fillRect/>
          </a:stretch>
        </p:blipFill>
        <p:spPr>
          <a:xfrm>
            <a:off x="2600479" y="4248059"/>
            <a:ext cx="542544" cy="530352"/>
          </a:xfrm>
          <a:prstGeom prst="rect">
            <a:avLst/>
          </a:prstGeom>
          <a:effectLst>
            <a:outerShdw blurRad="50800" dist="76200" dir="2700000" algn="tl" rotWithShape="0">
              <a:prstClr val="black">
                <a:alpha val="40000"/>
              </a:prstClr>
            </a:outerShdw>
          </a:effectLst>
        </p:spPr>
      </p:pic>
    </p:spTree>
    <p:extLst>
      <p:ext uri="{BB962C8B-B14F-4D97-AF65-F5344CB8AC3E}">
        <p14:creationId xmlns:p14="http://schemas.microsoft.com/office/powerpoint/2010/main" val="42813710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276C46"/>
          </a:solidFill>
          <a:ln w="9525" cap="flat" cmpd="sng">
            <a:solidFill>
              <a:srgbClr val="276C46"/>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2426" y="6200599"/>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988426" y="6457675"/>
            <a:ext cx="2634000" cy="400200"/>
          </a:xfrm>
          <a:prstGeom prst="rect">
            <a:avLst/>
          </a:prstGeom>
          <a:noFill/>
          <a:ln>
            <a:noFill/>
          </a:ln>
        </p:spPr>
        <p:txBody>
          <a:bodyPr spcFirstLastPara="1" wrap="square" lIns="91425" tIns="91425" rIns="91425" bIns="91425" anchor="t" anchorCtr="0">
            <a:spAutoFit/>
          </a:bodyPr>
          <a:lstStyle/>
          <a:p>
            <a:pPr lvl="0" algn="r"/>
            <a:r>
              <a:rPr lang="it-IT" i="1" dirty="0">
                <a:latin typeface="Calibri"/>
                <a:ea typeface="Calibri"/>
                <a:cs typeface="Calibri"/>
                <a:sym typeface="Calibri"/>
              </a:rPr>
              <a:t>volume 1, </a:t>
            </a:r>
            <a:r>
              <a:rPr lang="it-IT" i="1" dirty="0" err="1">
                <a:latin typeface="Calibri"/>
                <a:ea typeface="Calibri"/>
                <a:cs typeface="Calibri"/>
                <a:sym typeface="Calibri"/>
              </a:rPr>
              <a:t>pg</a:t>
            </a:r>
            <a:r>
              <a:rPr lang="it-IT" i="1" dirty="0">
                <a:latin typeface="Calibri"/>
                <a:ea typeface="Calibri"/>
                <a:cs typeface="Calibri"/>
                <a:sym typeface="Calibri"/>
              </a:rPr>
              <a:t>. 345</a:t>
            </a:r>
          </a:p>
        </p:txBody>
      </p: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2FA392D8-3ED3-7940-83A8-1451AA8A08D4}"/>
                  </a:ext>
                </a:extLst>
              </p:cNvPr>
              <p:cNvSpPr txBox="1"/>
              <p:nvPr/>
            </p:nvSpPr>
            <p:spPr>
              <a:xfrm>
                <a:off x="363415" y="520393"/>
                <a:ext cx="11383107" cy="707886"/>
              </a:xfrm>
              <a:prstGeom prst="rect">
                <a:avLst/>
              </a:prstGeom>
              <a:noFill/>
            </p:spPr>
            <p:txBody>
              <a:bodyPr wrap="square" rtlCol="0">
                <a:spAutoFit/>
              </a:bodyPr>
              <a:lstStyle/>
              <a:p>
                <a:pPr marL="457200" indent="-457200">
                  <a:buFont typeface="+mj-lt"/>
                  <a:buAutoNum type="alphaLcPeriod" startAt="4"/>
                </a:pPr>
                <a:r>
                  <a:rPr lang="en-US" sz="2000" dirty="0">
                    <a:latin typeface="Verdana" charset="0"/>
                    <a:ea typeface="Verdana" charset="0"/>
                    <a:cs typeface="Verdana" charset="0"/>
                  </a:rPr>
                  <a:t>Use the definition of similarity in terms of non-rigid motions to justify that </a:t>
                </a:r>
                <a14:m>
                  <m:oMath xmlns:m="http://schemas.openxmlformats.org/officeDocument/2006/math">
                    <m:r>
                      <a:rPr lang="en-US" sz="2000" i="1">
                        <a:latin typeface="Cambria Math" charset="0"/>
                        <a:ea typeface="Verdana" charset="0"/>
                        <a:cs typeface="Verdana" charset="0"/>
                      </a:rPr>
                      <m:t>∆</m:t>
                    </m:r>
                    <m:r>
                      <a:rPr lang="en-US" sz="2000" i="1">
                        <a:latin typeface="Cambria Math" charset="0"/>
                        <a:ea typeface="Verdana" charset="0"/>
                        <a:cs typeface="Verdana" charset="0"/>
                      </a:rPr>
                      <m:t>𝑀𝑅𝐶</m:t>
                    </m:r>
                  </m:oMath>
                </a14:m>
                <a:r>
                  <a:rPr lang="en-US" sz="2000" dirty="0">
                    <a:latin typeface="Verdana" charset="0"/>
                    <a:ea typeface="Verdana" charset="0"/>
                    <a:cs typeface="Verdana" charset="0"/>
                  </a:rPr>
                  <a:t> and </a:t>
                </a:r>
                <a14:m>
                  <m:oMath xmlns:m="http://schemas.openxmlformats.org/officeDocument/2006/math">
                    <m:r>
                      <a:rPr lang="en-US" sz="2000" i="1">
                        <a:latin typeface="Cambria Math" charset="0"/>
                        <a:ea typeface="Verdana" charset="0"/>
                        <a:cs typeface="Verdana" charset="0"/>
                      </a:rPr>
                      <m:t>∆</m:t>
                    </m:r>
                    <m:r>
                      <a:rPr lang="en-US" sz="2000" i="1">
                        <a:latin typeface="Cambria Math" charset="0"/>
                        <a:ea typeface="Verdana" charset="0"/>
                        <a:cs typeface="Verdana" charset="0"/>
                      </a:rPr>
                      <m:t>𝑌𝐻𝐶</m:t>
                    </m:r>
                  </m:oMath>
                </a14:m>
                <a:r>
                  <a:rPr lang="en-US" sz="2000" dirty="0">
                    <a:latin typeface="Verdana" charset="0"/>
                    <a:ea typeface="Verdana" charset="0"/>
                    <a:cs typeface="Verdana" charset="0"/>
                  </a:rPr>
                  <a:t> are similar.</a:t>
                </a:r>
              </a:p>
            </p:txBody>
          </p:sp>
        </mc:Choice>
        <mc:Fallback xmlns="">
          <p:sp>
            <p:nvSpPr>
              <p:cNvPr id="14" name="TextBox 13">
                <a:extLst>
                  <a:ext uri="{FF2B5EF4-FFF2-40B4-BE49-F238E27FC236}">
                    <a16:creationId xmlns:a16="http://schemas.microsoft.com/office/drawing/2014/main" id="{2FA392D8-3ED3-7940-83A8-1451AA8A08D4}"/>
                  </a:ext>
                </a:extLst>
              </p:cNvPr>
              <p:cNvSpPr txBox="1">
                <a:spLocks noRot="1" noChangeAspect="1" noMove="1" noResize="1" noEditPoints="1" noAdjustHandles="1" noChangeArrowheads="1" noChangeShapeType="1" noTextEdit="1"/>
              </p:cNvSpPr>
              <p:nvPr/>
            </p:nvSpPr>
            <p:spPr>
              <a:xfrm>
                <a:off x="363415" y="520393"/>
                <a:ext cx="11383107" cy="707886"/>
              </a:xfrm>
              <a:prstGeom prst="rect">
                <a:avLst/>
              </a:prstGeom>
              <a:blipFill>
                <a:blip r:embed="rId4"/>
                <a:stretch>
                  <a:fillRect l="-557" t="-3509" b="-14035"/>
                </a:stretch>
              </a:blipFill>
            </p:spPr>
            <p:txBody>
              <a:bodyPr/>
              <a:lstStyle/>
              <a:p>
                <a:r>
                  <a:rPr lang="en-US">
                    <a:noFill/>
                  </a:rPr>
                  <a:t> </a:t>
                </a:r>
              </a:p>
            </p:txBody>
          </p:sp>
        </mc:Fallback>
      </mc:AlternateContent>
    </p:spTree>
    <p:extLst>
      <p:ext uri="{BB962C8B-B14F-4D97-AF65-F5344CB8AC3E}">
        <p14:creationId xmlns:p14="http://schemas.microsoft.com/office/powerpoint/2010/main" val="180955035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 name="Rounded Rectangle 1"/>
          <p:cNvSpPr/>
          <p:nvPr/>
        </p:nvSpPr>
        <p:spPr>
          <a:xfrm>
            <a:off x="2372332" y="1019391"/>
            <a:ext cx="7122695" cy="1521215"/>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8" name="Google Shape;278;g104476d1465_1_17"/>
          <p:cNvSpPr/>
          <p:nvPr/>
        </p:nvSpPr>
        <p:spPr>
          <a:xfrm>
            <a:off x="0" y="0"/>
            <a:ext cx="223200" cy="6866100"/>
          </a:xfrm>
          <a:prstGeom prst="rect">
            <a:avLst/>
          </a:prstGeom>
          <a:solidFill>
            <a:srgbClr val="276C46"/>
          </a:solidFill>
          <a:ln w="9525" cap="flat" cmpd="sng">
            <a:solidFill>
              <a:srgbClr val="276C46"/>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14384" y="6200599"/>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980384" y="6465900"/>
            <a:ext cx="2634000" cy="400200"/>
          </a:xfrm>
          <a:prstGeom prst="rect">
            <a:avLst/>
          </a:prstGeom>
          <a:noFill/>
          <a:ln>
            <a:noFill/>
          </a:ln>
        </p:spPr>
        <p:txBody>
          <a:bodyPr spcFirstLastPara="1" wrap="square" lIns="91425" tIns="91425" rIns="91425" bIns="91425" anchor="t" anchorCtr="0">
            <a:spAutoFit/>
          </a:bodyPr>
          <a:lstStyle/>
          <a:p>
            <a:pPr lvl="0" algn="r"/>
            <a:r>
              <a:rPr lang="it-IT" i="1" dirty="0">
                <a:latin typeface="Calibri"/>
                <a:ea typeface="Calibri"/>
                <a:cs typeface="Calibri"/>
                <a:sym typeface="Calibri"/>
              </a:rPr>
              <a:t>volume 1, </a:t>
            </a:r>
            <a:r>
              <a:rPr lang="it-IT" i="1" dirty="0" err="1">
                <a:latin typeface="Calibri"/>
                <a:ea typeface="Calibri"/>
                <a:cs typeface="Calibri"/>
                <a:sym typeface="Calibri"/>
              </a:rPr>
              <a:t>pg</a:t>
            </a:r>
            <a:r>
              <a:rPr lang="it-IT" i="1" dirty="0">
                <a:latin typeface="Calibri"/>
                <a:ea typeface="Calibri"/>
                <a:cs typeface="Calibri"/>
                <a:sym typeface="Calibri"/>
              </a:rPr>
              <a:t>. 346</a:t>
            </a:r>
          </a:p>
        </p:txBody>
      </p:sp>
      <p:sp>
        <p:nvSpPr>
          <p:cNvPr id="14" name="TextBox 13">
            <a:extLst>
              <a:ext uri="{FF2B5EF4-FFF2-40B4-BE49-F238E27FC236}">
                <a16:creationId xmlns:a16="http://schemas.microsoft.com/office/drawing/2014/main" id="{2FA392D8-3ED3-7940-83A8-1451AA8A08D4}"/>
              </a:ext>
            </a:extLst>
          </p:cNvPr>
          <p:cNvSpPr txBox="1"/>
          <p:nvPr/>
        </p:nvSpPr>
        <p:spPr>
          <a:xfrm>
            <a:off x="422031" y="520393"/>
            <a:ext cx="9912870" cy="400110"/>
          </a:xfrm>
          <a:prstGeom prst="rect">
            <a:avLst/>
          </a:prstGeom>
          <a:noFill/>
        </p:spPr>
        <p:txBody>
          <a:bodyPr wrap="square" rtlCol="0">
            <a:spAutoFit/>
          </a:bodyPr>
          <a:lstStyle/>
          <a:p>
            <a:pPr marL="457200" indent="-457200">
              <a:buFont typeface="+mj-lt"/>
              <a:buAutoNum type="arabicPeriod" startAt="3"/>
            </a:pPr>
            <a:r>
              <a:rPr lang="en-US" sz="2000" dirty="0">
                <a:latin typeface="Verdana" charset="0"/>
                <a:ea typeface="Verdana" charset="0"/>
                <a:cs typeface="Verdana" charset="0"/>
              </a:rPr>
              <a:t>Consider the following statement. </a:t>
            </a:r>
          </a:p>
        </p:txBody>
      </p:sp>
      <p:sp>
        <p:nvSpPr>
          <p:cNvPr id="4" name="Rectangle 3"/>
          <p:cNvSpPr/>
          <p:nvPr/>
        </p:nvSpPr>
        <p:spPr>
          <a:xfrm>
            <a:off x="2547508" y="1118280"/>
            <a:ext cx="6648360" cy="1323439"/>
          </a:xfrm>
          <a:prstGeom prst="rect">
            <a:avLst/>
          </a:prstGeom>
        </p:spPr>
        <p:txBody>
          <a:bodyPr wrap="square">
            <a:spAutoFit/>
          </a:bodyPr>
          <a:lstStyle/>
          <a:p>
            <a:r>
              <a:rPr lang="en-US" sz="2000" dirty="0">
                <a:latin typeface="Verdana" charset="0"/>
                <a:ea typeface="Verdana" charset="0"/>
                <a:cs typeface="Verdana" charset="0"/>
              </a:rPr>
              <a:t>If it is possible to find one or more transformations that will transform a figure such that all corresponding points coincide with the other figure, then the figures will be similar. </a:t>
            </a:r>
          </a:p>
        </p:txBody>
      </p:sp>
      <p:sp>
        <p:nvSpPr>
          <p:cNvPr id="5" name="Rectangle 4"/>
          <p:cNvSpPr/>
          <p:nvPr/>
        </p:nvSpPr>
        <p:spPr>
          <a:xfrm>
            <a:off x="2067593" y="2639494"/>
            <a:ext cx="7732175" cy="400110"/>
          </a:xfrm>
          <a:prstGeom prst="rect">
            <a:avLst/>
          </a:prstGeom>
        </p:spPr>
        <p:txBody>
          <a:bodyPr wrap="square">
            <a:spAutoFit/>
          </a:bodyPr>
          <a:lstStyle/>
          <a:p>
            <a:pPr marL="457200"/>
            <a:r>
              <a:rPr lang="en-US" sz="2000" dirty="0">
                <a:latin typeface="Verdana" charset="0"/>
                <a:ea typeface="Times New Roman" charset="0"/>
                <a:cs typeface="Arial" charset="0"/>
              </a:rPr>
              <a:t>Explain what this statement means in your own words. </a:t>
            </a:r>
            <a:endParaRPr lang="en-US" sz="2000" dirty="0">
              <a:latin typeface="Cambria" charset="0"/>
              <a:ea typeface="Times New Roman" charset="0"/>
              <a:cs typeface="Times New Roman" charset="0"/>
            </a:endParaRPr>
          </a:p>
        </p:txBody>
      </p:sp>
    </p:spTree>
    <p:extLst>
      <p:ext uri="{BB962C8B-B14F-4D97-AF65-F5344CB8AC3E}">
        <p14:creationId xmlns:p14="http://schemas.microsoft.com/office/powerpoint/2010/main" val="51876484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276C46"/>
          </a:solidFill>
          <a:ln w="9525" cap="flat" cmpd="sng">
            <a:solidFill>
              <a:srgbClr val="276C46"/>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599"/>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994150" y="6457675"/>
            <a:ext cx="2634000" cy="400200"/>
          </a:xfrm>
          <a:prstGeom prst="rect">
            <a:avLst/>
          </a:prstGeom>
          <a:noFill/>
          <a:ln>
            <a:noFill/>
          </a:ln>
        </p:spPr>
        <p:txBody>
          <a:bodyPr spcFirstLastPara="1" wrap="square" lIns="91425" tIns="91425" rIns="91425" bIns="91425" anchor="t" anchorCtr="0">
            <a:spAutoFit/>
          </a:bodyPr>
          <a:lstStyle/>
          <a:p>
            <a:pPr lvl="0" algn="r"/>
            <a:r>
              <a:rPr lang="it-IT" i="1" dirty="0">
                <a:latin typeface="Calibri"/>
                <a:ea typeface="Calibri"/>
                <a:cs typeface="Calibri"/>
                <a:sym typeface="Calibri"/>
              </a:rPr>
              <a:t>volume 1, </a:t>
            </a:r>
            <a:r>
              <a:rPr lang="it-IT" i="1" dirty="0" err="1">
                <a:latin typeface="Calibri"/>
                <a:ea typeface="Calibri"/>
                <a:cs typeface="Calibri"/>
                <a:sym typeface="Calibri"/>
              </a:rPr>
              <a:t>pg</a:t>
            </a:r>
            <a:r>
              <a:rPr lang="it-IT" i="1" dirty="0">
                <a:latin typeface="Calibri"/>
                <a:ea typeface="Calibri"/>
                <a:cs typeface="Calibri"/>
                <a:sym typeface="Calibri"/>
              </a:rPr>
              <a:t>. 346</a:t>
            </a:r>
          </a:p>
        </p:txBody>
      </p: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2FA392D8-3ED3-7940-83A8-1451AA8A08D4}"/>
                  </a:ext>
                </a:extLst>
              </p:cNvPr>
              <p:cNvSpPr txBox="1"/>
              <p:nvPr/>
            </p:nvSpPr>
            <p:spPr>
              <a:xfrm>
                <a:off x="468923" y="520393"/>
                <a:ext cx="9865978" cy="843308"/>
              </a:xfrm>
              <a:prstGeom prst="rect">
                <a:avLst/>
              </a:prstGeom>
              <a:noFill/>
            </p:spPr>
            <p:txBody>
              <a:bodyPr wrap="square" rtlCol="0">
                <a:spAutoFit/>
              </a:bodyPr>
              <a:lstStyle/>
              <a:p>
                <a:pPr marL="457200" indent="-457200">
                  <a:buFont typeface="+mj-lt"/>
                  <a:buAutoNum type="arabicPeriod" startAt="4"/>
                </a:pPr>
                <a14:m>
                  <m:oMath xmlns:m="http://schemas.openxmlformats.org/officeDocument/2006/math">
                    <m:r>
                      <a:rPr lang="en-US" sz="2000" i="1">
                        <a:latin typeface="Cambria Math" panose="02040503050406030204" pitchFamily="18" charset="0"/>
                        <a:ea typeface="Verdana" charset="0"/>
                        <a:cs typeface="Verdana" charset="0"/>
                      </a:rPr>
                      <m:t>∆</m:t>
                    </m:r>
                    <m:r>
                      <a:rPr lang="en-US" sz="2000" i="1">
                        <a:latin typeface="Cambria Math" panose="02040503050406030204" pitchFamily="18" charset="0"/>
                        <a:ea typeface="Verdana" charset="0"/>
                        <a:cs typeface="Verdana" charset="0"/>
                      </a:rPr>
                      <m:t>𝑅𝐾𝑊</m:t>
                    </m:r>
                  </m:oMath>
                </a14:m>
                <a:r>
                  <a:rPr lang="en-US" sz="2000" dirty="0">
                    <a:latin typeface="Verdana" charset="0"/>
                    <a:ea typeface="Verdana" charset="0"/>
                    <a:cs typeface="Verdana" charset="0"/>
                  </a:rPr>
                  <a:t> and </a:t>
                </a:r>
                <a14:m>
                  <m:oMath xmlns:m="http://schemas.openxmlformats.org/officeDocument/2006/math">
                    <m:r>
                      <a:rPr lang="en-US" sz="2000" i="1">
                        <a:latin typeface="Cambria Math" panose="02040503050406030204" pitchFamily="18" charset="0"/>
                        <a:ea typeface="Verdana" charset="0"/>
                        <a:cs typeface="Verdana" charset="0"/>
                      </a:rPr>
                      <m:t>∆</m:t>
                    </m:r>
                    <m:r>
                      <a:rPr lang="en-US" sz="2000" i="1">
                        <a:latin typeface="Cambria Math" panose="02040503050406030204" pitchFamily="18" charset="0"/>
                        <a:ea typeface="Verdana" charset="0"/>
                        <a:cs typeface="Verdana" charset="0"/>
                      </a:rPr>
                      <m:t>𝐵𝑍𝑆</m:t>
                    </m:r>
                  </m:oMath>
                </a14:m>
                <a:r>
                  <a:rPr lang="en-US" sz="2000" dirty="0">
                    <a:latin typeface="Verdana" charset="0"/>
                    <a:ea typeface="Verdana" charset="0"/>
                    <a:cs typeface="Verdana" charset="0"/>
                  </a:rPr>
                  <a:t> are shown.  </a:t>
                </a:r>
              </a:p>
              <a:p>
                <a:pPr marL="463550"/>
                <a:r>
                  <a:rPr lang="en-US" sz="2000" dirty="0">
                    <a:latin typeface="Verdana" charset="0"/>
                    <a:ea typeface="Verdana" charset="0"/>
                    <a:cs typeface="Verdana" charset="0"/>
                  </a:rPr>
                  <a:t>Assume: </a:t>
                </a:r>
                <a14:m>
                  <m:oMath xmlns:m="http://schemas.openxmlformats.org/officeDocument/2006/math">
                    <m:f>
                      <m:fPr>
                        <m:ctrlPr>
                          <a:rPr lang="en-US" sz="2000" i="1">
                            <a:latin typeface="Cambria Math" panose="02040503050406030204" pitchFamily="18" charset="0"/>
                            <a:ea typeface="Verdana" charset="0"/>
                            <a:cs typeface="Verdana" charset="0"/>
                          </a:rPr>
                        </m:ctrlPr>
                      </m:fPr>
                      <m:num>
                        <m:r>
                          <a:rPr lang="en-US" sz="2000" i="1">
                            <a:latin typeface="Cambria Math" panose="02040503050406030204" pitchFamily="18" charset="0"/>
                            <a:ea typeface="Verdana" charset="0"/>
                            <a:cs typeface="Verdana" charset="0"/>
                          </a:rPr>
                          <m:t>𝑅𝑊</m:t>
                        </m:r>
                      </m:num>
                      <m:den>
                        <m:r>
                          <a:rPr lang="en-US" sz="2000" i="1">
                            <a:latin typeface="Cambria Math" panose="02040503050406030204" pitchFamily="18" charset="0"/>
                            <a:ea typeface="Verdana" charset="0"/>
                            <a:cs typeface="Verdana" charset="0"/>
                          </a:rPr>
                          <m:t>𝐵𝑆</m:t>
                        </m:r>
                      </m:den>
                    </m:f>
                    <m:r>
                      <a:rPr lang="en-US" sz="2000" i="1">
                        <a:latin typeface="Cambria Math" panose="02040503050406030204" pitchFamily="18" charset="0"/>
                        <a:ea typeface="Verdana" charset="0"/>
                        <a:cs typeface="Verdana" charset="0"/>
                      </a:rPr>
                      <m:t>=</m:t>
                    </m:r>
                    <m:f>
                      <m:fPr>
                        <m:ctrlPr>
                          <a:rPr lang="en-US" sz="2000" i="1">
                            <a:latin typeface="Cambria Math" panose="02040503050406030204" pitchFamily="18" charset="0"/>
                            <a:ea typeface="Verdana" charset="0"/>
                            <a:cs typeface="Verdana" charset="0"/>
                          </a:rPr>
                        </m:ctrlPr>
                      </m:fPr>
                      <m:num>
                        <m:r>
                          <a:rPr lang="en-US" sz="2000" i="1">
                            <a:latin typeface="Cambria Math" panose="02040503050406030204" pitchFamily="18" charset="0"/>
                            <a:ea typeface="Verdana" charset="0"/>
                            <a:cs typeface="Verdana" charset="0"/>
                          </a:rPr>
                          <m:t>𝑊𝐾</m:t>
                        </m:r>
                      </m:num>
                      <m:den>
                        <m:r>
                          <a:rPr lang="en-US" sz="2000" i="1">
                            <a:latin typeface="Cambria Math" panose="02040503050406030204" pitchFamily="18" charset="0"/>
                            <a:ea typeface="Verdana" charset="0"/>
                            <a:cs typeface="Verdana" charset="0"/>
                          </a:rPr>
                          <m:t>𝑆𝑍</m:t>
                        </m:r>
                      </m:den>
                    </m:f>
                    <m:r>
                      <a:rPr lang="en-US" sz="2000" i="1">
                        <a:latin typeface="Cambria Math" panose="02040503050406030204" pitchFamily="18" charset="0"/>
                        <a:ea typeface="Verdana" charset="0"/>
                        <a:cs typeface="Verdana" charset="0"/>
                      </a:rPr>
                      <m:t>=</m:t>
                    </m:r>
                    <m:f>
                      <m:fPr>
                        <m:ctrlPr>
                          <a:rPr lang="en-US" sz="2000" i="1">
                            <a:latin typeface="Cambria Math" panose="02040503050406030204" pitchFamily="18" charset="0"/>
                            <a:ea typeface="Verdana" charset="0"/>
                            <a:cs typeface="Verdana" charset="0"/>
                          </a:rPr>
                        </m:ctrlPr>
                      </m:fPr>
                      <m:num>
                        <m:r>
                          <a:rPr lang="en-US" sz="2000" i="1">
                            <a:latin typeface="Cambria Math" panose="02040503050406030204" pitchFamily="18" charset="0"/>
                            <a:ea typeface="Verdana" charset="0"/>
                            <a:cs typeface="Verdana" charset="0"/>
                          </a:rPr>
                          <m:t>𝐾𝑅</m:t>
                        </m:r>
                      </m:num>
                      <m:den>
                        <m:r>
                          <a:rPr lang="en-US" sz="2000" i="1">
                            <a:latin typeface="Cambria Math" panose="02040503050406030204" pitchFamily="18" charset="0"/>
                            <a:ea typeface="Verdana" charset="0"/>
                            <a:cs typeface="Verdana" charset="0"/>
                          </a:rPr>
                          <m:t>𝑍𝐵</m:t>
                        </m:r>
                      </m:den>
                    </m:f>
                  </m:oMath>
                </a14:m>
                <a:endParaRPr lang="en-US" sz="2000" dirty="0">
                  <a:latin typeface="Verdana" charset="0"/>
                  <a:ea typeface="Verdana" charset="0"/>
                  <a:cs typeface="Verdana" charset="0"/>
                </a:endParaRPr>
              </a:p>
            </p:txBody>
          </p:sp>
        </mc:Choice>
        <mc:Fallback xmlns="">
          <p:sp>
            <p:nvSpPr>
              <p:cNvPr id="14" name="TextBox 13">
                <a:extLst>
                  <a:ext uri="{FF2B5EF4-FFF2-40B4-BE49-F238E27FC236}">
                    <a16:creationId xmlns:a16="http://schemas.microsoft.com/office/drawing/2014/main" id="{2FA392D8-3ED3-7940-83A8-1451AA8A08D4}"/>
                  </a:ext>
                </a:extLst>
              </p:cNvPr>
              <p:cNvSpPr txBox="1">
                <a:spLocks noRot="1" noChangeAspect="1" noMove="1" noResize="1" noEditPoints="1" noAdjustHandles="1" noChangeArrowheads="1" noChangeShapeType="1" noTextEdit="1"/>
              </p:cNvSpPr>
              <p:nvPr/>
            </p:nvSpPr>
            <p:spPr>
              <a:xfrm>
                <a:off x="468923" y="520393"/>
                <a:ext cx="9865978" cy="843308"/>
              </a:xfrm>
              <a:prstGeom prst="rect">
                <a:avLst/>
              </a:prstGeom>
              <a:blipFill>
                <a:blip r:embed="rId4"/>
                <a:stretch>
                  <a:fillRect l="-257" t="-2941" b="-1471"/>
                </a:stretch>
              </a:blipFill>
            </p:spPr>
            <p:txBody>
              <a:bodyPr/>
              <a:lstStyle/>
              <a:p>
                <a:r>
                  <a:rPr lang="en-US">
                    <a:noFill/>
                  </a:rPr>
                  <a:t> </a:t>
                </a:r>
              </a:p>
            </p:txBody>
          </p:sp>
        </mc:Fallback>
      </mc:AlternateContent>
      <p:pic>
        <p:nvPicPr>
          <p:cNvPr id="2" name="Picture 1"/>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2412569" y="1410196"/>
            <a:ext cx="5547346" cy="4169195"/>
          </a:xfrm>
          <a:prstGeom prst="rect">
            <a:avLst/>
          </a:prstGeom>
        </p:spPr>
      </p:pic>
      <mc:AlternateContent xmlns:mc="http://schemas.openxmlformats.org/markup-compatibility/2006" xmlns:a14="http://schemas.microsoft.com/office/drawing/2010/main">
        <mc:Choice Requires="a14">
          <p:sp>
            <p:nvSpPr>
              <p:cNvPr id="3" name="Rectangle 2"/>
              <p:cNvSpPr/>
              <p:nvPr/>
            </p:nvSpPr>
            <p:spPr>
              <a:xfrm>
                <a:off x="1395047" y="5756922"/>
                <a:ext cx="8157076" cy="400110"/>
              </a:xfrm>
              <a:prstGeom prst="rect">
                <a:avLst/>
              </a:prstGeom>
            </p:spPr>
            <p:txBody>
              <a:bodyPr wrap="square">
                <a:spAutoFit/>
              </a:bodyPr>
              <a:lstStyle/>
              <a:p>
                <a:pPr marL="342900" indent="-342900">
                  <a:buFont typeface="+mj-lt"/>
                  <a:buAutoNum type="alphaLcPeriod"/>
                </a:pPr>
                <a:r>
                  <a:rPr lang="en-US" sz="2000" dirty="0">
                    <a:latin typeface="Verdana" charset="0"/>
                    <a:ea typeface="Verdana" charset="0"/>
                    <a:cs typeface="Verdana" charset="0"/>
                  </a:rPr>
                  <a:t>Explain how you can use patty paper to verify </a:t>
                </a:r>
                <a14:m>
                  <m:oMath xmlns:m="http://schemas.openxmlformats.org/officeDocument/2006/math">
                    <m:r>
                      <a:rPr lang="en-US" sz="2000" i="1">
                        <a:latin typeface="Cambria Math" panose="02040503050406030204" pitchFamily="18" charset="0"/>
                        <a:ea typeface="Verdana" charset="0"/>
                        <a:cs typeface="Verdana" charset="0"/>
                      </a:rPr>
                      <m:t>∆</m:t>
                    </m:r>
                    <m:r>
                      <a:rPr lang="en-US" sz="2000" i="1">
                        <a:latin typeface="Cambria Math" panose="02040503050406030204" pitchFamily="18" charset="0"/>
                        <a:ea typeface="Verdana" charset="0"/>
                        <a:cs typeface="Verdana" charset="0"/>
                      </a:rPr>
                      <m:t>𝑅𝐾𝑊</m:t>
                    </m:r>
                    <m:r>
                      <a:rPr lang="en-US" sz="2000" i="1">
                        <a:latin typeface="Cambria Math" panose="02040503050406030204" pitchFamily="18" charset="0"/>
                        <a:ea typeface="Verdana" charset="0"/>
                        <a:cs typeface="Verdana" charset="0"/>
                      </a:rPr>
                      <m:t>~∆</m:t>
                    </m:r>
                    <m:r>
                      <a:rPr lang="en-US" sz="2000" i="1">
                        <a:latin typeface="Cambria Math" panose="02040503050406030204" pitchFamily="18" charset="0"/>
                        <a:ea typeface="Verdana" charset="0"/>
                        <a:cs typeface="Verdana" charset="0"/>
                      </a:rPr>
                      <m:t>𝐵𝑍𝑆</m:t>
                    </m:r>
                  </m:oMath>
                </a14:m>
                <a:r>
                  <a:rPr lang="en-US" sz="2000" dirty="0">
                    <a:latin typeface="Verdana" charset="0"/>
                    <a:ea typeface="Verdana" charset="0"/>
                    <a:cs typeface="Verdana" charset="0"/>
                  </a:rPr>
                  <a:t>.</a:t>
                </a:r>
              </a:p>
            </p:txBody>
          </p:sp>
        </mc:Choice>
        <mc:Fallback xmlns="">
          <p:sp>
            <p:nvSpPr>
              <p:cNvPr id="3" name="Rectangle 2"/>
              <p:cNvSpPr>
                <a:spLocks noRot="1" noChangeAspect="1" noMove="1" noResize="1" noEditPoints="1" noAdjustHandles="1" noChangeArrowheads="1" noChangeShapeType="1" noTextEdit="1"/>
              </p:cNvSpPr>
              <p:nvPr/>
            </p:nvSpPr>
            <p:spPr>
              <a:xfrm>
                <a:off x="1395047" y="5756922"/>
                <a:ext cx="8157076" cy="400110"/>
              </a:xfrm>
              <a:prstGeom prst="rect">
                <a:avLst/>
              </a:prstGeom>
              <a:blipFill>
                <a:blip r:embed="rId6"/>
                <a:stretch>
                  <a:fillRect l="-776" t="-9375" r="-155" b="-25000"/>
                </a:stretch>
              </a:blipFill>
            </p:spPr>
            <p:txBody>
              <a:bodyPr/>
              <a:lstStyle/>
              <a:p>
                <a:r>
                  <a:rPr lang="en-US">
                    <a:noFill/>
                  </a:rPr>
                  <a:t> </a:t>
                </a:r>
              </a:p>
            </p:txBody>
          </p:sp>
        </mc:Fallback>
      </mc:AlternateContent>
    </p:spTree>
    <p:extLst>
      <p:ext uri="{BB962C8B-B14F-4D97-AF65-F5344CB8AC3E}">
        <p14:creationId xmlns:p14="http://schemas.microsoft.com/office/powerpoint/2010/main" val="111463878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276C46"/>
          </a:solidFill>
          <a:ln w="9525" cap="flat" cmpd="sng">
            <a:solidFill>
              <a:srgbClr val="276C46"/>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599"/>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994150" y="6457675"/>
            <a:ext cx="2634000" cy="400200"/>
          </a:xfrm>
          <a:prstGeom prst="rect">
            <a:avLst/>
          </a:prstGeom>
          <a:noFill/>
          <a:ln>
            <a:noFill/>
          </a:ln>
        </p:spPr>
        <p:txBody>
          <a:bodyPr spcFirstLastPara="1" wrap="square" lIns="91425" tIns="91425" rIns="91425" bIns="91425" anchor="t" anchorCtr="0">
            <a:spAutoFit/>
          </a:bodyPr>
          <a:lstStyle/>
          <a:p>
            <a:pPr lvl="0" algn="r"/>
            <a:r>
              <a:rPr lang="it-IT" i="1" dirty="0">
                <a:latin typeface="Calibri"/>
                <a:ea typeface="Calibri"/>
                <a:cs typeface="Calibri"/>
                <a:sym typeface="Calibri"/>
              </a:rPr>
              <a:t>volume 1, </a:t>
            </a:r>
            <a:r>
              <a:rPr lang="it-IT" i="1" dirty="0" err="1">
                <a:latin typeface="Calibri"/>
                <a:ea typeface="Calibri"/>
                <a:cs typeface="Calibri"/>
                <a:sym typeface="Calibri"/>
              </a:rPr>
              <a:t>pg</a:t>
            </a:r>
            <a:r>
              <a:rPr lang="it-IT" i="1" dirty="0">
                <a:latin typeface="Calibri"/>
                <a:ea typeface="Calibri"/>
                <a:cs typeface="Calibri"/>
                <a:sym typeface="Calibri"/>
              </a:rPr>
              <a:t>. 346</a:t>
            </a:r>
          </a:p>
        </p:txBody>
      </p: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2FA392D8-3ED3-7940-83A8-1451AA8A08D4}"/>
                  </a:ext>
                </a:extLst>
              </p:cNvPr>
              <p:cNvSpPr txBox="1"/>
              <p:nvPr/>
            </p:nvSpPr>
            <p:spPr>
              <a:xfrm>
                <a:off x="363415" y="520393"/>
                <a:ext cx="11582399" cy="4401205"/>
              </a:xfrm>
              <a:prstGeom prst="rect">
                <a:avLst/>
              </a:prstGeom>
              <a:noFill/>
            </p:spPr>
            <p:txBody>
              <a:bodyPr wrap="square" rtlCol="0">
                <a:spAutoFit/>
              </a:bodyPr>
              <a:lstStyle/>
              <a:p>
                <a:pPr marL="457200" indent="-457200">
                  <a:buFont typeface="+mj-lt"/>
                  <a:buAutoNum type="alphaLcPeriod" startAt="2"/>
                </a:pPr>
                <a:r>
                  <a:rPr lang="en-US" sz="2000" dirty="0">
                    <a:latin typeface="Verdana" charset="0"/>
                    <a:ea typeface="Verdana" charset="0"/>
                    <a:cs typeface="Verdana" charset="0"/>
                  </a:rPr>
                  <a:t>Write a series of transformations that will map </a:t>
                </a:r>
                <a14:m>
                  <m:oMath xmlns:m="http://schemas.openxmlformats.org/officeDocument/2006/math">
                    <m:r>
                      <a:rPr lang="en-US" sz="2000" i="1">
                        <a:latin typeface="Cambria Math" charset="0"/>
                        <a:ea typeface="Verdana" charset="0"/>
                        <a:cs typeface="Verdana" charset="0"/>
                      </a:rPr>
                      <m:t>∆</m:t>
                    </m:r>
                    <m:r>
                      <a:rPr lang="en-US" sz="2000" i="1">
                        <a:latin typeface="Cambria Math" charset="0"/>
                        <a:ea typeface="Verdana" charset="0"/>
                        <a:cs typeface="Verdana" charset="0"/>
                      </a:rPr>
                      <m:t>𝑅𝐾𝑊</m:t>
                    </m:r>
                  </m:oMath>
                </a14:m>
                <a:r>
                  <a:rPr lang="en-US" sz="2000" dirty="0">
                    <a:latin typeface="Verdana" charset="0"/>
                    <a:ea typeface="Verdana" charset="0"/>
                    <a:cs typeface="Verdana" charset="0"/>
                  </a:rPr>
                  <a:t> onto </a:t>
                </a:r>
                <a14:m>
                  <m:oMath xmlns:m="http://schemas.openxmlformats.org/officeDocument/2006/math">
                    <m:r>
                      <a:rPr lang="en-US" sz="2000" i="1">
                        <a:latin typeface="Cambria Math" charset="0"/>
                        <a:ea typeface="Verdana" charset="0"/>
                        <a:cs typeface="Verdana" charset="0"/>
                      </a:rPr>
                      <m:t>∆</m:t>
                    </m:r>
                    <m:r>
                      <a:rPr lang="en-US" sz="2000" i="1">
                        <a:latin typeface="Cambria Math" charset="0"/>
                        <a:ea typeface="Verdana" charset="0"/>
                        <a:cs typeface="Verdana" charset="0"/>
                      </a:rPr>
                      <m:t>𝐵𝑍𝑆</m:t>
                    </m:r>
                  </m:oMath>
                </a14:m>
                <a:r>
                  <a:rPr lang="en-US" sz="2000" dirty="0">
                    <a:latin typeface="Verdana" charset="0"/>
                    <a:ea typeface="Verdana" charset="0"/>
                    <a:cs typeface="Verdana" charset="0"/>
                  </a:rPr>
                  <a:t> so that </a:t>
                </a:r>
                <a14:m>
                  <m:oMath xmlns:m="http://schemas.openxmlformats.org/officeDocument/2006/math">
                    <m:r>
                      <a:rPr lang="en-US" sz="2000" i="1">
                        <a:latin typeface="Cambria Math" charset="0"/>
                        <a:ea typeface="Verdana" charset="0"/>
                        <a:cs typeface="Verdana" charset="0"/>
                      </a:rPr>
                      <m:t>∆</m:t>
                    </m:r>
                    <m:r>
                      <a:rPr lang="en-US" sz="2000" i="1">
                        <a:latin typeface="Cambria Math" charset="0"/>
                        <a:ea typeface="Verdana" charset="0"/>
                        <a:cs typeface="Verdana" charset="0"/>
                      </a:rPr>
                      <m:t>𝑅𝐾𝑊</m:t>
                    </m:r>
                    <m:r>
                      <a:rPr lang="en-US" sz="2000" i="1">
                        <a:latin typeface="Cambria Math" charset="0"/>
                        <a:ea typeface="Verdana" charset="0"/>
                        <a:cs typeface="Verdana" charset="0"/>
                      </a:rPr>
                      <m:t>~ ∆</m:t>
                    </m:r>
                    <m:r>
                      <a:rPr lang="en-US" sz="2000" i="1">
                        <a:latin typeface="Cambria Math" charset="0"/>
                        <a:ea typeface="Verdana" charset="0"/>
                        <a:cs typeface="Verdana" charset="0"/>
                      </a:rPr>
                      <m:t>𝐵𝑍𝑆</m:t>
                    </m:r>
                  </m:oMath>
                </a14:m>
                <a:r>
                  <a:rPr lang="en-US" sz="2000" dirty="0">
                    <a:latin typeface="Verdana" charset="0"/>
                    <a:ea typeface="Verdana" charset="0"/>
                    <a:cs typeface="Verdana" charset="0"/>
                  </a:rPr>
                  <a:t>.</a:t>
                </a:r>
              </a:p>
              <a:p>
                <a:pPr marL="457200" indent="-457200">
                  <a:buFont typeface="+mj-lt"/>
                  <a:buAutoNum type="alphaLcPeriod" startAt="2"/>
                </a:pPr>
                <a:endParaRPr lang="en-US" sz="2000" dirty="0">
                  <a:latin typeface="Verdana" charset="0"/>
                  <a:ea typeface="Verdana" charset="0"/>
                  <a:cs typeface="Verdana" charset="0"/>
                </a:endParaRPr>
              </a:p>
              <a:p>
                <a:pPr marL="457200" indent="-457200">
                  <a:buFont typeface="+mj-lt"/>
                  <a:buAutoNum type="alphaLcPeriod" startAt="2"/>
                </a:pPr>
                <a:endParaRPr lang="en-US" sz="2000" dirty="0">
                  <a:latin typeface="Verdana" charset="0"/>
                  <a:ea typeface="Verdana" charset="0"/>
                  <a:cs typeface="Verdana" charset="0"/>
                </a:endParaRPr>
              </a:p>
              <a:p>
                <a:pPr marL="457200" indent="-457200">
                  <a:buFont typeface="+mj-lt"/>
                  <a:buAutoNum type="alphaLcPeriod" startAt="2"/>
                </a:pPr>
                <a:r>
                  <a:rPr lang="en-US" sz="2000" dirty="0">
                    <a:latin typeface="Verdana" charset="0"/>
                    <a:ea typeface="Verdana" charset="0"/>
                    <a:cs typeface="Verdana" charset="0"/>
                  </a:rPr>
                  <a:t>If it is given that </a:t>
                </a:r>
                <a14:m>
                  <m:oMath xmlns:m="http://schemas.openxmlformats.org/officeDocument/2006/math">
                    <m:r>
                      <a:rPr lang="en-US" sz="2000" i="1">
                        <a:latin typeface="Cambria Math" charset="0"/>
                        <a:ea typeface="Verdana" charset="0"/>
                        <a:cs typeface="Verdana" charset="0"/>
                      </a:rPr>
                      <m:t>∆</m:t>
                    </m:r>
                    <m:r>
                      <a:rPr lang="en-US" sz="2000" i="1">
                        <a:latin typeface="Cambria Math" charset="0"/>
                        <a:ea typeface="Verdana" charset="0"/>
                        <a:cs typeface="Verdana" charset="0"/>
                      </a:rPr>
                      <m:t>𝐵𝑍𝑆</m:t>
                    </m:r>
                  </m:oMath>
                </a14:m>
                <a:r>
                  <a:rPr lang="en-US" sz="2000" dirty="0">
                    <a:latin typeface="Verdana" charset="0"/>
                    <a:ea typeface="Verdana" charset="0"/>
                    <a:cs typeface="Verdana" charset="0"/>
                  </a:rPr>
                  <a:t> is a result of </a:t>
                </a:r>
                <a14:m>
                  <m:oMath xmlns:m="http://schemas.openxmlformats.org/officeDocument/2006/math">
                    <m:r>
                      <a:rPr lang="en-US" sz="2000" i="1">
                        <a:latin typeface="Cambria Math" charset="0"/>
                        <a:ea typeface="Verdana" charset="0"/>
                        <a:cs typeface="Verdana" charset="0"/>
                      </a:rPr>
                      <m:t>(</m:t>
                    </m:r>
                    <m:r>
                      <a:rPr lang="en-US" sz="2000" i="1">
                        <a:latin typeface="Cambria Math" charset="0"/>
                        <a:ea typeface="Verdana" charset="0"/>
                        <a:cs typeface="Verdana" charset="0"/>
                      </a:rPr>
                      <m:t>𝑥</m:t>
                    </m:r>
                    <m:r>
                      <a:rPr lang="en-US" sz="2000" i="1">
                        <a:latin typeface="Cambria Math" charset="0"/>
                        <a:ea typeface="Verdana" charset="0"/>
                        <a:cs typeface="Verdana" charset="0"/>
                      </a:rPr>
                      <m:t>,</m:t>
                    </m:r>
                    <m:r>
                      <a:rPr lang="en-US" sz="2000" i="1">
                        <a:latin typeface="Cambria Math" charset="0"/>
                        <a:ea typeface="Verdana" charset="0"/>
                        <a:cs typeface="Verdana" charset="0"/>
                      </a:rPr>
                      <m:t>𝑦</m:t>
                    </m:r>
                    <m:r>
                      <a:rPr lang="en-US" sz="2000" i="1">
                        <a:latin typeface="Cambria Math" charset="0"/>
                        <a:ea typeface="Verdana" charset="0"/>
                        <a:cs typeface="Verdana" charset="0"/>
                      </a:rPr>
                      <m:t>)→(−</m:t>
                    </m:r>
                    <m:r>
                      <a:rPr lang="en-US" sz="2000" i="1">
                        <a:latin typeface="Cambria Math" charset="0"/>
                        <a:ea typeface="Verdana" charset="0"/>
                        <a:cs typeface="Verdana" charset="0"/>
                      </a:rPr>
                      <m:t>𝑦</m:t>
                    </m:r>
                    <m:r>
                      <a:rPr lang="en-US" sz="2000" i="1">
                        <a:latin typeface="Cambria Math" charset="0"/>
                        <a:ea typeface="Verdana" charset="0"/>
                        <a:cs typeface="Verdana" charset="0"/>
                      </a:rPr>
                      <m:t>,</m:t>
                    </m:r>
                    <m:r>
                      <a:rPr lang="en-US" sz="2000" i="1">
                        <a:latin typeface="Cambria Math" charset="0"/>
                        <a:ea typeface="Verdana" charset="0"/>
                        <a:cs typeface="Verdana" charset="0"/>
                      </a:rPr>
                      <m:t>𝑥</m:t>
                    </m:r>
                    <m:r>
                      <a:rPr lang="en-US" sz="2000" i="1">
                        <a:latin typeface="Cambria Math" charset="0"/>
                        <a:ea typeface="Verdana" charset="0"/>
                        <a:cs typeface="Verdana" charset="0"/>
                      </a:rPr>
                      <m:t>)</m:t>
                    </m:r>
                  </m:oMath>
                </a14:m>
                <a:r>
                  <a:rPr lang="en-US" sz="2000" dirty="0">
                    <a:latin typeface="Verdana" charset="0"/>
                    <a:ea typeface="Verdana" charset="0"/>
                    <a:cs typeface="Verdana" charset="0"/>
                  </a:rPr>
                  <a:t> then </a:t>
                </a:r>
                <a14:m>
                  <m:oMath xmlns:m="http://schemas.openxmlformats.org/officeDocument/2006/math">
                    <m:r>
                      <a:rPr lang="en-US" sz="2000" i="1">
                        <a:latin typeface="Cambria Math" charset="0"/>
                        <a:ea typeface="Verdana" charset="0"/>
                        <a:cs typeface="Verdana" charset="0"/>
                      </a:rPr>
                      <m:t>(</m:t>
                    </m:r>
                    <m:r>
                      <a:rPr lang="en-US" sz="2000" i="1">
                        <a:latin typeface="Cambria Math" charset="0"/>
                        <a:ea typeface="Verdana" charset="0"/>
                        <a:cs typeface="Verdana" charset="0"/>
                      </a:rPr>
                      <m:t>𝑥</m:t>
                    </m:r>
                    <m:r>
                      <a:rPr lang="en-US" sz="2000" i="1">
                        <a:latin typeface="Cambria Math" charset="0"/>
                        <a:ea typeface="Verdana" charset="0"/>
                        <a:cs typeface="Verdana" charset="0"/>
                      </a:rPr>
                      <m:t>,</m:t>
                    </m:r>
                    <m:r>
                      <a:rPr lang="en-US" sz="2000" i="1">
                        <a:latin typeface="Cambria Math" charset="0"/>
                        <a:ea typeface="Verdana" charset="0"/>
                        <a:cs typeface="Verdana" charset="0"/>
                      </a:rPr>
                      <m:t>𝑦</m:t>
                    </m:r>
                    <m:r>
                      <a:rPr lang="en-US" sz="2000" i="1">
                        <a:latin typeface="Cambria Math" charset="0"/>
                        <a:ea typeface="Verdana" charset="0"/>
                        <a:cs typeface="Verdana" charset="0"/>
                      </a:rPr>
                      <m:t>)→(2</m:t>
                    </m:r>
                    <m:r>
                      <a:rPr lang="en-US" sz="2000" i="1">
                        <a:latin typeface="Cambria Math" charset="0"/>
                        <a:ea typeface="Verdana" charset="0"/>
                        <a:cs typeface="Verdana" charset="0"/>
                      </a:rPr>
                      <m:t>𝑥</m:t>
                    </m:r>
                    <m:r>
                      <a:rPr lang="en-US" sz="2000" i="1">
                        <a:latin typeface="Cambria Math" charset="0"/>
                        <a:ea typeface="Verdana" charset="0"/>
                        <a:cs typeface="Verdana" charset="0"/>
                      </a:rPr>
                      <m:t>,2</m:t>
                    </m:r>
                    <m:r>
                      <a:rPr lang="en-US" sz="2000" i="1">
                        <a:latin typeface="Cambria Math" charset="0"/>
                        <a:ea typeface="Verdana" charset="0"/>
                        <a:cs typeface="Verdana" charset="0"/>
                      </a:rPr>
                      <m:t>𝑦</m:t>
                    </m:r>
                    <m:r>
                      <a:rPr lang="en-US" sz="2000" i="1">
                        <a:latin typeface="Cambria Math" charset="0"/>
                        <a:ea typeface="Verdana" charset="0"/>
                        <a:cs typeface="Verdana" charset="0"/>
                      </a:rPr>
                      <m:t>)</m:t>
                    </m:r>
                  </m:oMath>
                </a14:m>
                <a:r>
                  <a:rPr lang="en-US" sz="2000" dirty="0">
                    <a:latin typeface="Verdana" charset="0"/>
                    <a:ea typeface="Verdana" charset="0"/>
                    <a:cs typeface="Verdana" charset="0"/>
                  </a:rPr>
                  <a:t> to </a:t>
                </a:r>
                <a14:m>
                  <m:oMath xmlns:m="http://schemas.openxmlformats.org/officeDocument/2006/math">
                    <m:r>
                      <a:rPr lang="en-US" sz="2000" i="1">
                        <a:latin typeface="Cambria Math" charset="0"/>
                        <a:ea typeface="Verdana" charset="0"/>
                        <a:cs typeface="Verdana" charset="0"/>
                      </a:rPr>
                      <m:t>∆</m:t>
                    </m:r>
                    <m:r>
                      <a:rPr lang="en-US" sz="2000" i="1">
                        <a:latin typeface="Cambria Math" charset="0"/>
                        <a:ea typeface="Verdana" charset="0"/>
                        <a:cs typeface="Verdana" charset="0"/>
                      </a:rPr>
                      <m:t>𝑅𝐾𝑊</m:t>
                    </m:r>
                  </m:oMath>
                </a14:m>
                <a:r>
                  <a:rPr lang="en-US" sz="2000" dirty="0">
                    <a:latin typeface="Verdana" charset="0"/>
                    <a:ea typeface="Verdana" charset="0"/>
                    <a:cs typeface="Verdana" charset="0"/>
                  </a:rPr>
                  <a:t>, are the triangles congruent?</a:t>
                </a:r>
              </a:p>
              <a:p>
                <a:pPr marL="457200" indent="-457200">
                  <a:buFont typeface="+mj-lt"/>
                  <a:buAutoNum type="alphaLcPeriod" startAt="2"/>
                </a:pPr>
                <a:endParaRPr lang="en-US" sz="2000" dirty="0">
                  <a:latin typeface="Verdana" charset="0"/>
                  <a:ea typeface="Verdana" charset="0"/>
                  <a:cs typeface="Verdana" charset="0"/>
                </a:endParaRPr>
              </a:p>
              <a:p>
                <a:pPr marL="457200" indent="-457200">
                  <a:buFont typeface="+mj-lt"/>
                  <a:buAutoNum type="alphaLcPeriod" startAt="2"/>
                </a:pPr>
                <a:endParaRPr lang="en-US" sz="2000" dirty="0">
                  <a:latin typeface="Verdana" charset="0"/>
                  <a:ea typeface="Verdana" charset="0"/>
                  <a:cs typeface="Verdana" charset="0"/>
                </a:endParaRPr>
              </a:p>
              <a:p>
                <a:pPr marL="457200" indent="-457200">
                  <a:buFont typeface="+mj-lt"/>
                  <a:buAutoNum type="alphaLcPeriod" startAt="2"/>
                </a:pPr>
                <a:r>
                  <a:rPr lang="en-US" sz="2000" dirty="0">
                    <a:latin typeface="Verdana" charset="0"/>
                    <a:ea typeface="Verdana" charset="0"/>
                    <a:cs typeface="Verdana" charset="0"/>
                  </a:rPr>
                  <a:t>If it is given that </a:t>
                </a:r>
                <a14:m>
                  <m:oMath xmlns:m="http://schemas.openxmlformats.org/officeDocument/2006/math">
                    <m:r>
                      <a:rPr lang="en-US" sz="2000" i="1">
                        <a:latin typeface="Cambria Math" charset="0"/>
                        <a:ea typeface="Verdana" charset="0"/>
                        <a:cs typeface="Verdana" charset="0"/>
                      </a:rPr>
                      <m:t>∆</m:t>
                    </m:r>
                    <m:r>
                      <a:rPr lang="en-US" sz="2000" i="1">
                        <a:latin typeface="Cambria Math" charset="0"/>
                        <a:ea typeface="Verdana" charset="0"/>
                        <a:cs typeface="Verdana" charset="0"/>
                      </a:rPr>
                      <m:t>𝐵𝑍𝑆</m:t>
                    </m:r>
                  </m:oMath>
                </a14:m>
                <a:r>
                  <a:rPr lang="en-US" sz="2000" dirty="0">
                    <a:latin typeface="Verdana" charset="0"/>
                    <a:ea typeface="Verdana" charset="0"/>
                    <a:cs typeface="Verdana" charset="0"/>
                  </a:rPr>
                  <a:t> is a result of </a:t>
                </a:r>
                <a14:m>
                  <m:oMath xmlns:m="http://schemas.openxmlformats.org/officeDocument/2006/math">
                    <m:r>
                      <a:rPr lang="en-US" sz="2000" i="1">
                        <a:latin typeface="Cambria Math" charset="0"/>
                        <a:ea typeface="Verdana" charset="0"/>
                        <a:cs typeface="Verdana" charset="0"/>
                      </a:rPr>
                      <m:t>(</m:t>
                    </m:r>
                    <m:r>
                      <a:rPr lang="en-US" sz="2000" i="1">
                        <a:latin typeface="Cambria Math" charset="0"/>
                        <a:ea typeface="Verdana" charset="0"/>
                        <a:cs typeface="Verdana" charset="0"/>
                      </a:rPr>
                      <m:t>𝑥</m:t>
                    </m:r>
                    <m:r>
                      <a:rPr lang="en-US" sz="2000" i="1">
                        <a:latin typeface="Cambria Math" charset="0"/>
                        <a:ea typeface="Verdana" charset="0"/>
                        <a:cs typeface="Verdana" charset="0"/>
                      </a:rPr>
                      <m:t>,</m:t>
                    </m:r>
                    <m:r>
                      <a:rPr lang="en-US" sz="2000" i="1">
                        <a:latin typeface="Cambria Math" charset="0"/>
                        <a:ea typeface="Verdana" charset="0"/>
                        <a:cs typeface="Verdana" charset="0"/>
                      </a:rPr>
                      <m:t>𝑦</m:t>
                    </m:r>
                    <m:r>
                      <a:rPr lang="en-US" sz="2000" i="1">
                        <a:latin typeface="Cambria Math" charset="0"/>
                        <a:ea typeface="Verdana" charset="0"/>
                        <a:cs typeface="Verdana" charset="0"/>
                      </a:rPr>
                      <m:t>)→(−</m:t>
                    </m:r>
                    <m:r>
                      <a:rPr lang="en-US" sz="2000" i="1">
                        <a:latin typeface="Cambria Math" charset="0"/>
                        <a:ea typeface="Verdana" charset="0"/>
                        <a:cs typeface="Verdana" charset="0"/>
                      </a:rPr>
                      <m:t>𝑦</m:t>
                    </m:r>
                    <m:r>
                      <a:rPr lang="en-US" sz="2000" i="1">
                        <a:latin typeface="Cambria Math" charset="0"/>
                        <a:ea typeface="Verdana" charset="0"/>
                        <a:cs typeface="Verdana" charset="0"/>
                      </a:rPr>
                      <m:t>,</m:t>
                    </m:r>
                    <m:r>
                      <a:rPr lang="en-US" sz="2000" i="1">
                        <a:latin typeface="Cambria Math" charset="0"/>
                        <a:ea typeface="Verdana" charset="0"/>
                        <a:cs typeface="Verdana" charset="0"/>
                      </a:rPr>
                      <m:t>𝑥</m:t>
                    </m:r>
                    <m:r>
                      <a:rPr lang="en-US" sz="2000" i="1">
                        <a:latin typeface="Cambria Math" charset="0"/>
                        <a:ea typeface="Verdana" charset="0"/>
                        <a:cs typeface="Verdana" charset="0"/>
                      </a:rPr>
                      <m:t>)</m:t>
                    </m:r>
                  </m:oMath>
                </a14:m>
                <a:r>
                  <a:rPr lang="en-US" sz="2000" dirty="0">
                    <a:latin typeface="Verdana" charset="0"/>
                    <a:ea typeface="Verdana" charset="0"/>
                    <a:cs typeface="Verdana" charset="0"/>
                  </a:rPr>
                  <a:t> then </a:t>
                </a:r>
                <a14:m>
                  <m:oMath xmlns:m="http://schemas.openxmlformats.org/officeDocument/2006/math">
                    <m:r>
                      <a:rPr lang="en-US" sz="2000" i="1">
                        <a:latin typeface="Cambria Math" charset="0"/>
                        <a:ea typeface="Verdana" charset="0"/>
                        <a:cs typeface="Verdana" charset="0"/>
                      </a:rPr>
                      <m:t>(</m:t>
                    </m:r>
                    <m:r>
                      <a:rPr lang="en-US" sz="2000" i="1">
                        <a:latin typeface="Cambria Math" charset="0"/>
                        <a:ea typeface="Verdana" charset="0"/>
                        <a:cs typeface="Verdana" charset="0"/>
                      </a:rPr>
                      <m:t>𝑥</m:t>
                    </m:r>
                    <m:r>
                      <a:rPr lang="en-US" sz="2000" i="1">
                        <a:latin typeface="Cambria Math" charset="0"/>
                        <a:ea typeface="Verdana" charset="0"/>
                        <a:cs typeface="Verdana" charset="0"/>
                      </a:rPr>
                      <m:t>,</m:t>
                    </m:r>
                    <m:r>
                      <a:rPr lang="en-US" sz="2000" i="1">
                        <a:latin typeface="Cambria Math" charset="0"/>
                        <a:ea typeface="Verdana" charset="0"/>
                        <a:cs typeface="Verdana" charset="0"/>
                      </a:rPr>
                      <m:t>𝑦</m:t>
                    </m:r>
                    <m:r>
                      <a:rPr lang="en-US" sz="2000" i="1">
                        <a:latin typeface="Cambria Math" charset="0"/>
                        <a:ea typeface="Verdana" charset="0"/>
                        <a:cs typeface="Verdana" charset="0"/>
                      </a:rPr>
                      <m:t>)→(2</m:t>
                    </m:r>
                    <m:r>
                      <a:rPr lang="en-US" sz="2000" i="1">
                        <a:latin typeface="Cambria Math" charset="0"/>
                        <a:ea typeface="Verdana" charset="0"/>
                        <a:cs typeface="Verdana" charset="0"/>
                      </a:rPr>
                      <m:t>𝑥</m:t>
                    </m:r>
                    <m:r>
                      <a:rPr lang="en-US" sz="2000" i="1">
                        <a:latin typeface="Cambria Math" charset="0"/>
                        <a:ea typeface="Verdana" charset="0"/>
                        <a:cs typeface="Verdana" charset="0"/>
                      </a:rPr>
                      <m:t>,2</m:t>
                    </m:r>
                    <m:r>
                      <a:rPr lang="en-US" sz="2000" i="1">
                        <a:latin typeface="Cambria Math" charset="0"/>
                        <a:ea typeface="Verdana" charset="0"/>
                        <a:cs typeface="Verdana" charset="0"/>
                      </a:rPr>
                      <m:t>𝑦</m:t>
                    </m:r>
                    <m:r>
                      <a:rPr lang="en-US" sz="2000" i="1">
                        <a:latin typeface="Cambria Math" charset="0"/>
                        <a:ea typeface="Verdana" charset="0"/>
                        <a:cs typeface="Verdana" charset="0"/>
                      </a:rPr>
                      <m:t>)</m:t>
                    </m:r>
                  </m:oMath>
                </a14:m>
                <a:r>
                  <a:rPr lang="en-US" sz="2000" dirty="0">
                    <a:latin typeface="Verdana" charset="0"/>
                    <a:ea typeface="Verdana" charset="0"/>
                    <a:cs typeface="Verdana" charset="0"/>
                  </a:rPr>
                  <a:t> to </a:t>
                </a:r>
                <a14:m>
                  <m:oMath xmlns:m="http://schemas.openxmlformats.org/officeDocument/2006/math">
                    <m:r>
                      <a:rPr lang="en-US" sz="2000" i="1">
                        <a:latin typeface="Cambria Math" charset="0"/>
                        <a:ea typeface="Verdana" charset="0"/>
                        <a:cs typeface="Verdana" charset="0"/>
                      </a:rPr>
                      <m:t>∆</m:t>
                    </m:r>
                    <m:r>
                      <a:rPr lang="en-US" sz="2000" i="1">
                        <a:latin typeface="Cambria Math" charset="0"/>
                        <a:ea typeface="Verdana" charset="0"/>
                        <a:cs typeface="Verdana" charset="0"/>
                      </a:rPr>
                      <m:t>𝑅𝐾𝑊</m:t>
                    </m:r>
                  </m:oMath>
                </a14:m>
                <a:r>
                  <a:rPr lang="en-US" sz="2000" dirty="0">
                    <a:latin typeface="Verdana" charset="0"/>
                    <a:ea typeface="Verdana" charset="0"/>
                    <a:cs typeface="Verdana" charset="0"/>
                  </a:rPr>
                  <a:t>, are the triangles similar?</a:t>
                </a:r>
              </a:p>
              <a:p>
                <a:pPr marL="457200" indent="-457200">
                  <a:buFont typeface="+mj-lt"/>
                  <a:buAutoNum type="alphaLcPeriod" startAt="2"/>
                </a:pPr>
                <a:endParaRPr lang="en-US" sz="2000" dirty="0">
                  <a:latin typeface="Verdana" charset="0"/>
                  <a:ea typeface="Verdana" charset="0"/>
                  <a:cs typeface="Verdana" charset="0"/>
                </a:endParaRPr>
              </a:p>
              <a:p>
                <a:pPr marL="457200" indent="-457200">
                  <a:buFont typeface="+mj-lt"/>
                  <a:buAutoNum type="alphaLcPeriod" startAt="2"/>
                </a:pPr>
                <a:endParaRPr lang="en-US" sz="2000" dirty="0">
                  <a:latin typeface="Verdana" charset="0"/>
                  <a:ea typeface="Verdana" charset="0"/>
                  <a:cs typeface="Verdana" charset="0"/>
                </a:endParaRPr>
              </a:p>
              <a:p>
                <a:pPr marL="457200" indent="-457200">
                  <a:buFont typeface="+mj-lt"/>
                  <a:buAutoNum type="alphaLcPeriod" startAt="2"/>
                </a:pPr>
                <a:r>
                  <a:rPr lang="en-US" sz="2000" dirty="0">
                    <a:latin typeface="Verdana" charset="0"/>
                    <a:ea typeface="Verdana" charset="0"/>
                    <a:cs typeface="Verdana" charset="0"/>
                  </a:rPr>
                  <a:t>Discuss with your partner what criteria would have to be given so that SAS similarity would be shown as sufficient to justify triangles are similar. Summarize your discussion.</a:t>
                </a:r>
              </a:p>
            </p:txBody>
          </p:sp>
        </mc:Choice>
        <mc:Fallback xmlns="">
          <p:sp>
            <p:nvSpPr>
              <p:cNvPr id="14" name="TextBox 13">
                <a:extLst>
                  <a:ext uri="{FF2B5EF4-FFF2-40B4-BE49-F238E27FC236}">
                    <a16:creationId xmlns:a16="http://schemas.microsoft.com/office/drawing/2014/main" id="{2FA392D8-3ED3-7940-83A8-1451AA8A08D4}"/>
                  </a:ext>
                </a:extLst>
              </p:cNvPr>
              <p:cNvSpPr txBox="1">
                <a:spLocks noRot="1" noChangeAspect="1" noMove="1" noResize="1" noEditPoints="1" noAdjustHandles="1" noChangeArrowheads="1" noChangeShapeType="1" noTextEdit="1"/>
              </p:cNvSpPr>
              <p:nvPr/>
            </p:nvSpPr>
            <p:spPr>
              <a:xfrm>
                <a:off x="363415" y="520393"/>
                <a:ext cx="11582399" cy="4401205"/>
              </a:xfrm>
              <a:prstGeom prst="rect">
                <a:avLst/>
              </a:prstGeom>
              <a:blipFill>
                <a:blip r:embed="rId4"/>
                <a:stretch>
                  <a:fillRect l="-548" t="-575" r="-657" b="-1437"/>
                </a:stretch>
              </a:blipFill>
            </p:spPr>
            <p:txBody>
              <a:bodyPr/>
              <a:lstStyle/>
              <a:p>
                <a:r>
                  <a:rPr lang="en-US">
                    <a:noFill/>
                  </a:rPr>
                  <a:t> </a:t>
                </a:r>
              </a:p>
            </p:txBody>
          </p:sp>
        </mc:Fallback>
      </mc:AlternateContent>
    </p:spTree>
    <p:extLst>
      <p:ext uri="{BB962C8B-B14F-4D97-AF65-F5344CB8AC3E}">
        <p14:creationId xmlns:p14="http://schemas.microsoft.com/office/powerpoint/2010/main" val="39483399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276C46"/>
          </a:solidFill>
          <a:ln w="9525" cap="flat" cmpd="sng">
            <a:solidFill>
              <a:srgbClr val="276C46"/>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2015" y="6200599"/>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988015" y="6419151"/>
            <a:ext cx="2634000" cy="400200"/>
          </a:xfrm>
          <a:prstGeom prst="rect">
            <a:avLst/>
          </a:prstGeom>
          <a:noFill/>
          <a:ln>
            <a:noFill/>
          </a:ln>
        </p:spPr>
        <p:txBody>
          <a:bodyPr spcFirstLastPara="1" wrap="square" lIns="91425" tIns="91425" rIns="91425" bIns="91425" anchor="t" anchorCtr="0">
            <a:spAutoFit/>
          </a:bodyPr>
          <a:lstStyle/>
          <a:p>
            <a:pPr lvl="0" algn="r"/>
            <a:r>
              <a:rPr lang="it-IT" i="1" dirty="0">
                <a:latin typeface="Calibri"/>
                <a:ea typeface="Calibri"/>
                <a:cs typeface="Calibri"/>
                <a:sym typeface="Calibri"/>
              </a:rPr>
              <a:t>volume 1, </a:t>
            </a:r>
            <a:r>
              <a:rPr lang="it-IT" i="1" dirty="0" err="1">
                <a:latin typeface="Calibri"/>
                <a:ea typeface="Calibri"/>
                <a:cs typeface="Calibri"/>
                <a:sym typeface="Calibri"/>
              </a:rPr>
              <a:t>pg</a:t>
            </a:r>
            <a:r>
              <a:rPr lang="it-IT" i="1" dirty="0">
                <a:latin typeface="Calibri"/>
                <a:ea typeface="Calibri"/>
                <a:cs typeface="Calibri"/>
                <a:sym typeface="Calibri"/>
              </a:rPr>
              <a:t>. 347</a:t>
            </a:r>
          </a:p>
        </p:txBody>
      </p: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2FA392D8-3ED3-7940-83A8-1451AA8A08D4}"/>
                  </a:ext>
                </a:extLst>
              </p:cNvPr>
              <p:cNvSpPr txBox="1"/>
              <p:nvPr/>
            </p:nvSpPr>
            <p:spPr>
              <a:xfrm>
                <a:off x="328246" y="520394"/>
                <a:ext cx="11617569" cy="1015663"/>
              </a:xfrm>
              <a:prstGeom prst="rect">
                <a:avLst/>
              </a:prstGeom>
              <a:noFill/>
            </p:spPr>
            <p:txBody>
              <a:bodyPr wrap="square" rtlCol="0">
                <a:spAutoFit/>
              </a:bodyPr>
              <a:lstStyle/>
              <a:p>
                <a:pPr marL="457200" indent="-457200">
                  <a:buFont typeface="+mj-lt"/>
                  <a:buAutoNum type="arabicPeriod" startAt="5"/>
                </a:pPr>
                <a:r>
                  <a:rPr lang="en-US" sz="2000" dirty="0">
                    <a:latin typeface="Verdana" charset="0"/>
                    <a:ea typeface="Verdana" charset="0"/>
                    <a:cs typeface="Verdana" charset="0"/>
                  </a:rPr>
                  <a:t>Katelyn, Diego, and Amelia are writing conclusions about proving similarity in triangles. They used </a:t>
                </a:r>
                <a14:m>
                  <m:oMath xmlns:m="http://schemas.openxmlformats.org/officeDocument/2006/math">
                    <m:r>
                      <a:rPr lang="en-US" sz="2000" i="1">
                        <a:latin typeface="Cambria Math" charset="0"/>
                        <a:ea typeface="Verdana" charset="0"/>
                        <a:cs typeface="Verdana" charset="0"/>
                      </a:rPr>
                      <m:t>∆</m:t>
                    </m:r>
                    <m:r>
                      <a:rPr lang="en-US" sz="2000" i="1">
                        <a:latin typeface="Cambria Math" charset="0"/>
                        <a:ea typeface="Verdana" charset="0"/>
                        <a:cs typeface="Verdana" charset="0"/>
                      </a:rPr>
                      <m:t>𝐾𝑅𝑉</m:t>
                    </m:r>
                  </m:oMath>
                </a14:m>
                <a:r>
                  <a:rPr lang="en-US" sz="2000" dirty="0">
                    <a:latin typeface="Verdana" charset="0"/>
                    <a:ea typeface="Verdana" charset="0"/>
                    <a:cs typeface="Verdana" charset="0"/>
                  </a:rPr>
                  <a:t> and </a:t>
                </a:r>
                <a14:m>
                  <m:oMath xmlns:m="http://schemas.openxmlformats.org/officeDocument/2006/math">
                    <m:r>
                      <a:rPr lang="en-US" sz="2000" i="1">
                        <a:latin typeface="Cambria Math" charset="0"/>
                        <a:ea typeface="Verdana" charset="0"/>
                        <a:cs typeface="Verdana" charset="0"/>
                      </a:rPr>
                      <m:t>∆</m:t>
                    </m:r>
                    <m:r>
                      <a:rPr lang="en-US" sz="2000" i="1">
                        <a:latin typeface="Cambria Math" charset="0"/>
                        <a:ea typeface="Verdana" charset="0"/>
                        <a:cs typeface="Verdana" charset="0"/>
                      </a:rPr>
                      <m:t>𝑍𝑅𝐴</m:t>
                    </m:r>
                  </m:oMath>
                </a14:m>
                <a:r>
                  <a:rPr lang="en-US" sz="2000" dirty="0">
                    <a:latin typeface="Verdana" charset="0"/>
                    <a:ea typeface="Verdana" charset="0"/>
                    <a:cs typeface="Verdana" charset="0"/>
                  </a:rPr>
                  <a:t> to write their conclusions. Their conclusions are shown. </a:t>
                </a:r>
              </a:p>
            </p:txBody>
          </p:sp>
        </mc:Choice>
        <mc:Fallback xmlns="">
          <p:sp>
            <p:nvSpPr>
              <p:cNvPr id="14" name="TextBox 13">
                <a:extLst>
                  <a:ext uri="{FF2B5EF4-FFF2-40B4-BE49-F238E27FC236}">
                    <a16:creationId xmlns:a16="http://schemas.microsoft.com/office/drawing/2014/main" id="{2FA392D8-3ED3-7940-83A8-1451AA8A08D4}"/>
                  </a:ext>
                </a:extLst>
              </p:cNvPr>
              <p:cNvSpPr txBox="1">
                <a:spLocks noRot="1" noChangeAspect="1" noMove="1" noResize="1" noEditPoints="1" noAdjustHandles="1" noChangeArrowheads="1" noChangeShapeType="1" noTextEdit="1"/>
              </p:cNvSpPr>
              <p:nvPr/>
            </p:nvSpPr>
            <p:spPr>
              <a:xfrm>
                <a:off x="328246" y="520394"/>
                <a:ext cx="11617569" cy="1015663"/>
              </a:xfrm>
              <a:prstGeom prst="rect">
                <a:avLst/>
              </a:prstGeom>
              <a:blipFill>
                <a:blip r:embed="rId4"/>
                <a:stretch>
                  <a:fillRect l="-546" t="-2469" b="-987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 name="Rectangle 3"/>
              <p:cNvSpPr/>
              <p:nvPr/>
            </p:nvSpPr>
            <p:spPr>
              <a:xfrm>
                <a:off x="2007766" y="1694285"/>
                <a:ext cx="5847883" cy="400110"/>
              </a:xfrm>
              <a:prstGeom prst="rect">
                <a:avLst/>
              </a:prstGeom>
            </p:spPr>
            <p:txBody>
              <a:bodyPr wrap="none">
                <a:spAutoFit/>
              </a:bodyPr>
              <a:lstStyle/>
              <a:p>
                <a:pPr marL="457200"/>
                <a:r>
                  <a:rPr lang="en-US" sz="2000" dirty="0">
                    <a:latin typeface="Verdana" charset="0"/>
                    <a:ea typeface="Verdana" charset="0"/>
                    <a:cs typeface="Verdana" charset="0"/>
                  </a:rPr>
                  <a:t>Assume: </a:t>
                </a:r>
                <a14:m>
                  <m:oMath xmlns:m="http://schemas.openxmlformats.org/officeDocument/2006/math">
                    <m:r>
                      <a:rPr lang="en-US" sz="2000" i="1">
                        <a:latin typeface="Cambria Math" charset="0"/>
                        <a:ea typeface="Verdana" charset="0"/>
                        <a:cs typeface="Verdana" charset="0"/>
                      </a:rPr>
                      <m:t>∠</m:t>
                    </m:r>
                    <m:r>
                      <a:rPr lang="en-US" sz="2000" i="1">
                        <a:latin typeface="Cambria Math" charset="0"/>
                        <a:ea typeface="Verdana" charset="0"/>
                        <a:cs typeface="Verdana" charset="0"/>
                      </a:rPr>
                      <m:t>𝑉𝐾𝑅</m:t>
                    </m:r>
                    <m:r>
                      <a:rPr lang="en-US" sz="2000" i="1">
                        <a:latin typeface="Cambria Math" charset="0"/>
                        <a:ea typeface="Verdana" charset="0"/>
                        <a:cs typeface="Verdana" charset="0"/>
                      </a:rPr>
                      <m:t>≅∠</m:t>
                    </m:r>
                    <m:r>
                      <a:rPr lang="en-US" sz="2000" i="1">
                        <a:latin typeface="Cambria Math" charset="0"/>
                        <a:ea typeface="Verdana" charset="0"/>
                        <a:cs typeface="Verdana" charset="0"/>
                      </a:rPr>
                      <m:t>𝐴𝑍𝑅</m:t>
                    </m:r>
                  </m:oMath>
                </a14:m>
                <a:r>
                  <a:rPr lang="en-US" sz="2000" dirty="0">
                    <a:latin typeface="Verdana" charset="0"/>
                    <a:ea typeface="Verdana" charset="0"/>
                    <a:cs typeface="Verdana" charset="0"/>
                  </a:rPr>
                  <a:t> and </a:t>
                </a:r>
                <a14:m>
                  <m:oMath xmlns:m="http://schemas.openxmlformats.org/officeDocument/2006/math">
                    <m:r>
                      <a:rPr lang="en-US" sz="2000" i="1">
                        <a:latin typeface="Cambria Math" charset="0"/>
                        <a:ea typeface="Verdana" charset="0"/>
                        <a:cs typeface="Verdana" charset="0"/>
                      </a:rPr>
                      <m:t>∠</m:t>
                    </m:r>
                    <m:r>
                      <a:rPr lang="en-US" sz="2000" i="1">
                        <a:latin typeface="Cambria Math" charset="0"/>
                        <a:ea typeface="Verdana" charset="0"/>
                        <a:cs typeface="Verdana" charset="0"/>
                      </a:rPr>
                      <m:t>𝑉𝑅𝐾</m:t>
                    </m:r>
                    <m:r>
                      <a:rPr lang="en-US" sz="2000" i="1">
                        <a:latin typeface="Cambria Math" charset="0"/>
                        <a:ea typeface="Verdana" charset="0"/>
                        <a:cs typeface="Verdana" charset="0"/>
                      </a:rPr>
                      <m:t>≅∠</m:t>
                    </m:r>
                    <m:r>
                      <a:rPr lang="en-US" sz="2000" i="1">
                        <a:latin typeface="Cambria Math" charset="0"/>
                        <a:ea typeface="Verdana" charset="0"/>
                        <a:cs typeface="Verdana" charset="0"/>
                      </a:rPr>
                      <m:t>𝐴𝑅𝑍</m:t>
                    </m:r>
                  </m:oMath>
                </a14:m>
                <a:endParaRPr lang="en-US" dirty="0">
                  <a:latin typeface="Verdana" charset="0"/>
                  <a:ea typeface="Verdana" charset="0"/>
                  <a:cs typeface="Verdana" charset="0"/>
                </a:endParaRPr>
              </a:p>
            </p:txBody>
          </p:sp>
        </mc:Choice>
        <mc:Fallback xmlns="">
          <p:sp>
            <p:nvSpPr>
              <p:cNvPr id="4" name="Rectangle 3"/>
              <p:cNvSpPr>
                <a:spLocks noRot="1" noChangeAspect="1" noMove="1" noResize="1" noEditPoints="1" noAdjustHandles="1" noChangeArrowheads="1" noChangeShapeType="1" noTextEdit="1"/>
              </p:cNvSpPr>
              <p:nvPr/>
            </p:nvSpPr>
            <p:spPr>
              <a:xfrm>
                <a:off x="2007766" y="1694285"/>
                <a:ext cx="5847883" cy="400110"/>
              </a:xfrm>
              <a:prstGeom prst="rect">
                <a:avLst/>
              </a:prstGeom>
              <a:blipFill>
                <a:blip r:embed="rId5"/>
                <a:stretch>
                  <a:fillRect t="-9091" b="-24242"/>
                </a:stretch>
              </a:blipFill>
            </p:spPr>
            <p:txBody>
              <a:bodyPr/>
              <a:lstStyle/>
              <a:p>
                <a:r>
                  <a:rPr lang="en-US">
                    <a:noFill/>
                  </a:rPr>
                  <a:t> </a:t>
                </a:r>
              </a:p>
            </p:txBody>
          </p:sp>
        </mc:Fallback>
      </mc:AlternateContent>
      <p:sp>
        <p:nvSpPr>
          <p:cNvPr id="5" name="Rectangle 5"/>
          <p:cNvSpPr>
            <a:spLocks noChangeArrowheads="1"/>
          </p:cNvSpPr>
          <p:nvPr/>
        </p:nvSpPr>
        <p:spPr bwMode="auto">
          <a:xfrm>
            <a:off x="1676401" y="-309265"/>
            <a:ext cx="184731" cy="923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vert="horz" wrap="none" lIns="91440" tIns="45720" rIns="91440" bIns="45720" numCol="1" anchor="ctr" anchorCtr="0" compatLnSpc="1">
            <a:prstTxWarp prst="textNoShape">
              <a:avLst/>
            </a:prstTxWarp>
            <a:spAutoFit/>
          </a:bodyPr>
          <a:lstStyle/>
          <a:p>
            <a:pPr eaLnBrk="0" fontAlgn="base" hangingPunct="0">
              <a:spcBef>
                <a:spcPct val="0"/>
              </a:spcBef>
              <a:spcAft>
                <a:spcPct val="0"/>
              </a:spcAft>
              <a:buClrTx/>
            </a:pPr>
            <a:br>
              <a:rPr lang="x-none" altLang="x-none" sz="1800">
                <a:solidFill>
                  <a:schemeClr val="tx1"/>
                </a:solidFill>
                <a:latin typeface="Arial" charset="0"/>
              </a:rPr>
            </a:br>
            <a:endParaRPr lang="x-none" altLang="x-none" sz="1800">
              <a:solidFill>
                <a:schemeClr val="tx1"/>
              </a:solidFill>
              <a:latin typeface="Arial" charset="0"/>
            </a:endParaRPr>
          </a:p>
          <a:p>
            <a:pPr eaLnBrk="0" fontAlgn="base" hangingPunct="0">
              <a:spcBef>
                <a:spcPct val="0"/>
              </a:spcBef>
              <a:spcAft>
                <a:spcPct val="0"/>
              </a:spcAft>
              <a:buClrTx/>
            </a:pPr>
            <a:endParaRPr lang="x-none" altLang="x-none" sz="1800">
              <a:solidFill>
                <a:schemeClr val="tx1"/>
              </a:solidFill>
              <a:latin typeface="Arial" charset="0"/>
            </a:endParaRPr>
          </a:p>
        </p:txBody>
      </p:sp>
      <p:pic>
        <p:nvPicPr>
          <p:cNvPr id="6148" name="Picture 6"/>
          <p:cNvPicPr>
            <a:picLocks noChangeAspect="1" noChangeArrowheads="1"/>
          </p:cNvPicPr>
          <p:nvPr/>
        </p:nvPicPr>
        <p:blipFill>
          <a:blip r:embed="rId6">
            <a:extLst>
              <a:ext uri="{28A0092B-C50C-407E-A947-70E740481C1C}">
                <a14:useLocalDpi xmlns:a14="http://schemas.microsoft.com/office/drawing/2010/main"/>
              </a:ext>
            </a:extLst>
          </a:blip>
          <a:srcRect t="3918" b="3253"/>
          <a:stretch>
            <a:fillRect/>
          </a:stretch>
        </p:blipFill>
        <p:spPr bwMode="auto">
          <a:xfrm>
            <a:off x="4404312" y="2212294"/>
            <a:ext cx="3534043" cy="398830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8395211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276C46"/>
          </a:solidFill>
          <a:ln w="9525" cap="flat" cmpd="sng">
            <a:solidFill>
              <a:srgbClr val="276C46"/>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599"/>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994150" y="6465900"/>
            <a:ext cx="2634000" cy="400200"/>
          </a:xfrm>
          <a:prstGeom prst="rect">
            <a:avLst/>
          </a:prstGeom>
          <a:noFill/>
          <a:ln>
            <a:noFill/>
          </a:ln>
        </p:spPr>
        <p:txBody>
          <a:bodyPr spcFirstLastPara="1" wrap="square" lIns="91425" tIns="91425" rIns="91425" bIns="91425" anchor="t" anchorCtr="0">
            <a:spAutoFit/>
          </a:bodyPr>
          <a:lstStyle/>
          <a:p>
            <a:pPr lvl="0" algn="r"/>
            <a:r>
              <a:rPr lang="it-IT" i="1" dirty="0">
                <a:latin typeface="Calibri"/>
                <a:ea typeface="Calibri"/>
                <a:cs typeface="Calibri"/>
                <a:sym typeface="Calibri"/>
              </a:rPr>
              <a:t>volume 1, </a:t>
            </a:r>
            <a:r>
              <a:rPr lang="it-IT" i="1" dirty="0" err="1">
                <a:latin typeface="Calibri"/>
                <a:ea typeface="Calibri"/>
                <a:cs typeface="Calibri"/>
                <a:sym typeface="Calibri"/>
              </a:rPr>
              <a:t>pg</a:t>
            </a:r>
            <a:r>
              <a:rPr lang="it-IT" i="1" dirty="0">
                <a:latin typeface="Calibri"/>
                <a:ea typeface="Calibri"/>
                <a:cs typeface="Calibri"/>
                <a:sym typeface="Calibri"/>
              </a:rPr>
              <a:t>. 347</a:t>
            </a:r>
          </a:p>
        </p:txBody>
      </p:sp>
      <p:sp>
        <p:nvSpPr>
          <p:cNvPr id="14" name="TextBox 13">
            <a:extLst>
              <a:ext uri="{FF2B5EF4-FFF2-40B4-BE49-F238E27FC236}">
                <a16:creationId xmlns:a16="http://schemas.microsoft.com/office/drawing/2014/main" id="{2FA392D8-3ED3-7940-83A8-1451AA8A08D4}"/>
              </a:ext>
            </a:extLst>
          </p:cNvPr>
          <p:cNvSpPr txBox="1"/>
          <p:nvPr/>
        </p:nvSpPr>
        <p:spPr>
          <a:xfrm>
            <a:off x="867509" y="5687533"/>
            <a:ext cx="9194150" cy="400110"/>
          </a:xfrm>
          <a:prstGeom prst="rect">
            <a:avLst/>
          </a:prstGeom>
          <a:noFill/>
        </p:spPr>
        <p:txBody>
          <a:bodyPr wrap="square" rtlCol="0">
            <a:spAutoFit/>
          </a:bodyPr>
          <a:lstStyle/>
          <a:p>
            <a:pPr marL="457200" indent="-457200">
              <a:buFont typeface="+mj-lt"/>
              <a:buAutoNum type="alphaLcPeriod"/>
            </a:pPr>
            <a:r>
              <a:rPr lang="en-US" sz="2000" dirty="0">
                <a:latin typeface="Verdana" charset="0"/>
                <a:ea typeface="Verdana" charset="0"/>
                <a:cs typeface="Verdana" charset="0"/>
              </a:rPr>
              <a:t>Whose conclusion do you agree with?</a:t>
            </a:r>
          </a:p>
        </p:txBody>
      </p:sp>
      <p:graphicFrame>
        <p:nvGraphicFramePr>
          <p:cNvPr id="2" name="Table 1"/>
          <p:cNvGraphicFramePr>
            <a:graphicFrameLocks noGrp="1"/>
          </p:cNvGraphicFramePr>
          <p:nvPr>
            <p:extLst>
              <p:ext uri="{D42A27DB-BD31-4B8C-83A1-F6EECF244321}">
                <p14:modId xmlns:p14="http://schemas.microsoft.com/office/powerpoint/2010/main" val="490792506"/>
              </p:ext>
            </p:extLst>
          </p:nvPr>
        </p:nvGraphicFramePr>
        <p:xfrm>
          <a:off x="2180654" y="440702"/>
          <a:ext cx="8154246" cy="4876800"/>
        </p:xfrm>
        <a:graphic>
          <a:graphicData uri="http://schemas.openxmlformats.org/drawingml/2006/table">
            <a:tbl>
              <a:tblPr firstRow="1" firstCol="1" bandRow="1"/>
              <a:tblGrid>
                <a:gridCol w="2532694">
                  <a:extLst>
                    <a:ext uri="{9D8B030D-6E8A-4147-A177-3AD203B41FA5}">
                      <a16:colId xmlns:a16="http://schemas.microsoft.com/office/drawing/2014/main" val="20000"/>
                    </a:ext>
                  </a:extLst>
                </a:gridCol>
                <a:gridCol w="2851490">
                  <a:extLst>
                    <a:ext uri="{9D8B030D-6E8A-4147-A177-3AD203B41FA5}">
                      <a16:colId xmlns:a16="http://schemas.microsoft.com/office/drawing/2014/main" val="20001"/>
                    </a:ext>
                  </a:extLst>
                </a:gridCol>
                <a:gridCol w="2770062">
                  <a:extLst>
                    <a:ext uri="{9D8B030D-6E8A-4147-A177-3AD203B41FA5}">
                      <a16:colId xmlns:a16="http://schemas.microsoft.com/office/drawing/2014/main" val="20002"/>
                    </a:ext>
                  </a:extLst>
                </a:gridCol>
              </a:tblGrid>
              <a:tr h="517143">
                <a:tc>
                  <a:txBody>
                    <a:bodyPr/>
                    <a:lstStyle/>
                    <a:p>
                      <a:pPr marL="0" marR="0" algn="ctr">
                        <a:spcBef>
                          <a:spcPts val="0"/>
                        </a:spcBef>
                        <a:spcAft>
                          <a:spcPts val="0"/>
                        </a:spcAft>
                      </a:pPr>
                      <a:r>
                        <a:rPr lang="en-US" sz="2000" b="1" dirty="0">
                          <a:effectLst/>
                          <a:latin typeface="Verdana" charset="0"/>
                          <a:ea typeface="Times New Roman" charset="0"/>
                          <a:cs typeface="Times New Roman" charset="0"/>
                        </a:rPr>
                        <a:t>Katelyn’s Conclusion</a:t>
                      </a:r>
                      <a:endParaRPr lang="en-US" sz="2000" dirty="0">
                        <a:effectLst/>
                        <a:latin typeface="Cambria" charset="0"/>
                        <a:ea typeface="Times New Roman" charset="0"/>
                        <a:cs typeface="Times New Roman" charset="0"/>
                      </a:endParaRPr>
                    </a:p>
                  </a:txBody>
                  <a:tcPr marL="63903" marR="6390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000" b="1" dirty="0">
                          <a:effectLst/>
                          <a:latin typeface="Verdana" charset="0"/>
                          <a:ea typeface="Times New Roman" charset="0"/>
                          <a:cs typeface="Times New Roman" charset="0"/>
                        </a:rPr>
                        <a:t>Diego’s Conclusion</a:t>
                      </a:r>
                      <a:endParaRPr lang="en-US" sz="2000" dirty="0">
                        <a:effectLst/>
                        <a:latin typeface="Cambria" charset="0"/>
                        <a:ea typeface="Times New Roman" charset="0"/>
                        <a:cs typeface="Times New Roman" charset="0"/>
                      </a:endParaRPr>
                    </a:p>
                  </a:txBody>
                  <a:tcPr marL="63903" marR="6390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000" b="1">
                          <a:effectLst/>
                          <a:latin typeface="Verdana" charset="0"/>
                          <a:ea typeface="Times New Roman" charset="0"/>
                          <a:cs typeface="Times New Roman" charset="0"/>
                        </a:rPr>
                        <a:t>Amelia’s Conclusion</a:t>
                      </a:r>
                      <a:endParaRPr lang="en-US" sz="2000">
                        <a:effectLst/>
                        <a:latin typeface="Cambria" charset="0"/>
                        <a:ea typeface="Times New Roman" charset="0"/>
                        <a:cs typeface="Times New Roman" charset="0"/>
                      </a:endParaRPr>
                    </a:p>
                  </a:txBody>
                  <a:tcPr marL="63903" marR="6390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extLst>
                  <a:ext uri="{0D108BD9-81ED-4DB2-BD59-A6C34878D82A}">
                    <a16:rowId xmlns:a16="http://schemas.microsoft.com/office/drawing/2014/main" val="10000"/>
                  </a:ext>
                </a:extLst>
              </a:tr>
              <a:tr h="3834195">
                <a:tc>
                  <a:txBody>
                    <a:bodyPr/>
                    <a:lstStyle/>
                    <a:p>
                      <a:pPr marL="0" marR="0" algn="ctr">
                        <a:spcBef>
                          <a:spcPts val="0"/>
                        </a:spcBef>
                        <a:spcAft>
                          <a:spcPts val="0"/>
                        </a:spcAft>
                      </a:pPr>
                      <a:r>
                        <a:rPr lang="en-US" sz="2000">
                          <a:effectLst/>
                          <a:latin typeface="Verdana" charset="0"/>
                          <a:ea typeface="Times New Roman" charset="0"/>
                          <a:cs typeface="Times New Roman" charset="0"/>
                        </a:rPr>
                        <a:t>To prove similarity of two triangles, apply the definition of congruence in terms of rigid motions to show that two angles that are assumed to be congruent are congruent. This is sufficient to prove similarity of two triangles.</a:t>
                      </a:r>
                      <a:endParaRPr lang="en-US" sz="2000">
                        <a:effectLst/>
                        <a:latin typeface="Cambria" charset="0"/>
                        <a:ea typeface="Times New Roman" charset="0"/>
                        <a:cs typeface="Times New Roman" charset="0"/>
                      </a:endParaRPr>
                    </a:p>
                  </a:txBody>
                  <a:tcPr marL="63903" marR="6390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2000">
                          <a:effectLst/>
                          <a:latin typeface="Verdana" charset="0"/>
                          <a:ea typeface="Times New Roman" charset="0"/>
                          <a:cs typeface="Times New Roman" charset="0"/>
                        </a:rPr>
                        <a:t>Show that two triangles are congruent using rigid motions and dilation. Then, apply the definition of similarity in terms of non-rigid transformations.  This is sufficient to prove the triangles are similar.</a:t>
                      </a:r>
                      <a:endParaRPr lang="en-US" sz="2000">
                        <a:effectLst/>
                        <a:latin typeface="Cambria" charset="0"/>
                        <a:ea typeface="Times New Roman" charset="0"/>
                        <a:cs typeface="Times New Roman" charset="0"/>
                      </a:endParaRPr>
                    </a:p>
                  </a:txBody>
                  <a:tcPr marL="63903" marR="6390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2000" dirty="0">
                          <a:effectLst/>
                          <a:latin typeface="Verdana" charset="0"/>
                          <a:ea typeface="Times New Roman" charset="0"/>
                          <a:cs typeface="Times New Roman" charset="0"/>
                        </a:rPr>
                        <a:t>By applying a series of rigid transformations and a dilation, it could be shown that the triangles are similar by showing that one set of sides are proportional and assumed two angles are congruent.</a:t>
                      </a:r>
                      <a:endParaRPr lang="en-US" sz="2000" dirty="0">
                        <a:effectLst/>
                        <a:latin typeface="Cambria" charset="0"/>
                        <a:ea typeface="Times New Roman" charset="0"/>
                        <a:cs typeface="Times New Roman" charset="0"/>
                      </a:endParaRPr>
                    </a:p>
                  </a:txBody>
                  <a:tcPr marL="63903" marR="6390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5712507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276C46"/>
          </a:solidFill>
          <a:ln w="9525" cap="flat" cmpd="sng">
            <a:solidFill>
              <a:srgbClr val="276C46"/>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599"/>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994150" y="6444338"/>
            <a:ext cx="2634000" cy="400200"/>
          </a:xfrm>
          <a:prstGeom prst="rect">
            <a:avLst/>
          </a:prstGeom>
          <a:noFill/>
          <a:ln>
            <a:noFill/>
          </a:ln>
        </p:spPr>
        <p:txBody>
          <a:bodyPr spcFirstLastPara="1" wrap="square" lIns="91425" tIns="91425" rIns="91425" bIns="91425" anchor="t" anchorCtr="0">
            <a:spAutoFit/>
          </a:bodyPr>
          <a:lstStyle/>
          <a:p>
            <a:pPr lvl="0" algn="r"/>
            <a:r>
              <a:rPr lang="it-IT" i="1" dirty="0">
                <a:latin typeface="Calibri"/>
                <a:ea typeface="Calibri"/>
                <a:cs typeface="Calibri"/>
                <a:sym typeface="Calibri"/>
              </a:rPr>
              <a:t>volume 1, </a:t>
            </a:r>
            <a:r>
              <a:rPr lang="it-IT" i="1" dirty="0" err="1">
                <a:latin typeface="Calibri"/>
                <a:ea typeface="Calibri"/>
                <a:cs typeface="Calibri"/>
                <a:sym typeface="Calibri"/>
              </a:rPr>
              <a:t>pg</a:t>
            </a:r>
            <a:r>
              <a:rPr lang="it-IT" i="1" dirty="0">
                <a:latin typeface="Calibri"/>
                <a:ea typeface="Calibri"/>
                <a:cs typeface="Calibri"/>
                <a:sym typeface="Calibri"/>
              </a:rPr>
              <a:t>. 347</a:t>
            </a:r>
          </a:p>
        </p:txBody>
      </p:sp>
      <p:sp>
        <p:nvSpPr>
          <p:cNvPr id="14" name="TextBox 13">
            <a:extLst>
              <a:ext uri="{FF2B5EF4-FFF2-40B4-BE49-F238E27FC236}">
                <a16:creationId xmlns:a16="http://schemas.microsoft.com/office/drawing/2014/main" id="{2FA392D8-3ED3-7940-83A8-1451AA8A08D4}"/>
              </a:ext>
            </a:extLst>
          </p:cNvPr>
          <p:cNvSpPr txBox="1"/>
          <p:nvPr/>
        </p:nvSpPr>
        <p:spPr>
          <a:xfrm>
            <a:off x="410308" y="520394"/>
            <a:ext cx="11359661" cy="1323439"/>
          </a:xfrm>
          <a:prstGeom prst="rect">
            <a:avLst/>
          </a:prstGeom>
          <a:noFill/>
        </p:spPr>
        <p:txBody>
          <a:bodyPr wrap="square" rtlCol="0">
            <a:spAutoFit/>
          </a:bodyPr>
          <a:lstStyle/>
          <a:p>
            <a:pPr marL="457200" indent="-457200">
              <a:buFont typeface="+mj-lt"/>
              <a:buAutoNum type="alphaLcPeriod" startAt="2"/>
            </a:pPr>
            <a:r>
              <a:rPr lang="en-US" sz="2000" dirty="0">
                <a:latin typeface="Verdana" charset="0"/>
                <a:ea typeface="Verdana" charset="0"/>
                <a:cs typeface="Verdana" charset="0"/>
              </a:rPr>
              <a:t>Explain why you agree with that student.</a:t>
            </a:r>
          </a:p>
          <a:p>
            <a:pPr marL="457200" indent="-457200">
              <a:buFont typeface="+mj-lt"/>
              <a:buAutoNum type="alphaLcPeriod" startAt="2"/>
            </a:pPr>
            <a:endParaRPr lang="en-US" sz="2000" dirty="0">
              <a:latin typeface="Verdana" charset="0"/>
              <a:ea typeface="Verdana" charset="0"/>
              <a:cs typeface="Verdana" charset="0"/>
            </a:endParaRPr>
          </a:p>
          <a:p>
            <a:pPr marL="457200" indent="-457200">
              <a:buFont typeface="+mj-lt"/>
              <a:buAutoNum type="alphaLcPeriod" startAt="2"/>
            </a:pPr>
            <a:r>
              <a:rPr lang="en-US" sz="2000" dirty="0">
                <a:latin typeface="Verdana" charset="0"/>
                <a:ea typeface="Verdana" charset="0"/>
                <a:cs typeface="Verdana" charset="0"/>
              </a:rPr>
              <a:t>Pick one student whose conclusion is incorrect. Write a note to them to help them understand their error.</a:t>
            </a:r>
          </a:p>
        </p:txBody>
      </p:sp>
      <p:pic>
        <p:nvPicPr>
          <p:cNvPr id="2" name="Picture 1"/>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3215469" y="1843833"/>
            <a:ext cx="5903353" cy="4613843"/>
          </a:xfrm>
          <a:prstGeom prst="rect">
            <a:avLst/>
          </a:prstGeom>
        </p:spPr>
      </p:pic>
    </p:spTree>
    <p:extLst>
      <p:ext uri="{BB962C8B-B14F-4D97-AF65-F5344CB8AC3E}">
        <p14:creationId xmlns:p14="http://schemas.microsoft.com/office/powerpoint/2010/main" val="75204850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4050"/>
            <a:ext cx="2731200" cy="6866100"/>
          </a:xfrm>
          <a:prstGeom prst="rect">
            <a:avLst/>
          </a:prstGeom>
          <a:solidFill>
            <a:srgbClr val="276C46"/>
          </a:solidFill>
          <a:ln w="9525" cap="flat" cmpd="sng">
            <a:solidFill>
              <a:srgbClr val="276C46"/>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sp>
        <p:nvSpPr>
          <p:cNvPr id="310" name="Google Shape;310;g104476d1465_1_39"/>
          <p:cNvSpPr txBox="1"/>
          <p:nvPr/>
        </p:nvSpPr>
        <p:spPr>
          <a:xfrm>
            <a:off x="8994150" y="6457675"/>
            <a:ext cx="2634000" cy="400200"/>
          </a:xfrm>
          <a:prstGeom prst="rect">
            <a:avLst/>
          </a:prstGeom>
          <a:noFill/>
          <a:ln>
            <a:noFill/>
          </a:ln>
        </p:spPr>
        <p:txBody>
          <a:bodyPr spcFirstLastPara="1" wrap="square" lIns="91425" tIns="91425" rIns="91425" bIns="91425" anchor="t" anchorCtr="0">
            <a:spAutoFit/>
          </a:bodyPr>
          <a:lstStyle/>
          <a:p>
            <a:pPr lvl="0" algn="r"/>
            <a:r>
              <a:rPr lang="it-IT" i="1" dirty="0">
                <a:latin typeface="Calibri"/>
                <a:ea typeface="Calibri"/>
                <a:cs typeface="Calibri"/>
                <a:sym typeface="Calibri"/>
              </a:rPr>
              <a:t>volume 1, </a:t>
            </a:r>
            <a:r>
              <a:rPr lang="it-IT" i="1" dirty="0" err="1">
                <a:latin typeface="Calibri"/>
                <a:ea typeface="Calibri"/>
                <a:cs typeface="Calibri"/>
                <a:sym typeface="Calibri"/>
              </a:rPr>
              <a:t>pg</a:t>
            </a:r>
            <a:r>
              <a:rPr lang="it-IT" i="1" dirty="0">
                <a:latin typeface="Calibri"/>
                <a:ea typeface="Calibri"/>
                <a:cs typeface="Calibri"/>
                <a:sym typeface="Calibri"/>
              </a:rPr>
              <a:t>. 348</a:t>
            </a: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599"/>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5250339" y="2779100"/>
            <a:ext cx="448075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3F2A67"/>
                </a:solidFill>
                <a:latin typeface="Verdana"/>
                <a:ea typeface="Verdana"/>
                <a:cs typeface="Verdana"/>
                <a:sym typeface="Verdana"/>
              </a:rPr>
              <a:t>Wrap-Up</a:t>
            </a:r>
            <a:endParaRPr sz="5100" b="1" dirty="0">
              <a:solidFill>
                <a:srgbClr val="3F2A67"/>
              </a:solidFill>
              <a:latin typeface="Verdana"/>
              <a:ea typeface="Verdana"/>
              <a:cs typeface="Verdana"/>
              <a:sym typeface="Verdana"/>
            </a:endParaRPr>
          </a:p>
        </p:txBody>
      </p:sp>
      <p:pic>
        <p:nvPicPr>
          <p:cNvPr id="7" name="Google Shape;450;g103996e1364_0_457">
            <a:extLst>
              <a:ext uri="{FF2B5EF4-FFF2-40B4-BE49-F238E27FC236}">
                <a16:creationId xmlns:a16="http://schemas.microsoft.com/office/drawing/2014/main" id="{DE95225C-59B5-E847-AFA2-B83DCFFA10D8}"/>
              </a:ext>
            </a:extLst>
          </p:cNvPr>
          <p:cNvPicPr preferRelativeResize="0"/>
          <p:nvPr/>
        </p:nvPicPr>
        <p:blipFill rotWithShape="1">
          <a:blip r:embed="rId4">
            <a:alphaModFix/>
          </a:blip>
          <a:srcRect/>
          <a:stretch/>
        </p:blipFill>
        <p:spPr>
          <a:xfrm>
            <a:off x="4429333" y="2933695"/>
            <a:ext cx="1008299" cy="1016513"/>
          </a:xfrm>
          <a:prstGeom prst="rect">
            <a:avLst/>
          </a:prstGeom>
          <a:noFill/>
          <a:ln>
            <a:noFill/>
          </a:ln>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67690871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276C46"/>
          </a:solidFill>
          <a:ln w="9525" cap="flat" cmpd="sng">
            <a:solidFill>
              <a:srgbClr val="276C46"/>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282" name="Google Shape;282;g104476d1465_1_17"/>
          <p:cNvSpPr txBox="1"/>
          <p:nvPr/>
        </p:nvSpPr>
        <p:spPr>
          <a:xfrm>
            <a:off x="8994150" y="6515774"/>
            <a:ext cx="2634000" cy="400200"/>
          </a:xfrm>
          <a:prstGeom prst="rect">
            <a:avLst/>
          </a:prstGeom>
          <a:noFill/>
          <a:ln>
            <a:noFill/>
          </a:ln>
        </p:spPr>
        <p:txBody>
          <a:bodyPr spcFirstLastPara="1" wrap="square" lIns="91425" tIns="91425" rIns="91425" bIns="91425" anchor="t" anchorCtr="0">
            <a:spAutoFit/>
          </a:bodyPr>
          <a:lstStyle/>
          <a:p>
            <a:pPr lvl="0" algn="r"/>
            <a:r>
              <a:rPr lang="it-IT" i="1" dirty="0">
                <a:latin typeface="Calibri"/>
                <a:ea typeface="Calibri"/>
                <a:cs typeface="Calibri"/>
                <a:sym typeface="Calibri"/>
              </a:rPr>
              <a:t>volume 1, </a:t>
            </a:r>
            <a:r>
              <a:rPr lang="it-IT" i="1" dirty="0" err="1">
                <a:latin typeface="Calibri"/>
                <a:ea typeface="Calibri"/>
                <a:cs typeface="Calibri"/>
                <a:sym typeface="Calibri"/>
              </a:rPr>
              <a:t>pg</a:t>
            </a:r>
            <a:r>
              <a:rPr lang="it-IT" i="1" dirty="0">
                <a:latin typeface="Calibri"/>
                <a:ea typeface="Calibri"/>
                <a:cs typeface="Calibri"/>
                <a:sym typeface="Calibri"/>
              </a:rPr>
              <a:t>. 348</a:t>
            </a: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599"/>
            <a:ext cx="563850" cy="657276"/>
          </a:xfrm>
          <a:prstGeom prst="rect">
            <a:avLst/>
          </a:prstGeom>
          <a:noFill/>
          <a:ln>
            <a:noFill/>
          </a:ln>
          <a:effectLst>
            <a:outerShdw blurRad="57150" dist="19050" dir="5400000" algn="bl" rotWithShape="0">
              <a:srgbClr val="000000">
                <a:alpha val="50000"/>
              </a:srgbClr>
            </a:outerShdw>
          </a:effectLst>
        </p:spPr>
      </p:pic>
      <p:sp>
        <p:nvSpPr>
          <p:cNvPr id="7" name="Google Shape;456;g103996e1364_0_463">
            <a:extLst>
              <a:ext uri="{FF2B5EF4-FFF2-40B4-BE49-F238E27FC236}">
                <a16:creationId xmlns:a16="http://schemas.microsoft.com/office/drawing/2014/main" id="{68C03D65-F0BF-3F41-B52A-024F47388982}"/>
              </a:ext>
            </a:extLst>
          </p:cNvPr>
          <p:cNvSpPr txBox="1">
            <a:spLocks/>
          </p:cNvSpPr>
          <p:nvPr/>
        </p:nvSpPr>
        <p:spPr>
          <a:xfrm>
            <a:off x="1159096" y="-109461"/>
            <a:ext cx="80193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3F2A67"/>
                </a:solidFill>
                <a:latin typeface="Verdana"/>
                <a:ea typeface="Verdana"/>
                <a:cs typeface="Verdana"/>
                <a:sym typeface="Verdana"/>
              </a:rPr>
              <a:t>6.H3.3 Wrap-Up: Cool Down</a:t>
            </a:r>
          </a:p>
        </p:txBody>
      </p:sp>
      <p:pic>
        <p:nvPicPr>
          <p:cNvPr id="9" name="Google Shape;458;g103996e1364_0_463">
            <a:extLst>
              <a:ext uri="{FF2B5EF4-FFF2-40B4-BE49-F238E27FC236}">
                <a16:creationId xmlns:a16="http://schemas.microsoft.com/office/drawing/2014/main" id="{EEA44D6C-2366-AC41-B1B5-EDDC34786A66}"/>
              </a:ext>
            </a:extLst>
          </p:cNvPr>
          <p:cNvPicPr preferRelativeResize="0"/>
          <p:nvPr/>
        </p:nvPicPr>
        <p:blipFill rotWithShape="1">
          <a:blip r:embed="rId4">
            <a:alphaModFix/>
          </a:blip>
          <a:srcRect/>
          <a:stretch/>
        </p:blipFill>
        <p:spPr>
          <a:xfrm>
            <a:off x="411796" y="179739"/>
            <a:ext cx="747300" cy="747300"/>
          </a:xfrm>
          <a:prstGeom prst="rect">
            <a:avLst/>
          </a:prstGeom>
          <a:noFill/>
          <a:ln>
            <a:noFill/>
          </a:ln>
          <a:effectLst>
            <a:outerShdw blurRad="50800" dist="38100" dir="2700000" algn="tl" rotWithShape="0">
              <a:prstClr val="black">
                <a:alpha val="40000"/>
              </a:prstClr>
            </a:outerShdw>
          </a:effectLst>
        </p:spPr>
      </p:pic>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0370EDB7-6994-3D43-ABF9-E04CBAFB9CD9}"/>
                  </a:ext>
                </a:extLst>
              </p:cNvPr>
              <p:cNvSpPr txBox="1"/>
              <p:nvPr/>
            </p:nvSpPr>
            <p:spPr>
              <a:xfrm>
                <a:off x="785446" y="1358249"/>
                <a:ext cx="9525704" cy="400110"/>
              </a:xfrm>
              <a:prstGeom prst="rect">
                <a:avLst/>
              </a:prstGeom>
              <a:noFill/>
            </p:spPr>
            <p:txBody>
              <a:bodyPr wrap="square" rtlCol="0">
                <a:spAutoFit/>
              </a:bodyPr>
              <a:lstStyle/>
              <a:p>
                <a:pPr marL="457200" indent="-457200">
                  <a:buFont typeface="+mj-lt"/>
                  <a:buAutoNum type="arabicPeriod"/>
                </a:pPr>
                <a14:m>
                  <m:oMath xmlns:m="http://schemas.openxmlformats.org/officeDocument/2006/math">
                    <m:r>
                      <a:rPr lang="en-US" sz="2000" i="1">
                        <a:latin typeface="Cambria Math" panose="02040503050406030204" pitchFamily="18" charset="0"/>
                        <a:ea typeface="Verdana" charset="0"/>
                        <a:cs typeface="Verdana" charset="0"/>
                      </a:rPr>
                      <m:t>∆</m:t>
                    </m:r>
                    <m:r>
                      <a:rPr lang="en-US" sz="2000" i="1">
                        <a:latin typeface="Cambria Math" panose="02040503050406030204" pitchFamily="18" charset="0"/>
                        <a:ea typeface="Verdana" charset="0"/>
                        <a:cs typeface="Verdana" charset="0"/>
                      </a:rPr>
                      <m:t>𝐴𝐵𝐶</m:t>
                    </m:r>
                  </m:oMath>
                </a14:m>
                <a:r>
                  <a:rPr lang="en-US" sz="2000" dirty="0">
                    <a:latin typeface="Verdana" charset="0"/>
                    <a:ea typeface="Verdana" charset="0"/>
                    <a:cs typeface="Verdana" charset="0"/>
                  </a:rPr>
                  <a:t> is shown.</a:t>
                </a:r>
              </a:p>
            </p:txBody>
          </p:sp>
        </mc:Choice>
        <mc:Fallback xmlns="">
          <p:sp>
            <p:nvSpPr>
              <p:cNvPr id="12" name="TextBox 11">
                <a:extLst>
                  <a:ext uri="{FF2B5EF4-FFF2-40B4-BE49-F238E27FC236}">
                    <a16:creationId xmlns:a16="http://schemas.microsoft.com/office/drawing/2014/main" id="{0370EDB7-6994-3D43-ABF9-E04CBAFB9CD9}"/>
                  </a:ext>
                </a:extLst>
              </p:cNvPr>
              <p:cNvSpPr txBox="1">
                <a:spLocks noRot="1" noChangeAspect="1" noMove="1" noResize="1" noEditPoints="1" noAdjustHandles="1" noChangeArrowheads="1" noChangeShapeType="1" noTextEdit="1"/>
              </p:cNvSpPr>
              <p:nvPr/>
            </p:nvSpPr>
            <p:spPr>
              <a:xfrm>
                <a:off x="785446" y="1358249"/>
                <a:ext cx="9525704" cy="400110"/>
              </a:xfrm>
              <a:prstGeom prst="rect">
                <a:avLst/>
              </a:prstGeom>
              <a:blipFill>
                <a:blip r:embed="rId5"/>
                <a:stretch>
                  <a:fillRect l="-266" t="-9375" b="-25000"/>
                </a:stretch>
              </a:blipFill>
            </p:spPr>
            <p:txBody>
              <a:bodyPr/>
              <a:lstStyle/>
              <a:p>
                <a:r>
                  <a:rPr lang="en-US">
                    <a:noFill/>
                  </a:rPr>
                  <a:t> </a:t>
                </a:r>
              </a:p>
            </p:txBody>
          </p:sp>
        </mc:Fallback>
      </mc:AlternateContent>
      <p:pic>
        <p:nvPicPr>
          <p:cNvPr id="2" name="Picture 1"/>
          <p:cNvPicPr>
            <a:picLocks noChangeAspect="1"/>
          </p:cNvPicPr>
          <p:nvPr/>
        </p:nvPicPr>
        <p:blipFill>
          <a:blip r:embed="rId6">
            <a:extLst>
              <a:ext uri="{28A0092B-C50C-407E-A947-70E740481C1C}">
                <a14:useLocalDpi xmlns:a14="http://schemas.microsoft.com/office/drawing/2010/main"/>
              </a:ext>
            </a:extLst>
          </a:blip>
          <a:stretch>
            <a:fillRect/>
          </a:stretch>
        </p:blipFill>
        <p:spPr>
          <a:xfrm>
            <a:off x="2519850" y="1916917"/>
            <a:ext cx="4724400" cy="4152900"/>
          </a:xfrm>
          <a:prstGeom prst="rect">
            <a:avLst/>
          </a:prstGeom>
        </p:spPr>
      </p:pic>
    </p:spTree>
    <p:extLst>
      <p:ext uri="{BB962C8B-B14F-4D97-AF65-F5344CB8AC3E}">
        <p14:creationId xmlns:p14="http://schemas.microsoft.com/office/powerpoint/2010/main" val="55399561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276C46"/>
          </a:solidFill>
          <a:ln w="9525" cap="flat" cmpd="sng">
            <a:solidFill>
              <a:srgbClr val="276C46"/>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11574" y="6200599"/>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977574" y="6457675"/>
            <a:ext cx="2634000" cy="400200"/>
          </a:xfrm>
          <a:prstGeom prst="rect">
            <a:avLst/>
          </a:prstGeom>
          <a:noFill/>
          <a:ln>
            <a:noFill/>
          </a:ln>
        </p:spPr>
        <p:txBody>
          <a:bodyPr spcFirstLastPara="1" wrap="square" lIns="91425" tIns="91425" rIns="91425" bIns="91425" anchor="t" anchorCtr="0">
            <a:spAutoFit/>
          </a:bodyPr>
          <a:lstStyle/>
          <a:p>
            <a:pPr lvl="0" algn="r"/>
            <a:r>
              <a:rPr lang="it-IT" i="1" dirty="0">
                <a:latin typeface="Calibri"/>
                <a:ea typeface="Calibri"/>
                <a:cs typeface="Calibri"/>
                <a:sym typeface="Calibri"/>
              </a:rPr>
              <a:t>volume 1, </a:t>
            </a:r>
            <a:r>
              <a:rPr lang="it-IT" i="1" dirty="0" err="1">
                <a:latin typeface="Calibri"/>
                <a:ea typeface="Calibri"/>
                <a:cs typeface="Calibri"/>
                <a:sym typeface="Calibri"/>
              </a:rPr>
              <a:t>pg</a:t>
            </a:r>
            <a:r>
              <a:rPr lang="it-IT" i="1" dirty="0">
                <a:latin typeface="Calibri"/>
                <a:ea typeface="Calibri"/>
                <a:cs typeface="Calibri"/>
                <a:sym typeface="Calibri"/>
              </a:rPr>
              <a:t>. 348</a:t>
            </a:r>
          </a:p>
        </p:txBody>
      </p: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2FA392D8-3ED3-7940-83A8-1451AA8A08D4}"/>
                  </a:ext>
                </a:extLst>
              </p:cNvPr>
              <p:cNvSpPr txBox="1"/>
              <p:nvPr/>
            </p:nvSpPr>
            <p:spPr>
              <a:xfrm>
                <a:off x="375138" y="465224"/>
                <a:ext cx="11664462" cy="2862322"/>
              </a:xfrm>
              <a:prstGeom prst="rect">
                <a:avLst/>
              </a:prstGeom>
              <a:noFill/>
            </p:spPr>
            <p:txBody>
              <a:bodyPr wrap="square" rtlCol="0">
                <a:spAutoFit/>
              </a:bodyPr>
              <a:lstStyle/>
              <a:p>
                <a:r>
                  <a:rPr lang="en-US" sz="2000" dirty="0">
                    <a:latin typeface="Verdana" charset="0"/>
                    <a:ea typeface="Verdana" charset="0"/>
                    <a:cs typeface="Verdana" charset="0"/>
                  </a:rPr>
                  <a:t>A sequence of three transformations is shown. </a:t>
                </a:r>
              </a:p>
              <a:p>
                <a:endParaRPr lang="en-US" sz="2000" dirty="0">
                  <a:latin typeface="Verdana" charset="0"/>
                  <a:ea typeface="Verdana" charset="0"/>
                  <a:cs typeface="Verdana" charset="0"/>
                </a:endParaRPr>
              </a:p>
              <a:p>
                <a:pPr marL="342900" indent="-342900">
                  <a:buFont typeface="Arial" charset="0"/>
                  <a:buChar char="•"/>
                </a:pPr>
                <a14:m>
                  <m:oMath xmlns:m="http://schemas.openxmlformats.org/officeDocument/2006/math">
                    <m:r>
                      <a:rPr lang="en-US" sz="2000" i="1">
                        <a:latin typeface="Cambria Math" charset="0"/>
                        <a:ea typeface="Verdana" charset="0"/>
                        <a:cs typeface="Verdana" charset="0"/>
                      </a:rPr>
                      <m:t>(</m:t>
                    </m:r>
                    <m:r>
                      <a:rPr lang="en-US" sz="2000" i="1">
                        <a:latin typeface="Cambria Math" charset="0"/>
                        <a:ea typeface="Verdana" charset="0"/>
                        <a:cs typeface="Verdana" charset="0"/>
                      </a:rPr>
                      <m:t>𝑥</m:t>
                    </m:r>
                    <m:r>
                      <a:rPr lang="en-US" sz="2000" i="1">
                        <a:latin typeface="Cambria Math" charset="0"/>
                        <a:ea typeface="Verdana" charset="0"/>
                        <a:cs typeface="Verdana" charset="0"/>
                      </a:rPr>
                      <m:t>,</m:t>
                    </m:r>
                    <m:r>
                      <a:rPr lang="en-US" sz="2000" i="1">
                        <a:latin typeface="Cambria Math" charset="0"/>
                        <a:ea typeface="Verdana" charset="0"/>
                        <a:cs typeface="Verdana" charset="0"/>
                      </a:rPr>
                      <m:t>𝑦</m:t>
                    </m:r>
                    <m:r>
                      <a:rPr lang="en-US" sz="2000" i="1">
                        <a:latin typeface="Cambria Math" charset="0"/>
                        <a:ea typeface="Verdana" charset="0"/>
                        <a:cs typeface="Verdana" charset="0"/>
                      </a:rPr>
                      <m:t>)→(</m:t>
                    </m:r>
                    <m:r>
                      <a:rPr lang="en-US" sz="2000" i="1">
                        <a:latin typeface="Cambria Math" charset="0"/>
                        <a:ea typeface="Verdana" charset="0"/>
                        <a:cs typeface="Verdana" charset="0"/>
                      </a:rPr>
                      <m:t>𝑥</m:t>
                    </m:r>
                    <m:r>
                      <a:rPr lang="en-US" sz="2000" i="1">
                        <a:latin typeface="Cambria Math" charset="0"/>
                        <a:ea typeface="Verdana" charset="0"/>
                        <a:cs typeface="Verdana" charset="0"/>
                      </a:rPr>
                      <m:t>−4,</m:t>
                    </m:r>
                    <m:r>
                      <a:rPr lang="en-US" sz="2000" i="1">
                        <a:latin typeface="Cambria Math" charset="0"/>
                        <a:ea typeface="Verdana" charset="0"/>
                        <a:cs typeface="Verdana" charset="0"/>
                      </a:rPr>
                      <m:t>𝑦</m:t>
                    </m:r>
                    <m:r>
                      <a:rPr lang="en-US" sz="2000" i="1">
                        <a:latin typeface="Cambria Math" charset="0"/>
                        <a:ea typeface="Verdana" charset="0"/>
                        <a:cs typeface="Verdana" charset="0"/>
                      </a:rPr>
                      <m:t>−1)</m:t>
                    </m:r>
                  </m:oMath>
                </a14:m>
                <a:endParaRPr lang="en-US" sz="2000" dirty="0">
                  <a:latin typeface="Verdana" charset="0"/>
                  <a:ea typeface="Verdana" charset="0"/>
                  <a:cs typeface="Verdana" charset="0"/>
                </a:endParaRPr>
              </a:p>
              <a:p>
                <a:pPr marL="342900" indent="-342900">
                  <a:buFont typeface="Arial" charset="0"/>
                  <a:buChar char="•"/>
                </a:pPr>
                <a14:m>
                  <m:oMath xmlns:m="http://schemas.openxmlformats.org/officeDocument/2006/math">
                    <m:r>
                      <a:rPr lang="en-US" sz="2000" i="1">
                        <a:latin typeface="Cambria Math" charset="0"/>
                        <a:ea typeface="Verdana" charset="0"/>
                        <a:cs typeface="Verdana" charset="0"/>
                      </a:rPr>
                      <m:t>(</m:t>
                    </m:r>
                    <m:r>
                      <a:rPr lang="en-US" sz="2000" i="1">
                        <a:latin typeface="Cambria Math" charset="0"/>
                        <a:ea typeface="Verdana" charset="0"/>
                        <a:cs typeface="Verdana" charset="0"/>
                      </a:rPr>
                      <m:t>𝑥</m:t>
                    </m:r>
                    <m:r>
                      <a:rPr lang="en-US" sz="2000" i="1">
                        <a:latin typeface="Cambria Math" charset="0"/>
                        <a:ea typeface="Verdana" charset="0"/>
                        <a:cs typeface="Verdana" charset="0"/>
                      </a:rPr>
                      <m:t>,</m:t>
                    </m:r>
                    <m:r>
                      <a:rPr lang="en-US" sz="2000" i="1">
                        <a:latin typeface="Cambria Math" charset="0"/>
                        <a:ea typeface="Verdana" charset="0"/>
                        <a:cs typeface="Verdana" charset="0"/>
                      </a:rPr>
                      <m:t>𝑦</m:t>
                    </m:r>
                    <m:r>
                      <a:rPr lang="en-US" sz="2000" i="1">
                        <a:latin typeface="Cambria Math" charset="0"/>
                        <a:ea typeface="Verdana" charset="0"/>
                        <a:cs typeface="Verdana" charset="0"/>
                      </a:rPr>
                      <m:t>)→(</m:t>
                    </m:r>
                    <m:r>
                      <a:rPr lang="en-US" sz="2000" i="1">
                        <a:latin typeface="Cambria Math" charset="0"/>
                        <a:ea typeface="Verdana" charset="0"/>
                        <a:cs typeface="Verdana" charset="0"/>
                      </a:rPr>
                      <m:t>𝑦</m:t>
                    </m:r>
                    <m:r>
                      <a:rPr lang="en-US" sz="2000" i="1">
                        <a:latin typeface="Cambria Math" charset="0"/>
                        <a:ea typeface="Verdana" charset="0"/>
                        <a:cs typeface="Verdana" charset="0"/>
                      </a:rPr>
                      <m:t>,</m:t>
                    </m:r>
                    <m:r>
                      <a:rPr lang="en-US" sz="2000" i="1">
                        <a:latin typeface="Cambria Math" charset="0"/>
                        <a:ea typeface="Verdana" charset="0"/>
                        <a:cs typeface="Verdana" charset="0"/>
                      </a:rPr>
                      <m:t>𝑥</m:t>
                    </m:r>
                    <m:r>
                      <a:rPr lang="en-US" sz="2000" i="1">
                        <a:latin typeface="Cambria Math" charset="0"/>
                        <a:ea typeface="Verdana" charset="0"/>
                        <a:cs typeface="Verdana" charset="0"/>
                      </a:rPr>
                      <m:t>)</m:t>
                    </m:r>
                  </m:oMath>
                </a14:m>
                <a:endParaRPr lang="en-US" sz="2000" dirty="0">
                  <a:latin typeface="Verdana" charset="0"/>
                  <a:ea typeface="Verdana" charset="0"/>
                  <a:cs typeface="Verdana" charset="0"/>
                </a:endParaRPr>
              </a:p>
              <a:p>
                <a:pPr marL="342900" indent="-342900">
                  <a:buFont typeface="Arial" charset="0"/>
                  <a:buChar char="•"/>
                </a:pPr>
                <a14:m>
                  <m:oMath xmlns:m="http://schemas.openxmlformats.org/officeDocument/2006/math">
                    <m:r>
                      <a:rPr lang="en-US" sz="2000" i="1">
                        <a:latin typeface="Cambria Math" charset="0"/>
                        <a:ea typeface="Verdana" charset="0"/>
                        <a:cs typeface="Verdana" charset="0"/>
                      </a:rPr>
                      <m:t>(</m:t>
                    </m:r>
                    <m:r>
                      <a:rPr lang="en-US" sz="2000" i="1">
                        <a:latin typeface="Cambria Math" charset="0"/>
                        <a:ea typeface="Verdana" charset="0"/>
                        <a:cs typeface="Verdana" charset="0"/>
                      </a:rPr>
                      <m:t>𝑥</m:t>
                    </m:r>
                    <m:r>
                      <a:rPr lang="en-US" sz="2000" i="1">
                        <a:latin typeface="Cambria Math" charset="0"/>
                        <a:ea typeface="Verdana" charset="0"/>
                        <a:cs typeface="Verdana" charset="0"/>
                      </a:rPr>
                      <m:t>,</m:t>
                    </m:r>
                    <m:r>
                      <a:rPr lang="en-US" sz="2000" i="1">
                        <a:latin typeface="Cambria Math" charset="0"/>
                        <a:ea typeface="Verdana" charset="0"/>
                        <a:cs typeface="Verdana" charset="0"/>
                      </a:rPr>
                      <m:t>𝑦</m:t>
                    </m:r>
                    <m:r>
                      <a:rPr lang="en-US" sz="2000" i="1">
                        <a:latin typeface="Cambria Math" charset="0"/>
                        <a:ea typeface="Verdana" charset="0"/>
                        <a:cs typeface="Verdana" charset="0"/>
                      </a:rPr>
                      <m:t>)→(1.5</m:t>
                    </m:r>
                    <m:r>
                      <a:rPr lang="en-US" sz="2000" i="1">
                        <a:latin typeface="Cambria Math" charset="0"/>
                        <a:ea typeface="Verdana" charset="0"/>
                        <a:cs typeface="Verdana" charset="0"/>
                      </a:rPr>
                      <m:t>𝑥</m:t>
                    </m:r>
                    <m:r>
                      <a:rPr lang="en-US" sz="2000" i="1">
                        <a:latin typeface="Cambria Math" charset="0"/>
                        <a:ea typeface="Verdana" charset="0"/>
                        <a:cs typeface="Verdana" charset="0"/>
                      </a:rPr>
                      <m:t>,1.5</m:t>
                    </m:r>
                    <m:r>
                      <a:rPr lang="en-US" sz="2000" i="1">
                        <a:latin typeface="Cambria Math" charset="0"/>
                        <a:ea typeface="Verdana" charset="0"/>
                        <a:cs typeface="Verdana" charset="0"/>
                      </a:rPr>
                      <m:t>𝑦</m:t>
                    </m:r>
                    <m:r>
                      <a:rPr lang="en-US" sz="2000" i="1">
                        <a:latin typeface="Cambria Math" charset="0"/>
                        <a:ea typeface="Verdana" charset="0"/>
                        <a:cs typeface="Verdana" charset="0"/>
                      </a:rPr>
                      <m:t>)</m:t>
                    </m:r>
                  </m:oMath>
                </a14:m>
                <a:endParaRPr lang="en-US" sz="2000" dirty="0">
                  <a:latin typeface="Verdana" charset="0"/>
                  <a:ea typeface="Verdana" charset="0"/>
                  <a:cs typeface="Verdana" charset="0"/>
                </a:endParaRPr>
              </a:p>
              <a:p>
                <a:r>
                  <a:rPr lang="en-US" sz="2000" dirty="0">
                    <a:latin typeface="Verdana" charset="0"/>
                    <a:ea typeface="Verdana" charset="0"/>
                    <a:cs typeface="Verdana" charset="0"/>
                  </a:rPr>
                  <a:t> </a:t>
                </a:r>
              </a:p>
              <a:p>
                <a:pPr marL="928688" indent="-557213">
                  <a:buFont typeface="+mj-lt"/>
                  <a:buAutoNum type="alphaLcPeriod"/>
                </a:pPr>
                <a:r>
                  <a:rPr lang="en-US" sz="2000" dirty="0">
                    <a:latin typeface="Verdana" charset="0"/>
                    <a:ea typeface="Verdana" charset="0"/>
                    <a:cs typeface="Verdana" charset="0"/>
                  </a:rPr>
                  <a:t>Draw the result of each transformation.</a:t>
                </a:r>
              </a:p>
              <a:p>
                <a:pPr marL="928688" indent="-557213">
                  <a:buFont typeface="+mj-lt"/>
                  <a:buAutoNum type="alphaLcPeriod"/>
                </a:pPr>
                <a:endParaRPr lang="en-US" sz="2000" dirty="0">
                  <a:latin typeface="Verdana" charset="0"/>
                  <a:ea typeface="Verdana" charset="0"/>
                  <a:cs typeface="Verdana" charset="0"/>
                </a:endParaRPr>
              </a:p>
              <a:p>
                <a:pPr marL="928688" indent="-557213">
                  <a:buFont typeface="+mj-lt"/>
                  <a:buAutoNum type="alphaLcPeriod"/>
                </a:pPr>
                <a:r>
                  <a:rPr lang="en-US" sz="2000" dirty="0">
                    <a:latin typeface="Verdana" charset="0"/>
                    <a:ea typeface="Verdana" charset="0"/>
                    <a:cs typeface="Verdana" charset="0"/>
                  </a:rPr>
                  <a:t>Complete the table by noting if the preimage and image are congruent or similar.</a:t>
                </a:r>
              </a:p>
            </p:txBody>
          </p:sp>
        </mc:Choice>
        <mc:Fallback xmlns="">
          <p:sp>
            <p:nvSpPr>
              <p:cNvPr id="14" name="TextBox 13">
                <a:extLst>
                  <a:ext uri="{FF2B5EF4-FFF2-40B4-BE49-F238E27FC236}">
                    <a16:creationId xmlns:a16="http://schemas.microsoft.com/office/drawing/2014/main" id="{2FA392D8-3ED3-7940-83A8-1451AA8A08D4}"/>
                  </a:ext>
                </a:extLst>
              </p:cNvPr>
              <p:cNvSpPr txBox="1">
                <a:spLocks noRot="1" noChangeAspect="1" noMove="1" noResize="1" noEditPoints="1" noAdjustHandles="1" noChangeArrowheads="1" noChangeShapeType="1" noTextEdit="1"/>
              </p:cNvSpPr>
              <p:nvPr/>
            </p:nvSpPr>
            <p:spPr>
              <a:xfrm>
                <a:off x="375138" y="465224"/>
                <a:ext cx="11664462" cy="2862322"/>
              </a:xfrm>
              <a:prstGeom prst="rect">
                <a:avLst/>
              </a:prstGeom>
              <a:blipFill>
                <a:blip r:embed="rId4"/>
                <a:stretch>
                  <a:fillRect l="-543" t="-881" b="-264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graphicFrame>
            <p:nvGraphicFramePr>
              <p:cNvPr id="2" name="Table 1"/>
              <p:cNvGraphicFramePr>
                <a:graphicFrameLocks noGrp="1"/>
              </p:cNvGraphicFramePr>
              <p:nvPr>
                <p:extLst>
                  <p:ext uri="{D42A27DB-BD31-4B8C-83A1-F6EECF244321}">
                    <p14:modId xmlns:p14="http://schemas.microsoft.com/office/powerpoint/2010/main" val="1786030976"/>
                  </p:ext>
                </p:extLst>
              </p:nvPr>
            </p:nvGraphicFramePr>
            <p:xfrm>
              <a:off x="2007765" y="3761626"/>
              <a:ext cx="8327136" cy="2312670"/>
            </p:xfrm>
            <a:graphic>
              <a:graphicData uri="http://schemas.openxmlformats.org/drawingml/2006/table">
                <a:tbl>
                  <a:tblPr firstRow="1" firstCol="1" bandRow="1"/>
                  <a:tblGrid>
                    <a:gridCol w="3585295">
                      <a:extLst>
                        <a:ext uri="{9D8B030D-6E8A-4147-A177-3AD203B41FA5}">
                          <a16:colId xmlns:a16="http://schemas.microsoft.com/office/drawing/2014/main" val="20000"/>
                        </a:ext>
                      </a:extLst>
                    </a:gridCol>
                    <a:gridCol w="4741841">
                      <a:extLst>
                        <a:ext uri="{9D8B030D-6E8A-4147-A177-3AD203B41FA5}">
                          <a16:colId xmlns:a16="http://schemas.microsoft.com/office/drawing/2014/main" val="20001"/>
                        </a:ext>
                      </a:extLst>
                    </a:gridCol>
                  </a:tblGrid>
                  <a:tr h="696595">
                    <a:tc>
                      <a:txBody>
                        <a:bodyPr/>
                        <a:lstStyle/>
                        <a:p>
                          <a:pPr marL="0" marR="0" algn="ctr">
                            <a:spcBef>
                              <a:spcPts val="0"/>
                            </a:spcBef>
                            <a:spcAft>
                              <a:spcPts val="0"/>
                            </a:spcAft>
                          </a:pPr>
                          <a:r>
                            <a:rPr lang="en-US" sz="1800" b="1">
                              <a:effectLst/>
                              <a:latin typeface="Verdana" charset="0"/>
                            </a:rPr>
                            <a:t>Transformation</a:t>
                          </a:r>
                          <a:endParaRPr lang="en-US" sz="1200">
                            <a:effectLst/>
                            <a:latin typeface="Cambri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1800" b="1">
                              <a:effectLst/>
                              <a:latin typeface="Verdana" charset="0"/>
                            </a:rPr>
                            <a:t>Relationship of Preimage to Image</a:t>
                          </a:r>
                          <a:endParaRPr lang="en-US" sz="1200">
                            <a:effectLst/>
                            <a:latin typeface="Cambri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extLst>
                      <a:ext uri="{0D108BD9-81ED-4DB2-BD59-A6C34878D82A}">
                        <a16:rowId xmlns:a16="http://schemas.microsoft.com/office/drawing/2014/main" val="10000"/>
                      </a:ext>
                    </a:extLst>
                  </a:tr>
                  <a:tr h="545465">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1800" i="1">
                                    <a:effectLst/>
                                    <a:latin typeface="Cambria Math" charset="0"/>
                                  </a:rPr>
                                  <m:t>(</m:t>
                                </m:r>
                                <m:r>
                                  <a:rPr lang="en-US" sz="1800" i="1">
                                    <a:effectLst/>
                                    <a:latin typeface="Cambria Math" charset="0"/>
                                  </a:rPr>
                                  <m:t>𝑥</m:t>
                                </m:r>
                                <m:r>
                                  <a:rPr lang="en-US" sz="1800" i="1">
                                    <a:effectLst/>
                                    <a:latin typeface="Cambria Math" charset="0"/>
                                  </a:rPr>
                                  <m:t>,</m:t>
                                </m:r>
                                <m:r>
                                  <a:rPr lang="en-US" sz="1800" i="1">
                                    <a:effectLst/>
                                    <a:latin typeface="Cambria Math" charset="0"/>
                                  </a:rPr>
                                  <m:t>𝑦</m:t>
                                </m:r>
                                <m:r>
                                  <a:rPr lang="en-US" sz="1800" i="1">
                                    <a:effectLst/>
                                    <a:latin typeface="Cambria Math" charset="0"/>
                                  </a:rPr>
                                  <m:t>)→(</m:t>
                                </m:r>
                                <m:r>
                                  <a:rPr lang="en-US" sz="1800" i="1">
                                    <a:effectLst/>
                                    <a:latin typeface="Cambria Math" charset="0"/>
                                  </a:rPr>
                                  <m:t>𝑥</m:t>
                                </m:r>
                                <m:r>
                                  <a:rPr lang="en-US" sz="1800" i="1">
                                    <a:effectLst/>
                                    <a:latin typeface="Cambria Math" charset="0"/>
                                  </a:rPr>
                                  <m:t>−4,</m:t>
                                </m:r>
                                <m:r>
                                  <a:rPr lang="en-US" sz="1800" i="1">
                                    <a:effectLst/>
                                    <a:latin typeface="Cambria Math" charset="0"/>
                                  </a:rPr>
                                  <m:t>𝑦</m:t>
                                </m:r>
                                <m:r>
                                  <a:rPr lang="en-US" sz="1800" i="1">
                                    <a:effectLst/>
                                    <a:latin typeface="Cambria Math" charset="0"/>
                                  </a:rPr>
                                  <m:t>−1)</m:t>
                                </m:r>
                              </m:oMath>
                            </m:oMathPara>
                          </a14:m>
                          <a:endParaRPr lang="en-US" sz="1200">
                            <a:effectLst/>
                            <a:latin typeface="Cambri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1800">
                              <a:effectLst/>
                              <a:latin typeface="Verdana" charset="0"/>
                            </a:rPr>
                            <a:t> </a:t>
                          </a:r>
                          <a:endParaRPr lang="en-US" sz="1200">
                            <a:effectLst/>
                            <a:latin typeface="Cambri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545465">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1800" i="1">
                                    <a:effectLst/>
                                    <a:latin typeface="Cambria Math" charset="0"/>
                                  </a:rPr>
                                  <m:t>(</m:t>
                                </m:r>
                                <m:r>
                                  <a:rPr lang="en-US" sz="1800" i="1">
                                    <a:effectLst/>
                                    <a:latin typeface="Cambria Math" charset="0"/>
                                  </a:rPr>
                                  <m:t>𝑥</m:t>
                                </m:r>
                                <m:r>
                                  <a:rPr lang="en-US" sz="1800" i="1">
                                    <a:effectLst/>
                                    <a:latin typeface="Cambria Math" charset="0"/>
                                  </a:rPr>
                                  <m:t>,</m:t>
                                </m:r>
                                <m:r>
                                  <a:rPr lang="en-US" sz="1800" i="1">
                                    <a:effectLst/>
                                    <a:latin typeface="Cambria Math" charset="0"/>
                                  </a:rPr>
                                  <m:t>𝑦</m:t>
                                </m:r>
                                <m:r>
                                  <a:rPr lang="en-US" sz="1800" i="1">
                                    <a:effectLst/>
                                    <a:latin typeface="Cambria Math" charset="0"/>
                                  </a:rPr>
                                  <m:t>)→(</m:t>
                                </m:r>
                                <m:r>
                                  <a:rPr lang="en-US" sz="1800" i="1">
                                    <a:effectLst/>
                                    <a:latin typeface="Cambria Math" charset="0"/>
                                  </a:rPr>
                                  <m:t>𝑦</m:t>
                                </m:r>
                                <m:r>
                                  <a:rPr lang="en-US" sz="1800" i="1">
                                    <a:effectLst/>
                                    <a:latin typeface="Cambria Math" charset="0"/>
                                  </a:rPr>
                                  <m:t>,</m:t>
                                </m:r>
                                <m:r>
                                  <a:rPr lang="en-US" sz="1800" i="1">
                                    <a:effectLst/>
                                    <a:latin typeface="Cambria Math" charset="0"/>
                                  </a:rPr>
                                  <m:t>𝑥</m:t>
                                </m:r>
                                <m:r>
                                  <a:rPr lang="en-US" sz="1800" i="1">
                                    <a:effectLst/>
                                    <a:latin typeface="Cambria Math" charset="0"/>
                                  </a:rPr>
                                  <m:t>)</m:t>
                                </m:r>
                              </m:oMath>
                            </m:oMathPara>
                          </a14:m>
                          <a:endParaRPr lang="en-US" sz="1200">
                            <a:effectLst/>
                            <a:latin typeface="Cambri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1800">
                              <a:effectLst/>
                              <a:latin typeface="Verdana" charset="0"/>
                            </a:rPr>
                            <a:t> </a:t>
                          </a:r>
                          <a:endParaRPr lang="en-US" sz="1200">
                            <a:effectLst/>
                            <a:latin typeface="Cambri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525145">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1800" i="1">
                                    <a:effectLst/>
                                    <a:latin typeface="Cambria Math" charset="0"/>
                                  </a:rPr>
                                  <m:t>(</m:t>
                                </m:r>
                                <m:r>
                                  <a:rPr lang="en-US" sz="1800" i="1">
                                    <a:effectLst/>
                                    <a:latin typeface="Cambria Math" charset="0"/>
                                  </a:rPr>
                                  <m:t>𝑥</m:t>
                                </m:r>
                                <m:r>
                                  <a:rPr lang="en-US" sz="1800" i="1">
                                    <a:effectLst/>
                                    <a:latin typeface="Cambria Math" charset="0"/>
                                  </a:rPr>
                                  <m:t>,</m:t>
                                </m:r>
                                <m:r>
                                  <a:rPr lang="en-US" sz="1800" i="1">
                                    <a:effectLst/>
                                    <a:latin typeface="Cambria Math" charset="0"/>
                                  </a:rPr>
                                  <m:t>𝑦</m:t>
                                </m:r>
                                <m:r>
                                  <a:rPr lang="en-US" sz="1800" i="1">
                                    <a:effectLst/>
                                    <a:latin typeface="Cambria Math" charset="0"/>
                                  </a:rPr>
                                  <m:t>)→(1.5</m:t>
                                </m:r>
                                <m:r>
                                  <a:rPr lang="en-US" sz="1800" i="1">
                                    <a:effectLst/>
                                    <a:latin typeface="Cambria Math" charset="0"/>
                                  </a:rPr>
                                  <m:t>𝑥</m:t>
                                </m:r>
                                <m:r>
                                  <a:rPr lang="en-US" sz="1800" i="1">
                                    <a:effectLst/>
                                    <a:latin typeface="Cambria Math" charset="0"/>
                                  </a:rPr>
                                  <m:t>,1.5</m:t>
                                </m:r>
                                <m:r>
                                  <a:rPr lang="en-US" sz="1800" i="1">
                                    <a:effectLst/>
                                    <a:latin typeface="Cambria Math" charset="0"/>
                                  </a:rPr>
                                  <m:t>𝑦</m:t>
                                </m:r>
                                <m:r>
                                  <a:rPr lang="en-US" sz="1800" i="1">
                                    <a:effectLst/>
                                    <a:latin typeface="Cambria Math" charset="0"/>
                                  </a:rPr>
                                  <m:t>)</m:t>
                                </m:r>
                              </m:oMath>
                            </m:oMathPara>
                          </a14:m>
                          <a:endParaRPr lang="en-US" sz="1200">
                            <a:effectLst/>
                            <a:latin typeface="Cambri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1800" dirty="0">
                              <a:effectLst/>
                              <a:latin typeface="Verdana" charset="0"/>
                            </a:rPr>
                            <a:t> </a:t>
                          </a:r>
                          <a:endParaRPr lang="en-US" sz="1200" dirty="0">
                            <a:effectLst/>
                            <a:latin typeface="Cambri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mc:Choice>
        <mc:Fallback xmlns="">
          <p:graphicFrame>
            <p:nvGraphicFramePr>
              <p:cNvPr id="2" name="Table 1"/>
              <p:cNvGraphicFramePr>
                <a:graphicFrameLocks noGrp="1"/>
              </p:cNvGraphicFramePr>
              <p:nvPr>
                <p:extLst>
                  <p:ext uri="{D42A27DB-BD31-4B8C-83A1-F6EECF244321}">
                    <p14:modId xmlns:p14="http://schemas.microsoft.com/office/powerpoint/2010/main" val="1786030976"/>
                  </p:ext>
                </p:extLst>
              </p:nvPr>
            </p:nvGraphicFramePr>
            <p:xfrm>
              <a:off x="2007765" y="3761626"/>
              <a:ext cx="8327136" cy="2312670"/>
            </p:xfrm>
            <a:graphic>
              <a:graphicData uri="http://schemas.openxmlformats.org/drawingml/2006/table">
                <a:tbl>
                  <a:tblPr firstRow="1" firstCol="1" bandRow="1"/>
                  <a:tblGrid>
                    <a:gridCol w="3585295">
                      <a:extLst>
                        <a:ext uri="{9D8B030D-6E8A-4147-A177-3AD203B41FA5}">
                          <a16:colId xmlns:a16="http://schemas.microsoft.com/office/drawing/2014/main" val="20000"/>
                        </a:ext>
                      </a:extLst>
                    </a:gridCol>
                    <a:gridCol w="4741841">
                      <a:extLst>
                        <a:ext uri="{9D8B030D-6E8A-4147-A177-3AD203B41FA5}">
                          <a16:colId xmlns:a16="http://schemas.microsoft.com/office/drawing/2014/main" val="20001"/>
                        </a:ext>
                      </a:extLst>
                    </a:gridCol>
                  </a:tblGrid>
                  <a:tr h="696595">
                    <a:tc>
                      <a:txBody>
                        <a:bodyPr/>
                        <a:lstStyle/>
                        <a:p>
                          <a:pPr marL="0" marR="0" algn="ctr">
                            <a:spcBef>
                              <a:spcPts val="0"/>
                            </a:spcBef>
                            <a:spcAft>
                              <a:spcPts val="0"/>
                            </a:spcAft>
                          </a:pPr>
                          <a:r>
                            <a:rPr lang="en-US" sz="1800" b="1">
                              <a:effectLst/>
                              <a:latin typeface="Verdana" charset="0"/>
                            </a:rPr>
                            <a:t>Transformation</a:t>
                          </a:r>
                          <a:endParaRPr lang="en-US" sz="1200">
                            <a:effectLst/>
                            <a:latin typeface="Cambri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1800" b="1">
                              <a:effectLst/>
                              <a:latin typeface="Verdana" charset="0"/>
                            </a:rPr>
                            <a:t>Relationship of Preimage to Image</a:t>
                          </a:r>
                          <a:endParaRPr lang="en-US" sz="1200">
                            <a:effectLst/>
                            <a:latin typeface="Cambri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extLst>
                      <a:ext uri="{0D108BD9-81ED-4DB2-BD59-A6C34878D82A}">
                        <a16:rowId xmlns:a16="http://schemas.microsoft.com/office/drawing/2014/main" val="10000"/>
                      </a:ext>
                    </a:extLst>
                  </a:tr>
                  <a:tr h="545465">
                    <a:tc>
                      <a:txBody>
                        <a:bodyPr/>
                        <a:lstStyle/>
                        <a:p>
                          <a:endParaRPr lang="en-US"/>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5"/>
                          <a:stretch>
                            <a:fillRect l="-355" t="-130233" r="-133333" b="-200000"/>
                          </a:stretch>
                        </a:blipFill>
                      </a:tcPr>
                    </a:tc>
                    <a:tc>
                      <a:txBody>
                        <a:bodyPr/>
                        <a:lstStyle/>
                        <a:p>
                          <a:pPr marL="0" marR="0" algn="ctr">
                            <a:spcBef>
                              <a:spcPts val="0"/>
                            </a:spcBef>
                            <a:spcAft>
                              <a:spcPts val="0"/>
                            </a:spcAft>
                          </a:pPr>
                          <a:r>
                            <a:rPr lang="en-US" sz="1800">
                              <a:effectLst/>
                              <a:latin typeface="Verdana" charset="0"/>
                            </a:rPr>
                            <a:t> </a:t>
                          </a:r>
                          <a:endParaRPr lang="en-US" sz="1200">
                            <a:effectLst/>
                            <a:latin typeface="Cambri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545465">
                    <a:tc>
                      <a:txBody>
                        <a:bodyPr/>
                        <a:lstStyle/>
                        <a:p>
                          <a:endParaRPr lang="en-US"/>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5"/>
                          <a:stretch>
                            <a:fillRect l="-355" t="-230233" r="-133333" b="-100000"/>
                          </a:stretch>
                        </a:blipFill>
                      </a:tcPr>
                    </a:tc>
                    <a:tc>
                      <a:txBody>
                        <a:bodyPr/>
                        <a:lstStyle/>
                        <a:p>
                          <a:pPr marL="0" marR="0" algn="ctr">
                            <a:spcBef>
                              <a:spcPts val="0"/>
                            </a:spcBef>
                            <a:spcAft>
                              <a:spcPts val="0"/>
                            </a:spcAft>
                          </a:pPr>
                          <a:r>
                            <a:rPr lang="en-US" sz="1800">
                              <a:effectLst/>
                              <a:latin typeface="Verdana" charset="0"/>
                            </a:rPr>
                            <a:t> </a:t>
                          </a:r>
                          <a:endParaRPr lang="en-US" sz="1200">
                            <a:effectLst/>
                            <a:latin typeface="Cambri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525145">
                    <a:tc>
                      <a:txBody>
                        <a:bodyPr/>
                        <a:lstStyle/>
                        <a:p>
                          <a:endParaRPr lang="en-US"/>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5"/>
                          <a:stretch>
                            <a:fillRect l="-355" t="-338095" r="-133333" b="-2381"/>
                          </a:stretch>
                        </a:blipFill>
                      </a:tcPr>
                    </a:tc>
                    <a:tc>
                      <a:txBody>
                        <a:bodyPr/>
                        <a:lstStyle/>
                        <a:p>
                          <a:pPr marL="0" marR="0" algn="ctr">
                            <a:spcBef>
                              <a:spcPts val="0"/>
                            </a:spcBef>
                            <a:spcAft>
                              <a:spcPts val="0"/>
                            </a:spcAft>
                          </a:pPr>
                          <a:r>
                            <a:rPr lang="en-US" sz="1800" dirty="0">
                              <a:effectLst/>
                              <a:latin typeface="Verdana" charset="0"/>
                            </a:rPr>
                            <a:t> </a:t>
                          </a:r>
                          <a:endParaRPr lang="en-US" sz="1200" dirty="0">
                            <a:effectLst/>
                            <a:latin typeface="Cambri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mc:Fallback>
      </mc:AlternateContent>
    </p:spTree>
    <p:extLst>
      <p:ext uri="{BB962C8B-B14F-4D97-AF65-F5344CB8AC3E}">
        <p14:creationId xmlns:p14="http://schemas.microsoft.com/office/powerpoint/2010/main" val="1241741093"/>
      </p:ext>
    </p:extLst>
  </p:cSld>
  <p:clrMapOvr>
    <a:masterClrMapping/>
  </p:clrMapOvr>
</p:sld>
</file>

<file path=ppt/theme/theme1.xml><?xml version="1.0" encoding="utf-8"?>
<a:theme xmlns:a="http://schemas.openxmlformats.org/drawingml/2006/main" name="1_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1270</TotalTime>
  <Words>1275</Words>
  <Application>Microsoft Office PowerPoint</Application>
  <PresentationFormat>Widescreen</PresentationFormat>
  <Paragraphs>186</Paragraphs>
  <Slides>24</Slides>
  <Notes>24</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24</vt:i4>
      </vt:variant>
    </vt:vector>
  </HeadingPairs>
  <TitlesOfParts>
    <vt:vector size="34" baseType="lpstr">
      <vt:lpstr>Arial</vt:lpstr>
      <vt:lpstr>Arial Black</vt:lpstr>
      <vt:lpstr>Calibri</vt:lpstr>
      <vt:lpstr>Cambria</vt:lpstr>
      <vt:lpstr>Cambria Math</vt:lpstr>
      <vt:lpstr>Century Gothic</vt:lpstr>
      <vt:lpstr>Courier New</vt:lpstr>
      <vt:lpstr>Verdana</vt:lpstr>
      <vt:lpstr>Wingdings</vt:lpstr>
      <vt:lpstr>1_Office Theme</vt:lpstr>
      <vt:lpstr>Geometry  Unit 6, Lesson H3  Justifying Similarity  Volume 1, pg. 343  </vt:lpstr>
      <vt:lpstr>Benchmark</vt:lpstr>
      <vt:lpstr>PowerPoint Presentation</vt:lpstr>
      <vt:lpstr>PowerPoint Presentation</vt:lpstr>
      <vt:lpstr>Warm-Up</vt:lpstr>
      <vt:lpstr>PowerPoint Presentation</vt:lpstr>
      <vt:lpstr>PowerPoint Presentation</vt:lpstr>
      <vt:lpstr>Collaboration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Wrap-Up</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Algebra 2 Unit 4 Lesson 4  </dc:title>
  <dc:creator>Karen McKenzie</dc:creator>
  <cp:lastModifiedBy>Cassie O'Connor</cp:lastModifiedBy>
  <cp:revision>23</cp:revision>
  <dcterms:created xsi:type="dcterms:W3CDTF">2015-03-17T18:51:18Z</dcterms:created>
  <dcterms:modified xsi:type="dcterms:W3CDTF">2022-07-04T21:37:33Z</dcterms:modified>
</cp:coreProperties>
</file>