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47" r:id="rId13"/>
    <p:sldId id="302" r:id="rId14"/>
    <p:sldId id="303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06" r:id="rId23"/>
    <p:sldId id="307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276C46"/>
    <a:srgbClr val="C9DF6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9"/>
    <p:restoredTop sz="94551"/>
  </p:normalViewPr>
  <p:slideViewPr>
    <p:cSldViewPr snapToGrid="0">
      <p:cViewPr varScale="1">
        <p:scale>
          <a:sx n="88" d="100"/>
          <a:sy n="88" d="100"/>
        </p:scale>
        <p:origin x="200" y="5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5695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43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0051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181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7374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33671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0668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4762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6841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2881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5136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33306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89340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90.png"/><Relationship Id="rId9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Triangle Similarity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326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8439" y="-13707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521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326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4452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MA.912.GR.1.2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triangle congruence or similarity using Side-Side-Side, Side-Angle-Side, Angle-Side-Angle, Angle-Angle-Side, Angle-Angle, and Hypotenuse-Leg.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72" y="23078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2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86472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326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439171" y="1596390"/>
            <a:ext cx="1148068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11085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783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94150" y="64271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326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899" y="1321975"/>
            <a:ext cx="111730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identify similar triangles and write similarity statements.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given information to show that two triangles are similar.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9171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6.7.1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394524" y="1386025"/>
                <a:ext cx="11655962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𝑀𝑃𝐶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𝑇𝑆𝐿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𝑀𝑃𝐶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the pre-image.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a sequence of two transformations that will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𝑀𝑃𝐶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𝑇𝑆𝐿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386025"/>
                <a:ext cx="11655962" cy="4708981"/>
              </a:xfrm>
              <a:prstGeom prst="rect">
                <a:avLst/>
              </a:prstGeom>
              <a:blipFill>
                <a:blip r:embed="rId5"/>
                <a:stretch>
                  <a:fillRect l="-436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6345" y="2183605"/>
            <a:ext cx="4935342" cy="3421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327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402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157" y="1275240"/>
            <a:ext cx="5664745" cy="464686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25464" y="-1440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6.7.2 Exploration: Similar Triangles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327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8409" y="199593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00743" y="1677693"/>
                <a:ext cx="5327253" cy="2247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complete the following.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𝐻𝐶𝑅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𝐻𝐶𝑅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𝐻𝑅𝐶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=51°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=61°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𝐻𝐶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drawn as a dotted line.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43" y="1677693"/>
                <a:ext cx="5327253" cy="2247475"/>
              </a:xfrm>
              <a:prstGeom prst="rect">
                <a:avLst/>
              </a:prstGeom>
              <a:blipFill>
                <a:blip r:embed="rId6"/>
                <a:stretch>
                  <a:fillRect l="-1190" t="-1685" b="-3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3052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59229" y="520394"/>
                <a:ext cx="997567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a ruler and a protractor to complete the table.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corresponding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29" y="520394"/>
                <a:ext cx="9975672" cy="4093428"/>
              </a:xfrm>
              <a:prstGeom prst="rect">
                <a:avLst/>
              </a:prstGeom>
              <a:blipFill>
                <a:blip r:embed="rId4"/>
                <a:stretch>
                  <a:fillRect l="-636" t="-617" b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39432"/>
                  </p:ext>
                </p:extLst>
              </p:nvPr>
            </p:nvGraphicFramePr>
            <p:xfrm>
              <a:off x="2213235" y="1255156"/>
              <a:ext cx="7916196" cy="25109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9664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7212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97209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962315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44905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Measurements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𝑹𝑯𝑪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Measurements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b="1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𝑴𝑯𝑻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𝑅𝐻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𝐻𝑅𝐶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=51°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𝑀𝐻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𝐻𝑀𝑇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𝑅𝐻𝐶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=61°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𝑀𝐻𝑇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=61°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𝑅𝐶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𝐻𝐶𝑅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=68°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𝑀𝑇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𝑚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𝐻𝑇𝑀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439432"/>
                  </p:ext>
                </p:extLst>
              </p:nvPr>
            </p:nvGraphicFramePr>
            <p:xfrm>
              <a:off x="2213235" y="1255156"/>
              <a:ext cx="7916196" cy="25109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96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7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720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6231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4490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8" t="-17143" r="-99045" b="-47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13" t="-17143" r="-323" b="-47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2" t="-74545" r="-31390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252" t="-74545" r="-19079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3226" t="-74545" r="-1006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3226" t="-74545" r="-64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2" t="-177778" r="-313907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252" t="-177778" r="-190798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3226" t="-177778" r="-100645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3226" t="-177778" r="-645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886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2" t="-272727" r="-313907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252" t="-272727" r="-190798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3226" t="-272727" r="-100645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3226" t="-272727" r="-645" b="-18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46479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78971" y="520394"/>
                <a:ext cx="11451772" cy="5551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what relationship could have been given so that it would not have been necessary to use a protractor to find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𝐻𝑀𝑇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𝐻𝑇𝑀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corresponding sides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related. Summarize your findings.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statement that shows the relationship.</a:t>
                </a: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________.</a:t>
                </a: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 relationship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𝑅𝐻</m:t>
                          </m:r>
                        </m:num>
                        <m:den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              </m:t>
                          </m:r>
                        </m:den>
                      </m:f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              </m:t>
                          </m:r>
                        </m:num>
                        <m:den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𝑇𝑀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𝐻𝑇</m:t>
                          </m:r>
                        </m:num>
                        <m:den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             </m:t>
                          </m:r>
                        </m:den>
                      </m:f>
                      <m:r>
                        <a:rPr lang="en-US" sz="2000" i="1">
                          <a:latin typeface="Cambria Math" charset="0"/>
                          <a:ea typeface="Verdana" charset="0"/>
                          <a:cs typeface="Verdana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             </m:t>
                          </m:r>
                        </m:num>
                        <m:den>
                          <m:r>
                            <a:rPr lang="en-US" sz="2000" i="1">
                              <a:latin typeface="Cambria Math" charset="0"/>
                              <a:ea typeface="Verdana" charset="0"/>
                              <a:cs typeface="Verdana" charset="0"/>
                            </a:rPr>
                            <m:t>𝐶𝑅</m:t>
                          </m:r>
                        </m:den>
                      </m:f>
                    </m:oMath>
                  </m:oMathPara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1" y="520394"/>
                <a:ext cx="11451772" cy="5551648"/>
              </a:xfrm>
              <a:prstGeom prst="rect">
                <a:avLst/>
              </a:prstGeom>
              <a:blipFill>
                <a:blip r:embed="rId4"/>
                <a:stretch>
                  <a:fillRect l="-554" t="-456" r="-1329" b="-1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88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70114" y="520394"/>
                <a:ext cx="1156062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a sequence of transformations that can be used to map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𝑅𝐻𝐶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𝑀𝐻𝑇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discussion by describing the sequence.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4" y="520394"/>
                <a:ext cx="11560629" cy="707886"/>
              </a:xfrm>
              <a:prstGeom prst="rect">
                <a:avLst/>
              </a:prstGeom>
              <a:blipFill>
                <a:blip r:embed="rId4"/>
                <a:stretch>
                  <a:fillRect l="-549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46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40099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9006099" y="646048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70114" y="520393"/>
            <a:ext cx="1169125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Compare your sequence of transformations with another pair of students. Ask two classmates for their sequence of transformations. Record their sequence and write your summary of their reason.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Have the person initial next to your summary stating your summary is correct.</a:t>
            </a: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 startAt="9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81025" indent="-581025">
              <a:buFont typeface="+mj-lt"/>
              <a:buAutoNum type="arabicPeriod" startAt="9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transformation ensures that the sequence of transformations will result in similar triangles?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860581"/>
              </p:ext>
            </p:extLst>
          </p:nvPr>
        </p:nvGraphicFramePr>
        <p:xfrm>
          <a:off x="2227983" y="3001578"/>
          <a:ext cx="7886701" cy="2438400"/>
        </p:xfrm>
        <a:graphic>
          <a:graphicData uri="http://schemas.openxmlformats.org/drawingml/2006/table">
            <a:tbl>
              <a:tblPr bandRow="1"/>
              <a:tblGrid>
                <a:gridCol w="31247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9471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726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881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Sequence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My Summary of Their Reason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7068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8247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0667" marR="6066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592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EE3C8BB3-D8AE-154C-9B2D-B1D7451436FE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328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62226" y="1117600"/>
            <a:ext cx="5054600" cy="574040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1053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908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17414" y="23608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6.7.3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0114" y="223610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F9486181-07A1-C74B-A129-E8949F43C159}"/>
              </a:ext>
            </a:extLst>
          </p:cNvPr>
          <p:cNvSpPr txBox="1"/>
          <p:nvPr/>
        </p:nvSpPr>
        <p:spPr>
          <a:xfrm>
            <a:off x="8985086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370114" y="1386025"/>
                <a:ext cx="665578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𝑃𝐺𝐵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Use the given information to determine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𝑃𝐺𝐵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similar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𝑀𝑇𝑅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they are similar, write a similarity statement. If they are not, explain why.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4" y="1386025"/>
                <a:ext cx="6655784" cy="1323439"/>
              </a:xfrm>
              <a:prstGeom prst="rect">
                <a:avLst/>
              </a:prstGeom>
              <a:blipFill>
                <a:blip r:embed="rId6"/>
                <a:stretch>
                  <a:fillRect l="-952" t="-1887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2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3835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329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100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6821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6.7.4 Activity: Stations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329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8498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511629" y="1386026"/>
            <a:ext cx="11364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partner, create two triangles using the description provided. Try to make the two triangles as different as possible.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92723"/>
              </p:ext>
            </p:extLst>
          </p:nvPr>
        </p:nvGraphicFramePr>
        <p:xfrm>
          <a:off x="2314966" y="2711724"/>
          <a:ext cx="7633784" cy="2762060"/>
        </p:xfrm>
        <a:graphic>
          <a:graphicData uri="http://schemas.openxmlformats.org/drawingml/2006/table">
            <a:tbl>
              <a:tblPr firstRow="1" firstCol="1" bandRow="1"/>
              <a:tblGrid>
                <a:gridCol w="3827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062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7302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Description Letter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Drawing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286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86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291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0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329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764601"/>
              </p:ext>
            </p:extLst>
          </p:nvPr>
        </p:nvGraphicFramePr>
        <p:xfrm>
          <a:off x="2314966" y="616268"/>
          <a:ext cx="7633784" cy="5040612"/>
        </p:xfrm>
        <a:graphic>
          <a:graphicData uri="http://schemas.openxmlformats.org/drawingml/2006/table">
            <a:tbl>
              <a:tblPr firstRow="1" firstCol="1" bandRow="1"/>
              <a:tblGrid>
                <a:gridCol w="3827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062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562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Description Letter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Drawing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641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41840"/>
              </p:ext>
            </p:extLst>
          </p:nvPr>
        </p:nvGraphicFramePr>
        <p:xfrm>
          <a:off x="2314966" y="616268"/>
          <a:ext cx="7633784" cy="5040612"/>
        </p:xfrm>
        <a:graphic>
          <a:graphicData uri="http://schemas.openxmlformats.org/drawingml/2006/table">
            <a:tbl>
              <a:tblPr firstRow="1" firstCol="1" bandRow="1"/>
              <a:tblGrid>
                <a:gridCol w="3827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062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562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Description Letter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Drawing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552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46314" y="5969767"/>
            <a:ext cx="9888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descriptions resulted in similar triangles?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41840"/>
              </p:ext>
            </p:extLst>
          </p:nvPr>
        </p:nvGraphicFramePr>
        <p:xfrm>
          <a:off x="2314966" y="616268"/>
          <a:ext cx="7633784" cy="5040612"/>
        </p:xfrm>
        <a:graphic>
          <a:graphicData uri="http://schemas.openxmlformats.org/drawingml/2006/table">
            <a:tbl>
              <a:tblPr firstRow="1" firstCol="1" bandRow="1"/>
              <a:tblGrid>
                <a:gridCol w="38275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062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562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Description Letter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Drawing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42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737" marR="3673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111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40"/>
              <p:cNvSpPr txBox="1"/>
              <p:nvPr/>
            </p:nvSpPr>
            <p:spPr>
              <a:xfrm>
                <a:off x="2391905" y="505773"/>
                <a:ext cx="7661071" cy="1679489"/>
              </a:xfrm>
              <a:prstGeom prst="roundRect">
                <a:avLst/>
              </a:prstGeom>
              <a:blipFill dpi="0" rotWithShape="1">
                <a:blip r:embed="rId4">
                  <a:extLst>
                    <a:ext uri="{28A0092B-C50C-407E-A947-70E740481C1C}">
                      <a14:useLocalDpi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Angle-Angle Similarity (AA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417DBF"/>
                        </a:solidFill>
                        <a:latin typeface="Cambria Math" charset="0"/>
                        <a:ea typeface="Verdana" charset="0"/>
                        <a:cs typeface="Verdana" charset="0"/>
                      </a:rPr>
                      <m:t>~</m:t>
                    </m:r>
                  </m:oMath>
                </a14:m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) Theorem</a:t>
                </a:r>
                <a:endParaRPr lang="en-US" sz="2000" dirty="0">
                  <a:solidFill>
                    <a:srgbClr val="417DBF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If two angles of one triangle are congruent to 	two angles of another triangle, then the two 	triangles are similar.</a:t>
                </a:r>
              </a:p>
            </p:txBody>
          </p:sp>
        </mc:Choice>
        <mc:Fallback xmlns="">
          <p:sp>
            <p:nvSpPr>
              <p:cNvPr id="7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905" y="505773"/>
                <a:ext cx="7661071" cy="167948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4704" y="79039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40"/>
              <p:cNvSpPr txBox="1"/>
              <p:nvPr/>
            </p:nvSpPr>
            <p:spPr>
              <a:xfrm>
                <a:off x="2391905" y="2469888"/>
                <a:ext cx="7661071" cy="1679489"/>
              </a:xfrm>
              <a:prstGeom prst="roundRect">
                <a:avLst/>
              </a:prstGeom>
              <a:blipFill dpi="0" rotWithShape="1">
                <a:blip r:embed="rId7">
                  <a:extLst>
                    <a:ext uri="{28A0092B-C50C-407E-A947-70E740481C1C}">
                      <a14:useLocalDpi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Side-Side-Side Similarity (SSS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417DBF"/>
                        </a:solidFill>
                        <a:latin typeface="Cambria Math" charset="0"/>
                        <a:ea typeface="Verdana" charset="0"/>
                        <a:cs typeface="Verdana" charset="0"/>
                      </a:rPr>
                      <m:t>~</m:t>
                    </m:r>
                  </m:oMath>
                </a14:m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) Theorem</a:t>
                </a:r>
                <a:endParaRPr lang="en-US" sz="2000" dirty="0">
                  <a:solidFill>
                    <a:srgbClr val="417DBF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If the lengths of the corresponding sides of two 	triangles are proportional, then the triangles are 	similar.</a:t>
                </a:r>
              </a:p>
            </p:txBody>
          </p:sp>
        </mc:Choice>
        <mc:Fallback xmlns="">
          <p:sp>
            <p:nvSpPr>
              <p:cNvPr id="11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905" y="2469888"/>
                <a:ext cx="7661071" cy="1679489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4704" y="2754513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40"/>
              <p:cNvSpPr txBox="1"/>
              <p:nvPr/>
            </p:nvSpPr>
            <p:spPr>
              <a:xfrm>
                <a:off x="2391905" y="4434003"/>
                <a:ext cx="7661071" cy="1679489"/>
              </a:xfrm>
              <a:prstGeom prst="roundRect">
                <a:avLst/>
              </a:prstGeom>
              <a:blipFill dpi="0" rotWithShape="1">
                <a:blip r:embed="rId7">
                  <a:extLst>
                    <a:ext uri="{28A0092B-C50C-407E-A947-70E740481C1C}">
                      <a14:useLocalDpi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Side-Angle-Side Similarity (SAS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417DBF"/>
                        </a:solidFill>
                        <a:latin typeface="Cambria Math" charset="0"/>
                        <a:ea typeface="Verdana" charset="0"/>
                        <a:cs typeface="Verdana" charset="0"/>
                      </a:rPr>
                      <m:t>~</m:t>
                    </m:r>
                  </m:oMath>
                </a14:m>
                <a:r>
                  <a:rPr lang="en-US" sz="2000" b="1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) Theorem</a:t>
                </a:r>
                <a:endParaRPr lang="en-US" sz="2000" dirty="0">
                  <a:solidFill>
                    <a:srgbClr val="417DBF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solidFill>
                      <a:srgbClr val="417DBF"/>
                    </a:solidFill>
                    <a:latin typeface="Verdana" charset="0"/>
                    <a:ea typeface="Verdana" charset="0"/>
                    <a:cs typeface="Verdana" charset="0"/>
                  </a:rPr>
                  <a:t>	If the lengths of two sides are proportional and 	their included angles are congruent on two 	different triangles, then the triangles are similar. </a:t>
                </a:r>
              </a:p>
            </p:txBody>
          </p:sp>
        </mc:Choice>
        <mc:Fallback xmlns="">
          <p:sp>
            <p:nvSpPr>
              <p:cNvPr id="15" name="Text 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905" y="4434003"/>
                <a:ext cx="7661071" cy="1679489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4704" y="471862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6969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84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7784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46314" y="520393"/>
            <a:ext cx="11462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Match each description with the postulate or theorem that describes it. If none describe it, then write “none.”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67833"/>
              </p:ext>
            </p:extLst>
          </p:nvPr>
        </p:nvGraphicFramePr>
        <p:xfrm>
          <a:off x="2275136" y="1581103"/>
          <a:ext cx="7777841" cy="3687445"/>
        </p:xfrm>
        <a:graphic>
          <a:graphicData uri="http://schemas.openxmlformats.org/drawingml/2006/table">
            <a:tbl>
              <a:tblPr firstRow="1" firstCol="1" bandRow="1"/>
              <a:tblGrid>
                <a:gridCol w="37074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7041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028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Description Letter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Theorem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323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3052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030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15482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6.7.5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8182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368182" y="1052899"/>
            <a:ext cx="11259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 summary of what you learned in this lesson.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</TotalTime>
  <Words>743</Words>
  <Application>Microsoft Macintosh PowerPoint</Application>
  <PresentationFormat>Widescreen</PresentationFormat>
  <Paragraphs>227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Geometry  Unit 6, Lesson 7  Triangle Similarity  Volume 1, pg. 326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22</cp:revision>
  <dcterms:created xsi:type="dcterms:W3CDTF">2015-03-17T18:51:18Z</dcterms:created>
  <dcterms:modified xsi:type="dcterms:W3CDTF">2022-07-28T00:20:55Z</dcterms:modified>
</cp:coreProperties>
</file>