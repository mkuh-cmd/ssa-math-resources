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85" r:id="rId4"/>
    <p:sldId id="286" r:id="rId5"/>
    <p:sldId id="261" r:id="rId6"/>
    <p:sldId id="287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06" r:id="rId17"/>
    <p:sldId id="30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350"/>
    <p:restoredTop sz="94622"/>
  </p:normalViewPr>
  <p:slideViewPr>
    <p:cSldViewPr snapToGrid="0">
      <p:cViewPr varScale="1">
        <p:scale>
          <a:sx n="82" d="100"/>
          <a:sy n="82" d="100"/>
        </p:scale>
        <p:origin x="184" y="7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599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5287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49483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24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405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1324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949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3552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060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40.png"/><Relationship Id="rId6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9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Proving Triangle Similarity –    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337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51387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199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5349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899" y="1600200"/>
            <a:ext cx="1156746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MA.912.GR.1.2 </a:t>
            </a:r>
          </a:p>
          <a:p>
            <a:pPr marL="468313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triangle congruence or similarity using Side-Side-Side, Side-Angle-Side, Angle-Side-Angle, Angle-Angle-Side, Angle-Angle, and Hypotenuse Leg.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50" y="1722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7541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450" y="-61215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96149" y="1596390"/>
            <a:ext cx="1150277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48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7522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674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9814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1155574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triangle similarity to prove that triangles are similar. 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157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7757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6.9.1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24" y="20920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394524" y="1386025"/>
            <a:ext cx="113402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In 2021, General Motors introduced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eVTOL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air-taxi and the PAV (personal autonomous vehicle), a self-driving car. Both are concepts with no known timeline for production. </a:t>
            </a: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20750" indent="-468313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Do you think a drone-like personal vehicle like the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eVTOL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air-taxi will be reality in your lifetime?</a:t>
            </a:r>
          </a:p>
          <a:p>
            <a:pPr marL="920750" indent="-4683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0750" indent="-4683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0750" indent="-468313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would you rather have as your vehicle, an air-taxi or a self-driving car, in the future? </a:t>
            </a:r>
          </a:p>
          <a:p>
            <a:pPr marL="920750" indent="-4683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0750" indent="-468313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20750" indent="-468313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your choice.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338</a:t>
            </a: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900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1889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6.9.2 Activity: Proving Triangle Similarity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338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0759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3547ABD-563B-A148-B65C-C7679A7B43D4}"/>
              </a:ext>
            </a:extLst>
          </p:cNvPr>
          <p:cNvSpPr txBox="1"/>
          <p:nvPr/>
        </p:nvSpPr>
        <p:spPr>
          <a:xfrm>
            <a:off x="492369" y="1386025"/>
            <a:ext cx="114768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With your partner, sort through the statement and reason cards. Then, write each proof in the tables provided.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4034394"/>
                  </p:ext>
                </p:extLst>
              </p:nvPr>
            </p:nvGraphicFramePr>
            <p:xfrm>
              <a:off x="2240302" y="2252348"/>
              <a:ext cx="7708448" cy="418084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3008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178363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60431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A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823612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Given: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𝐺𝑆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𝑅𝑀</m:t>
                                  </m:r>
                                </m:e>
                              </m:acc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𝑅𝐻𝑀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𝐺𝐻𝑆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6043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18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18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4034394"/>
                  </p:ext>
                </p:extLst>
              </p:nvPr>
            </p:nvGraphicFramePr>
            <p:xfrm>
              <a:off x="2240302" y="2252348"/>
              <a:ext cx="7708448" cy="418084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300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783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A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39099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4" t="-16062" r="-164" b="-6424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18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18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8303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18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5268" marR="35268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25" name="Picture 6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52" t="4517" r="11833" b="15501"/>
          <a:stretch>
            <a:fillRect/>
          </a:stretch>
        </p:blipFill>
        <p:spPr bwMode="auto">
          <a:xfrm>
            <a:off x="6443762" y="2586360"/>
            <a:ext cx="2583716" cy="2381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11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88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6028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2292446"/>
                  </p:ext>
                </p:extLst>
              </p:nvPr>
            </p:nvGraphicFramePr>
            <p:xfrm>
              <a:off x="2003008" y="347345"/>
              <a:ext cx="8360192" cy="55246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0464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55554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0157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B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325495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Given: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𝑀𝐶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𝑀𝑅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 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838200" marR="0" indent="-571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𝑀𝐴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𝑀𝑃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𝑀𝐶𝐴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𝑀𝑅𝑃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8015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2292446"/>
                  </p:ext>
                </p:extLst>
              </p:nvPr>
            </p:nvGraphicFramePr>
            <p:xfrm>
              <a:off x="2003008" y="347345"/>
              <a:ext cx="8360192" cy="55246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0464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5554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B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25495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2" t="-11450" r="-303" b="-6183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1791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30246" marR="3024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2049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723" b="13242"/>
          <a:stretch>
            <a:fillRect/>
          </a:stretch>
        </p:blipFill>
        <p:spPr bwMode="auto">
          <a:xfrm>
            <a:off x="6183104" y="717869"/>
            <a:ext cx="3570496" cy="313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494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809" y="616360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1809" y="648989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8972951"/>
                  </p:ext>
                </p:extLst>
              </p:nvPr>
            </p:nvGraphicFramePr>
            <p:xfrm>
              <a:off x="2048182" y="338442"/>
              <a:ext cx="7900568" cy="61537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369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26366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8824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C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800998">
                    <a:tc grid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Given: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𝑅𝑃𝑇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𝐶𝑇𝑃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are supplementary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∆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𝑀𝐶𝑇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</a:rPr>
                                <m:t>𝑀𝑅𝑃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  <a:tr h="28882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8972951"/>
                  </p:ext>
                </p:extLst>
              </p:nvPr>
            </p:nvGraphicFramePr>
            <p:xfrm>
              <a:off x="2048182" y="338442"/>
              <a:ext cx="7900568" cy="615379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369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2636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C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00998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1" t="-13575" r="-161" b="-11448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066" marR="2906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073" name="Picture 11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07" r="9718" b="21744"/>
          <a:stretch>
            <a:fillRect/>
          </a:stretch>
        </p:blipFill>
        <p:spPr bwMode="auto">
          <a:xfrm>
            <a:off x="6429058" y="817837"/>
            <a:ext cx="2730182" cy="250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52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89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603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6011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3881974"/>
                  </p:ext>
                </p:extLst>
              </p:nvPr>
            </p:nvGraphicFramePr>
            <p:xfrm>
              <a:off x="2092508" y="376412"/>
              <a:ext cx="7856242" cy="60966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915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197089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9634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D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3765907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Given: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𝑊𝑇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𝑌𝑆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, 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𝑊𝑍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𝑌𝑅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𝑊𝑍𝑇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𝑌𝑅𝑆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8963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9580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29580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29580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9580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9580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3881974"/>
                  </p:ext>
                </p:extLst>
              </p:nvPr>
            </p:nvGraphicFramePr>
            <p:xfrm>
              <a:off x="2092508" y="376412"/>
              <a:ext cx="7856242" cy="609669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915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970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D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3099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9585" r="-161" b="-4984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0122" marR="40122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097" name="Picture 9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870" b="19286"/>
          <a:stretch>
            <a:fillRect/>
          </a:stretch>
        </p:blipFill>
        <p:spPr bwMode="auto">
          <a:xfrm>
            <a:off x="4867824" y="1417321"/>
            <a:ext cx="4893852" cy="238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04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3277" y="622243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69277" y="648038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0579944"/>
                  </p:ext>
                </p:extLst>
              </p:nvPr>
            </p:nvGraphicFramePr>
            <p:xfrm>
              <a:off x="2159652" y="469265"/>
              <a:ext cx="7789098" cy="58399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42373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14672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867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011136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Given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: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𝐺𝑀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𝑅𝑀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, 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𝑅𝐺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𝐵𝑅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𝑅𝑀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𝐵𝑀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𝑀𝐺𝑅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𝑀𝑅𝐵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867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867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2867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2867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867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0579944"/>
                  </p:ext>
                </p:extLst>
              </p:nvPr>
            </p:nvGraphicFramePr>
            <p:xfrm>
              <a:off x="2159652" y="469265"/>
              <a:ext cx="7789098" cy="583993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4237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467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E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11136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3" t="-9464" r="-163" b="-4164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42409" marR="42409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121" name="Picture 7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93" t="7303" r="6725" b="10419"/>
          <a:stretch>
            <a:fillRect/>
          </a:stretch>
        </p:blipFill>
        <p:spPr bwMode="auto">
          <a:xfrm>
            <a:off x="5121460" y="1422644"/>
            <a:ext cx="4659650" cy="278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089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4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4208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867763"/>
                  </p:ext>
                </p:extLst>
              </p:nvPr>
            </p:nvGraphicFramePr>
            <p:xfrm>
              <a:off x="2052772" y="341640"/>
              <a:ext cx="7895979" cy="610044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6692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32905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29501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F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442844">
                    <a:tc gridSpan="2"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Given: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𝑊𝑇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Cambria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𝑉𝑇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and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" charset="0"/>
                                        <a:cs typeface="Times New Roman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𝑊𝑉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⊥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" charset="0"/>
                                        <a:cs typeface="Times New Roman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𝑅𝑇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𝑅𝑇𝑊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𝑇𝑉𝑊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1"/>
                      </a:ext>
                    </a:extLst>
                  </a:tr>
                  <a:tr h="29501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10.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10.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5867763"/>
                  </p:ext>
                </p:extLst>
              </p:nvPr>
            </p:nvGraphicFramePr>
            <p:xfrm>
              <a:off x="2052772" y="341640"/>
              <a:ext cx="7895979" cy="610044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669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90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F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42844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1" t="-15544" r="-161" b="-14352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10.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10.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9265" marR="292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145" name="Picture 3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101" t="10866" r="6000" b="18530"/>
          <a:stretch>
            <a:fillRect/>
          </a:stretch>
        </p:blipFill>
        <p:spPr bwMode="auto">
          <a:xfrm>
            <a:off x="5969830" y="752793"/>
            <a:ext cx="3702050" cy="22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2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2807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6751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341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678832"/>
                  </p:ext>
                </p:extLst>
              </p:nvPr>
            </p:nvGraphicFramePr>
            <p:xfrm>
              <a:off x="2042090" y="382811"/>
              <a:ext cx="7906660" cy="61089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500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25165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301701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G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716691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Given: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𝑊𝐴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≅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𝐶𝐴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,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𝑅𝑌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𝑊𝐶</m:t>
                                  </m:r>
                                </m:e>
                              </m:ac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 ,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𝑋𝐺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𝑊𝐶</m:t>
                                  </m:r>
                                </m:e>
                              </m:acc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Prove: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𝑅𝑌𝑊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𝑋𝐺𝐶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30170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8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9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0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678832"/>
                  </p:ext>
                </p:extLst>
              </p:nvPr>
            </p:nvGraphicFramePr>
            <p:xfrm>
              <a:off x="2042090" y="382811"/>
              <a:ext cx="7906660" cy="61089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50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2516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Proof G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4597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0" t="-13825" r="-160" b="-1165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2.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3.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4.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5.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7.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8.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3060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Calibri" charset="0"/>
                              <a:cs typeface="Times New Roman" charset="0"/>
                            </a:rPr>
                            <a:t>9.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9.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28807" marR="28807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169" name="Picture 16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03" t="3448" r="16823" b="16486"/>
          <a:stretch>
            <a:fillRect/>
          </a:stretch>
        </p:blipFill>
        <p:spPr bwMode="auto">
          <a:xfrm>
            <a:off x="5995421" y="734193"/>
            <a:ext cx="3457575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42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00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80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342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169357"/>
              </p:ext>
            </p:extLst>
          </p:nvPr>
        </p:nvGraphicFramePr>
        <p:xfrm>
          <a:off x="2330480" y="344329"/>
          <a:ext cx="7840950" cy="3625850"/>
        </p:xfrm>
        <a:graphic>
          <a:graphicData uri="http://schemas.openxmlformats.org/drawingml/2006/table">
            <a:tbl>
              <a:tblPr firstRow="1" firstCol="1" bandRow="1"/>
              <a:tblGrid>
                <a:gridCol w="36246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163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251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Calibri" charset="0"/>
                          <a:cs typeface="Times New Roman" charset="0"/>
                        </a:rPr>
                        <a:t>10.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10.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Calibri" charset="0"/>
                          <a:cs typeface="Times New Roman" charset="0"/>
                        </a:rPr>
                        <a:t>11.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11.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Calibri" charset="0"/>
                          <a:cs typeface="Times New Roman" charset="0"/>
                        </a:rPr>
                        <a:t>12.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12.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Calibri" charset="0"/>
                          <a:cs typeface="Times New Roman" charset="0"/>
                        </a:rPr>
                        <a:t>13.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13.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2517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Calibri" charset="0"/>
                          <a:cs typeface="Times New Roman" charset="0"/>
                        </a:rPr>
                        <a:t>14.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14.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3000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342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25812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6833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342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233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7400" y="-3773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6.9.3 Wrap-Up: </a:t>
            </a:r>
            <a:r>
              <a:rPr lang="en-US" sz="3600" b="1" dirty="0" smtClean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Cool Down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556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557344" y="1401007"/>
            <a:ext cx="10000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an explanation to a classmate who might have missed today’s lesson, in your own words, about proving triangle similarity.</a:t>
            </a: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573</Words>
  <Application>Microsoft Macintosh PowerPoint</Application>
  <PresentationFormat>Widescreen</PresentationFormat>
  <Paragraphs>246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Arial</vt:lpstr>
      <vt:lpstr>1_Office Theme</vt:lpstr>
      <vt:lpstr>Geometry  Unit 6, Lesson 9  Proving Triangle Similarity –     Part 2  Volume 1, pg. 337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23</cp:revision>
  <dcterms:created xsi:type="dcterms:W3CDTF">2015-03-17T18:51:18Z</dcterms:created>
  <dcterms:modified xsi:type="dcterms:W3CDTF">2022-07-28T00:38:08Z</dcterms:modified>
</cp:coreProperties>
</file>