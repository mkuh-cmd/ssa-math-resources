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85" r:id="rId7"/>
    <p:sldId id="286" r:id="rId8"/>
    <p:sldId id="261" r:id="rId9"/>
    <p:sldId id="287" r:id="rId10"/>
    <p:sldId id="288" r:id="rId11"/>
    <p:sldId id="314" r:id="rId12"/>
    <p:sldId id="315" r:id="rId13"/>
    <p:sldId id="332" r:id="rId14"/>
    <p:sldId id="345" r:id="rId15"/>
    <p:sldId id="346" r:id="rId16"/>
    <p:sldId id="352" r:id="rId17"/>
    <p:sldId id="353" r:id="rId18"/>
    <p:sldId id="354" r:id="rId19"/>
    <p:sldId id="357" r:id="rId20"/>
    <p:sldId id="362" r:id="rId21"/>
    <p:sldId id="363" r:id="rId22"/>
    <p:sldId id="364" r:id="rId23"/>
    <p:sldId id="366" r:id="rId24"/>
    <p:sldId id="306" r:id="rId25"/>
    <p:sldId id="30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26B7D4"/>
    <a:srgbClr val="E24E5F"/>
    <a:srgbClr val="276C46"/>
    <a:srgbClr val="C9DF6F"/>
    <a:srgbClr val="417DBF"/>
    <a:srgbClr val="3F2A67"/>
    <a:srgbClr val="54B5D1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278F6-2954-48EB-8F3F-E361E10AD345}" v="1" dt="2025-01-31T13:46:20.545"/>
  </p1510:revLst>
</p1510:revInfo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7647" autoAdjust="0"/>
    <p:restoredTop sz="94707" autoAdjust="0"/>
  </p:normalViewPr>
  <p:slideViewPr>
    <p:cSldViewPr snapToGrid="0">
      <p:cViewPr varScale="1">
        <p:scale>
          <a:sx n="97" d="100"/>
          <a:sy n="97" d="100"/>
        </p:scale>
        <p:origin x="619" y="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57" Type="http://schemas.openxmlformats.org/officeDocument/2006/relationships/viewProps" Target="viewProps.xml"/><Relationship Id="rId61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n  Yohe" userId="b18620d6-87c2-4ae0-a2d6-f7dae44750c5" providerId="ADAL" clId="{29B278F6-2954-48EB-8F3F-E361E10AD345}"/>
    <pc:docChg chg="modSld">
      <pc:chgData name="Karen  Yohe" userId="b18620d6-87c2-4ae0-a2d6-f7dae44750c5" providerId="ADAL" clId="{29B278F6-2954-48EB-8F3F-E361E10AD345}" dt="2025-01-31T13:45:40.085" v="8" actId="20577"/>
      <pc:docMkLst>
        <pc:docMk/>
      </pc:docMkLst>
      <pc:sldChg chg="modSp mod">
        <pc:chgData name="Karen  Yohe" userId="b18620d6-87c2-4ae0-a2d6-f7dae44750c5" providerId="ADAL" clId="{29B278F6-2954-48EB-8F3F-E361E10AD345}" dt="2025-01-31T13:45:40.085" v="8" actId="20577"/>
        <pc:sldMkLst>
          <pc:docMk/>
          <pc:sldMk cId="2949029910" sldId="287"/>
        </pc:sldMkLst>
        <pc:spChg chg="mod">
          <ac:chgData name="Karen  Yohe" userId="b18620d6-87c2-4ae0-a2d6-f7dae44750c5" providerId="ADAL" clId="{29B278F6-2954-48EB-8F3F-E361E10AD345}" dt="2025-01-31T13:45:40.085" v="8" actId="20577"/>
          <ac:spMkLst>
            <pc:docMk/>
            <pc:sldMk cId="2949029910" sldId="287"/>
            <ac:spMk id="2" creationId="{E1D7562E-134F-D14B-AF1A-DF40E11EF75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77262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9574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183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9705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84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89043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50999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7434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64889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0409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14586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youtu.be/pl4TfapPwfk?feature=shared" TargetMode="Externa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tiff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0.png"/><Relationship Id="rId5" Type="http://schemas.openxmlformats.org/officeDocument/2006/relationships/image" Target="../media/image24.png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Using Similarity –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358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11701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17218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76279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0279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900" y="1600200"/>
            <a:ext cx="1140983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MA.912.GR.1.6 </a:t>
            </a:r>
          </a:p>
          <a:p>
            <a:pPr marL="468313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Solve mathematical and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real-world problems involving congruence or similarity in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two-dimensional figures.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93" y="2008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085493" y="-5710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358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38193" y="1596390"/>
            <a:ext cx="113775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9180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973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42714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358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34452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charset="2"/>
              <a:buChar char="q"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I can solve real-world problems involving similarity in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two-dimensional figures.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06342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7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19964" y="109518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6.12.1 Warm-Up: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Biomedical Career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932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493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365647" y="1347333"/>
            <a:ext cx="102201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Liz Williams and Kate Lomas co-founded the Australian-based biomedical technology company, </a:t>
            </a:r>
            <a:r>
              <a:rPr lang="en-US" sz="2400" dirty="0" err="1">
                <a:latin typeface="Verdana" charset="0"/>
                <a:ea typeface="Verdana" charset="0"/>
                <a:cs typeface="Verdana" charset="0"/>
              </a:rPr>
              <a:t>Hemideina</a:t>
            </a: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. In Kate’s studies she found that the insect </a:t>
            </a:r>
            <a:r>
              <a:rPr lang="en-US" sz="2400" dirty="0" err="1">
                <a:latin typeface="Verdana" charset="0"/>
                <a:ea typeface="Verdana" charset="0"/>
                <a:cs typeface="Verdana" charset="0"/>
              </a:rPr>
              <a:t>wētā</a:t>
            </a: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 has an amazing hearing system. Through her studies she invented an implant that can help those with hearing loss live a life without limits. (</a:t>
            </a:r>
            <a:r>
              <a:rPr lang="en-US" sz="2400" dirty="0">
                <a:latin typeface="Verdana" charset="0"/>
                <a:ea typeface="Verdana" charset="0"/>
                <a:cs typeface="Verdana" charset="0"/>
                <a:hlinkClick r:id="rId5"/>
              </a:rPr>
              <a:t>Video</a:t>
            </a: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)</a:t>
            </a:r>
          </a:p>
          <a:p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List at least one advantage that Kate may have had as an artist that helped her create her invention.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75558" y="376959"/>
            <a:ext cx="114544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Both Liz and Kate express excitement knowing that that their skills in science can be used to solve real-world problems.</a:t>
            </a:r>
          </a:p>
          <a:p>
            <a:pPr lvl="0"/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 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What is one real-world problem that you think creativity, math, and science could be used to solve?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024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332159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4732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359</a:t>
            </a:r>
          </a:p>
        </p:txBody>
      </p:sp>
      <p:pic>
        <p:nvPicPr>
          <p:cNvPr id="8" name="image12.png" descr="Icon&#10;&#10;Description automatically generated">
            <a:extLst>
              <a:ext uri="{FF2B5EF4-FFF2-40B4-BE49-F238E27FC236}">
                <a16:creationId xmlns:a16="http://schemas.microsoft.com/office/drawing/2014/main" id="{3914E0FC-7A16-5045-99C9-29C196F3F669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10912" y="2851822"/>
            <a:ext cx="1154347" cy="115434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10698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6.12.2 Guided Instruction: </a:t>
            </a:r>
            <a:br>
              <a:rPr lang="en-US" sz="32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Similar Figures in the Real-World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392015" y="1386025"/>
            <a:ext cx="11421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Haley built a birdhouse by first drawing a blueprint. She then constructed the birdhouse using the dimensions from the blueprint. Her blueprint, 𝑃𝑆𝑊𝐺𝐵, and birdhouse, 𝐷𝑀𝑅𝑇𝑉, are shown. </a:t>
            </a:r>
          </a:p>
        </p:txBody>
      </p:sp>
      <p:pic>
        <p:nvPicPr>
          <p:cNvPr id="12" name="image12.png" descr="Icon&#10;&#10;Description automatically generated">
            <a:extLst>
              <a:ext uri="{FF2B5EF4-FFF2-40B4-BE49-F238E27FC236}">
                <a16:creationId xmlns:a16="http://schemas.microsoft.com/office/drawing/2014/main" id="{A57A3EEE-4D49-2B4C-B202-093281BEA10D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2016" y="180963"/>
            <a:ext cx="749808" cy="749808"/>
          </a:xfrm>
          <a:prstGeom prst="rect">
            <a:avLst/>
          </a:prstGeom>
          <a:ln/>
        </p:spPr>
      </p:pic>
      <p:grpSp>
        <p:nvGrpSpPr>
          <p:cNvPr id="2" name="Group 1"/>
          <p:cNvGrpSpPr/>
          <p:nvPr/>
        </p:nvGrpSpPr>
        <p:grpSpPr>
          <a:xfrm>
            <a:off x="3279144" y="2953233"/>
            <a:ext cx="5555137" cy="3802684"/>
            <a:chOff x="1788183" y="2953233"/>
            <a:chExt cx="5555137" cy="3802684"/>
          </a:xfrm>
        </p:grpSpPr>
        <p:pic>
          <p:nvPicPr>
            <p:cNvPr id="13" name="Picture 12" descr="Chart&#10;&#10;Description automatically generated">
              <a:extLst>
                <a:ext uri="{FF2B5EF4-FFF2-40B4-BE49-F238E27FC236}">
                  <a16:creationId xmlns:a16="http://schemas.microsoft.com/office/drawing/2014/main" id="{CD9FDAB6-7060-6D47-AA7F-951816F40F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4132" t="13825" r="32541" b="14286"/>
            <a:stretch/>
          </p:blipFill>
          <p:spPr bwMode="auto">
            <a:xfrm>
              <a:off x="1788183" y="3752191"/>
              <a:ext cx="2050113" cy="277704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4" name="Picture 13" descr="A picture containing text, sign, iPod&#10;&#10;Description automatically generated">
              <a:extLst>
                <a:ext uri="{FF2B5EF4-FFF2-40B4-BE49-F238E27FC236}">
                  <a16:creationId xmlns:a16="http://schemas.microsoft.com/office/drawing/2014/main" id="{A83B1802-26A9-9240-A7FC-E288AA674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53910" y="2953233"/>
              <a:ext cx="3389410" cy="3802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00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637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0870" y="373249"/>
                <a:ext cx="11568793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4025" indent="-12700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To build the birdhouse, Haley multiplied each of the dimensions from the blueprint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to get the dimensions of the face of the birdhouse. She used equations to represent the sides.</a:t>
                </a:r>
              </a:p>
              <a:p>
                <a:pPr marL="454025" indent="-12700"/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4025" indent="-12700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+1.2)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inches (in.),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−1.5)  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in.,</a:t>
                </a:r>
              </a:p>
              <a:p>
                <a:pPr marL="454025" indent="-12700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𝐵𝐺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−6.4)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in.,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−5.6)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in., </a:t>
                </a:r>
                <a:b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+10)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in.,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=(6.2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+2.6) 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in.</a:t>
                </a:r>
              </a:p>
              <a:p>
                <a:pPr marL="12700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82662" indent="-514350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is the value of 𝑥?</a:t>
                </a:r>
              </a:p>
              <a:p>
                <a:pPr marL="982662" indent="-514350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2" indent="-514350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2" indent="-514350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2" indent="-514350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𝐷𝑉</m:t>
                        </m:r>
                      </m:e>
                    </m:acc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? Include units.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70" y="373249"/>
                <a:ext cx="11568793" cy="4893647"/>
              </a:xfrm>
              <a:prstGeom prst="rect">
                <a:avLst/>
              </a:prstGeom>
              <a:blipFill>
                <a:blip r:embed="rId4"/>
                <a:stretch>
                  <a:fillRect t="-1036" b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9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490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0871" y="373250"/>
                <a:ext cx="9862500" cy="3786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is the value of 𝑦?</a:t>
                </a: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𝑃𝑆</m:t>
                        </m:r>
                      </m:e>
                    </m:acc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? Include units.</a:t>
                </a:r>
              </a:p>
              <a:p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71" y="373250"/>
                <a:ext cx="9862500" cy="3786421"/>
              </a:xfrm>
              <a:prstGeom prst="rect">
                <a:avLst/>
              </a:prstGeom>
              <a:blipFill>
                <a:blip r:embed="rId4"/>
                <a:stretch>
                  <a:fillRect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52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7404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6371" y="646980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6C7479-F8C4-DD46-B4A8-7B54F4CCB19C}"/>
                  </a:ext>
                </a:extLst>
              </p:cNvPr>
              <p:cNvSpPr txBox="1"/>
              <p:nvPr/>
            </p:nvSpPr>
            <p:spPr>
              <a:xfrm>
                <a:off x="408214" y="373249"/>
                <a:ext cx="9895157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is the value of 𝑤?</a:t>
                </a: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𝑉𝑇</m:t>
                        </m:r>
                      </m:e>
                    </m:acc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? Include units.</a:t>
                </a: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If 𝐷𝑉=𝑅𝑇 and 𝐷𝑀=𝑀𝑅, what is the perimeter, in inches, of the face of the birdhouse?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6C7479-F8C4-DD46-B4A8-7B54F4CCB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14" y="373249"/>
                <a:ext cx="9895157" cy="5262979"/>
              </a:xfrm>
              <a:prstGeom prst="rect">
                <a:avLst/>
              </a:prstGeom>
              <a:blipFill>
                <a:blip r:embed="rId4"/>
                <a:stretch>
                  <a:fillRect t="-1202" b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79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2506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94587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360</a:t>
            </a: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1948A90A-E33A-9B4F-962F-0F72834F9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31066" y="2805902"/>
            <a:ext cx="1154347" cy="11543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4405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66F5C20-5806-3946-A2D3-668A1B521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994" y="3300653"/>
            <a:ext cx="7704045" cy="3052727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393" y="-23959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5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9740" y="-23959"/>
            <a:ext cx="94794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6.12.3 Guided Practice: </a:t>
            </a:r>
            <a:br>
              <a:rPr lang="en-US" sz="32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Similar Figures in the Real-World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3757" y="649991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306249" y="1270211"/>
                <a:ext cx="1157278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Moving-R-Us creates boxes in the shape of a rectangular prism. The company uses a computer program to calculate similar size boxes by using equations. The diagram shows the rectangular bases, 𝐴𝑅𝑉𝐺 and 𝑊𝐾𝐸𝐷, of two different size boxes,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𝑊𝐷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=2 </m:t>
                    </m:r>
                  </m:oMath>
                </a14:m>
                <a:r>
                  <a:rPr lang="en-US" sz="2000" dirty="0">
                    <a:latin typeface="+mj-lt"/>
                    <a:ea typeface="Verdana" panose="020B0604030504040204" pitchFamily="34" charset="0"/>
                    <a:cs typeface="Verdana" panose="020B0604030504040204" pitchFamily="34" charset="0"/>
                  </a:rPr>
                  <a:t>inches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(in.),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−30) 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in.,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𝑅𝑉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=2.5 </m:t>
                    </m:r>
                  </m:oMath>
                </a14:m>
                <a:r>
                  <a:rPr lang="en-US" sz="2000" dirty="0">
                    <a:latin typeface="+mj-lt"/>
                    <a:ea typeface="Verdana" panose="020B0604030504040204" pitchFamily="34" charset="0"/>
                    <a:cs typeface="Verdana" panose="020B0604030504040204" pitchFamily="34" charset="0"/>
                  </a:rPr>
                  <a:t>in.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49" y="1270211"/>
                <a:ext cx="11572787" cy="1323439"/>
              </a:xfrm>
              <a:prstGeom prst="rect">
                <a:avLst/>
              </a:prstGeom>
              <a:blipFill>
                <a:blip r:embed="rId5"/>
                <a:stretch>
                  <a:fillRect l="-548" t="-1887" r="-658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1E0607F6-FAF6-3546-BF4F-4B0F3540DE8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6249" y="194469"/>
            <a:ext cx="753491" cy="7534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0487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83721" y="373249"/>
                <a:ext cx="991965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 defTabSz="8937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𝑤?</a:t>
                </a: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area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𝐴𝑅𝑉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Include units.</a:t>
                </a: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 defTabSz="8937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perimeter of 𝑊𝐾𝐸𝐷? Include units.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21" y="373249"/>
                <a:ext cx="9919650" cy="4893647"/>
              </a:xfrm>
              <a:prstGeom prst="rect">
                <a:avLst/>
              </a:prstGeom>
              <a:blipFill>
                <a:blip r:embed="rId4"/>
                <a:stretch>
                  <a:fillRect t="-1121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011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75558" y="373250"/>
                <a:ext cx="1139734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Moving-R-Us created a third similar rectangular box. The base, 𝑀𝐻𝑆𝑇, is shown, where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=6.25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58" y="373250"/>
                <a:ext cx="11397342" cy="1200329"/>
              </a:xfrm>
              <a:prstGeom prst="rect">
                <a:avLst/>
              </a:prstGeom>
              <a:blipFill>
                <a:blip r:embed="rId4"/>
                <a:stretch>
                  <a:fillRect t="-5263" r="-167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D3BFC43-BC1F-3546-BC9B-E6469D3210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78" t="2597" r="5733" b="8010"/>
          <a:stretch/>
        </p:blipFill>
        <p:spPr bwMode="auto">
          <a:xfrm>
            <a:off x="4344348" y="1573578"/>
            <a:ext cx="3308985" cy="20681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734786" y="3641773"/>
                <a:ext cx="928666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8525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Include units.</a:t>
                </a:r>
              </a:p>
              <a:p>
                <a:pPr marL="898525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perimeter, in inches, of 𝑀𝐻𝑆𝑇?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86" y="3641773"/>
                <a:ext cx="9286661" cy="1938992"/>
              </a:xfrm>
              <a:prstGeom prst="rect">
                <a:avLst/>
              </a:prstGeom>
              <a:blipFill>
                <a:blip r:embed="rId6"/>
                <a:stretch>
                  <a:fillRect t="-2597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55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065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57761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3065" y="645566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361</a:t>
            </a:r>
          </a:p>
        </p:txBody>
      </p:sp>
      <p:pic>
        <p:nvPicPr>
          <p:cNvPr id="9" name="image6.png" descr="Icon&#10;&#10;Description automatically generated">
            <a:extLst>
              <a:ext uri="{FF2B5EF4-FFF2-40B4-BE49-F238E27FC236}">
                <a16:creationId xmlns:a16="http://schemas.microsoft.com/office/drawing/2014/main" id="{DBCA2D6A-0843-4144-932A-5422FE863DF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364804" y="2851821"/>
            <a:ext cx="1154348" cy="115434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9246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0A8731C-FE77-7149-8F8B-C23BB7577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224" y="2965159"/>
            <a:ext cx="4744365" cy="3492516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282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3" y="-9163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6.12.4 Try It: Solving in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Real-World Context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88823" y="649630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388332" y="1386025"/>
                <a:ext cx="999925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Gloria, a landscape engineer, created a trapezoidal-shaped garden with a similar trapezoidal-shaped garden inside.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diagram of the gardens, 𝑆𝑊𝐶𝑃 and 𝐻𝑇𝐶𝑅, are shown,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(ft),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+3)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𝑆𝑃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=8.2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ft,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𝑆𝑊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𝐻𝑇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=4.1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𝑥?</a:t>
                </a: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side 𝑆𝑊? Include units.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32" y="1386025"/>
                <a:ext cx="9999252" cy="4093428"/>
              </a:xfrm>
              <a:prstGeom prst="rect">
                <a:avLst/>
              </a:prstGeom>
              <a:blipFill>
                <a:blip r:embed="rId5"/>
                <a:stretch>
                  <a:fillRect l="-635" t="-617" b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6.png" descr="Icon&#10;&#10;Description automatically generated">
            <a:extLst>
              <a:ext uri="{FF2B5EF4-FFF2-40B4-BE49-F238E27FC236}">
                <a16:creationId xmlns:a16="http://schemas.microsoft.com/office/drawing/2014/main" id="{F2C6E48E-825D-9746-912C-32119CF1D905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8332" y="194470"/>
            <a:ext cx="753491" cy="7534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87205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6721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42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7742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9036" y="373248"/>
                <a:ext cx="9572411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What is the value of 𝑦?</a:t>
                </a: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What is the length of side 𝑅𝐶? Include units.</a:t>
                </a:r>
              </a:p>
              <a:p>
                <a:pPr marL="889000" indent="-457200">
                  <a:buFont typeface="+mj-lt"/>
                  <a:buAutoNum type="alphaLcPeriod" startAt="4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𝑆𝑊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𝑊𝐶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rPr>
                  <a:t>, what is the perimeter, in feet, of the larger garden?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36" y="373248"/>
                <a:ext cx="9572411" cy="4708981"/>
              </a:xfrm>
              <a:prstGeom prst="rect">
                <a:avLst/>
              </a:prstGeom>
              <a:blipFill>
                <a:blip r:embed="rId4"/>
                <a:stretch>
                  <a:fillRect t="-1075" b="-1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675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32708" y="383759"/>
                <a:ext cx="958874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After Gloria created the gardens, she decided to check the angle measures of each corner. She had the following information written down: </a:t>
                </a:r>
              </a:p>
              <a:p>
                <a:pPr marL="4524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2438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𝑆𝑊𝐶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=(12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+6)°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𝐻𝑇𝐶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+41)°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𝑇𝐶𝑅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90°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𝑆𝑃𝐶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+11)°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𝐻𝑅𝐶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+24)°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𝑧?</a:t>
                </a:r>
              </a:p>
              <a:p>
                <a:pPr marL="8890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𝑤?</a:t>
                </a:r>
              </a:p>
              <a:p>
                <a:pPr marL="889000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measure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𝑅𝐻𝑇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08" y="383759"/>
                <a:ext cx="9588740" cy="5632311"/>
              </a:xfrm>
              <a:prstGeom prst="rect">
                <a:avLst/>
              </a:prstGeom>
              <a:blipFill>
                <a:blip r:embed="rId4"/>
                <a:stretch>
                  <a:fillRect t="-676" b="-1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331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61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1824" y="38002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6.12.5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22361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394524" y="1095986"/>
            <a:ext cx="11141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Your friend is absent today and will need the notes from class. Write a quick note to let them know what they missed in today’s lesson. 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5" ma:contentTypeDescription="Create a new document." ma:contentTypeScope="" ma:versionID="dc2e7c46903a19026ffd9241c4aab9a4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1ddb56356d319bfd686db11b81a9c6e4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1CFB94-9C20-429D-A5F5-953350D66B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BC93C0-5AE7-4A0E-9ADD-3ED658A915CC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  <ds:schemaRef ds:uri="http://purl.org/dc/dcmitype/"/>
    <ds:schemaRef ds:uri="aecc3118-db6a-47b0-8115-3eb3ee12f279"/>
    <ds:schemaRef ds:uri="c8f36ed4-5234-49bf-a7f7-5f171c3a2f56"/>
  </ds:schemaRefs>
</ds:datastoreItem>
</file>

<file path=customXml/itemProps3.xml><?xml version="1.0" encoding="utf-8"?>
<ds:datastoreItem xmlns:ds="http://schemas.openxmlformats.org/officeDocument/2006/customXml" ds:itemID="{53AAA58C-6972-46F3-9885-74B42653A7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1027</Words>
  <Application>Microsoft Office PowerPoint</Application>
  <PresentationFormat>Widescreen</PresentationFormat>
  <Paragraphs>164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Geometry  Unit 6, Lesson 12  Solving Problems Using Similarity – Part 2  Volume 1, pg. 358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Karen  Yohe</cp:lastModifiedBy>
  <cp:revision>31</cp:revision>
  <dcterms:created xsi:type="dcterms:W3CDTF">2015-03-17T18:51:18Z</dcterms:created>
  <dcterms:modified xsi:type="dcterms:W3CDTF">2025-01-31T13:46:29Z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