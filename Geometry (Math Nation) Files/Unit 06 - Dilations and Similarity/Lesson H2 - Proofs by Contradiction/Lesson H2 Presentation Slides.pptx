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5" r:id="rId4"/>
    <p:sldId id="286" r:id="rId5"/>
    <p:sldId id="261" r:id="rId6"/>
    <p:sldId id="287" r:id="rId7"/>
    <p:sldId id="342" r:id="rId8"/>
    <p:sldId id="343" r:id="rId9"/>
    <p:sldId id="355" r:id="rId10"/>
    <p:sldId id="344" r:id="rId11"/>
    <p:sldId id="345" r:id="rId12"/>
    <p:sldId id="346" r:id="rId13"/>
    <p:sldId id="347" r:id="rId14"/>
    <p:sldId id="348" r:id="rId15"/>
    <p:sldId id="349" r:id="rId16"/>
    <p:sldId id="351" r:id="rId17"/>
    <p:sldId id="352" r:id="rId18"/>
    <p:sldId id="353" r:id="rId19"/>
    <p:sldId id="354" r:id="rId20"/>
    <p:sldId id="306" r:id="rId21"/>
    <p:sldId id="307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7DBF"/>
    <a:srgbClr val="276C46"/>
    <a:srgbClr val="C9DF6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25"/>
    <p:restoredTop sz="94622"/>
  </p:normalViewPr>
  <p:slideViewPr>
    <p:cSldViewPr snapToGrid="0">
      <p:cViewPr varScale="1">
        <p:scale>
          <a:sx n="93" d="100"/>
          <a:sy n="93" d="100"/>
        </p:scale>
        <p:origin x="232" y="5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55" Type="http://customschemas.google.com/relationships/presentationmetadata" Target="metadata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0865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74494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43008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72258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28524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10731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03683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8404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73075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79468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90175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16457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64074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6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7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H2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Proofs by Contradiction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321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10793" y="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493" y="26351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94150" y="639528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457199" y="1600200"/>
            <a:ext cx="1163682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MA.912.LT.4.8 </a:t>
            </a:r>
          </a:p>
          <a:p>
            <a:pPr marL="4635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Construct proofs, including proofs by contradiction.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657" y="20194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21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60957" y="-52883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E701C7D4-7BD4-5F4C-ACEB-5781D00837A2}"/>
              </a:ext>
            </a:extLst>
          </p:cNvPr>
          <p:cNvSpPr txBox="1"/>
          <p:nvPr/>
        </p:nvSpPr>
        <p:spPr>
          <a:xfrm>
            <a:off x="8994150" y="644923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321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413657" y="1596390"/>
            <a:ext cx="1177834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127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92007" y="-3612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707" y="2316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3ECD2D46-55D5-C547-91DD-0801CE9D6AD7}"/>
              </a:ext>
            </a:extLst>
          </p:cNvPr>
          <p:cNvSpPr txBox="1"/>
          <p:nvPr/>
        </p:nvSpPr>
        <p:spPr>
          <a:xfrm>
            <a:off x="8994150" y="642714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321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68086" y="1600200"/>
            <a:ext cx="115824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use proof by contradiction to justify that all circles are similar.  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1824" y="-82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6.H2.1 Warm-Up: Critical Thinking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524" y="18659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394524" y="1386026"/>
            <a:ext cx="76688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DirecTV commercials are entertaining because the conditional statements are outrageous. Write five conditional statements with an outrageous conclusion that could be used for a DirecTV commercial.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672" y="1163782"/>
            <a:ext cx="3024477" cy="312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134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987342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322</a:t>
            </a: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179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4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25454" y="-3723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6.H2.2 Exploration: Contradictions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9934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322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3200" y="199593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52D1D4D-DCB8-A246-B186-D40316579D77}"/>
              </a:ext>
            </a:extLst>
          </p:cNvPr>
          <p:cNvSpPr txBox="1"/>
          <p:nvPr/>
        </p:nvSpPr>
        <p:spPr>
          <a:xfrm>
            <a:off x="489857" y="1546538"/>
            <a:ext cx="39345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In the DirecTV commercial, there were seven conditional statements before the final conclusion.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54046"/>
              </p:ext>
            </p:extLst>
          </p:nvPr>
        </p:nvGraphicFramePr>
        <p:xfrm>
          <a:off x="4681537" y="1546538"/>
          <a:ext cx="5653364" cy="4368486"/>
        </p:xfrm>
        <a:graphic>
          <a:graphicData uri="http://schemas.openxmlformats.org/drawingml/2006/table">
            <a:tbl>
              <a:tblPr firstRow="1" firstCol="1" bandRow="1"/>
              <a:tblGrid>
                <a:gridCol w="102870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2466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5150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Order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096" marR="620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Statement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096" marR="620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9352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1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096" marR="620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If your cable company puts you on hold, then you get angry.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096" marR="620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9352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2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096" marR="620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If you get angry, then you go blow off steam.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096" marR="620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9352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3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096" marR="620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If you go blow off steam, then an accident happens.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096" marR="620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03640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4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096" marR="620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If an accident happens, then you get an eye patch from the doctor.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096" marR="620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48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322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28011"/>
              </p:ext>
            </p:extLst>
          </p:nvPr>
        </p:nvGraphicFramePr>
        <p:xfrm>
          <a:off x="2381250" y="1683663"/>
          <a:ext cx="7695634" cy="2759750"/>
        </p:xfrm>
        <a:graphic>
          <a:graphicData uri="http://schemas.openxmlformats.org/drawingml/2006/table">
            <a:tbl>
              <a:tblPr firstRow="1" firstCol="1" bandRow="1"/>
              <a:tblGrid>
                <a:gridCol w="124163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5399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75011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5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096" marR="620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If you get an eye patch, then people think you are tough.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096" marR="620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5011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6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096" marR="620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If people think you are tough, then they want to fight you.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096" marR="620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5011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7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096" marR="620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If people want to fight you, then you get hurt.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096" marR="620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0939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8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096" marR="620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You will end up in a roadside ditch.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2096" marR="620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093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4150" y="640549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413657" y="520394"/>
            <a:ext cx="116477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Assume that the conclusion is not true. Write a contradiction to the conclusion.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Share your contradiction with your partner. </a:t>
            </a:r>
          </a:p>
        </p:txBody>
      </p:sp>
    </p:spTree>
    <p:extLst>
      <p:ext uri="{BB962C8B-B14F-4D97-AF65-F5344CB8AC3E}">
        <p14:creationId xmlns:p14="http://schemas.microsoft.com/office/powerpoint/2010/main" val="610571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424543" y="520393"/>
            <a:ext cx="991035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Use your contradiction to write a “rewind” for the commercial with statements that would lead to the contradiction.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Explain how writing the contradiction would change the commercial.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219561"/>
              </p:ext>
            </p:extLst>
          </p:nvPr>
        </p:nvGraphicFramePr>
        <p:xfrm>
          <a:off x="2360908" y="1455511"/>
          <a:ext cx="7587842" cy="3676272"/>
        </p:xfrm>
        <a:graphic>
          <a:graphicData uri="http://schemas.openxmlformats.org/drawingml/2006/table">
            <a:tbl>
              <a:tblPr firstRow="1" firstCol="1" bandRow="1"/>
              <a:tblGrid>
                <a:gridCol w="97617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61166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1343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Order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1321" marR="413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Statement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1321" marR="413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85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8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1321" marR="413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1321" marR="4132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1343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7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1321" marR="413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1321" marR="4132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1343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6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1321" marR="413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1321" marR="4132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85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5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1321" marR="413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1321" marR="4132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1343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4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1321" marR="413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1321" marR="4132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1343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3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1321" marR="413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1321" marR="4132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985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2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1321" marR="413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1321" marR="4132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1343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1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1321" marR="413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1321" marR="4132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645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21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323</a:t>
            </a: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2903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41920" y="-82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6.H2.3 Exploration: Circles </a:t>
            </a: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Are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Similar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323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2151" y="189095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1082518" y="1317476"/>
                <a:ext cx="83271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Circles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shown. The radius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3.8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units long. The radius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2.6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units long. The radius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3.3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units long.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18" y="1317476"/>
                <a:ext cx="8327136" cy="1015663"/>
              </a:xfrm>
              <a:prstGeom prst="rect">
                <a:avLst/>
              </a:prstGeom>
              <a:blipFill rotWithShape="0">
                <a:blip r:embed="rId5"/>
                <a:stretch>
                  <a:fillRect l="-805" t="-4192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60448" y="2783494"/>
            <a:ext cx="8064500" cy="303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20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424544" y="520393"/>
            <a:ext cx="1139734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With your partner, fill in the table. </a:t>
            </a:r>
            <a:r>
              <a:rPr lang="en-US" sz="2000" i="1" dirty="0">
                <a:latin typeface="Verdana" charset="0"/>
                <a:ea typeface="Verdana" charset="0"/>
                <a:cs typeface="Verdana" charset="0"/>
              </a:rPr>
              <a:t>Round to nearest thousandth. Use the pi button on your calculator.</a:t>
            </a:r>
          </a:p>
          <a:p>
            <a:pPr marL="457200" indent="-457200">
              <a:buFont typeface="+mj-lt"/>
              <a:buAutoNum type="alphaLcPeriod"/>
            </a:pP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table.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91487"/>
              </p:ext>
            </p:extLst>
          </p:nvPr>
        </p:nvGraphicFramePr>
        <p:xfrm>
          <a:off x="2799483" y="1359503"/>
          <a:ext cx="6743700" cy="2019128"/>
        </p:xfrm>
        <a:graphic>
          <a:graphicData uri="http://schemas.openxmlformats.org/drawingml/2006/table">
            <a:tbl>
              <a:tblPr firstRow="1" firstCol="1" bandRow="1"/>
              <a:tblGrid>
                <a:gridCol w="19202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1104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81241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047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Circle 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Radius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Circumference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47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047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047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0619368"/>
                  </p:ext>
                </p:extLst>
              </p:nvPr>
            </p:nvGraphicFramePr>
            <p:xfrm>
              <a:off x="2799483" y="4185722"/>
              <a:ext cx="6743700" cy="210786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52996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213735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351311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𝑲</m:t>
                              </m:r>
                            </m:oMath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70262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Ratio of Radius of 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𝑃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and Radius of 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𝐾</m:t>
                              </m:r>
                            </m:oMath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105393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Ratio of Circumference of 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𝑃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and Circumference of 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𝐾</m:t>
                              </m:r>
                            </m:oMath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0619368"/>
                  </p:ext>
                </p:extLst>
              </p:nvPr>
            </p:nvGraphicFramePr>
            <p:xfrm>
              <a:off x="2799483" y="4185722"/>
              <a:ext cx="6743700" cy="210786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52996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21373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51311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8" t="-17857" r="-188" b="-52142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26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0" t="-58929" r="-91727" b="-160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53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0" t="-107229" r="-91727" b="-84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16609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359229" y="520394"/>
            <a:ext cx="1110342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8688" indent="-557213"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notice about the ratios?</a:t>
            </a:r>
          </a:p>
          <a:p>
            <a:pPr marL="928688" indent="-557213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indent="-557213"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table.</a:t>
            </a:r>
          </a:p>
          <a:p>
            <a:pPr marL="928688" indent="-557213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indent="-557213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indent="-557213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indent="-557213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indent="-557213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indent="-557213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indent="-557213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indent="-557213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indent="-557213"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notice about the ratios?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Make a conjecture about the ratios of radii and circumferences of circles.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4387735"/>
                  </p:ext>
                </p:extLst>
              </p:nvPr>
            </p:nvGraphicFramePr>
            <p:xfrm>
              <a:off x="2770908" y="1778905"/>
              <a:ext cx="6800850" cy="1828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58711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213735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𝑲</m:t>
                              </m:r>
                            </m:oMath>
                          </a14:m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𝑴</m:t>
                              </m:r>
                            </m:oMath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Ratio of Radius of 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and Radius of 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𝑀</m:t>
                              </m:r>
                            </m:oMath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Ratio of Circumference of 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and Circumference of 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𝑀</m:t>
                              </m:r>
                            </m:oMath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4387735"/>
                  </p:ext>
                </p:extLst>
              </p:nvPr>
            </p:nvGraphicFramePr>
            <p:xfrm>
              <a:off x="2770908" y="1778905"/>
              <a:ext cx="6800850" cy="1828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58711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21373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8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7" t="-29167" r="-373" b="-5541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3" t="-63265" r="-90106" b="-1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3" t="-111111" r="-90106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56431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324</a:t>
            </a:r>
          </a:p>
        </p:txBody>
      </p:sp>
    </p:spTree>
    <p:extLst>
      <p:ext uri="{BB962C8B-B14F-4D97-AF65-F5344CB8AC3E}">
        <p14:creationId xmlns:p14="http://schemas.microsoft.com/office/powerpoint/2010/main" val="492369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1824" y="1698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6.H2.4 Guided Instruction: Proof by Contradiction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524" y="2032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C01B13E8-EC8D-E443-A329-C5E3593DD13A}"/>
              </a:ext>
            </a:extLst>
          </p:cNvPr>
          <p:cNvSpPr txBox="1"/>
          <p:nvPr/>
        </p:nvSpPr>
        <p:spPr>
          <a:xfrm>
            <a:off x="729343" y="1386025"/>
            <a:ext cx="96582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 way to write a proof is by using a contradiction. </a:t>
            </a:r>
          </a:p>
        </p:txBody>
      </p:sp>
      <p:sp>
        <p:nvSpPr>
          <p:cNvPr id="8" name="Text Box 40"/>
          <p:cNvSpPr txBox="1"/>
          <p:nvPr/>
        </p:nvSpPr>
        <p:spPr>
          <a:xfrm>
            <a:off x="2851455" y="2303576"/>
            <a:ext cx="6629400" cy="1938805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	Proof by Contradiction</a:t>
            </a:r>
            <a:endParaRPr lang="en-US" sz="2000" dirty="0">
              <a:solidFill>
                <a:srgbClr val="417DBF"/>
              </a:solidFill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	Assume the statement to be proven is 	false, and work to show its falsity until 	the result of that assumption is a 	contradiction.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10283" y="2527355"/>
            <a:ext cx="542544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18830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699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8299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91886" y="409911"/>
                <a:ext cx="11440885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Circles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shown. The radius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3.2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units long. The radius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2.4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units long.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0375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Prove that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similar to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481013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an assumption that the statement is false.</a:t>
                </a:r>
              </a:p>
              <a:p>
                <a:pPr marL="928688" indent="-481013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481013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Find the ratio of the radius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the radius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86" y="409911"/>
                <a:ext cx="11440885" cy="5940088"/>
              </a:xfrm>
              <a:prstGeom prst="rect">
                <a:avLst/>
              </a:prstGeom>
              <a:blipFill>
                <a:blip r:embed="rId4"/>
                <a:stretch>
                  <a:fillRect l="-554" t="-640" b="-8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9033" y="1346846"/>
            <a:ext cx="6324600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274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91886" y="520394"/>
                <a:ext cx="11549743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Find the ratio of the circumference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the circumference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Explain how the ratios show the assumption is not true. 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proof.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Assume that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___________________ to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.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ratio of the radius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the radius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________. The ratio of the circumference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the circumference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________. The ratio of the radii and the ratio of the circumferences are ___________, so corresponding parts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proportional. Since the corresponding parts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proportional, the circles are ____________. This is a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contradication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so the assumption that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not similar to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not true.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86" y="520394"/>
                <a:ext cx="11549743" cy="4093428"/>
              </a:xfrm>
              <a:prstGeom prst="rect">
                <a:avLst/>
              </a:prstGeom>
              <a:blipFill>
                <a:blip r:embed="rId4"/>
                <a:stretch>
                  <a:fillRect l="-549" t="-617" r="-1098" b="-1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3209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98762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325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162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4043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980107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325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410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82729" y="-6815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6.H2.5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429" y="19362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435429" y="1386025"/>
            <a:ext cx="11049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Check below all the statements that apply to your understanding.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28688" indent="-449263" fontAlgn="base">
              <a:buFont typeface="Wingdings" charset="2"/>
              <a:buChar char="q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 understand how to write a contradiction. </a:t>
            </a:r>
          </a:p>
          <a:p>
            <a:pPr marL="928688" indent="-449263" fontAlgn="base">
              <a:buFont typeface="Wingdings" charset="2"/>
              <a:buChar char="q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 need support on how to write a contradiction. </a:t>
            </a:r>
          </a:p>
          <a:p>
            <a:pPr marL="928688" indent="-449263" fontAlgn="base">
              <a:buFont typeface="Wingdings" charset="2"/>
              <a:buChar char="q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 understand that all circles are similar. </a:t>
            </a:r>
          </a:p>
          <a:p>
            <a:pPr marL="928688" indent="-449263" fontAlgn="base">
              <a:buFont typeface="Wingdings" charset="2"/>
              <a:buChar char="q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 need support on understanding why all circles are similar. </a:t>
            </a:r>
          </a:p>
          <a:p>
            <a:pPr marL="928688" indent="-449263" fontAlgn="base">
              <a:buFont typeface="Wingdings" charset="2"/>
              <a:buChar char="q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 understand how to prove that all circles are similar by contradiction. </a:t>
            </a:r>
          </a:p>
          <a:p>
            <a:pPr marL="928688" indent="-449263" fontAlgn="base">
              <a:buFont typeface="Wingdings" charset="2"/>
              <a:buChar char="q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 need support on how to prove that all circles are similar by contradiction. 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1258</TotalTime>
  <Words>727</Words>
  <Application>Microsoft Macintosh PowerPoint</Application>
  <PresentationFormat>Widescreen</PresentationFormat>
  <Paragraphs>213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 Black</vt:lpstr>
      <vt:lpstr>Calibri</vt:lpstr>
      <vt:lpstr>Cambria</vt:lpstr>
      <vt:lpstr>Cambria Math</vt:lpstr>
      <vt:lpstr>Century Gothic</vt:lpstr>
      <vt:lpstr>Times New Roman</vt:lpstr>
      <vt:lpstr>Verdana</vt:lpstr>
      <vt:lpstr>Wingdings</vt:lpstr>
      <vt:lpstr>Arial</vt:lpstr>
      <vt:lpstr>1_Office Theme</vt:lpstr>
      <vt:lpstr>Geometry  Unit 6, Lesson H2  Proofs by Contradiction  Volume 1, pg. 321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jslater9816@gmail.com</cp:lastModifiedBy>
  <cp:revision>23</cp:revision>
  <dcterms:created xsi:type="dcterms:W3CDTF">2015-03-17T18:51:18Z</dcterms:created>
  <dcterms:modified xsi:type="dcterms:W3CDTF">2022-07-28T00:14:14Z</dcterms:modified>
</cp:coreProperties>
</file>