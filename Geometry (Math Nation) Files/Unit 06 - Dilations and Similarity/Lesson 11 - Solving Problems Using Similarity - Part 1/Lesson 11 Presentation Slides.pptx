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85" r:id="rId7"/>
    <p:sldId id="286" r:id="rId8"/>
    <p:sldId id="261" r:id="rId9"/>
    <p:sldId id="287" r:id="rId10"/>
    <p:sldId id="288" r:id="rId11"/>
    <p:sldId id="314" r:id="rId12"/>
    <p:sldId id="315" r:id="rId13"/>
    <p:sldId id="345" r:id="rId14"/>
    <p:sldId id="347" r:id="rId15"/>
    <p:sldId id="355" r:id="rId16"/>
    <p:sldId id="356" r:id="rId17"/>
    <p:sldId id="352" r:id="rId18"/>
    <p:sldId id="353" r:id="rId19"/>
    <p:sldId id="357" r:id="rId20"/>
    <p:sldId id="359" r:id="rId21"/>
    <p:sldId id="360" r:id="rId22"/>
    <p:sldId id="306" r:id="rId23"/>
    <p:sldId id="307" r:id="rId24"/>
    <p:sldId id="361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276C46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72051-3A23-2544-99BD-EC23D41E1BCE}" v="3" dt="2024-01-18T16:00:19.470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8908" autoAdjust="0"/>
    <p:restoredTop sz="96159" autoAdjust="0"/>
  </p:normalViewPr>
  <p:slideViewPr>
    <p:cSldViewPr snapToGrid="0">
      <p:cViewPr varScale="1">
        <p:scale>
          <a:sx n="113" d="100"/>
          <a:sy n="113" d="100"/>
        </p:scale>
        <p:origin x="16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56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Ellen Freeman" userId="65f5a77e-75d5-47e0-b99f-d2749fd11cfe" providerId="ADAL" clId="{31172051-3A23-2544-99BD-EC23D41E1BCE}"/>
    <pc:docChg chg="modSld">
      <pc:chgData name="Mary Ellen Freeman" userId="65f5a77e-75d5-47e0-b99f-d2749fd11cfe" providerId="ADAL" clId="{31172051-3A23-2544-99BD-EC23D41E1BCE}" dt="2024-01-18T16:00:19.470" v="2" actId="20577"/>
      <pc:docMkLst>
        <pc:docMk/>
      </pc:docMkLst>
      <pc:sldChg chg="modSp">
        <pc:chgData name="Mary Ellen Freeman" userId="65f5a77e-75d5-47e0-b99f-d2749fd11cfe" providerId="ADAL" clId="{31172051-3A23-2544-99BD-EC23D41E1BCE}" dt="2024-01-18T16:00:19.470" v="2" actId="20577"/>
        <pc:sldMkLst>
          <pc:docMk/>
          <pc:sldMk cId="553995615" sldId="307"/>
        </pc:sldMkLst>
        <pc:spChg chg="mod">
          <ac:chgData name="Mary Ellen Freeman" userId="65f5a77e-75d5-47e0-b99f-d2749fd11cfe" providerId="ADAL" clId="{31172051-3A23-2544-99BD-EC23D41E1BCE}" dt="2024-01-18T16:00:19.470" v="2" actId="20577"/>
          <ac:spMkLst>
            <pc:docMk/>
            <pc:sldMk cId="553995615" sldId="307"/>
            <ac:spMk id="12" creationId="{0370EDB7-6994-3D43-ABF9-E04CBAFB9CD9}"/>
          </ac:spMkLst>
        </pc:spChg>
      </pc:sldChg>
      <pc:sldChg chg="modSp">
        <pc:chgData name="Mary Ellen Freeman" userId="65f5a77e-75d5-47e0-b99f-d2749fd11cfe" providerId="ADAL" clId="{31172051-3A23-2544-99BD-EC23D41E1BCE}" dt="2024-01-18T15:41:05.704" v="0" actId="20577"/>
        <pc:sldMkLst>
          <pc:docMk/>
          <pc:sldMk cId="1486469708" sldId="355"/>
        </pc:sldMkLst>
        <pc:graphicFrameChg chg="mod">
          <ac:chgData name="Mary Ellen Freeman" userId="65f5a77e-75d5-47e0-b99f-d2749fd11cfe" providerId="ADAL" clId="{31172051-3A23-2544-99BD-EC23D41E1BCE}" dt="2024-01-18T15:41:05.704" v="0" actId="20577"/>
          <ac:graphicFrameMkLst>
            <pc:docMk/>
            <pc:sldMk cId="1486469708" sldId="355"/>
            <ac:graphicFrameMk id="3" creationId="{A5CDE596-2C4C-A047-80F2-2842CCCF39C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1882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74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639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9116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858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05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84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099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601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405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2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Using Similarity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353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95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936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04546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MA.912.GR.1.6 </a:t>
            </a:r>
          </a:p>
          <a:p>
            <a:pPr marL="468313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Solve mathematical and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real-world problems involving congruence or similarity in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two-dimensional figures.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65" y="1926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06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4465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306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47165" y="1604555"/>
            <a:ext cx="11279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946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9968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89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854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353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26456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solve mathematical problems involving similarity in two-dimensional figures. </a:t>
            </a:r>
            <a:br>
              <a:rPr lang="en-US" sz="35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61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1079" y="8375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Flatiron Building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79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6568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273028" y="1464551"/>
            <a:ext cx="52194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Flatiron Building,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designed by Daniel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Burnham and built in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1902, is a triangular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22-story building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located in New York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City. The building sits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on a triangular block formed by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5</a:t>
            </a:r>
            <a:r>
              <a:rPr lang="en-US" sz="2000" baseline="30000" dirty="0">
                <a:latin typeface="Verdana" charset="0"/>
                <a:ea typeface="Verdana" charset="0"/>
                <a:cs typeface="Verdana" charset="0"/>
              </a:rPr>
              <a:t>th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Avenue, Broadway, and East 22nd Street. The building got its name from an old-fashioned flat iron.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688F18-6410-6847-85B9-D150C38700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363" y="1481145"/>
            <a:ext cx="2667000" cy="4074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9ADFA9-0FC1-6C4E-A852-263885E505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1738" y="1481145"/>
            <a:ext cx="2473163" cy="19829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25363" y="5037207"/>
            <a:ext cx="83559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963863">
              <a:tabLst>
                <a:tab pos="2963863" algn="l"/>
              </a:tabLst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Although the ground base appears to be 	an isosceles triangle, the base of the Flatiron Building is actually a right triangle. Morgan used a map to draw a triangle that models the base of the building.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16F5411-8EC5-4F44-9076-3A2A8FB224BF}"/>
              </a:ext>
            </a:extLst>
          </p:cNvPr>
          <p:cNvGrpSpPr/>
          <p:nvPr/>
        </p:nvGrpSpPr>
        <p:grpSpPr>
          <a:xfrm>
            <a:off x="7126000" y="995588"/>
            <a:ext cx="2926976" cy="4858475"/>
            <a:chOff x="0" y="0"/>
            <a:chExt cx="2438400" cy="40474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9780F3-E953-2A4B-A8D8-1F4ABA5F0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438400" cy="4047490"/>
            </a:xfrm>
            <a:prstGeom prst="rect">
              <a:avLst/>
            </a:prstGeom>
          </p:spPr>
        </p:pic>
        <p:sp>
          <p:nvSpPr>
            <p:cNvPr id="9" name="Text Box 2">
              <a:extLst>
                <a:ext uri="{FF2B5EF4-FFF2-40B4-BE49-F238E27FC236}">
                  <a16:creationId xmlns:a16="http://schemas.microsoft.com/office/drawing/2014/main" id="{CD398F4C-F60C-E04A-A5FA-FA15844BE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955049">
              <a:off x="409575" y="1551451"/>
              <a:ext cx="1524634" cy="307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Fifth Ave.</a:t>
              </a:r>
              <a:endParaRPr lang="x-none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ADD723DD-1E23-4340-AAF8-D9071D7FA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509290">
              <a:off x="1200150" y="2056275"/>
              <a:ext cx="1524634" cy="307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Broadway</a:t>
              </a:r>
              <a:endParaRPr lang="x-none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61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045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75557" y="366448"/>
            <a:ext cx="11323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What other measurement should Morgan check to be sure her drawing is similar to the building?</a:t>
            </a:r>
          </a:p>
          <a:p>
            <a:pPr lvl="0"/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3304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9011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99717" y="-2901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6.11.2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Similar Figures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9909" y="19314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349909" y="1386025"/>
                <a:ext cx="96188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𝑇𝑁𝑅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 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𝑇𝑁𝑅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09" y="1386025"/>
                <a:ext cx="9618854" cy="400110"/>
              </a:xfrm>
              <a:prstGeom prst="rect">
                <a:avLst/>
              </a:prstGeom>
              <a:blipFill>
                <a:blip r:embed="rId5"/>
                <a:stretch>
                  <a:fillRect l="-660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D81ADB8-B52A-0C44-8179-9216ABAB4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153" y="1786135"/>
            <a:ext cx="5508277" cy="3530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12321" y="1947692"/>
                <a:ext cx="9691050" cy="393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60425" indent="-392113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Some measurements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of the angles in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𝐶𝐾𝑉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𝑇𝑁𝑅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br>
                  <a:rPr lang="en-PH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 given.</a:t>
                </a:r>
              </a:p>
              <a:p>
                <a:pPr marL="889000" indent="-14288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𝑇𝑅𝑁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𝑉𝐶𝐾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+26)°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:br>
                  <a:rPr lang="en-PH" sz="2000" i="1" dirty="0">
                    <a:latin typeface="Cambria Math" panose="02040503050406030204" pitchFamily="18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𝑅𝑇𝑁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=(12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−8)°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68312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each. </a:t>
                </a:r>
              </a:p>
              <a:p>
                <a:pPr marL="88900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 __________     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𝑚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𝐶𝐾𝑉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  __________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21" y="1947692"/>
                <a:ext cx="9691050" cy="3939540"/>
              </a:xfrm>
              <a:prstGeom prst="rect">
                <a:avLst/>
              </a:prstGeom>
              <a:blipFill>
                <a:blip r:embed="rId7"/>
                <a:stretch>
                  <a:fillRect t="-965" b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9037" y="373248"/>
                <a:ext cx="985433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Some measurements of the sides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𝐶𝐾𝑉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𝑇𝑁𝑅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given. </a:t>
                </a:r>
              </a:p>
              <a:p>
                <a:pPr marL="4524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indent="493713"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+1.7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=5.4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−1.25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</a:p>
              <a:p>
                <a:pPr marL="1439863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=5.25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889000" indent="-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scale factor from ∆𝐶𝐾𝑉 to ∆𝑇𝑁𝑅?</a:t>
                </a: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each variable.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𝑧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=__________      			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=__________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8525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measure of each side.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𝐶𝐾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=__________     		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𝑇𝑅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=__________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37" y="373248"/>
                <a:ext cx="9854336" cy="5632311"/>
              </a:xfrm>
              <a:prstGeom prst="rect">
                <a:avLst/>
              </a:prstGeom>
              <a:blipFill>
                <a:blip r:embed="rId4"/>
                <a:stretch>
                  <a:fillRect t="-676" b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52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796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67394" y="378351"/>
                <a:ext cx="101114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𝐾𝑉𝑅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𝐾𝐶𝑁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are shown,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𝐾𝑉𝑅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𝐾𝐶𝑁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94" y="378351"/>
                <a:ext cx="10111422" cy="461665"/>
              </a:xfrm>
              <a:prstGeom prst="rect">
                <a:avLst/>
              </a:prstGeom>
              <a:blipFill>
                <a:blip r:embed="rId4"/>
                <a:stretch>
                  <a:fillRect l="-87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E0E2C84-2D75-744E-A0CE-BAAB8363F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065" y="922551"/>
            <a:ext cx="5563870" cy="3057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6CC57-0645-B242-AB79-3E755FC4DDF1}"/>
                  </a:ext>
                </a:extLst>
              </p:cNvPr>
              <p:cNvSpPr txBox="1"/>
              <p:nvPr/>
            </p:nvSpPr>
            <p:spPr>
              <a:xfrm>
                <a:off x="1979729" y="4159293"/>
                <a:ext cx="835517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93713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Some measurements of the sides are given. </a:t>
                </a:r>
              </a:p>
              <a:p>
                <a:pPr indent="493713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=4.6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−11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=11.5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and</a:t>
                </a:r>
              </a:p>
              <a:p>
                <a:pPr indent="493713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6CC57-0645-B242-AB79-3E755FC4D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29" y="4159293"/>
                <a:ext cx="8355172" cy="1200329"/>
              </a:xfrm>
              <a:prstGeom prst="rect">
                <a:avLst/>
              </a:prstGeom>
              <a:blipFill>
                <a:blip r:embed="rId6"/>
                <a:stretch>
                  <a:fillRect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21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72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42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742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36814" y="373248"/>
                <a:ext cx="9269897" cy="831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Maria used the information to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𝐾𝐶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Her work is shown.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4" y="373248"/>
                <a:ext cx="9269897" cy="831766"/>
              </a:xfrm>
              <a:prstGeom prst="rect">
                <a:avLst/>
              </a:prstGeom>
              <a:blipFill>
                <a:blip r:embed="rId4"/>
                <a:stretch>
                  <a:fillRect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5CDE596-2C4C-A047-80F2-2842CCCF3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0746757"/>
                  </p:ext>
                </p:extLst>
              </p:nvPr>
            </p:nvGraphicFramePr>
            <p:xfrm>
              <a:off x="2543865" y="1315376"/>
              <a:ext cx="7560000" cy="3807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141529809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120271668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Maria’s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21318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First, Maria found the scale factor.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𝑁𝐶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𝑅𝑉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11.5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4.6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7797046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Second, she used the scale factor to write an equation. Then solved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−11=2.5(3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−11=7.5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+2.5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−2.5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=13.5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=−5.4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193966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Lastly, she substituted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into an equation.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=3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−5.4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𝐾𝐶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=−15.2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57070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5CDE596-2C4C-A047-80F2-2842CCCF39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0746757"/>
                  </p:ext>
                </p:extLst>
              </p:nvPr>
            </p:nvGraphicFramePr>
            <p:xfrm>
              <a:off x="2543865" y="1315376"/>
              <a:ext cx="7560000" cy="3807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141529809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120271668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Maria’s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213183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First, Maria found the scale factor.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0211" t="-53521" r="-704" b="-27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7797046"/>
                      </a:ext>
                    </a:extLst>
                  </a:tr>
                  <a:tr h="1539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89344" r="-91667" b="-5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0211" t="-89344" r="-704" b="-5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1939665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325352" r="-9166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0211" t="-325352" r="-704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57070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BBA9D88-A451-5046-BE18-CCA7F7257191}"/>
              </a:ext>
            </a:extLst>
          </p:cNvPr>
          <p:cNvSpPr txBox="1"/>
          <p:nvPr/>
        </p:nvSpPr>
        <p:spPr>
          <a:xfrm>
            <a:off x="636814" y="5248658"/>
            <a:ext cx="10031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438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Maria knows side lengths cannot be negative values, but she does not know what she did wrong. </a:t>
            </a:r>
          </a:p>
        </p:txBody>
      </p:sp>
    </p:spTree>
    <p:extLst>
      <p:ext uri="{BB962C8B-B14F-4D97-AF65-F5344CB8AC3E}">
        <p14:creationId xmlns:p14="http://schemas.microsoft.com/office/powerpoint/2010/main" val="1486469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77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16379" y="377837"/>
            <a:ext cx="114544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Find and circle Maria’s error. </a:t>
            </a:r>
          </a:p>
          <a:p>
            <a:pPr marL="889000" indent="-457200">
              <a:buFont typeface="+mj-lt"/>
              <a:buAutoNum type="alphaL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889000" indent="-457200">
              <a:buFont typeface="+mj-lt"/>
              <a:buAutoNum type="alphaL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889000" indent="-45720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Write a note to Maria explaining what her mistake was and how she can learn from the mistake.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447240" y="2659004"/>
            <a:ext cx="5385126" cy="3870234"/>
            <a:chOff x="1661146" y="2659004"/>
            <a:chExt cx="5385126" cy="387023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645FA05-3148-DB4F-8D22-4D89AE61B24D}"/>
                </a:ext>
              </a:extLst>
            </p:cNvPr>
            <p:cNvSpPr/>
            <p:nvPr/>
          </p:nvSpPr>
          <p:spPr>
            <a:xfrm>
              <a:off x="3822480" y="2659004"/>
              <a:ext cx="3223792" cy="3870234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x-none" sz="1200" i="1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E80BA3D-73EB-5F4A-A872-24A94C6F44D1}"/>
                </a:ext>
              </a:extLst>
            </p:cNvPr>
            <p:cNvSpPr/>
            <p:nvPr/>
          </p:nvSpPr>
          <p:spPr>
            <a:xfrm>
              <a:off x="1661146" y="3218048"/>
              <a:ext cx="2024700" cy="2752146"/>
            </a:xfrm>
            <a:prstGeom prst="roundRect">
              <a:avLst>
                <a:gd name="adj" fmla="val 16667"/>
              </a:avLst>
            </a:prstGeom>
            <a:solidFill>
              <a:srgbClr val="DAE5F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r>
                <a:rPr lang="en-US" sz="2000" b="1" dirty="0">
                  <a:solidFill>
                    <a:srgbClr val="DB2B2A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eans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F2575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E9923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FACD1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 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7BA43F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cquire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24B7D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nowledge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1B74B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xperience 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dirty="0">
                  <a:solidFill>
                    <a:srgbClr val="4A2B7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kills</a:t>
              </a:r>
              <a:r>
                <a: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62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915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8814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356</a:t>
            </a:r>
          </a:p>
        </p:txBody>
      </p:sp>
      <p:pic>
        <p:nvPicPr>
          <p:cNvPr id="7" name="image12.png" descr="Icon&#10;&#10;Description automatically generated">
            <a:extLst>
              <a:ext uri="{FF2B5EF4-FFF2-40B4-BE49-F238E27FC236}">
                <a16:creationId xmlns:a16="http://schemas.microsoft.com/office/drawing/2014/main" id="{1B8C2C28-EADD-8542-9F33-C497B0A7204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64806" y="2766146"/>
            <a:ext cx="1154347" cy="11543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440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FA57A3-FEB8-1543-83E4-A3A483252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776" y="1490902"/>
            <a:ext cx="4591050" cy="457644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99717" y="299846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6.11.3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46226" y="1090792"/>
                <a:ext cx="9957145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𝐺𝑀𝑅𝐾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𝑃𝑆𝐻𝐷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𝐺𝑀𝑅𝐾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~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𝑃𝑆𝐻𝐷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57188" indent="-357188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Some measurements of the sides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𝐺𝑀𝑅𝐾 and 𝑃𝑆𝐻𝐷 are given. </a:t>
                </a:r>
              </a:p>
              <a:p>
                <a:pPr marL="4524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=9.6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=12.8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variable.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 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</a:t>
                </a:r>
                <a:endParaRPr lang="x-none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26" y="1090792"/>
                <a:ext cx="9957145" cy="5324535"/>
              </a:xfrm>
              <a:prstGeom prst="rect">
                <a:avLst/>
              </a:prstGeom>
              <a:blipFill>
                <a:blip r:embed="rId5"/>
                <a:stretch>
                  <a:fillRect l="-637" t="-476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673299AB-DD24-954F-A811-09DA39240AE1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6226" y="186999"/>
            <a:ext cx="753491" cy="7534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4048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16379" y="373249"/>
            <a:ext cx="96053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value of each side. 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8937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𝐺𝑀=__________       𝐷𝐻=__________       </a:t>
            </a:r>
          </a:p>
          <a:p>
            <a:pPr marL="8937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8937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𝑆𝐻=__________</a:t>
            </a:r>
          </a:p>
          <a:p>
            <a:pPr marL="8937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perimeter of 𝐺𝑀𝑅𝐾?</a:t>
            </a:r>
          </a:p>
        </p:txBody>
      </p:sp>
    </p:spTree>
    <p:extLst>
      <p:ext uri="{BB962C8B-B14F-4D97-AF65-F5344CB8AC3E}">
        <p14:creationId xmlns:p14="http://schemas.microsoft.com/office/powerpoint/2010/main" val="46755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1886" y="392474"/>
                <a:ext cx="962956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Some measurements of the angles of 𝐺𝑀𝑅𝐾 and 𝑃𝑆𝐻𝐷 are given.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𝐾𝐺𝑀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=(11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𝐺𝑀𝑅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=110°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</a:p>
              <a:p>
                <a:pPr marL="452438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𝐺𝐾𝑅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+18)°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𝐷𝑃𝑆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+24)°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𝑃𝐷𝐻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=(8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each variable.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  	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    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392474"/>
                <a:ext cx="9629561" cy="5632311"/>
              </a:xfrm>
              <a:prstGeom prst="rect">
                <a:avLst/>
              </a:prstGeom>
              <a:blipFill>
                <a:blip r:embed="rId4"/>
                <a:stretch>
                  <a:fillRect t="-1124" r="-1053" b="-1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907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1887" y="454892"/>
                <a:ext cx="1136468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each angle.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308475" indent="-3414713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𝐾𝐺𝑀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𝐷𝐻𝑆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=_________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9371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937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𝑚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𝑃𝐷𝐻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7" y="454892"/>
                <a:ext cx="11364684" cy="3785652"/>
              </a:xfrm>
              <a:prstGeom prst="rect">
                <a:avLst/>
              </a:prstGeom>
              <a:blipFill>
                <a:blip r:embed="rId4"/>
                <a:stretch>
                  <a:fillRect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617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71E92C-B129-0845-AB91-138F53C7E3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89" r="3725" b="9246"/>
          <a:stretch/>
        </p:blipFill>
        <p:spPr bwMode="auto">
          <a:xfrm>
            <a:off x="2706537" y="3773642"/>
            <a:ext cx="6728093" cy="28498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-7456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87490" y="329514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6.11.4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190" y="2236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340190" y="1095985"/>
                <a:ext cx="1166947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Cheryl and Austin are finding the measure of side 𝑆𝐶. They were given the following information about similar quadrilaterals 𝑍𝑆𝐶𝐹 and 𝑌𝑇𝑃𝐵 that are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2438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𝑍𝑆𝐶𝐹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𝑌𝑇𝑃𝐵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=15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+6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=22.5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90" y="1095985"/>
                <a:ext cx="11669473" cy="1938992"/>
              </a:xfrm>
              <a:prstGeom prst="rect">
                <a:avLst/>
              </a:prstGeom>
              <a:blipFill>
                <a:blip r:embed="rId6"/>
                <a:stretch>
                  <a:fillRect l="-761" t="-3247" r="-109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8305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18507" y="374945"/>
            <a:ext cx="8851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438"/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Cheryl’s and Austin’s equations are shown.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FC0028D-32D8-1C4E-8950-DD55564D4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7321291"/>
                  </p:ext>
                </p:extLst>
              </p:nvPr>
            </p:nvGraphicFramePr>
            <p:xfrm>
              <a:off x="2605887" y="928724"/>
              <a:ext cx="6736080" cy="11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68040">
                      <a:extLst>
                        <a:ext uri="{9D8B030D-6E8A-4147-A177-3AD203B41FA5}">
                          <a16:colId xmlns:a16="http://schemas.microsoft.com/office/drawing/2014/main" val="3295304526"/>
                        </a:ext>
                      </a:extLst>
                    </a:gridCol>
                    <a:gridCol w="3368040">
                      <a:extLst>
                        <a:ext uri="{9D8B030D-6E8A-4147-A177-3AD203B41FA5}">
                          <a16:colId xmlns:a16="http://schemas.microsoft.com/office/drawing/2014/main" val="213442158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Cheryl’s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Austin’s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9392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−8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=22.5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1.5(5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−8)=3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26753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FC0028D-32D8-1C4E-8950-DD55564D40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7321291"/>
                  </p:ext>
                </p:extLst>
              </p:nvPr>
            </p:nvGraphicFramePr>
            <p:xfrm>
              <a:off x="2605887" y="928724"/>
              <a:ext cx="6736080" cy="11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68040">
                      <a:extLst>
                        <a:ext uri="{9D8B030D-6E8A-4147-A177-3AD203B41FA5}">
                          <a16:colId xmlns:a16="http://schemas.microsoft.com/office/drawing/2014/main" val="3295304526"/>
                        </a:ext>
                      </a:extLst>
                    </a:gridCol>
                    <a:gridCol w="3368040">
                      <a:extLst>
                        <a:ext uri="{9D8B030D-6E8A-4147-A177-3AD203B41FA5}">
                          <a16:colId xmlns:a16="http://schemas.microsoft.com/office/drawing/2014/main" val="213442158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Cheryl’s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Austin’s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93928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6" t="-66667" r="-100376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55" t="-66667" r="-755" b="-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6753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FCA5B5-8FD2-7146-B432-6B58A3DB129A}"/>
                  </a:ext>
                </a:extLst>
              </p:cNvPr>
              <p:cNvSpPr txBox="1"/>
              <p:nvPr/>
            </p:nvSpPr>
            <p:spPr>
              <a:xfrm>
                <a:off x="432707" y="2390955"/>
                <a:ext cx="9423184" cy="3047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66788" indent="-5143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Determine whose equation, if any, is set up incorrectly. Show your work or write an explanation.</a:t>
                </a:r>
              </a:p>
              <a:p>
                <a:pPr marL="893763" indent="-4413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93763" indent="-4413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 </a:t>
                </a:r>
              </a:p>
              <a:p>
                <a:pPr marL="893763" indent="-4413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93763" indent="-4413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66788" indent="-514350">
                  <a:buFont typeface="+mj-lt"/>
                  <a:buAutoNum type="alphaLcPeriod" startAt="2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893763" indent="-4413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FCA5B5-8FD2-7146-B432-6B58A3DB1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07" y="2390955"/>
                <a:ext cx="9423184" cy="3047757"/>
              </a:xfrm>
              <a:prstGeom prst="rect">
                <a:avLst/>
              </a:prstGeom>
              <a:blipFill>
                <a:blip r:embed="rId5"/>
                <a:stretch>
                  <a:fillRect t="-1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0607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5" ma:contentTypeDescription="Create a new document." ma:contentTypeScope="" ma:versionID="dc2e7c46903a19026ffd9241c4aab9a4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1ddb56356d319bfd686db11b81a9c6e4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BE1E0F-DFFA-432D-AD32-676854E437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180700-E7D3-467A-A9BC-580F8ED1ECF5}">
  <ds:schemaRefs>
    <ds:schemaRef ds:uri="c8f36ed4-5234-49bf-a7f7-5f171c3a2f56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aecc3118-db6a-47b0-8115-3eb3ee12f279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7BC34DA-E66A-4A9C-BDC9-1DAB9BEC8F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1122</Words>
  <Application>Microsoft Macintosh PowerPoint</Application>
  <PresentationFormat>Widescreen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6, Lesson 11  Solving Problems Using Similarity – Part 1  Volume 1, pg. 353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Mary Ellen Freeman</cp:lastModifiedBy>
  <cp:revision>28</cp:revision>
  <dcterms:created xsi:type="dcterms:W3CDTF">2015-03-17T18:51:18Z</dcterms:created>
  <dcterms:modified xsi:type="dcterms:W3CDTF">2024-01-18T16:00:28Z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