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342" r:id="rId8"/>
    <p:sldId id="343" r:id="rId9"/>
    <p:sldId id="344" r:id="rId10"/>
    <p:sldId id="345" r:id="rId11"/>
    <p:sldId id="346" r:id="rId12"/>
    <p:sldId id="347" r:id="rId13"/>
    <p:sldId id="351" r:id="rId14"/>
    <p:sldId id="348" r:id="rId15"/>
    <p:sldId id="349" r:id="rId16"/>
    <p:sldId id="350" r:id="rId17"/>
    <p:sldId id="352" r:id="rId18"/>
    <p:sldId id="353" r:id="rId19"/>
    <p:sldId id="354" r:id="rId20"/>
    <p:sldId id="355" r:id="rId21"/>
    <p:sldId id="306" r:id="rId22"/>
    <p:sldId id="307" r:id="rId23"/>
    <p:sldId id="341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7DBF"/>
    <a:srgbClr val="E24E5F"/>
    <a:srgbClr val="276C46"/>
    <a:srgbClr val="C9DF6F"/>
    <a:srgbClr val="3F2A67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956"/>
    <p:restoredTop sz="94622"/>
  </p:normalViewPr>
  <p:slideViewPr>
    <p:cSldViewPr snapToGrid="0">
      <p:cViewPr varScale="1">
        <p:scale>
          <a:sx n="78" d="100"/>
          <a:sy n="78" d="100"/>
        </p:scale>
        <p:origin x="374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7543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09539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2925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36940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97003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64677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78927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49195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96494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53936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94590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07393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11382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57463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4968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4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Sequence of Transformations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301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02200" y="-71137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00" y="21806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739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354899" y="1600200"/>
            <a:ext cx="1149924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MA.912.GR.2.2 </a:t>
            </a:r>
          </a:p>
          <a:p>
            <a:pPr marL="468313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Identify transformations that do or do not preserve distance.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MA.912.GR.2.3 </a:t>
            </a:r>
          </a:p>
          <a:p>
            <a:pPr marL="468313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Specify a sequence of transformations that will map a given figure onto itself or onto another congruent or similar figure.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590" y="19350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94499" y="-45669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301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385590" y="1596390"/>
            <a:ext cx="1150161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4257" y="617092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2200" y="-90526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00" y="19867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960257" y="644233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301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354899" y="1600200"/>
            <a:ext cx="1152128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represent a sequence of transformations that will map the preimage onto the image. </a:t>
            </a:r>
          </a:p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describe a sequence of transformations that will map the preimage onto the image.</a:t>
            </a:r>
          </a:p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identify transformations that do or do not preserve distance.</a:t>
            </a:r>
          </a:p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use a description of a sequence of transformations to determine if the transformation does or does not preserve distance. 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3785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797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2519850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6.4.1 Warm-Up: Would You Rather?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25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2060449" y="1386025"/>
                <a:ext cx="4183470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Would you rather drive a car at a rate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40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miles per hour, or drive a car at a rate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50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feet per second? Remember: There are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5280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feet in a mile.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8313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Explain your choice using mathematics.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0449" y="1386025"/>
                <a:ext cx="4183470" cy="2862322"/>
              </a:xfrm>
              <a:prstGeom prst="rect">
                <a:avLst/>
              </a:prstGeom>
              <a:blipFill>
                <a:blip r:embed="rId5"/>
                <a:stretch>
                  <a:fillRect l="-1515" t="-881" r="-3636" b="-2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13968" y="1507125"/>
            <a:ext cx="3683000" cy="191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994150" y="649797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302</a:t>
            </a:r>
          </a:p>
        </p:txBody>
      </p:sp>
    </p:spTree>
    <p:extLst>
      <p:ext uri="{BB962C8B-B14F-4D97-AF65-F5344CB8AC3E}">
        <p14:creationId xmlns:p14="http://schemas.microsoft.com/office/powerpoint/2010/main" val="1791770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44369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251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10857" y="-6674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6.4.2 Guided Instruction: Sequence of Transformations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557" y="19192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994150" y="645666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363557" y="1386026"/>
                <a:ext cx="11567710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solidFill>
                      <a:srgbClr val="276C46"/>
                    </a:solidFill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rgbClr val="276C46"/>
                        </a:solidFill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𝐗𝐆𝐅𝐊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the result of a sequence of transformations of 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𝑹𝑺𝑴𝑯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 </a:t>
                </a:r>
                <a:r>
                  <a:rPr lang="en-US" sz="2000" b="1" dirty="0">
                    <a:solidFill>
                      <a:srgbClr val="E24E5F"/>
                    </a:solidFill>
                    <a:latin typeface="Verdana" charset="0"/>
                    <a:ea typeface="Verdana" charset="0"/>
                    <a:cs typeface="Verdana" charset="0"/>
                  </a:rPr>
                  <a:t>red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quadrilateral is the first transformation.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0750" indent="-528638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Describe the first transformation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𝑅𝑆𝑀𝐻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57" y="1386026"/>
                <a:ext cx="11567710" cy="5324535"/>
              </a:xfrm>
              <a:prstGeom prst="rect">
                <a:avLst/>
              </a:prstGeom>
              <a:blipFill>
                <a:blip r:embed="rId5"/>
                <a:stretch>
                  <a:fillRect l="-439" t="-475" r="-1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42065" y="2205647"/>
            <a:ext cx="4563902" cy="368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253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96608" y="520394"/>
                <a:ext cx="9938294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Write the transformation algebraically. 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Describe the second transformation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𝑅𝑆𝑀𝐻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that results 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𝑋𝐺𝐹𝐾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Write the transformation algebraically. 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Explain if the sequence of transformations preserves distance.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608" y="520394"/>
                <a:ext cx="9938294" cy="4093428"/>
              </a:xfrm>
              <a:prstGeom prst="rect">
                <a:avLst/>
              </a:prstGeom>
              <a:blipFill>
                <a:blip r:embed="rId4"/>
                <a:stretch>
                  <a:fillRect l="-639" t="-617" b="-15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4068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96607" y="520393"/>
                <a:ext cx="99382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solidFill>
                      <a:srgbClr val="E24E5F"/>
                    </a:solidFill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E24E5F"/>
                        </a:solidFill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b="1" i="1">
                        <a:solidFill>
                          <a:srgbClr val="E24E5F"/>
                        </a:solidFill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𝑴𝑻𝑷</m:t>
                    </m:r>
                  </m:oMath>
                </a14:m>
                <a:r>
                  <a:rPr lang="en-US" sz="2000" b="1" dirty="0">
                    <a:solidFill>
                      <a:srgbClr val="E24E5F"/>
                    </a:solidFill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is the result of a sequence of transformations of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417DBF"/>
                        </a:solidFill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b="1" i="1">
                        <a:solidFill>
                          <a:srgbClr val="417DBF"/>
                        </a:solidFill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𝑯𝑵𝑭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607" y="520393"/>
                <a:ext cx="9938294" cy="400110"/>
              </a:xfrm>
              <a:prstGeom prst="rect">
                <a:avLst/>
              </a:prstGeom>
              <a:blipFill>
                <a:blip r:embed="rId4"/>
                <a:stretch>
                  <a:fillRect l="-511"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9189" y="1228279"/>
            <a:ext cx="6310665" cy="5300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8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695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63558" y="520393"/>
                <a:ext cx="1142449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the sequence of transformations that will map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𝐻𝑁𝐹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onto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𝑀𝑇𝑃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Complete the table.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58" y="520393"/>
                <a:ext cx="11424490" cy="707886"/>
              </a:xfrm>
              <a:prstGeom prst="rect">
                <a:avLst/>
              </a:prstGeom>
              <a:blipFill>
                <a:blip r:embed="rId4"/>
                <a:stretch>
                  <a:fillRect l="-555" t="-3509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0560556"/>
                  </p:ext>
                </p:extLst>
              </p:nvPr>
            </p:nvGraphicFramePr>
            <p:xfrm>
              <a:off x="2156143" y="1598772"/>
              <a:ext cx="7896833" cy="404304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5226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1779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2677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6037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548DD4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∆</m:t>
                              </m:r>
                              <m:r>
                                <a:rPr lang="en-US" sz="2000" b="1" i="1">
                                  <a:solidFill>
                                    <a:srgbClr val="548DD4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𝑯𝑵𝑭</m:t>
                              </m:r>
                            </m:oMath>
                          </a14:m>
                          <a:r>
                            <a:rPr lang="en-US" sz="2000" b="1">
                              <a:solidFill>
                                <a:srgbClr val="548DD4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 </a:t>
                          </a: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Transformed to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4F6228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∆</m:t>
                              </m:r>
                              <m:r>
                                <a:rPr lang="en-US" sz="2000" b="1" i="1">
                                  <a:solidFill>
                                    <a:srgbClr val="4F6228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𝑯</m:t>
                              </m:r>
                              <m:r>
                                <a:rPr lang="en-US" sz="2000" b="1" i="1">
                                  <a:solidFill>
                                    <a:srgbClr val="4F6228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′</m:t>
                              </m:r>
                              <m:r>
                                <a:rPr lang="en-US" sz="2000" b="1" i="1">
                                  <a:solidFill>
                                    <a:srgbClr val="4F6228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𝑵</m:t>
                              </m:r>
                              <m:r>
                                <a:rPr lang="en-US" sz="2000" b="1" i="1">
                                  <a:solidFill>
                                    <a:srgbClr val="4F6228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′</m:t>
                              </m:r>
                              <m:r>
                                <a:rPr lang="en-US" sz="2000" b="1" i="1">
                                  <a:solidFill>
                                    <a:srgbClr val="4F6228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𝑭</m:t>
                              </m:r>
                              <m:r>
                                <a:rPr lang="en-US" sz="2000" b="1" i="1">
                                  <a:solidFill>
                                    <a:srgbClr val="4F6228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′</m:t>
                              </m:r>
                            </m:oMath>
                          </a14:m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76923C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∆</m:t>
                              </m:r>
                              <m:r>
                                <a:rPr lang="en-US" sz="2000" b="1" i="1">
                                  <a:solidFill>
                                    <a:srgbClr val="76923C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𝑯</m:t>
                              </m:r>
                              <m:r>
                                <a:rPr lang="en-US" sz="2000" b="1" i="1">
                                  <a:solidFill>
                                    <a:srgbClr val="76923C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′</m:t>
                              </m:r>
                              <m:r>
                                <a:rPr lang="en-US" sz="2000" b="1" i="1">
                                  <a:solidFill>
                                    <a:srgbClr val="76923C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𝑵</m:t>
                              </m:r>
                              <m:r>
                                <a:rPr lang="en-US" sz="2000" b="1" i="1">
                                  <a:solidFill>
                                    <a:srgbClr val="76923C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′</m:t>
                              </m:r>
                              <m:r>
                                <a:rPr lang="en-US" sz="2000" b="1" i="1">
                                  <a:solidFill>
                                    <a:srgbClr val="76923C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𝑭</m:t>
                              </m:r>
                              <m:r>
                                <a:rPr lang="en-US" sz="2000" b="1" i="1">
                                  <a:solidFill>
                                    <a:srgbClr val="76923C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′</m:t>
                              </m:r>
                            </m:oMath>
                          </a14:m>
                          <a:r>
                            <a:rPr lang="en-US" sz="2000" b="1">
                              <a:solidFill>
                                <a:srgbClr val="76923C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 </a:t>
                          </a: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Transformed to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C0504D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∆</m:t>
                              </m:r>
                              <m:r>
                                <a:rPr lang="en-US" sz="2000" b="1" i="1">
                                  <a:solidFill>
                                    <a:srgbClr val="C0504D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𝑴𝑻𝑷</m:t>
                              </m:r>
                            </m:oMath>
                          </a14:m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605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Written Description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66814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Algebraic Description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0560556"/>
                  </p:ext>
                </p:extLst>
              </p:nvPr>
            </p:nvGraphicFramePr>
            <p:xfrm>
              <a:off x="2156143" y="1598772"/>
              <a:ext cx="7896833" cy="404304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5226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1779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2677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4234" r="-97297" b="-34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0233" r="-465" b="-3458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605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Written Description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66814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Algebraic Description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2990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38407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34715" y="520393"/>
                <a:ext cx="11137692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60425" indent="-574675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Explain how to determine if this sequence of transformations preserves distance.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TDNH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the result of a sequence of transformations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𝑋𝑀𝑌𝑉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15" y="520393"/>
                <a:ext cx="11137692" cy="1938992"/>
              </a:xfrm>
              <a:prstGeom prst="rect">
                <a:avLst/>
              </a:prstGeom>
              <a:blipFill>
                <a:blip r:embed="rId4"/>
                <a:stretch>
                  <a:fillRect l="-342" t="-1299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57719" y="2577655"/>
            <a:ext cx="4505135" cy="388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076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7154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85590" y="520393"/>
                <a:ext cx="11457543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a sequence of transformations that will map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𝑋𝑀𝑌𝑉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onto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𝑇𝐷𝑁𝐻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Complete the table.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Which transformations preserve distance?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590" y="520393"/>
                <a:ext cx="11457543" cy="5016758"/>
              </a:xfrm>
              <a:prstGeom prst="rect">
                <a:avLst/>
              </a:prstGeom>
              <a:blipFill>
                <a:blip r:embed="rId4"/>
                <a:stretch>
                  <a:fillRect l="-585" t="-729" r="-213" b="-1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940268"/>
              </p:ext>
            </p:extLst>
          </p:nvPr>
        </p:nvGraphicFramePr>
        <p:xfrm>
          <a:off x="2092629" y="1454789"/>
          <a:ext cx="8242271" cy="3374522"/>
        </p:xfrm>
        <a:graphic>
          <a:graphicData uri="http://schemas.openxmlformats.org/drawingml/2006/table">
            <a:tbl>
              <a:tblPr firstRow="1" firstCol="1" bandRow="1"/>
              <a:tblGrid>
                <a:gridCol w="2132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0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9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040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9178" marR="491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First Transformation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9178" marR="491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Second Transformation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9178" marR="491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472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Written Description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9178" marR="491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9178" marR="491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9178" marR="491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019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Algebraic Description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9178" marR="491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9178" marR="491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9178" marR="491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408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305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8379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0910" y="-3721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68449" y="-3721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6.4.3 Guided Practice: Mapping a Given </a:t>
            </a:r>
            <a:r>
              <a:rPr lang="en-US" sz="32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Preimage Onto </a:t>
            </a: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an Image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305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8641" y="21254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418641" y="1386025"/>
                <a:ext cx="1110500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𝑊𝐵𝑅𝐻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was transformed by a sequence of transformations to create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41" y="1386025"/>
                <a:ext cx="11105002" cy="400110"/>
              </a:xfrm>
              <a:prstGeom prst="rect">
                <a:avLst/>
              </a:prstGeom>
              <a:blipFill>
                <a:blip r:embed="rId5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0300" y="2196051"/>
            <a:ext cx="5158740" cy="430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44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407624" y="520393"/>
            <a:ext cx="115456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Esmeralda and Wesley were determining the sequence of transformations and wrote their answers in the table.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984705"/>
                  </p:ext>
                </p:extLst>
              </p:nvPr>
            </p:nvGraphicFramePr>
            <p:xfrm>
              <a:off x="2144078" y="1589247"/>
              <a:ext cx="8190823" cy="293703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55603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1854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1624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04557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𝑾𝑩𝑹𝑯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charset="0"/>
                            </a:rPr>
                            <a:t> Transformed to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𝑾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′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𝑩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′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𝑹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′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𝑯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′</m:t>
                              </m:r>
                            </m:oMath>
                          </a14:m>
                          <a:endParaRPr lang="en-US" sz="14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𝑾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′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𝑩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′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𝑹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′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𝑯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′</m:t>
                              </m:r>
                            </m:oMath>
                          </a14:m>
                          <a:r>
                            <a:rPr lang="en-US" sz="2000" b="1">
                              <a:effectLst/>
                              <a:latin typeface="Verdana" charset="0"/>
                            </a:rPr>
                            <a:t> Transformed to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𝑾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′′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𝑩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′′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𝑹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′′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𝑯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′′</m:t>
                              </m:r>
                            </m:oMath>
                          </a14:m>
                          <a:endParaRPr lang="en-US" sz="14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4557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</a:rPr>
                            <a:t>Esmeralda’s Answer</a:t>
                          </a:r>
                          <a:endParaRPr lang="en-US" sz="14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Translated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5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 units to the left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 units down</a:t>
                          </a:r>
                          <a:endParaRPr lang="en-US" sz="14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Reflected over the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-axis</a:t>
                          </a:r>
                          <a:endParaRPr lang="en-US" sz="14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4589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</a:rPr>
                            <a:t>Wesley’s Answer</a:t>
                          </a:r>
                          <a:endParaRPr lang="en-US" sz="14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Translated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 units down</a:t>
                          </a:r>
                          <a:endParaRPr lang="en-US" sz="14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Rotated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180°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 about the origin</a:t>
                          </a:r>
                          <a:endParaRPr lang="en-US" sz="14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984705"/>
                  </p:ext>
                </p:extLst>
              </p:nvPr>
            </p:nvGraphicFramePr>
            <p:xfrm>
              <a:off x="2144078" y="1589247"/>
              <a:ext cx="8190823" cy="293703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55603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1854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1624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04557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0991" t="-1205" r="-100901" b="-1831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0991" t="-1205" r="-901" b="-1831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4557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</a:rPr>
                            <a:t>Esmeralda’s Answer</a:t>
                          </a:r>
                          <a:endParaRPr lang="en-US" sz="14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0991" t="-102439" r="-100901" b="-85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0991" t="-102439" r="-901" b="-853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4589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</a:rPr>
                            <a:t>Wesley’s Answer</a:t>
                          </a:r>
                          <a:endParaRPr lang="en-US" sz="14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0991" t="-247761" r="-100901" b="-4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0991" t="-247761" r="-901" b="-44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77427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407624" y="520393"/>
            <a:ext cx="11479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1.    Determine whose sequence of transformations is correct. Explain your reasoning.</a:t>
            </a:r>
          </a:p>
        </p:txBody>
      </p:sp>
    </p:spTree>
    <p:extLst>
      <p:ext uri="{BB962C8B-B14F-4D97-AF65-F5344CB8AC3E}">
        <p14:creationId xmlns:p14="http://schemas.microsoft.com/office/powerpoint/2010/main" val="2049643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061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306</a:t>
            </a:r>
          </a:p>
        </p:txBody>
      </p:sp>
    </p:spTree>
    <p:extLst>
      <p:ext uri="{BB962C8B-B14F-4D97-AF65-F5344CB8AC3E}">
        <p14:creationId xmlns:p14="http://schemas.microsoft.com/office/powerpoint/2010/main" val="2004792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4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8212" y="624101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56638" y="214561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6.4.4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9338" y="214561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9486181-07A1-C74B-A129-E8949F43C159}"/>
              </a:ext>
            </a:extLst>
          </p:cNvPr>
          <p:cNvSpPr txBox="1"/>
          <p:nvPr/>
        </p:nvSpPr>
        <p:spPr>
          <a:xfrm>
            <a:off x="8984212" y="642773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409338" y="1386025"/>
                <a:ext cx="997824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𝑀𝐾𝐵</m:t>
                    </m:r>
                  </m:oMath>
                </a14:m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was transformed to create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𝑉𝑅𝑇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38" y="1386025"/>
                <a:ext cx="9978246" cy="400110"/>
              </a:xfrm>
              <a:prstGeom prst="rect">
                <a:avLst/>
              </a:prstGeom>
              <a:blipFill>
                <a:blip r:embed="rId5"/>
                <a:stretch>
                  <a:fillRect l="-382"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90077" y="1950720"/>
            <a:ext cx="7162927" cy="451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171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63557" y="255989"/>
                <a:ext cx="11490591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Describe a sequence of transformations that will map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𝑀𝐾𝐵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onto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𝑉𝑅𝑇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Write the sequence of transformations using algebraic descriptions.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57" y="255989"/>
                <a:ext cx="11490591" cy="2862322"/>
              </a:xfrm>
              <a:prstGeom prst="rect">
                <a:avLst/>
              </a:prstGeom>
              <a:blipFill>
                <a:blip r:embed="rId4"/>
                <a:stretch>
                  <a:fillRect l="-584" t="-1489" b="-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69844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306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683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306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10857" y="-20447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6.4.5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557" y="19362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363557" y="1386025"/>
                <a:ext cx="113583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sequence of transformations can map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𝑁𝐵𝑅𝑊𝑇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onto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𝑉𝑆𝐻𝐷𝐿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57" y="1386025"/>
                <a:ext cx="11358390" cy="400110"/>
              </a:xfrm>
              <a:prstGeom prst="rect">
                <a:avLst/>
              </a:prstGeom>
              <a:blipFill>
                <a:blip r:embed="rId5"/>
                <a:stretch>
                  <a:fillRect l="-558"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02000" y="2093911"/>
            <a:ext cx="6444324" cy="425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96607" y="520393"/>
                <a:ext cx="1140245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a sequence of transformations that will map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𝑁𝐵𝑅𝑊𝑇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onto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𝑉𝑆𝐻𝐷𝐿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Complete the table.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607" y="520393"/>
                <a:ext cx="11402457" cy="707886"/>
              </a:xfrm>
              <a:prstGeom prst="rect">
                <a:avLst/>
              </a:prstGeom>
              <a:blipFill>
                <a:blip r:embed="rId4"/>
                <a:stretch>
                  <a:fillRect l="-534" t="-4310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347331"/>
              </p:ext>
            </p:extLst>
          </p:nvPr>
        </p:nvGraphicFramePr>
        <p:xfrm>
          <a:off x="2298065" y="1577297"/>
          <a:ext cx="7876831" cy="2735622"/>
        </p:xfrm>
        <a:graphic>
          <a:graphicData uri="http://schemas.openxmlformats.org/drawingml/2006/table">
            <a:tbl>
              <a:tblPr firstRow="1" firstCol="1" bandRow="1"/>
              <a:tblGrid>
                <a:gridCol w="2037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9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9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604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First Transformation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Second Transformation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979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Written Description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979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Algebraic Description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174109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1301</TotalTime>
  <Words>801</Words>
  <Application>Microsoft Office PowerPoint</Application>
  <PresentationFormat>Widescreen</PresentationFormat>
  <Paragraphs>181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Wingdings</vt:lpstr>
      <vt:lpstr>1_Office Theme</vt:lpstr>
      <vt:lpstr>Geometry  Unit 6, Lesson 4  Sequence of Transformations  Volume 1, pg. 301  </vt:lpstr>
      <vt:lpstr>Benchmarks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Morgan Palomino</cp:lastModifiedBy>
  <cp:revision>24</cp:revision>
  <dcterms:created xsi:type="dcterms:W3CDTF">2015-03-17T18:51:18Z</dcterms:created>
  <dcterms:modified xsi:type="dcterms:W3CDTF">2023-02-28T14:39:47Z</dcterms:modified>
</cp:coreProperties>
</file>