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85" r:id="rId4"/>
    <p:sldId id="286" r:id="rId5"/>
    <p:sldId id="261" r:id="rId6"/>
    <p:sldId id="287" r:id="rId7"/>
    <p:sldId id="288" r:id="rId8"/>
    <p:sldId id="342" r:id="rId9"/>
    <p:sldId id="343" r:id="rId10"/>
    <p:sldId id="344" r:id="rId11"/>
    <p:sldId id="345" r:id="rId12"/>
    <p:sldId id="346" r:id="rId13"/>
    <p:sldId id="347" r:id="rId14"/>
    <p:sldId id="348" r:id="rId15"/>
    <p:sldId id="358" r:id="rId16"/>
    <p:sldId id="349" r:id="rId17"/>
    <p:sldId id="350" r:id="rId18"/>
    <p:sldId id="351" r:id="rId19"/>
    <p:sldId id="353" r:id="rId20"/>
    <p:sldId id="354" r:id="rId21"/>
    <p:sldId id="355" r:id="rId22"/>
    <p:sldId id="357" r:id="rId23"/>
    <p:sldId id="306" r:id="rId24"/>
    <p:sldId id="307" r:id="rId2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76C46"/>
    <a:srgbClr val="C9DF6F"/>
    <a:srgbClr val="417DBF"/>
    <a:srgbClr val="3F2A67"/>
    <a:srgbClr val="E24E5F"/>
    <a:srgbClr val="26B7D4"/>
    <a:srgbClr val="54B5D1"/>
    <a:srgbClr val="33BEA6"/>
    <a:srgbClr val="2DA48F"/>
    <a:srgbClr val="52BD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13" autoAdjust="0"/>
    <p:restoredTop sz="94674"/>
  </p:normalViewPr>
  <p:slideViewPr>
    <p:cSldViewPr snapToGrid="0">
      <p:cViewPr varScale="1">
        <p:scale>
          <a:sx n="82" d="100"/>
          <a:sy n="82" d="100"/>
        </p:scale>
        <p:origin x="538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6478492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312766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174840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334715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90397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284229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02074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76000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2087064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9637654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975158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428317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078389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935823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4722681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4853229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0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6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9.png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2.jpe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3.jpeg"/><Relationship Id="rId4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A3BF60F1-A9D6-B043-9905-FB1D55DD5BC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0503" y="1918611"/>
            <a:ext cx="2973100" cy="34657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Google Shape;261;g104476d1465_0_0"/>
          <p:cNvSpPr txBox="1">
            <a:spLocks/>
          </p:cNvSpPr>
          <p:nvPr/>
        </p:nvSpPr>
        <p:spPr>
          <a:xfrm>
            <a:off x="5742834" y="2054277"/>
            <a:ext cx="4925167" cy="3194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Geometry</a:t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40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6, Lesson 3</a:t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Preserving Distance</a:t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296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" name="Google Shape;279;g104476d1465_1_17"/>
          <p:cNvSpPr txBox="1">
            <a:spLocks/>
          </p:cNvSpPr>
          <p:nvPr/>
        </p:nvSpPr>
        <p:spPr>
          <a:xfrm>
            <a:off x="1124050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Benchmarks</a:t>
            </a:r>
            <a:endParaRPr lang="en-US"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14000" y="1600200"/>
            <a:ext cx="1111415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5250" indent="0">
              <a:buNone/>
            </a:pPr>
            <a:r>
              <a:rPr lang="en-US" sz="2600" dirty="0">
                <a:latin typeface="Verdana" charset="0"/>
                <a:ea typeface="Verdana" charset="0"/>
                <a:cs typeface="Verdana" charset="0"/>
              </a:rPr>
              <a:t>MA.912.GR.2.2 </a:t>
            </a:r>
          </a:p>
          <a:p>
            <a:pPr marL="468313" indent="0">
              <a:buNone/>
            </a:pPr>
            <a:r>
              <a:rPr lang="en-US" sz="2600" dirty="0">
                <a:latin typeface="Verdana" charset="0"/>
                <a:ea typeface="Verdana" charset="0"/>
                <a:cs typeface="Verdana" charset="0"/>
              </a:rPr>
              <a:t>Identify transformations that do or do not preserve distance. </a:t>
            </a:r>
          </a:p>
          <a:p>
            <a:pPr marL="95250" indent="0">
              <a:buNone/>
            </a:pPr>
            <a:r>
              <a:rPr lang="en-US" sz="2600" dirty="0">
                <a:latin typeface="Verdana" charset="0"/>
                <a:ea typeface="Verdana" charset="0"/>
                <a:cs typeface="Verdana" charset="0"/>
              </a:rPr>
              <a:t> </a:t>
            </a:r>
          </a:p>
          <a:p>
            <a:pPr marL="95250" indent="0">
              <a:buNone/>
            </a:pPr>
            <a:r>
              <a:rPr lang="en-US" sz="2600" dirty="0">
                <a:latin typeface="Verdana" charset="0"/>
                <a:ea typeface="Verdana" charset="0"/>
                <a:cs typeface="Verdana" charset="0"/>
              </a:rPr>
              <a:t>MA.912.GR.2.3 </a:t>
            </a:r>
          </a:p>
          <a:p>
            <a:pPr marL="468313" indent="0">
              <a:buNone/>
            </a:pPr>
            <a:r>
              <a:rPr lang="en-US" sz="2600" dirty="0">
                <a:latin typeface="Verdana" charset="0"/>
                <a:ea typeface="Verdana" charset="0"/>
                <a:cs typeface="Verdana" charset="0"/>
              </a:rPr>
              <a:t>Identify a sequence of transformations that will map a given figure onto itself or onto another congruent or similar figure.</a:t>
            </a:r>
          </a:p>
          <a:p>
            <a:pPr marL="95250" indent="0">
              <a:buNone/>
            </a:pPr>
            <a:r>
              <a:rPr lang="en-US" sz="2600" dirty="0">
                <a:latin typeface="Verdana" charset="0"/>
                <a:ea typeface="Verdana" charset="0"/>
                <a:cs typeface="Verdana" charset="0"/>
              </a:rPr>
              <a:t> </a:t>
            </a:r>
          </a:p>
          <a:p>
            <a:pPr marL="95250" indent="0">
              <a:buNone/>
            </a:pPr>
            <a:r>
              <a:rPr lang="en-US" sz="2600" dirty="0">
                <a:latin typeface="Verdana" charset="0"/>
                <a:ea typeface="Verdana" charset="0"/>
                <a:cs typeface="Verdana" charset="0"/>
              </a:rPr>
              <a:t>MA.912.GR.2.5 </a:t>
            </a:r>
          </a:p>
          <a:p>
            <a:pPr marL="468313" indent="0">
              <a:buNone/>
            </a:pPr>
            <a:r>
              <a:rPr lang="en-US" sz="2600" dirty="0">
                <a:latin typeface="Verdana" charset="0"/>
                <a:ea typeface="Verdana" charset="0"/>
                <a:cs typeface="Verdana" charset="0"/>
              </a:rPr>
              <a:t>Given a geometric figure and a sequence of transformations, draw the transformed figure   on a coordinate plane.</a:t>
            </a:r>
          </a:p>
        </p:txBody>
      </p:sp>
      <p:sp>
        <p:nvSpPr>
          <p:cNvPr id="12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296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9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54216" y="1596390"/>
            <a:ext cx="9980509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MA.K12.MTR.6.1 Assess the reasonableness of solutions.</a:t>
            </a:r>
          </a:p>
        </p:txBody>
      </p:sp>
      <p:sp>
        <p:nvSpPr>
          <p:cNvPr id="13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54217" y="129667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4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296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296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13375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5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213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6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514000" y="1600200"/>
            <a:ext cx="1100992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85800" indent="-685800">
              <a:buFont typeface="Wingdings" charset="2"/>
              <a:buChar char="q"/>
            </a:pPr>
            <a:r>
              <a:rPr lang="en-US" sz="3000" dirty="0">
                <a:latin typeface="Verdana" charset="0"/>
                <a:ea typeface="Verdana" charset="0"/>
                <a:cs typeface="Verdana" charset="0"/>
              </a:rPr>
              <a:t>I can use a description of a sequence of transformations to determine if the transformation does or does not preserve distance.</a:t>
            </a:r>
          </a:p>
          <a:p>
            <a:pPr marL="685800" indent="-685800">
              <a:buFont typeface="Wingdings" charset="2"/>
              <a:buChar char="q"/>
            </a:pPr>
            <a:endParaRPr lang="en-US" sz="3000" dirty="0">
              <a:latin typeface="Verdana" charset="0"/>
              <a:ea typeface="Verdana" charset="0"/>
              <a:cs typeface="Verdana" charset="0"/>
            </a:endParaRPr>
          </a:p>
          <a:p>
            <a:pPr marL="685800" indent="-685800">
              <a:buFont typeface="Wingdings" charset="2"/>
              <a:buChar char="q"/>
            </a:pPr>
            <a:r>
              <a:rPr lang="en-US" sz="3000" dirty="0">
                <a:latin typeface="Verdana" charset="0"/>
                <a:ea typeface="Verdana" charset="0"/>
                <a:cs typeface="Verdana" charset="0"/>
              </a:rPr>
              <a:t>I can draw a sequence of transformations to determine if the transformation does or does not preserve distance.</a:t>
            </a:r>
          </a:p>
          <a:p>
            <a:pPr marL="685800" indent="-685800">
              <a:buFont typeface="Wingdings" charset="2"/>
              <a:buChar char="q"/>
            </a:pPr>
            <a:endParaRPr lang="en-US" sz="3000" dirty="0">
              <a:latin typeface="Verdana" charset="0"/>
              <a:ea typeface="Verdana" charset="0"/>
              <a:cs typeface="Verdana" charset="0"/>
            </a:endParaRPr>
          </a:p>
          <a:p>
            <a:pPr marL="685800" indent="-685800">
              <a:buFont typeface="Wingdings" charset="2"/>
              <a:buChar char="q"/>
            </a:pPr>
            <a:r>
              <a:rPr lang="en-US" sz="3000" dirty="0">
                <a:latin typeface="Verdana" charset="0"/>
                <a:ea typeface="Verdana" charset="0"/>
                <a:cs typeface="Verdana" charset="0"/>
              </a:rPr>
              <a:t>I can identify transformations that do or do not preserve distance.</a:t>
            </a:r>
          </a:p>
        </p:txBody>
      </p:sp>
      <p:sp>
        <p:nvSpPr>
          <p:cNvPr id="17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296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88785" y="1211089"/>
            <a:ext cx="3237024" cy="4907375"/>
          </a:xfrm>
          <a:prstGeom prst="rect">
            <a:avLst/>
          </a:prstGeom>
        </p:spPr>
      </p:pic>
      <p:sp>
        <p:nvSpPr>
          <p:cNvPr id="9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296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730266" y="1228395"/>
            <a:ext cx="7175484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Artist John Hoskins sketched a drawing of Mary </a:t>
            </a:r>
            <a:r>
              <a:rPr lang="en-US" sz="2000" dirty="0" err="1">
                <a:latin typeface="Verdana" charset="0"/>
                <a:ea typeface="Verdana" charset="0"/>
                <a:cs typeface="Verdana" charset="0"/>
              </a:rPr>
              <a:t>Hawtrey</a:t>
            </a: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, also known as Lady Mary </a:t>
            </a:r>
            <a:r>
              <a:rPr lang="en-US" sz="2000" dirty="0" err="1">
                <a:latin typeface="Verdana" charset="0"/>
                <a:ea typeface="Verdana" charset="0"/>
                <a:cs typeface="Verdana" charset="0"/>
              </a:rPr>
              <a:t>Bankes</a:t>
            </a: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, in 1821. Henry Pierce Bone then used the sketch to create an enamel miniature painting.</a:t>
            </a:r>
          </a:p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 </a:t>
            </a:r>
          </a:p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Following the death of her husband, Lady Mary </a:t>
            </a:r>
            <a:r>
              <a:rPr lang="en-US" sz="2000" dirty="0" err="1">
                <a:latin typeface="Verdana" charset="0"/>
                <a:ea typeface="Verdana" charset="0"/>
                <a:cs typeface="Verdana" charset="0"/>
              </a:rPr>
              <a:t>Bankes</a:t>
            </a: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 successfully defended the </a:t>
            </a:r>
            <a:r>
              <a:rPr lang="en-US" sz="2000" dirty="0" err="1">
                <a:latin typeface="Verdana" charset="0"/>
                <a:ea typeface="Verdana" charset="0"/>
                <a:cs typeface="Verdana" charset="0"/>
              </a:rPr>
              <a:t>Corfe</a:t>
            </a: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 Castle in Dorset, England during a siege in 1643. </a:t>
            </a: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Unfortunately, during a second siege in 1646 the castle was destroyed.</a:t>
            </a:r>
          </a:p>
        </p:txBody>
      </p:sp>
      <p:sp>
        <p:nvSpPr>
          <p:cNvPr id="12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50" y="275689"/>
            <a:ext cx="1083400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6.3.1 Warm-Up: Notice and Wonder</a:t>
            </a:r>
          </a:p>
        </p:txBody>
      </p:sp>
      <p:pic>
        <p:nvPicPr>
          <p:cNvPr id="14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5350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296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AA35BC6-D428-FC41-BDE5-6438AB8840FC}"/>
              </a:ext>
            </a:extLst>
          </p:cNvPr>
          <p:cNvSpPr txBox="1"/>
          <p:nvPr/>
        </p:nvSpPr>
        <p:spPr>
          <a:xfrm>
            <a:off x="540565" y="410666"/>
            <a:ext cx="1101822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What do you notice about the sketch of Lady Mary </a:t>
            </a:r>
            <a:r>
              <a:rPr lang="en-US" sz="2000" dirty="0" err="1">
                <a:latin typeface="Verdana" charset="0"/>
                <a:ea typeface="Verdana" charset="0"/>
                <a:cs typeface="Verdana" charset="0"/>
              </a:rPr>
              <a:t>Bankes</a:t>
            </a: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?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What do you wonder about the sketch of Lady Mary </a:t>
            </a:r>
            <a:r>
              <a:rPr lang="en-US" sz="2000" dirty="0" err="1">
                <a:latin typeface="Verdana" charset="0"/>
                <a:ea typeface="Verdana" charset="0"/>
                <a:cs typeface="Verdana" charset="0"/>
              </a:rPr>
              <a:t>Bankes</a:t>
            </a: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 or her story?</a:t>
            </a:r>
          </a:p>
        </p:txBody>
      </p:sp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26" name="Picture 2" descr="Icon&#10;&#10;Description automatically generated">
            <a:extLst>
              <a:ext uri="{FF2B5EF4-FFF2-40B4-BE49-F238E27FC236}">
                <a16:creationId xmlns:a16="http://schemas.microsoft.com/office/drawing/2014/main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30950" y="2814305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297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641553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297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52D1D4D-DCB8-A246-B186-D40316579D77}"/>
                  </a:ext>
                </a:extLst>
              </p:cNvPr>
              <p:cNvSpPr txBox="1"/>
              <p:nvPr/>
            </p:nvSpPr>
            <p:spPr>
              <a:xfrm>
                <a:off x="601763" y="1460161"/>
                <a:ext cx="4694138" cy="2554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With your partner, answer the following questions.</a:t>
                </a: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1.	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  <a:ea typeface="Verdana" charset="0"/>
                        <a:cs typeface="Verdana" charset="0"/>
                      </a:rPr>
                      <m:t>𝐵𝐻𝑇𝑋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with vertices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𝐵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2, 1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, 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𝐻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4, 3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, 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𝑇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5, 1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,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𝑋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4, 0</m:t>
                        </m:r>
                      </m:e>
                    </m:d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the result of a transformation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𝐺𝑃𝑀𝐾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with vertices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𝐺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−6, 3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, 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𝑃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−4, 5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, 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𝑀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−3, 3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,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𝐾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−4, 2</m:t>
                        </m:r>
                      </m:e>
                    </m:d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4="http://schemas.microsoft.com/office/drawing/2010/main" xmlns="" xmlns:a16="http://schemas.microsoft.com/office/drawing/2014/main" id="{152D1D4D-DCB8-A246-B186-D40316579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763" y="1460161"/>
                <a:ext cx="4694138" cy="2554545"/>
              </a:xfrm>
              <a:prstGeom prst="rect">
                <a:avLst/>
              </a:prstGeom>
              <a:blipFill rotWithShape="1">
                <a:blip r:embed="rId4"/>
                <a:stretch>
                  <a:fillRect l="-1429" t="-1193" r="-1039" b="-33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50" y="139832"/>
            <a:ext cx="9033046" cy="1089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6.3.2 Exploration: </a:t>
            </a:r>
            <a:b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Sequence of Transformations</a:t>
            </a:r>
          </a:p>
        </p:txBody>
      </p:sp>
      <p:pic>
        <p:nvPicPr>
          <p:cNvPr id="16" name="Picture 2" descr="Icon&#10;&#10;Description automatically generated">
            <a:extLst>
              <a:ext uri="{FF2B5EF4-FFF2-40B4-BE49-F238E27FC236}">
                <a16:creationId xmlns:a16="http://schemas.microsoft.com/office/drawing/2014/main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96352" y="308450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A coordinate grid with 2 quadrilaterals."/>
          <p:cNvPicPr>
            <a:picLocks noChangeAspect="1" noChangeArrowheads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294376" y="1460161"/>
            <a:ext cx="6236208" cy="3893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52457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297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0565" y="410666"/>
                <a:ext cx="11018226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What transformation occurred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𝐺𝑃𝑀𝐾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that resulted in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𝐵𝐻𝑇𝑋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?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Use patty paper to trace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𝐺𝑃𝑀𝐾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then place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𝐺𝑃𝑀𝐾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onto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𝐵𝐻𝑇𝑋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What do you notice about the distances between the vertices of corresponding sides?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410666"/>
                <a:ext cx="11018226" cy="2862322"/>
              </a:xfrm>
              <a:prstGeom prst="rect">
                <a:avLst/>
              </a:prstGeom>
              <a:blipFill rotWithShape="1">
                <a:blip r:embed="rId4"/>
                <a:stretch>
                  <a:fillRect t="-1277" b="-27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61391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43350464"/>
                  </p:ext>
                </p:extLst>
              </p:nvPr>
            </p:nvGraphicFramePr>
            <p:xfrm>
              <a:off x="2523744" y="2595857"/>
              <a:ext cx="6373368" cy="268224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20700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0175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207008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0">
                    <a:tc gridSpan="3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000" b="1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charset="0"/>
                                    <a:sym typeface="Arial"/>
                                  </a:rPr>
                                  <m:t>𝑹𝑾𝑻𝒀</m:t>
                                </m:r>
                              </m:oMath>
                            </m:oMathPara>
                          </a14:m>
                          <a:endParaRPr kumimoji="0" lang="en-US" sz="20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+mn-lt"/>
                            <a:cs typeface="Arial"/>
                            <a:sym typeface="Arial"/>
                          </a:endParaRPr>
                        </a:p>
                      </a:txBody>
                      <a:tcPr marL="6350" marR="6350" marT="0" marB="91440"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350" marR="6350" marT="0" marB="0"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350" marR="6350" marT="0" marB="0"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350" marR="6350" marT="0" marB="91440"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000" b="1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charset="0"/>
                                    <a:sym typeface="Arial"/>
                                  </a:rPr>
                                  <m:t>𝑹</m:t>
                                </m:r>
                                <m:r>
                                  <a:rPr kumimoji="0" lang="en-US" sz="2000" b="1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charset="0"/>
                                    <a:sym typeface="Arial"/>
                                  </a:rPr>
                                  <m:t>′</m:t>
                                </m:r>
                                <m:r>
                                  <a:rPr kumimoji="0" lang="en-US" sz="2000" b="1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charset="0"/>
                                    <a:sym typeface="Arial"/>
                                  </a:rPr>
                                  <m:t>𝑾</m:t>
                                </m:r>
                                <m:r>
                                  <a:rPr kumimoji="0" lang="en-US" sz="2000" b="1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charset="0"/>
                                    <a:sym typeface="Arial"/>
                                  </a:rPr>
                                  <m:t>′</m:t>
                                </m:r>
                                <m:r>
                                  <a:rPr kumimoji="0" lang="en-US" sz="2000" b="1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charset="0"/>
                                    <a:sym typeface="Arial"/>
                                  </a:rPr>
                                  <m:t>𝑻</m:t>
                                </m:r>
                                <m:r>
                                  <a:rPr kumimoji="0" lang="en-US" sz="2000" b="1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charset="0"/>
                                    <a:sym typeface="Arial"/>
                                  </a:rPr>
                                  <m:t>′</m:t>
                                </m:r>
                                <m:r>
                                  <a:rPr kumimoji="0" lang="en-US" sz="2000" b="1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charset="0"/>
                                    <a:sym typeface="Arial"/>
                                  </a:rPr>
                                  <m:t>𝒀</m:t>
                                </m:r>
                                <m:r>
                                  <a:rPr kumimoji="0" lang="en-US" sz="2000" b="1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charset="0"/>
                                    <a:sym typeface="Arial"/>
                                  </a:rPr>
                                  <m:t>′</m:t>
                                </m:r>
                              </m:oMath>
                            </m:oMathPara>
                          </a14:m>
                          <a:endParaRPr kumimoji="0" lang="en-US" sz="20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+mn-lt"/>
                            <a:cs typeface="Arial"/>
                            <a:sym typeface="Arial"/>
                          </a:endParaRPr>
                        </a:p>
                      </a:txBody>
                      <a:tcPr marL="6350" marR="6350" marT="0" marB="91440"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350" marR="6350" marT="0" marB="0"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350" marR="6350" marT="0" marB="0"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Vertex</a:t>
                          </a: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𝒚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Vertex</a:t>
                          </a: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𝒚</m:t>
                                </m:r>
                              </m:oMath>
                            </m:oMathPara>
                          </a14:m>
                          <a:endParaRPr lang="en-US" sz="14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𝑅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−6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𝑅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′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−2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−4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𝑊</m:t>
                                </m:r>
                              </m:oMath>
                            </m:oMathPara>
                          </a14:m>
                          <a:endParaRPr lang="en-US" sz="14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−4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sz="14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𝑊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′</m:t>
                                </m:r>
                              </m:oMath>
                            </m:oMathPara>
                          </a14:m>
                          <a:endParaRPr lang="en-US" sz="14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−2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𝑇</m:t>
                                </m:r>
                              </m:oMath>
                            </m:oMathPara>
                          </a14:m>
                          <a:endParaRPr lang="en-US" sz="14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𝑇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′</m:t>
                                </m:r>
                              </m:oMath>
                            </m:oMathPara>
                          </a14:m>
                          <a:endParaRPr lang="en-US" sz="14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1">
                              <a:effectLst/>
                              <a:latin typeface="Cambria" charset="0"/>
                              <a:ea typeface="Times New Roman" charset="0"/>
                              <a:cs typeface="Times New Roman" charset="0"/>
                            </a:rPr>
                            <a:t>Y</a:t>
                          </a:r>
                          <a:endParaRPr lang="en-US" sz="14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−6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1" dirty="0">
                              <a:effectLst/>
                              <a:latin typeface="Cambria" charset="0"/>
                              <a:ea typeface="Times New Roman" charset="0"/>
                              <a:cs typeface="Times New Roman" charset="0"/>
                            </a:rPr>
                            <a:t>Y’</a:t>
                          </a: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−4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43350464"/>
                  </p:ext>
                </p:extLst>
              </p:nvPr>
            </p:nvGraphicFramePr>
            <p:xfrm>
              <a:off x="2523744" y="2595857"/>
              <a:ext cx="6373368" cy="268224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207008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2"/>
                        </a:ext>
                      </a:extLst>
                    </a:gridCol>
                    <a:gridCol w="301752"/>
                    <a:gridCol w="1207008"/>
                    <a:gridCol w="914400"/>
                    <a:gridCol w="914400"/>
                  </a:tblGrid>
                  <a:tr h="396240">
                    <a:tc grid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0" marB="91440"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1538" r="-110040" b="-59692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350" marR="6350" marT="0" marB="0"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350" marR="6350" marT="0" marB="0"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350" marR="6350" marT="0" marB="91440"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0" marB="91440"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10040" t="-1538" b="-59692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350" marR="6350" marT="0" marB="0"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350" marR="6350" marT="0" marB="0"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Vertex</a:t>
                          </a: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32000" t="-88000" r="-465333" b="-417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232000" t="-88000" r="-365333" b="-417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Vertex</a:t>
                          </a: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497333" t="-88000" r="-100000" b="-417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597333" t="-88000" b="-417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188000" r="-428283" b="-317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32000" t="-188000" r="-465333" b="-317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232000" t="-188000" r="-365333" b="-317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276768" t="-188000" r="-151515" b="-317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497333" t="-188000" r="-100000" b="-317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597333" t="-188000" b="-317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288000" r="-428283" b="-217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32000" t="-288000" r="-465333" b="-217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232000" t="-288000" r="-365333" b="-217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276768" t="-288000" r="-151515" b="-217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497333" t="-288000" r="-100000" b="-217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597333" t="-288000" b="-217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388000" r="-428283" b="-117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32000" t="-388000" r="-465333" b="-117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232000" t="-388000" r="-365333" b="-117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276768" t="-388000" r="-151515" b="-117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497333" t="-388000" r="-100000" b="-117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597333" t="-388000" b="-117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1">
                              <a:effectLst/>
                              <a:latin typeface="Cambria" charset="0"/>
                              <a:ea typeface="Times New Roman" charset="0"/>
                              <a:cs typeface="Times New Roman" charset="0"/>
                            </a:rPr>
                            <a:t>Y</a:t>
                          </a:r>
                          <a:endParaRPr lang="en-US" sz="14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32000" t="-488000" r="-465333" b="-17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232000" t="-488000" r="-365333" b="-17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1" dirty="0">
                              <a:effectLst/>
                              <a:latin typeface="Cambria" charset="0"/>
                              <a:ea typeface="Times New Roman" charset="0"/>
                              <a:cs typeface="Times New Roman" charset="0"/>
                            </a:rPr>
                            <a:t>Y’</a:t>
                          </a: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497333" t="-488000" r="-100000" b="-17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597333" t="-488000" b="-17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297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0565" y="410666"/>
                <a:ext cx="11018226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20750" indent="-512763">
                  <a:buFont typeface="+mj-lt"/>
                  <a:buAutoNum type="alphaLcPeriod" startAt="4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What can be concluded about the lengths of the corresponding sides after this transformation occurs? 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The coordinates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𝑅𝑊𝑇𝑌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𝑅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𝑊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𝑇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𝑌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are shown in the table, where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𝑅𝑊𝑇𝑌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the preimage.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410666"/>
                <a:ext cx="11018226" cy="1938992"/>
              </a:xfrm>
              <a:prstGeom prst="rect">
                <a:avLst/>
              </a:prstGeom>
              <a:blipFill rotWithShape="1">
                <a:blip r:embed="rId5"/>
                <a:stretch>
                  <a:fillRect l="-609" t="-1887" r="-443" b="-4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03679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297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0565" y="410666"/>
                <a:ext cx="1101822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Use the coordinate grid to graph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𝑅𝑊𝑇𝑌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𝑅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𝑊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𝑇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𝑌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410666"/>
                <a:ext cx="11018226" cy="400110"/>
              </a:xfrm>
              <a:prstGeom prst="rect">
                <a:avLst/>
              </a:prstGeom>
              <a:blipFill rotWithShape="1">
                <a:blip r:embed="rId4"/>
                <a:stretch>
                  <a:fillRect t="-9091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A blank coordinate grid."/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344442" y="1239339"/>
            <a:ext cx="7410471" cy="4971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11787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298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0565" y="410666"/>
                <a:ext cx="11018226" cy="3170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1225" indent="-454025">
                  <a:buFont typeface="+mj-lt"/>
                  <a:buAutoNum type="alphaL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What type of transformation was applied to the preimage,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𝑅𝑊𝑇𝑌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?</a:t>
                </a:r>
              </a:p>
              <a:p>
                <a:pPr marL="911225" indent="-454025">
                  <a:buFont typeface="+mj-lt"/>
                  <a:buAutoNum type="alphaLcPeriod" startAt="2"/>
                </a:pPr>
                <a:endParaRPr lang="en-PH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1225" indent="-454025">
                  <a:buFont typeface="+mj-lt"/>
                  <a:buAutoNum type="alphaLcPeriod" startAt="2"/>
                </a:pPr>
                <a:endParaRPr lang="en-PH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1225" indent="-454025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1225" indent="-454025">
                  <a:buFont typeface="+mj-lt"/>
                  <a:buAutoNum type="alphaL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How could the coordinates of the preimage and image be used to show that the transformation preserved side length? </a:t>
                </a:r>
              </a:p>
              <a:p>
                <a:endParaRPr lang="en-PH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PH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The coordinates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𝑀𝑃𝑅𝐷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𝑆𝐺𝑇𝑊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are shown in the table, where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𝑀𝑃𝑅𝐷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the preimage.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410666"/>
                <a:ext cx="11018226" cy="3170099"/>
              </a:xfrm>
              <a:prstGeom prst="rect">
                <a:avLst/>
              </a:prstGeom>
              <a:blipFill rotWithShape="1">
                <a:blip r:embed="rId4"/>
                <a:stretch>
                  <a:fillRect l="-609" t="-1154" b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Table 1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4747172"/>
                  </p:ext>
                </p:extLst>
              </p:nvPr>
            </p:nvGraphicFramePr>
            <p:xfrm>
              <a:off x="2523744" y="3668649"/>
              <a:ext cx="6373368" cy="268224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20700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0175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207008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0">
                    <a:tc gridSpan="3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latin typeface="Cambria Math" charset="0"/>
                                  </a:rPr>
                                  <m:t>𝑴𝑷𝑹𝑫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6350" marR="6350" marT="0" marB="91440"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350" marR="6350" marT="0" marB="0"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350" marR="6350" marT="0" marB="0"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350" marR="6350" marT="0" marB="91440"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latin typeface="Cambria Math" charset="0"/>
                                  </a:rPr>
                                  <m:t>𝑺𝑮𝑻𝑾</m:t>
                                </m:r>
                              </m:oMath>
                            </m:oMathPara>
                          </a14:m>
                          <a:endParaRPr kumimoji="0" lang="en-US" sz="20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+mn-lt"/>
                            <a:cs typeface="Arial"/>
                            <a:sym typeface="Arial"/>
                          </a:endParaRPr>
                        </a:p>
                      </a:txBody>
                      <a:tcPr marL="6350" marR="6350" marT="0" marB="91440"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350" marR="6350" marT="0" marB="0"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350" marR="6350" marT="0" marB="0"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Vertex</a:t>
                          </a: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𝒚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Vertex</a:t>
                          </a: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𝒚</m:t>
                                </m:r>
                              </m:oMath>
                            </m:oMathPara>
                          </a14:m>
                          <a:endParaRPr lang="en-US" sz="14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𝑀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−7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𝑆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𝑃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−4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𝐺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𝑅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−2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1" dirty="0">
                              <a:effectLst/>
                              <a:latin typeface="Cambria Math" charset="0"/>
                              <a:ea typeface="Times New Roman" charset="0"/>
                              <a:cs typeface="Times New Roman" charset="0"/>
                            </a:rPr>
                            <a:t>T</a:t>
                          </a:r>
                          <a:endParaRPr lang="en-US" sz="1400" i="1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𝐷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−5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𝑊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Table 1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4747172"/>
                  </p:ext>
                </p:extLst>
              </p:nvPr>
            </p:nvGraphicFramePr>
            <p:xfrm>
              <a:off x="2523744" y="3668649"/>
              <a:ext cx="6373368" cy="268224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207008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2"/>
                        </a:ext>
                      </a:extLst>
                    </a:gridCol>
                    <a:gridCol w="301752"/>
                    <a:gridCol w="1207008"/>
                    <a:gridCol w="914400"/>
                    <a:gridCol w="914400"/>
                  </a:tblGrid>
                  <a:tr h="396240">
                    <a:tc grid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0" marB="91440"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t="-1538" r="-110040" b="-57692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350" marR="6350" marT="0" marB="0"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350" marR="6350" marT="0" marB="0"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350" marR="6350" marT="0" marB="91440"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0" marB="91440"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110040" t="-1538" b="-57692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350" marR="6350" marT="0" marB="0"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350" marR="6350" marT="0" marB="0"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Vertex</a:t>
                          </a: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132000" t="-88000" r="-465333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232000" t="-88000" r="-365333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Vertex</a:t>
                          </a: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497333" t="-88000" r="-100000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597333" t="-88000" b="-4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t="-188000" r="-428283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132000" t="-188000" r="-465333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232000" t="-188000" r="-365333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276768" t="-188000" r="-151515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497333" t="-188000" r="-100000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597333" t="-188000" b="-3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t="-288000" r="-428283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132000" t="-288000" r="-465333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232000" t="-288000" r="-365333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276768" t="-288000" r="-151515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497333" t="-288000" r="-10000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597333" t="-288000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t="-388000" r="-428283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132000" t="-388000" r="-465333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232000" t="-388000" r="-365333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1" dirty="0">
                              <a:effectLst/>
                              <a:latin typeface="Cambria Math" charset="0"/>
                              <a:ea typeface="Times New Roman" charset="0"/>
                              <a:cs typeface="Times New Roman" charset="0"/>
                            </a:rPr>
                            <a:t>T</a:t>
                          </a:r>
                          <a:endParaRPr lang="en-US" sz="1400" i="1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497333" t="-388000" r="-100000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597333" t="-388000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t="-488000" r="-4282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132000" t="-488000" r="-465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232000" t="-488000" r="-365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276768" t="-488000" r="-1515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497333" t="-488000" r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50" marR="635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597333" t="-488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7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492378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298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AA35BC6-D428-FC41-BDE5-6438AB8840FC}"/>
              </a:ext>
            </a:extLst>
          </p:cNvPr>
          <p:cNvSpPr txBox="1"/>
          <p:nvPr/>
        </p:nvSpPr>
        <p:spPr>
          <a:xfrm>
            <a:off x="540565" y="410666"/>
            <a:ext cx="1101822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What transformation occurred from the </a:t>
            </a:r>
            <a:r>
              <a:rPr lang="en-US" sz="2000" dirty="0" err="1">
                <a:latin typeface="Verdana" charset="0"/>
                <a:ea typeface="Verdana" charset="0"/>
                <a:cs typeface="Verdana" charset="0"/>
              </a:rPr>
              <a:t>preimage</a:t>
            </a: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 to the image?</a:t>
            </a: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Explain how the coordinates of the </a:t>
            </a:r>
            <a:r>
              <a:rPr lang="en-US" sz="2000" dirty="0" err="1">
                <a:latin typeface="Verdana" charset="0"/>
                <a:ea typeface="Verdana" charset="0"/>
                <a:cs typeface="Verdana" charset="0"/>
              </a:rPr>
              <a:t>preimage</a:t>
            </a: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 and image show that the transformation preserved distance. </a:t>
            </a:r>
          </a:p>
        </p:txBody>
      </p:sp>
      <p:sp>
        <p:nvSpPr>
          <p:cNvPr id="9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341877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0565" y="410666"/>
                <a:ext cx="5584010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/>
                <a:r>
                  <a:rPr lang="en-US" sz="2000" dirty="0">
                    <a:latin typeface="Verdana" pitchFamily="34" charset="0"/>
                    <a:ea typeface="Verdana" pitchFamily="34" charset="0"/>
                    <a:cs typeface="Verdana" charset="0"/>
                  </a:rPr>
                  <a:t>4.	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𝑊𝑅𝐶𝐸</m:t>
                    </m:r>
                  </m:oMath>
                </a14:m>
                <a:r>
                  <a:rPr lang="en-US" sz="2000" i="1" dirty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is the result of a transformation on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𝐺𝑃𝑀𝐾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0750" indent="-498475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What transformation occurred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𝐺𝑃𝑀𝐾</m:t>
                    </m:r>
                  </m:oMath>
                </a14:m>
                <a:r>
                  <a:rPr lang="en-US" sz="2000" b="1" dirty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that resulted in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𝑊𝑅𝐶𝐸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?</a:t>
                </a:r>
              </a:p>
              <a:p>
                <a:pPr marL="920750" indent="-498475">
                  <a:buFont typeface="+mj-lt"/>
                  <a:buAutoNum type="alphaLcPeriod"/>
                </a:pPr>
                <a:endParaRPr lang="en-PH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0750" indent="-498475">
                  <a:buFont typeface="+mj-lt"/>
                  <a:buAutoNum type="alphaLcPeriod"/>
                </a:pPr>
                <a:endParaRPr lang="en-PH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0750" indent="-498475">
                  <a:buFont typeface="+mj-lt"/>
                  <a:buAutoNum type="alphaLcPeriod"/>
                </a:pPr>
                <a:endParaRPr lang="en-PH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0750" indent="-498475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0750" indent="-498475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What can be concluded about the lengths of each corresponding side after this transformation occurs?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410666"/>
                <a:ext cx="5584010" cy="3785652"/>
              </a:xfrm>
              <a:prstGeom prst="rect">
                <a:avLst/>
              </a:prstGeom>
              <a:blipFill rotWithShape="1">
                <a:blip r:embed="rId3"/>
                <a:stretch>
                  <a:fillRect l="-1201" t="-805" r="-1965" b="-19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298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4098" name="Picture 2" descr="A coordinate grid with 2 quadrilaterals."/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401328" y="410666"/>
            <a:ext cx="5129784" cy="3770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50124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518563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26B7D4"/>
                </a:solidFill>
                <a:latin typeface="Verdana"/>
                <a:ea typeface="Verdana"/>
                <a:cs typeface="Verdana"/>
                <a:sym typeface="Verdana"/>
              </a:rPr>
              <a:t>Bring It Together</a:t>
            </a:r>
            <a:endParaRPr sz="5100" b="1" dirty="0">
              <a:solidFill>
                <a:srgbClr val="26B7D4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3314" name="Picture 2" descr="Icon&#10;&#10;Description automatically generated">
            <a:extLst>
              <a:ext uri="{FF2B5EF4-FFF2-40B4-BE49-F238E27FC236}">
                <a16:creationId xmlns:a16="http://schemas.microsoft.com/office/drawing/2014/main" id="{31E4CCCA-703A-4C46-A49C-ABEAC0061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05255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299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64085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Icon&#10;&#10;Description automatically generated">
            <a:extLst>
              <a:ext uri="{FF2B5EF4-FFF2-40B4-BE49-F238E27FC236}">
                <a16:creationId xmlns:a16="http://schemas.microsoft.com/office/drawing/2014/main" id="{B668F99F-17E7-C944-A3A5-11802C19F5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12274" y="308450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7010401" y="1958173"/>
            <a:ext cx="326571" cy="11593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5910347" y="3677365"/>
            <a:ext cx="326571" cy="5407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299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5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52D1D4D-DCB8-A246-B186-D40316579D77}"/>
                  </a:ext>
                </a:extLst>
              </p:cNvPr>
              <p:cNvSpPr txBox="1"/>
              <p:nvPr/>
            </p:nvSpPr>
            <p:spPr>
              <a:xfrm>
                <a:off x="601763" y="1462130"/>
                <a:ext cx="10928821" cy="5016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Complete the statements based on the Exploration. </a:t>
                </a: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lvl="0" indent="-457200">
                  <a:tabLst>
                    <a:tab pos="6176963" algn="l"/>
                  </a:tabLst>
                </a:pPr>
                <a:r>
                  <a:rPr lang="en-PH" sz="2000" dirty="0">
                    <a:latin typeface="Verdana" charset="0"/>
                    <a:ea typeface="Verdana" charset="0"/>
                    <a:cs typeface="Verdana" charset="0"/>
                  </a:rPr>
                  <a:t>a.	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/>
                        <a:ea typeface="Verdana" charset="0"/>
                        <a:cs typeface="Verdana" charset="0"/>
                      </a:rPr>
                      <m:t>𝐵𝐻𝑇𝑋</m:t>
                    </m:r>
                  </m:oMath>
                </a14:m>
                <a:r>
                  <a:rPr lang="en-US" sz="2000" b="1" dirty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was created by	This transformation                      </a:t>
                </a:r>
                <a:b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</a:br>
                <a:b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</a:br>
                <a:b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</a:br>
                <a:b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</a:br>
                <a:b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</a:b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preserve distance between the vertices.</a:t>
                </a:r>
              </a:p>
              <a:p>
                <a:pPr marL="914400" lvl="0" indent="-457200">
                  <a:tabLst>
                    <a:tab pos="6176963" algn="l"/>
                  </a:tabLst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lvl="0" indent="-457200">
                  <a:tabLst>
                    <a:tab pos="6176963" algn="l"/>
                  </a:tabLst>
                </a:pPr>
                <a:endParaRPr lang="en-PH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lvl="0" indent="-457200">
                  <a:tabLst>
                    <a:tab pos="6176963" algn="l"/>
                  </a:tabLst>
                </a:pPr>
                <a:r>
                  <a:rPr lang="en-PH" sz="2000" dirty="0">
                    <a:latin typeface="Verdana" charset="0"/>
                    <a:ea typeface="Verdana" charset="0"/>
                    <a:cs typeface="Verdana" charset="0"/>
                  </a:rPr>
                  <a:t>b.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𝑅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′</m:t>
                        </m:r>
                      </m:sup>
                    </m:sSup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𝑊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′</m:t>
                        </m:r>
                      </m:sup>
                    </m:sSup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𝑇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′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𝑌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′</m:t>
                    </m:r>
                  </m:oMath>
                </a14:m>
                <a:r>
                  <a:rPr lang="en-US" sz="2000" b="1" dirty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was created by	   This transformation                      </a:t>
                </a:r>
                <a:b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</a:br>
                <a:b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</a:br>
                <a:b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</a:br>
                <a:b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</a:br>
                <a:b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</a:b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preserve distance between the vertices.</a:t>
                </a:r>
                <a:endParaRPr lang="en-PH" sz="2000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52D1D4D-DCB8-A246-B186-D40316579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763" y="1462130"/>
                <a:ext cx="10928821" cy="5016758"/>
              </a:xfrm>
              <a:prstGeom prst="rect">
                <a:avLst/>
              </a:prstGeom>
              <a:blipFill>
                <a:blip r:embed="rId5"/>
                <a:stretch>
                  <a:fillRect l="-613" t="-851" r="-1896" b="-12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51156" y="245160"/>
            <a:ext cx="10478462" cy="1089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6.3.3 Bring It Together: </a:t>
            </a:r>
            <a:b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Preserving Distance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727" y="1958173"/>
            <a:ext cx="2286000" cy="1464231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marL="342900" indent="-342900">
              <a:buFont typeface="Courier New" pitchFamily="49" charset="0"/>
              <a:buChar char="o"/>
            </a:pPr>
            <a:r>
              <a:rPr lang="en-PH" sz="2000" dirty="0">
                <a:solidFill>
                  <a:schemeClr val="tx1"/>
                </a:solidFill>
                <a:latin typeface="Verdana" pitchFamily="34" charset="0"/>
                <a:ea typeface="Verdana" pitchFamily="34" charset="0"/>
              </a:rPr>
              <a:t>reflection.</a:t>
            </a:r>
          </a:p>
          <a:p>
            <a:pPr marL="342900" indent="-342900">
              <a:buFont typeface="Courier New" pitchFamily="49" charset="0"/>
              <a:buChar char="o"/>
            </a:pPr>
            <a:r>
              <a:rPr lang="en-PH" sz="2000" dirty="0">
                <a:solidFill>
                  <a:schemeClr val="tx1"/>
                </a:solidFill>
                <a:latin typeface="Verdana" pitchFamily="34" charset="0"/>
                <a:ea typeface="Verdana" pitchFamily="34" charset="0"/>
              </a:rPr>
              <a:t>translation.</a:t>
            </a:r>
          </a:p>
          <a:p>
            <a:pPr marL="342900" indent="-342900">
              <a:buFont typeface="Courier New" pitchFamily="49" charset="0"/>
              <a:buChar char="o"/>
            </a:pPr>
            <a:r>
              <a:rPr lang="en-PH" sz="2000" dirty="0">
                <a:solidFill>
                  <a:schemeClr val="tx1"/>
                </a:solidFill>
                <a:latin typeface="Verdana" pitchFamily="34" charset="0"/>
                <a:ea typeface="Verdana" pitchFamily="34" charset="0"/>
              </a:rPr>
              <a:t>rotation.</a:t>
            </a:r>
          </a:p>
          <a:p>
            <a:pPr marL="342900" indent="-342900">
              <a:buFont typeface="Courier New" pitchFamily="49" charset="0"/>
              <a:buChar char="o"/>
            </a:pPr>
            <a:r>
              <a:rPr lang="en-PH" sz="2000" dirty="0">
                <a:solidFill>
                  <a:schemeClr val="tx1"/>
                </a:solidFill>
                <a:latin typeface="Verdana" pitchFamily="34" charset="0"/>
                <a:ea typeface="Verdana" pitchFamily="34" charset="0"/>
              </a:rPr>
              <a:t>dilation.</a:t>
            </a:r>
            <a:endParaRPr lang="en-US" sz="2000" dirty="0">
              <a:solidFill>
                <a:schemeClr val="tx1"/>
              </a:solidFill>
              <a:latin typeface="Verdana" pitchFamily="34" charset="0"/>
              <a:ea typeface="Verdana" pitchFamily="34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9490821" y="1976103"/>
            <a:ext cx="1828800" cy="783193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marL="342900" indent="-342900">
              <a:buFont typeface="Courier New" pitchFamily="49" charset="0"/>
              <a:buChar char="o"/>
            </a:pPr>
            <a:r>
              <a:rPr lang="en-PH" sz="2000" dirty="0">
                <a:solidFill>
                  <a:schemeClr val="tx1"/>
                </a:solidFill>
                <a:latin typeface="Verdana" pitchFamily="34" charset="0"/>
                <a:ea typeface="Verdana" pitchFamily="34" charset="0"/>
              </a:rPr>
              <a:t>does</a:t>
            </a:r>
          </a:p>
          <a:p>
            <a:pPr marL="342900" indent="-342900">
              <a:buFont typeface="Courier New" pitchFamily="49" charset="0"/>
              <a:buChar char="o"/>
            </a:pPr>
            <a:r>
              <a:rPr lang="en-PH" sz="2000" dirty="0">
                <a:solidFill>
                  <a:schemeClr val="tx1"/>
                </a:solidFill>
                <a:latin typeface="Verdana" pitchFamily="34" charset="0"/>
                <a:ea typeface="Verdana" pitchFamily="34" charset="0"/>
              </a:rPr>
              <a:t>does not</a:t>
            </a:r>
            <a:endParaRPr lang="en-US" sz="2000" dirty="0">
              <a:solidFill>
                <a:schemeClr val="tx1"/>
              </a:solidFill>
              <a:latin typeface="Verdana" pitchFamily="34" charset="0"/>
              <a:ea typeface="Verdana" pitchFamily="34" charset="0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4724401" y="4408053"/>
            <a:ext cx="2286000" cy="1464231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marL="342900" indent="-342900">
              <a:buFont typeface="Courier New" pitchFamily="49" charset="0"/>
              <a:buChar char="o"/>
            </a:pPr>
            <a:r>
              <a:rPr lang="en-PH" sz="2000" dirty="0">
                <a:solidFill>
                  <a:schemeClr val="tx1"/>
                </a:solidFill>
                <a:latin typeface="Verdana" pitchFamily="34" charset="0"/>
                <a:ea typeface="Verdana" pitchFamily="34" charset="0"/>
              </a:rPr>
              <a:t>reflection.</a:t>
            </a:r>
          </a:p>
          <a:p>
            <a:pPr marL="342900" indent="-342900">
              <a:buFont typeface="Courier New" pitchFamily="49" charset="0"/>
              <a:buChar char="o"/>
            </a:pPr>
            <a:r>
              <a:rPr lang="en-PH" sz="2000" dirty="0">
                <a:solidFill>
                  <a:schemeClr val="tx1"/>
                </a:solidFill>
                <a:latin typeface="Verdana" pitchFamily="34" charset="0"/>
                <a:ea typeface="Verdana" pitchFamily="34" charset="0"/>
              </a:rPr>
              <a:t>translation.</a:t>
            </a:r>
          </a:p>
          <a:p>
            <a:pPr marL="342900" indent="-342900">
              <a:buFont typeface="Courier New" pitchFamily="49" charset="0"/>
              <a:buChar char="o"/>
            </a:pPr>
            <a:r>
              <a:rPr lang="en-PH" sz="2000" dirty="0">
                <a:solidFill>
                  <a:schemeClr val="tx1"/>
                </a:solidFill>
                <a:latin typeface="Verdana" pitchFamily="34" charset="0"/>
                <a:ea typeface="Verdana" pitchFamily="34" charset="0"/>
              </a:rPr>
              <a:t>rotation.</a:t>
            </a:r>
          </a:p>
          <a:p>
            <a:pPr marL="342900" indent="-342900">
              <a:buFont typeface="Courier New" pitchFamily="49" charset="0"/>
              <a:buChar char="o"/>
            </a:pPr>
            <a:r>
              <a:rPr lang="en-PH" sz="2000" dirty="0">
                <a:solidFill>
                  <a:schemeClr val="tx1"/>
                </a:solidFill>
                <a:latin typeface="Verdana" pitchFamily="34" charset="0"/>
                <a:ea typeface="Verdana" pitchFamily="34" charset="0"/>
              </a:rPr>
              <a:t>dilation.</a:t>
            </a:r>
            <a:endParaRPr lang="en-US" sz="2000" dirty="0">
              <a:solidFill>
                <a:schemeClr val="tx1"/>
              </a:solidFill>
              <a:latin typeface="Verdana" pitchFamily="34" charset="0"/>
              <a:ea typeface="Verdana" pitchFamily="34" charset="0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9791017" y="4408053"/>
            <a:ext cx="1828800" cy="783193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marL="342900" indent="-342900">
              <a:buFont typeface="Courier New" pitchFamily="49" charset="0"/>
              <a:buChar char="o"/>
            </a:pPr>
            <a:r>
              <a:rPr lang="en-PH" sz="2000" dirty="0">
                <a:solidFill>
                  <a:schemeClr val="tx1"/>
                </a:solidFill>
                <a:latin typeface="Verdana" pitchFamily="34" charset="0"/>
                <a:ea typeface="Verdana" pitchFamily="34" charset="0"/>
              </a:rPr>
              <a:t>does</a:t>
            </a:r>
          </a:p>
          <a:p>
            <a:pPr marL="342900" indent="-342900">
              <a:buFont typeface="Courier New" pitchFamily="49" charset="0"/>
              <a:buChar char="o"/>
            </a:pPr>
            <a:r>
              <a:rPr lang="en-PH" sz="2000" dirty="0">
                <a:solidFill>
                  <a:schemeClr val="tx1"/>
                </a:solidFill>
                <a:latin typeface="Verdana" pitchFamily="34" charset="0"/>
                <a:ea typeface="Verdana" pitchFamily="34" charset="0"/>
              </a:rPr>
              <a:t>does not</a:t>
            </a:r>
            <a:endParaRPr lang="en-US" sz="2000" dirty="0">
              <a:solidFill>
                <a:schemeClr val="tx1"/>
              </a:solidFill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4729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8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299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0564" y="410666"/>
                <a:ext cx="10990019" cy="45089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lvl="0" indent="-457200">
                  <a:tabLst>
                    <a:tab pos="6176963" algn="l"/>
                  </a:tabLst>
                </a:pPr>
                <a:endParaRPr lang="en-PH" sz="7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lvl="0" indent="-457200">
                  <a:tabLst>
                    <a:tab pos="6176963" algn="l"/>
                  </a:tabLst>
                </a:pPr>
                <a:r>
                  <a:rPr lang="en-PH" sz="2000" b="0" dirty="0">
                    <a:latin typeface="Verdana" pitchFamily="34" charset="0"/>
                    <a:ea typeface="Verdana" pitchFamily="34" charset="0"/>
                    <a:cs typeface="Verdana" charset="0"/>
                  </a:rPr>
                  <a:t>c.	</a:t>
                </a:r>
                <a14:m>
                  <m:oMath xmlns:m="http://schemas.openxmlformats.org/officeDocument/2006/math">
                    <m:r>
                      <a:rPr lang="en-PH" sz="2000" b="0" i="1" smtClean="0">
                        <a:latin typeface="Cambria Math"/>
                        <a:ea typeface="Verdana" charset="0"/>
                        <a:cs typeface="Verdana" charset="0"/>
                      </a:rPr>
                      <m:t>𝑆𝐺𝑇𝑊</m:t>
                    </m:r>
                  </m:oMath>
                </a14:m>
                <a:r>
                  <a:rPr lang="en-US" sz="2000" b="1" dirty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was created by	This transformation                      </a:t>
                </a:r>
                <a:b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</a:br>
                <a:b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</a:br>
                <a:b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</a:br>
                <a:b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</a:br>
                <a:b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</a:b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preserve distance between the vertices.</a:t>
                </a:r>
              </a:p>
              <a:p>
                <a:pPr marL="914400" lvl="0" indent="-457200">
                  <a:buAutoNum type="alphaLcPeriod" startAt="3"/>
                  <a:tabLst>
                    <a:tab pos="6176963" algn="l"/>
                  </a:tabLst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lvl="0" indent="-457200">
                  <a:tabLst>
                    <a:tab pos="6176963" algn="l"/>
                  </a:tabLst>
                </a:pPr>
                <a:endParaRPr lang="en-PH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lvl="0" indent="-457200">
                  <a:tabLst>
                    <a:tab pos="6176963" algn="l"/>
                  </a:tabLst>
                </a:pPr>
                <a:r>
                  <a:rPr lang="en-PH" sz="2000" dirty="0">
                    <a:latin typeface="Verdana" charset="0"/>
                    <a:ea typeface="Verdana" charset="0"/>
                    <a:cs typeface="Verdana" charset="0"/>
                  </a:rPr>
                  <a:t>d.	</a:t>
                </a:r>
                <a14:m>
                  <m:oMath xmlns:m="http://schemas.openxmlformats.org/officeDocument/2006/math">
                    <m:r>
                      <a:rPr lang="en-PH" sz="2000" b="0" i="1" smtClean="0">
                        <a:latin typeface="Cambria Math"/>
                        <a:ea typeface="Verdana" charset="0"/>
                        <a:cs typeface="Verdana" charset="0"/>
                      </a:rPr>
                      <m:t>𝑊𝑅𝐶𝐸</m:t>
                    </m:r>
                  </m:oMath>
                </a14:m>
                <a:r>
                  <a:rPr lang="en-US" sz="2000" b="1" dirty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was created by	This transformation                      </a:t>
                </a:r>
                <a:b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</a:br>
                <a:b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</a:br>
                <a:b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</a:br>
                <a:b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</a:br>
                <a:b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</a:b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preserve distance between the vertices.</a:t>
                </a:r>
                <a:endParaRPr lang="en-PH" sz="2000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4" y="410666"/>
                <a:ext cx="10990019" cy="4508927"/>
              </a:xfrm>
              <a:prstGeom prst="rect">
                <a:avLst/>
              </a:prstGeom>
              <a:blipFill rotWithShape="1">
                <a:blip r:embed="rId4"/>
                <a:stretch>
                  <a:fillRect b="-14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ounded Rectangle 25"/>
          <p:cNvSpPr/>
          <p:nvPr/>
        </p:nvSpPr>
        <p:spPr>
          <a:xfrm>
            <a:off x="4377577" y="416214"/>
            <a:ext cx="2286000" cy="1464231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marL="342900" indent="-342900">
              <a:buFont typeface="Courier New" pitchFamily="49" charset="0"/>
              <a:buChar char="o"/>
            </a:pPr>
            <a:r>
              <a:rPr lang="en-PH" sz="2000" dirty="0">
                <a:solidFill>
                  <a:schemeClr val="tx1"/>
                </a:solidFill>
                <a:latin typeface="Verdana" pitchFamily="34" charset="0"/>
                <a:ea typeface="Verdana" pitchFamily="34" charset="0"/>
              </a:rPr>
              <a:t>reflection.</a:t>
            </a:r>
          </a:p>
          <a:p>
            <a:pPr marL="342900" indent="-342900">
              <a:buFont typeface="Courier New" pitchFamily="49" charset="0"/>
              <a:buChar char="o"/>
            </a:pPr>
            <a:r>
              <a:rPr lang="en-PH" sz="2000" dirty="0">
                <a:solidFill>
                  <a:schemeClr val="tx1"/>
                </a:solidFill>
                <a:latin typeface="Verdana" pitchFamily="34" charset="0"/>
                <a:ea typeface="Verdana" pitchFamily="34" charset="0"/>
              </a:rPr>
              <a:t>translation.</a:t>
            </a:r>
          </a:p>
          <a:p>
            <a:pPr marL="342900" indent="-342900">
              <a:buFont typeface="Courier New" pitchFamily="49" charset="0"/>
              <a:buChar char="o"/>
            </a:pPr>
            <a:r>
              <a:rPr lang="en-PH" sz="2000" dirty="0">
                <a:solidFill>
                  <a:schemeClr val="tx1"/>
                </a:solidFill>
                <a:latin typeface="Verdana" pitchFamily="34" charset="0"/>
                <a:ea typeface="Verdana" pitchFamily="34" charset="0"/>
              </a:rPr>
              <a:t>rotation.</a:t>
            </a:r>
          </a:p>
          <a:p>
            <a:pPr marL="342900" indent="-342900">
              <a:buFont typeface="Courier New" pitchFamily="49" charset="0"/>
              <a:buChar char="o"/>
            </a:pPr>
            <a:r>
              <a:rPr lang="en-PH" sz="2000" dirty="0">
                <a:solidFill>
                  <a:schemeClr val="tx1"/>
                </a:solidFill>
                <a:latin typeface="Verdana" pitchFamily="34" charset="0"/>
                <a:ea typeface="Verdana" pitchFamily="34" charset="0"/>
              </a:rPr>
              <a:t>dilation.</a:t>
            </a:r>
            <a:endParaRPr lang="en-US" sz="2000" dirty="0">
              <a:solidFill>
                <a:schemeClr val="tx1"/>
              </a:solidFill>
              <a:latin typeface="Verdana" pitchFamily="34" charset="0"/>
              <a:ea typeface="Verdana" pitchFamily="34" charset="0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9433671" y="434144"/>
            <a:ext cx="1828800" cy="783193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marL="342900" indent="-342900">
              <a:buFont typeface="Courier New" pitchFamily="49" charset="0"/>
              <a:buChar char="o"/>
            </a:pPr>
            <a:r>
              <a:rPr lang="en-PH" sz="2000" dirty="0">
                <a:solidFill>
                  <a:schemeClr val="tx1"/>
                </a:solidFill>
                <a:latin typeface="Verdana" pitchFamily="34" charset="0"/>
                <a:ea typeface="Verdana" pitchFamily="34" charset="0"/>
              </a:rPr>
              <a:t>does</a:t>
            </a:r>
          </a:p>
          <a:p>
            <a:pPr marL="342900" indent="-342900">
              <a:buFont typeface="Courier New" pitchFamily="49" charset="0"/>
              <a:buChar char="o"/>
            </a:pPr>
            <a:r>
              <a:rPr lang="en-PH" sz="2000" dirty="0">
                <a:solidFill>
                  <a:schemeClr val="tx1"/>
                </a:solidFill>
                <a:latin typeface="Verdana" pitchFamily="34" charset="0"/>
                <a:ea typeface="Verdana" pitchFamily="34" charset="0"/>
              </a:rPr>
              <a:t>does not</a:t>
            </a:r>
            <a:endParaRPr lang="en-US" sz="2000" dirty="0">
              <a:solidFill>
                <a:schemeClr val="tx1"/>
              </a:solidFill>
              <a:latin typeface="Verdana" pitchFamily="34" charset="0"/>
              <a:ea typeface="Verdana" pitchFamily="34" charset="0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4377577" y="2861827"/>
            <a:ext cx="2286000" cy="1464231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marL="342900" indent="-342900">
              <a:buFont typeface="Courier New" pitchFamily="49" charset="0"/>
              <a:buChar char="o"/>
            </a:pPr>
            <a:r>
              <a:rPr lang="en-PH" sz="2000" dirty="0">
                <a:solidFill>
                  <a:schemeClr val="tx1"/>
                </a:solidFill>
                <a:latin typeface="Verdana" pitchFamily="34" charset="0"/>
                <a:ea typeface="Verdana" pitchFamily="34" charset="0"/>
              </a:rPr>
              <a:t>reflection.</a:t>
            </a:r>
          </a:p>
          <a:p>
            <a:pPr marL="342900" indent="-342900">
              <a:buFont typeface="Courier New" pitchFamily="49" charset="0"/>
              <a:buChar char="o"/>
            </a:pPr>
            <a:r>
              <a:rPr lang="en-PH" sz="2000" dirty="0">
                <a:solidFill>
                  <a:schemeClr val="tx1"/>
                </a:solidFill>
                <a:latin typeface="Verdana" pitchFamily="34" charset="0"/>
                <a:ea typeface="Verdana" pitchFamily="34" charset="0"/>
              </a:rPr>
              <a:t>translation.</a:t>
            </a:r>
          </a:p>
          <a:p>
            <a:pPr marL="342900" indent="-342900">
              <a:buFont typeface="Courier New" pitchFamily="49" charset="0"/>
              <a:buChar char="o"/>
            </a:pPr>
            <a:r>
              <a:rPr lang="en-PH" sz="2000" dirty="0">
                <a:solidFill>
                  <a:schemeClr val="tx1"/>
                </a:solidFill>
                <a:latin typeface="Verdana" pitchFamily="34" charset="0"/>
                <a:ea typeface="Verdana" pitchFamily="34" charset="0"/>
              </a:rPr>
              <a:t>rotation.</a:t>
            </a:r>
          </a:p>
          <a:p>
            <a:pPr marL="342900" indent="-342900">
              <a:buFont typeface="Courier New" pitchFamily="49" charset="0"/>
              <a:buChar char="o"/>
            </a:pPr>
            <a:r>
              <a:rPr lang="en-PH" sz="2000" dirty="0">
                <a:solidFill>
                  <a:schemeClr val="tx1"/>
                </a:solidFill>
                <a:latin typeface="Verdana" pitchFamily="34" charset="0"/>
                <a:ea typeface="Verdana" pitchFamily="34" charset="0"/>
              </a:rPr>
              <a:t>dilation.</a:t>
            </a:r>
            <a:endParaRPr lang="en-US" sz="2000" dirty="0">
              <a:solidFill>
                <a:schemeClr val="tx1"/>
              </a:solidFill>
              <a:latin typeface="Verdana" pitchFamily="34" charset="0"/>
              <a:ea typeface="Verdana" pitchFamily="34" charset="0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9433671" y="2879757"/>
            <a:ext cx="1828800" cy="783193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marL="342900" indent="-342900">
              <a:buFont typeface="Courier New" pitchFamily="49" charset="0"/>
              <a:buChar char="o"/>
            </a:pPr>
            <a:r>
              <a:rPr lang="en-PH" sz="2000" dirty="0">
                <a:solidFill>
                  <a:schemeClr val="tx1"/>
                </a:solidFill>
                <a:latin typeface="Verdana" pitchFamily="34" charset="0"/>
                <a:ea typeface="Verdana" pitchFamily="34" charset="0"/>
              </a:rPr>
              <a:t>does</a:t>
            </a:r>
          </a:p>
          <a:p>
            <a:pPr marL="342900" indent="-342900">
              <a:buFont typeface="Courier New" pitchFamily="49" charset="0"/>
              <a:buChar char="o"/>
            </a:pPr>
            <a:r>
              <a:rPr lang="en-PH" sz="2000" dirty="0">
                <a:solidFill>
                  <a:schemeClr val="tx1"/>
                </a:solidFill>
                <a:latin typeface="Verdana" pitchFamily="34" charset="0"/>
                <a:ea typeface="Verdana" pitchFamily="34" charset="0"/>
              </a:rPr>
              <a:t>does not</a:t>
            </a:r>
            <a:endParaRPr lang="en-US" sz="2000" dirty="0">
              <a:solidFill>
                <a:schemeClr val="tx1"/>
              </a:solidFill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10846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299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130405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0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299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52650" y="62866"/>
            <a:ext cx="10957380" cy="978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6.3.4 Guided Instruction: Sequence of Transformations and Distance Preservation</a:t>
            </a:r>
          </a:p>
        </p:txBody>
      </p:sp>
      <p:pic>
        <p:nvPicPr>
          <p:cNvPr id="15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350" y="1785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52D1D4D-DCB8-A246-B186-D40316579D77}"/>
                  </a:ext>
                </a:extLst>
              </p:cNvPr>
              <p:cNvSpPr txBox="1"/>
              <p:nvPr/>
            </p:nvSpPr>
            <p:spPr>
              <a:xfrm>
                <a:off x="601762" y="1281351"/>
                <a:ext cx="4684613" cy="47089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/>
                <a:r>
                  <a:rPr lang="en-US" sz="2000" dirty="0">
                    <a:latin typeface="Verdana" pitchFamily="34" charset="0"/>
                    <a:ea typeface="Verdana" pitchFamily="34" charset="0"/>
                    <a:cs typeface="Verdana" charset="0"/>
                  </a:rPr>
                  <a:t>1.	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  <a:ea typeface="Verdana" charset="0"/>
                        <a:cs typeface="Verdana" charset="0"/>
                      </a:rPr>
                      <m:t>𝐺𝑃𝑀𝐾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with vertices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𝐺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−6, 3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, 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𝑃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−4, 5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, 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𝑀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−3, 3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,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𝐾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−4, 2</m:t>
                        </m:r>
                      </m:e>
                    </m:d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reflected over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=−2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then translated right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2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units and up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1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unit to create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𝑍𝐹𝑉𝑁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respectively. 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</a:p>
              <a:p>
                <a:pPr marL="920750" indent="-512763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Draw the preimage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𝐺𝑃𝑀𝐾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the image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𝑍𝐹𝑉𝑁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  <a:p>
                <a:pPr marL="920750" indent="-512763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0750" indent="-512763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Use patty paper or the coordinates to determine if the corresponding sides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𝐺𝑃𝑀𝐾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𝑍𝐹𝑉𝑁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are congruent.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4="http://schemas.microsoft.com/office/drawing/2010/main" xmlns="" xmlns:a16="http://schemas.microsoft.com/office/drawing/2014/main" id="{152D1D4D-DCB8-A246-B186-D40316579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762" y="1281351"/>
                <a:ext cx="4684613" cy="4708981"/>
              </a:xfrm>
              <a:prstGeom prst="rect">
                <a:avLst/>
              </a:prstGeom>
              <a:blipFill rotWithShape="1">
                <a:blip r:embed="rId5"/>
                <a:stretch>
                  <a:fillRect l="-1432" t="-647" r="-391" b="-12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 descr="A blank coordinate grid."/>
          <p:cNvPicPr>
            <a:picLocks noChangeAspect="1" noChangeArrowheads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573737" y="1281351"/>
            <a:ext cx="5956847" cy="4758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44820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0565" y="410666"/>
                <a:ext cx="4681728" cy="51451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/>
                <a:r>
                  <a:rPr lang="en-US" sz="2000" dirty="0">
                    <a:latin typeface="Verdana" pitchFamily="34" charset="0"/>
                    <a:ea typeface="Verdana" pitchFamily="34" charset="0"/>
                    <a:cs typeface="Verdana" charset="0"/>
                  </a:rPr>
                  <a:t>2.	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  <a:ea typeface="Verdana" charset="0"/>
                        <a:cs typeface="Verdana" charset="0"/>
                      </a:rPr>
                      <m:t>𝑇𝐻𝑁𝐾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with vertices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𝑇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−9, 3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, 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𝐻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−7.5, 6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, 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𝑁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−3, 3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,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𝐾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−3,−6</m:t>
                        </m:r>
                      </m:e>
                    </m:d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rotated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90°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clockwise about the origin, then dilated using the scale factor of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centered at the origin to create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𝑇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′′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𝐻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′′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𝑁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′′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𝐾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′′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respectively. 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982663" indent="-4699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Draw the preimage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𝑇𝐻𝑁𝐾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the image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𝑇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′′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𝐻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′′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𝑁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′′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𝐾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′′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  <a:p>
                <a:pPr marL="982663" indent="-469900">
                  <a:buFont typeface="+mj-lt"/>
                  <a:buAutoNum type="alphaLcPeriod"/>
                </a:pPr>
                <a:endParaRPr lang="en-PH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82663" indent="-4699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Determine if the corresponding sides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𝑇𝐻𝑁𝐾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𝑇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′′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𝐻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′′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𝑁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′′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𝐾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′′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are congruent.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410666"/>
                <a:ext cx="4681728" cy="5145191"/>
              </a:xfrm>
              <a:prstGeom prst="rect">
                <a:avLst/>
              </a:prstGeom>
              <a:blipFill rotWithShape="1">
                <a:blip r:embed="rId4"/>
                <a:stretch>
                  <a:fillRect l="-1432" t="-592" b="-11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170" name="Picture 2" descr="A blank coordinate grid."/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398438" y="410667"/>
            <a:ext cx="6132674" cy="4466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21876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AA35BC6-D428-FC41-BDE5-6438AB8840FC}"/>
              </a:ext>
            </a:extLst>
          </p:cNvPr>
          <p:cNvSpPr txBox="1"/>
          <p:nvPr/>
        </p:nvSpPr>
        <p:spPr>
          <a:xfrm>
            <a:off x="540564" y="410666"/>
            <a:ext cx="1099001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 startAt="3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Explain how you could use the description of a sequence of transformations to determine if the transformation does or does not preserve distance. </a:t>
            </a:r>
          </a:p>
          <a:p>
            <a:pPr marL="914400" indent="-457200">
              <a:buFont typeface="+mj-lt"/>
              <a:buAutoNum type="alphaLcPeriod" startAt="3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14400" indent="-457200">
              <a:buFont typeface="+mj-lt"/>
              <a:buAutoNum type="alphaLcPeriod" startAt="3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14400" indent="-457200">
              <a:buFont typeface="+mj-lt"/>
              <a:buAutoNum type="alphaLcPeriod" startAt="3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14400" indent="-457200">
              <a:buFont typeface="+mj-lt"/>
              <a:buAutoNum type="alphaLcPeriod" startAt="3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14400" indent="-457200">
              <a:buFont typeface="+mj-lt"/>
              <a:buAutoNum type="alphaLcPeriod" startAt="3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14400" indent="-457200">
              <a:buFont typeface="+mj-lt"/>
              <a:buAutoNum type="alphaLcPeriod" startAt="3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14400" indent="-457200">
              <a:buFont typeface="+mj-lt"/>
              <a:buAutoNum type="alphaLcPeriod" startAt="3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How would your response differ if you were given the coordinates of a sequence of transformations?</a:t>
            </a:r>
          </a:p>
        </p:txBody>
      </p:sp>
    </p:spTree>
    <p:extLst>
      <p:ext uri="{BB962C8B-B14F-4D97-AF65-F5344CB8AC3E}">
        <p14:creationId xmlns:p14="http://schemas.microsoft.com/office/powerpoint/2010/main" val="10907341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4271620"/>
              </p:ext>
            </p:extLst>
          </p:nvPr>
        </p:nvGraphicFramePr>
        <p:xfrm>
          <a:off x="1103916" y="1951245"/>
          <a:ext cx="8273820" cy="4053840"/>
        </p:xfrm>
        <a:graphic>
          <a:graphicData uri="http://schemas.openxmlformats.org/drawingml/2006/table">
            <a:tbl>
              <a:tblPr bandRow="1"/>
              <a:tblGrid>
                <a:gridCol w="2787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The terms and information used in the lesson that I knew were …</a:t>
                      </a:r>
                      <a:endParaRPr lang="en-US" sz="20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Something I wondered during the lesson was …</a:t>
                      </a:r>
                      <a:endParaRPr lang="en-US" sz="20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Something I learned during the lesson was …</a:t>
                      </a:r>
                      <a:endParaRPr lang="en-US" sz="20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301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3" name="Google Shape;468;p34"/>
          <p:cNvSpPr txBox="1"/>
          <p:nvPr/>
        </p:nvSpPr>
        <p:spPr>
          <a:xfrm>
            <a:off x="1142999" y="284833"/>
            <a:ext cx="1066951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6.3.5 Wrap-Up: Reflection</a:t>
            </a:r>
          </a:p>
        </p:txBody>
      </p:sp>
      <p:pic>
        <p:nvPicPr>
          <p:cNvPr id="14" name="Google Shape;469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528754" y="1403578"/>
            <a:ext cx="112169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Complete the table.</a:t>
            </a: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1423</TotalTime>
  <Words>1261</Words>
  <Application>Microsoft Office PowerPoint</Application>
  <PresentationFormat>Widescreen</PresentationFormat>
  <Paragraphs>260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4" baseType="lpstr">
      <vt:lpstr>Arial</vt:lpstr>
      <vt:lpstr>Arial Black</vt:lpstr>
      <vt:lpstr>Calibri</vt:lpstr>
      <vt:lpstr>Cambria</vt:lpstr>
      <vt:lpstr>Cambria Math</vt:lpstr>
      <vt:lpstr>Century Gothic</vt:lpstr>
      <vt:lpstr>Courier New</vt:lpstr>
      <vt:lpstr>Verdana</vt:lpstr>
      <vt:lpstr>Wingdings</vt:lpstr>
      <vt:lpstr>1_Office Theme</vt:lpstr>
      <vt:lpstr>PowerPoint Presentation</vt:lpstr>
      <vt:lpstr>PowerPoint Presentation</vt:lpstr>
      <vt:lpstr>PowerPoint Presentation</vt:lpstr>
      <vt:lpstr>PowerPoint Presentation</vt:lpstr>
      <vt:lpstr>Warm-Up</vt:lpstr>
      <vt:lpstr>PowerPoint Presentation</vt:lpstr>
      <vt:lpstr>PowerPoint Presentation</vt:lpstr>
      <vt:lpstr>Exploration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Bring It Together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Morgan Palomino</cp:lastModifiedBy>
  <cp:revision>63</cp:revision>
  <dcterms:created xsi:type="dcterms:W3CDTF">2015-03-17T18:51:18Z</dcterms:created>
  <dcterms:modified xsi:type="dcterms:W3CDTF">2023-02-28T14:18:55Z</dcterms:modified>
</cp:coreProperties>
</file>