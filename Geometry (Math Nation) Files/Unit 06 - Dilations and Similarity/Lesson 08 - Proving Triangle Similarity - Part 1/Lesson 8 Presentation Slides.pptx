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85" r:id="rId4"/>
    <p:sldId id="286" r:id="rId5"/>
    <p:sldId id="261" r:id="rId6"/>
    <p:sldId id="287" r:id="rId7"/>
    <p:sldId id="314" r:id="rId8"/>
    <p:sldId id="315" r:id="rId9"/>
    <p:sldId id="332" r:id="rId10"/>
    <p:sldId id="355" r:id="rId11"/>
    <p:sldId id="343" r:id="rId12"/>
    <p:sldId id="344" r:id="rId13"/>
    <p:sldId id="345" r:id="rId14"/>
    <p:sldId id="346" r:id="rId15"/>
    <p:sldId id="347" r:id="rId16"/>
    <p:sldId id="348" r:id="rId17"/>
    <p:sldId id="353" r:id="rId18"/>
    <p:sldId id="354" r:id="rId19"/>
    <p:sldId id="349" r:id="rId20"/>
    <p:sldId id="350" r:id="rId21"/>
    <p:sldId id="351" r:id="rId22"/>
    <p:sldId id="352" r:id="rId23"/>
    <p:sldId id="306" r:id="rId24"/>
    <p:sldId id="307" r:id="rId25"/>
    <p:sldId id="341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6C46"/>
    <a:srgbClr val="C9DF6F"/>
    <a:srgbClr val="417DBF"/>
    <a:srgbClr val="3F2A67"/>
    <a:srgbClr val="E24E5F"/>
    <a:srgbClr val="26B7D4"/>
    <a:srgbClr val="54B5D1"/>
    <a:srgbClr val="33BEA6"/>
    <a:srgbClr val="2DA48F"/>
    <a:srgbClr val="52BD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144"/>
    <p:restoredTop sz="94580"/>
  </p:normalViewPr>
  <p:slideViewPr>
    <p:cSldViewPr snapToGrid="0">
      <p:cViewPr varScale="1">
        <p:scale>
          <a:sx n="134" d="100"/>
          <a:sy n="134" d="100"/>
        </p:scale>
        <p:origin x="200" y="44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57" Type="http://schemas.openxmlformats.org/officeDocument/2006/relationships/viewProps" Target="viewProps.xml"/><Relationship Id="rId58" Type="http://schemas.openxmlformats.org/officeDocument/2006/relationships/theme" Target="theme/theme1.xml"/><Relationship Id="rId59" Type="http://schemas.openxmlformats.org/officeDocument/2006/relationships/tableStyles" Target="tableStyles.xml"/><Relationship Id="rId55" Type="http://customschemas.google.com/relationships/presentationmetadata" Target="metadata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60228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2425998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2437887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345675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62891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551031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7418217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512138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05776379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8686115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1916035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3945924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64821536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355906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849683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4.png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Relationship Id="rId3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eg"/><Relationship Id="rId3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e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2.png"/><Relationship Id="rId5" Type="http://schemas.openxmlformats.org/officeDocument/2006/relationships/image" Target="../media/image13.png"/><Relationship Id="rId6" Type="http://schemas.openxmlformats.org/officeDocument/2006/relationships/image" Target="../media/image14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5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6.png"/><Relationship Id="rId5" Type="http://schemas.openxmlformats.org/officeDocument/2006/relationships/image" Target="../media/image160.png"/><Relationship Id="rId6" Type="http://schemas.openxmlformats.org/officeDocument/2006/relationships/image" Target="../media/image17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2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5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6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7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8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31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32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33.png"/><Relationship Id="rId5" Type="http://schemas.openxmlformats.org/officeDocument/2006/relationships/image" Target="../media/image330.png"/><Relationship Id="rId6" Type="http://schemas.openxmlformats.org/officeDocument/2006/relationships/image" Target="../media/image34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37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38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38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4" Type="http://schemas.openxmlformats.org/officeDocument/2006/relationships/image" Target="../media/image41.png"/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xmlns="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6, Lesson 8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Proving Triangle Similarity – Part 1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332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" name="Picture 2" descr="A blue sign with white text&#10;&#10;Description automatically generated with medium confidence">
            <a:extLst>
              <a:ext uri="{FF2B5EF4-FFF2-40B4-BE49-F238E27FC236}">
                <a16:creationId xmlns:a16="http://schemas.microsoft.com/office/drawing/2014/main" xmlns="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02200" y="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900" y="22733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994150" y="639103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332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xmlns="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354900" y="1600200"/>
            <a:ext cx="1171072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95250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MA.912.GR.1.2 </a:t>
            </a:r>
          </a:p>
          <a:p>
            <a:pPr marL="458788" indent="0">
              <a:buNone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Prove triangle congruence or similarity using Side-Side-Side, Side-Angle-Side, Angle-Side-Angle, Angle-Angle-Side, Angle-Angle, and Hypotenuse-Leg.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3848" y="216183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3568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xmlns="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1148" y="0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0" name="Google Shape;282;g104476d1465_1_17">
            <a:extLst>
              <a:ext uri="{FF2B5EF4-FFF2-40B4-BE49-F238E27FC236}">
                <a16:creationId xmlns:a16="http://schemas.microsoft.com/office/drawing/2014/main" xmlns="" id="{E701C7D4-7BD4-5F4C-ACEB-5781D00837A2}"/>
              </a:ext>
            </a:extLst>
          </p:cNvPr>
          <p:cNvSpPr txBox="1"/>
          <p:nvPr/>
        </p:nvSpPr>
        <p:spPr>
          <a:xfrm>
            <a:off x="8969568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332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xmlns="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373847" y="1582776"/>
            <a:ext cx="11524503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MA.K12.MTR.3.1 Complete tasks with mathematical fluency.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1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1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02200" y="-114305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4900" y="17489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xmlns="" id="{3ECD2D46-55D5-C547-91DD-0801CE9D6AD7}"/>
              </a:ext>
            </a:extLst>
          </p:cNvPr>
          <p:cNvSpPr txBox="1"/>
          <p:nvPr/>
        </p:nvSpPr>
        <p:spPr>
          <a:xfrm>
            <a:off x="8994150" y="642901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332</a:t>
            </a:r>
          </a:p>
        </p:txBody>
      </p:sp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xmlns="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354900" y="1631197"/>
            <a:ext cx="985590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342900" indent="-342900">
              <a:buFont typeface="Wingdings" charset="2"/>
              <a:buChar char="q"/>
            </a:pPr>
            <a:r>
              <a:rPr lang="en-US" sz="2400" dirty="0">
                <a:latin typeface="Verdana" charset="0"/>
                <a:ea typeface="Verdana" charset="0"/>
                <a:cs typeface="Verdana" charset="0"/>
              </a:rPr>
              <a:t>I can use triangle similarity to prove triangles are similar.  </a:t>
            </a: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332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7061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2519850" y="60325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6.8.1 Warm-Up: Vegetable Garden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xmlns="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72550" y="1974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994150" y="642112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332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xmlns="" id="{E1D7562E-134F-D14B-AF1A-DF40E11EF758}"/>
                  </a:ext>
                </a:extLst>
              </p:cNvPr>
              <p:cNvSpPr txBox="1"/>
              <p:nvPr/>
            </p:nvSpPr>
            <p:spPr>
              <a:xfrm>
                <a:off x="344487" y="1386026"/>
                <a:ext cx="11721133" cy="50167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𝐴𝐵𝐶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used to create a plan for a vegetable garden. 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445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do you notice about the plan?</a:t>
                </a:r>
              </a:p>
              <a:p>
                <a:pPr marL="917575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445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Write at least three equivalent ratios or equations using lengths from both the diagram and the full-size garden.</a:t>
                </a:r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1D7562E-134F-D14B-AF1A-DF40E11EF7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4487" y="1386026"/>
                <a:ext cx="11721133" cy="5016758"/>
              </a:xfrm>
              <a:prstGeom prst="rect">
                <a:avLst/>
              </a:prstGeom>
              <a:blipFill>
                <a:blip r:embed="rId5"/>
                <a:stretch>
                  <a:fillRect l="-325" t="-504" b="-10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72446" y="1827266"/>
            <a:ext cx="4161940" cy="319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C9DF6F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333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xmlns="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1824" y="-6423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6.8.2 Collaboration: Proving Triangle Similarity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333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A80EBD0F-404F-0B4B-AC09-DA5A6DF602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2016" y="214456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E44DF7DE-9172-3E4E-B74A-7A51585FB6EA}"/>
                  </a:ext>
                </a:extLst>
              </p:cNvPr>
              <p:cNvSpPr txBox="1"/>
              <p:nvPr/>
            </p:nvSpPr>
            <p:spPr>
              <a:xfrm>
                <a:off x="392016" y="1386026"/>
                <a:ext cx="9995568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With your partner, answer the following questions. </a:t>
                </a:r>
              </a:p>
              <a:p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𝑊𝑍𝑌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𝑅𝑃𝑇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𝑊𝑍𝑌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≅∠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𝑇𝑅𝑃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𝑍𝑊𝑌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≅∠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𝑅𝑇𝑃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44DF7DE-9172-3E4E-B74A-7A51585FB6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16" y="1386026"/>
                <a:ext cx="9995568" cy="1015663"/>
              </a:xfrm>
              <a:prstGeom prst="rect">
                <a:avLst/>
              </a:prstGeom>
              <a:blipFill>
                <a:blip r:embed="rId5"/>
                <a:stretch>
                  <a:fillRect l="-635" t="-2439" b="-85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93441" y="2749275"/>
            <a:ext cx="5232400" cy="370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601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994150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333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401444" y="535892"/>
            <a:ext cx="11226706" cy="40934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Mark the figure using the given information. </a:t>
            </a: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What similarity theorem can be applied to show that the triangles are similar?</a:t>
            </a: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Write the similarity statement.</a:t>
            </a: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each.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0522175"/>
                  </p:ext>
                </p:extLst>
              </p:nvPr>
            </p:nvGraphicFramePr>
            <p:xfrm>
              <a:off x="2802023" y="5327158"/>
              <a:ext cx="6738620" cy="87344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24536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19202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301240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837565">
                    <a:tc>
                      <a:txBody>
                        <a:bodyPr/>
                        <a:lstStyle/>
                        <a:p>
                          <a:pPr marL="446405" marR="0" indent="-446405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𝑊𝑍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              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           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𝑃𝑇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446405" marR="0" indent="-446405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446405" marR="0" indent="-446405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𝑍𝑌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               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           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charset="0"/>
                                        <a:ea typeface="Times New Roman" charset="0"/>
                                        <a:cs typeface="Times New Roman" charset="0"/>
                                      </a:rPr>
                                      <m:t>𝑅𝑇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  <a:p>
                          <a:pPr marL="446405" marR="0" indent="-446405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 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𝑊𝑌𝑍</m:t>
                                </m:r>
                                <m:r>
                                  <a:rPr lang="en-US" sz="2000" i="1">
                                    <a:effectLst/>
                                    <a:latin typeface="Cambria Math" charset="0"/>
                                    <a:ea typeface="Times New Roman" charset="0"/>
                                    <a:cs typeface="Times New Roman" charset="0"/>
                                  </a:rPr>
                                  <m:t>≅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520522175"/>
                  </p:ext>
                </p:extLst>
              </p:nvPr>
            </p:nvGraphicFramePr>
            <p:xfrm>
              <a:off x="2802023" y="5327158"/>
              <a:ext cx="6738620" cy="87344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24536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1920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01240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873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t="-7143" r="-2005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102312" t="-7143" r="-10520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4"/>
                          <a:stretch>
                            <a:fillRect l="-192308" t="-71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348416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309206" y="615581"/>
            <a:ext cx="5731472" cy="2588407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8135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994150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333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Rectangle 2"/>
              <p:cNvSpPr/>
              <p:nvPr/>
            </p:nvSpPr>
            <p:spPr>
              <a:xfrm>
                <a:off x="446048" y="165527"/>
                <a:ext cx="11182101" cy="576375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𝐾𝐻𝐺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𝑀𝑉𝐶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𝐾𝐻𝐺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≅∠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𝑉𝑀𝐶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𝐾𝐻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𝑉𝑀</m:t>
                        </m:r>
                      </m:den>
                    </m:f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𝐺𝐻</m:t>
                        </m:r>
                      </m:num>
                      <m:den>
                        <m:r>
                          <a:rPr lang="en-US" sz="2000" i="1">
                            <a:latin typeface="Cambria Math" panose="02040503050406030204" pitchFamily="18" charset="0"/>
                            <a:ea typeface="Verdana" charset="0"/>
                            <a:cs typeface="Verdana" charset="0"/>
                          </a:rPr>
                          <m:t>𝐶𝑀</m:t>
                        </m:r>
                      </m:den>
                    </m:f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. </a:t>
                </a:r>
              </a:p>
              <a:p>
                <a:pPr marL="342900" indent="-3429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342900" indent="-342900">
                  <a:buFont typeface="+mj-lt"/>
                  <a:buAutoNum type="arabicPeriod" startAt="2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445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Mark the figure using the given information. </a:t>
                </a:r>
              </a:p>
              <a:p>
                <a:pPr marL="917575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445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What similarity theorem can be applied to show that the triangles are similar?</a:t>
                </a:r>
              </a:p>
              <a:p>
                <a:pPr marL="917575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445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Write the similarity statement. </a:t>
                </a:r>
              </a:p>
              <a:p>
                <a:pPr marL="917575" indent="-4445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917575" indent="-4445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Complete each.</a:t>
                </a:r>
              </a:p>
              <a:p>
                <a:pPr marL="342900" indent="-3429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048" y="165527"/>
                <a:ext cx="11182101" cy="5763757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5562025"/>
                  </p:ext>
                </p:extLst>
              </p:nvPr>
            </p:nvGraphicFramePr>
            <p:xfrm>
              <a:off x="2813260" y="5904317"/>
              <a:ext cx="7025580" cy="87744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41476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2341476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  <a:gridCol w="2342628">
                      <a:extLst>
                        <a:ext uri="{9D8B030D-6E8A-4147-A177-3AD203B41FA5}">
                          <a16:colId xmlns:a16="http://schemas.microsoft.com/office/drawing/2014/main" xmlns="" val="20002"/>
                        </a:ext>
                      </a:extLst>
                    </a:gridCol>
                  </a:tblGrid>
                  <a:tr h="856615">
                    <a:tc>
                      <a:txBody>
                        <a:bodyPr/>
                        <a:lstStyle/>
                        <a:p>
                          <a:pPr marL="846455" marR="0" indent="-846455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𝐾𝐺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           </m:t>
                                    </m:r>
                                  </m:den>
                                </m:f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000" i="1">
                                        <a:effectLst/>
                                        <a:latin typeface="Cambria Math" charset="0"/>
                                        <a:ea typeface="Verdana" charset="0"/>
                                        <a:cs typeface="Verdana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         </m:t>
                                    </m:r>
                                  </m:num>
                                  <m:den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Verdana" charset="0"/>
                                        <a:cs typeface="Verdana" charset="0"/>
                                      </a:rPr>
                                      <m:t>𝐶𝑀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846455" marR="0" indent="-846455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 </a:t>
                          </a: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846455" marR="0" indent="-846455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𝐻𝐺𝐾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≅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846455" marR="0" indent="-846455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∠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𝐶𝑉𝑀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≅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795562025"/>
                  </p:ext>
                </p:extLst>
              </p:nvPr>
            </p:nvGraphicFramePr>
            <p:xfrm>
              <a:off x="2813260" y="5904317"/>
              <a:ext cx="7025580" cy="877443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341476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2341476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2342628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877443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t="-5714" r="-199459" b="-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l="-100543" t="-5714" r="-100543" b="-14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>
                          <a:noFill/>
                        </a:lnL>
                        <a:lnR>
                          <a:noFill/>
                        </a:lnR>
                        <a:lnT>
                          <a:noFill/>
                        </a:lnT>
                        <a:lnB>
                          <a:noFill/>
                        </a:lnB>
                        <a:blipFill>
                          <a:blip r:embed="rId6"/>
                          <a:stretch>
                            <a:fillRect l="-199459" t="-5714" b="-142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945656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3855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:a16="http://schemas.microsoft.com/office/drawing/2014/main" xmlns="" id="{2AC58C8F-2DD8-F347-9ECA-58EE9E1B7E9C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xmlns="" id="{33005AFD-D615-1344-BDC0-5A40F6454816}"/>
              </a:ext>
            </a:extLst>
          </p:cNvPr>
          <p:cNvSpPr txBox="1"/>
          <p:nvPr/>
        </p:nvSpPr>
        <p:spPr>
          <a:xfrm>
            <a:off x="8969855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334</a:t>
            </a:r>
          </a:p>
        </p:txBody>
      </p:sp>
    </p:spTree>
    <p:extLst>
      <p:ext uri="{BB962C8B-B14F-4D97-AF65-F5344CB8AC3E}">
        <p14:creationId xmlns:p14="http://schemas.microsoft.com/office/powerpoint/2010/main" val="2030364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xmlns="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141824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6.8.3 Guided Instruction: Proving Triangle Similarity</a:t>
            </a:r>
          </a:p>
        </p:txBody>
      </p:sp>
      <p:pic>
        <p:nvPicPr>
          <p:cNvPr id="9" name="Google Shape;345;g103996e1364_0_321">
            <a:extLst>
              <a:ext uri="{FF2B5EF4-FFF2-40B4-BE49-F238E27FC236}">
                <a16:creationId xmlns:a16="http://schemas.microsoft.com/office/drawing/2014/main" xmlns="" id="{CBDD45DF-949B-9F42-BFF6-A7167F0CF79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524" y="203221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B2B1ECCC-8E07-F247-BB16-7B958B8E6B20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334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xmlns="" id="{C01B13E8-EC8D-E443-A329-C5E3593DD13A}"/>
                  </a:ext>
                </a:extLst>
              </p:cNvPr>
              <p:cNvSpPr txBox="1"/>
              <p:nvPr/>
            </p:nvSpPr>
            <p:spPr>
              <a:xfrm>
                <a:off x="394524" y="1386026"/>
                <a:ext cx="9993060" cy="40081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Δ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𝐺𝑇𝐴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Δ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𝑇𝐸𝑅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shown,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𝐺𝐴</m:t>
                        </m:r>
                      </m:e>
                    </m:acc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∥</m:t>
                    </m:r>
                    <m:acc>
                      <m:accPr>
                        <m:chr m:val="̅"/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𝐸𝑅</m:t>
                        </m:r>
                      </m:e>
                    </m:acc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.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C01B13E8-EC8D-E443-A329-C5E3593DD1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4524" y="1386026"/>
                <a:ext cx="9993060" cy="400815"/>
              </a:xfrm>
              <a:prstGeom prst="rect">
                <a:avLst/>
              </a:prstGeom>
              <a:blipFill>
                <a:blip r:embed="rId5"/>
                <a:stretch>
                  <a:fillRect l="-508" t="-6061" b="-2424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50059" y="2304280"/>
            <a:ext cx="5194300" cy="397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86052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334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390292" y="520393"/>
                <a:ext cx="11608419" cy="34778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With your partner, discuss what conclusions can be drawn using the given information. Summarize your discussion and explain how you reached each conclusion.</a:t>
                </a: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lphaL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Which similarity postulates should be used to prove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𝐺𝑇𝐴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~∆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𝑅𝑇𝐸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?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0292" y="520393"/>
                <a:ext cx="11608419" cy="3477875"/>
              </a:xfrm>
              <a:prstGeom prst="rect">
                <a:avLst/>
              </a:prstGeom>
              <a:blipFill>
                <a:blip r:embed="rId4"/>
                <a:stretch>
                  <a:fillRect l="-546" t="-727" b="-21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874306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34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47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994150" y="6457676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356839" y="520393"/>
            <a:ext cx="997806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3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two-column proof.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815746"/>
                  </p:ext>
                </p:extLst>
              </p:nvPr>
            </p:nvGraphicFramePr>
            <p:xfrm>
              <a:off x="2395150" y="1118378"/>
              <a:ext cx="7553601" cy="427799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815871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73773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46799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Statement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Reason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9525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1. </a:t>
                          </a:r>
                          <a14:m>
                            <m:oMath xmlns:m="http://schemas.openxmlformats.org/officeDocument/2006/math"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  <m:t>𝐺𝐴</m:t>
                                  </m:r>
                                </m:e>
                              </m:acc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∥</m:t>
                              </m:r>
                              <m:acc>
                                <m:accPr>
                                  <m:chr m:val="̅"/>
                                  <m:ctrlPr>
                                    <a:rPr lang="en-US" sz="2000" i="1"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2000" i="1"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  <m:t>𝐸𝑅</m:t>
                                  </m:r>
                                </m:e>
                              </m:acc>
                            </m:oMath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1. 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9525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2. 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2. Alternate Interior Angles are congruent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9525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3. 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3. 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9525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4.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∆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𝐺𝑇𝐴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~∆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𝑅𝑇𝐸</m:t>
                              </m:r>
                            </m:oMath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4. 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2815746"/>
                  </p:ext>
                </p:extLst>
              </p:nvPr>
            </p:nvGraphicFramePr>
            <p:xfrm>
              <a:off x="2395150" y="1118378"/>
              <a:ext cx="7553601" cy="427799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81587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73773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67995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Statement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Reason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9525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2" t="-50667" r="-98339" b="-30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1. 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9525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2. 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2. Alternate Interior Angles are congruent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9525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3. 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3. 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9525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32" t="-350667" r="-98339" b="-2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4. 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5861345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60517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4719" y="6184196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9807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334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345688" y="520393"/>
            <a:ext cx="11095463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4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Ask two classmates about their proof. Record their step 3 statement and reason. </a:t>
            </a:r>
            <a:r>
              <a:rPr lang="en-US" sz="2000" i="1" dirty="0">
                <a:latin typeface="Verdana" charset="0"/>
                <a:ea typeface="Verdana" charset="0"/>
                <a:cs typeface="Verdana" charset="0"/>
              </a:rPr>
              <a:t>You are the only person who should write in the first two columns of the table.</a:t>
            </a: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 Have the person initial next to your summary stating that your summary was correct.</a:t>
            </a: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7556343"/>
              </p:ext>
            </p:extLst>
          </p:nvPr>
        </p:nvGraphicFramePr>
        <p:xfrm>
          <a:off x="2227983" y="2502385"/>
          <a:ext cx="7886701" cy="2160910"/>
        </p:xfrm>
        <a:graphic>
          <a:graphicData uri="http://schemas.openxmlformats.org/drawingml/2006/table">
            <a:tbl>
              <a:tblPr bandRow="1"/>
              <a:tblGrid>
                <a:gridCol w="2785098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258481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2516791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672522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Step 3 Statement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1190" marR="611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Step 3 Reason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1190" marR="611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Initials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1190" marR="6119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759208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1190" marR="6119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1190" marR="6119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1190" marR="6119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729180"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00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1190" marR="6119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1190" marR="6119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  <a:ea typeface="Verdana" charset="0"/>
                          <a:cs typeface="Verdana" charset="0"/>
                        </a:rPr>
                        <a:t> </a:t>
                      </a:r>
                      <a:endParaRPr lang="en-US" sz="2000" dirty="0">
                        <a:effectLst/>
                        <a:latin typeface="Cambria" charset="0"/>
                        <a:ea typeface="Times New Roman" charset="0"/>
                        <a:cs typeface="Times New Roman" charset="0"/>
                      </a:endParaRPr>
                    </a:p>
                  </a:txBody>
                  <a:tcPr marL="61190" marR="6119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3" name="Rectangle 2"/>
              <p:cNvSpPr/>
              <p:nvPr/>
            </p:nvSpPr>
            <p:spPr>
              <a:xfrm>
                <a:off x="345688" y="5170337"/>
                <a:ext cx="11269031" cy="400110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lphaLcPeriod" startAt="5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Discuss with your partner the two different ways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𝐺𝑇𝐴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~∆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𝑅𝑇𝐸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can be proved.</a:t>
                </a:r>
              </a:p>
            </p:txBody>
          </p:sp>
        </mc:Choice>
        <mc:Fallback xmlns="">
          <p:sp>
            <p:nvSpPr>
              <p:cNvPr id="3" name="Rectangle 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5688" y="5170337"/>
                <a:ext cx="11269031" cy="400110"/>
              </a:xfrm>
              <a:prstGeom prst="rect">
                <a:avLst/>
              </a:prstGeom>
              <a:blipFill>
                <a:blip r:embed="rId4"/>
                <a:stretch>
                  <a:fillRect l="-563" t="-9375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93660595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748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5871" y="619133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991871" y="644841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335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390293" y="520393"/>
            <a:ext cx="994460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lphaLcPeriod" startAt="6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Explain why you do not need to state three congruent angles in your two-column proof. </a:t>
            </a:r>
          </a:p>
          <a:p>
            <a:pPr marL="457200" indent="-457200">
              <a:buFont typeface="+mj-lt"/>
              <a:buAutoNum type="alphaLcPeriod" startAt="6"/>
            </a:pPr>
            <a:endParaRPr lang="en-US" sz="2000" dirty="0">
              <a:latin typeface="Verdana" charset="0"/>
              <a:ea typeface="Verdana" charset="0"/>
              <a:cs typeface="Verdana" charset="0"/>
            </a:endParaRPr>
          </a:p>
          <a:p>
            <a:pPr marL="457200" indent="-457200">
              <a:buFont typeface="+mj-lt"/>
              <a:buAutoNum type="alphaLcPeriod" startAt="6"/>
            </a:pPr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Arian and Isabella were discussing why there is no Angle-Angle-Angle Similarity Theorem.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8958540"/>
                  </p:ext>
                </p:extLst>
              </p:nvPr>
            </p:nvGraphicFramePr>
            <p:xfrm>
              <a:off x="2376408" y="2327545"/>
              <a:ext cx="7676569" cy="24384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862549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814020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Arian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Isabella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I think once you know two pairs of angles in a triangle are congruent, then you know the last pair are congruent since the sum of all of the angles of a triangle are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180°.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I think once you know two pairs of angles in a triangle are congruent, then you know all of the sides are proportional.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48958540"/>
                  </p:ext>
                </p:extLst>
              </p:nvPr>
            </p:nvGraphicFramePr>
            <p:xfrm>
              <a:off x="2376408" y="2327545"/>
              <a:ext cx="7676569" cy="24384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86254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814020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3048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Arian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Isabella</a:t>
                          </a:r>
                          <a:endParaRPr lang="en-US" sz="20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21336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29" t="-17751" r="-99342" b="-710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Times New Roman" charset="0"/>
                              <a:cs typeface="Times New Roman" charset="0"/>
                            </a:rPr>
                            <a:t>I think once you know two pairs of angles in a triangle are congruent, then you know all of the sides are proportional.</a:t>
                          </a:r>
                          <a:endParaRPr lang="en-US" sz="20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3" name="Rectangle 2"/>
          <p:cNvSpPr/>
          <p:nvPr/>
        </p:nvSpPr>
        <p:spPr>
          <a:xfrm>
            <a:off x="713678" y="4941881"/>
            <a:ext cx="10459844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914400"/>
            <a:r>
              <a:rPr lang="en-US" sz="2000" dirty="0">
                <a:latin typeface="Verdana" charset="0"/>
                <a:ea typeface="Times New Roman" charset="0"/>
                <a:cs typeface="Times New Roman" charset="0"/>
              </a:rPr>
              <a:t>Discuss with your partner why Arian and Isabella’s arguments could also be applied to show why Angle-Side-Angle similarity and Angle-Angle-Side similarity is not needed to prove similarity. Summarize your discussion. </a:t>
            </a:r>
            <a:endParaRPr lang="en-US" sz="2000" dirty="0">
              <a:latin typeface="Cambria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6269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335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446049" y="361326"/>
                <a:ext cx="9606927" cy="132343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Δ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𝑆𝑃𝐷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Δ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𝑀𝑃𝑅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shown.</a:t>
                </a:r>
              </a:p>
              <a:p>
                <a:pPr marL="45720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 </a:t>
                </a:r>
              </a:p>
              <a:p>
                <a:pPr marL="45720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Given: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=3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𝑆𝑃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=12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𝑅𝐷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=2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𝐷𝑃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=8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Prove: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𝑆𝐷𝑃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~∆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𝑀𝑅𝑃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4" name="Rectangle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6049" y="361326"/>
                <a:ext cx="9606927" cy="1323439"/>
              </a:xfrm>
              <a:prstGeom prst="rect">
                <a:avLst/>
              </a:prstGeom>
              <a:blipFill>
                <a:blip r:embed="rId4"/>
                <a:stretch>
                  <a:fillRect l="-396" t="-2857" b="-7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20174" y="1954935"/>
            <a:ext cx="5029200" cy="3962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84122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99453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335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96165660"/>
                  </p:ext>
                </p:extLst>
              </p:nvPr>
            </p:nvGraphicFramePr>
            <p:xfrm>
              <a:off x="2053313" y="337790"/>
              <a:ext cx="8258226" cy="563967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81048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5377178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52587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Statement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3506" marR="535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Reason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3506" marR="535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812317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1.</a:t>
                          </a: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𝑀𝑆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=3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𝑆𝑃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=12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,          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𝑅𝐷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=2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,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𝐷𝑃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=8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3506" marR="535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1.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3506" marR="535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657500">
                    <a:tc>
                      <a:txBody>
                        <a:bodyPr/>
                        <a:lstStyle/>
                        <a:p>
                          <a:pPr marL="457200" marR="0" indent="-45720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AutoNum type="arabicPeriod" startAt="2"/>
                          </a:pPr>
                          <a14:m>
                            <m:oMath xmlns:m="http://schemas.openxmlformats.org/officeDocument/2006/math">
                              <m: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𝑀𝑆</m:t>
                              </m:r>
                              <m: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+</m:t>
                              </m:r>
                              <m: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𝑆𝑃</m:t>
                              </m:r>
                              <m: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=</m:t>
                              </m:r>
                              <m:r>
                                <a:rPr lang="en-US" sz="2000" i="1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𝑃𝑀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  <a:endParaRPr lang="en-US" sz="2000" dirty="0">
                            <a:solidFill>
                              <a:schemeClr val="tx1"/>
                            </a:solidFill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 indent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None/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b="0" i="1" smtClean="0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        </m:t>
                                </m:r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𝑅𝐷</m:t>
                                </m:r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+</m:t>
                                </m:r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𝐷𝑃</m:t>
                                </m:r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=</m:t>
                                </m:r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Verdana" charset="0"/>
                                    <a:cs typeface="Verdana" charset="0"/>
                                  </a:rPr>
                                  <m:t>𝑅𝑃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3506" marR="535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2. 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3506" marR="535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6575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3.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𝑃𝑀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=15</m:t>
                              </m:r>
                            </m:oMath>
                          </a14:m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aseline="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𝑅𝑃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=10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3506" marR="535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3. Substitution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3506" marR="535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101398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4.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  <m:t>𝑃𝑆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  <m:t>𝑃𝑀</m:t>
                                  </m:r>
                                </m:den>
                              </m:f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  <m:t>12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  <m:t>15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/>
                          </a:r>
                          <a:b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</a:b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  <m:t>𝑃𝐷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  <m:t>𝑃𝑅</m:t>
                                  </m:r>
                                </m:den>
                              </m:f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  <m:t>8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  <m:t>10</m:t>
                                  </m:r>
                                </m:den>
                              </m:f>
                            </m:oMath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3506" marR="535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4. 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3506" marR="535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6575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5.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  <m:t>𝑃𝑆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  <m:t>𝑃𝑀</m:t>
                                  </m:r>
                                </m:den>
                              </m:f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  <m:t>𝑃𝐷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panose="02040503050406030204" pitchFamily="18" charset="0"/>
                                      <a:ea typeface="Verdana" charset="0"/>
                                      <a:cs typeface="Verdana" charset="0"/>
                                    </a:rPr>
                                    <m:t>𝑃𝑅</m:t>
                                  </m:r>
                                </m:den>
                              </m:f>
                            </m:oMath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3506" marR="535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5. 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3506" marR="535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6575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6.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 ∠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𝑃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≅∠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𝑃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3506" marR="535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6.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3506" marR="535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  <a:tr h="657500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7.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∆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𝑆𝐷𝑃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~∆</m:t>
                              </m:r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Verdana" charset="0"/>
                                  <a:cs typeface="Verdana" charset="0"/>
                                </a:rPr>
                                <m:t>𝑀𝑅𝑃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3506" marR="535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7. 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3506" marR="535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96165660"/>
                  </p:ext>
                </p:extLst>
              </p:nvPr>
            </p:nvGraphicFramePr>
            <p:xfrm>
              <a:off x="2053313" y="337790"/>
              <a:ext cx="8258226" cy="5639679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88104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5377178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25874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Statement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3506" marR="535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Reason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3506" marR="535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1231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3506" marR="535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41" t="-64615" r="-187665" b="-5230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1.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3506" marR="535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6575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3506" marR="535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41" t="-209804" r="-187665" b="-56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2. 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3506" marR="535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6575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3506" marR="535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41" t="-303846" r="-187665" b="-45576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3. Substitution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3506" marR="535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101398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3506" marR="535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41" t="-262500" r="-187665" b="-19625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4. 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3506" marR="535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6575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3506" marR="535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41" t="-557692" r="-187665" b="-2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5. 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3506" marR="535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6575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3506" marR="535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41" t="-657692" r="-187665" b="-10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6.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3506" marR="535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  <a:tr h="65750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3506" marR="535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441" t="-757692" r="-187665" b="-192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7. 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3506" marR="53506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654142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116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xmlns="" id="{B595484E-1C62-AC4F-B448-37E60F77A8C0}"/>
              </a:ext>
            </a:extLst>
          </p:cNvPr>
          <p:cNvSpPr txBox="1"/>
          <p:nvPr/>
        </p:nvSpPr>
        <p:spPr>
          <a:xfrm>
            <a:off x="8994150" y="64659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336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xmlns="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13171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28145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19548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xmlns="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41824" y="-71061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6.8.4 Try It: Triangle Similarity</a:t>
            </a:r>
          </a:p>
        </p:txBody>
      </p:sp>
      <p:sp>
        <p:nvSpPr>
          <p:cNvPr id="15" name="Google Shape;282;g104476d1465_1_17">
            <a:extLst>
              <a:ext uri="{FF2B5EF4-FFF2-40B4-BE49-F238E27FC236}">
                <a16:creationId xmlns:a16="http://schemas.microsoft.com/office/drawing/2014/main" xmlns="" id="{5B627696-920F-B441-B5C1-01510F09761A}"/>
              </a:ext>
            </a:extLst>
          </p:cNvPr>
          <p:cNvSpPr txBox="1"/>
          <p:nvPr/>
        </p:nvSpPr>
        <p:spPr>
          <a:xfrm>
            <a:off x="8994150" y="6458257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336</a:t>
            </a:r>
          </a:p>
        </p:txBody>
      </p:sp>
      <p:pic>
        <p:nvPicPr>
          <p:cNvPr id="9" name="Picture 2">
            <a:extLst>
              <a:ext uri="{FF2B5EF4-FFF2-40B4-BE49-F238E27FC236}">
                <a16:creationId xmlns:a16="http://schemas.microsoft.com/office/drawing/2014/main" xmlns="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2016" y="192154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xmlns="" id="{0AB6A3A1-5A0D-C84F-AC89-57E6782F43E5}"/>
                  </a:ext>
                </a:extLst>
              </p:cNvPr>
              <p:cNvSpPr txBox="1"/>
              <p:nvPr/>
            </p:nvSpPr>
            <p:spPr>
              <a:xfrm>
                <a:off x="392016" y="1365739"/>
                <a:ext cx="4305968" cy="13234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Amanda and Tyler are determining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𝑀𝐶𝐷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~∆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𝑂𝐿𝑁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is true. Their </a:t>
                </a:r>
                <a:r>
                  <a:rPr lang="en-US" sz="2000" dirty="0" err="1">
                    <a:latin typeface="Verdana" charset="0"/>
                    <a:ea typeface="Verdana" charset="0"/>
                    <a:cs typeface="Verdana" charset="0"/>
                  </a:rPr>
                  <a:t>reasonings</a:t>
                </a: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shown.  </a:t>
                </a: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0AB6A3A1-5A0D-C84F-AC89-57E6782F43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016" y="1365739"/>
                <a:ext cx="4305968" cy="1323439"/>
              </a:xfrm>
              <a:prstGeom prst="rect">
                <a:avLst/>
              </a:prstGeom>
              <a:blipFill>
                <a:blip r:embed="rId5"/>
                <a:stretch>
                  <a:fillRect l="-1466" t="-1905" r="-2053" b="-761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697984" y="1386025"/>
            <a:ext cx="5689600" cy="2654300"/>
          </a:xfrm>
          <a:prstGeom prst="rect">
            <a:avLst/>
          </a:prstGeom>
        </p:spPr>
      </p:pic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504261"/>
              </p:ext>
            </p:extLst>
          </p:nvPr>
        </p:nvGraphicFramePr>
        <p:xfrm>
          <a:off x="2724150" y="4109949"/>
          <a:ext cx="6743700" cy="1584960"/>
        </p:xfrm>
        <a:graphic>
          <a:graphicData uri="http://schemas.openxmlformats.org/drawingml/2006/table">
            <a:tbl>
              <a:tblPr firstRow="1" firstCol="1" bandRow="1"/>
              <a:tblGrid>
                <a:gridCol w="3413125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330575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>
                          <a:effectLst/>
                          <a:latin typeface="Verdana" charset="0"/>
                        </a:rPr>
                        <a:t>Amanda’s Answer</a:t>
                      </a:r>
                      <a:endParaRPr lang="en-US" sz="1400">
                        <a:effectLst/>
                        <a:latin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charset="0"/>
                        </a:rPr>
                        <a:t>Tyler’s Answer</a:t>
                      </a:r>
                      <a:endParaRPr lang="en-US" sz="1400" dirty="0">
                        <a:effectLst/>
                        <a:latin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charset="0"/>
                        </a:rPr>
                        <a:t>No, the triangles are not similar because the corresponding sides are not proportional. </a:t>
                      </a:r>
                      <a:endParaRPr lang="en-US" sz="1400">
                        <a:effectLst/>
                        <a:latin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charset="0"/>
                        </a:rPr>
                        <a:t>Yes, the triangles are similar because the corresponding sides are proportional. </a:t>
                      </a:r>
                      <a:endParaRPr lang="en-US" sz="1400" dirty="0">
                        <a:effectLst/>
                        <a:latin typeface="Cambria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  <p:sp>
        <p:nvSpPr>
          <p:cNvPr id="4" name="Rectangle 3"/>
          <p:cNvSpPr/>
          <p:nvPr/>
        </p:nvSpPr>
        <p:spPr>
          <a:xfrm>
            <a:off x="2060448" y="5972009"/>
            <a:ext cx="8111606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/>
            <a:r>
              <a:rPr lang="en-US" sz="2000" dirty="0">
                <a:latin typeface="Verdana" charset="0"/>
                <a:ea typeface="Times New Roman" charset="0"/>
                <a:cs typeface="Times New Roman" charset="0"/>
              </a:rPr>
              <a:t>Who do you agree with? Explain your reasoning. </a:t>
            </a:r>
            <a:endParaRPr lang="en-US" sz="2000" dirty="0">
              <a:latin typeface="Cambria" charset="0"/>
              <a:ea typeface="Times New Roman" charset="0"/>
              <a:cs typeface="Times New Roman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63711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6566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1584" y="6179415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987584" y="6457800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336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xmlns="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434898" y="520394"/>
                <a:ext cx="9900003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Δ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𝑇𝐿𝐺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Δ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𝑇𝑆𝐷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shown.</a:t>
                </a:r>
              </a:p>
              <a:p>
                <a:pPr marL="45878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Given: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𝑇𝐺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=4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𝐺𝐷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=2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𝑇𝐿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=6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𝐿𝑆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=3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𝐺𝐿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=6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𝐷𝑆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=9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878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Prove: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 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𝑇𝐿𝐺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~∆</m:t>
                    </m:r>
                    <m:r>
                      <a:rPr lang="en-US" sz="2000" i="1">
                        <a:latin typeface="Cambria Math" panose="02040503050406030204" pitchFamily="18" charset="0"/>
                        <a:ea typeface="Verdana" charset="0"/>
                        <a:cs typeface="Verdana" charset="0"/>
                      </a:rPr>
                      <m:t>𝑇𝑆𝐷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4898" y="520394"/>
                <a:ext cx="9900003" cy="1015663"/>
              </a:xfrm>
              <a:prstGeom prst="rect">
                <a:avLst/>
              </a:prstGeom>
              <a:blipFill>
                <a:blip r:embed="rId4"/>
                <a:stretch>
                  <a:fillRect l="-385" t="-2469" b="-98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536083" y="1906178"/>
            <a:ext cx="5270500" cy="3924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06338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4719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980719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336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696378"/>
                  </p:ext>
                </p:extLst>
              </p:nvPr>
            </p:nvGraphicFramePr>
            <p:xfrm>
              <a:off x="2138774" y="399781"/>
              <a:ext cx="8141769" cy="535009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146658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995111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42930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Statement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8284" marR="5828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Reason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8284" marR="5828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859942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1.</a:t>
                          </a: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𝑇𝐺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=4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𝐺𝐷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=2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𝑇𝐿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=6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,</a:t>
                          </a: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 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𝐿𝑆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=3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𝐺𝐿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=6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,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𝐷𝑆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=9</m:t>
                              </m:r>
                            </m:oMath>
                          </a14:m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8284" marR="5828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1.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8284" marR="5828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81216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2.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𝑇𝐺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+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𝐺𝐷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=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𝑇𝐷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   </m:t>
                              </m:r>
                            </m:oMath>
                          </a14:m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   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𝑇𝐿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+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𝐿𝑆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=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𝑇𝑆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8284" marR="5828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2. 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8284" marR="5828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81216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3.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𝑇𝐷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=6 ,  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𝑇𝑆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=9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8284" marR="5828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3. Substitution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8284" marR="5828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81216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4.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𝑇𝐺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𝑇𝐷</m:t>
                                  </m:r>
                                </m:den>
                              </m:f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4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6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𝑇𝐿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𝑇𝑆</m:t>
                                  </m:r>
                                </m:den>
                              </m:f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9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,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𝐺𝐿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𝐷𝑆</m:t>
                                  </m:r>
                                </m:den>
                              </m:f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9</m:t>
                                  </m:r>
                                </m:den>
                              </m:f>
                            </m:oMath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8284" marR="5828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4. 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8284" marR="5828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81216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5.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𝑇𝐺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𝑇𝐷</m:t>
                                  </m:r>
                                </m:den>
                              </m:f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𝑇𝐿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𝑇𝑆</m:t>
                                  </m:r>
                                </m:den>
                              </m:f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𝐺𝐿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Verdana" charset="0"/>
                                      <a:cs typeface="Verdana" charset="0"/>
                                    </a:rPr>
                                    <m:t>𝐷𝑆</m:t>
                                  </m:r>
                                </m:den>
                              </m:f>
                            </m:oMath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8284" marR="5828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5. 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8284" marR="5828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  <a:tr h="812168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6.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∆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𝑇𝐿𝐺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~∆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Verdana" charset="0"/>
                                  <a:cs typeface="Verdana" charset="0"/>
                                </a:rPr>
                                <m:t>𝑇𝑆𝐷</m:t>
                              </m:r>
                            </m:oMath>
                          </a14:m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8284" marR="5828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6.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8284" marR="5828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696378"/>
                  </p:ext>
                </p:extLst>
              </p:nvPr>
            </p:nvGraphicFramePr>
            <p:xfrm>
              <a:off x="2138774" y="399781"/>
              <a:ext cx="8141769" cy="535009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4146658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995111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42930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Statement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8284" marR="5828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Reason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8284" marR="5828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85994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284" marR="5828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6" t="-51471" r="-96636" b="-47352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1.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8284" marR="5828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8121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284" marR="5828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6" t="-160938" r="-96636" b="-403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2. 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8284" marR="5828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8121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284" marR="5828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6" t="-260938" r="-96636" b="-303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3. Substitution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8284" marR="5828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8121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284" marR="5828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6" t="-360938" r="-96636" b="-203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4. </a:t>
                          </a:r>
                          <a:endParaRPr lang="en-US" sz="200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8284" marR="5828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8121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284" marR="5828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6" t="-460938" r="-96636" b="-103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5. 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8284" marR="5828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  <a:tr h="81216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58284" marR="5828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06" t="-560938" r="-96636" b="-312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Verdana" charset="0"/>
                              <a:cs typeface="Verdana" charset="0"/>
                            </a:rPr>
                            <a:t>6.</a:t>
                          </a:r>
                          <a:endParaRPr lang="en-US" sz="2000" dirty="0">
                            <a:effectLst/>
                            <a:latin typeface="Verdana" charset="0"/>
                            <a:ea typeface="Verdana" charset="0"/>
                            <a:cs typeface="Verdana" charset="0"/>
                          </a:endParaRPr>
                        </a:p>
                      </a:txBody>
                      <a:tcPr marL="58284" marR="58284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5744023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4050"/>
            <a:ext cx="2731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0" name="Google Shape;310;g104476d1465_1_39"/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337</a:t>
            </a:r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xmlns="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9529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82" name="Google Shape;282;g104476d1465_1_17"/>
          <p:cNvSpPr txBox="1"/>
          <p:nvPr/>
        </p:nvSpPr>
        <p:spPr>
          <a:xfrm>
            <a:off x="8984621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337</a:t>
            </a: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8621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xmlns="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074640" y="0"/>
            <a:ext cx="80193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6.8.5 Wrap-Up: Ticket Out the Door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xmlns="" id="{EEA44D6C-2366-AC41-B1B5-EDDC34786A6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7340" y="206629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xmlns="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573379" y="1386025"/>
                <a:ext cx="9814205" cy="5153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Δ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𝐺𝑇𝐴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000">
                        <a:latin typeface="Cambria Math" charset="0"/>
                        <a:ea typeface="Verdana" charset="0"/>
                        <a:cs typeface="Verdana" charset="0"/>
                      </a:rPr>
                      <m:t>Δ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𝑇𝐸𝑅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are shown.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878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Given: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𝑇𝐴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2</m:t>
                        </m:r>
                      </m:num>
                      <m:den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den>
                    </m:f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𝑇𝐸</m:t>
                    </m:r>
                  </m:oMath>
                </a14:m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𝑇𝐺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=</m:t>
                    </m:r>
                    <m:f>
                      <m:fPr>
                        <m:ctrlP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</m:ctrlPr>
                      </m:fPr>
                      <m:num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2</m:t>
                        </m:r>
                      </m:num>
                      <m:den>
                        <m:r>
                          <a:rPr lang="en-US" sz="2000" i="1">
                            <a:latin typeface="Cambria Math" charset="0"/>
                            <a:ea typeface="Verdana" charset="0"/>
                            <a:cs typeface="Verdana" charset="0"/>
                          </a:rPr>
                          <m:t>3</m:t>
                        </m:r>
                      </m:den>
                    </m:f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𝑅𝑇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  <a:p>
                <a:pPr marL="458788"/>
                <a:r>
                  <a:rPr lang="en-US" sz="2000" dirty="0">
                    <a:latin typeface="Verdana" charset="0"/>
                    <a:ea typeface="Verdana" charset="0"/>
                    <a:cs typeface="Verdana" charset="0"/>
                  </a:rPr>
                  <a:t>Prove: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𝐺𝑇𝐴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~∆</m:t>
                    </m:r>
                    <m:r>
                      <a:rPr lang="en-US" sz="2000" i="1">
                        <a:latin typeface="Cambria Math" charset="0"/>
                        <a:ea typeface="Verdana" charset="0"/>
                        <a:cs typeface="Verdana" charset="0"/>
                      </a:rPr>
                      <m:t>𝑅𝑇𝐸</m:t>
                    </m:r>
                  </m:oMath>
                </a14:m>
                <a:endParaRPr lang="en-US" sz="2000" dirty="0">
                  <a:latin typeface="Verdana" charset="0"/>
                  <a:ea typeface="Verdana" charset="0"/>
                  <a:cs typeface="Verdana" charset="0"/>
                </a:endParaRPr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3379" y="1386025"/>
                <a:ext cx="9814205" cy="5153590"/>
              </a:xfrm>
              <a:prstGeom prst="rect">
                <a:avLst/>
              </a:prstGeom>
              <a:blipFill>
                <a:blip r:embed="rId5"/>
                <a:stretch>
                  <a:fillRect l="-647" t="-490" b="-7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" name="Picture 1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729806" y="1855902"/>
            <a:ext cx="4584945" cy="3607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276C46"/>
          </a:solidFill>
          <a:ln w="9525" cap="flat" cmpd="sng">
            <a:solidFill>
              <a:srgbClr val="276C4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82;g104476d1465_1_17">
            <a:extLst>
              <a:ext uri="{FF2B5EF4-FFF2-40B4-BE49-F238E27FC236}">
                <a16:creationId xmlns:a16="http://schemas.microsoft.com/office/drawing/2014/main" xmlns="" id="{647643F2-AA27-F54D-9B18-929351C91D74}"/>
              </a:ext>
            </a:extLst>
          </p:cNvPr>
          <p:cNvSpPr txBox="1"/>
          <p:nvPr/>
        </p:nvSpPr>
        <p:spPr>
          <a:xfrm>
            <a:off x="8994150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lvl="0" algn="r"/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volume 1, </a:t>
            </a:r>
            <a:r>
              <a:rPr lang="it-IT" i="1" dirty="0" err="1">
                <a:latin typeface="Calibri"/>
                <a:ea typeface="Calibri"/>
                <a:cs typeface="Calibri"/>
                <a:sym typeface="Calibri"/>
              </a:rPr>
              <a:t>pg</a:t>
            </a:r>
            <a:r>
              <a:rPr lang="it-IT" i="1" dirty="0">
                <a:latin typeface="Calibri"/>
                <a:ea typeface="Calibri"/>
                <a:cs typeface="Calibri"/>
                <a:sym typeface="Calibri"/>
              </a:rPr>
              <a:t>. 337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FA392D8-3ED3-7940-83A8-1451AA8A08D4}"/>
              </a:ext>
            </a:extLst>
          </p:cNvPr>
          <p:cNvSpPr txBox="1"/>
          <p:nvPr/>
        </p:nvSpPr>
        <p:spPr>
          <a:xfrm>
            <a:off x="635620" y="520393"/>
            <a:ext cx="969928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Verdana" charset="0"/>
                <a:ea typeface="Verdana" charset="0"/>
                <a:cs typeface="Verdana" charset="0"/>
              </a:rPr>
              <a:t>Complete the two-column proof.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548928"/>
                  </p:ext>
                </p:extLst>
              </p:nvPr>
            </p:nvGraphicFramePr>
            <p:xfrm>
              <a:off x="2228204" y="1297893"/>
              <a:ext cx="7824772" cy="425386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934490">
                      <a:extLst>
                        <a:ext uri="{9D8B030D-6E8A-4147-A177-3AD203B41FA5}">
                          <a16:colId xmlns:a16="http://schemas.microsoft.com/office/drawing/2014/main" xmlns="" val="20000"/>
                        </a:ext>
                      </a:extLst>
                    </a:gridCol>
                    <a:gridCol w="3890282">
                      <a:extLst>
                        <a:ext uri="{9D8B030D-6E8A-4147-A177-3AD203B41FA5}">
                          <a16:colId xmlns:a16="http://schemas.microsoft.com/office/drawing/2014/main" xmlns="" val="20001"/>
                        </a:ext>
                      </a:extLst>
                    </a:gridCol>
                  </a:tblGrid>
                  <a:tr h="5867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Statement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Reason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0"/>
                      </a:ext>
                    </a:extLst>
                  </a:tr>
                  <a:tr h="73342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1.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𝑇𝐴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𝑇𝐸</m:t>
                              </m:r>
                            </m:oMath>
                          </a14:m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 and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𝑇𝐺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  <m:t>3</m:t>
                                  </m:r>
                                </m:den>
                              </m:f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𝑅𝑇</m:t>
                              </m:r>
                            </m:oMath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1. Given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1"/>
                      </a:ext>
                    </a:extLst>
                  </a:tr>
                  <a:tr h="73342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2.</a:t>
                          </a:r>
                          <a14:m>
                            <m:oMath xmlns:m="http://schemas.openxmlformats.org/officeDocument/2006/math">
                              <m:r>
                                <a:rPr lang="en-US" sz="2000" b="0" i="0" smtClean="0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  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 </m:t>
                              </m:r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Times New Roman" charset="0"/>
                                      <a:cs typeface="Arial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Times New Roman" charset="0"/>
                                      <a:cs typeface="Arial" charset="0"/>
                                    </a:rPr>
                                    <m:t>𝑇𝐴</m:t>
                                  </m:r>
                                </m:num>
                                <m:den>
                                  <m:r>
                                    <a:rPr lang="en-US" sz="2000" b="0" i="1" smtClean="0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Times New Roman" charset="0"/>
                                      <a:cs typeface="Arial" charset="0"/>
                                    </a:rPr>
                                    <m:t> </m:t>
                                  </m:r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Times New Roman" charset="0"/>
                                      <a:cs typeface="Arial" charset="0"/>
                                    </a:rPr>
                                    <m:t>𝑇𝐸</m:t>
                                  </m:r>
                                </m:den>
                              </m:f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 ,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Times New Roman" charset="0"/>
                                      <a:cs typeface="Arial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Times New Roman" charset="0"/>
                                      <a:cs typeface="Arial" charset="0"/>
                                    </a:rPr>
                                    <m:t>𝑇𝐺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Times New Roman" charset="0"/>
                                      <a:cs typeface="Arial" charset="0"/>
                                    </a:rPr>
                                    <m:t>𝑅𝑇</m:t>
                                  </m:r>
                                </m:den>
                              </m:f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  <m:t>2</m:t>
                                  </m:r>
                                </m:num>
                                <m:den>
                                  <m:r>
                                    <a:rPr lang="en-US" sz="2000" i="1">
                                      <a:solidFill>
                                        <a:srgbClr val="000000"/>
                                      </a:solidFill>
                                      <a:effectLst/>
                                      <a:latin typeface="Cambria Math" charset="0"/>
                                      <a:ea typeface="Times New Roman" charset="0"/>
                                      <a:cs typeface="Times New Roman" charset="0"/>
                                    </a:rPr>
                                    <m:t>3</m:t>
                                  </m:r>
                                </m:den>
                              </m:f>
                            </m:oMath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2.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2"/>
                      </a:ext>
                    </a:extLst>
                  </a:tr>
                  <a:tr h="73342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3. 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3. Transitive Property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3"/>
                      </a:ext>
                    </a:extLst>
                  </a:tr>
                  <a:tr h="73342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4.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∠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𝐺𝑇𝐴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≅∠</m:t>
                              </m:r>
                              <m:r>
                                <a:rPr lang="en-US" sz="2000" i="1">
                                  <a:solidFill>
                                    <a:srgbClr val="000000"/>
                                  </a:solidFill>
                                  <a:effectLst/>
                                  <a:latin typeface="Cambria Math" charset="0"/>
                                  <a:ea typeface="Times New Roman" charset="0"/>
                                  <a:cs typeface="Arial" charset="0"/>
                                </a:rPr>
                                <m:t>𝑅𝑇𝐸</m:t>
                              </m:r>
                            </m:oMath>
                          </a14:m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4. 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4"/>
                      </a:ext>
                    </a:extLst>
                  </a:tr>
                  <a:tr h="73342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5.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∆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𝐺𝑇𝐴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~∆</m:t>
                              </m:r>
                              <m:r>
                                <a:rPr lang="en-US" sz="2000" i="1">
                                  <a:effectLst/>
                                  <a:latin typeface="Cambria Math" charset="0"/>
                                  <a:ea typeface="Times New Roman" charset="0"/>
                                  <a:cs typeface="Times New Roman" charset="0"/>
                                </a:rPr>
                                <m:t>𝑅𝑇𝐸</m:t>
                              </m:r>
                            </m:oMath>
                          </a14:m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5. 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="" val="10005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Table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8548928"/>
                  </p:ext>
                </p:extLst>
              </p:nvPr>
            </p:nvGraphicFramePr>
            <p:xfrm>
              <a:off x="2228204" y="1297893"/>
              <a:ext cx="7824772" cy="4253865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934490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389028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</a:tblGrid>
                  <a:tr h="58674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Statement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Reason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  <a:tr h="7334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23" t="-81034" r="-99355" b="-40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1. Given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1"/>
                      </a:ext>
                    </a:extLst>
                  </a:tr>
                  <a:tr h="7334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23" t="-181034" r="-99355" b="-30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2.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2"/>
                      </a:ext>
                    </a:extLst>
                  </a:tr>
                  <a:tr h="733425"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3. 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3. Transitive Property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3"/>
                      </a:ext>
                    </a:extLst>
                  </a:tr>
                  <a:tr h="7334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23" t="-381034" r="-99355" b="-10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4. </a:t>
                          </a:r>
                          <a:endParaRPr lang="en-US" sz="140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4"/>
                      </a:ext>
                    </a:extLst>
                  </a:tr>
                  <a:tr h="73342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323" t="-481034" r="-99355" b="-17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solidFill>
                                <a:srgbClr val="000000"/>
                              </a:solidFill>
                              <a:effectLst/>
                              <a:latin typeface="Verdana" charset="0"/>
                              <a:ea typeface="Times New Roman" charset="0"/>
                              <a:cs typeface="Arial" charset="0"/>
                            </a:rPr>
                            <a:t>5. </a:t>
                          </a:r>
                          <a:endParaRPr lang="en-US" sz="1400" dirty="0">
                            <a:effectLst/>
                            <a:latin typeface="Cambria" charset="0"/>
                            <a:ea typeface="Times New Roman" charset="0"/>
                            <a:cs typeface="Times New Roman" charset="0"/>
                          </a:endParaRPr>
                        </a:p>
                      </a:txBody>
                      <a:tcPr marL="68580" marR="68580" marT="0" marB="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005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4174109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1254</TotalTime>
  <Words>1182</Words>
  <Application>Microsoft Macintosh PowerPoint</Application>
  <PresentationFormat>Widescreen</PresentationFormat>
  <Paragraphs>252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35" baseType="lpstr">
      <vt:lpstr>Arial Black</vt:lpstr>
      <vt:lpstr>Calibri</vt:lpstr>
      <vt:lpstr>Cambria</vt:lpstr>
      <vt:lpstr>Cambria Math</vt:lpstr>
      <vt:lpstr>Century Gothic</vt:lpstr>
      <vt:lpstr>Times New Roman</vt:lpstr>
      <vt:lpstr>Verdana</vt:lpstr>
      <vt:lpstr>Wingdings</vt:lpstr>
      <vt:lpstr>Arial</vt:lpstr>
      <vt:lpstr>1_Office Theme</vt:lpstr>
      <vt:lpstr>Geometry  Unit 6, Lesson 8  Proving Triangle Similarity – Part 1  Volume 1, pg. 332  </vt:lpstr>
      <vt:lpstr>Benchmark</vt:lpstr>
      <vt:lpstr>PowerPoint Presentation</vt:lpstr>
      <vt:lpstr>PowerPoint Presentation</vt:lpstr>
      <vt:lpstr>Warm-Up</vt:lpstr>
      <vt:lpstr>PowerPoint Presentation</vt:lpstr>
      <vt:lpstr>Collaboration</vt:lpstr>
      <vt:lpstr>PowerPoint Presentation</vt:lpstr>
      <vt:lpstr>PowerPoint Presentation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Try It</vt:lpstr>
      <vt:lpstr>PowerPoint Presentation</vt:lpstr>
      <vt:lpstr>PowerPoint Presentation</vt:lpstr>
      <vt:lpstr>PowerPoint Presentation</vt:lpstr>
      <vt:lpstr>Wrap-Up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15.0032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  </dc:title>
  <dc:creator>Karen McKenzie</dc:creator>
  <cp:lastModifiedBy>jslater9816@gmail.com</cp:lastModifiedBy>
  <cp:revision>23</cp:revision>
  <dcterms:created xsi:type="dcterms:W3CDTF">2015-03-17T18:51:18Z</dcterms:created>
  <dcterms:modified xsi:type="dcterms:W3CDTF">2022-07-28T00:29:36Z</dcterms:modified>
</cp:coreProperties>
</file>