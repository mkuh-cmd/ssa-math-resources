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2" r:id="rId9"/>
    <p:sldId id="343" r:id="rId10"/>
    <p:sldId id="344" r:id="rId11"/>
    <p:sldId id="346" r:id="rId12"/>
    <p:sldId id="347" r:id="rId13"/>
    <p:sldId id="348" r:id="rId14"/>
    <p:sldId id="352" r:id="rId15"/>
    <p:sldId id="353" r:id="rId16"/>
    <p:sldId id="354" r:id="rId17"/>
    <p:sldId id="349" r:id="rId18"/>
    <p:sldId id="350" r:id="rId19"/>
    <p:sldId id="351" r:id="rId20"/>
    <p:sldId id="302" r:id="rId21"/>
    <p:sldId id="303" r:id="rId22"/>
    <p:sldId id="340" r:id="rId23"/>
    <p:sldId id="306" r:id="rId24"/>
    <p:sldId id="307" r:id="rId25"/>
    <p:sldId id="34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0830"/>
    <p:restoredTop sz="94695"/>
  </p:normalViewPr>
  <p:slideViewPr>
    <p:cSldViewPr snapToGrid="0">
      <p:cViewPr>
        <p:scale>
          <a:sx n="80" d="100"/>
          <a:sy n="80" d="100"/>
        </p:scale>
        <p:origin x="1776" y="9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92030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493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587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293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538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2783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9391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118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946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0349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122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9584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5381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4" Type="http://schemas.openxmlformats.org/officeDocument/2006/relationships/image" Target="../media/image10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=""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Sequences of Transformations </a:t>
            </a: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That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Include Dilations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MA.912.GR.2.1 </a:t>
            </a:r>
          </a:p>
          <a:p>
            <a:pPr marL="458788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Given a </a:t>
            </a:r>
            <a:r>
              <a:rPr lang="en-US" sz="3200" dirty="0" err="1">
                <a:latin typeface="Verdana" charset="0"/>
                <a:ea typeface="Verdana" charset="0"/>
                <a:cs typeface="Verdana" charset="0"/>
              </a:rPr>
              <a:t>preimage</a:t>
            </a: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 and image, describe the transformation and represent the transformation algebraically using coordinates.</a:t>
            </a:r>
          </a:p>
          <a:p>
            <a:pPr marL="458788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0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MA.912.GR.2.3 </a:t>
            </a:r>
          </a:p>
          <a:p>
            <a:pPr marL="458788" indent="0">
              <a:buNone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Identify a sequence of transformations that will map a given figure onto itself or onto another congruent or similar figure.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describe a sequence of transformations that includes a dilation</a:t>
            </a:r>
            <a:r>
              <a:rPr lang="en-US" sz="3600" dirty="0" smtClean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685800" indent="-685800">
              <a:buFont typeface="Wingdings" charset="2"/>
              <a:buChar char="q"/>
            </a:pPr>
            <a:endParaRPr lang="en-US" sz="3600" dirty="0">
              <a:latin typeface="Verdana" charset="0"/>
              <a:ea typeface="Verdana" charset="0"/>
              <a:cs typeface="Verdana" charset="0"/>
            </a:endParaRPr>
          </a:p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represent a sequence of transformations using coordinate notation with algebraic descriptors.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8100" y="2197570"/>
            <a:ext cx="7023100" cy="433070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228395"/>
                <a:ext cx="10800846" cy="747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Cassandra tried to determine if the diagram shown represents a dilation.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𝐸𝐺𝐻𝐹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𝐵𝐴𝐷𝐶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𝑃𝐻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 shown.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28395"/>
                <a:ext cx="10800846" cy="747256"/>
              </a:xfrm>
              <a:prstGeom prst="rect">
                <a:avLst/>
              </a:prstGeom>
              <a:blipFill rotWithShape="1">
                <a:blip r:embed="rId5"/>
                <a:stretch>
                  <a:fillRect l="-621" t="-4918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6.2.1 Warm-Up: Dilation Miscalculation</a:t>
            </a: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Cassandra listed four characteristics of dilations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: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Of the characteristics Cassandra listed, which are not true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𝐸𝐺𝐻𝐹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𝐵𝐴𝐷𝐶</m:t>
                    </m:r>
                  </m:oMath>
                </a14:m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the diagram shows that the dilation does not have these characteristics. If necessary, use the diagram to draw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blipFill rotWithShape="1">
                <a:blip r:embed="rId3"/>
                <a:stretch>
                  <a:fillRect t="-572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97559"/>
              </p:ext>
            </p:extLst>
          </p:nvPr>
        </p:nvGraphicFramePr>
        <p:xfrm>
          <a:off x="1111401" y="942734"/>
          <a:ext cx="8195286" cy="2529840"/>
        </p:xfrm>
        <a:graphic>
          <a:graphicData uri="http://schemas.openxmlformats.org/drawingml/2006/table">
            <a:tbl>
              <a:tblPr firstRow="1" firstCol="1" bandRow="1"/>
              <a:tblGrid>
                <a:gridCol w="58763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1897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Characteristic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Yes/No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Corresponding angle measures are equal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Yes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Corresponding sides are parallel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Yes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Corresponding vertices are collinear with the point of dilation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Yes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Orientation of the shapes are the same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Yes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367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32250"/>
            <a:ext cx="1006763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6.2.2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Sequence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Transformations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50" y="2033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5739" y="2348093"/>
            <a:ext cx="5869899" cy="3937253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228395"/>
                <a:ext cx="1080084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sequence of transformations of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dilated then translated, where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dilation and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translation of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228395"/>
                <a:ext cx="10800846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621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248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Complete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description.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5988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dilated using a scale factor of _____ centered at the origin.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The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resulting polygon,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 smtClean="0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was translated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______________________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create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70898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684854"/>
                  </p:ext>
                </p:extLst>
              </p:nvPr>
            </p:nvGraphicFramePr>
            <p:xfrm>
              <a:off x="2154334" y="421282"/>
              <a:ext cx="7790688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𝑷𝑻𝑹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𝑷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𝑻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𝑹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</m:oMath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𝑷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𝑻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𝑹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</m:oMath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(1, 1)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𝑃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(4, 0)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(2, 2)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𝑇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(4, 4)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(6, 2)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(4, 1)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(8, 2)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(10,0)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684854"/>
                  </p:ext>
                </p:extLst>
              </p:nvPr>
            </p:nvGraphicFramePr>
            <p:xfrm>
              <a:off x="2154334" y="421282"/>
              <a:ext cx="7790688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222980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1364" r="-111616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r="-253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5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0000" r="-4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100000" r="-3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100000" r="-2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100000" r="-100505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100000" r="-505" b="-2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0000" r="-5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0000" r="-4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200000" r="-3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200000" r="-2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200000" r="-100505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200000" r="-505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0000" r="-5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00000" r="-4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300000" r="-3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300000" r="-2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300000" r="-100505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300000" r="-505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609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coordinates of each triangle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first translated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then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dilated.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862322"/>
              </a:xfrm>
              <a:prstGeom prst="rect">
                <a:avLst/>
              </a:prstGeom>
              <a:blipFill rotWithShape="1">
                <a:blip r:embed="rId3"/>
                <a:stretch>
                  <a:fillRect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2012793"/>
                  </p:ext>
                </p:extLst>
              </p:nvPr>
            </p:nvGraphicFramePr>
            <p:xfrm>
              <a:off x="1583426" y="938824"/>
              <a:ext cx="6454775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5432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Dilation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 ______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Translation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________,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2012793"/>
                  </p:ext>
                </p:extLst>
              </p:nvPr>
            </p:nvGraphicFramePr>
            <p:xfrm>
              <a:off x="1583426" y="938824"/>
              <a:ext cx="6454775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543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004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Dilation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9357" t="-100000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Translation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9357" t="-200000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8391886"/>
                  </p:ext>
                </p:extLst>
              </p:nvPr>
            </p:nvGraphicFramePr>
            <p:xfrm>
              <a:off x="1575214" y="3318243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Pre-image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Translation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Dilation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𝑷𝑻𝑹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𝑷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𝑻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𝑹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</m:t>
                              </m:r>
                            </m:oMath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Triangle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𝑷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𝑻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𝑹</m:t>
                              </m:r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  <a:ea typeface="Times New Roman" charset="0"/>
                                  <a:cs typeface="Times New Roman" charset="0"/>
                                  <a:sym typeface="Arial"/>
                                </a:rPr>
                                <m:t>′′</m:t>
                              </m:r>
                            </m:oMath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(1, 1)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𝑃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(2, 2)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𝑇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(4, 1)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8391886"/>
                  </p:ext>
                </p:extLst>
              </p:nvPr>
            </p:nvGraphicFramePr>
            <p:xfrm>
              <a:off x="1575214" y="3318243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Pre-image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Translation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Dilation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0000" r="-222980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1364" t="-100000" r="-111616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22727" t="-100000" r="-253" b="-3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00000" r="-5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200000" r="-4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22727" t="-200000" r="-3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45455" t="-200000" r="-100505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300000" r="-5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300000" r="-4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22727" t="-300000" r="-3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45455" t="-300000" r="-100505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400000" r="-5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400000" r="-4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22727" t="-400000" r="-3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45455" t="-400000" r="-100505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9915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Some sequences of transformations are commutative, which means the transformations can be applied in any order.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tables to determine if the sequence of transformations applied to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commutative. Work with your partner to write an explanation.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631216"/>
              </a:xfrm>
              <a:prstGeom prst="rect">
                <a:avLst/>
              </a:prstGeom>
              <a:blipFill rotWithShape="1">
                <a:blip r:embed="rId4"/>
                <a:stretch>
                  <a:fillRect l="-609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05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4778" y="1081532"/>
            <a:ext cx="7289800" cy="51181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/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𝐾𝑊𝑃𝑁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9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1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44500">
              <a:buFont typeface="+mj-lt"/>
              <a:buAutoNum type="alphaL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PH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Discuss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partner the first transformation that occurred.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0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Describe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you determined the first transformation.</a:t>
            </a: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PH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scale factor in the second transformation.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1791021"/>
                  </p:ext>
                </p:extLst>
              </p:nvPr>
            </p:nvGraphicFramePr>
            <p:xfrm>
              <a:off x="2154334" y="421282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𝑲𝑾𝑷𝑵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𝑷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𝑵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𝑷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𝑵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(−5, 4)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(5, 4)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(20, 16)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(−5,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(5, 0)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(20, 0)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(−7,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(7, 0)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(28, 0)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(−8,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(8, 2)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(32, 8)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1791021"/>
                  </p:ext>
                </p:extLst>
              </p:nvPr>
            </p:nvGraphicFramePr>
            <p:xfrm>
              <a:off x="2154334" y="421282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222980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1364" r="-111616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r="-253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545960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0000" r="-445960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100000" r="-323232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100000" r="-223232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100000" r="-100505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100000" r="-505" b="-3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0000" r="-5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0000" r="-4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200000" r="-3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200000" r="-2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200000" r="-100505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200000" r="-505" b="-2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0000" r="-5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00000" r="-4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300000" r="-3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300000" r="-2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300000" r="-100505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300000" r="-505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0000" r="-5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00000" r="-4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400000" r="-3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2727" t="-400000" r="-2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400000" r="-100505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45455" t="-400000" r="-505" b="-9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076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760529"/>
                  </p:ext>
                </p:extLst>
              </p:nvPr>
            </p:nvGraphicFramePr>
            <p:xfrm>
              <a:off x="1525641" y="3290175"/>
              <a:ext cx="6356985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114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54584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31775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31775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760529"/>
                  </p:ext>
                </p:extLst>
              </p:nvPr>
            </p:nvGraphicFramePr>
            <p:xfrm>
              <a:off x="1525641" y="3290175"/>
              <a:ext cx="6356985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11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45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210" t="-67257" r="-172" b="-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210" t="-168750" r="-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description of the transformations.</a:t>
                </a:r>
              </a:p>
              <a:p>
                <a:pPr marL="914400" indent="-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𝐾𝑊𝑃𝑁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_______________________________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dilated using a scale factor of _____ centered at ______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708434"/>
              </a:xfrm>
              <a:prstGeom prst="rect">
                <a:avLst/>
              </a:prstGeom>
              <a:blipFill rotWithShape="1">
                <a:blip r:embed="rId5"/>
                <a:stretch>
                  <a:fillRect t="-1348" b="-2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125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287817"/>
                  </p:ext>
                </p:extLst>
              </p:nvPr>
            </p:nvGraphicFramePr>
            <p:xfrm>
              <a:off x="1592359" y="1954807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𝑲𝑾𝑷𝑵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𝑷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𝑵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𝑷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𝑵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(−5, 4)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(−5,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(−7, 0)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(−8, 2)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287817"/>
                  </p:ext>
                </p:extLst>
              </p:nvPr>
            </p:nvGraphicFramePr>
            <p:xfrm>
              <a:off x="1592359" y="1954807"/>
              <a:ext cx="7790688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320"/>
                    <a:gridCol w="1207008"/>
                    <a:gridCol w="1207008"/>
                    <a:gridCol w="274320"/>
                    <a:gridCol w="1207008"/>
                    <a:gridCol w="1207008"/>
                  </a:tblGrid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33" r="-222980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11364" t="-1333" r="-111616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1333" r="-253" b="-409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1333" r="-545960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1333" r="-445960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101333" r="-323232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101333" r="-100505" b="-3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1333" r="-5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1333" r="-445960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201333" r="-32323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201333" r="-100505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1333" r="-5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01333" r="-44596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301333" r="-3232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301333" r="-100505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1333" r="-5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01333" r="-44596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2727" t="-401333" r="-3232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45455" t="-401333" r="-100505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if the sequence of transformations applied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𝐾𝑊𝑃𝑁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commutative. Complete the table by first applying the dilation, and then the other transformation. Then, write a conclusion based on the tables.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323439"/>
              </a:xfrm>
              <a:prstGeom prst="rect">
                <a:avLst/>
              </a:prstGeom>
              <a:blipFill rotWithShape="1"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41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8443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0"/>
            <a:ext cx="10836508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6.2.3 Guided Practice: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Mapping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 Dilation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6984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617" y="1950412"/>
            <a:ext cx="5610144" cy="424921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304595"/>
                <a:ext cx="108008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sequence of transformations of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Verdana" charset="0"/>
                      </a:rPr>
                      <m:t>△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𝑀𝑊𝐵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04595"/>
                <a:ext cx="10800846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621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03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 of values for each triangle.</a:t>
            </a: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710113"/>
                  </p:ext>
                </p:extLst>
              </p:nvPr>
            </p:nvGraphicFramePr>
            <p:xfrm>
              <a:off x="1584739" y="842418"/>
              <a:ext cx="932688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6304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320"/>
                    <a:gridCol w="1463040"/>
                    <a:gridCol w="1463040"/>
                    <a:gridCol w="274320"/>
                    <a:gridCol w="1463040"/>
                    <a:gridCol w="1463040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Pre-image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Dilation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/>
                                    <a:ea typeface="Cambria Math"/>
                                    <a:cs typeface="Verdana" charset="0"/>
                                  </a:rPr>
                                  <m:t>△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𝑴𝑾𝑩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Cambria Math"/>
                                    <a:cs typeface="Verdana" charset="0"/>
                                  </a:rPr>
                                  <m:t>△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𝑴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𝑩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  <a:ea typeface="Cambria Math"/>
                                    <a:cs typeface="Verdana" charset="0"/>
                                  </a:rPr>
                                  <m:t>△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𝑴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𝑾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𝑩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8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𝑀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(−8, 3)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𝑀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(−28, 10.5)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6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𝑊</m:t>
                                </m:r>
                                <m:r>
                                  <a:rPr kumimoji="0" lang="en-PH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 charset="0"/>
                                    <a:cs typeface="Times New Roman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(−1, 6)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(−3.5, 21)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𝐵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′′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710113"/>
                  </p:ext>
                </p:extLst>
              </p:nvPr>
            </p:nvGraphicFramePr>
            <p:xfrm>
              <a:off x="1584739" y="842418"/>
              <a:ext cx="932688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320"/>
                    <a:gridCol w="1463040"/>
                    <a:gridCol w="1463040"/>
                    <a:gridCol w="274320"/>
                    <a:gridCol w="1463040"/>
                    <a:gridCol w="1463040"/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Pre-image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charset="0"/>
                              <a:ea typeface="Times New Roman" charset="0"/>
                              <a:cs typeface="Times New Roman" charset="0"/>
                              <a:sym typeface="Arial"/>
                            </a:rPr>
                            <a:t>Dilation</a:t>
                          </a:r>
                          <a:endParaRPr kumimoji="0" lang="en-US" sz="14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" charset="0"/>
                            <a:ea typeface="Times New Roman" charset="0"/>
                            <a:cs typeface="Times New Roman" charset="0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4572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8" t="-100000" r="-218750" b="-30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9583" t="-100000" r="-109375" b="-30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8958" t="-100000" b="-30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17" t="-200000" r="-5375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417" t="-200000" r="-4375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9167" t="-200000" r="-31875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9167" t="-200000" r="-21875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7917" t="-200000" r="-1000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37917" t="-200000" b="-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17" t="-300000" r="-5375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417" t="-300000" r="-4375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9167" t="-300000" r="-31875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9167" t="-300000" r="-21875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7917" t="-300000" r="-1000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37917" t="-300000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17" t="-400000" r="-53750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9167" t="-400000" r="-31875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37917" t="-400000" r="-10000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323265"/>
                  </p:ext>
                </p:extLst>
              </p:nvPr>
            </p:nvGraphicFramePr>
            <p:xfrm>
              <a:off x="1592316" y="4033125"/>
              <a:ext cx="6356985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1145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54584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31775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31775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323265"/>
                  </p:ext>
                </p:extLst>
              </p:nvPr>
            </p:nvGraphicFramePr>
            <p:xfrm>
              <a:off x="1592316" y="4033125"/>
              <a:ext cx="6356985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111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45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9210" t="-67257" r="-172" b="-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9210" t="-168750" r="-1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4931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52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=""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5217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294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1667" y="1385905"/>
            <a:ext cx="5978527" cy="4803616"/>
          </a:xfrm>
          <a:prstGeom prst="rect">
            <a:avLst/>
          </a:prstGeom>
        </p:spPr>
      </p:pic>
      <p:sp>
        <p:nvSpPr>
          <p:cNvPr id="10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6.2.4 Your Turn!</a:t>
            </a:r>
          </a:p>
        </p:txBody>
      </p:sp>
      <p:pic>
        <p:nvPicPr>
          <p:cNvPr id="13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85905"/>
                <a:ext cx="528367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/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Verdana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𝐿𝐹𝑁𝐶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 </a:t>
                </a: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14350" indent="-514350"/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the sequence of transformations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𝐿𝐹𝑁𝐶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resulted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5905"/>
                <a:ext cx="5283677" cy="2246769"/>
              </a:xfrm>
              <a:prstGeom prst="rect">
                <a:avLst/>
              </a:prstGeom>
              <a:blipFill rotWithShape="1">
                <a:blip r:embed="rId6"/>
                <a:stretch>
                  <a:fillRect l="-1153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55040"/>
                  </p:ext>
                </p:extLst>
              </p:nvPr>
            </p:nvGraphicFramePr>
            <p:xfrm>
              <a:off x="1548818" y="1087196"/>
              <a:ext cx="6691630" cy="2514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591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73253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3838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3838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3838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)→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55040"/>
                  </p:ext>
                </p:extLst>
              </p:nvPr>
            </p:nvGraphicFramePr>
            <p:xfrm>
              <a:off x="1548818" y="1087196"/>
              <a:ext cx="6691630" cy="2514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591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73253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412" t="-66372" b="-199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412" t="-167857" b="-1008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412" t="-2654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the algebraic descriptions of the sequence of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1325" y="1385905"/>
            <a:ext cx="4739259" cy="4863649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6.2.5 Wrap-Up: Ticket Out the Door</a:t>
            </a: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7" y="1385906"/>
                <a:ext cx="577897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−6,−10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−10,−4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(−4,2)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plotted on the coordinate grid to form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𝑃𝑄𝑅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Two transformations of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𝑃𝑄𝑅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Gladys first transformed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𝑃𝑄𝑅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𝑄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a dilation centered at the origin. She then transformed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𝑄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𝑄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5906"/>
                <a:ext cx="5778977" cy="2862322"/>
              </a:xfrm>
              <a:prstGeom prst="rect">
                <a:avLst/>
              </a:prstGeom>
              <a:blipFill rotWithShape="1">
                <a:blip r:embed="rId6"/>
                <a:stretch>
                  <a:fillRect l="-1055"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7406188"/>
                  </p:ext>
                </p:extLst>
              </p:nvPr>
            </p:nvGraphicFramePr>
            <p:xfrm>
              <a:off x="1136339" y="1026778"/>
              <a:ext cx="8164288" cy="252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857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02013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74558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Written </a:t>
                          </a:r>
                          <a:r>
                            <a:rPr lang="en-US" sz="2000" b="1" dirty="0" smtClean="0">
                              <a:effectLst/>
                              <a:latin typeface="Verdana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charset="0"/>
                            </a:rPr>
                            <a:t>Description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𝑃𝑄𝑅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𝑃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𝑄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,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𝑃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𝑄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𝑃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𝑄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,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7406188"/>
                  </p:ext>
                </p:extLst>
              </p:nvPr>
            </p:nvGraphicFramePr>
            <p:xfrm>
              <a:off x="1136339" y="1026778"/>
              <a:ext cx="8164288" cy="252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85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0201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7455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Transformation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Written </a:t>
                          </a:r>
                          <a:r>
                            <a:rPr lang="en-US" sz="2000" b="1" dirty="0" smtClean="0">
                              <a:effectLst/>
                              <a:latin typeface="Verdana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charset="0"/>
                            </a:rPr>
                            <a:t>Description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Algebraic Description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0000" r="-240102" b="-10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7118" t="-80000" b="-10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80000" r="-240102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7118" t="-180000" b="-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Complete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table.</a:t>
            </a:r>
          </a:p>
        </p:txBody>
      </p:sp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1070</Words>
  <Application>Microsoft Macintosh PowerPoint</Application>
  <PresentationFormat>Widescreen</PresentationFormat>
  <Paragraphs>306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55</cp:revision>
  <dcterms:created xsi:type="dcterms:W3CDTF">2015-03-17T18:51:18Z</dcterms:created>
  <dcterms:modified xsi:type="dcterms:W3CDTF">2022-07-27T23:40:47Z</dcterms:modified>
</cp:coreProperties>
</file>