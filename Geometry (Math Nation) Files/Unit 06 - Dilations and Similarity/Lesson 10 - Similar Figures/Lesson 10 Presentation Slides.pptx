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45" r:id="rId10"/>
    <p:sldId id="346" r:id="rId11"/>
    <p:sldId id="355" r:id="rId12"/>
    <p:sldId id="362" r:id="rId13"/>
    <p:sldId id="352" r:id="rId14"/>
    <p:sldId id="353" r:id="rId15"/>
    <p:sldId id="357" r:id="rId16"/>
    <p:sldId id="359" r:id="rId17"/>
    <p:sldId id="365" r:id="rId18"/>
    <p:sldId id="366" r:id="rId19"/>
    <p:sldId id="306" r:id="rId20"/>
    <p:sldId id="30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276C46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707" autoAdjust="0"/>
  </p:normalViewPr>
  <p:slideViewPr>
    <p:cSldViewPr snapToGrid="0">
      <p:cViewPr varScale="1">
        <p:scale>
          <a:sx n="82" d="100"/>
          <a:sy n="82" d="100"/>
        </p:scale>
        <p:origin x="68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36511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74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83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9116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706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05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84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099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601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597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501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Similar Figures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348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7101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81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324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24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044323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MA.912.GR.1.6 </a:t>
            </a:r>
          </a:p>
          <a:p>
            <a:pPr marL="468313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Solve mathematical and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real-world problems involving congruence or similarity in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two-dimensional figures.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90" y="18724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-10195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60189" y="1596390"/>
            <a:ext cx="1148591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712" y="61958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263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65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9002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47065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solve mathematical problems using corresponding angles and sides of similar figures.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942A81-6994-044E-93C1-C54193B21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716" y="866580"/>
            <a:ext cx="4188034" cy="3069148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0153" y="624515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0467" y="28920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6.10.1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16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9016153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73303" y="1386025"/>
                <a:ext cx="917967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Complete the proof.</a:t>
                </a:r>
              </a:p>
              <a:p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2438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𝐵𝑇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𝑃𝐾</m:t>
                        </m:r>
                      </m:e>
                    </m:acc>
                  </m:oMath>
                </a14:m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2438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𝐵𝐻𝑇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𝐾𝐻𝑃</m:t>
                    </m:r>
                  </m:oMath>
                </a14:m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2438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03" y="1386025"/>
                <a:ext cx="9179674" cy="1938992"/>
              </a:xfrm>
              <a:prstGeom prst="rect">
                <a:avLst/>
              </a:prstGeom>
              <a:blipFill>
                <a:blip r:embed="rId6"/>
                <a:stretch>
                  <a:fillRect l="-967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73128E9-2A0F-A142-901A-6CB932973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6914473"/>
                  </p:ext>
                </p:extLst>
              </p:nvPr>
            </p:nvGraphicFramePr>
            <p:xfrm>
              <a:off x="2687320" y="3830951"/>
              <a:ext cx="7200000" cy="26267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36288767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206904967"/>
                        </a:ext>
                      </a:extLst>
                    </a:gridCol>
                  </a:tblGrid>
                  <a:tr h="4667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Reason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91882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357188" marR="0" indent="-357188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000" dirty="0" smtClean="0">
                                  <a:effectLst/>
                                  <a:latin typeface="Verdana" pitchFamily="34" charset="0"/>
                                  <a:ea typeface="Verdana" pitchFamily="34" charset="0"/>
                                  <a:cs typeface="Calibri" pitchFamily="34" charset="0"/>
                                </a:rPr>
                                <m:t>	</m:t>
                              </m:r>
                              <m:acc>
                                <m:accPr>
                                  <m:chr m:val="̅"/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𝑃𝐾</m:t>
                                  </m:r>
                                </m:e>
                              </m:acc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1.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868237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2.	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2.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797850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3.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3.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2149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357188" marR="0" indent="-357188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𝐵𝐻𝑇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𝐾𝐻𝑃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4.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82411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73128E9-2A0F-A142-901A-6CB932973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6914473"/>
                  </p:ext>
                </p:extLst>
              </p:nvPr>
            </p:nvGraphicFramePr>
            <p:xfrm>
              <a:off x="2687320" y="3830951"/>
              <a:ext cx="7200000" cy="26267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36288767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206904967"/>
                        </a:ext>
                      </a:extLst>
                    </a:gridCol>
                  </a:tblGrid>
                  <a:tr h="4667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Reason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91882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2" t="-88372" r="-100704" b="-3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1.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868237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2.	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2.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797850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3.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3.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2149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2" t="-386047" r="-100704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libri" pitchFamily="34" charset="0"/>
                            </a:rPr>
                            <a:t>4.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libri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82411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7523" y="623487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9003523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349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4060888-1AEC-5740-8CAE-911D9918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814" y="2007539"/>
            <a:ext cx="5402186" cy="341414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844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6.10.2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Similar Figures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9004447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349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0443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392016" y="1405198"/>
            <a:ext cx="10147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answer the following questions.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57188" indent="-357188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𝐺𝑊𝐸𝐵 and 𝐶𝑁𝐾𝑃 are shown.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41824" y="2743586"/>
                <a:ext cx="924576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82662" indent="-5143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𝐺𝑊𝐸𝐵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𝐶𝑁𝐾𝑃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:b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true about </a:t>
                </a:r>
                <a:b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the corresponding </a:t>
                </a:r>
                <a:b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angles?</a:t>
                </a:r>
              </a:p>
              <a:p>
                <a:pPr marL="860425" indent="-392113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60425" indent="-392113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60425" indent="-392113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2" indent="-5143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𝐺𝑊𝐸𝐵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𝐶𝑁𝐾𝑃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what is true about the corresponding sides?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24" y="2743586"/>
                <a:ext cx="9245760" cy="3416320"/>
              </a:xfrm>
              <a:prstGeom prst="rect">
                <a:avLst/>
              </a:prstGeom>
              <a:blipFill>
                <a:blip r:embed="rId6"/>
                <a:stretch>
                  <a:fillRect t="-1487" b="-3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52063" y="383760"/>
                <a:ext cx="98828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Fill in the table given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𝐺𝑊𝐸𝐵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𝐶𝑁𝐾𝑃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63" y="383760"/>
                <a:ext cx="9882838" cy="461665"/>
              </a:xfrm>
              <a:prstGeom prst="rect">
                <a:avLst/>
              </a:prstGeom>
              <a:blipFill>
                <a:blip r:embed="rId4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7B023BB-569A-BE4F-A3D1-F6CCDADEA6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310272"/>
                  </p:ext>
                </p:extLst>
              </p:nvPr>
            </p:nvGraphicFramePr>
            <p:xfrm>
              <a:off x="3029234" y="946743"/>
              <a:ext cx="7200000" cy="47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1234977168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217125874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Corresponding Angles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Corresponding Sides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577782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𝐺𝐵𝐸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≅∠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𝑃𝐾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𝐾𝑁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578898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𝑃𝐾𝑁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≅∠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𝐶𝑁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𝐸𝑊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90767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𝑃𝐶𝑁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≅∠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𝑊𝐺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948536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𝐺𝑊𝐸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≅∠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𝐸𝐵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𝑃𝐶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59057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7B023BB-569A-BE4F-A3D1-F6CCDADEA6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310272"/>
                  </p:ext>
                </p:extLst>
              </p:nvPr>
            </p:nvGraphicFramePr>
            <p:xfrm>
              <a:off x="3029234" y="946743"/>
              <a:ext cx="7200000" cy="47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1234977168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217125874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Corresponding Angles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Corresponding Sides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577782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44706" r="-100704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44706" r="-704" b="-3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78898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144706" r="-100704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144706" r="-704" b="-2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90767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241860" r="-100704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241860" r="-704" b="-1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48536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345882" r="-100704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345882" r="-704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9057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521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A9611A-CD6E-D048-AB4D-BB1D3FF62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56" y="1000028"/>
            <a:ext cx="6011467" cy="394811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359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7424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6C7479-F8C4-DD46-B4A8-7B54F4CCB19C}"/>
                  </a:ext>
                </a:extLst>
              </p:cNvPr>
              <p:cNvSpPr txBox="1"/>
              <p:nvPr/>
            </p:nvSpPr>
            <p:spPr>
              <a:xfrm>
                <a:off x="400692" y="383759"/>
                <a:ext cx="99342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 startAt="2"/>
                </a:pPr>
                <a:r>
                  <a:rPr lang="es-E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𝑉𝐾𝑀</m:t>
                    </m:r>
                  </m:oMath>
                </a14:m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𝐻𝑅𝐴</m:t>
                    </m:r>
                  </m:oMath>
                </a14:m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shown.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=17.6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=15.2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𝐾𝑉𝑀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=39°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𝑅𝐴𝐻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=59°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6C7479-F8C4-DD46-B4A8-7B54F4CCB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92" y="383759"/>
                <a:ext cx="9934209" cy="1015663"/>
              </a:xfrm>
              <a:prstGeom prst="rect">
                <a:avLst/>
              </a:prstGeom>
              <a:blipFill>
                <a:blip r:embed="rId5"/>
                <a:stretch>
                  <a:fillRect l="-639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43174" y="1534465"/>
                <a:ext cx="8691574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24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given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information, what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can you conclude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𝑉𝐾𝑀</m:t>
                    </m:r>
                  </m:oMath>
                </a14:m>
                <a:r>
                  <a:rPr lang="el-GR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𝐻𝑅𝐴</m:t>
                    </m:r>
                  </m:oMath>
                </a14:m>
                <a:r>
                  <a:rPr lang="el-GR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s-E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52438">
                  <a:buFont typeface="+mj-lt"/>
                  <a:buAutoNum type="alphaLcPeriod"/>
                </a:pPr>
                <a:endParaRPr lang="es-E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52438">
                  <a:buFont typeface="+mj-lt"/>
                  <a:buAutoNum type="alphaLcPeriod"/>
                </a:pPr>
                <a:endParaRPr lang="el-GR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524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similarity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theorem or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postulate could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be used to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 the triangles are similar?</a:t>
                </a:r>
              </a:p>
              <a:p>
                <a:pPr marL="893763" indent="-4524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524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524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 similarity statement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𝑉𝐾𝑀</m:t>
                    </m:r>
                  </m:oMath>
                </a14:m>
                <a:r>
                  <a:rPr lang="el-GR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𝐻𝑅𝐴</m:t>
                    </m:r>
                  </m:oMath>
                </a14:m>
                <a:r>
                  <a:rPr lang="el-GR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174" y="1534465"/>
                <a:ext cx="8691574" cy="4708981"/>
              </a:xfrm>
              <a:prstGeom prst="rect">
                <a:avLst/>
              </a:prstGeom>
              <a:blipFill>
                <a:blip r:embed="rId6"/>
                <a:stretch>
                  <a:fillRect t="-538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7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2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72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18500" y="363130"/>
            <a:ext cx="9598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6ECA1A2-6207-E14D-8230-768F2D76BB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513136"/>
                  </p:ext>
                </p:extLst>
              </p:nvPr>
            </p:nvGraphicFramePr>
            <p:xfrm>
              <a:off x="3003069" y="840356"/>
              <a:ext cx="6690360" cy="316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29940">
                      <a:extLst>
                        <a:ext uri="{9D8B030D-6E8A-4147-A177-3AD203B41FA5}">
                          <a16:colId xmlns:a16="http://schemas.microsoft.com/office/drawing/2014/main" val="2609711554"/>
                        </a:ext>
                      </a:extLst>
                    </a:gridCol>
                    <a:gridCol w="3360420">
                      <a:extLst>
                        <a:ext uri="{9D8B030D-6E8A-4147-A177-3AD203B41FA5}">
                          <a16:colId xmlns:a16="http://schemas.microsoft.com/office/drawing/2014/main" val="288126827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Side Proportions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58861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𝑉𝐾𝑀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𝑀𝐾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𝑅𝐴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601608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𝐾𝑀𝑉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𝑀𝑉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𝑅𝐻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906084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𝑅𝐻𝐴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𝐾𝑉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𝐴𝐻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96298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6ECA1A2-6207-E14D-8230-768F2D76BB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7513136"/>
                  </p:ext>
                </p:extLst>
              </p:nvPr>
            </p:nvGraphicFramePr>
            <p:xfrm>
              <a:off x="3003069" y="840356"/>
              <a:ext cx="6690360" cy="316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29940">
                      <a:extLst>
                        <a:ext uri="{9D8B030D-6E8A-4147-A177-3AD203B41FA5}">
                          <a16:colId xmlns:a16="http://schemas.microsoft.com/office/drawing/2014/main" val="2609711554"/>
                        </a:ext>
                      </a:extLst>
                    </a:gridCol>
                    <a:gridCol w="3360420">
                      <a:extLst>
                        <a:ext uri="{9D8B030D-6E8A-4147-A177-3AD203B41FA5}">
                          <a16:colId xmlns:a16="http://schemas.microsoft.com/office/drawing/2014/main" val="288126827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Angle Measures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Side Proportions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58861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53521" r="-101521" b="-2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623" t="-53521" r="-755" b="-2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01608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153521" r="-101521" b="-1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623" t="-153521" r="-755" b="-1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06084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0" t="-253521" r="-101521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623" t="-253521" r="-755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96298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18500" y="4221144"/>
                <a:ext cx="9998875" cy="1939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scale factor are the sides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multiplied by to find the corresponding sides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should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𝑅𝐴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 so that the triangles are similar?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0" y="4221144"/>
                <a:ext cx="9998875" cy="1939698"/>
              </a:xfrm>
              <a:prstGeom prst="rect">
                <a:avLst/>
              </a:prstGeom>
              <a:blipFill>
                <a:blip r:embed="rId5"/>
                <a:stretch>
                  <a:fillRect t="-1948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46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413137" y="1164240"/>
            <a:ext cx="4203688" cy="4521170"/>
            <a:chOff x="1587062" y="1553306"/>
            <a:chExt cx="4203688" cy="45211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DBF0BC-F9A5-3F48-9073-6B52BD1CA7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18" r="34829"/>
            <a:stretch/>
          </p:blipFill>
          <p:spPr>
            <a:xfrm>
              <a:off x="1587062" y="1553306"/>
              <a:ext cx="4203688" cy="29438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DBF0BC-F9A5-3F48-9073-6B52BD1CA7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639" t="28996" b="6566"/>
            <a:stretch/>
          </p:blipFill>
          <p:spPr>
            <a:xfrm>
              <a:off x="2511747" y="4177483"/>
              <a:ext cx="2354317" cy="1896993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201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62337" y="387872"/>
                <a:ext cx="98725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𝑆𝑀𝐸𝐵 and 𝑌𝐷𝑃𝐺 are shown.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𝐵𝐸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𝐸𝑀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𝑆𝐵𝐸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=59°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𝐵𝐸𝑀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𝑃𝐷𝑌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𝐷𝑌𝐺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37" y="387872"/>
                <a:ext cx="9872564" cy="707886"/>
              </a:xfrm>
              <a:prstGeom prst="rect">
                <a:avLst/>
              </a:prstGeom>
              <a:blipFill>
                <a:blip r:embed="rId5"/>
                <a:stretch>
                  <a:fillRect l="-643" t="-7018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96593" y="1558653"/>
                <a:ext cx="933830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𝑆𝑀𝐸𝐵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𝑌𝐷𝑃𝐺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, determine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the measure of each.</a:t>
                </a:r>
              </a:p>
              <a:p>
                <a:pPr marL="896938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𝐵𝑆𝑀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   		</m:t>
                      </m:r>
                    </m:oMath>
                  </m:oMathPara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96938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𝑆𝑀𝐸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=_______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 </a:t>
                </a:r>
              </a:p>
              <a:p>
                <a:pPr marL="896938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𝐷𝑃𝐺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 _______ 			</m:t>
                      </m:r>
                    </m:oMath>
                  </m:oMathPara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96938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𝑃𝐺𝑌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=_______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 </a:t>
                </a:r>
              </a:p>
              <a:p>
                <a:pPr marL="896938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𝑆𝑀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</m:t>
                      </m:r>
                    </m:oMath>
                  </m:oMathPara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96938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𝑃𝐷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</m:t>
                      </m:r>
                    </m:oMath>
                  </m:oMathPara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969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𝐺𝑌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 </m:t>
                      </m:r>
                    </m:oMath>
                  </m:oMathPara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the similarity relationship,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𝑆𝑀𝐸𝐵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𝑌𝐷𝑃𝐺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helped determine which sides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of the quadrilaterals are proportional. </a:t>
                </a: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93" y="1558653"/>
                <a:ext cx="9338308" cy="5016758"/>
              </a:xfrm>
              <a:prstGeom prst="rect">
                <a:avLst/>
              </a:prstGeom>
              <a:blipFill>
                <a:blip r:embed="rId6"/>
                <a:stretch>
                  <a:fillRect t="-505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908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915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351</a:t>
            </a:r>
          </a:p>
        </p:txBody>
      </p:sp>
      <p:pic>
        <p:nvPicPr>
          <p:cNvPr id="7" name="image12.png" descr="Icon&#10;&#10;Description automatically generated">
            <a:extLst>
              <a:ext uri="{FF2B5EF4-FFF2-40B4-BE49-F238E27FC236}">
                <a16:creationId xmlns:a16="http://schemas.microsoft.com/office/drawing/2014/main" id="{1B8C2C28-EADD-8542-9F33-C497B0A7204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64806" y="2766146"/>
            <a:ext cx="1154347" cy="11543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4405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5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8868" y="287731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6.10.3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77563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35377" y="1186329"/>
                <a:ext cx="111614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/>
                </a:pPr>
                <a:r>
                  <a:rPr lang="es-E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𝐶𝑉𝐻</m:t>
                    </m:r>
                  </m:oMath>
                </a14:m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Δ</m:t>
                    </m:r>
                    <m:r>
                      <a:rPr lang="el-GR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𝑌𝑋𝐾</m:t>
                    </m:r>
                  </m:oMath>
                </a14:m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shown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𝑉𝐻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=7.5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𝐶𝑉𝐻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=130°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𝑋𝑌𝐾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=22°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77" y="1186329"/>
                <a:ext cx="11161405" cy="707886"/>
              </a:xfrm>
              <a:prstGeom prst="rect">
                <a:avLst/>
              </a:prstGeom>
              <a:blipFill>
                <a:blip r:embed="rId4"/>
                <a:stretch>
                  <a:fillRect l="-568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673299AB-DD24-954F-A811-09DA39240AE1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5377" y="206432"/>
            <a:ext cx="753491" cy="753491"/>
          </a:xfrm>
          <a:prstGeom prst="rect">
            <a:avLst/>
          </a:prstGeom>
          <a:ln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A07A0B-23DE-9343-A777-E0D50D6823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466" b="10250"/>
          <a:stretch/>
        </p:blipFill>
        <p:spPr bwMode="auto">
          <a:xfrm>
            <a:off x="2489693" y="1894216"/>
            <a:ext cx="7468646" cy="23995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80836" y="4378098"/>
                <a:ext cx="1071594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that ∆𝐶𝑉𝐻~∆𝑌𝑋𝐾, determine the measure of each angle.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227388" indent="-3227388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𝑉𝐶𝐻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𝑉𝐻𝐶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227388" indent="-3227388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𝑌𝐾𝑋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𝑌𝑋𝐾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36" y="4378098"/>
                <a:ext cx="10715945" cy="1631216"/>
              </a:xfrm>
              <a:prstGeom prst="rect">
                <a:avLst/>
              </a:prstGeom>
              <a:blipFill>
                <a:blip r:embed="rId7"/>
                <a:stretch>
                  <a:fillRect t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487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340147" y="2410979"/>
            <a:ext cx="3534708" cy="3674825"/>
            <a:chOff x="3573516" y="2745060"/>
            <a:chExt cx="3321269" cy="34529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B7E6A0-7899-B24B-8420-5385B25B1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15" r="38635"/>
            <a:stretch/>
          </p:blipFill>
          <p:spPr>
            <a:xfrm>
              <a:off x="3573516" y="2745060"/>
              <a:ext cx="3321269" cy="2311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B7E6A0-7899-B24B-8420-5385B25B1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3351" t="18960" b="14218"/>
            <a:stretch/>
          </p:blipFill>
          <p:spPr>
            <a:xfrm>
              <a:off x="4479259" y="4653467"/>
              <a:ext cx="2133600" cy="1544518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61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29466" y="373249"/>
                <a:ext cx="931300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2438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𝐶𝑉𝐻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~∆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𝑌𝑋𝐾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determine the measure of each side.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868613" indent="-2868613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66" y="373249"/>
                <a:ext cx="9313002" cy="1015663"/>
              </a:xfrm>
              <a:prstGeom prst="rect">
                <a:avLst/>
              </a:prstGeom>
              <a:blipFill>
                <a:blip r:embed="rId5"/>
                <a:stretch>
                  <a:fillRect t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729466" y="2097884"/>
                <a:ext cx="955981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𝑅𝐹𝐷𝐸 and 𝐻𝑇𝑃𝑌 are shown,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𝑅𝐸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𝐸𝐷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=2.8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𝐸𝑅𝐹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=86°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𝐸𝐷𝐹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=59°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𝐻𝑌𝑃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=131°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24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Assume: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𝑅𝐹𝐷𝐸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~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𝐻𝑇𝑃𝑌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measure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𝐷𝐸𝑅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your work or explain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your thinking.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66" y="2097884"/>
                <a:ext cx="9559816" cy="2862322"/>
              </a:xfrm>
              <a:prstGeom prst="rect">
                <a:avLst/>
              </a:prstGeom>
              <a:blipFill>
                <a:blip r:embed="rId6"/>
                <a:stretch>
                  <a:fillRect l="-702" t="-1489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55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75353" y="373247"/>
                <a:ext cx="947762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each measure.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227388" indent="-3227388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𝐻𝑇𝑃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𝐷𝐹𝑅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227388" indent="-3227388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𝑇𝐻𝑌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𝑌𝑃𝑇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227388" indent="-3227388" algn="ctr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ratio of the corresponding sides of 𝑅𝐹𝐷𝐸 to 𝐻𝑇𝑃𝑌?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each measure.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87863" indent="-3236913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𝐷𝐹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𝑅𝐹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79388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509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𝑌𝑃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53" y="373247"/>
                <a:ext cx="9477624" cy="5632311"/>
              </a:xfrm>
              <a:prstGeom prst="rect">
                <a:avLst/>
              </a:prstGeom>
              <a:blipFill>
                <a:blip r:embed="rId4"/>
                <a:stretch>
                  <a:fillRect t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907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43728" y="1388912"/>
            <a:ext cx="6737132" cy="2806262"/>
            <a:chOff x="-1045780" y="3636580"/>
            <a:chExt cx="6737132" cy="28062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9A4885-9A4A-F545-A808-C06A8561ED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849" t="2550" r="58685" b="40000"/>
            <a:stretch/>
          </p:blipFill>
          <p:spPr>
            <a:xfrm>
              <a:off x="-1045780" y="3957145"/>
              <a:ext cx="2617076" cy="216513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9A4885-9A4A-F545-A808-C06A8561ED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219" t="22889" r="1806" b="2649"/>
            <a:stretch/>
          </p:blipFill>
          <p:spPr>
            <a:xfrm>
              <a:off x="1781503" y="3636580"/>
              <a:ext cx="3909849" cy="2806262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8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49321" y="373250"/>
                <a:ext cx="1154815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Kirstyn and Roberto were finding the missing side measures for 𝑅𝑉𝐶𝑊 and 𝐺𝐾𝑀𝑆. They were given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𝑅𝑉𝐶𝑊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~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𝐺𝐾𝑀𝑆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𝑉𝑅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=5.4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=8.1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1" y="373250"/>
                <a:ext cx="11548153" cy="707886"/>
              </a:xfrm>
              <a:prstGeom prst="rect">
                <a:avLst/>
              </a:prstGeom>
              <a:blipFill>
                <a:blip r:embed="rId5"/>
                <a:stretch>
                  <a:fillRect l="-549" t="-7143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6" y="4171058"/>
                <a:ext cx="8045211" cy="1631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Kirstyn’s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Roberto’s work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measure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𝑉𝐶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6" y="4171058"/>
                <a:ext cx="8045211" cy="1631922"/>
              </a:xfrm>
              <a:prstGeom prst="rect">
                <a:avLst/>
              </a:prstGeom>
              <a:blipFill>
                <a:blip r:embed="rId6"/>
                <a:stretch>
                  <a:fillRect t="-2326" b="-6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497212E-A034-564C-AB54-92A3151AB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110676"/>
                  </p:ext>
                </p:extLst>
              </p:nvPr>
            </p:nvGraphicFramePr>
            <p:xfrm>
              <a:off x="4794750" y="4282992"/>
              <a:ext cx="5040000" cy="20769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63350128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79469675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Kirstyn’s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Roberto’s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44136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8.1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5.4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3.6×1.5=5.4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=5.4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8.1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5.4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3.6÷1.5=2.4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=2.4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00156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497212E-A034-564C-AB54-92A3151AB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110676"/>
                  </p:ext>
                </p:extLst>
              </p:nvPr>
            </p:nvGraphicFramePr>
            <p:xfrm>
              <a:off x="4794750" y="4282992"/>
              <a:ext cx="5040000" cy="20769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633501284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794696753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Kirstyn’s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Roberto’s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441360"/>
                      </a:ext>
                    </a:extLst>
                  </a:tr>
                  <a:tr h="1608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03" t="-29921" r="-101005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503" t="-29921" r="-1005" b="-1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00156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7207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50349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89203-2C3E-5B43-8FFF-E92518006DEE}"/>
                  </a:ext>
                </a:extLst>
              </p:cNvPr>
              <p:cNvSpPr txBox="1"/>
              <p:nvPr/>
            </p:nvSpPr>
            <p:spPr>
              <a:xfrm>
                <a:off x="739740" y="370050"/>
                <a:ext cx="931323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Who do you agree with?</a:t>
                </a:r>
              </a:p>
              <a:p>
                <a:pPr marL="8890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Explain the error in the incorrect work.</a:t>
                </a:r>
              </a:p>
              <a:p>
                <a:pPr marL="8890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  </a:t>
                </a:r>
              </a:p>
              <a:p>
                <a:pPr marL="889000" indent="-457200"/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/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/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/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8890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 </a:t>
                </a:r>
              </a:p>
              <a:p>
                <a:pPr marL="8890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 </a:t>
                </a:r>
              </a:p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Complete the statements.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 </a:t>
                </a:r>
              </a:p>
              <a:p>
                <a:pPr marL="4487863" indent="-3594100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=__________      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589203-2C3E-5B43-8FFF-E92518006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40" y="370050"/>
                <a:ext cx="9313238" cy="5324535"/>
              </a:xfrm>
              <a:prstGeom prst="rect">
                <a:avLst/>
              </a:prstGeom>
              <a:blipFill>
                <a:blip r:embed="rId4"/>
                <a:stretch>
                  <a:fillRect t="-714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126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62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1824" y="314169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6.10.4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662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94524" y="1243129"/>
            <a:ext cx="96584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One thing I struggled with today was …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One thing I need to practice more is …</a:t>
            </a:r>
          </a:p>
          <a:p>
            <a:pPr lvl="0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lvl="0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 </a:t>
            </a:r>
          </a:p>
          <a:p>
            <a:pPr lvl="0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lvl="0"/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One thing I understand very well is …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1050</Words>
  <Application>Microsoft Office PowerPoint</Application>
  <PresentationFormat>Widescreen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6, Lesson 10  Similar Figures  Volume 1, pg. 348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Morgan Palomino</cp:lastModifiedBy>
  <cp:revision>35</cp:revision>
  <dcterms:created xsi:type="dcterms:W3CDTF">2015-03-17T18:51:18Z</dcterms:created>
  <dcterms:modified xsi:type="dcterms:W3CDTF">2023-02-28T16:17:19Z</dcterms:modified>
</cp:coreProperties>
</file>