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42" r:id="rId9"/>
    <p:sldId id="343" r:id="rId10"/>
    <p:sldId id="344" r:id="rId11"/>
    <p:sldId id="314" r:id="rId12"/>
    <p:sldId id="315" r:id="rId13"/>
    <p:sldId id="332" r:id="rId14"/>
    <p:sldId id="345" r:id="rId15"/>
    <p:sldId id="346" r:id="rId16"/>
    <p:sldId id="347" r:id="rId17"/>
    <p:sldId id="355" r:id="rId18"/>
    <p:sldId id="356" r:id="rId19"/>
    <p:sldId id="348" r:id="rId20"/>
    <p:sldId id="349" r:id="rId21"/>
    <p:sldId id="350" r:id="rId22"/>
    <p:sldId id="351" r:id="rId23"/>
    <p:sldId id="357" r:id="rId24"/>
    <p:sldId id="352" r:id="rId25"/>
    <p:sldId id="353" r:id="rId26"/>
    <p:sldId id="354" r:id="rId27"/>
    <p:sldId id="306" r:id="rId28"/>
    <p:sldId id="307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1486"/>
    <p:restoredTop sz="94695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38930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8953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667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5068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9574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183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639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9116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858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694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8401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0101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3724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36046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97059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843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89043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=""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Dilations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285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None/>
            </a:pPr>
            <a:r>
              <a:rPr lang="en-US" sz="3600" dirty="0">
                <a:latin typeface="Verdana" charset="0"/>
                <a:ea typeface="Verdana" charset="0"/>
                <a:cs typeface="Verdana" charset="0"/>
              </a:rPr>
              <a:t>MA.912.GR.2.1 </a:t>
            </a:r>
          </a:p>
          <a:p>
            <a:pPr marL="468313" indent="0">
              <a:buNone/>
            </a:pPr>
            <a:r>
              <a:rPr lang="en-US" sz="3600" dirty="0">
                <a:latin typeface="Verdana" charset="0"/>
                <a:ea typeface="Verdana" charset="0"/>
                <a:cs typeface="Verdana" charset="0"/>
              </a:rPr>
              <a:t>Given a </a:t>
            </a:r>
            <a:r>
              <a:rPr lang="en-US" sz="3600" dirty="0" err="1">
                <a:latin typeface="Verdana" charset="0"/>
                <a:ea typeface="Verdana" charset="0"/>
                <a:cs typeface="Verdana" charset="0"/>
              </a:rPr>
              <a:t>preimage</a:t>
            </a:r>
            <a:r>
              <a:rPr lang="en-US" sz="3600" dirty="0">
                <a:latin typeface="Verdana" charset="0"/>
                <a:ea typeface="Verdana" charset="0"/>
                <a:cs typeface="Verdana" charset="0"/>
              </a:rPr>
              <a:t> and image, describe the transformation and represent the transformation algebraically using coordinates.</a:t>
            </a:r>
            <a:endParaRPr lang="en-US" sz="36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</a:t>
            </a:r>
            <a:r>
              <a:rPr lang="en-US" sz="3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</a:br>
            <a:r>
              <a:rPr lang="en-US" sz="3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and 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others.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5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charset="2"/>
              <a:buChar char="q"/>
            </a:pPr>
            <a:r>
              <a:rPr lang="en-US" sz="3600" dirty="0">
                <a:latin typeface="Verdana" charset="0"/>
                <a:ea typeface="Verdana" charset="0"/>
                <a:cs typeface="Verdana" charset="0"/>
              </a:rPr>
              <a:t>I can write an algebraic description using coordinate notation of a dilation on a coordinate plane</a:t>
            </a:r>
            <a:r>
              <a:rPr lang="en-US" sz="3600" dirty="0" smtClean="0">
                <a:latin typeface="Verdana" charset="0"/>
                <a:ea typeface="Verdana" charset="0"/>
                <a:cs typeface="Verdana" charset="0"/>
              </a:rPr>
              <a:t>.</a:t>
            </a:r>
          </a:p>
          <a:p>
            <a:pPr marL="685800" indent="-685800">
              <a:buFont typeface="Wingdings" charset="2"/>
              <a:buChar char="q"/>
            </a:pPr>
            <a:endParaRPr lang="en-US" sz="3600" dirty="0">
              <a:latin typeface="Verdana" charset="0"/>
              <a:ea typeface="Verdana" charset="0"/>
              <a:cs typeface="Verdana" charset="0"/>
            </a:endParaRPr>
          </a:p>
          <a:p>
            <a:pPr marL="685800" indent="-685800">
              <a:buFont typeface="Wingdings" charset="2"/>
              <a:buChar char="q"/>
            </a:pPr>
            <a:r>
              <a:rPr lang="en-US" sz="3600" dirty="0">
                <a:latin typeface="Verdana" charset="0"/>
                <a:ea typeface="Verdana" charset="0"/>
                <a:cs typeface="Verdana" charset="0"/>
              </a:rPr>
              <a:t>I can describe a dilation by giving the scale factor and center of dilation.</a:t>
            </a:r>
            <a:endParaRPr lang="en-US" sz="36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0550" y="1115878"/>
            <a:ext cx="5620034" cy="4065821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6" y="1228395"/>
            <a:ext cx="51802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Point perspective is a common method of drawing a three-dimensional object onto a two-dimensional plane. The artist chooses one point from which everything in the drawing is set. 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2000" dirty="0" smtClean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It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was first discovered during the Renaissance. An example of a painting that uses point perspective is Vincent van Gogh’s 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Vincent's Bedroom in Arles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.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2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6390"/>
            <a:ext cx="108340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6.1.1 Warm-Up: What is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Your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Perspective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1878" y="1364374"/>
            <a:ext cx="7975600" cy="37973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grid to sketch a rectangle that is close to the point of perspective and a rectangle that is farther away from the point of perspective. 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2434" y="279196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933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228395"/>
                <a:ext cx="10897884" cy="5125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1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 charset="0"/>
                  </a:rPr>
                  <a:t>.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KRMY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created by dilating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𝑊𝑇𝐷𝐻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The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ratio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words in the bank below to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statements that follow.</a:t>
                </a:r>
              </a:p>
              <a:p>
                <a:pPr marL="347663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7663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9638">
                  <a:spcAft>
                    <a:spcPts val="12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_____________________.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9638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𝐾𝑅𝑀𝑌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 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_____________________.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9638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𝑊𝑇𝐷𝐻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_____________________.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963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____________________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228395"/>
                <a:ext cx="10897884" cy="5125762"/>
              </a:xfrm>
              <a:prstGeom prst="rect">
                <a:avLst/>
              </a:prstGeom>
              <a:blipFill rotWithShape="1">
                <a:blip r:embed="rId3"/>
                <a:stretch>
                  <a:fillRect l="-615" t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208398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6.1.2 Refresher: Dilations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021" y="12894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96"/>
          <a:stretch/>
        </p:blipFill>
        <p:spPr>
          <a:xfrm>
            <a:off x="6711084" y="1228395"/>
            <a:ext cx="4917066" cy="24426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7209" y="3242916"/>
            <a:ext cx="6510433" cy="95152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12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2502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5988" indent="-458788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diagram to determine each.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ratio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𝑊𝐻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𝐾𝑌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/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59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ratio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𝑃𝑅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𝑅𝑇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2502095"/>
              </a:xfrm>
              <a:prstGeom prst="rect">
                <a:avLst/>
              </a:prstGeom>
              <a:blipFill rotWithShape="1">
                <a:blip r:embed="rId4"/>
                <a:stretch>
                  <a:fillRect t="-1460" b="-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832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78554"/>
            <a:ext cx="105755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6.1.3 Collaboration: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Algebraic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Description of a Dilation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3248" y="1548075"/>
                <a:ext cx="1093067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grid. Each point has been dilated using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0, 0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center of dilation.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548075"/>
                <a:ext cx="10930676" cy="707886"/>
              </a:xfrm>
              <a:prstGeom prst="rect">
                <a:avLst/>
              </a:prstGeom>
              <a:blipFill rotWithShape="1">
                <a:blip r:embed="rId4"/>
                <a:stretch>
                  <a:fillRect l="-558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5054" y="2437755"/>
            <a:ext cx="5507064" cy="4017909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984969"/>
              </p:ext>
            </p:extLst>
          </p:nvPr>
        </p:nvGraphicFramePr>
        <p:xfrm>
          <a:off x="1539929" y="1035365"/>
          <a:ext cx="8327136" cy="3810000"/>
        </p:xfrm>
        <a:graphic>
          <a:graphicData uri="http://schemas.openxmlformats.org/drawingml/2006/table">
            <a:tbl>
              <a:tblPr firstRow="1" firstCol="1" bandRow="1"/>
              <a:tblGrid>
                <a:gridCol w="134398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7082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641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4482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Point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Ordered Pair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Ordered </a:t>
                      </a:r>
                      <a:r>
                        <a:rPr lang="en-US" sz="2000" b="1" dirty="0" smtClean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/>
                      </a:r>
                      <a:br>
                        <a:rPr lang="en-US" sz="2000" b="1" dirty="0" smtClean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</a:br>
                      <a:r>
                        <a:rPr lang="en-US" sz="2000" b="1" dirty="0" smtClean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Pair </a:t>
                      </a: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of the Dilation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Scale Factor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548DD4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H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7030A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K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79646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1512" marR="71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6088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797279"/>
              </p:ext>
            </p:extLst>
          </p:nvPr>
        </p:nvGraphicFramePr>
        <p:xfrm>
          <a:off x="1574228" y="1938849"/>
          <a:ext cx="7371796" cy="3261360"/>
        </p:xfrm>
        <a:graphic>
          <a:graphicData uri="http://schemas.openxmlformats.org/drawingml/2006/table">
            <a:tbl>
              <a:tblPr firstRow="1" firstCol="1" bandRow="1"/>
              <a:tblGrid>
                <a:gridCol w="14175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542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Point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Algebraic Representation of </a:t>
                      </a:r>
                      <a:r>
                        <a:rPr lang="en-US" sz="2000" b="1" dirty="0" smtClean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Dilation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548DD4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H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7030A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K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79646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2461" marR="7246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coordinate plane, the algebraic representation of a dilation centered at the origin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𝑘𝑥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, 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𝑘𝑦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scale factor.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0750" indent="-588963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algebraic representation for each point.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609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521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 charset="0"/>
                  </a:rPr>
                  <a:t>2.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the result of dilating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𝑅𝐵𝐾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origin as the center of dilation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Times New Roman" charset="0"/>
                  <a:cs typeface="Times New Roman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charset="0"/>
                    <a:ea typeface="Times New Roman" charset="0"/>
                    <a:cs typeface="Times New Roman" charset="0"/>
                  </a:rPr>
                  <a:t>What </a:t>
                </a:r>
                <a:r>
                  <a:rPr lang="en-US" sz="2000" dirty="0">
                    <a:latin typeface="Verdana" charset="0"/>
                    <a:ea typeface="Times New Roman" charset="0"/>
                    <a:cs typeface="Times New Roman" charset="0"/>
                  </a:rPr>
                  <a:t>is the scale factor of the dilation</a:t>
                </a:r>
                <a:r>
                  <a:rPr lang="en-US" sz="2000" dirty="0" smtClean="0">
                    <a:latin typeface="Verdana" charset="0"/>
                    <a:ea typeface="Times New Roman" charset="0"/>
                    <a:cs typeface="Times New Roman" charset="0"/>
                  </a:rPr>
                  <a:t>?</a:t>
                </a:r>
                <a:endParaRPr lang="en-US" sz="2000" dirty="0">
                  <a:latin typeface="Cambria" charset="0"/>
                  <a:ea typeface="Times New Roman" charset="0"/>
                  <a:cs typeface="Times New Roman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324535"/>
              </a:xfrm>
              <a:prstGeom prst="rect">
                <a:avLst/>
              </a:prstGeom>
              <a:blipFill rotWithShape="1">
                <a:blip r:embed="rId3"/>
                <a:stretch>
                  <a:fillRect l="-609" t="-572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1864" y="966956"/>
            <a:ext cx="6335627" cy="4211953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79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865854"/>
                  </p:ext>
                </p:extLst>
              </p:nvPr>
            </p:nvGraphicFramePr>
            <p:xfrm>
              <a:off x="1578827" y="3754247"/>
              <a:ext cx="8616235" cy="244538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063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61834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9154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Slope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Distance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𝑀𝐵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𝐵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’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6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4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52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𝑀𝐵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6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9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117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865854"/>
                  </p:ext>
                </p:extLst>
              </p:nvPr>
            </p:nvGraphicFramePr>
            <p:xfrm>
              <a:off x="1578827" y="3754247"/>
              <a:ext cx="8616235" cy="244538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0633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61834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409154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Slope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Distance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620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0" t="-69725" r="-196436" b="-199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0377" t="-69725" r="-253585" b="-199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0730" t="-69725" r="-149" b="-199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620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0" t="-171296" r="-196436" b="-100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0377" t="-171296" r="-253585" b="-100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0730" t="-171296" r="-149" b="-1009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64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10" t="-268807" r="-196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0377" t="-268807" r="-253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0961" marR="7096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0730" t="-268807" r="-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algebraic description of the dilation.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a line segment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that passes through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’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ends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table shows different relationships of the line segments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’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’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3170099"/>
              </a:xfrm>
              <a:prstGeom prst="rect">
                <a:avLst/>
              </a:prstGeom>
              <a:blipFill rotWithShape="1">
                <a:blip r:embed="rId5"/>
                <a:stretch>
                  <a:fillRect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214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099001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with your partner how the scale factor could be determined 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2000" dirty="0" smtClean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using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slope. Summarize your discussion.</a:t>
            </a:r>
          </a:p>
          <a:p>
            <a:pPr marL="914400" indent="-457200">
              <a:buFont typeface="+mj-lt"/>
              <a:buAutoNum type="alphaLcPeriod" startAt="5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with your partner how the scale factor could be determined 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2000" dirty="0" smtClean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using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distance.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6469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table shows different relationships among the line segments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8313"/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Discuss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 how the scale factor is also found in the relationships between the slopes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Write a summary of the relationships.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5324535"/>
              </a:xfrm>
              <a:prstGeom prst="rect">
                <a:avLst/>
              </a:prstGeom>
              <a:blipFill rotWithShape="1">
                <a:blip r:embed="rId3"/>
                <a:stretch>
                  <a:fillRect l="-610" t="-686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0750856"/>
                  </p:ext>
                </p:extLst>
              </p:nvPr>
            </p:nvGraphicFramePr>
            <p:xfrm>
              <a:off x="1119132" y="1290353"/>
              <a:ext cx="8327136" cy="311137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895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56396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95422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Slope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Distance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𝐵𝑅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18</m:t>
                                    </m:r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𝐵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𝐾𝑅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4.5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4.5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29.25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𝐾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1.5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1.5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3.25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0750856"/>
                  </p:ext>
                </p:extLst>
              </p:nvPr>
            </p:nvGraphicFramePr>
            <p:xfrm>
              <a:off x="1119132" y="1290353"/>
              <a:ext cx="8327136" cy="311137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8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639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395422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Line Segment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Slope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Distance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640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7" t="-69725" r="-19631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0469" t="-69725" r="-25351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0632" t="-69725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620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7" t="-171296" r="-196312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0469" t="-171296" r="-253516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0632" t="-171296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640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7" t="-268807" r="-196312" b="-1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0469" t="-268807" r="-253516" b="-1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0632" t="-268807" b="-100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6640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7" t="-368807" r="-196312" b="-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0469" t="-368807" r="-253516" b="-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0632" t="-368807" b="-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7627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9834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3248" y="1548075"/>
                <a:ext cx="1093067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the result of dilating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𝐾𝑀𝑇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origin as the center of dilation. The vertices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𝐾𝑀𝑇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(−8,−6)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(6,7)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(0,4)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vertices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′(−12,−9)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′(9,10.5)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′(0,6)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Write the algebraic description of the dilation.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548075"/>
                <a:ext cx="10930676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558" t="-2304" r="-781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78554"/>
            <a:ext cx="105755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6.1.4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Describing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Dilations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2125" y="34839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2582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𝑇𝑊𝐾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dilation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𝑇𝑊𝐾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center of dilation.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984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Show the dilation on the coordinate grid by drawing dotted lines from the center of dilation through each vertex.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5940088"/>
              </a:xfrm>
              <a:prstGeom prst="rect">
                <a:avLst/>
              </a:prstGeom>
              <a:blipFill rotWithShape="1">
                <a:blip r:embed="rId3"/>
                <a:stretch>
                  <a:fillRect l="-610" t="-615" b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6142" y="1260689"/>
            <a:ext cx="6638864" cy="4154757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1772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09900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the scale factor of the dilation?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the algebraic description of the dilation.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5516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dilation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8313"/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Write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description of the dilation by giving the center of dilation and the scale factor.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5324535"/>
              </a:xfrm>
              <a:prstGeom prst="rect">
                <a:avLst/>
              </a:prstGeom>
              <a:blipFill rotWithShape="1">
                <a:blip r:embed="rId3"/>
                <a:stretch>
                  <a:fillRect l="-610" t="-686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5419" y="1332188"/>
            <a:ext cx="5580310" cy="348149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9096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4405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588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3248" y="1548075"/>
                <a:ext cx="10930676" cy="1039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1.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2000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T</m:t>
                        </m:r>
                        <m: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has coordinates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′(−16,20)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′(4,−8)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is the result of the dilation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𝑀𝑇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centered at the origin. The coordinates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(−4,5)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(1,−2)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Write the algebraic description of the dilation.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548075"/>
                <a:ext cx="10930676" cy="1039836"/>
              </a:xfrm>
              <a:prstGeom prst="rect">
                <a:avLst/>
              </a:prstGeom>
              <a:blipFill rotWithShape="1">
                <a:blip r:embed="rId5"/>
                <a:stretch>
                  <a:fillRect l="-558" t="-585" r="-390" b="-9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78554"/>
            <a:ext cx="105755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6.1.5 Guided Practice: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Describing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Dilations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40487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2.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𝑁𝐷𝐾𝐺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’ are shown on the coordinate grid,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’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dilation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𝑁𝐷𝐾𝐺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8313"/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Write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description of the dilation by giving the center of dilation and the scale factor.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5324535"/>
              </a:xfrm>
              <a:prstGeom prst="rect">
                <a:avLst/>
              </a:prstGeom>
              <a:blipFill rotWithShape="1">
                <a:blip r:embed="rId3"/>
                <a:stretch>
                  <a:fillRect l="-610" t="-572" r="-610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1134" y="1118009"/>
            <a:ext cx="6588879" cy="3692116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11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0370EDB7-6994-3D43-ABF9-E04CBAFB9CD9}"/>
              </a:ext>
            </a:extLst>
          </p:cNvPr>
          <p:cNvSpPr txBox="1"/>
          <p:nvPr/>
        </p:nvSpPr>
        <p:spPr>
          <a:xfrm>
            <a:off x="528754" y="1233902"/>
            <a:ext cx="11216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221E1F"/>
                </a:solidFill>
                <a:latin typeface="Verdana"/>
              </a:rPr>
              <a:t>Explain </a:t>
            </a:r>
            <a:r>
              <a:rPr lang="en-US" sz="2000" dirty="0">
                <a:solidFill>
                  <a:srgbClr val="221E1F"/>
                </a:solidFill>
                <a:latin typeface="Verdana"/>
              </a:rPr>
              <a:t>how dilations are different from rigid transformations, in your own words.</a:t>
            </a:r>
            <a:endParaRPr lang="en-US" sz="2000" dirty="0">
              <a:latin typeface="Verdana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468;p34"/>
          <p:cNvSpPr txBox="1"/>
          <p:nvPr/>
        </p:nvSpPr>
        <p:spPr>
          <a:xfrm>
            <a:off x="1142999" y="257134"/>
            <a:ext cx="1066951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sz="3600" b="1" dirty="0" smtClean="0">
                <a:solidFill>
                  <a:srgbClr val="42276B"/>
                </a:solidFill>
                <a:latin typeface="Verdana"/>
              </a:rPr>
              <a:t>6.1.6 </a:t>
            </a:r>
            <a:r>
              <a:rPr lang="en-US" sz="3600" b="1" dirty="0">
                <a:solidFill>
                  <a:srgbClr val="42276B"/>
                </a:solidFill>
                <a:latin typeface="Verdana"/>
              </a:rPr>
              <a:t>Wrap-Up: Cool Down </a:t>
            </a:r>
            <a:endParaRPr lang="en-US" sz="3600" dirty="0">
              <a:latin typeface="Verdana"/>
            </a:endParaRP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879</Words>
  <Application>Microsoft Office PowerPoint</Application>
  <PresentationFormat>Custom</PresentationFormat>
  <Paragraphs>279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Refresher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40</cp:revision>
  <dcterms:created xsi:type="dcterms:W3CDTF">2015-03-17T18:51:18Z</dcterms:created>
  <dcterms:modified xsi:type="dcterms:W3CDTF">2022-07-04T08:51:28Z</dcterms:modified>
</cp:coreProperties>
</file>