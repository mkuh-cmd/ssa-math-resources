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373" r:id="rId8"/>
    <p:sldId id="362" r:id="rId9"/>
    <p:sldId id="363" r:id="rId10"/>
    <p:sldId id="364" r:id="rId11"/>
    <p:sldId id="374" r:id="rId12"/>
    <p:sldId id="365" r:id="rId13"/>
    <p:sldId id="366" r:id="rId14"/>
    <p:sldId id="367" r:id="rId15"/>
    <p:sldId id="368" r:id="rId16"/>
    <p:sldId id="370" r:id="rId17"/>
    <p:sldId id="371" r:id="rId18"/>
    <p:sldId id="372" r:id="rId19"/>
    <p:sldId id="302" r:id="rId20"/>
    <p:sldId id="303" r:id="rId21"/>
    <p:sldId id="360" r:id="rId22"/>
    <p:sldId id="306" r:id="rId23"/>
    <p:sldId id="307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7DBF"/>
    <a:srgbClr val="6F983C"/>
    <a:srgbClr val="79B0DD"/>
    <a:srgbClr val="DA4487"/>
    <a:srgbClr val="276C46"/>
    <a:srgbClr val="C9DF6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20"/>
    <p:restoredTop sz="94694"/>
  </p:normalViewPr>
  <p:slideViewPr>
    <p:cSldViewPr snapToGrid="0">
      <p:cViewPr varScale="1">
        <p:scale>
          <a:sx n="77" d="100"/>
          <a:sy n="77" d="100"/>
        </p:scale>
        <p:origin x="715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6188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44895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21185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98263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04874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07637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5177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02241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86252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37384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33397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4918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79314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0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300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8, Lesson 7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Trapezoid </a:t>
            </a:r>
            <a:r>
              <a:rPr lang="en-US" sz="3600" b="1" dirty="0" err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Midsegment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Theorem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42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2257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02200" y="-73017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21618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94150" y="647062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354899" y="1609531"/>
            <a:ext cx="1152114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MA.912.GR.1.5 </a:t>
            </a:r>
          </a:p>
          <a:p>
            <a:pPr marL="461963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Prove relationships and theorems about trapezoids. Solve mathematical and real-world problems involving postulates, relationships, and theorems of trapezoids.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848" y="21618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1148" y="-7301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42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373849" y="1416510"/>
            <a:ext cx="1163601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812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2200" y="-69701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00" y="21949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994150" y="647520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42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354899" y="1600200"/>
            <a:ext cx="1165496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prove the trapezoid </a:t>
            </a:r>
            <a:r>
              <a:rPr lang="en-US" sz="2400" dirty="0" err="1">
                <a:latin typeface="Verdana" charset="0"/>
                <a:ea typeface="Verdana" charset="0"/>
                <a:cs typeface="Verdana" charset="0"/>
              </a:rPr>
              <a:t>midsegment</a:t>
            </a: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 theorem. </a:t>
            </a:r>
          </a:p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use properties of trapezoids to solve mathematical and real-world problems.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4949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184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96572" y="-10551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8.7.1 Warm-Up: Trapezoids in Architecture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524" y="18633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394524" y="1386025"/>
            <a:ext cx="99930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Four different buildings are shown.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97798"/>
              </p:ext>
            </p:extLst>
          </p:nvPr>
        </p:nvGraphicFramePr>
        <p:xfrm>
          <a:off x="2445576" y="1991493"/>
          <a:ext cx="7607400" cy="3970698"/>
        </p:xfrm>
        <a:graphic>
          <a:graphicData uri="http://schemas.openxmlformats.org/drawingml/2006/table">
            <a:tbl>
              <a:tblPr firstRow="1" firstCol="1" bandRow="1"/>
              <a:tblGrid>
                <a:gridCol w="3595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17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67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</a:rPr>
                        <a:t>Machu Picchu, Peru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44587" marR="4458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</a:rPr>
                        <a:t>Greenland Center, Beijing, China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44587" marR="4458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393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charset="0"/>
                      </a:endParaRPr>
                    </a:p>
                  </a:txBody>
                  <a:tcPr marL="44587" marR="4458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charset="0"/>
                      </a:endParaRPr>
                    </a:p>
                  </a:txBody>
                  <a:tcPr marL="44587" marR="4458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28" name="Picture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20890" y="2798145"/>
            <a:ext cx="1585332" cy="3002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47492" y="3008420"/>
            <a:ext cx="2597816" cy="2479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7462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94150" y="649690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168155"/>
              </p:ext>
            </p:extLst>
          </p:nvPr>
        </p:nvGraphicFramePr>
        <p:xfrm>
          <a:off x="2341350" y="442492"/>
          <a:ext cx="7607400" cy="4180827"/>
        </p:xfrm>
        <a:graphic>
          <a:graphicData uri="http://schemas.openxmlformats.org/drawingml/2006/table">
            <a:tbl>
              <a:tblPr firstRow="1" firstCol="1" bandRow="1"/>
              <a:tblGrid>
                <a:gridCol w="3595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17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680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</a:rPr>
                        <a:t>Garden Terrace, Nagasaki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</a:txBody>
                  <a:tcPr marL="44587" marR="4458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</a:rPr>
                        <a:t>International Spy Museum, Washington D.C.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</a:txBody>
                  <a:tcPr marL="44587" marR="4458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4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charset="0"/>
                      </a:endParaRPr>
                    </a:p>
                  </a:txBody>
                  <a:tcPr marL="44587" marR="4458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charset="0"/>
                      </a:endParaRPr>
                    </a:p>
                  </a:txBody>
                  <a:tcPr marL="44587" marR="4458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25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04112" y="1570338"/>
            <a:ext cx="3325109" cy="2438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4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18771" y="1765002"/>
            <a:ext cx="307657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67991" y="4822444"/>
            <a:ext cx="95807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notice about the buildings?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Describe how a trapezoid is used in each building.</a:t>
            </a:r>
          </a:p>
        </p:txBody>
      </p:sp>
    </p:spTree>
    <p:extLst>
      <p:ext uri="{BB962C8B-B14F-4D97-AF65-F5344CB8AC3E}">
        <p14:creationId xmlns:p14="http://schemas.microsoft.com/office/powerpoint/2010/main" val="76805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2428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43</a:t>
            </a: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6406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1824" y="-3933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8.7.2 Exploration: </a:t>
            </a:r>
            <a:r>
              <a:rPr lang="en-US" sz="3600" b="1" dirty="0" err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Midsegment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 of a Trapezoid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43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9570" y="196938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389570" y="1386025"/>
                <a:ext cx="99980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Trapezoid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𝑅𝐵𝐻𝑌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shown, 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𝑅𝐵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∥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𝑌𝐻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70" y="1386025"/>
                <a:ext cx="9998014" cy="400110"/>
              </a:xfrm>
              <a:prstGeom prst="rect">
                <a:avLst/>
              </a:prstGeom>
              <a:blipFill>
                <a:blip r:embed="rId5"/>
                <a:stretch>
                  <a:fillRect l="-635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4000" y="2291567"/>
            <a:ext cx="6604000" cy="34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128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12595" y="520394"/>
                <a:ext cx="11574965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patty paper or a ruler to determine if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𝑇𝐹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the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midsegment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of trapezoid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𝑅𝐵𝐻𝑌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Justify your conclusion.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a ruler to complete the table.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595" y="520394"/>
                <a:ext cx="11574965" cy="3170099"/>
              </a:xfrm>
              <a:prstGeom prst="rect">
                <a:avLst/>
              </a:prstGeom>
              <a:blipFill>
                <a:blip r:embed="rId4"/>
                <a:stretch>
                  <a:fillRect l="-548" t="-797" b="-2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6210856"/>
                  </p:ext>
                </p:extLst>
              </p:nvPr>
            </p:nvGraphicFramePr>
            <p:xfrm>
              <a:off x="2828144" y="3881893"/>
              <a:ext cx="6535712" cy="19177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6552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27018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794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Segment(s)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Measure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94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𝑅𝐵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794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𝑌𝐻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94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𝑇𝐹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6210856"/>
                  </p:ext>
                </p:extLst>
              </p:nvPr>
            </p:nvGraphicFramePr>
            <p:xfrm>
              <a:off x="2828144" y="3881893"/>
              <a:ext cx="6535712" cy="19177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6552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27018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794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Segment(s)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Measure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94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88" t="-102632" r="-100388" b="-2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794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88" t="-202632" r="-100388" b="-1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94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88" t="-302632" r="-100388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38736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6566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1584" y="619056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87584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434898" y="520394"/>
            <a:ext cx="11430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notice about the relationship between the length of the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midsegment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and the sum of the lengths of the bases?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Write an equation to show the relationship between the length of the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midsegment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of a trapezoid and the length of its bases. </a:t>
            </a:r>
          </a:p>
        </p:txBody>
      </p:sp>
    </p:spTree>
    <p:extLst>
      <p:ext uri="{BB962C8B-B14F-4D97-AF65-F5344CB8AC3E}">
        <p14:creationId xmlns:p14="http://schemas.microsoft.com/office/powerpoint/2010/main" val="542752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184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44</a:t>
            </a:r>
          </a:p>
        </p:txBody>
      </p:sp>
    </p:spTree>
    <p:extLst>
      <p:ext uri="{BB962C8B-B14F-4D97-AF65-F5344CB8AC3E}">
        <p14:creationId xmlns:p14="http://schemas.microsoft.com/office/powerpoint/2010/main" val="1797589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98831" y="3641770"/>
            <a:ext cx="3770064" cy="2297061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25255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8.7.3 Guided Instruction: Trapezoid </a:t>
            </a:r>
            <a:r>
              <a:rPr lang="en-US" sz="3200" b="1" dirty="0" err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Midsegment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 Theorem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7955" y="20322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994150" y="643790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1025255" y="2815269"/>
                <a:ext cx="936232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𝐴𝐶𝑁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with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midsegment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𝐾𝐹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.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255" y="2815269"/>
                <a:ext cx="9362329" cy="400110"/>
              </a:xfrm>
              <a:prstGeom prst="rect">
                <a:avLst/>
              </a:prstGeom>
              <a:blipFill>
                <a:blip r:embed="rId6"/>
                <a:stretch>
                  <a:fillRect l="-407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24"/>
          <p:cNvSpPr txBox="1"/>
          <p:nvPr/>
        </p:nvSpPr>
        <p:spPr>
          <a:xfrm>
            <a:off x="2909316" y="1376676"/>
            <a:ext cx="6629400" cy="1129682"/>
          </a:xfrm>
          <a:prstGeom prst="roundRect">
            <a:avLst/>
          </a:prstGeom>
          <a:solidFill>
            <a:srgbClr val="E2EED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dirty="0">
                <a:solidFill>
                  <a:srgbClr val="6F983C"/>
                </a:solidFill>
                <a:latin typeface="Verdana" charset="0"/>
                <a:ea typeface="Verdana" charset="0"/>
                <a:cs typeface="Verdana" charset="0"/>
              </a:rPr>
              <a:t>The </a:t>
            </a:r>
            <a:r>
              <a:rPr lang="en-US" sz="2000" b="1" i="1" dirty="0" err="1">
                <a:solidFill>
                  <a:srgbClr val="6F983C"/>
                </a:solidFill>
                <a:latin typeface="Verdana" charset="0"/>
                <a:ea typeface="Verdana" charset="0"/>
                <a:cs typeface="Verdana" charset="0"/>
              </a:rPr>
              <a:t>midsegment</a:t>
            </a:r>
            <a:r>
              <a:rPr lang="en-US" sz="2000" i="1" dirty="0">
                <a:solidFill>
                  <a:srgbClr val="6F983C"/>
                </a:solidFill>
                <a:latin typeface="Verdana" charset="0"/>
                <a:ea typeface="Verdana" charset="0"/>
                <a:cs typeface="Verdana" charset="0"/>
              </a:rPr>
              <a:t> </a:t>
            </a:r>
            <a:r>
              <a:rPr lang="en-US" sz="2000" dirty="0">
                <a:solidFill>
                  <a:srgbClr val="6F983C"/>
                </a:solidFill>
                <a:latin typeface="Verdana" charset="0"/>
                <a:ea typeface="Verdana" charset="0"/>
                <a:cs typeface="Verdana" charset="0"/>
              </a:rPr>
              <a:t>of a triangle is a segment joining the midpoints of two sides of a triangle.  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3359139"/>
            <a:ext cx="685755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Fill in the blanks to complete the triangle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midsegment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theorem.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461963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triangle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midsegment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theorem states that the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midsegment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of a triangle is ____________ to the third side it does not touch         and is ________ the length          of the third side. </a:t>
            </a:r>
          </a:p>
        </p:txBody>
      </p:sp>
    </p:spTree>
    <p:extLst>
      <p:ext uri="{BB962C8B-B14F-4D97-AF65-F5344CB8AC3E}">
        <p14:creationId xmlns:p14="http://schemas.microsoft.com/office/powerpoint/2010/main" val="1831777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79140" y="520394"/>
                <a:ext cx="11563815" cy="53252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𝐹𝐵𝐾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with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midsegment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𝑆𝑅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trapezoid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𝐹𝑇𝑁𝐾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 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𝐹𝑇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∥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𝐾𝑁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5513" indent="-44767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Explain why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𝑆𝐹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𝐾𝑆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925513" indent="-447675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5513" indent="-44767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𝑁𝐵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≅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𝐹𝑇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justify why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𝑁𝑅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≅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𝑅𝑇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925513" indent="-447675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5513" indent="-44767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with your partner what information is necessary so that the definition of a trapezoid can be used to state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𝐹𝑇𝑅𝑆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trapezoid. Summarize your discussion.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40" y="520394"/>
                <a:ext cx="11563815" cy="5325240"/>
              </a:xfrm>
              <a:prstGeom prst="rect">
                <a:avLst/>
              </a:prstGeom>
              <a:blipFill>
                <a:blip r:embed="rId4"/>
                <a:stretch>
                  <a:fillRect l="-329" t="-475" b="-9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6633" y="1456325"/>
            <a:ext cx="6629400" cy="196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665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01444" y="520393"/>
                <a:ext cx="11452302" cy="7085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with your partner what else needs to be determined so that it can be stated that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𝑆𝑅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midsegment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𝐹𝑇𝑁𝐾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Summarize your discussion.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444" y="520393"/>
                <a:ext cx="11452302" cy="708592"/>
              </a:xfrm>
              <a:prstGeom prst="rect">
                <a:avLst/>
              </a:prstGeom>
              <a:blipFill>
                <a:blip r:embed="rId4"/>
                <a:stretch>
                  <a:fillRect l="-554" t="-3509" r="-775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24"/>
          <p:cNvSpPr txBox="1"/>
          <p:nvPr/>
        </p:nvSpPr>
        <p:spPr>
          <a:xfrm>
            <a:off x="2917326" y="2057196"/>
            <a:ext cx="6629400" cy="1630385"/>
          </a:xfrm>
          <a:prstGeom prst="roundRect">
            <a:avLst/>
          </a:prstGeom>
          <a:solidFill>
            <a:srgbClr val="B6E6F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865188"/>
            <a:r>
              <a:rPr lang="en-US" sz="2000" b="1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Trapezoid </a:t>
            </a:r>
            <a:r>
              <a:rPr lang="en-US" sz="2000" b="1" dirty="0" err="1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Midsegment</a:t>
            </a:r>
            <a:r>
              <a:rPr lang="en-US" sz="2000" b="1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 Theorem</a:t>
            </a:r>
            <a:r>
              <a:rPr lang="en-US" sz="2000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 </a:t>
            </a:r>
          </a:p>
          <a:p>
            <a:pPr marL="865188"/>
            <a:r>
              <a:rPr lang="en-US" sz="2000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The </a:t>
            </a:r>
            <a:r>
              <a:rPr lang="en-US" sz="2000" dirty="0" err="1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midsegment</a:t>
            </a:r>
            <a:r>
              <a:rPr lang="en-US" sz="2000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 of a trapezoid is parallel to the bases and is half the sum of the bases.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9347" y="2279634"/>
            <a:ext cx="542544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5818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46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08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2519850" y="-3721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8.7.4 Guided Practice: Using the Trapezoid </a:t>
            </a:r>
            <a:r>
              <a:rPr lang="en-US" sz="3200" b="1" dirty="0" err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Midsegment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 Theorem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46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70042" y="12881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434897" y="1386025"/>
                <a:ext cx="11519209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Trapezoid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𝑊𝐷𝐿𝑌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with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midsegment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𝐹𝑍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shown. 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5513" indent="-44767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𝑊𝐷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=14.2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𝑌𝐿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=29.7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𝐹𝑍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925513" indent="-447675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5513" indent="-44767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𝑊𝐷𝐿𝑌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an isosceles trapezoid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𝐷𝐿𝑌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=53°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what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𝑊𝐹𝑍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97" y="1386025"/>
                <a:ext cx="11519209" cy="4708981"/>
              </a:xfrm>
              <a:prstGeom prst="rect">
                <a:avLst/>
              </a:prstGeom>
              <a:blipFill>
                <a:blip r:embed="rId5"/>
                <a:stretch>
                  <a:fillRect l="-551" t="-536" b="-10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7766" y="2224675"/>
            <a:ext cx="603250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208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12596" y="520393"/>
                <a:ext cx="11039706" cy="3606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𝐹𝑍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=11.4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𝑌𝐿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=17.6,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𝑊𝐷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𝑘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𝑊𝐷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=4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𝑘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+4.2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𝐹𝑍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=7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𝑘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+2.1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𝑌𝐿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=6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𝑘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+16.8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𝑊𝐹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den>
                    </m:f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𝑝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𝑊𝑌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=12−2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𝑝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𝑊𝑌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596" y="520393"/>
                <a:ext cx="11039706" cy="3606949"/>
              </a:xfrm>
              <a:prstGeom prst="rect">
                <a:avLst/>
              </a:prstGeom>
              <a:blipFill>
                <a:blip r:embed="rId4"/>
                <a:stretch>
                  <a:fillRect l="-575" t="-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6369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47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980719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47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41824" y="283750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8.7.5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524" y="20529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394523" y="1386026"/>
                <a:ext cx="10645183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Trapezoid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𝑅𝐻𝑊𝐴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with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midsegment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𝑈𝐾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Find the values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𝑅𝑈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=−2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−2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,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𝐴𝑈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=10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, 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1963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 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𝑅𝐻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=4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𝑥</m:t>
                      </m:r>
                      <m:r>
                        <a:rPr lang="en-US" sz="2000">
                          <a:latin typeface="Cambria Math" charset="0"/>
                          <a:ea typeface="Verdana" charset="0"/>
                          <a:cs typeface="Verdana" charset="0"/>
                        </a:rPr>
                        <m:t>, 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𝑈𝐾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=14</m:t>
                      </m:r>
                      <m:r>
                        <a:rPr lang="en-US" sz="2000">
                          <a:latin typeface="Cambria Math" charset="0"/>
                          <a:ea typeface="Verdana" charset="0"/>
                          <a:cs typeface="Verdana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charset="0"/>
                          <a:ea typeface="Verdana" charset="0"/>
                          <a:cs typeface="Verdana" charset="0"/>
                        </a:rPr>
                        <m:t>and</m:t>
                      </m:r>
                      <m:r>
                        <a:rPr lang="en-US" sz="2000">
                          <a:latin typeface="Cambria Math" charset="0"/>
                          <a:ea typeface="Verdana" charset="0"/>
                          <a:cs typeface="Verdana" charset="0"/>
                        </a:rPr>
                        <m:t> 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𝐴𝑊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=−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𝑦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+8</m:t>
                      </m:r>
                      <m:r>
                        <a:rPr lang="en-US" sz="2000">
                          <a:latin typeface="Cambria Math" charset="0"/>
                          <a:ea typeface="Verdana" charset="0"/>
                          <a:cs typeface="Verdana" charset="0"/>
                        </a:rPr>
                        <m:t>. </m:t>
                      </m:r>
                    </m:oMath>
                  </m:oMathPara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23" y="1386026"/>
                <a:ext cx="10645183" cy="1015663"/>
              </a:xfrm>
              <a:prstGeom prst="rect">
                <a:avLst/>
              </a:prstGeom>
              <a:blipFill>
                <a:blip r:embed="rId5"/>
                <a:stretch>
                  <a:fillRect l="-715" t="-2439"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516" y="2847800"/>
            <a:ext cx="4445000" cy="3352800"/>
          </a:xfrm>
          <a:prstGeom prst="rect">
            <a:avLst/>
          </a:prstGeom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47</a:t>
            </a: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2007765" y="520393"/>
                <a:ext cx="4484656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Located on the Nature Coast State Trail in north-central Florida is the Suwanee River Trestle, a bridge that is shaped like an isosceles trapezoid. The state has been inspecting older bridges to ensure their safety and has determined that the Suwanee River Trestle, represented as trapezoid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𝑍𝑌𝑀𝑈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needs an additional support brace through its middle. 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765" y="520393"/>
                <a:ext cx="4484656" cy="4093428"/>
              </a:xfrm>
              <a:prstGeom prst="rect">
                <a:avLst/>
              </a:prstGeom>
              <a:blipFill>
                <a:blip r:embed="rId4"/>
                <a:stretch>
                  <a:fillRect l="-1127" t="-617" r="-2254" b="-1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2422" y="505725"/>
            <a:ext cx="3842479" cy="33167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964093" y="4703441"/>
                <a:ext cx="8370807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61963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support brace is to connect sides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𝑍𝑈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𝑌𝑀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at their midpoints. If the length of leg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𝑍𝑈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=28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feet (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ft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) and the perimeter of the trestle measures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153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ft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what is the length, in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ft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of the new support brace?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4093" y="4703441"/>
                <a:ext cx="8370807" cy="1323439"/>
              </a:xfrm>
              <a:prstGeom prst="rect">
                <a:avLst/>
              </a:prstGeom>
              <a:blipFill>
                <a:blip r:embed="rId6"/>
                <a:stretch>
                  <a:fillRect t="-2857" r="-1061" b="-7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8435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48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982426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48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642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25948" y="-5706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8.7.6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8648" y="19920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12955" y="1397178"/>
            <a:ext cx="113853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Your friend is absent today and will need the notes from class. Write a quick note to help them understand the trapezoid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midsegment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theorem. 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1261</TotalTime>
  <Words>994</Words>
  <Application>Microsoft Office PowerPoint</Application>
  <PresentationFormat>Widescreen</PresentationFormat>
  <Paragraphs>163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Geometry  Unit 8, Lesson 7  Trapezoid Midsegment Theorem  Volume 2, pg. 42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Cassie O'Connor</cp:lastModifiedBy>
  <cp:revision>22</cp:revision>
  <dcterms:created xsi:type="dcterms:W3CDTF">2015-03-17T18:51:18Z</dcterms:created>
  <dcterms:modified xsi:type="dcterms:W3CDTF">2022-07-04T20:52:41Z</dcterms:modified>
</cp:coreProperties>
</file>