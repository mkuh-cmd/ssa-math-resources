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288" r:id="rId8"/>
    <p:sldId id="362" r:id="rId9"/>
    <p:sldId id="363" r:id="rId10"/>
    <p:sldId id="364" r:id="rId11"/>
    <p:sldId id="365" r:id="rId12"/>
    <p:sldId id="366" r:id="rId13"/>
    <p:sldId id="367" r:id="rId14"/>
    <p:sldId id="373" r:id="rId15"/>
    <p:sldId id="374" r:id="rId16"/>
    <p:sldId id="314" r:id="rId17"/>
    <p:sldId id="315" r:id="rId18"/>
    <p:sldId id="352" r:id="rId19"/>
    <p:sldId id="368" r:id="rId20"/>
    <p:sldId id="375" r:id="rId21"/>
    <p:sldId id="369" r:id="rId22"/>
    <p:sldId id="370" r:id="rId23"/>
    <p:sldId id="371" r:id="rId24"/>
    <p:sldId id="372" r:id="rId25"/>
    <p:sldId id="302" r:id="rId26"/>
    <p:sldId id="303" r:id="rId27"/>
    <p:sldId id="360" r:id="rId28"/>
    <p:sldId id="306" r:id="rId29"/>
    <p:sldId id="307"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7DBF"/>
    <a:srgbClr val="6D9A3C"/>
    <a:srgbClr val="79B0DD"/>
    <a:srgbClr val="DA4487"/>
    <a:srgbClr val="276C46"/>
    <a:srgbClr val="C9DF6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90"/>
    <p:restoredTop sz="94719"/>
  </p:normalViewPr>
  <p:slideViewPr>
    <p:cSldViewPr snapToGrid="0">
      <p:cViewPr varScale="1">
        <p:scale>
          <a:sx n="83" d="100"/>
          <a:sy n="83" d="100"/>
        </p:scale>
        <p:origin x="92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351485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539865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935881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247635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3687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725407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108236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49466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271442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886939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7630696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552192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23570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421509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979314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0.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Kites and Parallelograms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6"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5546"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204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842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665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5496" y="1609531"/>
            <a:ext cx="1111115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MA.912.GR.1.4 </a:t>
            </a:r>
          </a:p>
          <a:p>
            <a:pPr marL="469900" indent="0">
              <a:buNone/>
            </a:pPr>
            <a:r>
              <a:rPr lang="en-US" sz="2400" dirty="0">
                <a:latin typeface="Verdana" charset="0"/>
                <a:ea typeface="Verdana" charset="0"/>
                <a:cs typeface="Verdana" charset="0"/>
              </a:rPr>
              <a:t>Prove relationships and theorems about parallelograms. Solve mathematical and real-world problems involving postulates, relationships, and theorems of parallelograms.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25</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496"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654"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721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505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8428"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25</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7840" y="1608425"/>
            <a:ext cx="1105458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charset="2"/>
              <a:buChar char="q"/>
            </a:pPr>
            <a:r>
              <a:rPr lang="en-US" sz="2400" dirty="0">
                <a:latin typeface="Verdana" charset="0"/>
                <a:ea typeface="Verdana" charset="0"/>
                <a:cs typeface="Verdana" charset="0"/>
              </a:rPr>
              <a:t>I can use properties of parallelograms, kites, and special parallelograms to solve mathematical and real‑world problems.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48"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018" y="6855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8.4.1 Warm-Up: </a:t>
            </a:r>
            <a:r>
              <a:rPr lang="en-US" sz="3600" b="1" dirty="0" err="1">
                <a:solidFill>
                  <a:srgbClr val="3F2A67"/>
                </a:solidFill>
                <a:latin typeface="Verdana"/>
                <a:ea typeface="Verdana"/>
                <a:cs typeface="Verdana"/>
                <a:sym typeface="Verdana"/>
              </a:rPr>
              <a:t>Canstruction</a:t>
            </a:r>
            <a:endParaRPr lang="en-US" sz="3600" b="1" dirty="0">
              <a:solidFill>
                <a:srgbClr val="3F2A67"/>
              </a:solidFill>
              <a:latin typeface="Verdana"/>
              <a:ea typeface="Verdana"/>
              <a:cs typeface="Verdana"/>
              <a:sym typeface="Verdana"/>
            </a:endParaRP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2718"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26</a:t>
            </a:r>
          </a:p>
        </p:txBody>
      </p:sp>
      <p:sp>
        <p:nvSpPr>
          <p:cNvPr id="2" name="TextBox 1">
            <a:extLst>
              <a:ext uri="{FF2B5EF4-FFF2-40B4-BE49-F238E27FC236}">
                <a16:creationId xmlns:a16="http://schemas.microsoft.com/office/drawing/2014/main" id="{E1D7562E-134F-D14B-AF1A-DF40E11EF758}"/>
              </a:ext>
            </a:extLst>
          </p:cNvPr>
          <p:cNvSpPr txBox="1"/>
          <p:nvPr/>
        </p:nvSpPr>
        <p:spPr>
          <a:xfrm>
            <a:off x="550617" y="1394251"/>
            <a:ext cx="6248389" cy="2862322"/>
          </a:xfrm>
          <a:prstGeom prst="rect">
            <a:avLst/>
          </a:prstGeom>
          <a:noFill/>
        </p:spPr>
        <p:txBody>
          <a:bodyPr wrap="square" rtlCol="0">
            <a:spAutoFit/>
          </a:bodyPr>
          <a:lstStyle/>
          <a:p>
            <a:r>
              <a:rPr lang="en-US" sz="2000" dirty="0">
                <a:latin typeface="Verdana" charset="0"/>
                <a:ea typeface="Verdana" charset="0"/>
                <a:cs typeface="Verdana" charset="0"/>
              </a:rPr>
              <a:t>Each year just before Thanksgiving there are competitions held all over the world to build unique </a:t>
            </a:r>
            <a:r>
              <a:rPr lang="en-US" sz="2000" dirty="0" err="1">
                <a:latin typeface="Verdana" charset="0"/>
                <a:ea typeface="Verdana" charset="0"/>
                <a:cs typeface="Verdana" charset="0"/>
              </a:rPr>
              <a:t>Canstructions</a:t>
            </a:r>
            <a:r>
              <a:rPr lang="en-US" sz="2000" dirty="0">
                <a:latin typeface="Verdana" charset="0"/>
                <a:ea typeface="Verdana" charset="0"/>
                <a:cs typeface="Verdana" charset="0"/>
              </a:rPr>
              <a:t> with canned food that is collected from the community. The food is then given to local food banks. The picture shows the </a:t>
            </a:r>
            <a:r>
              <a:rPr lang="en-US" sz="2000" dirty="0" err="1">
                <a:latin typeface="Verdana" charset="0"/>
                <a:ea typeface="Verdana" charset="0"/>
                <a:cs typeface="Verdana" charset="0"/>
              </a:rPr>
              <a:t>Canstruction</a:t>
            </a:r>
            <a:r>
              <a:rPr lang="en-US" sz="2000" dirty="0">
                <a:latin typeface="Verdana" charset="0"/>
                <a:ea typeface="Verdana" charset="0"/>
                <a:cs typeface="Verdana" charset="0"/>
              </a:rPr>
              <a:t> called "Downside Up," which was the winning exhibit from </a:t>
            </a:r>
            <a:r>
              <a:rPr lang="en-US" sz="2000" dirty="0" err="1">
                <a:latin typeface="Verdana" charset="0"/>
                <a:ea typeface="Verdana" charset="0"/>
                <a:cs typeface="Verdana" charset="0"/>
              </a:rPr>
              <a:t>Canstruction</a:t>
            </a:r>
            <a:r>
              <a:rPr lang="en-US" sz="2000" dirty="0">
                <a:latin typeface="Verdana" charset="0"/>
                <a:ea typeface="Verdana" charset="0"/>
                <a:cs typeface="Verdana" charset="0"/>
              </a:rPr>
              <a:t> 2010 in New York City.</a:t>
            </a:r>
          </a:p>
          <a:p>
            <a:endParaRPr lang="en-US" sz="2000" dirty="0">
              <a:latin typeface="Verdana" charset="0"/>
              <a:ea typeface="Verdana" charset="0"/>
              <a:cs typeface="Verdana" charset="0"/>
            </a:endParaRP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018695" y="1394250"/>
            <a:ext cx="4505229" cy="3391353"/>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0961136" cy="409342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What do you wonder about “Downside Up”?</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Make an educated guess at the number of cans used to build “Downside Up”. Show your work.</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Compare your educated guess with your partner’s. Describe how close your guess was to your partner’s guess.</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4553"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66327"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26</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7384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5598"/>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5" y="44727"/>
            <a:ext cx="888413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8.4.2 Exploration: What Is a Kite?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26</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9978" y="292852"/>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96873" y="1370427"/>
                <a:ext cx="10538851" cy="708592"/>
              </a:xfrm>
              <a:prstGeom prst="rect">
                <a:avLst/>
              </a:prstGeom>
              <a:noFill/>
            </p:spPr>
            <p:txBody>
              <a:bodyPr wrap="square" rtlCol="0">
                <a:spAutoFit/>
              </a:bodyPr>
              <a:lstStyle/>
              <a:p>
                <a:r>
                  <a:rPr lang="en-US" sz="2000" dirty="0">
                    <a:latin typeface="Verdana" charset="0"/>
                    <a:ea typeface="Verdana" charset="0"/>
                    <a:cs typeface="Verdana" charset="0"/>
                  </a:rPr>
                  <a:t>Kite </a:t>
                </a:r>
                <a14:m>
                  <m:oMath xmlns:m="http://schemas.openxmlformats.org/officeDocument/2006/math">
                    <m:r>
                      <a:rPr lang="en-US" sz="2000" i="1">
                        <a:latin typeface="Cambria Math" charset="0"/>
                        <a:ea typeface="Verdana" charset="0"/>
                        <a:cs typeface="Verdana" charset="0"/>
                      </a:rPr>
                      <m:t>𝑆𝑅𝑇𝑊</m:t>
                    </m:r>
                  </m:oMath>
                </a14:m>
                <a:r>
                  <a:rPr lang="en-US" sz="2000" dirty="0">
                    <a:latin typeface="Verdana" charset="0"/>
                    <a:ea typeface="Verdana" charset="0"/>
                    <a:cs typeface="Verdana" charset="0"/>
                  </a:rPr>
                  <a:t> with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𝑆𝑇</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𝑊𝑅</m:t>
                        </m:r>
                      </m:e>
                    </m:acc>
                  </m:oMath>
                </a14:m>
                <a:r>
                  <a:rPr lang="en-US" sz="2000" dirty="0">
                    <a:latin typeface="Verdana" charset="0"/>
                    <a:ea typeface="Verdana" charset="0"/>
                    <a:cs typeface="Verdana" charset="0"/>
                  </a:rPr>
                  <a:t> intersecting at point </a:t>
                </a:r>
                <a14:m>
                  <m:oMath xmlns:m="http://schemas.openxmlformats.org/officeDocument/2006/math">
                    <m:r>
                      <a:rPr lang="en-US" sz="2000" i="1">
                        <a:latin typeface="Cambria Math" charset="0"/>
                        <a:ea typeface="Verdana" charset="0"/>
                        <a:cs typeface="Verdana" charset="0"/>
                      </a:rPr>
                      <m:t>𝑉</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𝐹𝐿𝑁𝐻</m:t>
                    </m:r>
                  </m:oMath>
                </a14:m>
                <a:r>
                  <a:rPr lang="en-US" sz="2000" dirty="0">
                    <a:latin typeface="Verdana" charset="0"/>
                    <a:ea typeface="Verdana" charset="0"/>
                    <a:cs typeface="Verdana" charset="0"/>
                  </a:rPr>
                  <a:t> with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𝐹𝑁</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𝐻𝐿</m:t>
                        </m:r>
                      </m:e>
                    </m:acc>
                  </m:oMath>
                </a14:m>
                <a:r>
                  <a:rPr lang="en-US" sz="2000" dirty="0">
                    <a:latin typeface="Verdana" charset="0"/>
                    <a:ea typeface="Verdana" charset="0"/>
                    <a:cs typeface="Verdana" charset="0"/>
                  </a:rPr>
                  <a:t> intersecting at point </a:t>
                </a:r>
                <a14:m>
                  <m:oMath xmlns:m="http://schemas.openxmlformats.org/officeDocument/2006/math">
                    <m:r>
                      <a:rPr lang="en-US" sz="2000" i="1">
                        <a:latin typeface="Cambria Math" charset="0"/>
                        <a:ea typeface="Verdana" charset="0"/>
                        <a:cs typeface="Verdana" charset="0"/>
                      </a:rPr>
                      <m:t>𝐾</m:t>
                    </m:r>
                  </m:oMath>
                </a14:m>
                <a:r>
                  <a:rPr lang="en-US" sz="2000" dirty="0">
                    <a:latin typeface="Verdana" charset="0"/>
                    <a:ea typeface="Verdana" charset="0"/>
                    <a:cs typeface="Verdana" charset="0"/>
                  </a:rPr>
                  <a:t> are shown.</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6873" y="1370427"/>
                <a:ext cx="10538851" cy="708592"/>
              </a:xfrm>
              <a:prstGeom prst="rect">
                <a:avLst/>
              </a:prstGeom>
              <a:blipFill>
                <a:blip r:embed="rId5"/>
                <a:stretch>
                  <a:fillRect l="-636" t="-5172" b="-14655"/>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52232" y="2506550"/>
            <a:ext cx="3073328" cy="4007090"/>
          </a:xfrm>
          <a:prstGeom prst="rect">
            <a:avLst/>
          </a:prstGeom>
        </p:spPr>
      </p:pic>
      <p:pic>
        <p:nvPicPr>
          <p:cNvPr id="3" name="Picture 2"/>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395517" y="2506550"/>
            <a:ext cx="4740207" cy="2682507"/>
          </a:xfrm>
          <a:prstGeom prst="rect">
            <a:avLst/>
          </a:prstGeom>
        </p:spPr>
      </p:pic>
    </p:spTree>
    <p:extLst>
      <p:ext uri="{BB962C8B-B14F-4D97-AF65-F5344CB8AC3E}">
        <p14:creationId xmlns:p14="http://schemas.microsoft.com/office/powerpoint/2010/main" val="124670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8619"/>
            <a:ext cx="10961136" cy="101566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Using a ruler, work with a partner to fill in the chart below with the appropriate measurements. Each partner should find the measurements for one kite and share their results with the other. </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48197766"/>
                  </p:ext>
                </p:extLst>
              </p:nvPr>
            </p:nvGraphicFramePr>
            <p:xfrm>
              <a:off x="1082068" y="1706424"/>
              <a:ext cx="8249501" cy="4772167"/>
            </p:xfrm>
            <a:graphic>
              <a:graphicData uri="http://schemas.openxmlformats.org/drawingml/2006/table">
                <a:tbl>
                  <a:tblPr firstRow="1" firstCol="1" bandRow="1"/>
                  <a:tblGrid>
                    <a:gridCol w="1841695">
                      <a:extLst>
                        <a:ext uri="{9D8B030D-6E8A-4147-A177-3AD203B41FA5}">
                          <a16:colId xmlns:a16="http://schemas.microsoft.com/office/drawing/2014/main" val="20000"/>
                        </a:ext>
                      </a:extLst>
                    </a:gridCol>
                    <a:gridCol w="2284596">
                      <a:extLst>
                        <a:ext uri="{9D8B030D-6E8A-4147-A177-3AD203B41FA5}">
                          <a16:colId xmlns:a16="http://schemas.microsoft.com/office/drawing/2014/main" val="20001"/>
                        </a:ext>
                      </a:extLst>
                    </a:gridCol>
                    <a:gridCol w="1766210">
                      <a:extLst>
                        <a:ext uri="{9D8B030D-6E8A-4147-A177-3AD203B41FA5}">
                          <a16:colId xmlns:a16="http://schemas.microsoft.com/office/drawing/2014/main" val="20002"/>
                        </a:ext>
                      </a:extLst>
                    </a:gridCol>
                    <a:gridCol w="2357000">
                      <a:extLst>
                        <a:ext uri="{9D8B030D-6E8A-4147-A177-3AD203B41FA5}">
                          <a16:colId xmlns:a16="http://schemas.microsoft.com/office/drawing/2014/main" val="20003"/>
                        </a:ext>
                      </a:extLst>
                    </a:gridCol>
                  </a:tblGrid>
                  <a:tr h="386644">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b="1" i="1">
                                    <a:effectLst/>
                                    <a:latin typeface="Cambria Math" charset="0"/>
                                    <a:ea typeface="Verdana" charset="0"/>
                                    <a:cs typeface="Verdana" charset="0"/>
                                  </a:rPr>
                                  <m:t>𝑺𝑹𝑻𝑾</m:t>
                                </m:r>
                              </m:oMath>
                            </m:oMathPara>
                          </a14:m>
                          <a:endParaRPr lang="en-US" sz="1200">
                            <a:effectLst/>
                            <a:latin typeface="Verdana" charset="0"/>
                            <a:ea typeface="Verdana" charset="0"/>
                            <a:cs typeface="Verdana" charset="0"/>
                          </a:endParaRPr>
                        </a:p>
                      </a:txBody>
                      <a:tcPr marL="99276" marR="99276" marT="49638" marB="496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200" b="1" i="1">
                                    <a:effectLst/>
                                    <a:latin typeface="Cambria Math" charset="0"/>
                                    <a:ea typeface="Verdana" charset="0"/>
                                    <a:cs typeface="Verdana" charset="0"/>
                                  </a:rPr>
                                  <m:t>𝑭𝑳𝑵𝑯</m:t>
                                </m:r>
                              </m:oMath>
                            </m:oMathPara>
                          </a14:m>
                          <a:endParaRPr lang="en-US" sz="1200">
                            <a:effectLst/>
                            <a:latin typeface="Verdana" charset="0"/>
                            <a:ea typeface="Verdana" charset="0"/>
                            <a:cs typeface="Verdana" charset="0"/>
                          </a:endParaRPr>
                        </a:p>
                      </a:txBody>
                      <a:tcPr marL="99276" marR="99276" marT="49638" marB="496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471171">
                    <a:tc>
                      <a:txBody>
                        <a:bodyPr/>
                        <a:lstStyle/>
                        <a:p>
                          <a:pPr marL="0" marR="0" algn="ctr">
                            <a:spcBef>
                              <a:spcPts val="0"/>
                            </a:spcBef>
                            <a:spcAft>
                              <a:spcPts val="0"/>
                            </a:spcAft>
                          </a:pPr>
                          <a:r>
                            <a:rPr lang="en-US" sz="2200" b="1">
                              <a:effectLst/>
                              <a:latin typeface="Verdana" charset="0"/>
                              <a:ea typeface="Verdana" charset="0"/>
                              <a:cs typeface="Verdana" charset="0"/>
                            </a:rPr>
                            <a:t>Segment</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200" b="1" dirty="0">
                              <a:effectLst/>
                              <a:latin typeface="Verdana" charset="0"/>
                              <a:ea typeface="Verdana" charset="0"/>
                              <a:cs typeface="Verdana" charset="0"/>
                            </a:rPr>
                            <a:t>Measurement</a:t>
                          </a:r>
                          <a:endParaRPr lang="en-US" sz="1200" dirty="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200" b="1">
                              <a:effectLst/>
                              <a:latin typeface="Verdana" charset="0"/>
                              <a:ea typeface="Verdana" charset="0"/>
                              <a:cs typeface="Verdana" charset="0"/>
                            </a:rPr>
                            <a:t>Segment</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200" b="1" dirty="0">
                              <a:effectLst/>
                              <a:latin typeface="Verdana" charset="0"/>
                              <a:ea typeface="Verdana" charset="0"/>
                              <a:cs typeface="Verdana" charset="0"/>
                            </a:rPr>
                            <a:t>Measurement</a:t>
                          </a:r>
                          <a:endParaRPr lang="en-US" sz="1200" dirty="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𝑆𝑅</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𝐹𝐿</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𝑆𝑊</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𝐹𝐻</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𝑅𝑇</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𝐻𝑁</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𝑊𝑇</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𝐿𝑁</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𝑆𝑇</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𝐹𝑁</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𝑆𝑉</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𝐹𝐾</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𝑇𝑉</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𝑁𝐾</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𝑊𝑅</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𝐻𝐿</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𝑊𝑉</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𝐻𝐾</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8664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𝑅𝑉</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ea typeface="Verdana" charset="0"/>
                                        <a:cs typeface="Verdana" charset="0"/>
                                      </a:rPr>
                                    </m:ctrlPr>
                                  </m:accPr>
                                  <m:e>
                                    <m:r>
                                      <a:rPr lang="en-US" sz="2200" i="1">
                                        <a:effectLst/>
                                        <a:latin typeface="Cambria Math" charset="0"/>
                                        <a:ea typeface="Verdana" charset="0"/>
                                        <a:cs typeface="Verdana" charset="0"/>
                                      </a:rPr>
                                      <m:t>𝐿𝐾</m:t>
                                    </m:r>
                                  </m:e>
                                </m:acc>
                              </m:oMath>
                            </m:oMathPara>
                          </a14:m>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charset="0"/>
                              <a:ea typeface="Verdana" charset="0"/>
                              <a:cs typeface="Verdana" charset="0"/>
                            </a:rPr>
                            <a:t> </a:t>
                          </a:r>
                          <a:endParaRPr lang="en-US" sz="1200" dirty="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48197766"/>
                  </p:ext>
                </p:extLst>
              </p:nvPr>
            </p:nvGraphicFramePr>
            <p:xfrm>
              <a:off x="1082068" y="1706424"/>
              <a:ext cx="8249501" cy="4772167"/>
            </p:xfrm>
            <a:graphic>
              <a:graphicData uri="http://schemas.openxmlformats.org/drawingml/2006/table">
                <a:tbl>
                  <a:tblPr firstRow="1" firstCol="1" bandRow="1"/>
                  <a:tblGrid>
                    <a:gridCol w="1841695">
                      <a:extLst>
                        <a:ext uri="{9D8B030D-6E8A-4147-A177-3AD203B41FA5}">
                          <a16:colId xmlns:a16="http://schemas.microsoft.com/office/drawing/2014/main" val="20000"/>
                        </a:ext>
                      </a:extLst>
                    </a:gridCol>
                    <a:gridCol w="2284596">
                      <a:extLst>
                        <a:ext uri="{9D8B030D-6E8A-4147-A177-3AD203B41FA5}">
                          <a16:colId xmlns:a16="http://schemas.microsoft.com/office/drawing/2014/main" val="20001"/>
                        </a:ext>
                      </a:extLst>
                    </a:gridCol>
                    <a:gridCol w="1766210">
                      <a:extLst>
                        <a:ext uri="{9D8B030D-6E8A-4147-A177-3AD203B41FA5}">
                          <a16:colId xmlns:a16="http://schemas.microsoft.com/office/drawing/2014/main" val="20002"/>
                        </a:ext>
                      </a:extLst>
                    </a:gridCol>
                    <a:gridCol w="2357000">
                      <a:extLst>
                        <a:ext uri="{9D8B030D-6E8A-4147-A177-3AD203B41FA5}">
                          <a16:colId xmlns:a16="http://schemas.microsoft.com/office/drawing/2014/main" val="20003"/>
                        </a:ext>
                      </a:extLst>
                    </a:gridCol>
                  </a:tblGrid>
                  <a:tr h="434556">
                    <a:tc gridSpan="2">
                      <a:txBody>
                        <a:bodyPr/>
                        <a:lstStyle/>
                        <a:p>
                          <a:endParaRPr lang="en-US"/>
                        </a:p>
                      </a:txBody>
                      <a:tcPr marL="99276" marR="99276" marT="49638" marB="496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08" t="-2941" r="-100308" b="-1011765"/>
                          </a:stretch>
                        </a:blipFill>
                      </a:tcPr>
                    </a:tc>
                    <a:tc hMerge="1">
                      <a:txBody>
                        <a:bodyPr/>
                        <a:lstStyle/>
                        <a:p>
                          <a:endParaRPr lang="en-US"/>
                        </a:p>
                      </a:txBody>
                      <a:tcPr/>
                    </a:tc>
                    <a:tc gridSpan="2">
                      <a:txBody>
                        <a:bodyPr/>
                        <a:lstStyle/>
                        <a:p>
                          <a:endParaRPr lang="en-US"/>
                        </a:p>
                      </a:txBody>
                      <a:tcPr marL="99276" marR="99276" marT="49638" marB="49638"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0308" t="-2941" r="-308" b="-1011765"/>
                          </a:stretch>
                        </a:blipFill>
                      </a:tcPr>
                    </a:tc>
                    <a:tc hMerge="1">
                      <a:txBody>
                        <a:bodyPr/>
                        <a:lstStyle/>
                        <a:p>
                          <a:endParaRPr lang="en-US"/>
                        </a:p>
                      </a:txBody>
                      <a:tcPr/>
                    </a:tc>
                    <a:extLst>
                      <a:ext uri="{0D108BD9-81ED-4DB2-BD59-A6C34878D82A}">
                        <a16:rowId xmlns:a16="http://schemas.microsoft.com/office/drawing/2014/main" val="10000"/>
                      </a:ext>
                    </a:extLst>
                  </a:tr>
                  <a:tr h="471171">
                    <a:tc>
                      <a:txBody>
                        <a:bodyPr/>
                        <a:lstStyle/>
                        <a:p>
                          <a:pPr marL="0" marR="0" algn="ctr">
                            <a:spcBef>
                              <a:spcPts val="0"/>
                            </a:spcBef>
                            <a:spcAft>
                              <a:spcPts val="0"/>
                            </a:spcAft>
                          </a:pPr>
                          <a:r>
                            <a:rPr lang="en-US" sz="2200" b="1">
                              <a:effectLst/>
                              <a:latin typeface="Verdana" charset="0"/>
                              <a:ea typeface="Verdana" charset="0"/>
                              <a:cs typeface="Verdana" charset="0"/>
                            </a:rPr>
                            <a:t>Segment</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200" b="1" dirty="0">
                              <a:effectLst/>
                              <a:latin typeface="Verdana" charset="0"/>
                              <a:ea typeface="Verdana" charset="0"/>
                              <a:cs typeface="Verdana" charset="0"/>
                            </a:rPr>
                            <a:t>Measurement</a:t>
                          </a:r>
                          <a:endParaRPr lang="en-US" sz="1200" dirty="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200" b="1">
                              <a:effectLst/>
                              <a:latin typeface="Verdana" charset="0"/>
                              <a:ea typeface="Verdana" charset="0"/>
                              <a:cs typeface="Verdana" charset="0"/>
                            </a:rPr>
                            <a:t>Segment</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200" b="1" dirty="0">
                              <a:effectLst/>
                              <a:latin typeface="Verdana" charset="0"/>
                              <a:ea typeface="Verdana" charset="0"/>
                              <a:cs typeface="Verdana" charset="0"/>
                            </a:rPr>
                            <a:t>Measurement</a:t>
                          </a:r>
                          <a:endParaRPr lang="en-US" sz="1200" dirty="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243333" r="-348966" b="-920000"/>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243333" r="-134532" b="-920000"/>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332258" r="-348966" b="-790323"/>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332258" r="-134532" b="-790323"/>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446667" r="-348966" b="-716667"/>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446667" r="-134532" b="-716667"/>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529032" r="-348966" b="-593548"/>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529032" r="-134532" b="-593548"/>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650000" r="-348966" b="-513333"/>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650000" r="-134532" b="-513333"/>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725806" r="-348966" b="-396774"/>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725806" r="-134532" b="-396774"/>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853333" r="-348966" b="-310000"/>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853333" r="-134532" b="-310000"/>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922581" r="-348966" b="-200000"/>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922581" r="-134532" b="-200000"/>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1056667" r="-348966" b="-106667"/>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1056667" r="-134532" b="-106667"/>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86644">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0" t="-1119355" r="-348966" b="-3226"/>
                          </a:stretch>
                        </a:blipFill>
                      </a:tcPr>
                    </a:tc>
                    <a:tc>
                      <a:txBody>
                        <a:bodyPr/>
                        <a:lstStyle/>
                        <a:p>
                          <a:pPr marL="0" marR="0" algn="ctr">
                            <a:spcBef>
                              <a:spcPts val="0"/>
                            </a:spcBef>
                            <a:spcAft>
                              <a:spcPts val="0"/>
                            </a:spcAft>
                          </a:pPr>
                          <a:r>
                            <a:rPr lang="en-US" sz="2200">
                              <a:effectLst/>
                              <a:latin typeface="Verdana" charset="0"/>
                              <a:ea typeface="Verdana" charset="0"/>
                              <a:cs typeface="Verdana" charset="0"/>
                            </a:rPr>
                            <a:t> </a:t>
                          </a:r>
                          <a:endParaRPr lang="en-US" sz="120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4532" t="-1119355" r="-134532" b="-3226"/>
                          </a:stretch>
                        </a:blipFill>
                      </a:tcPr>
                    </a:tc>
                    <a:tc>
                      <a:txBody>
                        <a:bodyPr/>
                        <a:lstStyle/>
                        <a:p>
                          <a:pPr marL="0" marR="0" algn="ctr">
                            <a:spcBef>
                              <a:spcPts val="0"/>
                            </a:spcBef>
                            <a:spcAft>
                              <a:spcPts val="0"/>
                            </a:spcAft>
                          </a:pPr>
                          <a:r>
                            <a:rPr lang="en-US" sz="2200" dirty="0">
                              <a:effectLst/>
                              <a:latin typeface="Verdana" charset="0"/>
                              <a:ea typeface="Verdana" charset="0"/>
                              <a:cs typeface="Verdana" charset="0"/>
                            </a:rPr>
                            <a:t> </a:t>
                          </a:r>
                          <a:endParaRPr lang="en-US" sz="1200" dirty="0">
                            <a:effectLst/>
                            <a:latin typeface="Verdana" charset="0"/>
                            <a:ea typeface="Verdana" charset="0"/>
                            <a:cs typeface="Verdana" charset="0"/>
                          </a:endParaRPr>
                        </a:p>
                      </a:txBody>
                      <a:tcPr marL="58896" marR="588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mc:Fallback>
      </mc:AlternateContent>
    </p:spTree>
    <p:extLst>
      <p:ext uri="{BB962C8B-B14F-4D97-AF65-F5344CB8AC3E}">
        <p14:creationId xmlns:p14="http://schemas.microsoft.com/office/powerpoint/2010/main" val="948385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86966" y="520394"/>
                <a:ext cx="10618961" cy="2863028"/>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What do you notice about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𝑆𝑅</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𝑆𝑊</m:t>
                        </m:r>
                      </m:e>
                    </m:acc>
                  </m:oMath>
                </a14:m>
                <a:r>
                  <a:rPr lang="en-US" sz="2000" dirty="0">
                    <a:latin typeface="Verdana" charset="0"/>
                    <a:ea typeface="Verdana" charset="0"/>
                    <a:cs typeface="Verdana" charset="0"/>
                  </a:rPr>
                  <a:t> in </a:t>
                </a:r>
                <a14:m>
                  <m:oMath xmlns:m="http://schemas.openxmlformats.org/officeDocument/2006/math">
                    <m:r>
                      <a:rPr lang="en-US" sz="2000" i="1">
                        <a:latin typeface="Cambria Math" charset="0"/>
                        <a:ea typeface="Verdana" charset="0"/>
                        <a:cs typeface="Verdana" charset="0"/>
                      </a:rPr>
                      <m:t>𝑆𝑅𝑇𝑊</m:t>
                    </m:r>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𝐹𝐿</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𝐹𝐻</m:t>
                        </m:r>
                      </m:e>
                    </m:acc>
                  </m:oMath>
                </a14:m>
                <a:r>
                  <a:rPr lang="en-US" sz="2000" dirty="0">
                    <a:latin typeface="Verdana" charset="0"/>
                    <a:ea typeface="Verdana" charset="0"/>
                    <a:cs typeface="Verdana" charset="0"/>
                  </a:rPr>
                  <a:t> in </a:t>
                </a:r>
                <a14:m>
                  <m:oMath xmlns:m="http://schemas.openxmlformats.org/officeDocument/2006/math">
                    <m:r>
                      <a:rPr lang="en-US" sz="2000" i="1">
                        <a:latin typeface="Cambria Math" charset="0"/>
                        <a:ea typeface="Verdana" charset="0"/>
                        <a:cs typeface="Verdana" charset="0"/>
                      </a:rPr>
                      <m:t>𝐹𝐿𝑁𝐻</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What do you notice about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𝑅𝑇</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𝑊𝑇</m:t>
                        </m:r>
                      </m:e>
                    </m:acc>
                  </m:oMath>
                </a14:m>
                <a:r>
                  <a:rPr lang="en-US" sz="2000" dirty="0">
                    <a:latin typeface="Verdana" charset="0"/>
                    <a:ea typeface="Verdana" charset="0"/>
                    <a:cs typeface="Verdana" charset="0"/>
                  </a:rPr>
                  <a:t> in </a:t>
                </a:r>
                <a14:m>
                  <m:oMath xmlns:m="http://schemas.openxmlformats.org/officeDocument/2006/math">
                    <m:r>
                      <a:rPr lang="en-US" sz="2000" i="1">
                        <a:latin typeface="Cambria Math" charset="0"/>
                        <a:ea typeface="Verdana" charset="0"/>
                        <a:cs typeface="Verdana" charset="0"/>
                      </a:rPr>
                      <m:t>𝑆𝑅𝑇𝑊</m:t>
                    </m:r>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𝐻𝑁</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𝐿𝑁</m:t>
                        </m:r>
                      </m:e>
                    </m:acc>
                  </m:oMath>
                </a14:m>
                <a:r>
                  <a:rPr lang="en-US" sz="2000" dirty="0">
                    <a:latin typeface="Verdana" charset="0"/>
                    <a:ea typeface="Verdana" charset="0"/>
                    <a:cs typeface="Verdana" charset="0"/>
                  </a:rPr>
                  <a:t> in </a:t>
                </a:r>
                <a14:m>
                  <m:oMath xmlns:m="http://schemas.openxmlformats.org/officeDocument/2006/math">
                    <m:r>
                      <a:rPr lang="en-US" sz="2000" i="1">
                        <a:latin typeface="Cambria Math" charset="0"/>
                        <a:ea typeface="Verdana" charset="0"/>
                        <a:cs typeface="Verdana" charset="0"/>
                      </a:rPr>
                      <m:t>𝐹𝐿𝑁𝐻</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86966" y="520394"/>
                <a:ext cx="10618961" cy="2863028"/>
              </a:xfrm>
              <a:prstGeom prst="rect">
                <a:avLst/>
              </a:prstGeom>
              <a:blipFill>
                <a:blip r:embed="rId4"/>
                <a:stretch>
                  <a:fillRect l="-631" t="-1277" b="-2979"/>
                </a:stretch>
              </a:blipFill>
            </p:spPr>
            <p:txBody>
              <a:bodyPr/>
              <a:lstStyle/>
              <a:p>
                <a:r>
                  <a:rPr lang="en-US">
                    <a:noFill/>
                  </a:rPr>
                  <a:t> </a:t>
                </a:r>
              </a:p>
            </p:txBody>
          </p:sp>
        </mc:Fallback>
      </mc:AlternateContent>
    </p:spTree>
    <p:extLst>
      <p:ext uri="{BB962C8B-B14F-4D97-AF65-F5344CB8AC3E}">
        <p14:creationId xmlns:p14="http://schemas.microsoft.com/office/powerpoint/2010/main" val="94630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4" y="520393"/>
            <a:ext cx="10520725" cy="3170099"/>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These segment pairs are </a:t>
            </a:r>
            <a:r>
              <a:rPr lang="en-US" sz="2000" b="1" dirty="0">
                <a:latin typeface="Verdana" charset="0"/>
                <a:ea typeface="Verdana" charset="0"/>
                <a:cs typeface="Verdana" charset="0"/>
              </a:rPr>
              <a:t>adjacent</a:t>
            </a:r>
            <a:r>
              <a:rPr lang="en-US" sz="2000" dirty="0">
                <a:latin typeface="Verdana" charset="0"/>
                <a:ea typeface="Verdana" charset="0"/>
                <a:cs typeface="Verdana" charset="0"/>
              </a:rPr>
              <a:t> sides of a kite.</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Make a conjecture about the measures of adjacent sides of a kite. </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Make a conjecture about the lengths of diagonals of a kite. </a:t>
            </a:r>
          </a:p>
        </p:txBody>
      </p:sp>
    </p:spTree>
    <p:extLst>
      <p:ext uri="{BB962C8B-B14F-4D97-AF65-F5344CB8AC3E}">
        <p14:creationId xmlns:p14="http://schemas.microsoft.com/office/powerpoint/2010/main" val="83897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1087585" cy="1015663"/>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Using a protractor, work with your partner to fill in the chart below with the appropriate measurements. Each partner should find the measurements for one kite and share their results with the other. </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99837263"/>
                  </p:ext>
                </p:extLst>
              </p:nvPr>
            </p:nvGraphicFramePr>
            <p:xfrm>
              <a:off x="1639477" y="1758005"/>
              <a:ext cx="8913046" cy="3341989"/>
            </p:xfrm>
            <a:graphic>
              <a:graphicData uri="http://schemas.openxmlformats.org/drawingml/2006/table">
                <a:tbl>
                  <a:tblPr firstRow="1" firstCol="1" bandRow="1"/>
                  <a:tblGrid>
                    <a:gridCol w="1959695">
                      <a:extLst>
                        <a:ext uri="{9D8B030D-6E8A-4147-A177-3AD203B41FA5}">
                          <a16:colId xmlns:a16="http://schemas.microsoft.com/office/drawing/2014/main" val="20000"/>
                        </a:ext>
                      </a:extLst>
                    </a:gridCol>
                    <a:gridCol w="2489275">
                      <a:extLst>
                        <a:ext uri="{9D8B030D-6E8A-4147-A177-3AD203B41FA5}">
                          <a16:colId xmlns:a16="http://schemas.microsoft.com/office/drawing/2014/main" val="20001"/>
                        </a:ext>
                      </a:extLst>
                    </a:gridCol>
                    <a:gridCol w="1971445">
                      <a:extLst>
                        <a:ext uri="{9D8B030D-6E8A-4147-A177-3AD203B41FA5}">
                          <a16:colId xmlns:a16="http://schemas.microsoft.com/office/drawing/2014/main" val="20002"/>
                        </a:ext>
                      </a:extLst>
                    </a:gridCol>
                    <a:gridCol w="2492631">
                      <a:extLst>
                        <a:ext uri="{9D8B030D-6E8A-4147-A177-3AD203B41FA5}">
                          <a16:colId xmlns:a16="http://schemas.microsoft.com/office/drawing/2014/main" val="20003"/>
                        </a:ext>
                      </a:extLst>
                    </a:gridCol>
                  </a:tblGrid>
                  <a:tr h="477427">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b="1" i="1">
                                    <a:effectLst/>
                                    <a:latin typeface="Cambria Math" charset="0"/>
                                    <a:ea typeface="Verdana" charset="0"/>
                                    <a:cs typeface="Verdana" charset="0"/>
                                  </a:rPr>
                                  <m:t>𝑺𝑹𝑿𝑾</m:t>
                                </m:r>
                              </m:oMath>
                            </m:oMathPara>
                          </a14:m>
                          <a:endParaRPr lang="en-US" sz="1600">
                            <a:effectLst/>
                            <a:latin typeface="Verdana" charset="0"/>
                            <a:ea typeface="Verdana" charset="0"/>
                            <a:cs typeface="Verdana" charset="0"/>
                          </a:endParaRPr>
                        </a:p>
                      </a:txBody>
                      <a:tcPr marL="107087" marR="107087" marT="53543" marB="53543"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hMerge="1">
                      <a:txBody>
                        <a:bodyPr/>
                        <a:lstStyle/>
                        <a:p>
                          <a:endParaRPr lang="en-US"/>
                        </a:p>
                      </a:txBody>
                      <a:tcPr/>
                    </a:tc>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b="1" i="1">
                                    <a:effectLst/>
                                    <a:latin typeface="Cambria Math" charset="0"/>
                                    <a:ea typeface="Verdana" charset="0"/>
                                    <a:cs typeface="Verdana" charset="0"/>
                                  </a:rPr>
                                  <m:t>𝑭𝑳𝑵𝑯</m:t>
                                </m:r>
                              </m:oMath>
                            </m:oMathPara>
                          </a14:m>
                          <a:endParaRPr lang="en-US" sz="1600">
                            <a:effectLst/>
                            <a:latin typeface="Verdana" charset="0"/>
                            <a:ea typeface="Verdana" charset="0"/>
                            <a:cs typeface="Verdana" charset="0"/>
                          </a:endParaRPr>
                        </a:p>
                      </a:txBody>
                      <a:tcPr marL="107087" marR="107087" marT="53543" marB="53543"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7B7B7"/>
                        </a:solidFill>
                      </a:tcPr>
                    </a:tc>
                    <a:tc hMerge="1">
                      <a:txBody>
                        <a:bodyPr/>
                        <a:lstStyle/>
                        <a:p>
                          <a:endParaRPr lang="en-US"/>
                        </a:p>
                      </a:txBody>
                      <a:tcPr/>
                    </a:tc>
                    <a:extLst>
                      <a:ext uri="{0D108BD9-81ED-4DB2-BD59-A6C34878D82A}">
                        <a16:rowId xmlns:a16="http://schemas.microsoft.com/office/drawing/2014/main" val="10000"/>
                      </a:ext>
                    </a:extLst>
                  </a:tr>
                  <a:tr h="477427">
                    <a:tc>
                      <a:txBody>
                        <a:bodyPr/>
                        <a:lstStyle/>
                        <a:p>
                          <a:pPr marL="0" marR="0" algn="ctr">
                            <a:spcBef>
                              <a:spcPts val="0"/>
                            </a:spcBef>
                            <a:spcAft>
                              <a:spcPts val="0"/>
                            </a:spcAft>
                          </a:pPr>
                          <a:r>
                            <a:rPr lang="en-US" sz="2300" b="1">
                              <a:effectLst/>
                              <a:latin typeface="Verdana" charset="0"/>
                              <a:ea typeface="Verdana" charset="0"/>
                              <a:cs typeface="Verdana" charset="0"/>
                            </a:rPr>
                            <a:t>Angle</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300" b="1" dirty="0">
                              <a:effectLst/>
                              <a:latin typeface="Verdana" charset="0"/>
                              <a:ea typeface="Verdana" charset="0"/>
                              <a:cs typeface="Verdana" charset="0"/>
                            </a:rPr>
                            <a:t>Measurement</a:t>
                          </a:r>
                          <a:endParaRPr lang="en-US" sz="1600" dirty="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300" b="1">
                              <a:effectLst/>
                              <a:latin typeface="Verdana" charset="0"/>
                              <a:ea typeface="Verdana" charset="0"/>
                              <a:cs typeface="Verdana" charset="0"/>
                            </a:rPr>
                            <a:t>Angle</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300" b="1">
                              <a:effectLst/>
                              <a:latin typeface="Verdana" charset="0"/>
                              <a:ea typeface="Verdana" charset="0"/>
                              <a:cs typeface="Verdana" charset="0"/>
                            </a:rPr>
                            <a:t>Measurement</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47742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𝑆𝑉𝑅</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𝐹𝐾𝐿</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742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𝑊𝑆𝑅</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𝐻𝐹𝐿</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742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𝑅𝑇𝑊</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𝐿𝑁𝐻</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7742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𝑇𝑊𝑆</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𝐹𝐻𝑁</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7742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𝑇𝑅𝑆</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𝐹𝐿𝑁</m:t>
                                </m:r>
                              </m:oMath>
                            </m:oMathPara>
                          </a14:m>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99837263"/>
                  </p:ext>
                </p:extLst>
              </p:nvPr>
            </p:nvGraphicFramePr>
            <p:xfrm>
              <a:off x="1639477" y="1758005"/>
              <a:ext cx="8913046" cy="3341989"/>
            </p:xfrm>
            <a:graphic>
              <a:graphicData uri="http://schemas.openxmlformats.org/drawingml/2006/table">
                <a:tbl>
                  <a:tblPr firstRow="1" firstCol="1" bandRow="1"/>
                  <a:tblGrid>
                    <a:gridCol w="1959695">
                      <a:extLst>
                        <a:ext uri="{9D8B030D-6E8A-4147-A177-3AD203B41FA5}">
                          <a16:colId xmlns:a16="http://schemas.microsoft.com/office/drawing/2014/main" val="20000"/>
                        </a:ext>
                      </a:extLst>
                    </a:gridCol>
                    <a:gridCol w="2489275">
                      <a:extLst>
                        <a:ext uri="{9D8B030D-6E8A-4147-A177-3AD203B41FA5}">
                          <a16:colId xmlns:a16="http://schemas.microsoft.com/office/drawing/2014/main" val="20001"/>
                        </a:ext>
                      </a:extLst>
                    </a:gridCol>
                    <a:gridCol w="1971445">
                      <a:extLst>
                        <a:ext uri="{9D8B030D-6E8A-4147-A177-3AD203B41FA5}">
                          <a16:colId xmlns:a16="http://schemas.microsoft.com/office/drawing/2014/main" val="20002"/>
                        </a:ext>
                      </a:extLst>
                    </a:gridCol>
                    <a:gridCol w="2492631">
                      <a:extLst>
                        <a:ext uri="{9D8B030D-6E8A-4147-A177-3AD203B41FA5}">
                          <a16:colId xmlns:a16="http://schemas.microsoft.com/office/drawing/2014/main" val="20003"/>
                        </a:ext>
                      </a:extLst>
                    </a:gridCol>
                  </a:tblGrid>
                  <a:tr h="477427">
                    <a:tc gridSpan="2">
                      <a:txBody>
                        <a:bodyPr/>
                        <a:lstStyle/>
                        <a:p>
                          <a:endParaRPr lang="en-US"/>
                        </a:p>
                      </a:txBody>
                      <a:tcPr marL="107087" marR="107087" marT="53543" marB="53543"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37" t="-1282" r="-100547" b="-606410"/>
                          </a:stretch>
                        </a:blipFill>
                      </a:tcPr>
                    </a:tc>
                    <a:tc hMerge="1">
                      <a:txBody>
                        <a:bodyPr/>
                        <a:lstStyle/>
                        <a:p>
                          <a:endParaRPr lang="en-US"/>
                        </a:p>
                      </a:txBody>
                      <a:tcPr/>
                    </a:tc>
                    <a:tc gridSpan="2">
                      <a:txBody>
                        <a:bodyPr/>
                        <a:lstStyle/>
                        <a:p>
                          <a:endParaRPr lang="en-US"/>
                        </a:p>
                      </a:txBody>
                      <a:tcPr marL="107087" marR="107087" marT="53543" marB="53543"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9864" t="-1282" r="-273" b="-606410"/>
                          </a:stretch>
                        </a:blipFill>
                      </a:tcPr>
                    </a:tc>
                    <a:tc hMerge="1">
                      <a:txBody>
                        <a:bodyPr/>
                        <a:lstStyle/>
                        <a:p>
                          <a:endParaRPr lang="en-US"/>
                        </a:p>
                      </a:txBody>
                      <a:tcPr/>
                    </a:tc>
                    <a:extLst>
                      <a:ext uri="{0D108BD9-81ED-4DB2-BD59-A6C34878D82A}">
                        <a16:rowId xmlns:a16="http://schemas.microsoft.com/office/drawing/2014/main" val="10000"/>
                      </a:ext>
                    </a:extLst>
                  </a:tr>
                  <a:tr h="477427">
                    <a:tc>
                      <a:txBody>
                        <a:bodyPr/>
                        <a:lstStyle/>
                        <a:p>
                          <a:pPr marL="0" marR="0" algn="ctr">
                            <a:spcBef>
                              <a:spcPts val="0"/>
                            </a:spcBef>
                            <a:spcAft>
                              <a:spcPts val="0"/>
                            </a:spcAft>
                          </a:pPr>
                          <a:r>
                            <a:rPr lang="en-US" sz="2300" b="1">
                              <a:effectLst/>
                              <a:latin typeface="Verdana" charset="0"/>
                              <a:ea typeface="Verdana" charset="0"/>
                              <a:cs typeface="Verdana" charset="0"/>
                            </a:rPr>
                            <a:t>Angle</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300" b="1" dirty="0">
                              <a:effectLst/>
                              <a:latin typeface="Verdana" charset="0"/>
                              <a:ea typeface="Verdana" charset="0"/>
                              <a:cs typeface="Verdana" charset="0"/>
                            </a:rPr>
                            <a:t>Measurement</a:t>
                          </a:r>
                          <a:endParaRPr lang="en-US" sz="1600" dirty="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300" b="1">
                              <a:effectLst/>
                              <a:latin typeface="Verdana" charset="0"/>
                              <a:ea typeface="Verdana" charset="0"/>
                              <a:cs typeface="Verdana" charset="0"/>
                            </a:rPr>
                            <a:t>Angle</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marL="0" marR="0" algn="ctr">
                            <a:spcBef>
                              <a:spcPts val="0"/>
                            </a:spcBef>
                            <a:spcAft>
                              <a:spcPts val="0"/>
                            </a:spcAft>
                          </a:pPr>
                          <a:r>
                            <a:rPr lang="en-US" sz="2300" b="1">
                              <a:effectLst/>
                              <a:latin typeface="Verdana" charset="0"/>
                              <a:ea typeface="Verdana" charset="0"/>
                              <a:cs typeface="Verdana" charset="0"/>
                            </a:rPr>
                            <a:t>Measurement</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477427">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11" t="-202564" r="-355280" b="-405128"/>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926" t="-202564" r="-126852" b="-405128"/>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7427">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11" t="-298734" r="-355280" b="-300000"/>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926" t="-298734" r="-126852" b="-300000"/>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7427">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11" t="-403846" r="-355280" b="-203846"/>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926" t="-403846" r="-126852" b="-203846"/>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77427">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11" t="-497468" r="-355280" b="-101266"/>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926" t="-497468" r="-126852" b="-101266"/>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77427">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11" t="-605128" r="-355280" b="-2564"/>
                          </a:stretch>
                        </a:blipFill>
                      </a:tcPr>
                    </a:tc>
                    <a:tc>
                      <a:txBody>
                        <a:bodyPr/>
                        <a:lstStyle/>
                        <a:p>
                          <a:pPr marL="0" marR="0" algn="ctr">
                            <a:spcBef>
                              <a:spcPts val="0"/>
                            </a:spcBef>
                            <a:spcAft>
                              <a:spcPts val="0"/>
                            </a:spcAft>
                          </a:pPr>
                          <a:r>
                            <a:rPr lang="en-US" sz="23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926" t="-605128" r="-126852" b="-2564"/>
                          </a:stretch>
                        </a:blipFill>
                      </a:tcPr>
                    </a:tc>
                    <a:tc>
                      <a:txBody>
                        <a:bodyPr/>
                        <a:lstStyle/>
                        <a:p>
                          <a:pPr marL="0" marR="0" algn="ctr">
                            <a:spcBef>
                              <a:spcPts val="0"/>
                            </a:spcBef>
                            <a:spcAft>
                              <a:spcPts val="0"/>
                            </a:spcAft>
                          </a:pPr>
                          <a:r>
                            <a:rPr lang="en-US" sz="23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80315" marR="8031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mc:Fallback>
      </mc:AlternateContent>
    </p:spTree>
    <p:extLst>
      <p:ext uri="{BB962C8B-B14F-4D97-AF65-F5344CB8AC3E}">
        <p14:creationId xmlns:p14="http://schemas.microsoft.com/office/powerpoint/2010/main" val="758433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71200" y="520394"/>
            <a:ext cx="11033987" cy="2862322"/>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Make a conjecture about what happens when the diagonals of a kite intersect. </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Make a conjecture about the measures of opposite angles of a kite. </a:t>
            </a:r>
          </a:p>
        </p:txBody>
      </p:sp>
    </p:spTree>
    <p:extLst>
      <p:ext uri="{BB962C8B-B14F-4D97-AF65-F5344CB8AC3E}">
        <p14:creationId xmlns:p14="http://schemas.microsoft.com/office/powerpoint/2010/main" val="184825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34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800"/>
            <a:ext cx="2634000" cy="400079"/>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28</a:t>
            </a:r>
          </a:p>
        </p:txBody>
      </p:sp>
      <p:sp>
        <p:nvSpPr>
          <p:cNvPr id="6" name="Text Box 24"/>
          <p:cNvSpPr txBox="1"/>
          <p:nvPr/>
        </p:nvSpPr>
        <p:spPr>
          <a:xfrm>
            <a:off x="1389433" y="683233"/>
            <a:ext cx="6629400" cy="1208510"/>
          </a:xfrm>
          <a:prstGeom prst="roundRect">
            <a:avLst/>
          </a:prstGeom>
          <a:solidFill>
            <a:srgbClr val="E2EED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6D9A3C"/>
                </a:solidFill>
                <a:latin typeface="Verdana" charset="0"/>
                <a:ea typeface="Verdana" charset="0"/>
                <a:cs typeface="Verdana" charset="0"/>
              </a:rPr>
              <a:t>A </a:t>
            </a:r>
            <a:r>
              <a:rPr lang="en-US" sz="2000" b="1" i="1" dirty="0">
                <a:solidFill>
                  <a:srgbClr val="6D9A3C"/>
                </a:solidFill>
                <a:latin typeface="Verdana" charset="0"/>
                <a:ea typeface="Verdana" charset="0"/>
                <a:cs typeface="Verdana" charset="0"/>
              </a:rPr>
              <a:t>kite</a:t>
            </a:r>
            <a:r>
              <a:rPr lang="en-US" sz="2000" b="1" dirty="0">
                <a:solidFill>
                  <a:srgbClr val="6D9A3C"/>
                </a:solidFill>
                <a:latin typeface="Verdana" charset="0"/>
                <a:ea typeface="Verdana" charset="0"/>
                <a:cs typeface="Verdana" charset="0"/>
              </a:rPr>
              <a:t> </a:t>
            </a:r>
            <a:r>
              <a:rPr lang="en-US" sz="2000" dirty="0">
                <a:solidFill>
                  <a:srgbClr val="6D9A3C"/>
                </a:solidFill>
                <a:latin typeface="Verdana" charset="0"/>
                <a:ea typeface="Verdana" charset="0"/>
                <a:cs typeface="Verdana" charset="0"/>
              </a:rPr>
              <a:t>is a quadrilateral with exactly two pairs of adjacent congruent sides.</a:t>
            </a:r>
          </a:p>
        </p:txBody>
      </p:sp>
      <p:sp>
        <p:nvSpPr>
          <p:cNvPr id="8" name="Text Box 24"/>
          <p:cNvSpPr txBox="1"/>
          <p:nvPr/>
        </p:nvSpPr>
        <p:spPr>
          <a:xfrm>
            <a:off x="1389433" y="2568916"/>
            <a:ext cx="6629400" cy="1939903"/>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417DBF"/>
                </a:solidFill>
                <a:latin typeface="Verdana" charset="0"/>
                <a:ea typeface="Verdana" charset="0"/>
                <a:cs typeface="Verdana" charset="0"/>
              </a:rPr>
              <a:t>	A </a:t>
            </a:r>
            <a:r>
              <a:rPr lang="en-US" sz="2000" b="1" dirty="0">
                <a:solidFill>
                  <a:srgbClr val="417DBF"/>
                </a:solidFill>
                <a:latin typeface="Verdana" charset="0"/>
                <a:ea typeface="Verdana" charset="0"/>
                <a:cs typeface="Verdana" charset="0"/>
              </a:rPr>
              <a:t>kite</a:t>
            </a:r>
            <a:r>
              <a:rPr lang="en-US" sz="2000" dirty="0">
                <a:solidFill>
                  <a:srgbClr val="417DBF"/>
                </a:solidFill>
                <a:latin typeface="Verdana" charset="0"/>
                <a:ea typeface="Verdana" charset="0"/>
                <a:cs typeface="Verdana" charset="0"/>
              </a:rPr>
              <a:t> has the following properties:</a:t>
            </a:r>
          </a:p>
          <a:p>
            <a:pPr marL="1316038" lvl="2" indent="-392113">
              <a:buFont typeface="Courier New" charset="0"/>
              <a:buChar char="o"/>
            </a:pPr>
            <a:r>
              <a:rPr lang="en-US" sz="2000" dirty="0">
                <a:solidFill>
                  <a:srgbClr val="417DBF"/>
                </a:solidFill>
                <a:latin typeface="Verdana" charset="0"/>
                <a:ea typeface="Verdana" charset="0"/>
                <a:cs typeface="Verdana" charset="0"/>
              </a:rPr>
              <a:t>One pair of opposite congruent angles</a:t>
            </a:r>
          </a:p>
          <a:p>
            <a:pPr marL="1316038" indent="-392113">
              <a:buFont typeface="Courier New" charset="0"/>
              <a:buChar char="o"/>
            </a:pPr>
            <a:r>
              <a:rPr lang="en-US" sz="2000" dirty="0">
                <a:solidFill>
                  <a:srgbClr val="417DBF"/>
                </a:solidFill>
                <a:latin typeface="Verdana" charset="0"/>
                <a:ea typeface="Verdana" charset="0"/>
                <a:cs typeface="Verdana" charset="0"/>
              </a:rPr>
              <a:t>Perpendicular diagonals</a:t>
            </a:r>
          </a:p>
          <a:p>
            <a:pPr marL="1316038" indent="-392113">
              <a:buFont typeface="Courier New" charset="0"/>
              <a:buChar char="o"/>
            </a:pPr>
            <a:r>
              <a:rPr lang="en-US" sz="2000" dirty="0">
                <a:solidFill>
                  <a:srgbClr val="417DBF"/>
                </a:solidFill>
                <a:latin typeface="Verdana" charset="0"/>
                <a:ea typeface="Verdana" charset="0"/>
                <a:cs typeface="Verdana" charset="0"/>
              </a:rPr>
              <a:t>One bisected diagonal</a:t>
            </a:r>
          </a:p>
        </p:txBody>
      </p:sp>
      <p:pic>
        <p:nvPicPr>
          <p:cNvPr id="9" name="Picture 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661454" y="2791354"/>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782444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28</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75" y="52100"/>
            <a:ext cx="966580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8.4.3 Collaboration: Quadrilaterals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28</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6468" y="3400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596874" y="1377801"/>
            <a:ext cx="11031276"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With your partner, use the bank of phrases to fill in the chart comparing quadrilaterals. Statements can be used more than once. </a:t>
            </a:r>
          </a:p>
        </p:txBody>
      </p:sp>
      <p:graphicFrame>
        <p:nvGraphicFramePr>
          <p:cNvPr id="2" name="Table 1"/>
          <p:cNvGraphicFramePr>
            <a:graphicFrameLocks noGrp="1"/>
          </p:cNvGraphicFramePr>
          <p:nvPr>
            <p:extLst>
              <p:ext uri="{D42A27DB-BD31-4B8C-83A1-F6EECF244321}">
                <p14:modId xmlns:p14="http://schemas.microsoft.com/office/powerpoint/2010/main" val="1539053008"/>
              </p:ext>
            </p:extLst>
          </p:nvPr>
        </p:nvGraphicFramePr>
        <p:xfrm>
          <a:off x="1657146" y="2738312"/>
          <a:ext cx="8877707" cy="3011600"/>
        </p:xfrm>
        <a:graphic>
          <a:graphicData uri="http://schemas.openxmlformats.org/drawingml/2006/table">
            <a:tbl>
              <a:tblPr firstRow="1" firstCol="1" bandRow="1"/>
              <a:tblGrid>
                <a:gridCol w="4550757">
                  <a:extLst>
                    <a:ext uri="{9D8B030D-6E8A-4147-A177-3AD203B41FA5}">
                      <a16:colId xmlns:a16="http://schemas.microsoft.com/office/drawing/2014/main" val="20000"/>
                    </a:ext>
                  </a:extLst>
                </a:gridCol>
                <a:gridCol w="4326950">
                  <a:extLst>
                    <a:ext uri="{9D8B030D-6E8A-4147-A177-3AD203B41FA5}">
                      <a16:colId xmlns:a16="http://schemas.microsoft.com/office/drawing/2014/main" val="20001"/>
                    </a:ext>
                  </a:extLst>
                </a:gridCol>
              </a:tblGrid>
              <a:tr h="752900">
                <a:tc>
                  <a:txBody>
                    <a:bodyPr/>
                    <a:lstStyle/>
                    <a:p>
                      <a:pPr marL="342900" marR="0" lvl="0" indent="-342900">
                        <a:spcBef>
                          <a:spcPts val="0"/>
                        </a:spcBef>
                        <a:spcAft>
                          <a:spcPts val="0"/>
                        </a:spcAft>
                        <a:buFont typeface="+mj-lt"/>
                        <a:buAutoNum type="alphaUcPeriod"/>
                      </a:pPr>
                      <a:r>
                        <a:rPr lang="en-US" sz="2200">
                          <a:effectLst/>
                          <a:latin typeface="Verdana" charset="0"/>
                          <a:ea typeface="Helvetica Neue" charset="0"/>
                          <a:cs typeface="Helvetica Neue" charset="0"/>
                        </a:rPr>
                        <a:t>Opposite sides are congruent.</a:t>
                      </a:r>
                      <a:endParaRPr lang="en-US" sz="160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lvl="0" indent="-457200">
                        <a:spcBef>
                          <a:spcPts val="0"/>
                        </a:spcBef>
                        <a:spcAft>
                          <a:spcPts val="0"/>
                        </a:spcAft>
                        <a:buFont typeface="+mj-lt"/>
                        <a:buAutoNum type="alphaUcPeriod" startAt="2"/>
                      </a:pPr>
                      <a:r>
                        <a:rPr lang="en-US" sz="2200" dirty="0">
                          <a:effectLst/>
                          <a:latin typeface="Verdana" charset="0"/>
                          <a:ea typeface="Helvetica Neue" charset="0"/>
                          <a:cs typeface="Helvetica Neue" charset="0"/>
                        </a:rPr>
                        <a:t>Opposite sides are parallel.</a:t>
                      </a:r>
                      <a:endParaRPr lang="en-US" sz="1600" dirty="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52900">
                <a:tc>
                  <a:txBody>
                    <a:bodyPr/>
                    <a:lstStyle/>
                    <a:p>
                      <a:pPr marL="457200" marR="0" lvl="0" indent="-457200">
                        <a:spcBef>
                          <a:spcPts val="0"/>
                        </a:spcBef>
                        <a:spcAft>
                          <a:spcPts val="0"/>
                        </a:spcAft>
                        <a:buFont typeface="+mj-lt"/>
                        <a:buAutoNum type="alphaUcPeriod" startAt="3"/>
                      </a:pPr>
                      <a:r>
                        <a:rPr lang="en-US" sz="2200" dirty="0">
                          <a:effectLst/>
                          <a:latin typeface="Verdana" charset="0"/>
                          <a:ea typeface="Helvetica Neue" charset="0"/>
                          <a:cs typeface="Helvetica Neue" charset="0"/>
                        </a:rPr>
                        <a:t>All sides are congruent.</a:t>
                      </a:r>
                      <a:endParaRPr lang="en-US" sz="1600" dirty="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lvl="0" indent="-457200">
                        <a:spcBef>
                          <a:spcPts val="0"/>
                        </a:spcBef>
                        <a:spcAft>
                          <a:spcPts val="0"/>
                        </a:spcAft>
                        <a:buFont typeface="+mj-lt"/>
                        <a:buAutoNum type="alphaUcPeriod" startAt="4"/>
                      </a:pPr>
                      <a:r>
                        <a:rPr lang="en-US" sz="2200" dirty="0">
                          <a:effectLst/>
                          <a:latin typeface="Verdana" charset="0"/>
                          <a:ea typeface="Helvetica Neue" charset="0"/>
                          <a:cs typeface="Helvetica Neue" charset="0"/>
                        </a:rPr>
                        <a:t>Diagonals bisect each other.</a:t>
                      </a:r>
                      <a:endParaRPr lang="en-US" sz="1600" dirty="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52900">
                <a:tc>
                  <a:txBody>
                    <a:bodyPr/>
                    <a:lstStyle/>
                    <a:p>
                      <a:pPr marL="457200" marR="0" lvl="0" indent="-457200">
                        <a:spcBef>
                          <a:spcPts val="0"/>
                        </a:spcBef>
                        <a:spcAft>
                          <a:spcPts val="0"/>
                        </a:spcAft>
                        <a:buFont typeface="+mj-lt"/>
                        <a:buAutoNum type="alphaUcPeriod" startAt="5"/>
                      </a:pPr>
                      <a:r>
                        <a:rPr lang="en-US" sz="2200" dirty="0">
                          <a:effectLst/>
                          <a:latin typeface="Verdana" charset="0"/>
                          <a:ea typeface="Helvetica Neue" charset="0"/>
                          <a:cs typeface="Helvetica Neue" charset="0"/>
                        </a:rPr>
                        <a:t>Opposite angles are congruent.</a:t>
                      </a:r>
                      <a:endParaRPr lang="en-US" sz="1600" dirty="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lvl="0" indent="-457200">
                        <a:spcBef>
                          <a:spcPts val="0"/>
                        </a:spcBef>
                        <a:spcAft>
                          <a:spcPts val="0"/>
                        </a:spcAft>
                        <a:buFont typeface="+mj-lt"/>
                        <a:buAutoNum type="alphaUcPeriod" startAt="6"/>
                      </a:pPr>
                      <a:r>
                        <a:rPr lang="en-US" sz="2200" dirty="0">
                          <a:effectLst/>
                          <a:latin typeface="Verdana" charset="0"/>
                          <a:ea typeface="Helvetica Neue" charset="0"/>
                          <a:cs typeface="Helvetica Neue" charset="0"/>
                        </a:rPr>
                        <a:t>Diagonals are congruent.</a:t>
                      </a:r>
                      <a:endParaRPr lang="en-US" sz="1600" dirty="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52900">
                <a:tc>
                  <a:txBody>
                    <a:bodyPr/>
                    <a:lstStyle/>
                    <a:p>
                      <a:pPr marL="457200" marR="0" lvl="0" indent="-457200">
                        <a:spcBef>
                          <a:spcPts val="0"/>
                        </a:spcBef>
                        <a:spcAft>
                          <a:spcPts val="0"/>
                        </a:spcAft>
                        <a:buFont typeface="+mj-lt"/>
                        <a:buAutoNum type="alphaUcPeriod" startAt="7"/>
                      </a:pPr>
                      <a:r>
                        <a:rPr lang="en-US" sz="2200" dirty="0">
                          <a:effectLst/>
                          <a:latin typeface="Verdana" charset="0"/>
                          <a:ea typeface="Helvetica Neue" charset="0"/>
                          <a:cs typeface="Helvetica Neue" charset="0"/>
                        </a:rPr>
                        <a:t>All angles are congruent.</a:t>
                      </a:r>
                      <a:endParaRPr lang="en-US" sz="1600" dirty="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lvl="0" indent="-457200">
                        <a:spcBef>
                          <a:spcPts val="0"/>
                        </a:spcBef>
                        <a:spcAft>
                          <a:spcPts val="0"/>
                        </a:spcAft>
                        <a:buFont typeface="+mj-lt"/>
                        <a:buAutoNum type="alphaUcPeriod" startAt="8"/>
                      </a:pPr>
                      <a:r>
                        <a:rPr lang="en-US" sz="2200" dirty="0">
                          <a:effectLst/>
                          <a:latin typeface="Verdana" charset="0"/>
                          <a:ea typeface="Helvetica Neue" charset="0"/>
                          <a:cs typeface="Helvetica Neue" charset="0"/>
                        </a:rPr>
                        <a:t>Diagonals are perpendicular.</a:t>
                      </a:r>
                      <a:endParaRPr lang="en-US" sz="1600" dirty="0">
                        <a:effectLst/>
                        <a:latin typeface="Cambria" charset="0"/>
                        <a:ea typeface="Times New Roman" charset="0"/>
                        <a:cs typeface="Times New Roman" charset="0"/>
                      </a:endParaRPr>
                    </a:p>
                  </a:txBody>
                  <a:tcPr marL="75964" marR="759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7443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28</a:t>
            </a:r>
          </a:p>
        </p:txBody>
      </p:sp>
      <p:graphicFrame>
        <p:nvGraphicFramePr>
          <p:cNvPr id="2" name="Table 1"/>
          <p:cNvGraphicFramePr>
            <a:graphicFrameLocks noGrp="1"/>
          </p:cNvGraphicFramePr>
          <p:nvPr>
            <p:extLst>
              <p:ext uri="{D42A27DB-BD31-4B8C-83A1-F6EECF244321}">
                <p14:modId xmlns:p14="http://schemas.microsoft.com/office/powerpoint/2010/main" val="3316443064"/>
              </p:ext>
            </p:extLst>
          </p:nvPr>
        </p:nvGraphicFramePr>
        <p:xfrm>
          <a:off x="1754728" y="752781"/>
          <a:ext cx="8682543" cy="3067052"/>
        </p:xfrm>
        <a:graphic>
          <a:graphicData uri="http://schemas.openxmlformats.org/drawingml/2006/table">
            <a:tbl>
              <a:tblPr firstRow="1" firstCol="1" bandRow="1"/>
              <a:tblGrid>
                <a:gridCol w="4450715">
                  <a:extLst>
                    <a:ext uri="{9D8B030D-6E8A-4147-A177-3AD203B41FA5}">
                      <a16:colId xmlns:a16="http://schemas.microsoft.com/office/drawing/2014/main" val="20000"/>
                    </a:ext>
                  </a:extLst>
                </a:gridCol>
                <a:gridCol w="4231828">
                  <a:extLst>
                    <a:ext uri="{9D8B030D-6E8A-4147-A177-3AD203B41FA5}">
                      <a16:colId xmlns:a16="http://schemas.microsoft.com/office/drawing/2014/main" val="20001"/>
                    </a:ext>
                  </a:extLst>
                </a:gridCol>
              </a:tblGrid>
              <a:tr h="766763">
                <a:tc>
                  <a:txBody>
                    <a:bodyPr/>
                    <a:lstStyle/>
                    <a:p>
                      <a:pPr marL="457200" marR="0" lvl="0" indent="-457200">
                        <a:spcBef>
                          <a:spcPts val="0"/>
                        </a:spcBef>
                        <a:spcAft>
                          <a:spcPts val="0"/>
                        </a:spcAft>
                        <a:buFont typeface="+mj-lt"/>
                        <a:buAutoNum type="alphaUcPeriod" startAt="9"/>
                      </a:pPr>
                      <a:r>
                        <a:rPr lang="en-US" sz="2300" dirty="0">
                          <a:effectLst/>
                          <a:latin typeface="Verdana" charset="0"/>
                          <a:ea typeface="Helvetica Neue" charset="0"/>
                          <a:cs typeface="Helvetica Neue" charset="0"/>
                        </a:rPr>
                        <a:t>Two pairs of adjacent sides are congruent.</a:t>
                      </a:r>
                      <a:endParaRPr lang="en-US" sz="1600" dirty="0">
                        <a:effectLst/>
                        <a:latin typeface="Cambria" charset="0"/>
                        <a:ea typeface="Times New Roman" charset="0"/>
                        <a:cs typeface="Times New Roman"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lvl="0" indent="-457200">
                        <a:spcBef>
                          <a:spcPts val="0"/>
                        </a:spcBef>
                        <a:spcAft>
                          <a:spcPts val="0"/>
                        </a:spcAft>
                        <a:buFont typeface="+mj-lt"/>
                        <a:buAutoNum type="alphaUcPeriod" startAt="10"/>
                      </a:pPr>
                      <a:r>
                        <a:rPr lang="en-US" sz="2300" dirty="0">
                          <a:effectLst/>
                          <a:latin typeface="Verdana" charset="0"/>
                          <a:ea typeface="Helvetica Neue" charset="0"/>
                          <a:cs typeface="Helvetica Neue" charset="0"/>
                        </a:rPr>
                        <a:t>One diagonal is bisected.</a:t>
                      </a:r>
                      <a:endParaRPr lang="en-US" sz="1600" dirty="0">
                        <a:effectLst/>
                        <a:latin typeface="Cambria" charset="0"/>
                        <a:ea typeface="Times New Roman" charset="0"/>
                        <a:cs typeface="Times New Roman"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66763">
                <a:tc>
                  <a:txBody>
                    <a:bodyPr/>
                    <a:lstStyle/>
                    <a:p>
                      <a:pPr marL="457200" marR="0" lvl="0" indent="-457200">
                        <a:spcBef>
                          <a:spcPts val="0"/>
                        </a:spcBef>
                        <a:spcAft>
                          <a:spcPts val="0"/>
                        </a:spcAft>
                        <a:buFont typeface="+mj-lt"/>
                        <a:buAutoNum type="alphaUcPeriod" startAt="11"/>
                      </a:pPr>
                      <a:r>
                        <a:rPr lang="en-US" sz="2300" dirty="0">
                          <a:effectLst/>
                          <a:latin typeface="Verdana" charset="0"/>
                          <a:ea typeface="Helvetica Neue" charset="0"/>
                          <a:cs typeface="Helvetica Neue" charset="0"/>
                        </a:rPr>
                        <a:t>One pair of opposite angles are congruent.</a:t>
                      </a:r>
                      <a:endParaRPr lang="en-US" sz="1600" dirty="0">
                        <a:effectLst/>
                        <a:latin typeface="Cambria" charset="0"/>
                        <a:ea typeface="Times New Roman" charset="0"/>
                        <a:cs typeface="Times New Roman"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lvl="0" indent="-457200">
                        <a:spcBef>
                          <a:spcPts val="0"/>
                        </a:spcBef>
                        <a:spcAft>
                          <a:spcPts val="0"/>
                        </a:spcAft>
                        <a:buFont typeface="+mj-lt"/>
                        <a:buAutoNum type="alphaUcPeriod" startAt="12"/>
                      </a:pPr>
                      <a:r>
                        <a:rPr lang="en-US" sz="2300" dirty="0">
                          <a:effectLst/>
                          <a:latin typeface="Verdana" charset="0"/>
                          <a:ea typeface="Helvetica Neue" charset="0"/>
                          <a:cs typeface="Helvetica Neue" charset="0"/>
                        </a:rPr>
                        <a:t>Opposite angles are supplementary.</a:t>
                      </a:r>
                      <a:endParaRPr lang="en-US" sz="1600" dirty="0">
                        <a:effectLst/>
                        <a:latin typeface="Cambria" charset="0"/>
                        <a:ea typeface="Times New Roman" charset="0"/>
                        <a:cs typeface="Times New Roman"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66763">
                <a:tc>
                  <a:txBody>
                    <a:bodyPr/>
                    <a:lstStyle/>
                    <a:p>
                      <a:pPr marL="457200" marR="0" lvl="0" indent="-457200">
                        <a:spcBef>
                          <a:spcPts val="0"/>
                        </a:spcBef>
                        <a:spcAft>
                          <a:spcPts val="0"/>
                        </a:spcAft>
                        <a:buFont typeface="+mj-lt"/>
                        <a:buAutoNum type="alphaUcPeriod" startAt="13"/>
                      </a:pPr>
                      <a:r>
                        <a:rPr lang="en-US" sz="2300" dirty="0">
                          <a:effectLst/>
                          <a:latin typeface="Verdana" charset="0"/>
                          <a:ea typeface="Helvetica Neue" charset="0"/>
                          <a:cs typeface="Helvetica Neue" charset="0"/>
                        </a:rPr>
                        <a:t>One pair of parallel sides</a:t>
                      </a:r>
                      <a:endParaRPr lang="en-US" sz="1600" dirty="0">
                        <a:effectLst/>
                        <a:latin typeface="Cambria" charset="0"/>
                        <a:ea typeface="Times New Roman" charset="0"/>
                        <a:cs typeface="Times New Roman"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marR="0" lvl="0" indent="-457200">
                        <a:spcBef>
                          <a:spcPts val="0"/>
                        </a:spcBef>
                        <a:spcAft>
                          <a:spcPts val="0"/>
                        </a:spcAft>
                        <a:buFont typeface="+mj-lt"/>
                        <a:buAutoNum type="alphaUcPeriod" startAt="14"/>
                      </a:pPr>
                      <a:r>
                        <a:rPr lang="en-US" sz="2300" dirty="0">
                          <a:effectLst/>
                          <a:latin typeface="Verdana" charset="0"/>
                          <a:ea typeface="Helvetica Neue" charset="0"/>
                          <a:cs typeface="Helvetica Neue" charset="0"/>
                        </a:rPr>
                        <a:t>Non-parallel sides are congruent.</a:t>
                      </a:r>
                      <a:endParaRPr lang="en-US" sz="1600" dirty="0">
                        <a:effectLst/>
                        <a:latin typeface="Cambria" charset="0"/>
                        <a:ea typeface="Times New Roman" charset="0"/>
                        <a:cs typeface="Times New Roman"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66763">
                <a:tc>
                  <a:txBody>
                    <a:bodyPr/>
                    <a:lstStyle/>
                    <a:p>
                      <a:pPr marL="457200" marR="0" lvl="0" indent="-457200">
                        <a:spcBef>
                          <a:spcPts val="0"/>
                        </a:spcBef>
                        <a:spcAft>
                          <a:spcPts val="0"/>
                        </a:spcAft>
                        <a:buFont typeface="+mj-lt"/>
                        <a:buAutoNum type="alphaUcPeriod" startAt="15"/>
                      </a:pPr>
                      <a:r>
                        <a:rPr lang="en-US" sz="2300" dirty="0">
                          <a:effectLst/>
                          <a:latin typeface="Verdana" charset="0"/>
                          <a:ea typeface="Helvetica Neue" charset="0"/>
                          <a:cs typeface="Helvetica Neue" charset="0"/>
                        </a:rPr>
                        <a:t>Two pairs of congruent angles</a:t>
                      </a:r>
                      <a:endParaRPr lang="en-US" sz="1600" dirty="0">
                        <a:effectLst/>
                        <a:latin typeface="Cambria" charset="0"/>
                        <a:ea typeface="Times New Roman" charset="0"/>
                        <a:cs typeface="Times New Roman"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356870">
                        <a:spcBef>
                          <a:spcPts val="0"/>
                        </a:spcBef>
                        <a:spcAft>
                          <a:spcPts val="0"/>
                        </a:spcAft>
                      </a:pPr>
                      <a:r>
                        <a:rPr lang="en-US" sz="2300" dirty="0">
                          <a:effectLst/>
                          <a:latin typeface="Verdana" charset="0"/>
                          <a:ea typeface="Helvetica Neue" charset="0"/>
                          <a:cs typeface="Helvetica Neue" charset="0"/>
                        </a:rPr>
                        <a:t> </a:t>
                      </a:r>
                      <a:endParaRPr lang="en-US" sz="1600" dirty="0">
                        <a:effectLst/>
                        <a:latin typeface="Times New Roman" charset="0"/>
                        <a:ea typeface="Cambria" charset="0"/>
                      </a:endParaRPr>
                    </a:p>
                  </a:txBody>
                  <a:tcPr marL="78573" marR="785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55819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28</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71200" y="528618"/>
            <a:ext cx="7896501" cy="400110"/>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Write the letter(s) from the bank.</a:t>
            </a:r>
          </a:p>
        </p:txBody>
      </p:sp>
      <p:graphicFrame>
        <p:nvGraphicFramePr>
          <p:cNvPr id="2" name="Table 1"/>
          <p:cNvGraphicFramePr>
            <a:graphicFrameLocks noGrp="1"/>
          </p:cNvGraphicFramePr>
          <p:nvPr>
            <p:extLst>
              <p:ext uri="{D42A27DB-BD31-4B8C-83A1-F6EECF244321}">
                <p14:modId xmlns:p14="http://schemas.microsoft.com/office/powerpoint/2010/main" val="3355351803"/>
              </p:ext>
            </p:extLst>
          </p:nvPr>
        </p:nvGraphicFramePr>
        <p:xfrm>
          <a:off x="806931" y="1527098"/>
          <a:ext cx="8897507" cy="4266996"/>
        </p:xfrm>
        <a:graphic>
          <a:graphicData uri="http://schemas.openxmlformats.org/drawingml/2006/table">
            <a:tbl>
              <a:tblPr firstRow="1" firstCol="1" bandRow="1"/>
              <a:tblGrid>
                <a:gridCol w="2316681">
                  <a:extLst>
                    <a:ext uri="{9D8B030D-6E8A-4147-A177-3AD203B41FA5}">
                      <a16:colId xmlns:a16="http://schemas.microsoft.com/office/drawing/2014/main" val="20000"/>
                    </a:ext>
                  </a:extLst>
                </a:gridCol>
                <a:gridCol w="2058723">
                  <a:extLst>
                    <a:ext uri="{9D8B030D-6E8A-4147-A177-3AD203B41FA5}">
                      <a16:colId xmlns:a16="http://schemas.microsoft.com/office/drawing/2014/main" val="20001"/>
                    </a:ext>
                  </a:extLst>
                </a:gridCol>
                <a:gridCol w="2393327">
                  <a:extLst>
                    <a:ext uri="{9D8B030D-6E8A-4147-A177-3AD203B41FA5}">
                      <a16:colId xmlns:a16="http://schemas.microsoft.com/office/drawing/2014/main" val="20002"/>
                    </a:ext>
                  </a:extLst>
                </a:gridCol>
                <a:gridCol w="2128776">
                  <a:extLst>
                    <a:ext uri="{9D8B030D-6E8A-4147-A177-3AD203B41FA5}">
                      <a16:colId xmlns:a16="http://schemas.microsoft.com/office/drawing/2014/main" val="20003"/>
                    </a:ext>
                  </a:extLst>
                </a:gridCol>
              </a:tblGrid>
              <a:tr h="341189">
                <a:tc>
                  <a:txBody>
                    <a:bodyPr/>
                    <a:lstStyle/>
                    <a:p>
                      <a:pPr marL="0" marR="0" algn="ctr">
                        <a:spcBef>
                          <a:spcPts val="0"/>
                        </a:spcBef>
                        <a:spcAft>
                          <a:spcPts val="0"/>
                        </a:spcAft>
                      </a:pPr>
                      <a:r>
                        <a:rPr lang="en-US" sz="2200" b="1">
                          <a:effectLst/>
                          <a:latin typeface="Verdana" charset="0"/>
                          <a:ea typeface="Verdana" charset="0"/>
                          <a:cs typeface="Verdana" charset="0"/>
                        </a:rPr>
                        <a:t>Quadrilateral</a:t>
                      </a:r>
                      <a:endParaRPr lang="en-US" sz="2200">
                        <a:effectLst/>
                        <a:latin typeface="Verdana" charset="0"/>
                        <a:ea typeface="Verdana" charset="0"/>
                        <a:cs typeface="Verdana" charset="0"/>
                      </a:endParaRP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Sides</a:t>
                      </a:r>
                      <a:endParaRPr lang="en-US" sz="2200">
                        <a:effectLst/>
                        <a:latin typeface="Verdana" charset="0"/>
                        <a:ea typeface="Verdana" charset="0"/>
                        <a:cs typeface="Verdana" charset="0"/>
                      </a:endParaRP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Angles</a:t>
                      </a:r>
                      <a:endParaRPr lang="en-US" sz="2200">
                        <a:effectLst/>
                        <a:latin typeface="Verdana" charset="0"/>
                        <a:ea typeface="Verdana" charset="0"/>
                        <a:cs typeface="Verdana" charset="0"/>
                      </a:endParaRP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effectLst/>
                          <a:latin typeface="Verdana" charset="0"/>
                          <a:ea typeface="Verdana" charset="0"/>
                          <a:cs typeface="Verdana" charset="0"/>
                        </a:rPr>
                        <a:t>Diagonals</a:t>
                      </a:r>
                      <a:endParaRPr lang="en-US" sz="2200">
                        <a:effectLst/>
                        <a:latin typeface="Verdana" charset="0"/>
                        <a:ea typeface="Verdana" charset="0"/>
                        <a:cs typeface="Verdana" charset="0"/>
                      </a:endParaRP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98951">
                <a:tc>
                  <a:txBody>
                    <a:bodyPr/>
                    <a:lstStyle/>
                    <a:p>
                      <a:pPr marL="0" marR="0" algn="ctr">
                        <a:spcBef>
                          <a:spcPts val="0"/>
                        </a:spcBef>
                        <a:spcAft>
                          <a:spcPts val="0"/>
                        </a:spcAft>
                      </a:pPr>
                      <a:r>
                        <a:rPr lang="en-US" sz="2200">
                          <a:effectLst/>
                          <a:latin typeface="Verdana" charset="0"/>
                          <a:ea typeface="Verdana" charset="0"/>
                          <a:cs typeface="Verdana" charset="0"/>
                        </a:rPr>
                        <a:t>Parallelogram</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7481">
                <a:tc>
                  <a:txBody>
                    <a:bodyPr/>
                    <a:lstStyle/>
                    <a:p>
                      <a:pPr marL="0" marR="0" algn="ctr">
                        <a:spcBef>
                          <a:spcPts val="0"/>
                        </a:spcBef>
                        <a:spcAft>
                          <a:spcPts val="0"/>
                        </a:spcAft>
                      </a:pPr>
                      <a:r>
                        <a:rPr lang="en-US" sz="2200">
                          <a:effectLst/>
                          <a:latin typeface="Verdana" charset="0"/>
                          <a:ea typeface="Verdana" charset="0"/>
                          <a:cs typeface="Verdana" charset="0"/>
                        </a:rPr>
                        <a:t>Rectangle</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charset="0"/>
                          <a:ea typeface="Verdana" charset="0"/>
                          <a:cs typeface="Verdana" charset="0"/>
                        </a:rPr>
                        <a:t> </a:t>
                      </a:r>
                    </a:p>
                    <a:p>
                      <a:pPr marL="0" marR="0" algn="ctr">
                        <a:spcBef>
                          <a:spcPts val="0"/>
                        </a:spcBef>
                        <a:spcAft>
                          <a:spcPts val="0"/>
                        </a:spcAft>
                      </a:pPr>
                      <a:r>
                        <a:rPr lang="en-US" sz="2200" dirty="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15786">
                <a:tc>
                  <a:txBody>
                    <a:bodyPr/>
                    <a:lstStyle/>
                    <a:p>
                      <a:pPr marL="0" marR="0" algn="ctr">
                        <a:spcBef>
                          <a:spcPts val="0"/>
                        </a:spcBef>
                        <a:spcAft>
                          <a:spcPts val="0"/>
                        </a:spcAft>
                      </a:pPr>
                      <a:r>
                        <a:rPr lang="en-US" sz="2200">
                          <a:effectLst/>
                          <a:latin typeface="Verdana" charset="0"/>
                          <a:ea typeface="Verdana" charset="0"/>
                          <a:cs typeface="Verdana" charset="0"/>
                        </a:rPr>
                        <a:t>Square</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07481">
                <a:tc>
                  <a:txBody>
                    <a:bodyPr/>
                    <a:lstStyle/>
                    <a:p>
                      <a:pPr marL="0" marR="0" algn="ctr">
                        <a:spcBef>
                          <a:spcPts val="0"/>
                        </a:spcBef>
                        <a:spcAft>
                          <a:spcPts val="0"/>
                        </a:spcAft>
                      </a:pPr>
                      <a:r>
                        <a:rPr lang="en-US" sz="2200">
                          <a:effectLst/>
                          <a:latin typeface="Verdana" charset="0"/>
                          <a:ea typeface="Verdana" charset="0"/>
                          <a:cs typeface="Verdana" charset="0"/>
                        </a:rPr>
                        <a:t>Rhombus</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96108">
                <a:tc>
                  <a:txBody>
                    <a:bodyPr/>
                    <a:lstStyle/>
                    <a:p>
                      <a:pPr marL="0" marR="0" algn="ctr">
                        <a:spcBef>
                          <a:spcPts val="0"/>
                        </a:spcBef>
                        <a:spcAft>
                          <a:spcPts val="0"/>
                        </a:spcAft>
                      </a:pPr>
                      <a:r>
                        <a:rPr lang="en-US" sz="2200">
                          <a:effectLst/>
                          <a:latin typeface="Verdana" charset="0"/>
                          <a:ea typeface="Verdana" charset="0"/>
                          <a:cs typeface="Verdana" charset="0"/>
                        </a:rPr>
                        <a:t>Kite</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dirty="0">
                          <a:effectLst/>
                          <a:latin typeface="Verdana" charset="0"/>
                          <a:ea typeface="Verdana" charset="0"/>
                          <a:cs typeface="Verdana" charset="0"/>
                        </a:rPr>
                        <a:t> </a:t>
                      </a:r>
                    </a:p>
                  </a:txBody>
                  <a:tcPr marL="76768" marR="76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02316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29</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55434" y="528619"/>
            <a:ext cx="10546267" cy="3477875"/>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Compare your chart with that of another pair. Add in anything you may have missed. </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Discuss with your partner whether or not kites can be classified as parallelograms. </a:t>
            </a:r>
          </a:p>
        </p:txBody>
      </p:sp>
    </p:spTree>
    <p:extLst>
      <p:ext uri="{BB962C8B-B14F-4D97-AF65-F5344CB8AC3E}">
        <p14:creationId xmlns:p14="http://schemas.microsoft.com/office/powerpoint/2010/main" val="17757759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29</a:t>
            </a:r>
          </a:p>
        </p:txBody>
      </p:sp>
    </p:spTree>
    <p:extLst>
      <p:ext uri="{BB962C8B-B14F-4D97-AF65-F5344CB8AC3E}">
        <p14:creationId xmlns:p14="http://schemas.microsoft.com/office/powerpoint/2010/main" val="1597908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5979"/>
            <a:ext cx="108340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8.4.4 Guided Instruction: Quadrilaterals and Algebra</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29</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93248" y="1386026"/>
                <a:ext cx="11034902" cy="707886"/>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charset="0"/>
                        <a:ea typeface="Verdana" charset="0"/>
                        <a:cs typeface="Verdana" charset="0"/>
                      </a:rPr>
                      <m:t>𝑀𝐵𝑈𝐿</m:t>
                    </m:r>
                  </m:oMath>
                </a14:m>
                <a:r>
                  <a:rPr lang="en-US" sz="2000" dirty="0">
                    <a:latin typeface="Verdana" charset="0"/>
                    <a:ea typeface="Verdana" charset="0"/>
                    <a:cs typeface="Verdana" charset="0"/>
                  </a:rPr>
                  <a:t> with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𝐵𝐿</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𝑀𝑈</m:t>
                        </m:r>
                      </m:e>
                    </m:acc>
                  </m:oMath>
                </a14:m>
                <a:r>
                  <a:rPr lang="en-US" sz="2000" dirty="0">
                    <a:latin typeface="Verdana" charset="0"/>
                    <a:ea typeface="Verdana" charset="0"/>
                    <a:cs typeface="Verdana" charset="0"/>
                  </a:rPr>
                  <a:t> intersecting at point </a:t>
                </a:r>
                <a14:m>
                  <m:oMath xmlns:m="http://schemas.openxmlformats.org/officeDocument/2006/math">
                    <m:r>
                      <a:rPr lang="en-US" sz="2000" i="1">
                        <a:latin typeface="Cambria Math" charset="0"/>
                        <a:ea typeface="Verdana" charset="0"/>
                        <a:cs typeface="Verdana" charset="0"/>
                      </a:rPr>
                      <m:t>𝐴</m:t>
                    </m:r>
                  </m:oMath>
                </a14:m>
                <a:r>
                  <a:rPr lang="en-US" sz="2000" dirty="0">
                    <a:latin typeface="Verdana" charset="0"/>
                    <a:ea typeface="Verdana" charset="0"/>
                    <a:cs typeface="Verdana" charset="0"/>
                  </a:rPr>
                  <a:t> is shown. Find the value of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that makes </a:t>
                </a:r>
                <a14:m>
                  <m:oMath xmlns:m="http://schemas.openxmlformats.org/officeDocument/2006/math">
                    <m:r>
                      <a:rPr lang="en-US" sz="2000" i="1">
                        <a:latin typeface="Cambria Math" charset="0"/>
                        <a:ea typeface="Verdana" charset="0"/>
                        <a:cs typeface="Verdana" charset="0"/>
                      </a:rPr>
                      <m:t>𝑀𝐵𝑈𝐿</m:t>
                    </m:r>
                  </m:oMath>
                </a14:m>
                <a:r>
                  <a:rPr lang="en-US" sz="2000" dirty="0">
                    <a:latin typeface="Verdana" charset="0"/>
                    <a:ea typeface="Verdana" charset="0"/>
                    <a:cs typeface="Verdana" charset="0"/>
                  </a:rPr>
                  <a:t> a kite if </a:t>
                </a:r>
                <a14:m>
                  <m:oMath xmlns:m="http://schemas.openxmlformats.org/officeDocument/2006/math">
                    <m:r>
                      <a:rPr lang="en-US" sz="2000" i="1">
                        <a:latin typeface="Cambria Math" charset="0"/>
                        <a:ea typeface="Verdana" charset="0"/>
                        <a:cs typeface="Verdana" charset="0"/>
                      </a:rPr>
                      <m:t>𝐵𝐴</m:t>
                    </m:r>
                    <m:r>
                      <a:rPr lang="en-US" sz="2000" i="1">
                        <a:latin typeface="Cambria Math" charset="0"/>
                        <a:ea typeface="Verdana" charset="0"/>
                        <a:cs typeface="Verdana" charset="0"/>
                      </a:rPr>
                      <m:t>=3</m:t>
                    </m:r>
                    <m:r>
                      <a:rPr lang="en-US" sz="2000" i="1">
                        <a:latin typeface="Cambria Math" charset="0"/>
                        <a:ea typeface="Verdana" charset="0"/>
                        <a:cs typeface="Verdana" charset="0"/>
                      </a:rPr>
                      <m:t>𝑥</m:t>
                    </m:r>
                    <m:r>
                      <a:rPr lang="en-US" sz="2000" i="1">
                        <a:latin typeface="Cambria Math" charset="0"/>
                        <a:ea typeface="Verdana" charset="0"/>
                        <a:cs typeface="Verdana" charset="0"/>
                      </a:rPr>
                      <m:t>−1</m:t>
                    </m:r>
                    <m:r>
                      <a:rPr lang="en-US" sz="2000">
                        <a:latin typeface="Cambria Math" charset="0"/>
                        <a:ea typeface="Verdana" charset="0"/>
                        <a:cs typeface="Verdana" charset="0"/>
                      </a:rPr>
                      <m:t>, </m:t>
                    </m:r>
                    <m:r>
                      <a:rPr lang="en-US" sz="2000" i="1">
                        <a:latin typeface="Cambria Math" charset="0"/>
                        <a:ea typeface="Verdana" charset="0"/>
                        <a:cs typeface="Verdana" charset="0"/>
                      </a:rPr>
                      <m:t>𝐿𝐴</m:t>
                    </m:r>
                    <m:r>
                      <a:rPr lang="en-US" sz="2000" i="1">
                        <a:latin typeface="Cambria Math" charset="0"/>
                        <a:ea typeface="Verdana" charset="0"/>
                        <a:cs typeface="Verdana" charset="0"/>
                      </a:rPr>
                      <m:t>=17</m:t>
                    </m:r>
                    <m:r>
                      <a:rPr lang="en-US" sz="2000">
                        <a:latin typeface="Cambria Math" charset="0"/>
                        <a:ea typeface="Verdana" charset="0"/>
                        <a:cs typeface="Verdana" charset="0"/>
                      </a:rPr>
                      <m:t>, </m:t>
                    </m:r>
                    <m:r>
                      <a:rPr lang="en-US" sz="2000" i="1">
                        <a:latin typeface="Cambria Math" charset="0"/>
                        <a:ea typeface="Verdana" charset="0"/>
                        <a:cs typeface="Verdana" charset="0"/>
                      </a:rPr>
                      <m:t>𝑀𝐴</m:t>
                    </m:r>
                    <m:r>
                      <a:rPr lang="en-US" sz="2000" i="1">
                        <a:latin typeface="Cambria Math" charset="0"/>
                        <a:ea typeface="Verdana" charset="0"/>
                        <a:cs typeface="Verdana" charset="0"/>
                      </a:rPr>
                      <m:t>=2</m:t>
                    </m:r>
                    <m:r>
                      <a:rPr lang="en-US" sz="2000" i="1">
                        <a:latin typeface="Cambria Math" charset="0"/>
                        <a:ea typeface="Verdana" charset="0"/>
                        <a:cs typeface="Verdana" charset="0"/>
                      </a:rPr>
                      <m:t>𝑥</m:t>
                    </m:r>
                    <m:r>
                      <a:rPr lang="en-US" sz="2000">
                        <a:latin typeface="Cambria Math" charset="0"/>
                        <a:ea typeface="Verdana" charset="0"/>
                        <a:cs typeface="Verdana" charset="0"/>
                      </a:rPr>
                      <m:t>, </m:t>
                    </m:r>
                    <m:r>
                      <m:rPr>
                        <m:sty m:val="p"/>
                      </m:rPr>
                      <a:rPr lang="en-US" sz="2000">
                        <a:latin typeface="Cambria Math" charset="0"/>
                        <a:ea typeface="Verdana" charset="0"/>
                        <a:cs typeface="Verdana" charset="0"/>
                      </a:rPr>
                      <m:t>and</m:t>
                    </m:r>
                    <m:r>
                      <a:rPr lang="en-US" sz="2000">
                        <a:latin typeface="Cambria Math" charset="0"/>
                        <a:ea typeface="Verdana" charset="0"/>
                        <a:cs typeface="Verdana" charset="0"/>
                      </a:rPr>
                      <m:t> </m:t>
                    </m:r>
                    <m:r>
                      <a:rPr lang="en-US" sz="2000" i="1">
                        <a:latin typeface="Cambria Math" charset="0"/>
                        <a:ea typeface="Verdana" charset="0"/>
                        <a:cs typeface="Verdana" charset="0"/>
                      </a:rPr>
                      <m:t>𝑈𝐴</m:t>
                    </m:r>
                    <m:r>
                      <a:rPr lang="en-US" sz="2000" i="1">
                        <a:latin typeface="Cambria Math" charset="0"/>
                        <a:ea typeface="Verdana" charset="0"/>
                        <a:cs typeface="Verdana" charset="0"/>
                      </a:rPr>
                      <m:t>=23</m:t>
                    </m:r>
                    <m:r>
                      <a:rPr lang="en-US" sz="2000">
                        <a:latin typeface="Cambria Math" charset="0"/>
                        <a:ea typeface="Verdana" charset="0"/>
                        <a:cs typeface="Verdana" charset="0"/>
                      </a:rPr>
                      <m:t>. </m:t>
                    </m:r>
                  </m:oMath>
                </a14:m>
                <a:endParaRPr lang="en-US" sz="2000" dirty="0">
                  <a:latin typeface="Verdana" charset="0"/>
                  <a:ea typeface="Verdana" charset="0"/>
                  <a:cs typeface="Verdana"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93248" y="1386026"/>
                <a:ext cx="11034902" cy="707886"/>
              </a:xfrm>
              <a:prstGeom prst="rect">
                <a:avLst/>
              </a:prstGeom>
              <a:blipFill>
                <a:blip r:embed="rId5"/>
                <a:stretch>
                  <a:fillRect l="-552" t="-4310" b="-14655"/>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914962" y="2246173"/>
            <a:ext cx="5838234" cy="3564691"/>
          </a:xfrm>
          <a:prstGeom prst="rect">
            <a:avLst/>
          </a:prstGeom>
        </p:spPr>
      </p:pic>
    </p:spTree>
    <p:extLst>
      <p:ext uri="{BB962C8B-B14F-4D97-AF65-F5344CB8AC3E}">
        <p14:creationId xmlns:p14="http://schemas.microsoft.com/office/powerpoint/2010/main" val="177313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30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1213900"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Find the values of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𝑦</m:t>
                    </m:r>
                  </m:oMath>
                </a14:m>
                <a:r>
                  <a:rPr lang="en-US" sz="2000" dirty="0">
                    <a:latin typeface="Verdana" charset="0"/>
                    <a:ea typeface="Verdana" charset="0"/>
                    <a:cs typeface="Verdana" charset="0"/>
                  </a:rPr>
                  <a:t> that make </a:t>
                </a:r>
                <a14:m>
                  <m:oMath xmlns:m="http://schemas.openxmlformats.org/officeDocument/2006/math">
                    <m:r>
                      <a:rPr lang="en-US" sz="2000" i="1">
                        <a:latin typeface="Cambria Math" charset="0"/>
                        <a:ea typeface="Verdana" charset="0"/>
                        <a:cs typeface="Verdana" charset="0"/>
                      </a:rPr>
                      <m:t>𝑃𝑆𝑍𝑅</m:t>
                    </m:r>
                  </m:oMath>
                </a14:m>
                <a:r>
                  <a:rPr lang="en-US" sz="2000" dirty="0">
                    <a:latin typeface="Verdana" charset="0"/>
                    <a:ea typeface="Verdana" charset="0"/>
                    <a:cs typeface="Verdana" charset="0"/>
                  </a:rPr>
                  <a:t> a kite if </a:t>
                </a:r>
                <a14:m>
                  <m:oMath xmlns:m="http://schemas.openxmlformats.org/officeDocument/2006/math">
                    <m:r>
                      <a:rPr lang="en-US" sz="2000" i="1">
                        <a:latin typeface="Cambria Math" charset="0"/>
                        <a:ea typeface="Verdana" charset="0"/>
                        <a:cs typeface="Verdana" charset="0"/>
                      </a:rPr>
                      <m:t>𝑃𝑆</m:t>
                    </m:r>
                    <m:r>
                      <a:rPr lang="en-US" sz="2000" i="1">
                        <a:latin typeface="Cambria Math" charset="0"/>
                        <a:ea typeface="Verdana" charset="0"/>
                        <a:cs typeface="Verdana" charset="0"/>
                      </a:rPr>
                      <m:t>=5</m:t>
                    </m:r>
                    <m:r>
                      <a:rPr lang="en-US" sz="2000" i="1">
                        <a:latin typeface="Cambria Math" charset="0"/>
                        <a:ea typeface="Verdana" charset="0"/>
                        <a:cs typeface="Verdana" charset="0"/>
                      </a:rPr>
                      <m:t>𝑥</m:t>
                    </m:r>
                    <m:r>
                      <a:rPr lang="en-US" sz="2000" i="1">
                        <a:latin typeface="Cambria Math" charset="0"/>
                        <a:ea typeface="Verdana" charset="0"/>
                        <a:cs typeface="Verdana" charset="0"/>
                      </a:rPr>
                      <m:t>−4</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𝑃𝑅</m:t>
                    </m:r>
                    <m:r>
                      <a:rPr lang="en-US" sz="2000" i="1">
                        <a:latin typeface="Cambria Math" charset="0"/>
                        <a:ea typeface="Verdana" charset="0"/>
                        <a:cs typeface="Verdana" charset="0"/>
                      </a:rPr>
                      <m:t>=8</m:t>
                    </m:r>
                    <m:r>
                      <a:rPr lang="en-US" sz="2000" i="1">
                        <a:latin typeface="Cambria Math" charset="0"/>
                        <a:ea typeface="Verdana" charset="0"/>
                        <a:cs typeface="Verdana" charset="0"/>
                      </a:rPr>
                      <m:t>𝑦</m:t>
                    </m:r>
                    <m:r>
                      <a:rPr lang="en-US" sz="2000" i="1">
                        <a:latin typeface="Cambria Math" charset="0"/>
                        <a:ea typeface="Verdana" charset="0"/>
                        <a:cs typeface="Verdana" charset="0"/>
                      </a:rPr>
                      <m:t>−4</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𝑆𝑍</m:t>
                    </m:r>
                    <m:r>
                      <a:rPr lang="en-US" sz="2000" i="1">
                        <a:latin typeface="Cambria Math" charset="0"/>
                        <a:ea typeface="Verdana" charset="0"/>
                        <a:cs typeface="Verdana" charset="0"/>
                      </a:rPr>
                      <m:t>=3</m:t>
                    </m:r>
                    <m:r>
                      <a:rPr lang="en-US" sz="2000" i="1">
                        <a:latin typeface="Cambria Math" charset="0"/>
                        <a:ea typeface="Verdana" charset="0"/>
                        <a:cs typeface="Verdana" charset="0"/>
                      </a:rPr>
                      <m:t>𝑦</m:t>
                    </m:r>
                    <m:r>
                      <a:rPr lang="en-US" sz="2000" i="1">
                        <a:latin typeface="Cambria Math" charset="0"/>
                        <a:ea typeface="Verdana" charset="0"/>
                        <a:cs typeface="Verdana" charset="0"/>
                      </a:rPr>
                      <m:t>+1</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𝑅𝑍</m:t>
                    </m:r>
                    <m:r>
                      <a:rPr lang="en-US" sz="2000" i="1">
                        <a:latin typeface="Cambria Math" charset="0"/>
                        <a:ea typeface="Verdana" charset="0"/>
                        <a:cs typeface="Verdana" charset="0"/>
                      </a:rPr>
                      <m:t>=36</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8"/>
                <a:ext cx="11213900" cy="707886"/>
              </a:xfrm>
              <a:prstGeom prst="rect">
                <a:avLst/>
              </a:prstGeom>
              <a:blipFill>
                <a:blip r:embed="rId4"/>
                <a:stretch>
                  <a:fillRect l="-598" t="-6034" b="-14655"/>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78483" y="1658914"/>
            <a:ext cx="4051300" cy="4127500"/>
          </a:xfrm>
          <a:prstGeom prst="rect">
            <a:avLst/>
          </a:prstGeom>
        </p:spPr>
      </p:pic>
    </p:spTree>
    <p:extLst>
      <p:ext uri="{BB962C8B-B14F-4D97-AF65-F5344CB8AC3E}">
        <p14:creationId xmlns:p14="http://schemas.microsoft.com/office/powerpoint/2010/main" val="1345331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30</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1065362" cy="5325240"/>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The Dockland office building is one of the most famous buildings in Hamburg, Germany. Built in 2005, this building houses roughly </a:t>
                </a:r>
                <a14:m>
                  <m:oMath xmlns:m="http://schemas.openxmlformats.org/officeDocument/2006/math">
                    <m:r>
                      <a:rPr lang="en-US" sz="2000" i="1">
                        <a:latin typeface="Cambria Math" charset="0"/>
                        <a:ea typeface="Verdana" charset="0"/>
                        <a:cs typeface="Verdana" charset="0"/>
                      </a:rPr>
                      <m:t>9,000</m:t>
                    </m:r>
                  </m:oMath>
                </a14:m>
                <a:r>
                  <a:rPr lang="en-US" sz="2000" dirty="0">
                    <a:latin typeface="Verdana" charset="0"/>
                    <a:ea typeface="Verdana" charset="0"/>
                    <a:cs typeface="Verdana" charset="0"/>
                  </a:rPr>
                  <a:t> square meters of office space and breathtaking views of the Elbe River, but the size and the views are not what makes this building so famous. The building itself is in the shape of a parallelogram, </a:t>
                </a:r>
                <a14:m>
                  <m:oMath xmlns:m="http://schemas.openxmlformats.org/officeDocument/2006/math">
                    <m:r>
                      <a:rPr lang="en-US" sz="2000" i="1">
                        <a:latin typeface="Cambria Math" charset="0"/>
                        <a:ea typeface="Verdana" charset="0"/>
                        <a:cs typeface="Verdana" charset="0"/>
                      </a:rPr>
                      <m:t>𝐻𝑆𝐸𝐹</m:t>
                    </m:r>
                  </m:oMath>
                </a14:m>
                <a:r>
                  <a:rPr lang="en-US" sz="2000" dirty="0">
                    <a:latin typeface="Verdana" charset="0"/>
                    <a:ea typeface="Verdana" charset="0"/>
                    <a:cs typeface="Verdana" charset="0"/>
                  </a:rPr>
                  <a:t>.</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pPr marL="461963"/>
                <a:r>
                  <a:rPr lang="en-US" sz="2000" dirty="0">
                    <a:latin typeface="Verdana" charset="0"/>
                    <a:ea typeface="Verdana" charset="0"/>
                    <a:cs typeface="Verdana" charset="0"/>
                  </a:rPr>
                  <a:t>The perimeter of the Dockland building measures approximately </a:t>
                </a:r>
                <a14:m>
                  <m:oMath xmlns:m="http://schemas.openxmlformats.org/officeDocument/2006/math">
                    <m:r>
                      <a:rPr lang="en-US" sz="2000" i="1">
                        <a:latin typeface="Cambria Math" charset="0"/>
                        <a:ea typeface="Verdana" charset="0"/>
                        <a:cs typeface="Verdana" charset="0"/>
                      </a:rPr>
                      <m:t>238</m:t>
                    </m:r>
                  </m:oMath>
                </a14:m>
                <a:r>
                  <a:rPr lang="en-US" sz="2000" dirty="0">
                    <a:latin typeface="Verdana" charset="0"/>
                    <a:ea typeface="Verdana" charset="0"/>
                    <a:cs typeface="Verdana" charset="0"/>
                  </a:rPr>
                  <a:t> meters. If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𝐹𝐸</m:t>
                        </m:r>
                      </m:e>
                    </m:acc>
                  </m:oMath>
                </a14:m>
                <a:r>
                  <a:rPr lang="en-US" sz="2000" dirty="0">
                    <a:latin typeface="Verdana" charset="0"/>
                    <a:ea typeface="Verdana" charset="0"/>
                    <a:cs typeface="Verdana" charset="0"/>
                  </a:rPr>
                  <a:t> is </a:t>
                </a:r>
                <a14:m>
                  <m:oMath xmlns:m="http://schemas.openxmlformats.org/officeDocument/2006/math">
                    <m:r>
                      <a:rPr lang="en-US" sz="2000" i="1">
                        <a:latin typeface="Cambria Math" charset="0"/>
                        <a:ea typeface="Verdana" charset="0"/>
                        <a:cs typeface="Verdana" charset="0"/>
                      </a:rPr>
                      <m:t>2.8</m:t>
                    </m:r>
                  </m:oMath>
                </a14:m>
                <a:r>
                  <a:rPr lang="en-US" sz="2000" dirty="0">
                    <a:latin typeface="Verdana" charset="0"/>
                    <a:ea typeface="Verdana" charset="0"/>
                    <a:cs typeface="Verdana" charset="0"/>
                  </a:rPr>
                  <a:t> times the length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𝐹𝐻</m:t>
                        </m:r>
                      </m:e>
                    </m:acc>
                  </m:oMath>
                </a14:m>
                <a:r>
                  <a:rPr lang="en-US" sz="2000" dirty="0">
                    <a:latin typeface="Verdana" charset="0"/>
                    <a:ea typeface="Verdana" charset="0"/>
                    <a:cs typeface="Verdana" charset="0"/>
                  </a:rPr>
                  <a:t>, what are the measures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𝐻𝑆</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𝑆𝐸</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𝐹𝐸</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𝐹𝐻</m:t>
                        </m:r>
                      </m:e>
                    </m:acc>
                  </m:oMath>
                </a14:m>
                <a:r>
                  <a:rPr lang="en-US" sz="2000" dirty="0">
                    <a:latin typeface="Verdana" charset="0"/>
                    <a:ea typeface="Verdana" charset="0"/>
                    <a:cs typeface="Verdana" charset="0"/>
                  </a:rPr>
                  <a:t>? Round your answers to the nearest thousandth of a meter.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8"/>
                <a:ext cx="11065362" cy="5325240"/>
              </a:xfrm>
              <a:prstGeom prst="rect">
                <a:avLst/>
              </a:prstGeom>
              <a:blipFill>
                <a:blip r:embed="rId4"/>
                <a:stretch>
                  <a:fillRect l="-606" t="-802" r="-441" b="-1145"/>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17225" y="1987515"/>
            <a:ext cx="4749407" cy="2663688"/>
          </a:xfrm>
          <a:prstGeom prst="rect">
            <a:avLst/>
          </a:prstGeom>
        </p:spPr>
      </p:pic>
    </p:spTree>
    <p:extLst>
      <p:ext uri="{BB962C8B-B14F-4D97-AF65-F5344CB8AC3E}">
        <p14:creationId xmlns:p14="http://schemas.microsoft.com/office/powerpoint/2010/main" val="1177199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31</a:t>
            </a:r>
          </a:p>
        </p:txBody>
      </p:sp>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37988" y="61244"/>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8.4.5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290688" y="6124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578587" y="1103166"/>
                <a:ext cx="6382652" cy="1938992"/>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Oliver’s carpentry company, Wood 4 You, has been hired to build a fence around a vegetable garden. The gate must be a perfect rectangle. The gate Oliver built is shown, where quadrilateral </a:t>
                </a:r>
                <a14:m>
                  <m:oMath xmlns:m="http://schemas.openxmlformats.org/officeDocument/2006/math">
                    <m:r>
                      <a:rPr lang="en-US" sz="2000" i="1">
                        <a:latin typeface="Cambria Math" charset="0"/>
                        <a:ea typeface="Verdana" charset="0"/>
                        <a:cs typeface="Verdana" charset="0"/>
                      </a:rPr>
                      <m:t>𝐵𝑌𝑅𝑋</m:t>
                    </m:r>
                  </m:oMath>
                </a14:m>
                <a:r>
                  <a:rPr lang="en-US" sz="2000" dirty="0">
                    <a:latin typeface="Verdana" charset="0"/>
                    <a:ea typeface="Verdana" charset="0"/>
                    <a:cs typeface="Verdana" charset="0"/>
                  </a:rPr>
                  <a:t> outlines the gate.</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78587" y="1103166"/>
                <a:ext cx="6382652" cy="1938992"/>
              </a:xfrm>
              <a:prstGeom prst="rect">
                <a:avLst/>
              </a:prstGeom>
              <a:blipFill>
                <a:blip r:embed="rId5"/>
                <a:stretch>
                  <a:fillRect l="-1051" t="-2201" b="-4717"/>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272774" y="1103166"/>
            <a:ext cx="4251150" cy="3930100"/>
          </a:xfrm>
          <a:prstGeom prst="rect">
            <a:avLst/>
          </a:prstGeom>
        </p:spPr>
      </p:pic>
      <p:sp>
        <p:nvSpPr>
          <p:cNvPr id="3" name="Rectangle 2"/>
          <p:cNvSpPr/>
          <p:nvPr/>
        </p:nvSpPr>
        <p:spPr>
          <a:xfrm>
            <a:off x="578587" y="3246530"/>
            <a:ext cx="6382652" cy="1323439"/>
          </a:xfrm>
          <a:prstGeom prst="rect">
            <a:avLst/>
          </a:prstGeom>
        </p:spPr>
        <p:txBody>
          <a:bodyPr wrap="square">
            <a:spAutoFit/>
          </a:bodyPr>
          <a:lstStyle/>
          <a:p>
            <a:pPr marL="469900"/>
            <a:r>
              <a:rPr lang="en-US" sz="2000" dirty="0">
                <a:latin typeface="Verdana" charset="0"/>
                <a:ea typeface="Verdana" charset="0"/>
                <a:cs typeface="Verdana" charset="0"/>
              </a:rPr>
              <a:t>Oliver wants to be absolutely sure that the gate is a rectangle. Describe two different ways Oliver can use his tape measure to ensure the gate is a true rectangle.</a:t>
            </a:r>
          </a:p>
        </p:txBody>
      </p:sp>
      <p:sp>
        <p:nvSpPr>
          <p:cNvPr id="10" name="Google Shape;282;g104476d1465_1_17">
            <a:extLst>
              <a:ext uri="{FF2B5EF4-FFF2-40B4-BE49-F238E27FC236}">
                <a16:creationId xmlns:a16="http://schemas.microsoft.com/office/drawing/2014/main" id="{EE3C8BB3-D8AE-154C-9B2D-B1D7451436FE}"/>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31</a:t>
            </a:r>
          </a:p>
        </p:txBody>
      </p:sp>
    </p:spTree>
    <p:extLst>
      <p:ext uri="{BB962C8B-B14F-4D97-AF65-F5344CB8AC3E}">
        <p14:creationId xmlns:p14="http://schemas.microsoft.com/office/powerpoint/2010/main" val="310129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4441" y="617363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6215" y="6430705"/>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31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6" y="520394"/>
                <a:ext cx="7556320" cy="163121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Piper is entering a kite-making contest. The kite she designed is shown, where the kite has been labeled as </a:t>
                </a:r>
                <a14:m>
                  <m:oMath xmlns:m="http://schemas.openxmlformats.org/officeDocument/2006/math">
                    <m:r>
                      <a:rPr lang="en-US" sz="2000" i="1">
                        <a:latin typeface="Cambria Math" charset="0"/>
                        <a:ea typeface="Verdana" charset="0"/>
                        <a:cs typeface="Verdana" charset="0"/>
                      </a:rPr>
                      <m:t>𝑌𝐸𝑊𝐹</m:t>
                    </m:r>
                  </m:oMath>
                </a14:m>
                <a:r>
                  <a:rPr lang="en-US" sz="2000" dirty="0">
                    <a:latin typeface="Verdana" charset="0"/>
                    <a:ea typeface="Verdana" charset="0"/>
                    <a:cs typeface="Verdana" charset="0"/>
                  </a:rPr>
                  <a:t> with measurements </a:t>
                </a:r>
                <a14:m>
                  <m:oMath xmlns:m="http://schemas.openxmlformats.org/officeDocument/2006/math">
                    <m:r>
                      <a:rPr lang="en-US" sz="2000" i="1">
                        <a:latin typeface="Cambria Math" charset="0"/>
                        <a:ea typeface="Verdana" charset="0"/>
                        <a:cs typeface="Verdana" charset="0"/>
                      </a:rPr>
                      <m:t>𝐸𝑊</m:t>
                    </m:r>
                    <m:r>
                      <a:rPr lang="en-US" sz="2000" i="1">
                        <a:latin typeface="Cambria Math" charset="0"/>
                        <a:ea typeface="Verdana" charset="0"/>
                        <a:cs typeface="Verdana" charset="0"/>
                      </a:rPr>
                      <m:t>=7.5</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𝑌𝑁</m:t>
                    </m:r>
                    <m:r>
                      <a:rPr lang="en-US" sz="2000" i="1">
                        <a:latin typeface="Cambria Math" charset="0"/>
                        <a:ea typeface="Verdana" charset="0"/>
                        <a:cs typeface="Verdana" charset="0"/>
                      </a:rPr>
                      <m:t>=6</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𝐹𝑁</m:t>
                    </m:r>
                    <m:r>
                      <a:rPr lang="en-US" sz="2000" i="1">
                        <a:latin typeface="Cambria Math" charset="0"/>
                        <a:ea typeface="Verdana" charset="0"/>
                        <a:cs typeface="Verdana" charset="0"/>
                      </a:rPr>
                      <m:t>=10.2</m:t>
                    </m:r>
                  </m:oMath>
                </a14:m>
                <a:r>
                  <a:rPr lang="en-US" sz="2000" dirty="0">
                    <a:latin typeface="Verdana" charset="0"/>
                    <a:ea typeface="Verdana" charset="0"/>
                    <a:cs typeface="Verdana" charset="0"/>
                  </a:rPr>
                  <a:t>, given in inches.</a:t>
                </a:r>
              </a:p>
              <a:p>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6" y="520394"/>
                <a:ext cx="7556320" cy="1631216"/>
              </a:xfrm>
              <a:prstGeom prst="rect">
                <a:avLst/>
              </a:prstGeom>
              <a:blipFill>
                <a:blip r:embed="rId4"/>
                <a:stretch>
                  <a:fillRect l="-888" t="-2239"/>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096886" y="520392"/>
            <a:ext cx="3403329" cy="4145231"/>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54197" y="2040409"/>
                <a:ext cx="7542689" cy="1631216"/>
              </a:xfrm>
              <a:prstGeom prst="rect">
                <a:avLst/>
              </a:prstGeom>
            </p:spPr>
            <p:txBody>
              <a:bodyPr wrap="square">
                <a:spAutoFit/>
              </a:bodyPr>
              <a:lstStyle/>
              <a:p>
                <a:pPr marL="406400"/>
                <a:r>
                  <a:rPr lang="en-US" sz="2000" dirty="0">
                    <a:latin typeface="Verdana" charset="0"/>
                    <a:ea typeface="Verdana" charset="0"/>
                    <a:cs typeface="Verdana" charset="0"/>
                  </a:rPr>
                  <a:t>Piper wishes to add a strip of glitter fabric along diagonals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𝐸𝐹</m:t>
                        </m:r>
                      </m:e>
                    </m:acc>
                  </m:oMath>
                </a14:m>
                <a:r>
                  <a:rPr lang="en-US" sz="2000" dirty="0">
                    <a:latin typeface="Verdana" charset="0"/>
                    <a:ea typeface="Verdana" charset="0"/>
                    <a:cs typeface="Verdana" charset="0"/>
                  </a:rPr>
                  <a:t> and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𝑌𝑊</m:t>
                        </m:r>
                      </m:e>
                    </m:acc>
                  </m:oMath>
                </a14:m>
                <a:r>
                  <a:rPr lang="en-US" sz="2000" dirty="0">
                    <a:latin typeface="Verdana" charset="0"/>
                    <a:ea typeface="Verdana" charset="0"/>
                    <a:cs typeface="Verdana" charset="0"/>
                  </a:rPr>
                  <a:t> that will overlap at their intersection point </a:t>
                </a:r>
                <a14:m>
                  <m:oMath xmlns:m="http://schemas.openxmlformats.org/officeDocument/2006/math">
                    <m:r>
                      <a:rPr lang="en-US" sz="2000" i="1">
                        <a:latin typeface="Cambria Math" charset="0"/>
                        <a:ea typeface="Verdana" charset="0"/>
                        <a:cs typeface="Verdana" charset="0"/>
                      </a:rPr>
                      <m:t>𝑁</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as well as along the perimeter of the kite. How many inches of glitter fabric are needed to cover the diagonals and the perimeter of the kite?</a:t>
                </a:r>
              </a:p>
            </p:txBody>
          </p:sp>
        </mc:Choice>
        <mc:Fallback xmlns="">
          <p:sp>
            <p:nvSpPr>
              <p:cNvPr id="3" name="Rectangle 2"/>
              <p:cNvSpPr>
                <a:spLocks noRot="1" noChangeAspect="1" noMove="1" noResize="1" noEditPoints="1" noAdjustHandles="1" noChangeArrowheads="1" noChangeShapeType="1" noTextEdit="1"/>
              </p:cNvSpPr>
              <p:nvPr/>
            </p:nvSpPr>
            <p:spPr>
              <a:xfrm>
                <a:off x="554197" y="2040409"/>
                <a:ext cx="7542689" cy="1631216"/>
              </a:xfrm>
              <a:prstGeom prst="rect">
                <a:avLst/>
              </a:prstGeom>
              <a:blipFill>
                <a:blip r:embed="rId6"/>
                <a:stretch>
                  <a:fillRect t="-2247" r="-1293" b="-5993"/>
                </a:stretch>
              </a:blipFill>
            </p:spPr>
            <p:txBody>
              <a:bodyPr/>
              <a:lstStyle/>
              <a:p>
                <a:r>
                  <a:rPr lang="en-US">
                    <a:noFill/>
                  </a:rPr>
                  <a:t> </a:t>
                </a:r>
              </a:p>
            </p:txBody>
          </p:sp>
        </mc:Fallback>
      </mc:AlternateContent>
    </p:spTree>
    <p:extLst>
      <p:ext uri="{BB962C8B-B14F-4D97-AF65-F5344CB8AC3E}">
        <p14:creationId xmlns:p14="http://schemas.microsoft.com/office/powerpoint/2010/main" val="6584355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32</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32</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8244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8.4.6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450"/>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93247" y="1386150"/>
                <a:ext cx="9642133" cy="86074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Kite </a:t>
                </a:r>
                <a14:m>
                  <m:oMath xmlns:m="http://schemas.openxmlformats.org/officeDocument/2006/math">
                    <m:r>
                      <a:rPr lang="en-US" sz="2000" i="1">
                        <a:latin typeface="Cambria Math" charset="0"/>
                        <a:ea typeface="Verdana" charset="0"/>
                        <a:cs typeface="Verdana" charset="0"/>
                      </a:rPr>
                      <m:t>𝐹𝑇𝑊𝑁</m:t>
                    </m:r>
                  </m:oMath>
                </a14:m>
                <a:r>
                  <a:rPr lang="en-US" sz="2000" dirty="0">
                    <a:latin typeface="Verdana" charset="0"/>
                    <a:ea typeface="Verdana" charset="0"/>
                    <a:cs typeface="Verdana" charset="0"/>
                  </a:rPr>
                  <a:t> is shown. Find the value of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if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𝑁</m:t>
                    </m:r>
                    <m:r>
                      <a:rPr lang="en-US" sz="2000" i="1">
                        <a:latin typeface="Cambria Math" charset="0"/>
                        <a:ea typeface="Verdana" charset="0"/>
                        <a:cs typeface="Verdana" charset="0"/>
                      </a:rPr>
                      <m:t>=53°</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𝑇</m:t>
                    </m:r>
                    <m:r>
                      <a:rPr lang="en-US" sz="2000" i="1">
                        <a:latin typeface="Cambria Math" charset="0"/>
                        <a:ea typeface="Verdana" charset="0"/>
                        <a:cs typeface="Verdana" charset="0"/>
                      </a:rPr>
                      <m:t>=67°</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𝐹</m:t>
                    </m:r>
                    <m:r>
                      <a:rPr lang="en-US" sz="2000" i="1">
                        <a:latin typeface="Cambria Math" charset="0"/>
                        <a:ea typeface="Verdana" charset="0"/>
                        <a:cs typeface="Verdana" charset="0"/>
                      </a:rPr>
                      <m:t>=</m:t>
                    </m:r>
                    <m:d>
                      <m:dPr>
                        <m:ctrlPr>
                          <a:rPr lang="en-US" sz="2000" i="1">
                            <a:latin typeface="Cambria Math" panose="02040503050406030204" pitchFamily="18" charset="0"/>
                            <a:ea typeface="Verdana" charset="0"/>
                            <a:cs typeface="Verdana" charset="0"/>
                          </a:rPr>
                        </m:ctrlPr>
                      </m:dPr>
                      <m:e>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1</m:t>
                            </m:r>
                          </m:num>
                          <m:den>
                            <m:r>
                              <a:rPr lang="en-US" sz="2000" i="1">
                                <a:latin typeface="Cambria Math" charset="0"/>
                                <a:ea typeface="Verdana" charset="0"/>
                                <a:cs typeface="Verdana" charset="0"/>
                              </a:rPr>
                              <m:t>2</m:t>
                            </m:r>
                          </m:den>
                        </m:f>
                        <m:r>
                          <a:rPr lang="en-US" sz="2000" i="1">
                            <a:latin typeface="Cambria Math" charset="0"/>
                            <a:ea typeface="Verdana" charset="0"/>
                            <a:cs typeface="Verdana" charset="0"/>
                          </a:rPr>
                          <m:t>𝑥</m:t>
                        </m:r>
                        <m:r>
                          <a:rPr lang="en-US" sz="2000" i="1">
                            <a:latin typeface="Cambria Math" charset="0"/>
                            <a:ea typeface="Verdana" charset="0"/>
                            <a:cs typeface="Verdana" charset="0"/>
                          </a:rPr>
                          <m:t>−8</m:t>
                        </m:r>
                      </m:e>
                    </m:d>
                    <m:r>
                      <a:rPr lang="en-US" sz="2000" i="1">
                        <a:latin typeface="Cambria Math" charset="0"/>
                        <a:ea typeface="Verdana" charset="0"/>
                        <a:cs typeface="Verdana" charset="0"/>
                      </a:rPr>
                      <m:t>°</m:t>
                    </m:r>
                  </m:oMath>
                </a14:m>
                <a:r>
                  <a:rPr lang="en-US" sz="2000" dirty="0">
                    <a:latin typeface="Verdana" charset="0"/>
                    <a:ea typeface="Verdana" charset="0"/>
                    <a:cs typeface="Verdana" charset="0"/>
                  </a:rPr>
                  <a:t>. </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93247" y="1386150"/>
                <a:ext cx="9642133" cy="860748"/>
              </a:xfrm>
              <a:prstGeom prst="rect">
                <a:avLst/>
              </a:prstGeom>
              <a:blipFill>
                <a:blip r:embed="rId5"/>
                <a:stretch>
                  <a:fillRect l="-695" t="-4225" b="-1408"/>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37568" y="2389794"/>
            <a:ext cx="6200303" cy="3970980"/>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1276</TotalTime>
  <Words>1389</Words>
  <Application>Microsoft Office PowerPoint</Application>
  <PresentationFormat>Widescreen</PresentationFormat>
  <Paragraphs>279</Paragraphs>
  <Slides>29</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29</vt:i4>
      </vt:variant>
    </vt:vector>
  </HeadingPairs>
  <TitlesOfParts>
    <vt:vector size="40" baseType="lpstr">
      <vt:lpstr>Arial</vt:lpstr>
      <vt:lpstr>Arial Black</vt:lpstr>
      <vt:lpstr>Calibri</vt:lpstr>
      <vt:lpstr>Cambria</vt:lpstr>
      <vt:lpstr>Cambria Math</vt:lpstr>
      <vt:lpstr>Century Gothic</vt:lpstr>
      <vt:lpstr>Courier New</vt:lpstr>
      <vt:lpstr>Times New Roman</vt:lpstr>
      <vt:lpstr>Verdana</vt:lpstr>
      <vt:lpstr>Wingdings</vt:lpstr>
      <vt:lpstr>1_Office Theme</vt:lpstr>
      <vt:lpstr>Geometry  Unit 8, Lesson 4  Kites and Parallelograms  Volume 2, pg. 25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25</cp:revision>
  <dcterms:created xsi:type="dcterms:W3CDTF">2015-03-17T18:51:18Z</dcterms:created>
  <dcterms:modified xsi:type="dcterms:W3CDTF">2022-09-05T17:01:09Z</dcterms:modified>
</cp:coreProperties>
</file>