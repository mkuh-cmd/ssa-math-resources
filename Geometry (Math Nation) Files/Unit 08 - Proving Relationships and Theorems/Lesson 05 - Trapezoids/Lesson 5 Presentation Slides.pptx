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76" r:id="rId9"/>
    <p:sldId id="314" r:id="rId10"/>
    <p:sldId id="315" r:id="rId11"/>
    <p:sldId id="352" r:id="rId12"/>
    <p:sldId id="362" r:id="rId13"/>
    <p:sldId id="363" r:id="rId14"/>
    <p:sldId id="377" r:id="rId15"/>
    <p:sldId id="378" r:id="rId16"/>
    <p:sldId id="311" r:id="rId17"/>
    <p:sldId id="312" r:id="rId18"/>
    <p:sldId id="353" r:id="rId19"/>
    <p:sldId id="364" r:id="rId20"/>
    <p:sldId id="365" r:id="rId21"/>
    <p:sldId id="366" r:id="rId22"/>
    <p:sldId id="367" r:id="rId23"/>
    <p:sldId id="368" r:id="rId24"/>
    <p:sldId id="369" r:id="rId25"/>
    <p:sldId id="370" r:id="rId26"/>
    <p:sldId id="373" r:id="rId27"/>
    <p:sldId id="374" r:id="rId28"/>
    <p:sldId id="375" r:id="rId29"/>
    <p:sldId id="306" r:id="rId30"/>
    <p:sldId id="307" r:id="rId3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7DBF"/>
    <a:srgbClr val="79B0DD"/>
    <a:srgbClr val="DA4487"/>
    <a:srgbClr val="276C46"/>
    <a:srgbClr val="C9DF6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464"/>
    <p:restoredTop sz="94694"/>
  </p:normalViewPr>
  <p:slideViewPr>
    <p:cSldViewPr snapToGrid="0">
      <p:cViewPr varScale="1">
        <p:scale>
          <a:sx n="112" d="100"/>
          <a:sy n="112" d="100"/>
        </p:scale>
        <p:origin x="200" y="2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74434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61076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66987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857663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29667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39800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10474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71464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342014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593695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20024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550101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09523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0763999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95152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755473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432042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0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0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5.png"/><Relationship Id="rId5" Type="http://schemas.openxmlformats.org/officeDocument/2006/relationships/image" Target="../media/image10.png"/><Relationship Id="rId4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5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8, Lesson 5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Trapezoids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32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518526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02200" y="-37391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900" y="23514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994150" y="64389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81898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354900" y="1609531"/>
            <a:ext cx="1145229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MA.912.GR.1.5 </a:t>
            </a:r>
          </a:p>
          <a:p>
            <a:pPr marL="4635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Prove relationships and theorems about trapezoids. Solve mathematical and real-world problems involving postulates, relationships, and theorems of trapezoids.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 </a:t>
            </a:r>
          </a:p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MA.912.LT.4.10 </a:t>
            </a:r>
          </a:p>
          <a:p>
            <a:pPr marL="4635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Judge the validity of arguments and give counterexamples to disprove statements.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720" y="17838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875" y="-57102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E701C7D4-7BD4-5F4C-ACEB-5781D00837A2}"/>
              </a:ext>
            </a:extLst>
          </p:cNvPr>
          <p:cNvSpPr txBox="1"/>
          <p:nvPr/>
        </p:nvSpPr>
        <p:spPr>
          <a:xfrm>
            <a:off x="8994150" y="6472793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32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384720" y="1596390"/>
            <a:ext cx="116053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02200" y="-51387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900" y="19413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32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354900" y="1600200"/>
            <a:ext cx="98559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prove relationships and theorems about trapezoids.</a:t>
            </a:r>
          </a:p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use relationships and theorems about trapezoids.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6252" y="-82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8.5.1 Warm-Up: Trapezoid or Trapezium?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8952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308952" y="1386025"/>
            <a:ext cx="100786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Which quadrilateral is classified as a trapezoid?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2202" y="2333996"/>
            <a:ext cx="6923628" cy="1555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445770" y="520393"/>
            <a:ext cx="988913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There is more than one definition of a trapezoid.</a:t>
            </a: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There is more than one definition of trapezium.</a:t>
            </a:r>
          </a:p>
          <a:p>
            <a:endParaRPr lang="en-US" sz="2000" dirty="0">
              <a:latin typeface="Verdana" charset="0"/>
              <a:ea typeface="Verdana" charset="0"/>
              <a:cs typeface="Verdana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067292"/>
              </p:ext>
            </p:extLst>
          </p:nvPr>
        </p:nvGraphicFramePr>
        <p:xfrm>
          <a:off x="2627901" y="1174404"/>
          <a:ext cx="7086863" cy="1723779"/>
        </p:xfrm>
        <a:graphic>
          <a:graphicData uri="http://schemas.openxmlformats.org/drawingml/2006/table">
            <a:tbl>
              <a:tblPr firstRow="1" firstCol="1" bandRow="1"/>
              <a:tblGrid>
                <a:gridCol w="3559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6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94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</a:rPr>
                        <a:t>Inclusive Definition</a:t>
                      </a:r>
                      <a:endParaRPr lang="en-US" sz="140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</a:rPr>
                        <a:t>Exclusive Definition</a:t>
                      </a:r>
                      <a:endParaRPr lang="en-US" sz="140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283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</a:rPr>
                        <a:t>A quadrilateral with at least one pair of parallel opposite sides.</a:t>
                      </a:r>
                      <a:endParaRPr lang="en-US" sz="140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</a:rPr>
                        <a:t>A quadrilateral with exactly one pair of parallel opposite sides.</a:t>
                      </a:r>
                      <a:endParaRPr lang="en-US" sz="1400" dirty="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4552984"/>
              </p:ext>
            </p:extLst>
          </p:nvPr>
        </p:nvGraphicFramePr>
        <p:xfrm>
          <a:off x="2627901" y="4246461"/>
          <a:ext cx="7086863" cy="1427189"/>
        </p:xfrm>
        <a:graphic>
          <a:graphicData uri="http://schemas.openxmlformats.org/drawingml/2006/table">
            <a:tbl>
              <a:tblPr firstRow="1" firstCol="1" bandRow="1"/>
              <a:tblGrid>
                <a:gridCol w="35599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6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</a:rPr>
                        <a:t>American Definition</a:t>
                      </a:r>
                      <a:endParaRPr lang="en-US" sz="140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</a:rPr>
                        <a:t>British Definition</a:t>
                      </a:r>
                      <a:endParaRPr lang="en-US" sz="140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238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</a:rPr>
                        <a:t>A quadrilateral with no parallel sides.</a:t>
                      </a:r>
                      <a:endParaRPr lang="en-US" sz="140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</a:rPr>
                        <a:t>A quadrilateral with two sides parallel.</a:t>
                      </a:r>
                      <a:endParaRPr lang="en-US" sz="1400" dirty="0">
                        <a:effectLst/>
                        <a:latin typeface="Cambri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377190" y="520393"/>
            <a:ext cx="114185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Use the definitions to classify quadrilaterals 1, 2, and 3. Write the numbers of the quadrilateral in the table.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250452"/>
              </p:ext>
            </p:extLst>
          </p:nvPr>
        </p:nvGraphicFramePr>
        <p:xfrm>
          <a:off x="2544746" y="1882464"/>
          <a:ext cx="7253175" cy="3663950"/>
        </p:xfrm>
        <a:graphic>
          <a:graphicData uri="http://schemas.openxmlformats.org/drawingml/2006/table">
            <a:tbl>
              <a:tblPr firstRow="1" firstCol="1" bandRow="1"/>
              <a:tblGrid>
                <a:gridCol w="36435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9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Inclusive Definition of Trapezoid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Exclusive Definition of Trapezoid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666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American Definition of Trapezium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British Definition of Trapezium</a:t>
                      </a:r>
                      <a:endParaRPr lang="en-US" sz="2000">
                        <a:effectLst/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809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24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994150" y="644587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33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36396" y="-9434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8.5.2 Collaboration: Properties of Isosceles Trapezoids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33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6588" y="198024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386588" y="1386025"/>
                <a:ext cx="11466322" cy="10163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𝑅𝑊𝐷𝐹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𝑆𝐾𝐵𝐿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both </a:t>
                </a:r>
                <a:r>
                  <a:rPr lang="en-US" sz="2000" b="1" i="1" dirty="0">
                    <a:latin typeface="Verdana" charset="0"/>
                    <a:ea typeface="Verdana" charset="0"/>
                    <a:cs typeface="Verdana" charset="0"/>
                  </a:rPr>
                  <a:t>isosceles trapezoids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𝑅𝐷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𝑊𝐹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the diagonals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𝑅𝑊𝐷𝐹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intersect at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𝑌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𝑆𝐵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𝐾𝐿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the diagonals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𝑆𝐾𝐵𝐿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intersect at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𝑁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588" y="1386025"/>
                <a:ext cx="11466322" cy="1016368"/>
              </a:xfrm>
              <a:prstGeom prst="rect">
                <a:avLst/>
              </a:prstGeom>
              <a:blipFill>
                <a:blip r:embed="rId5"/>
                <a:stretch>
                  <a:fillRect l="-332" t="-2439" r="-332" b="-85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9592" y="2711726"/>
            <a:ext cx="4174425" cy="199960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3354" y="2752231"/>
            <a:ext cx="4145797" cy="1677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019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796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83960" y="646604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57200" y="520393"/>
                <a:ext cx="1151001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Using a ruler and a protractor to measure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𝑅𝑊𝐷𝐹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𝑆𝐾𝐵𝐿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work with your partner to determine if the following conjectures about isosceles trapezoids are true or false. If false, write a new conjecture based on your measurements.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20393"/>
                <a:ext cx="11510010" cy="1015663"/>
              </a:xfrm>
              <a:prstGeom prst="rect">
                <a:avLst/>
              </a:prstGeom>
              <a:blipFill>
                <a:blip r:embed="rId4"/>
                <a:stretch>
                  <a:fillRect l="-551" t="-2469" r="-992" b="-9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5819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34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1244346"/>
              </p:ext>
            </p:extLst>
          </p:nvPr>
        </p:nvGraphicFramePr>
        <p:xfrm>
          <a:off x="2159432" y="399578"/>
          <a:ext cx="7893545" cy="4810324"/>
        </p:xfrm>
        <a:graphic>
          <a:graphicData uri="http://schemas.openxmlformats.org/drawingml/2006/table">
            <a:tbl>
              <a:tblPr firstRow="1" firstCol="1" bandRow="1"/>
              <a:tblGrid>
                <a:gridCol w="25897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5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343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Conjecture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0429" marR="3042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True or False?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0429" marR="3042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If false, write a new conjecture.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0429" marR="30429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158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All angles of an isosceles trapezoid are congruent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0429" marR="304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0429" marR="304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0429" marR="304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58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Opposite sides are parallel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0429" marR="304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0429" marR="304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0429" marR="304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158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Opposites angles are congruent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0429" marR="304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0429" marR="304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0429" marR="304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158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Opposite sides are congruent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0429" marR="304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0429" marR="304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0429" marR="304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158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Diagonals bisect each other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0429" marR="304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0429" marR="304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Times New Roman" charset="0"/>
                          <a:cs typeface="Times New Roman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0429" marR="3042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327427" y="5513575"/>
            <a:ext cx="100510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Aft>
                <a:spcPts val="1000"/>
              </a:spcAft>
              <a:buFont typeface="+mj-lt"/>
              <a:buAutoNum type="alphaLcPeriod" startAt="2"/>
            </a:pPr>
            <a:r>
              <a:rPr lang="en-US" sz="2000" dirty="0">
                <a:latin typeface="Verdana" charset="0"/>
                <a:ea typeface="Times New Roman" charset="0"/>
                <a:cs typeface="Times New Roman" charset="0"/>
              </a:rPr>
              <a:t>Compare your chart to that of another pair. Discuss any differences. Make corrections as necessary. </a:t>
            </a:r>
            <a:endParaRPr lang="en-US" dirty="0">
              <a:latin typeface="Cambria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3942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0889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45770" y="520393"/>
                <a:ext cx="11487150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𝑅𝐹𝐷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𝑊𝐷𝐹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𝑅𝑊𝐷𝐹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called </a:t>
                </a:r>
                <a:r>
                  <a:rPr lang="en-US" sz="2000" b="1" i="1" dirty="0">
                    <a:latin typeface="Verdana" charset="0"/>
                    <a:ea typeface="Verdana" charset="0"/>
                    <a:cs typeface="Verdana" charset="0"/>
                  </a:rPr>
                  <a:t>base angles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𝑆𝐿𝐵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𝐾𝐵𝐿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base angles in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𝑆𝐾𝐵𝐿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6355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Based on your previous measurements, make a conjecture about the base angles of an isosceles trapezoid.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770" y="520393"/>
                <a:ext cx="11487150" cy="1631216"/>
              </a:xfrm>
              <a:prstGeom prst="rect">
                <a:avLst/>
              </a:prstGeom>
              <a:blipFill>
                <a:blip r:embed="rId4"/>
                <a:stretch>
                  <a:fillRect l="-331" t="-1538" r="-1105" b="-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036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11480" y="520394"/>
                <a:ext cx="11532870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Each isosceles trapezoid has two pairs of base angles. 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8688" indent="-52705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the other pair of base angles in trapezoid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𝑅𝑊𝐷𝐹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  <a:p>
                <a:pPr marL="928688" indent="-52705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8688" indent="-52705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8688" indent="-52705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8688" indent="-52705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8688" indent="-52705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8688" indent="-52705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8688" indent="-52705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is the other pair of base angles in trapezoid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𝑆𝐾𝐵𝐿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520394"/>
                <a:ext cx="11532870" cy="3170099"/>
              </a:xfrm>
              <a:prstGeom prst="rect">
                <a:avLst/>
              </a:prstGeom>
              <a:blipFill>
                <a:blip r:embed="rId4"/>
                <a:stretch>
                  <a:fillRect l="-550" t="-797" b="-2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89496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35</a:t>
            </a:r>
          </a:p>
        </p:txBody>
      </p:sp>
      <p:sp>
        <p:nvSpPr>
          <p:cNvPr id="6" name="Text Box 24"/>
          <p:cNvSpPr txBox="1"/>
          <p:nvPr/>
        </p:nvSpPr>
        <p:spPr>
          <a:xfrm>
            <a:off x="2887629" y="699119"/>
            <a:ext cx="6629400" cy="2245559"/>
          </a:xfrm>
          <a:prstGeom prst="roundRect">
            <a:avLst/>
          </a:prstGeom>
          <a:solidFill>
            <a:srgbClr val="E2EED5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000" dirty="0">
                <a:solidFill>
                  <a:schemeClr val="accent6"/>
                </a:solidFill>
                <a:latin typeface="Verdana" charset="0"/>
                <a:ea typeface="Verdana" charset="0"/>
                <a:cs typeface="Verdana" charset="0"/>
              </a:rPr>
              <a:t>	A </a:t>
            </a:r>
            <a:r>
              <a:rPr lang="en-US" sz="2000" b="1" i="1" dirty="0">
                <a:solidFill>
                  <a:schemeClr val="accent6"/>
                </a:solidFill>
                <a:latin typeface="Verdana" charset="0"/>
                <a:ea typeface="Verdana" charset="0"/>
                <a:cs typeface="Verdana" charset="0"/>
              </a:rPr>
              <a:t>trapezoid</a:t>
            </a:r>
            <a:r>
              <a:rPr lang="en-US" sz="2000" dirty="0">
                <a:solidFill>
                  <a:schemeClr val="accent6"/>
                </a:solidFill>
                <a:latin typeface="Verdana" charset="0"/>
                <a:ea typeface="Verdana" charset="0"/>
                <a:cs typeface="Verdana" charset="0"/>
              </a:rPr>
              <a:t> is a quadrilateral with </a:t>
            </a:r>
            <a:r>
              <a:rPr lang="en-US" sz="2000" i="1" dirty="0">
                <a:solidFill>
                  <a:schemeClr val="accent6"/>
                </a:solidFill>
                <a:latin typeface="Verdana" charset="0"/>
                <a:ea typeface="Verdana" charset="0"/>
                <a:cs typeface="Verdana" charset="0"/>
              </a:rPr>
              <a:t>at 	least</a:t>
            </a:r>
            <a:r>
              <a:rPr lang="en-US" sz="2000" dirty="0">
                <a:solidFill>
                  <a:schemeClr val="accent6"/>
                </a:solidFill>
                <a:latin typeface="Verdana" charset="0"/>
                <a:ea typeface="Verdana" charset="0"/>
                <a:cs typeface="Verdana" charset="0"/>
              </a:rPr>
              <a:t> one pair of parallel sides. It’s a 	member of the following shape classes: 	polygons, quadrilaterals. Its sub-classes 	include parallelograms, rectangles, 	rhombuses, and squares.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20982" y="938643"/>
            <a:ext cx="518433" cy="530352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ext Box 24"/>
          <p:cNvSpPr txBox="1"/>
          <p:nvPr/>
        </p:nvSpPr>
        <p:spPr>
          <a:xfrm>
            <a:off x="2887629" y="3184203"/>
            <a:ext cx="6629400" cy="1139825"/>
          </a:xfrm>
          <a:prstGeom prst="roundRect">
            <a:avLst/>
          </a:prstGeom>
          <a:solidFill>
            <a:srgbClr val="E2EED5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000" dirty="0">
                <a:solidFill>
                  <a:schemeClr val="accent6"/>
                </a:solidFill>
                <a:latin typeface="Verdana" charset="0"/>
                <a:ea typeface="Verdana" charset="0"/>
                <a:cs typeface="Verdana" charset="0"/>
              </a:rPr>
              <a:t>An </a:t>
            </a:r>
            <a:r>
              <a:rPr lang="en-US" sz="2000" b="1" i="1" dirty="0">
                <a:solidFill>
                  <a:schemeClr val="accent6"/>
                </a:solidFill>
                <a:latin typeface="Verdana" charset="0"/>
                <a:ea typeface="Verdana" charset="0"/>
                <a:cs typeface="Verdana" charset="0"/>
              </a:rPr>
              <a:t>isosceles trapezoid</a:t>
            </a:r>
            <a:r>
              <a:rPr lang="en-US" sz="2000" dirty="0">
                <a:solidFill>
                  <a:schemeClr val="accent6"/>
                </a:solidFill>
                <a:latin typeface="Verdana" charset="0"/>
                <a:ea typeface="Verdana" charset="0"/>
                <a:cs typeface="Verdana" charset="0"/>
              </a:rPr>
              <a:t> is a trapezoid with two pairs of congruent base angles.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D11518-1FC6-B15E-A868-899DBD1EF3AE}"/>
              </a:ext>
            </a:extLst>
          </p:cNvPr>
          <p:cNvSpPr txBox="1"/>
          <p:nvPr/>
        </p:nvSpPr>
        <p:spPr>
          <a:xfrm>
            <a:off x="808659" y="4981992"/>
            <a:ext cx="10234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Verdana" charset="0"/>
                <a:ea typeface="Verdana" charset="0"/>
                <a:cs typeface="Verdana" charset="0"/>
              </a:rPr>
              <a:t>4.  Make a conjecture about the legs of an isosceles trapezoid.</a:t>
            </a:r>
          </a:p>
        </p:txBody>
      </p:sp>
    </p:spTree>
    <p:extLst>
      <p:ext uri="{BB962C8B-B14F-4D97-AF65-F5344CB8AC3E}">
        <p14:creationId xmlns:p14="http://schemas.microsoft.com/office/powerpoint/2010/main" val="12429960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35</a:t>
            </a: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0553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8901" y="62003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89538" y="-825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8.5.3 Exploration: Parts of a Trapezoid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984901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35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37284" y="178678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32851" y="1191650"/>
            <a:ext cx="4802050" cy="19936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411480" y="1386025"/>
                <a:ext cx="9976104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Trapezoid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𝐺𝑊𝑆𝑀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shown. 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075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parallel sides of a trapezoid are called the </a:t>
                </a:r>
                <a:r>
                  <a:rPr lang="en-US" sz="2000" b="1" i="1" dirty="0">
                    <a:latin typeface="Verdana" charset="0"/>
                    <a:ea typeface="Verdana" charset="0"/>
                    <a:cs typeface="Verdana" charset="0"/>
                  </a:rPr>
                  <a:t>bases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The trapezoid shown has one pair of bases. </a:t>
                </a:r>
              </a:p>
              <a:p>
                <a:pPr marL="46355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928688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Label each base red and mark them to show they are parallel 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𝐺𝑊𝑆𝑀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  <a:p>
                <a:pPr marL="46355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92075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non-parallel sides of a trapezoid are called the </a:t>
                </a:r>
                <a:r>
                  <a:rPr lang="en-US" sz="2000" b="1" i="1" dirty="0">
                    <a:latin typeface="Verdana" charset="0"/>
                    <a:ea typeface="Verdana" charset="0"/>
                    <a:cs typeface="Verdana" charset="0"/>
                  </a:rPr>
                  <a:t>legs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The trapezoid shown has two legs. </a:t>
                </a:r>
              </a:p>
              <a:p>
                <a:pPr marL="46355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928688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Label each leg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𝐺𝑊𝑆𝑀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" y="1386025"/>
                <a:ext cx="9976104" cy="5016758"/>
              </a:xfrm>
              <a:prstGeom prst="rect">
                <a:avLst/>
              </a:prstGeom>
              <a:blipFill>
                <a:blip r:embed="rId6"/>
                <a:stretch>
                  <a:fillRect l="-636" t="-504" b="-10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80060" y="2735337"/>
                <a:ext cx="11487150" cy="10163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Using your ruler, plot the midpoint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𝐺𝑀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the midpoint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𝑊𝑆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Connect these points to create the median of trapezoid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𝐺𝑊𝑆𝑀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in green. Be sure to mark the legs appropriately showing that the median is connected at the midpoints.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060" y="2735337"/>
                <a:ext cx="11487150" cy="1016368"/>
              </a:xfrm>
              <a:prstGeom prst="rect">
                <a:avLst/>
              </a:prstGeom>
              <a:blipFill>
                <a:blip r:embed="rId4"/>
                <a:stretch>
                  <a:fillRect l="-552" t="-3704" b="-9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24"/>
          <p:cNvSpPr txBox="1"/>
          <p:nvPr/>
        </p:nvSpPr>
        <p:spPr>
          <a:xfrm>
            <a:off x="2932316" y="663110"/>
            <a:ext cx="6629400" cy="1615142"/>
          </a:xfrm>
          <a:prstGeom prst="roundRect">
            <a:avLst/>
          </a:prstGeom>
          <a:solidFill>
            <a:srgbClr val="B6E6F5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000" dirty="0">
                <a:solidFill>
                  <a:srgbClr val="417DBF"/>
                </a:solidFill>
                <a:latin typeface="Verdana" charset="0"/>
                <a:ea typeface="Verdana" charset="0"/>
                <a:cs typeface="Verdana" charset="0"/>
              </a:rPr>
              <a:t>	The </a:t>
            </a:r>
            <a:r>
              <a:rPr lang="en-US" sz="2000" b="1" dirty="0">
                <a:solidFill>
                  <a:srgbClr val="417DBF"/>
                </a:solidFill>
                <a:latin typeface="Verdana" charset="0"/>
                <a:ea typeface="Verdana" charset="0"/>
                <a:cs typeface="Verdana" charset="0"/>
              </a:rPr>
              <a:t>median</a:t>
            </a:r>
            <a:r>
              <a:rPr lang="en-US" sz="2000" dirty="0">
                <a:solidFill>
                  <a:srgbClr val="417DBF"/>
                </a:solidFill>
                <a:latin typeface="Verdana" charset="0"/>
                <a:ea typeface="Verdana" charset="0"/>
                <a:cs typeface="Verdana" charset="0"/>
              </a:rPr>
              <a:t> of a trapezoid connects the 	non-parallel sides at their midpoints. 	The median is sometimes referred to as 	the </a:t>
            </a:r>
            <a:r>
              <a:rPr lang="en-US" sz="2000" b="1" dirty="0" err="1">
                <a:solidFill>
                  <a:srgbClr val="417DBF"/>
                </a:solidFill>
                <a:latin typeface="Verdana" charset="0"/>
                <a:ea typeface="Verdana" charset="0"/>
                <a:cs typeface="Verdana" charset="0"/>
              </a:rPr>
              <a:t>midsegment</a:t>
            </a:r>
            <a:r>
              <a:rPr lang="en-US" sz="2000" dirty="0">
                <a:solidFill>
                  <a:srgbClr val="417DBF"/>
                </a:solidFill>
                <a:latin typeface="Verdana" charset="0"/>
                <a:ea typeface="Verdana" charset="0"/>
                <a:cs typeface="Verdana" charset="0"/>
              </a:rPr>
              <a:t>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4337" y="885548"/>
            <a:ext cx="542544" cy="530352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7311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34340" y="2990872"/>
                <a:ext cx="11487149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 length of the altitude is the distance between the bases.</a:t>
                </a:r>
              </a:p>
              <a:p>
                <a:pPr lvl="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</a:p>
              <a:p>
                <a:pPr marL="46355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Draw the altitude 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𝐺𝑊𝑆𝑀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Name the altitude by naming the endpoints and mark the trapezoid to show that the altitude is perpendicular to the base.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40" y="2990872"/>
                <a:ext cx="11487149" cy="1323439"/>
              </a:xfrm>
              <a:prstGeom prst="rect">
                <a:avLst/>
              </a:prstGeom>
              <a:blipFill>
                <a:blip r:embed="rId4"/>
                <a:stretch>
                  <a:fillRect l="-552" t="-2857" b="-76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24"/>
          <p:cNvSpPr txBox="1"/>
          <p:nvPr/>
        </p:nvSpPr>
        <p:spPr>
          <a:xfrm>
            <a:off x="2932316" y="663110"/>
            <a:ext cx="6629400" cy="1615142"/>
          </a:xfrm>
          <a:prstGeom prst="roundRect">
            <a:avLst/>
          </a:prstGeom>
          <a:solidFill>
            <a:srgbClr val="B6E6F5"/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000" dirty="0">
                <a:solidFill>
                  <a:srgbClr val="417DBF"/>
                </a:solidFill>
                <a:latin typeface="Verdana" charset="0"/>
                <a:ea typeface="Verdana" charset="0"/>
                <a:cs typeface="Verdana" charset="0"/>
              </a:rPr>
              <a:t>	An </a:t>
            </a:r>
            <a:r>
              <a:rPr lang="en-US" sz="2000" b="1" dirty="0">
                <a:solidFill>
                  <a:srgbClr val="417DBF"/>
                </a:solidFill>
                <a:latin typeface="Verdana" charset="0"/>
                <a:ea typeface="Verdana" charset="0"/>
                <a:cs typeface="Verdana" charset="0"/>
              </a:rPr>
              <a:t>altitude</a:t>
            </a:r>
            <a:r>
              <a:rPr lang="en-US" sz="2000" dirty="0">
                <a:solidFill>
                  <a:srgbClr val="417DBF"/>
                </a:solidFill>
                <a:latin typeface="Verdana" charset="0"/>
                <a:ea typeface="Verdana" charset="0"/>
                <a:cs typeface="Verdana" charset="0"/>
              </a:rPr>
              <a:t> of a trapezoid is any 	segment from a point on one of the bases 	perpendicular to the line containing the 	other base.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04337" y="885548"/>
            <a:ext cx="542544" cy="530352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323137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388620" y="520393"/>
                <a:ext cx="9946281" cy="4008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Trapezoid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𝐴𝐷𝐹𝐿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 with </a:t>
                </a: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midsegment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𝑊𝑆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altitude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𝑇𝑌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" y="520393"/>
                <a:ext cx="9946281" cy="400815"/>
              </a:xfrm>
              <a:prstGeom prst="rect">
                <a:avLst/>
              </a:prstGeom>
              <a:blipFill>
                <a:blip r:embed="rId4"/>
                <a:stretch>
                  <a:fillRect l="-638" t="-606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388621" y="3755141"/>
                <a:ext cx="9680444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Select all of the information that is true about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𝐴𝐷𝐹𝐿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  <a:endParaRPr lang="en-US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1" y="3755141"/>
                <a:ext cx="9680444" cy="400110"/>
              </a:xfrm>
              <a:prstGeom prst="rect">
                <a:avLst/>
              </a:prstGeom>
              <a:blipFill>
                <a:blip r:embed="rId5"/>
                <a:stretch>
                  <a:fillRect t="-606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936774"/>
                  </p:ext>
                </p:extLst>
              </p:nvPr>
            </p:nvGraphicFramePr>
            <p:xfrm>
              <a:off x="2257515" y="4326917"/>
              <a:ext cx="7961034" cy="153035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59220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4365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4075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7722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70718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504190"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charset="2"/>
                            <a:buChar char=""/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𝐷𝐹</m:t>
                                  </m:r>
                                </m:e>
                              </m:acc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≅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𝐴𝐿</m:t>
                                  </m:r>
                                </m:e>
                              </m:acc>
                            </m:oMath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charset="2"/>
                            <a:buChar char=""/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𝑚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𝐿𝐴𝐷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=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𝑚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𝐹𝐷𝐴</m:t>
                              </m:r>
                            </m:oMath>
                          </a14:m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charset="2"/>
                            <a:buChar char=""/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𝑇𝑌</m:t>
                                  </m:r>
                                </m:e>
                              </m:acc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⊥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𝑊𝑆</m:t>
                                  </m:r>
                                </m:e>
                              </m:acc>
                            </m:oMath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04190"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charset="2"/>
                            <a:buChar char=""/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𝐴𝐷</m:t>
                                  </m:r>
                                </m:e>
                              </m:acc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∥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𝐹𝐿</m:t>
                                  </m:r>
                                </m:e>
                              </m:acc>
                            </m:oMath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charset="2"/>
                            <a:buChar char=""/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𝑊𝑆</m:t>
                                  </m:r>
                                </m:e>
                              </m:acc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∥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𝐹𝐿</m:t>
                                  </m:r>
                                </m:e>
                              </m:acc>
                            </m:oMath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charset="2"/>
                            <a:buChar char=""/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 smtClean="0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𝑚</m:t>
                              </m:r>
                              <m:r>
                                <a:rPr lang="en-US" sz="2000" i="1" smtClean="0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000" i="1" smtClean="0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𝐴𝑊𝑆</m:t>
                              </m:r>
                              <m:r>
                                <a:rPr lang="en-US" sz="2000" i="1" smtClean="0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=</m:t>
                              </m:r>
                              <m:r>
                                <a:rPr lang="en-US" sz="2000" i="1" smtClean="0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𝑚</m:t>
                              </m:r>
                              <m:r>
                                <a:rPr lang="en-US" sz="2000" i="1" smtClean="0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000" i="1" smtClean="0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𝐷𝑆𝑊</m:t>
                              </m:r>
                            </m:oMath>
                          </a14:m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21970"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charset="2"/>
                            <a:buChar char=""/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𝑇𝑌</m:t>
                                  </m:r>
                                </m:e>
                              </m:acc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⊥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𝐴𝐷</m:t>
                                  </m:r>
                                </m:e>
                              </m:acc>
                            </m:oMath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charset="2"/>
                            <a:buChar char=""/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𝐷𝑆</m:t>
                                  </m:r>
                                </m:e>
                              </m:acc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≅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𝑆𝐹</m:t>
                                  </m:r>
                                </m:e>
                              </m:acc>
                            </m:oMath>
                          </a14:m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Wingdings" charset="2"/>
                            <a:buChar char=""/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𝑚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𝑆𝐹𝐿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=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𝑚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𝐷𝑆𝑊</m:t>
                              </m:r>
                            </m:oMath>
                          </a14:m>
                          <a:endParaRPr lang="en-US" sz="14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6936774"/>
                  </p:ext>
                </p:extLst>
              </p:nvPr>
            </p:nvGraphicFramePr>
            <p:xfrm>
              <a:off x="2257515" y="4326917"/>
              <a:ext cx="7961034" cy="153035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59220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4365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74075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47722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70718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5041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r="-398413" b="-2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l="-74537" r="-116204" b="-2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l="-193458" b="-21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0419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t="-100000" r="-398413" b="-1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l="-74537" t="-100000" r="-116204" b="-1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l="-193458" t="-100000" b="-11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2197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t="-190476" r="-398413" b="-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l="-74537" t="-190476" r="-116204" b="-47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  <a:endParaRPr lang="en-US" sz="14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l="-193458" t="-190476" b="-47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56994" y="976393"/>
            <a:ext cx="6730548" cy="2750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5723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3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994150" y="64574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36</a:t>
            </a:r>
          </a:p>
        </p:txBody>
      </p:sp>
    </p:spTree>
    <p:extLst>
      <p:ext uri="{BB962C8B-B14F-4D97-AF65-F5344CB8AC3E}">
        <p14:creationId xmlns:p14="http://schemas.microsoft.com/office/powerpoint/2010/main" val="16290253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040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258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1824" y="-1973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8.5.4 Guided Instruction: Proving Isosceles Trapezoid Properties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524" y="20322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994150" y="64555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394524" y="1386026"/>
                <a:ext cx="11366946" cy="4709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Trapezoid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𝐾𝐶𝑌𝐴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 with altitudes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𝐾𝑁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𝐶𝑀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8688" indent="-481013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Trace the trapezoid onto a piece of patty paper. </a:t>
                </a:r>
              </a:p>
              <a:p>
                <a:pPr marL="928688" indent="-481013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8688" indent="-481013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Fold the patty paper so that vertices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coincide.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24" y="1386026"/>
                <a:ext cx="11366946" cy="4709687"/>
              </a:xfrm>
              <a:prstGeom prst="rect">
                <a:avLst/>
              </a:prstGeom>
              <a:blipFill>
                <a:blip r:embed="rId5"/>
                <a:stretch>
                  <a:fillRect l="-670" t="-536" b="-10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35300" y="2032000"/>
            <a:ext cx="6108700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3354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4613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45770" y="520394"/>
                <a:ext cx="11601450" cy="3786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Describe what else you notice when you fold the patty paper.</a:t>
                </a: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Work with a partner to list all of the congruent parts of trapezoid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𝐾𝐶𝑌𝐴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Compare your list with that of another pair. Add any congruent parts you may have missed. </a:t>
                </a: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Describe how the reflecting across the midpoint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𝐾𝐶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shows that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𝐾𝐶𝑌𝐴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can be classified as an isosceles trapezoid.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770" y="520394"/>
                <a:ext cx="11601450" cy="3786358"/>
              </a:xfrm>
              <a:prstGeom prst="rect">
                <a:avLst/>
              </a:prstGeom>
              <a:blipFill>
                <a:blip r:embed="rId4"/>
                <a:stretch>
                  <a:fillRect l="-547" t="-669" b="-20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81995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73078" y="328950"/>
            <a:ext cx="3182770" cy="1602138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-7783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57200" y="520393"/>
                <a:ext cx="7747519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Given:</a:t>
                </a:r>
                <a:r>
                  <a:rPr lang="en-US" sz="2000" b="1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𝐻𝐾𝑃𝑁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an isosceles </a:t>
                </a:r>
              </a:p>
              <a:p>
                <a:pPr marL="46355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trapezoid with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𝐻𝐾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∥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𝑃𝑁</m:t>
                        </m:r>
                      </m:e>
                    </m:acc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6355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Prove: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𝐻𝑃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≅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𝐾𝑁</m:t>
                        </m:r>
                      </m:e>
                    </m:acc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6355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6355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Complete the following two-column proof.</a:t>
                </a:r>
              </a:p>
              <a:p>
                <a:pPr marL="46355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20393"/>
                <a:ext cx="7747519" cy="1938992"/>
              </a:xfrm>
              <a:prstGeom prst="rect">
                <a:avLst/>
              </a:prstGeom>
              <a:blipFill>
                <a:blip r:embed="rId5"/>
                <a:stretch>
                  <a:fillRect l="-818" t="-1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9720422"/>
                  </p:ext>
                </p:extLst>
              </p:nvPr>
            </p:nvGraphicFramePr>
            <p:xfrm>
              <a:off x="2283071" y="2221802"/>
              <a:ext cx="7590852" cy="42672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7655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82527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8643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Statement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0865" marR="508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7B7B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Reason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0865" marR="508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7B7B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7287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1. </a:t>
                          </a:r>
                        </a:p>
                      </a:txBody>
                      <a:tcPr marL="50865" marR="5086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1. 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50865" marR="5086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7287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2.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𝐻𝑁</m:t>
                                  </m:r>
                                </m:e>
                              </m:acc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≅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𝐾𝑃</m:t>
                                  </m:r>
                                </m:e>
                              </m:acc>
                            </m:oMath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50865" marR="5086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2.</a:t>
                          </a:r>
                        </a:p>
                      </a:txBody>
                      <a:tcPr marL="50865" marR="5086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859313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3.</a:t>
                          </a:r>
                        </a:p>
                      </a:txBody>
                      <a:tcPr marL="50865" marR="5086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3. Base angles of an isosceles trapezoid are congruent</a:t>
                          </a:r>
                        </a:p>
                      </a:txBody>
                      <a:tcPr marL="50865" marR="5086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7287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4.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𝑁𝑃</m:t>
                                  </m:r>
                                </m:e>
                              </m:acc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≅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𝑁𝑃</m:t>
                                  </m:r>
                                </m:e>
                              </m:acc>
                            </m:oMath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0865" marR="5086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4.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50865" marR="5086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7287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5.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∆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𝐻𝑁𝑃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≅∆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𝐾𝑃𝑁</m:t>
                              </m:r>
                            </m:oMath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0865" marR="5086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5. SAS Congruence Theorem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50865" marR="5086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57287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6.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50865" marR="5086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6. CPCTC</a:t>
                          </a:r>
                        </a:p>
                      </a:txBody>
                      <a:tcPr marL="50865" marR="5086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39720422"/>
                  </p:ext>
                </p:extLst>
              </p:nvPr>
            </p:nvGraphicFramePr>
            <p:xfrm>
              <a:off x="2283071" y="2221802"/>
              <a:ext cx="7590852" cy="42672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7655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82527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Statement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0865" marR="508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7B7B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Reason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0865" marR="50865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7B7B7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1. </a:t>
                          </a:r>
                        </a:p>
                      </a:txBody>
                      <a:tcPr marL="50865" marR="5086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1. 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50865" marR="5086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865" marR="5086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t="-162500" r="-102020" b="-45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2.</a:t>
                          </a:r>
                        </a:p>
                      </a:txBody>
                      <a:tcPr marL="50865" marR="5086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3.</a:t>
                          </a:r>
                        </a:p>
                      </a:txBody>
                      <a:tcPr marL="50865" marR="5086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3. Base angles of an isosceles trapezoid are congruent</a:t>
                          </a:r>
                        </a:p>
                      </a:txBody>
                      <a:tcPr marL="50865" marR="5086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865" marR="5086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t="-414583" r="-102020" b="-20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4.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50865" marR="5086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865" marR="5086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t="-514583" r="-102020" b="-104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5. SAS Congruence Theorem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50865" marR="5086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6.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50865" marR="5086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6. CPCTC</a:t>
                          </a:r>
                        </a:p>
                      </a:txBody>
                      <a:tcPr marL="50865" marR="50865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678330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994150" y="6447902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377190" y="520393"/>
                <a:ext cx="6025821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Given: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𝐵𝑅𝑊𝑋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an isosceles trapezoid with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𝐵𝑅</m:t>
                        </m:r>
                      </m:e>
                    </m:acc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∥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𝑋𝑊</m:t>
                        </m:r>
                      </m:e>
                    </m:acc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6355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6355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Prove: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𝑅𝐵𝑋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𝑅𝑊𝑋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supplementary,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𝐵𝑅𝑊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𝐵𝑋𝑊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supplementary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190" y="520393"/>
                <a:ext cx="6025821" cy="1938992"/>
              </a:xfrm>
              <a:prstGeom prst="rect">
                <a:avLst/>
              </a:prstGeom>
              <a:blipFill>
                <a:blip r:embed="rId4"/>
                <a:stretch>
                  <a:fillRect l="-1050" t="-1299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03011" y="759418"/>
            <a:ext cx="4132144" cy="13921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77190" y="2534010"/>
                <a:ext cx="11510009" cy="29905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>
                  <a:spcAft>
                    <a:spcPts val="1000"/>
                  </a:spcAft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Given that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𝐵𝑅𝑊𝑋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an isosceles trapezoid, then __________ because base angles of an isosceles trapezoid are congruent. Since it is given that ________, then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𝑅𝐵𝑋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𝐵𝑋𝑊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___________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∠______________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∠______________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supplementary because when parallel lines are cut by a transversal, ______________________ are supplementary. Therefore, by definition of supplementary angles,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𝐵𝑅𝑊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𝑅𝑊𝑋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_____ and ____________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=180°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By substitution,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𝑅𝐵𝑋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+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𝑅𝑊𝑋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=180°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 and ___________________.</a:t>
                </a:r>
              </a:p>
              <a:p>
                <a:pPr marL="46355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Therefore, by _________________________,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𝑅𝐵𝑋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𝑅𝑊𝑋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supplementary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𝐵𝑅𝑊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𝐵𝑋𝑊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supplementary. 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190" y="2534010"/>
                <a:ext cx="11510009" cy="2990562"/>
              </a:xfrm>
              <a:prstGeom prst="rect">
                <a:avLst/>
              </a:prstGeom>
              <a:blipFill>
                <a:blip r:embed="rId6"/>
                <a:stretch>
                  <a:fillRect t="-1271" r="-1322" b="-2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8673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38</a:t>
            </a: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01635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392016" y="1386025"/>
                <a:ext cx="11666634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𝑊𝑅𝐵𝐻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an isosceles trapezoid. 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8688" indent="-4953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If diagonal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𝑊𝐵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=18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diagonal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𝑅𝐻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=3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−7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find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</a:t>
                </a:r>
              </a:p>
              <a:p>
                <a:pPr marL="928688" indent="-4953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28688" indent="-4953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Diagonals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𝑊𝐵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𝑅𝐻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intersect at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𝑅𝑊𝐵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=20.6°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𝑅𝐻𝑊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=24.4°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𝐵𝐾𝐻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=138.8°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what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𝑚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𝑊𝑅𝐵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016" y="1386025"/>
                <a:ext cx="11666634" cy="4401205"/>
              </a:xfrm>
              <a:prstGeom prst="rect">
                <a:avLst/>
              </a:prstGeom>
              <a:blipFill>
                <a:blip r:embed="rId3"/>
                <a:stretch>
                  <a:fillRect l="-326" t="-575" b="-14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55840" y="2092272"/>
            <a:ext cx="5746696" cy="2062323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29037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1824" y="-12484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8.5.5 Guided Practice: Isosceles Trapezoids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994150" y="640344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38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2016" y="16310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5763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5099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9016995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354330" y="520394"/>
                <a:ext cx="11578590" cy="7092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Isosceles trapezoid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𝐾𝐶𝑌𝐴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has altitudes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𝐾𝑁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𝐶𝑀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If    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𝐾𝐶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=6</m:t>
                    </m:r>
                    <m: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,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𝐴𝑌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=30</m:t>
                    </m:r>
                    <m: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and</m:t>
                    </m:r>
                    <m: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 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𝐾𝐴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=15</m:t>
                    </m:r>
                    <m: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,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what is the length of altitude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𝐶𝑀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330" y="520394"/>
                <a:ext cx="11578590" cy="709297"/>
              </a:xfrm>
              <a:prstGeom prst="rect">
                <a:avLst/>
              </a:prstGeom>
              <a:blipFill>
                <a:blip r:embed="rId4"/>
                <a:stretch>
                  <a:fillRect l="-438" t="-3509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97085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984901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38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8901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0400"/>
            <a:ext cx="223200" cy="6866100"/>
          </a:xfrm>
          <a:prstGeom prst="rect">
            <a:avLst/>
          </a:prstGeom>
          <a:solidFill>
            <a:srgbClr val="79B0DD"/>
          </a:solidFill>
          <a:ln w="9525" cap="flat" cmpd="sng">
            <a:solidFill>
              <a:srgbClr val="79B0DD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volume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 2, </a:t>
            </a:r>
            <a:r>
              <a:rPr lang="nb-NO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nb-NO" i="1" dirty="0">
                <a:latin typeface="Calibri"/>
                <a:ea typeface="Calibri"/>
                <a:cs typeface="Calibri"/>
                <a:sym typeface="Calibri"/>
              </a:rPr>
              <a:t>. 38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84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28438" y="-6304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8.5.6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524" y="18605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394524" y="1386026"/>
                <a:ext cx="9993060" cy="41256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Isosceles trapezoid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𝐹𝑉𝐴𝑇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shown with altitudes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𝐹𝑋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𝑉𝑅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lvl="0"/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6355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𝐹𝑇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=12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𝑇𝐴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=36</m:t>
                    </m:r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radPr>
                      <m:deg/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𝑉𝑅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=8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what is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𝐹𝑉</m:t>
                        </m:r>
                      </m:e>
                    </m:acc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24" y="1386026"/>
                <a:ext cx="9993060" cy="4125617"/>
              </a:xfrm>
              <a:prstGeom prst="rect">
                <a:avLst/>
              </a:prstGeom>
              <a:blipFill>
                <a:blip r:embed="rId5"/>
                <a:stretch>
                  <a:fillRect l="-762" t="-613" b="-1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89200" y="2349500"/>
            <a:ext cx="7213600" cy="214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2212</TotalTime>
  <Words>1553</Words>
  <Application>Microsoft Macintosh PowerPoint</Application>
  <PresentationFormat>Widescreen</PresentationFormat>
  <Paragraphs>276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Arial</vt:lpstr>
      <vt:lpstr>Arial Black</vt:lpstr>
      <vt:lpstr>Calibri</vt:lpstr>
      <vt:lpstr>Cambria</vt:lpstr>
      <vt:lpstr>Cambria Math</vt:lpstr>
      <vt:lpstr>Century Gothic</vt:lpstr>
      <vt:lpstr>Verdana</vt:lpstr>
      <vt:lpstr>Wingdings</vt:lpstr>
      <vt:lpstr>1_Office Theme</vt:lpstr>
      <vt:lpstr>Geometry  Unit 8, Lesson 5  Trapezoids  Volume 2, pg. 32  </vt:lpstr>
      <vt:lpstr>Benchmarks</vt:lpstr>
      <vt:lpstr>PowerPoint Presentation</vt:lpstr>
      <vt:lpstr>PowerPoint Presentation</vt:lpstr>
      <vt:lpstr>Warm-Up</vt:lpstr>
      <vt:lpstr>PowerPoint Presentation</vt:lpstr>
      <vt:lpstr>PowerPoint Presentation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  </dc:title>
  <dc:creator>Karen McKenzie</dc:creator>
  <cp:lastModifiedBy>Diana Barnett</cp:lastModifiedBy>
  <cp:revision>25</cp:revision>
  <dcterms:created xsi:type="dcterms:W3CDTF">2015-03-17T18:51:18Z</dcterms:created>
  <dcterms:modified xsi:type="dcterms:W3CDTF">2023-03-03T15:38:42Z</dcterms:modified>
</cp:coreProperties>
</file>