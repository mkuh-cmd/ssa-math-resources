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62" r:id="rId9"/>
    <p:sldId id="363" r:id="rId10"/>
    <p:sldId id="364" r:id="rId11"/>
    <p:sldId id="365" r:id="rId12"/>
    <p:sldId id="302" r:id="rId13"/>
    <p:sldId id="303" r:id="rId14"/>
    <p:sldId id="360" r:id="rId15"/>
    <p:sldId id="306" r:id="rId16"/>
    <p:sldId id="307" r:id="rId17"/>
    <p:sldId id="36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23"/>
    <p:restoredTop sz="94694"/>
  </p:normalViewPr>
  <p:slideViewPr>
    <p:cSldViewPr snapToGrid="0">
      <p:cViewPr varScale="1">
        <p:scale>
          <a:sx n="107" d="100"/>
          <a:sy n="107" d="100"/>
        </p:scale>
        <p:origin x="184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8133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0109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8121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3920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96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with Quadrilaterals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654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83149" y="641203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14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9531"/>
            <a:ext cx="1154417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MA.912.GR.1.4 </a:t>
            </a:r>
          </a:p>
          <a:p>
            <a:pPr marL="46990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parallelograms. Solve mathematical and real-world problems involving postulates, relationships, and theorems of parallelograms.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MA.912.GR.1.5 </a:t>
            </a:r>
          </a:p>
          <a:p>
            <a:pPr marL="46990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trapezoids. Solve mathematical and real-world problems involving postulates, relationships, and theorems of trapezoids.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224" y="25354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97524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50225" y="1596390"/>
            <a:ext cx="115607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892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39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57980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properties of parallelograms to solve real-world problems.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properties of trapezoids to solve real-world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5091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80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350" y="618642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5198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8.6.1 Warm-Up: Error Analysis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5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83350" y="649679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344385" y="1386025"/>
                <a:ext cx="7125194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Kite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𝑊𝐿𝐶𝑁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=(6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+5)°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Marcia and Eugene both worked to 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Their work is shown.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85" y="1386025"/>
                <a:ext cx="7125194" cy="2246769"/>
              </a:xfrm>
              <a:prstGeom prst="rect">
                <a:avLst/>
              </a:prstGeom>
              <a:blipFill>
                <a:blip r:embed="rId5"/>
                <a:stretch>
                  <a:fillRect l="-712" t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4750" y="1104375"/>
            <a:ext cx="3136168" cy="2650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656063"/>
                  </p:ext>
                </p:extLst>
              </p:nvPr>
            </p:nvGraphicFramePr>
            <p:xfrm>
              <a:off x="2695575" y="4041459"/>
              <a:ext cx="6800850" cy="23689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6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84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43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Marcia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Eugene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245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90+90+68+6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+5=360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+5+248=360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+253=360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=107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107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360−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90+68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=202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+5=202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=197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197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656063"/>
                  </p:ext>
                </p:extLst>
              </p:nvPr>
            </p:nvGraphicFramePr>
            <p:xfrm>
              <a:off x="2695575" y="4041459"/>
              <a:ext cx="6800850" cy="23689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6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84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43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Marcia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Eugene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24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72" t="-20625" r="-99628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1124" t="-20625" r="-375" b="-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76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7376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15636" y="520393"/>
            <a:ext cx="11530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Evaluate each student’s work, then write a note to each student explaining the error they made.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006261"/>
              </p:ext>
            </p:extLst>
          </p:nvPr>
        </p:nvGraphicFramePr>
        <p:xfrm>
          <a:off x="2770908" y="1712548"/>
          <a:ext cx="6800850" cy="3424555"/>
        </p:xfrm>
        <a:graphic>
          <a:graphicData uri="http://schemas.openxmlformats.org/drawingml/2006/table">
            <a:tbl>
              <a:tblPr firstRow="1" firstCol="1" bandRow="1"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Marcia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Eugene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7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6432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40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47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634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-3416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8.6.2 Activity: Word Problem Gallery Walk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4342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40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9389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392016" y="1386026"/>
            <a:ext cx="11566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through the word problems with your partner. Show your work and write your answers in the appropriate boxes below.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2875820"/>
                  </p:ext>
                </p:extLst>
              </p:nvPr>
            </p:nvGraphicFramePr>
            <p:xfrm>
              <a:off x="2144946" y="2590676"/>
              <a:ext cx="7608654" cy="3657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066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920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099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770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Problem Number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Work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Answer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55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 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55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15938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Area =</a:t>
                          </a: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9291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𝑀𝐺𝑆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4699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𝑃𝑆𝐺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𝐺𝑀𝑃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𝑀𝑃𝑆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2875820"/>
                  </p:ext>
                </p:extLst>
              </p:nvPr>
            </p:nvGraphicFramePr>
            <p:xfrm>
              <a:off x="2144946" y="2590676"/>
              <a:ext cx="7608654" cy="3657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066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920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099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Problem Number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Work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Answer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 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1446" t="-75000" r="-1205" b="-23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15938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Area =</a:t>
                          </a:r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3995" marR="3399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3995" marR="33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1446" t="-207292" r="-1205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839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4256685"/>
                  </p:ext>
                </p:extLst>
              </p:nvPr>
            </p:nvGraphicFramePr>
            <p:xfrm>
              <a:off x="2185598" y="359433"/>
              <a:ext cx="7867379" cy="526718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340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516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817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4792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</a:t>
                          </a:r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8975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=</a:t>
                          </a:r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225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𝐹𝑀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𝑅𝑀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𝑇𝑀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495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𝐷𝑊𝐹𝑀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________ a parallelogram.</a:t>
                          </a:r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4256685"/>
                  </p:ext>
                </p:extLst>
              </p:nvPr>
            </p:nvGraphicFramePr>
            <p:xfrm>
              <a:off x="2185598" y="359433"/>
              <a:ext cx="7867379" cy="526718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340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516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817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4792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</a:t>
                          </a:r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1047" t="-855" r="-581" b="-256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38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1047" t="-61458" r="-581" b="-5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495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27356" marR="2735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356" marR="273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1047" t="-289720" r="-581" b="-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313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009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71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050476"/>
                  </p:ext>
                </p:extLst>
              </p:nvPr>
            </p:nvGraphicFramePr>
            <p:xfrm>
              <a:off x="2503883" y="485557"/>
              <a:ext cx="7265485" cy="44222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319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966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369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06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dimensions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𝐾𝑅𝑊𝐹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</a:t>
                          </a:r>
                        </a:p>
                      </a:txBody>
                      <a:tcPr marL="38742" marR="38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86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𝐷𝑊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742" marR="38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050476"/>
                  </p:ext>
                </p:extLst>
              </p:nvPr>
            </p:nvGraphicFramePr>
            <p:xfrm>
              <a:off x="2503883" y="485557"/>
              <a:ext cx="7265485" cy="44222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319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966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369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133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742" marR="38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9645" t="-595" r="-592" b="-1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86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8742" marR="3874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742" marR="38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9645" t="-93370" r="-592" b="-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2798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82935" y="21972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8.6.3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635" y="2028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39387" y="1386025"/>
                <a:ext cx="1115093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am a quadrilateral with two pairs of opposite parallel sides. At least one of my angles has a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both of my diagonals measure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inches. Select all shapes that match this description.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62013" indent="-330200">
                  <a:buFont typeface="Wingdings" charset="2"/>
                  <a:buChar char="q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Parallelogram</a:t>
                </a:r>
              </a:p>
              <a:p>
                <a:pPr marL="862013" indent="-330200">
                  <a:buFont typeface="Wingdings" charset="2"/>
                  <a:buChar char="q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Rectangle</a:t>
                </a:r>
              </a:p>
              <a:p>
                <a:pPr marL="862013" indent="-330200">
                  <a:buFont typeface="Wingdings" charset="2"/>
                  <a:buChar char="q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Square</a:t>
                </a:r>
              </a:p>
              <a:p>
                <a:pPr marL="862013" indent="-330200">
                  <a:buFont typeface="Wingdings" charset="2"/>
                  <a:buChar char="q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Rhombus</a:t>
                </a:r>
              </a:p>
              <a:p>
                <a:pPr marL="862013" indent="-330200">
                  <a:buFont typeface="Wingdings" charset="2"/>
                  <a:buChar char="q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Kite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your own words, write a description of a parallelogram that could 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only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match a square.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87" y="1386025"/>
                <a:ext cx="11150930" cy="3785652"/>
              </a:xfrm>
              <a:prstGeom prst="rect">
                <a:avLst/>
              </a:prstGeom>
              <a:blipFill>
                <a:blip r:embed="rId5"/>
                <a:stretch>
                  <a:fillRect l="-569" t="-667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5631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41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39386" y="520393"/>
            <a:ext cx="113765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a quadrilateral is a parallelogram, what additional information would be needed to show that the shape is a rectangle? 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a quadrilateral is a parallelogram, what additional information would be needed to show that the shape is a rhombus?</a:t>
            </a:r>
          </a:p>
        </p:txBody>
      </p:sp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390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9800" y="-5391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8.6.4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50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52500" y="1386025"/>
            <a:ext cx="115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Circle the icon that best describes your understanding of each concept below. </a:t>
            </a:r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90156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1366" y="2208151"/>
            <a:ext cx="6845300" cy="413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0740" y="645160"/>
            <a:ext cx="81534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023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678</Words>
  <Application>Microsoft Macintosh PowerPoint</Application>
  <PresentationFormat>Widescreen</PresentationFormat>
  <Paragraphs>169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8, Lesson 6  Solving Real-World Problems with Quadrilaterals  Volume 2, pg. 39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Diana Barnett</cp:lastModifiedBy>
  <cp:revision>23</cp:revision>
  <dcterms:created xsi:type="dcterms:W3CDTF">2015-03-17T18:51:18Z</dcterms:created>
  <dcterms:modified xsi:type="dcterms:W3CDTF">2023-03-02T16:41:45Z</dcterms:modified>
</cp:coreProperties>
</file>