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85" r:id="rId4"/>
    <p:sldId id="286" r:id="rId5"/>
    <p:sldId id="261" r:id="rId6"/>
    <p:sldId id="287" r:id="rId7"/>
    <p:sldId id="288" r:id="rId8"/>
    <p:sldId id="314" r:id="rId9"/>
    <p:sldId id="315" r:id="rId10"/>
    <p:sldId id="352" r:id="rId11"/>
    <p:sldId id="362" r:id="rId12"/>
    <p:sldId id="363" r:id="rId13"/>
    <p:sldId id="376" r:id="rId14"/>
    <p:sldId id="311" r:id="rId15"/>
    <p:sldId id="312" r:id="rId16"/>
    <p:sldId id="353" r:id="rId17"/>
    <p:sldId id="364" r:id="rId18"/>
    <p:sldId id="365" r:id="rId19"/>
    <p:sldId id="366" r:id="rId20"/>
    <p:sldId id="367" r:id="rId21"/>
    <p:sldId id="368" r:id="rId22"/>
    <p:sldId id="370" r:id="rId23"/>
    <p:sldId id="371" r:id="rId24"/>
    <p:sldId id="372" r:id="rId25"/>
    <p:sldId id="377" r:id="rId26"/>
    <p:sldId id="378" r:id="rId27"/>
    <p:sldId id="379" r:id="rId28"/>
    <p:sldId id="373" r:id="rId29"/>
    <p:sldId id="374" r:id="rId30"/>
    <p:sldId id="306" r:id="rId31"/>
    <p:sldId id="307"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9A3C"/>
    <a:srgbClr val="79B0DD"/>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784"/>
    <p:restoredTop sz="94694"/>
  </p:normalViewPr>
  <p:slideViewPr>
    <p:cSldViewPr snapToGrid="0">
      <p:cViewPr varScale="1">
        <p:scale>
          <a:sx n="85" d="100"/>
          <a:sy n="85" d="100"/>
        </p:scale>
        <p:origin x="184" y="8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8172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95007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05666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124112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685389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49714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01170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9379136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070072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402152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864200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1228362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2388417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5855552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1249096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3293842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8.png"/><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47.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Special Parallelograms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53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9531"/>
            <a:ext cx="8229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MA.912.GR.1.4 </a:t>
            </a:r>
          </a:p>
          <a:p>
            <a:pPr marL="463550" indent="0">
              <a:buNone/>
            </a:pPr>
            <a:r>
              <a:rPr lang="en-US" sz="2400" dirty="0">
                <a:latin typeface="Verdana" charset="0"/>
                <a:ea typeface="Verdana" charset="0"/>
                <a:cs typeface="Verdana" charset="0"/>
              </a:rPr>
              <a:t>Prove relationships and theorems about parallelograms. Solve mathematical and real-world problems involving postulates, relationships, and theorems of parallelograms.</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MA.912.LT.4.10 </a:t>
            </a:r>
          </a:p>
          <a:p>
            <a:pPr marL="463550" indent="0">
              <a:buNone/>
            </a:pPr>
            <a:r>
              <a:rPr lang="en-US" sz="2400" dirty="0">
                <a:latin typeface="Verdana" charset="0"/>
                <a:ea typeface="Verdana" charset="0"/>
                <a:cs typeface="Verdana" charset="0"/>
              </a:rPr>
              <a:t>Judge the validity of arguments and give counterexamples to disprove statements.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6"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204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665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6695" y="129667"/>
            <a:ext cx="906443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8428"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19</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3256" y="1596390"/>
            <a:ext cx="1041917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4"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656"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67213"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5051"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8430"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19</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7838" y="1608425"/>
            <a:ext cx="1115881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prove rectangles are parallelograms. </a:t>
            </a:r>
          </a:p>
          <a:p>
            <a:pPr marL="342900" indent="-342900">
              <a:buFont typeface="Wingdings" charset="2"/>
              <a:buChar char="q"/>
            </a:pPr>
            <a:r>
              <a:rPr lang="en-US" sz="2400" dirty="0">
                <a:latin typeface="Verdana" charset="0"/>
                <a:ea typeface="Verdana" charset="0"/>
                <a:cs typeface="Verdana" charset="0"/>
              </a:rPr>
              <a:t>I can use properties of parallelograms to identify special parallelograms.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10466" y="6855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8.3.1 Warm-Up: Estimation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3166"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19</a:t>
            </a:r>
          </a:p>
        </p:txBody>
      </p:sp>
      <p:sp>
        <p:nvSpPr>
          <p:cNvPr id="2" name="TextBox 1">
            <a:extLst>
              <a:ext uri="{FF2B5EF4-FFF2-40B4-BE49-F238E27FC236}">
                <a16:creationId xmlns:a16="http://schemas.microsoft.com/office/drawing/2014/main" id="{E1D7562E-134F-D14B-AF1A-DF40E11EF758}"/>
              </a:ext>
            </a:extLst>
          </p:cNvPr>
          <p:cNvSpPr txBox="1"/>
          <p:nvPr/>
        </p:nvSpPr>
        <p:spPr>
          <a:xfrm>
            <a:off x="551064" y="1394250"/>
            <a:ext cx="10972860" cy="501675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A picture of a bowl with a cereal square is shown. </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Estimate the number of cereal squares that will go around the inner circumference of the bowl.</a:t>
            </a:r>
          </a:p>
          <a:p>
            <a:pPr lvl="0"/>
            <a:endParaRPr lang="en-US" sz="2000" dirty="0">
              <a:latin typeface="Verdana" charset="0"/>
              <a:ea typeface="Verdana" charset="0"/>
              <a:cs typeface="Verdana" charset="0"/>
            </a:endParaRPr>
          </a:p>
        </p:txBody>
      </p:sp>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57046" y="1974976"/>
            <a:ext cx="3190360" cy="3240681"/>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19</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10961136"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A picture of the bowl with a diameter of cereal squares is shown.</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Use the diameter of cereal squares to find the circumference. </a:t>
            </a:r>
          </a:p>
          <a:p>
            <a:pPr marL="928688" indent="-511175">
              <a:buFont typeface="+mj-lt"/>
              <a:buAutoNum type="alphaLcPeriod"/>
            </a:pPr>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Compare your estimate to the circumference found using the diameter of cereal squares.</a:t>
            </a:r>
          </a:p>
          <a:p>
            <a:pPr marL="457200" indent="-457200">
              <a:buFont typeface="+mj-lt"/>
              <a:buAutoNum type="alphaLcPeriod"/>
            </a:pPr>
            <a:endParaRPr lang="en-US" sz="2000" dirty="0">
              <a:latin typeface="Verdana" charset="0"/>
              <a:ea typeface="Verdana" charset="0"/>
              <a:cs typeface="Verdana" charset="0"/>
            </a:endParaRP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00372" y="1004847"/>
            <a:ext cx="2957977" cy="3055600"/>
          </a:xfrm>
          <a:prstGeom prst="rect">
            <a:avLst/>
          </a:prstGeom>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20</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6276" y="52100"/>
            <a:ext cx="1082925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8.3.2 Collaboration: What Is a Rectangle?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20</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6468" y="3400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96873" y="1377800"/>
                <a:ext cx="6459335" cy="2862322"/>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𝐴𝑁𝑅𝐿</m:t>
                    </m:r>
                  </m:oMath>
                </a14:m>
                <a:r>
                  <a:rPr lang="en-US" sz="2000" dirty="0">
                    <a:latin typeface="Verdana" charset="0"/>
                    <a:ea typeface="Verdana" charset="0"/>
                    <a:cs typeface="Verdana" charset="0"/>
                  </a:rPr>
                  <a:t> is a rectangle shown on the coordinate grid.</a:t>
                </a:r>
              </a:p>
              <a:p>
                <a:pPr lvl="0"/>
                <a:endParaRPr lang="en-US" sz="2000" dirty="0">
                  <a:latin typeface="Verdana" charset="0"/>
                  <a:ea typeface="Verdana" charset="0"/>
                  <a:cs typeface="Verdana" charset="0"/>
                </a:endParaRPr>
              </a:p>
              <a:p>
                <a:pPr marL="928688" indent="-495300">
                  <a:buFont typeface="+mj-lt"/>
                  <a:buAutoNum type="alphaLcPeriod"/>
                </a:pPr>
                <a:r>
                  <a:rPr lang="en-US" sz="2000" dirty="0">
                    <a:latin typeface="Verdana" charset="0"/>
                    <a:ea typeface="Verdana" charset="0"/>
                    <a:cs typeface="Verdana" charset="0"/>
                  </a:rPr>
                  <a:t>List everything you know about this type of quadrilateral.</a:t>
                </a:r>
              </a:p>
              <a:p>
                <a:pPr marL="928688" indent="-495300">
                  <a:buFont typeface="+mj-lt"/>
                  <a:buAutoNum type="alphaLcPeriod"/>
                </a:pPr>
                <a:endParaRPr lang="en-US" sz="2000" dirty="0">
                  <a:latin typeface="Verdana" charset="0"/>
                  <a:ea typeface="Verdana" charset="0"/>
                  <a:cs typeface="Verdana" charset="0"/>
                </a:endParaRPr>
              </a:p>
              <a:p>
                <a:pPr marL="928688" indent="-495300">
                  <a:buFont typeface="+mj-lt"/>
                  <a:buAutoNum type="alphaLcPeriod"/>
                </a:pPr>
                <a:r>
                  <a:rPr lang="en-US" sz="2000" dirty="0">
                    <a:latin typeface="Verdana" charset="0"/>
                    <a:ea typeface="Verdana" charset="0"/>
                    <a:cs typeface="Verdana" charset="0"/>
                  </a:rPr>
                  <a:t>Compare your list with your partner’s list. Add anything you may have missed. </a:t>
                </a:r>
              </a:p>
              <a:p>
                <a:pPr marL="457200" indent="-457200">
                  <a:buFont typeface="+mj-lt"/>
                  <a:buAutoNum type="alphaLcPeriod"/>
                </a:pPr>
                <a:endParaRPr lang="en-US" sz="2000" dirty="0">
                  <a:latin typeface="Verdana" charset="0"/>
                  <a:ea typeface="Verdana" charset="0"/>
                  <a:cs typeface="Verdana" charset="0"/>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96873" y="1377800"/>
                <a:ext cx="6459335" cy="2862322"/>
              </a:xfrm>
              <a:prstGeom prst="rect">
                <a:avLst/>
              </a:prstGeom>
              <a:blipFill>
                <a:blip r:embed="rId5"/>
                <a:stretch>
                  <a:fillRect l="-943" t="-1064" r="-2075"/>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056209" y="1377800"/>
            <a:ext cx="4467715" cy="3697419"/>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86698" y="520394"/>
            <a:ext cx="10515003" cy="1015663"/>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With your partner, list two truths and one lie about this type of quadrilateral in the table below. Share your list with another pair. See if they can spot the lie. </a:t>
            </a:r>
          </a:p>
        </p:txBody>
      </p:sp>
      <p:graphicFrame>
        <p:nvGraphicFramePr>
          <p:cNvPr id="2" name="Table 1"/>
          <p:cNvGraphicFramePr>
            <a:graphicFrameLocks noGrp="1"/>
          </p:cNvGraphicFramePr>
          <p:nvPr>
            <p:extLst>
              <p:ext uri="{D42A27DB-BD31-4B8C-83A1-F6EECF244321}">
                <p14:modId xmlns:p14="http://schemas.microsoft.com/office/powerpoint/2010/main" val="3087236196"/>
              </p:ext>
            </p:extLst>
          </p:nvPr>
        </p:nvGraphicFramePr>
        <p:xfrm>
          <a:off x="1573649" y="1755558"/>
          <a:ext cx="6552711" cy="3072621"/>
        </p:xfrm>
        <a:graphic>
          <a:graphicData uri="http://schemas.openxmlformats.org/drawingml/2006/table">
            <a:tbl>
              <a:tblPr firstRow="1" firstCol="1" bandRow="1"/>
              <a:tblGrid>
                <a:gridCol w="6552711">
                  <a:extLst>
                    <a:ext uri="{9D8B030D-6E8A-4147-A177-3AD203B41FA5}">
                      <a16:colId xmlns:a16="http://schemas.microsoft.com/office/drawing/2014/main" val="20000"/>
                    </a:ext>
                  </a:extLst>
                </a:gridCol>
              </a:tblGrid>
              <a:tr h="1024207">
                <a:tc>
                  <a:txBody>
                    <a:bodyPr/>
                    <a:lstStyle/>
                    <a:p>
                      <a:pPr marL="0" marR="0">
                        <a:spcBef>
                          <a:spcPts val="0"/>
                        </a:spcBef>
                        <a:spcAft>
                          <a:spcPts val="0"/>
                        </a:spcAft>
                      </a:pPr>
                      <a:r>
                        <a:rPr lang="en-US" sz="2200" dirty="0">
                          <a:effectLst/>
                          <a:latin typeface="Verdana" charset="0"/>
                          <a:ea typeface="Verdana" charset="0"/>
                          <a:cs typeface="Verdana" charset="0"/>
                        </a:rPr>
                        <a:t>1. </a:t>
                      </a:r>
                    </a:p>
                    <a:p>
                      <a:pPr marL="0" marR="0">
                        <a:spcBef>
                          <a:spcPts val="0"/>
                        </a:spcBef>
                        <a:spcAft>
                          <a:spcPts val="0"/>
                        </a:spcAft>
                      </a:pPr>
                      <a:r>
                        <a:rPr lang="en-US" sz="2200" dirty="0">
                          <a:effectLst/>
                          <a:latin typeface="Verdana" charset="0"/>
                          <a:ea typeface="Verdana" charset="0"/>
                          <a:cs typeface="Verdana" charset="0"/>
                        </a:rPr>
                        <a:t> </a:t>
                      </a:r>
                    </a:p>
                    <a:p>
                      <a:pPr marL="0" marR="0">
                        <a:spcBef>
                          <a:spcPts val="0"/>
                        </a:spcBef>
                        <a:spcAft>
                          <a:spcPts val="0"/>
                        </a:spcAft>
                      </a:pPr>
                      <a:r>
                        <a:rPr lang="en-US" sz="2200" dirty="0">
                          <a:effectLst/>
                          <a:latin typeface="Verdana" charset="0"/>
                          <a:ea typeface="Verdana" charset="0"/>
                          <a:cs typeface="Verdana" charset="0"/>
                        </a:rPr>
                        <a:t> </a:t>
                      </a:r>
                    </a:p>
                  </a:txBody>
                  <a:tcPr marL="75608" marR="75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24207">
                <a:tc>
                  <a:txBody>
                    <a:bodyPr/>
                    <a:lstStyle/>
                    <a:p>
                      <a:pPr marL="0" marR="0">
                        <a:spcBef>
                          <a:spcPts val="0"/>
                        </a:spcBef>
                        <a:spcAft>
                          <a:spcPts val="0"/>
                        </a:spcAft>
                      </a:pPr>
                      <a:r>
                        <a:rPr lang="en-US" sz="2200" dirty="0">
                          <a:effectLst/>
                          <a:latin typeface="Verdana" charset="0"/>
                          <a:ea typeface="Verdana" charset="0"/>
                          <a:cs typeface="Verdana" charset="0"/>
                        </a:rPr>
                        <a:t>2.</a:t>
                      </a:r>
                    </a:p>
                    <a:p>
                      <a:pPr marL="0" marR="0">
                        <a:spcBef>
                          <a:spcPts val="0"/>
                        </a:spcBef>
                        <a:spcAft>
                          <a:spcPts val="0"/>
                        </a:spcAft>
                      </a:pPr>
                      <a:r>
                        <a:rPr lang="en-US" sz="2200" dirty="0">
                          <a:effectLst/>
                          <a:latin typeface="Verdana" charset="0"/>
                          <a:ea typeface="Verdana" charset="0"/>
                          <a:cs typeface="Verdana" charset="0"/>
                        </a:rPr>
                        <a:t> </a:t>
                      </a:r>
                    </a:p>
                    <a:p>
                      <a:pPr marL="0" marR="0">
                        <a:spcBef>
                          <a:spcPts val="0"/>
                        </a:spcBef>
                        <a:spcAft>
                          <a:spcPts val="0"/>
                        </a:spcAft>
                      </a:pPr>
                      <a:r>
                        <a:rPr lang="en-US" sz="2200" dirty="0">
                          <a:effectLst/>
                          <a:latin typeface="Verdana" charset="0"/>
                          <a:ea typeface="Verdana" charset="0"/>
                          <a:cs typeface="Verdana" charset="0"/>
                        </a:rPr>
                        <a:t> </a:t>
                      </a:r>
                    </a:p>
                  </a:txBody>
                  <a:tcPr marL="75608" marR="75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4207">
                <a:tc>
                  <a:txBody>
                    <a:bodyPr/>
                    <a:lstStyle/>
                    <a:p>
                      <a:pPr marL="0" marR="0">
                        <a:spcBef>
                          <a:spcPts val="0"/>
                        </a:spcBef>
                        <a:spcAft>
                          <a:spcPts val="0"/>
                        </a:spcAft>
                      </a:pPr>
                      <a:r>
                        <a:rPr lang="en-US" sz="2200" dirty="0">
                          <a:effectLst/>
                          <a:latin typeface="Verdana" charset="0"/>
                          <a:ea typeface="Verdana" charset="0"/>
                          <a:cs typeface="Verdana" charset="0"/>
                        </a:rPr>
                        <a:t>3.</a:t>
                      </a:r>
                    </a:p>
                    <a:p>
                      <a:pPr marL="0" marR="0">
                        <a:spcBef>
                          <a:spcPts val="0"/>
                        </a:spcBef>
                        <a:spcAft>
                          <a:spcPts val="0"/>
                        </a:spcAft>
                      </a:pPr>
                      <a:r>
                        <a:rPr lang="en-US" sz="2200" dirty="0">
                          <a:effectLst/>
                          <a:latin typeface="Verdana" charset="0"/>
                          <a:ea typeface="Verdana" charset="0"/>
                          <a:cs typeface="Verdana" charset="0"/>
                        </a:rPr>
                        <a:t> </a:t>
                      </a:r>
                    </a:p>
                    <a:p>
                      <a:pPr marL="0" marR="0">
                        <a:spcBef>
                          <a:spcPts val="0"/>
                        </a:spcBef>
                        <a:spcAft>
                          <a:spcPts val="0"/>
                        </a:spcAft>
                      </a:pPr>
                      <a:r>
                        <a:rPr lang="en-US" sz="2200" dirty="0">
                          <a:effectLst/>
                          <a:latin typeface="Verdana" charset="0"/>
                          <a:ea typeface="Verdana" charset="0"/>
                          <a:cs typeface="Verdana" charset="0"/>
                        </a:rPr>
                        <a:t> </a:t>
                      </a:r>
                    </a:p>
                  </a:txBody>
                  <a:tcPr marL="75608" marR="75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55819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226"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0701"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2475"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20</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35339" y="528619"/>
                <a:ext cx="8327136" cy="5632311"/>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r>
                      <a:rPr lang="en-US" sz="2000" i="1">
                        <a:latin typeface="Cambria Math" panose="02040503050406030204" pitchFamily="18" charset="0"/>
                        <a:ea typeface="Verdana" charset="0"/>
                        <a:cs typeface="Verdana" charset="0"/>
                      </a:rPr>
                      <m:t>𝑍𝑁𝐻𝐾</m:t>
                    </m:r>
                  </m:oMath>
                </a14:m>
                <a:r>
                  <a:rPr lang="en-US" sz="2000" dirty="0">
                    <a:latin typeface="Verdana" charset="0"/>
                    <a:ea typeface="Verdana" charset="0"/>
                    <a:cs typeface="Verdana" charset="0"/>
                  </a:rPr>
                  <a:t> is shown.</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Using a ruler, draw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𝑍𝐻</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𝐾𝑁</m:t>
                        </m:r>
                      </m:e>
                    </m:acc>
                  </m:oMath>
                </a14:m>
                <a:r>
                  <a:rPr lang="en-US" sz="2000" dirty="0">
                    <a:latin typeface="Verdana" charset="0"/>
                    <a:ea typeface="Verdana" charset="0"/>
                    <a:cs typeface="Verdana" charset="0"/>
                  </a:rPr>
                  <a:t>.</a:t>
                </a:r>
              </a:p>
              <a:p>
                <a:pPr marL="928688" indent="-511175">
                  <a:buFont typeface="+mj-lt"/>
                  <a:buAutoNum type="alphaLcPeriod"/>
                </a:pPr>
                <a:endParaRPr lang="en-US" sz="2000" dirty="0">
                  <a:latin typeface="Verdana" charset="0"/>
                  <a:ea typeface="Verdana" charset="0"/>
                  <a:cs typeface="Verdana" charset="0"/>
                </a:endParaRPr>
              </a:p>
              <a:p>
                <a:pPr marL="928688" indent="-511175">
                  <a:buFont typeface="+mj-lt"/>
                  <a:buAutoNum type="alphaLcPeriod"/>
                </a:pPr>
                <a:endParaRPr lang="en-US" sz="2000" dirty="0">
                  <a:latin typeface="Verdana" charset="0"/>
                  <a:ea typeface="Verdana" charset="0"/>
                  <a:cs typeface="Verdana" charset="0"/>
                </a:endParaRPr>
              </a:p>
              <a:p>
                <a:pPr marL="928688" indent="-511175">
                  <a:buFont typeface="+mj-lt"/>
                  <a:buAutoNum type="alphaLcPeriod"/>
                </a:pPr>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These segments are called ______________. </a:t>
                </a:r>
              </a:p>
              <a:p>
                <a:pPr lvl="0"/>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35339" y="528619"/>
                <a:ext cx="8327136" cy="5632311"/>
              </a:xfrm>
              <a:prstGeom prst="rect">
                <a:avLst/>
              </a:prstGeom>
              <a:blipFill>
                <a:blip r:embed="rId4"/>
                <a:stretch>
                  <a:fillRect l="-732" t="-649"/>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01748" y="1091246"/>
            <a:ext cx="5351006" cy="3018272"/>
          </a:xfrm>
          <a:prstGeom prst="rect">
            <a:avLst/>
          </a:prstGeom>
        </p:spPr>
      </p:pic>
    </p:spTree>
    <p:extLst>
      <p:ext uri="{BB962C8B-B14F-4D97-AF65-F5344CB8AC3E}">
        <p14:creationId xmlns:p14="http://schemas.microsoft.com/office/powerpoint/2010/main" val="529877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71200" y="528618"/>
                <a:ext cx="10656950" cy="5632311"/>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Measure the length of these segments and write them in the table below. Include units.</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Make a conjecture about the lengths of the diagonals of a rectangle. </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Label the intersection point of the diagonals </a:t>
                </a:r>
                <a14:m>
                  <m:oMath xmlns:m="http://schemas.openxmlformats.org/officeDocument/2006/math">
                    <m:r>
                      <a:rPr lang="en-US" sz="2000" i="1">
                        <a:latin typeface="Cambria Math" charset="0"/>
                        <a:ea typeface="Verdana" charset="0"/>
                        <a:cs typeface="Verdana" charset="0"/>
                      </a:rPr>
                      <m:t>𝑆</m:t>
                    </m:r>
                  </m:oMath>
                </a14:m>
                <a:r>
                  <a:rPr lang="en-US" sz="2000" dirty="0">
                    <a:latin typeface="Verdana" charset="0"/>
                    <a:ea typeface="Verdana" charset="0"/>
                    <a:cs typeface="Verdana" charset="0"/>
                  </a:rPr>
                  <a:t>. </a:t>
                </a:r>
              </a:p>
              <a:p>
                <a:pPr marL="457200" indent="-457200">
                  <a:buFont typeface="+mj-lt"/>
                  <a:buAutoNum type="alphaLcPeriod" startAt="3"/>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71200" y="528618"/>
                <a:ext cx="10656950" cy="5632311"/>
              </a:xfrm>
              <a:prstGeom prst="rect">
                <a:avLst/>
              </a:prstGeom>
              <a:blipFill>
                <a:blip r:embed="rId4"/>
                <a:stretch>
                  <a:fillRect l="-629" t="-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97516737"/>
                  </p:ext>
                </p:extLst>
              </p:nvPr>
            </p:nvGraphicFramePr>
            <p:xfrm>
              <a:off x="1677153" y="1647182"/>
              <a:ext cx="6159796" cy="2297612"/>
            </p:xfrm>
            <a:graphic>
              <a:graphicData uri="http://schemas.openxmlformats.org/drawingml/2006/table">
                <a:tbl>
                  <a:tblPr firstRow="1" firstCol="1" bandRow="1"/>
                  <a:tblGrid>
                    <a:gridCol w="2947777">
                      <a:extLst>
                        <a:ext uri="{9D8B030D-6E8A-4147-A177-3AD203B41FA5}">
                          <a16:colId xmlns:a16="http://schemas.microsoft.com/office/drawing/2014/main" val="20000"/>
                        </a:ext>
                      </a:extLst>
                    </a:gridCol>
                    <a:gridCol w="3212019">
                      <a:extLst>
                        <a:ext uri="{9D8B030D-6E8A-4147-A177-3AD203B41FA5}">
                          <a16:colId xmlns:a16="http://schemas.microsoft.com/office/drawing/2014/main" val="20001"/>
                        </a:ext>
                      </a:extLst>
                    </a:gridCol>
                  </a:tblGrid>
                  <a:tr h="387320">
                    <a:tc>
                      <a:txBody>
                        <a:bodyPr/>
                        <a:lstStyle/>
                        <a:p>
                          <a:pPr marL="0" marR="0" algn="ctr">
                            <a:spcBef>
                              <a:spcPts val="0"/>
                            </a:spcBef>
                            <a:spcAft>
                              <a:spcPts val="0"/>
                            </a:spcAft>
                          </a:pPr>
                          <a:r>
                            <a:rPr lang="en-US" sz="2000" b="1">
                              <a:effectLst/>
                              <a:latin typeface="Verdana" charset="0"/>
                              <a:ea typeface="Helvetica Neue" charset="0"/>
                              <a:cs typeface="Helvetica Neue" charset="0"/>
                            </a:rPr>
                            <a:t>Segment</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Length</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7206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𝑍𝐻</m:t>
                                    </m:r>
                                  </m:e>
                                </m:acc>
                              </m:oMath>
                            </m:oMathPara>
                          </a14:m>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38223">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𝐾𝑁</m:t>
                                    </m:r>
                                  </m:e>
                                </m:acc>
                              </m:oMath>
                            </m:oMathPara>
                          </a14:m>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97516737"/>
                  </p:ext>
                </p:extLst>
              </p:nvPr>
            </p:nvGraphicFramePr>
            <p:xfrm>
              <a:off x="1677153" y="1647182"/>
              <a:ext cx="6159796" cy="2297612"/>
            </p:xfrm>
            <a:graphic>
              <a:graphicData uri="http://schemas.openxmlformats.org/drawingml/2006/table">
                <a:tbl>
                  <a:tblPr firstRow="1" firstCol="1" bandRow="1"/>
                  <a:tblGrid>
                    <a:gridCol w="2947777">
                      <a:extLst>
                        <a:ext uri="{9D8B030D-6E8A-4147-A177-3AD203B41FA5}">
                          <a16:colId xmlns:a16="http://schemas.microsoft.com/office/drawing/2014/main" val="20000"/>
                        </a:ext>
                      </a:extLst>
                    </a:gridCol>
                    <a:gridCol w="3212019">
                      <a:extLst>
                        <a:ext uri="{9D8B030D-6E8A-4147-A177-3AD203B41FA5}">
                          <a16:colId xmlns:a16="http://schemas.microsoft.com/office/drawing/2014/main" val="20001"/>
                        </a:ext>
                      </a:extLst>
                    </a:gridCol>
                  </a:tblGrid>
                  <a:tr h="387320">
                    <a:tc>
                      <a:txBody>
                        <a:bodyPr/>
                        <a:lstStyle/>
                        <a:p>
                          <a:pPr marL="0" marR="0" algn="ctr">
                            <a:spcBef>
                              <a:spcPts val="0"/>
                            </a:spcBef>
                            <a:spcAft>
                              <a:spcPts val="0"/>
                            </a:spcAft>
                          </a:pPr>
                          <a:r>
                            <a:rPr lang="en-US" sz="2000" b="1">
                              <a:effectLst/>
                              <a:latin typeface="Verdana" charset="0"/>
                              <a:ea typeface="Helvetica Neue" charset="0"/>
                              <a:cs typeface="Helvetica Neue" charset="0"/>
                            </a:rPr>
                            <a:t>Segment</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Length</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72069">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7" t="-43750" r="-109298" b="-97500"/>
                          </a:stretch>
                        </a:blipFill>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38223">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7" t="-149351" r="-109298" b="-1299"/>
                          </a:stretch>
                        </a:blipFill>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636037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21</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86698" y="528618"/>
            <a:ext cx="10515003" cy="5940088"/>
          </a:xfrm>
          <a:prstGeom prst="rect">
            <a:avLst/>
          </a:prstGeom>
          <a:noFill/>
        </p:spPr>
        <p:txBody>
          <a:bodyPr wrap="square" rtlCol="0">
            <a:spAutoFit/>
          </a:bodyPr>
          <a:lstStyle/>
          <a:p>
            <a:pPr marL="457200" indent="-457200">
              <a:buFont typeface="+mj-lt"/>
              <a:buAutoNum type="alphaLcPeriod" startAt="6"/>
            </a:pPr>
            <a:r>
              <a:rPr lang="en-US" sz="2000" dirty="0">
                <a:latin typeface="Verdana" charset="0"/>
                <a:ea typeface="Verdana" charset="0"/>
                <a:cs typeface="Verdana" charset="0"/>
              </a:rPr>
              <a:t>Measure the following segments and fill in their length in the table below. Include units.</a:t>
            </a: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r>
              <a:rPr lang="en-US" sz="2000" dirty="0">
                <a:latin typeface="Verdana" charset="0"/>
                <a:ea typeface="Verdana" charset="0"/>
                <a:cs typeface="Verdana" charset="0"/>
              </a:rPr>
              <a:t>What do you notice? </a:t>
            </a: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r>
              <a:rPr lang="en-US" sz="2000" dirty="0">
                <a:latin typeface="Verdana" charset="0"/>
                <a:ea typeface="Verdana" charset="0"/>
                <a:cs typeface="Verdana" charset="0"/>
              </a:rPr>
              <a:t>Make a conjecture about what happens to the diagonals of a rectangle when they intersect. </a:t>
            </a:r>
          </a:p>
          <a:p>
            <a:pPr marL="457200" indent="-457200">
              <a:buFont typeface="+mj-lt"/>
              <a:buAutoNum type="alphaLcPeriod" startAt="6"/>
            </a:pPr>
            <a:endParaRPr lang="en-US" sz="2000" dirty="0">
              <a:latin typeface="Verdana" charset="0"/>
              <a:ea typeface="Verdana" charset="0"/>
              <a:cs typeface="Verdana"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28557803"/>
                  </p:ext>
                </p:extLst>
              </p:nvPr>
            </p:nvGraphicFramePr>
            <p:xfrm>
              <a:off x="1575635" y="1560061"/>
              <a:ext cx="6137329" cy="2543175"/>
            </p:xfrm>
            <a:graphic>
              <a:graphicData uri="http://schemas.openxmlformats.org/drawingml/2006/table">
                <a:tbl>
                  <a:tblPr firstRow="1" firstCol="1" bandRow="1"/>
                  <a:tblGrid>
                    <a:gridCol w="3087338">
                      <a:extLst>
                        <a:ext uri="{9D8B030D-6E8A-4147-A177-3AD203B41FA5}">
                          <a16:colId xmlns:a16="http://schemas.microsoft.com/office/drawing/2014/main" val="20000"/>
                        </a:ext>
                      </a:extLst>
                    </a:gridCol>
                    <a:gridCol w="3049991">
                      <a:extLst>
                        <a:ext uri="{9D8B030D-6E8A-4147-A177-3AD203B41FA5}">
                          <a16:colId xmlns:a16="http://schemas.microsoft.com/office/drawing/2014/main" val="20001"/>
                        </a:ext>
                      </a:extLst>
                    </a:gridCol>
                  </a:tblGrid>
                  <a:tr h="504190">
                    <a:tc>
                      <a:txBody>
                        <a:bodyPr/>
                        <a:lstStyle/>
                        <a:p>
                          <a:pPr marL="0" marR="0" algn="ctr">
                            <a:spcBef>
                              <a:spcPts val="0"/>
                            </a:spcBef>
                            <a:spcAft>
                              <a:spcPts val="0"/>
                            </a:spcAft>
                          </a:pPr>
                          <a:r>
                            <a:rPr lang="en-US" sz="2000" b="1">
                              <a:effectLst/>
                              <a:latin typeface="Verdana" charset="0"/>
                              <a:ea typeface="Helvetica Neue" charset="0"/>
                              <a:cs typeface="Helvetica Neue" charset="0"/>
                            </a:rPr>
                            <a:t>Segment</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Length</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2768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𝑍𝑆</m:t>
                                    </m:r>
                                  </m:e>
                                </m:acc>
                              </m:oMath>
                            </m:oMathPara>
                          </a14:m>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41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𝐻𝑆</m:t>
                                    </m:r>
                                  </m:e>
                                </m:acc>
                              </m:oMath>
                            </m:oMathPara>
                          </a14:m>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768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𝐾𝑆</m:t>
                                    </m:r>
                                  </m:e>
                                </m:acc>
                              </m:oMath>
                            </m:oMathPara>
                          </a14:m>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94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𝑁𝑆</m:t>
                                    </m:r>
                                  </m:e>
                                </m:acc>
                              </m:oMath>
                            </m:oMathPara>
                          </a14:m>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28557803"/>
                  </p:ext>
                </p:extLst>
              </p:nvPr>
            </p:nvGraphicFramePr>
            <p:xfrm>
              <a:off x="1575635" y="1560061"/>
              <a:ext cx="6137329" cy="2543175"/>
            </p:xfrm>
            <a:graphic>
              <a:graphicData uri="http://schemas.openxmlformats.org/drawingml/2006/table">
                <a:tbl>
                  <a:tblPr firstRow="1" firstCol="1" bandRow="1"/>
                  <a:tblGrid>
                    <a:gridCol w="3087338">
                      <a:extLst>
                        <a:ext uri="{9D8B030D-6E8A-4147-A177-3AD203B41FA5}">
                          <a16:colId xmlns:a16="http://schemas.microsoft.com/office/drawing/2014/main" val="20000"/>
                        </a:ext>
                      </a:extLst>
                    </a:gridCol>
                    <a:gridCol w="3049991">
                      <a:extLst>
                        <a:ext uri="{9D8B030D-6E8A-4147-A177-3AD203B41FA5}">
                          <a16:colId xmlns:a16="http://schemas.microsoft.com/office/drawing/2014/main" val="20001"/>
                        </a:ext>
                      </a:extLst>
                    </a:gridCol>
                  </a:tblGrid>
                  <a:tr h="504190">
                    <a:tc>
                      <a:txBody>
                        <a:bodyPr/>
                        <a:lstStyle/>
                        <a:p>
                          <a:pPr marL="0" marR="0" algn="ctr">
                            <a:spcBef>
                              <a:spcPts val="0"/>
                            </a:spcBef>
                            <a:spcAft>
                              <a:spcPts val="0"/>
                            </a:spcAft>
                          </a:pPr>
                          <a:r>
                            <a:rPr lang="en-US" sz="2000" b="1">
                              <a:effectLst/>
                              <a:latin typeface="Verdana" charset="0"/>
                              <a:ea typeface="Helvetica Neue" charset="0"/>
                              <a:cs typeface="Helvetica Neue" charset="0"/>
                            </a:rPr>
                            <a:t>Segment</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Length</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2768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7" t="-96552" r="-99211" b="-288506"/>
                          </a:stretch>
                        </a:blipFill>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419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7" t="-206024" r="-99211" b="-202410"/>
                          </a:stretch>
                        </a:blipFill>
                      </a:tcPr>
                    </a:tc>
                    <a:tc>
                      <a:txBody>
                        <a:bodyPr/>
                        <a:lstStyle/>
                        <a:p>
                          <a:pPr marL="0" marR="0" algn="ctr">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768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7" t="-291954" r="-99211" b="-93103"/>
                          </a:stretch>
                        </a:blipFill>
                      </a:tcPr>
                    </a:tc>
                    <a:tc>
                      <a:txBody>
                        <a:bodyPr/>
                        <a:lstStyle/>
                        <a:p>
                          <a:pPr marL="0" marR="0" algn="ctr">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942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7" t="-431646" r="-99211" b="-2532"/>
                          </a:stretch>
                        </a:blipFill>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754257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21</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6276" y="52100"/>
            <a:ext cx="1046764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8.3.3 Exploration: Comparing Parallelograms and Rectangles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21</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9978" y="30022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596874" y="1377801"/>
            <a:ext cx="11031276"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Work with your partner to fill in the table. If the statement describes a property always true of the shape, mark the box. </a:t>
            </a:r>
          </a:p>
        </p:txBody>
      </p:sp>
      <p:graphicFrame>
        <p:nvGraphicFramePr>
          <p:cNvPr id="2" name="Table 1"/>
          <p:cNvGraphicFramePr>
            <a:graphicFrameLocks noGrp="1"/>
          </p:cNvGraphicFramePr>
          <p:nvPr>
            <p:extLst>
              <p:ext uri="{D42A27DB-BD31-4B8C-83A1-F6EECF244321}">
                <p14:modId xmlns:p14="http://schemas.microsoft.com/office/powerpoint/2010/main" val="608562102"/>
              </p:ext>
            </p:extLst>
          </p:nvPr>
        </p:nvGraphicFramePr>
        <p:xfrm>
          <a:off x="1052232" y="2222176"/>
          <a:ext cx="9562203" cy="3978548"/>
        </p:xfrm>
        <a:graphic>
          <a:graphicData uri="http://schemas.openxmlformats.org/drawingml/2006/table">
            <a:tbl>
              <a:tblPr firstRow="1" firstCol="1" bandRow="1"/>
              <a:tblGrid>
                <a:gridCol w="4302703">
                  <a:extLst>
                    <a:ext uri="{9D8B030D-6E8A-4147-A177-3AD203B41FA5}">
                      <a16:colId xmlns:a16="http://schemas.microsoft.com/office/drawing/2014/main" val="20000"/>
                    </a:ext>
                  </a:extLst>
                </a:gridCol>
                <a:gridCol w="2884009">
                  <a:extLst>
                    <a:ext uri="{9D8B030D-6E8A-4147-A177-3AD203B41FA5}">
                      <a16:colId xmlns:a16="http://schemas.microsoft.com/office/drawing/2014/main" val="20001"/>
                    </a:ext>
                  </a:extLst>
                </a:gridCol>
                <a:gridCol w="2375491">
                  <a:extLst>
                    <a:ext uri="{9D8B030D-6E8A-4147-A177-3AD203B41FA5}">
                      <a16:colId xmlns:a16="http://schemas.microsoft.com/office/drawing/2014/main" val="20002"/>
                    </a:ext>
                  </a:extLst>
                </a:gridCol>
              </a:tblGrid>
              <a:tr h="360896">
                <a:tc>
                  <a:txBody>
                    <a:bodyPr/>
                    <a:lstStyle/>
                    <a:p>
                      <a:pPr marL="0" marR="0" algn="ctr">
                        <a:spcBef>
                          <a:spcPts val="0"/>
                        </a:spcBef>
                        <a:spcAft>
                          <a:spcPts val="0"/>
                        </a:spcAft>
                      </a:pPr>
                      <a:r>
                        <a:rPr lang="en-US" sz="2300" b="1">
                          <a:effectLst/>
                          <a:latin typeface="Verdana" charset="0"/>
                          <a:ea typeface="Helvetica Neue" charset="0"/>
                          <a:cs typeface="Helvetica Neue" charset="0"/>
                        </a:rPr>
                        <a:t>Statement</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300" b="1">
                          <a:effectLst/>
                          <a:latin typeface="Verdana" charset="0"/>
                          <a:ea typeface="Helvetica Neue" charset="0"/>
                          <a:cs typeface="Helvetica Neue" charset="0"/>
                        </a:rPr>
                        <a:t>Parallelogram</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300" b="1">
                          <a:effectLst/>
                          <a:latin typeface="Verdana" charset="0"/>
                          <a:ea typeface="Helvetica Neue" charset="0"/>
                          <a:cs typeface="Helvetica Neue" charset="0"/>
                        </a:rPr>
                        <a:t>Rectangle</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93524">
                <a:tc>
                  <a:txBody>
                    <a:bodyPr/>
                    <a:lstStyle/>
                    <a:p>
                      <a:pPr marL="0" marR="0" algn="ctr">
                        <a:spcBef>
                          <a:spcPts val="0"/>
                        </a:spcBef>
                        <a:spcAft>
                          <a:spcPts val="0"/>
                        </a:spcAft>
                      </a:pPr>
                      <a:r>
                        <a:rPr lang="en-US" sz="2300">
                          <a:effectLst/>
                          <a:latin typeface="Verdana" charset="0"/>
                          <a:ea typeface="Helvetica Neue" charset="0"/>
                          <a:cs typeface="Helvetica Neue" charset="0"/>
                        </a:rPr>
                        <a:t>opposite sides congruent</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dirty="0">
                          <a:effectLst/>
                          <a:latin typeface="Verdana" charset="0"/>
                          <a:ea typeface="Helvetica Neue" charset="0"/>
                          <a:cs typeface="Helvetica Neue" charset="0"/>
                        </a:rPr>
                        <a:t> </a:t>
                      </a:r>
                      <a:endParaRPr lang="en-US" sz="1600" dirty="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8238">
                <a:tc>
                  <a:txBody>
                    <a:bodyPr/>
                    <a:lstStyle/>
                    <a:p>
                      <a:pPr marL="0" marR="0" algn="ctr">
                        <a:spcBef>
                          <a:spcPts val="0"/>
                        </a:spcBef>
                        <a:spcAft>
                          <a:spcPts val="0"/>
                        </a:spcAft>
                      </a:pPr>
                      <a:r>
                        <a:rPr lang="en-US" sz="2300">
                          <a:effectLst/>
                          <a:latin typeface="Verdana" charset="0"/>
                          <a:ea typeface="Helvetica Neue" charset="0"/>
                          <a:cs typeface="Helvetica Neue" charset="0"/>
                        </a:rPr>
                        <a:t>opposite sides parallel</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3524">
                <a:tc>
                  <a:txBody>
                    <a:bodyPr/>
                    <a:lstStyle/>
                    <a:p>
                      <a:pPr marL="0" marR="0" algn="ctr">
                        <a:spcBef>
                          <a:spcPts val="0"/>
                        </a:spcBef>
                        <a:spcAft>
                          <a:spcPts val="0"/>
                        </a:spcAft>
                      </a:pPr>
                      <a:r>
                        <a:rPr lang="en-US" sz="2300">
                          <a:effectLst/>
                          <a:latin typeface="Verdana" charset="0"/>
                          <a:ea typeface="Helvetica Neue" charset="0"/>
                          <a:cs typeface="Helvetica Neue" charset="0"/>
                        </a:rPr>
                        <a:t>opposite angles congruent</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21794">
                <a:tc>
                  <a:txBody>
                    <a:bodyPr/>
                    <a:lstStyle/>
                    <a:p>
                      <a:pPr marL="0" marR="0" algn="ctr">
                        <a:spcBef>
                          <a:spcPts val="0"/>
                        </a:spcBef>
                        <a:spcAft>
                          <a:spcPts val="0"/>
                        </a:spcAft>
                      </a:pPr>
                      <a:r>
                        <a:rPr lang="en-US" sz="2300">
                          <a:effectLst/>
                          <a:latin typeface="Verdana" charset="0"/>
                          <a:ea typeface="Helvetica Neue" charset="0"/>
                          <a:cs typeface="Helvetica Neue" charset="0"/>
                        </a:rPr>
                        <a:t>consecutive angles supplementary</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93524">
                <a:tc>
                  <a:txBody>
                    <a:bodyPr/>
                    <a:lstStyle/>
                    <a:p>
                      <a:pPr marL="0" marR="0" algn="ctr">
                        <a:spcBef>
                          <a:spcPts val="0"/>
                        </a:spcBef>
                        <a:spcAft>
                          <a:spcPts val="0"/>
                        </a:spcAft>
                      </a:pPr>
                      <a:r>
                        <a:rPr lang="en-US" sz="2300">
                          <a:effectLst/>
                          <a:latin typeface="Verdana" charset="0"/>
                          <a:ea typeface="Helvetica Neue" charset="0"/>
                          <a:cs typeface="Helvetica Neue" charset="0"/>
                        </a:rPr>
                        <a:t>diagonals bisect each other</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dirty="0">
                          <a:effectLst/>
                          <a:latin typeface="Verdana" charset="0"/>
                          <a:ea typeface="Helvetica Neue" charset="0"/>
                          <a:cs typeface="Helvetica Neue" charset="0"/>
                        </a:rPr>
                        <a:t> </a:t>
                      </a:r>
                      <a:endParaRPr lang="en-US" sz="1600" dirty="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93524">
                <a:tc>
                  <a:txBody>
                    <a:bodyPr/>
                    <a:lstStyle/>
                    <a:p>
                      <a:pPr marL="0" marR="0" algn="ctr">
                        <a:spcBef>
                          <a:spcPts val="0"/>
                        </a:spcBef>
                        <a:spcAft>
                          <a:spcPts val="0"/>
                        </a:spcAft>
                      </a:pPr>
                      <a:r>
                        <a:rPr lang="en-US" sz="2300">
                          <a:effectLst/>
                          <a:latin typeface="Verdana" charset="0"/>
                          <a:ea typeface="Helvetica Neue" charset="0"/>
                          <a:cs typeface="Helvetica Neue" charset="0"/>
                        </a:rPr>
                        <a:t>diagonals are congruent</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93524">
                <a:tc>
                  <a:txBody>
                    <a:bodyPr/>
                    <a:lstStyle/>
                    <a:p>
                      <a:pPr marL="0" marR="0" algn="ctr">
                        <a:spcBef>
                          <a:spcPts val="0"/>
                        </a:spcBef>
                        <a:spcAft>
                          <a:spcPts val="0"/>
                        </a:spcAft>
                      </a:pPr>
                      <a:r>
                        <a:rPr lang="en-US" sz="2300" dirty="0">
                          <a:effectLst/>
                          <a:latin typeface="Verdana" charset="0"/>
                          <a:ea typeface="Helvetica Neue" charset="0"/>
                          <a:cs typeface="Helvetica Neue" charset="0"/>
                        </a:rPr>
                        <a:t>all angles are congruent</a:t>
                      </a:r>
                      <a:endParaRPr lang="en-US" sz="1600" dirty="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dirty="0">
                          <a:effectLst/>
                          <a:latin typeface="Verdana" charset="0"/>
                          <a:ea typeface="Helvetica Neue" charset="0"/>
                          <a:cs typeface="Helvetica Neue" charset="0"/>
                        </a:rPr>
                        <a:t> </a:t>
                      </a:r>
                      <a:endParaRPr lang="en-US" sz="1600" dirty="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35248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845"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6305"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8079"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21</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52409" y="528618"/>
            <a:ext cx="10744855" cy="707886"/>
          </a:xfrm>
          <a:prstGeom prst="rect">
            <a:avLst/>
          </a:prstGeom>
          <a:noFill/>
        </p:spPr>
        <p:txBody>
          <a:bodyPr wrap="square" rtlCol="0">
            <a:spAutoFit/>
          </a:bodyPr>
          <a:lstStyle/>
          <a:p>
            <a:r>
              <a:rPr lang="en-US" sz="2000" dirty="0">
                <a:latin typeface="Verdana" charset="0"/>
                <a:ea typeface="Verdana" charset="0"/>
                <a:cs typeface="Verdana" charset="0"/>
              </a:rPr>
              <a:t>Based on the chart, discuss with your partner whether a rectangle could be classified as a parallelogram. </a:t>
            </a:r>
          </a:p>
        </p:txBody>
      </p:sp>
      <p:sp>
        <p:nvSpPr>
          <p:cNvPr id="6" name="Text Box 24"/>
          <p:cNvSpPr txBox="1"/>
          <p:nvPr/>
        </p:nvSpPr>
        <p:spPr>
          <a:xfrm>
            <a:off x="1401278" y="1621744"/>
            <a:ext cx="6629400" cy="2493533"/>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6D9A3C"/>
                </a:solidFill>
                <a:latin typeface="Verdana" charset="0"/>
                <a:ea typeface="Verdana" charset="0"/>
                <a:cs typeface="Verdana" charset="0"/>
              </a:rPr>
              <a:t>	A </a:t>
            </a:r>
            <a:r>
              <a:rPr lang="en-US" sz="2000" b="1" i="1" dirty="0">
                <a:solidFill>
                  <a:srgbClr val="6D9A3C"/>
                </a:solidFill>
                <a:latin typeface="Verdana" charset="0"/>
                <a:ea typeface="Verdana" charset="0"/>
                <a:cs typeface="Verdana" charset="0"/>
              </a:rPr>
              <a:t>rectangle</a:t>
            </a:r>
            <a:r>
              <a:rPr lang="en-US" sz="2000" dirty="0">
                <a:solidFill>
                  <a:srgbClr val="6D9A3C"/>
                </a:solidFill>
                <a:latin typeface="Verdana" charset="0"/>
                <a:ea typeface="Verdana" charset="0"/>
                <a:cs typeface="Verdana" charset="0"/>
              </a:rPr>
              <a:t> is a quadrilateral that 	contains four right angles. Rectangles 	may be oblong or square. It’s a member 	of the following shape classes: polygons, 	quadrilaterals, trapezoids, 	parallelograms. Squares form a sub-	class.</a:t>
            </a:r>
          </a:p>
        </p:txBody>
      </p:sp>
      <p:pic>
        <p:nvPicPr>
          <p:cNvPr id="7" name="Picture 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34631" y="1861268"/>
            <a:ext cx="518433"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40731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638"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8289"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0063"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32927" y="520393"/>
                <a:ext cx="8327136" cy="400110"/>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r>
                      <a:rPr lang="en-US" sz="2000" i="1">
                        <a:latin typeface="Cambria Math" panose="02040503050406030204" pitchFamily="18" charset="0"/>
                        <a:ea typeface="Verdana" charset="0"/>
                        <a:cs typeface="Verdana" charset="0"/>
                      </a:rPr>
                      <m:t>𝑅𝑃𝑄𝐷</m:t>
                    </m:r>
                  </m:oMath>
                </a14:m>
                <a:r>
                  <a:rPr lang="en-US" sz="2000" dirty="0">
                    <a:latin typeface="Verdana" charset="0"/>
                    <a:ea typeface="Verdana" charset="0"/>
                    <a:cs typeface="Verdana" charset="0"/>
                  </a:rPr>
                  <a:t> is a rectangle.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32927" y="520393"/>
                <a:ext cx="8327136" cy="400110"/>
              </a:xfrm>
              <a:prstGeom prst="rect">
                <a:avLst/>
              </a:prstGeom>
              <a:blipFill>
                <a:blip r:embed="rId4"/>
                <a:stretch>
                  <a:fillRect l="-732" t="-7576" b="-25758"/>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135261" y="1134856"/>
            <a:ext cx="3657600" cy="1810512"/>
          </a:xfrm>
          <a:prstGeom prst="rect">
            <a:avLst/>
          </a:prstGeom>
        </p:spPr>
      </p:pic>
      <p:sp>
        <p:nvSpPr>
          <p:cNvPr id="7" name="Rectangle 6"/>
          <p:cNvSpPr/>
          <p:nvPr/>
        </p:nvSpPr>
        <p:spPr>
          <a:xfrm>
            <a:off x="900625" y="3058866"/>
            <a:ext cx="4301838" cy="400110"/>
          </a:xfrm>
          <a:prstGeom prst="rect">
            <a:avLst/>
          </a:prstGeom>
        </p:spPr>
        <p:txBody>
          <a:bodyPr wrap="square">
            <a:spAutoFit/>
          </a:bodyPr>
          <a:lstStyle/>
          <a:p>
            <a:r>
              <a:rPr lang="en-US" sz="2000" dirty="0">
                <a:latin typeface="Verdana" charset="0"/>
                <a:ea typeface="Verdana" charset="0"/>
                <a:cs typeface="Verdana" charset="0"/>
              </a:rPr>
              <a:t>Complete the statements.</a:t>
            </a:r>
            <a:endParaRPr lang="en-US" sz="2000" dirty="0"/>
          </a:p>
        </p:txBody>
      </p:sp>
      <mc:AlternateContent xmlns:mc="http://schemas.openxmlformats.org/markup-compatibility/2006" xmlns:a14="http://schemas.microsoft.com/office/drawing/2010/main">
        <mc:Choice Requires="a14">
          <p:sp>
            <p:nvSpPr>
              <p:cNvPr id="3" name="Rectangle 2"/>
              <p:cNvSpPr/>
              <p:nvPr/>
            </p:nvSpPr>
            <p:spPr>
              <a:xfrm>
                <a:off x="900625" y="3765692"/>
                <a:ext cx="7959438" cy="2246769"/>
              </a:xfrm>
              <a:prstGeom prst="rect">
                <a:avLst/>
              </a:prstGeom>
            </p:spPr>
            <p:txBody>
              <a:bodyPr wrap="square">
                <a:spAutoFit/>
              </a:bodyPr>
              <a:lstStyle/>
              <a:p>
                <a:r>
                  <a:rPr lang="en-US" sz="2000" dirty="0">
                    <a:latin typeface="Verdana" charset="0"/>
                    <a:ea typeface="Verdana" charset="0"/>
                    <a:cs typeface="Verdana" charset="0"/>
                  </a:rPr>
                  <a:t>It is given that </a:t>
                </a:r>
                <a14:m>
                  <m:oMath xmlns:m="http://schemas.openxmlformats.org/officeDocument/2006/math">
                    <m:r>
                      <a:rPr lang="en-US" sz="2000" i="1">
                        <a:latin typeface="Cambria Math" panose="02040503050406030204" pitchFamily="18" charset="0"/>
                        <a:ea typeface="Verdana" charset="0"/>
                        <a:cs typeface="Verdana" charset="0"/>
                      </a:rPr>
                      <m:t>𝑅𝑃𝑄𝐷</m:t>
                    </m:r>
                  </m:oMath>
                </a14:m>
                <a:r>
                  <a:rPr lang="en-US" sz="2000" dirty="0">
                    <a:latin typeface="Verdana" charset="0"/>
                    <a:ea typeface="Verdana" charset="0"/>
                    <a:cs typeface="Verdana" charset="0"/>
                  </a:rPr>
                  <a:t> is a rectangle. By the definition of a </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rectangle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𝑃</m:t>
                    </m:r>
                    <m:r>
                      <a:rPr lang="en-US" sz="2000" i="1">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𝑄</m:t>
                    </m:r>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and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oMath>
                </a14:m>
                <a:r>
                  <a:rPr lang="en-US" sz="2000" dirty="0">
                    <a:latin typeface="Verdana" charset="0"/>
                    <a:ea typeface="Verdana" charset="0"/>
                    <a:cs typeface="Verdana" charset="0"/>
                  </a:rPr>
                  <a:t> are all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which means that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𝑃</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𝑄</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900625" y="3765692"/>
                <a:ext cx="7959438" cy="2246769"/>
              </a:xfrm>
              <a:prstGeom prst="rect">
                <a:avLst/>
              </a:prstGeom>
              <a:blipFill>
                <a:blip r:embed="rId6"/>
                <a:stretch>
                  <a:fillRect l="-843" t="-1630" b="-4076"/>
                </a:stretch>
              </a:blipFill>
            </p:spPr>
            <p:txBody>
              <a:bodyPr/>
              <a:lstStyle/>
              <a:p>
                <a:r>
                  <a:rPr lang="en-US">
                    <a:noFill/>
                  </a:rPr>
                  <a:t> </a:t>
                </a:r>
              </a:p>
            </p:txBody>
          </p:sp>
        </mc:Fallback>
      </mc:AlternateContent>
      <p:pic>
        <p:nvPicPr>
          <p:cNvPr id="9" name="Picture 8"/>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456909" y="4153382"/>
            <a:ext cx="2483689" cy="1149856"/>
          </a:xfrm>
          <a:prstGeom prst="rect">
            <a:avLst/>
          </a:prstGeom>
        </p:spPr>
      </p:pic>
      <p:pic>
        <p:nvPicPr>
          <p:cNvPr id="10" name="Picture 9"/>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879443" y="5305492"/>
            <a:ext cx="1378673" cy="895109"/>
          </a:xfrm>
          <a:prstGeom prst="rect">
            <a:avLst/>
          </a:prstGeom>
        </p:spPr>
      </p:pic>
    </p:spTree>
    <p:extLst>
      <p:ext uri="{BB962C8B-B14F-4D97-AF65-F5344CB8AC3E}">
        <p14:creationId xmlns:p14="http://schemas.microsoft.com/office/powerpoint/2010/main" val="1894942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540565" y="122729"/>
                <a:ext cx="8327136" cy="3785652"/>
              </a:xfrm>
              <a:prstGeom prst="rect">
                <a:avLst/>
              </a:prstGeom>
              <a:noFill/>
            </p:spPr>
            <p:txBody>
              <a:bodyPr wrap="square" rtlCol="0">
                <a:spAutoFit/>
              </a:bodyPr>
              <a:lstStyle/>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Since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𝑃</m:t>
                    </m:r>
                    <m:r>
                      <a:rPr lang="en-US" sz="2000" i="1">
                        <a:latin typeface="Cambria Math" charset="0"/>
                        <a:ea typeface="Verdana" charset="0"/>
                        <a:cs typeface="Verdana" charset="0"/>
                      </a:rPr>
                      <m:t>+</m:t>
                    </m:r>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𝑄</m:t>
                    </m:r>
                    <m:r>
                      <a:rPr lang="en-US" sz="2000" i="1">
                        <a:latin typeface="Cambria Math" charset="0"/>
                        <a:ea typeface="Verdana" charset="0"/>
                        <a:cs typeface="Verdana" charset="0"/>
                      </a:rPr>
                      <m:t>=180°</m:t>
                    </m:r>
                  </m:oMath>
                </a14:m>
                <a:r>
                  <a:rPr lang="en-US" sz="2000" dirty="0">
                    <a:latin typeface="Verdana" charset="0"/>
                    <a:ea typeface="Verdana" charset="0"/>
                    <a:cs typeface="Verdana" charset="0"/>
                  </a:rPr>
                  <a:t> we can show that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and since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𝐷</m:t>
                    </m:r>
                    <m:r>
                      <a:rPr lang="en-US" sz="2000" i="1">
                        <a:latin typeface="Cambria Math" charset="0"/>
                        <a:ea typeface="Verdana" charset="0"/>
                        <a:cs typeface="Verdana" charset="0"/>
                      </a:rPr>
                      <m:t>+</m:t>
                    </m:r>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𝑄</m:t>
                    </m:r>
                    <m:r>
                      <a:rPr lang="en-US" sz="2000" i="1">
                        <a:latin typeface="Cambria Math" charset="0"/>
                        <a:ea typeface="Verdana" charset="0"/>
                        <a:cs typeface="Verdana" charset="0"/>
                      </a:rPr>
                      <m:t>=180°</m:t>
                    </m:r>
                  </m:oMath>
                </a14:m>
                <a:r>
                  <a:rPr lang="en-US" sz="2000" dirty="0">
                    <a:latin typeface="Verdana" charset="0"/>
                    <a:ea typeface="Verdana" charset="0"/>
                    <a:cs typeface="Verdana" charset="0"/>
                  </a:rPr>
                  <a:t> we can show that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by the converse of the  				      theorem.</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Therefore, </a:t>
                </a:r>
                <a14:m>
                  <m:oMath xmlns:m="http://schemas.openxmlformats.org/officeDocument/2006/math">
                    <m:r>
                      <a:rPr lang="en-US" sz="2000" i="1">
                        <a:latin typeface="Cambria Math" charset="0"/>
                        <a:ea typeface="Verdana" charset="0"/>
                        <a:cs typeface="Verdana" charset="0"/>
                      </a:rPr>
                      <m:t>𝑅𝑃𝑄𝐷</m:t>
                    </m:r>
                  </m:oMath>
                </a14:m>
                <a:r>
                  <a:rPr lang="en-US" sz="2000" dirty="0">
                    <a:latin typeface="Verdana" charset="0"/>
                    <a:ea typeface="Verdana" charset="0"/>
                    <a:cs typeface="Verdana" charset="0"/>
                  </a:rPr>
                  <a:t> is a                               by definition. </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122729"/>
                <a:ext cx="8327136" cy="3785652"/>
              </a:xfrm>
              <a:prstGeom prst="rect">
                <a:avLst/>
              </a:prstGeom>
              <a:blipFill>
                <a:blip r:embed="rId4"/>
                <a:stretch>
                  <a:fillRect l="-761" r="-152" b="-2007"/>
                </a:stretch>
              </a:blipFill>
            </p:spPr>
            <p:txBody>
              <a:bodyPr/>
              <a:lstStyle/>
              <a:p>
                <a:r>
                  <a:rPr lang="en-US">
                    <a:noFill/>
                  </a:rPr>
                  <a:t> </a:t>
                </a:r>
              </a:p>
            </p:txBody>
          </p:sp>
        </mc:Fallback>
      </mc:AlternateContent>
      <p:pic>
        <p:nvPicPr>
          <p:cNvPr id="4" name="Picture 3"/>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126455" y="541769"/>
            <a:ext cx="1818979" cy="934339"/>
          </a:xfrm>
          <a:prstGeom prst="rect">
            <a:avLst/>
          </a:prstGeom>
        </p:spPr>
      </p:pic>
      <p:pic>
        <p:nvPicPr>
          <p:cNvPr id="7" name="Picture 6"/>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328063" y="3275407"/>
            <a:ext cx="2627448" cy="982623"/>
          </a:xfrm>
          <a:prstGeom prst="rect">
            <a:avLst/>
          </a:prstGeom>
        </p:spPr>
      </p:pic>
      <p:pic>
        <p:nvPicPr>
          <p:cNvPr id="13" name="Picture 1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662572" y="1490449"/>
            <a:ext cx="1818979" cy="934339"/>
          </a:xfrm>
          <a:prstGeom prst="rect">
            <a:avLst/>
          </a:prstGeom>
        </p:spPr>
      </p:pic>
      <p:grpSp>
        <p:nvGrpSpPr>
          <p:cNvPr id="2" name="Group 1">
            <a:extLst>
              <a:ext uri="{FF2B5EF4-FFF2-40B4-BE49-F238E27FC236}">
                <a16:creationId xmlns:a16="http://schemas.microsoft.com/office/drawing/2014/main" id="{C4C3EED6-B4F5-F01A-CA02-950D111B560F}"/>
              </a:ext>
            </a:extLst>
          </p:cNvPr>
          <p:cNvGrpSpPr/>
          <p:nvPr/>
        </p:nvGrpSpPr>
        <p:grpSpPr>
          <a:xfrm>
            <a:off x="3596961" y="2481873"/>
            <a:ext cx="3975100" cy="697865"/>
            <a:chOff x="0" y="0"/>
            <a:chExt cx="3975397" cy="697865"/>
          </a:xfrm>
        </p:grpSpPr>
        <p:sp>
          <p:nvSpPr>
            <p:cNvPr id="3" name="Rounded Rectangle 2">
              <a:extLst>
                <a:ext uri="{FF2B5EF4-FFF2-40B4-BE49-F238E27FC236}">
                  <a16:creationId xmlns:a16="http://schemas.microsoft.com/office/drawing/2014/main" id="{C1417FBF-7994-54F2-888B-7BB4CEBD8DDB}"/>
                </a:ext>
              </a:extLst>
            </p:cNvPr>
            <p:cNvSpPr/>
            <p:nvPr/>
          </p:nvSpPr>
          <p:spPr>
            <a:xfrm>
              <a:off x="0" y="12700"/>
              <a:ext cx="3870960" cy="685165"/>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 name="Text Box 37">
              <a:extLst>
                <a:ext uri="{FF2B5EF4-FFF2-40B4-BE49-F238E27FC236}">
                  <a16:creationId xmlns:a16="http://schemas.microsoft.com/office/drawing/2014/main" id="{7A4D83AE-6E38-5629-0303-BABF46A9F2CB}"/>
                </a:ext>
              </a:extLst>
            </p:cNvPr>
            <p:cNvSpPr txBox="1"/>
            <p:nvPr/>
          </p:nvSpPr>
          <p:spPr>
            <a:xfrm>
              <a:off x="123487" y="0"/>
              <a:ext cx="3851910" cy="688340"/>
            </a:xfrm>
            <a:prstGeom prst="rect">
              <a:avLst/>
            </a:prstGeom>
            <a:noFill/>
            <a:ln>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342900" marR="0" lvl="0" indent="-342900">
                <a:spcBef>
                  <a:spcPts val="0"/>
                </a:spcBef>
                <a:spcAft>
                  <a:spcPts val="0"/>
                </a:spcAft>
                <a:buFont typeface="Courier New" panose="02070309020205020404" pitchFamily="49" charset="0"/>
                <a:buChar char="o"/>
              </a:pPr>
              <a:r>
                <a:rPr lang="en-US" sz="1800">
                  <a:effectLst/>
                  <a:latin typeface="Verdana" panose="020B0604030504040204" pitchFamily="34" charset="0"/>
                  <a:ea typeface="Times New Roman" panose="02020603050405020304" pitchFamily="18" charset="0"/>
                  <a:cs typeface="Times New Roman" panose="02020603050405020304" pitchFamily="18" charset="0"/>
                </a:rPr>
                <a:t>alternate interior angles</a:t>
              </a:r>
              <a:endParaRPr lang="en-US" sz="1200">
                <a:effectLst/>
                <a:ea typeface="Times New Roman" panose="02020603050405020304" pitchFamily="18" charset="0"/>
                <a:cs typeface="Times New Roman" panose="02020603050405020304" pitchFamily="18" charset="0"/>
              </a:endParaRPr>
            </a:p>
            <a:p>
              <a:pPr marL="342900" marR="0" lvl="0" indent="-342900">
                <a:spcBef>
                  <a:spcPts val="0"/>
                </a:spcBef>
                <a:spcAft>
                  <a:spcPts val="1000"/>
                </a:spcAft>
                <a:buFont typeface="Courier New" panose="02070309020205020404" pitchFamily="49" charset="0"/>
                <a:buChar char="o"/>
              </a:pPr>
              <a:r>
                <a:rPr lang="en-US" sz="1800">
                  <a:effectLst/>
                  <a:latin typeface="Verdana" panose="020B0604030504040204" pitchFamily="34" charset="0"/>
                  <a:ea typeface="Times New Roman" panose="02020603050405020304" pitchFamily="18" charset="0"/>
                  <a:cs typeface="Times New Roman" panose="02020603050405020304" pitchFamily="18" charset="0"/>
                </a:rPr>
                <a:t>consecutive interior angles </a:t>
              </a:r>
              <a:endParaRPr lang="en-US" sz="1200">
                <a:effectLst/>
                <a:ea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0705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p:spTree>
    <p:extLst>
      <p:ext uri="{BB962C8B-B14F-4D97-AF65-F5344CB8AC3E}">
        <p14:creationId xmlns:p14="http://schemas.microsoft.com/office/powerpoint/2010/main" val="1042272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7" y="-810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4147" y="-85854"/>
            <a:ext cx="1018412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8.3.4 Guided Instruction: More Special Parallelograms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6847" y="121410"/>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p:sp>
        <p:nvSpPr>
          <p:cNvPr id="8" name="Text Box 24"/>
          <p:cNvSpPr txBox="1"/>
          <p:nvPr/>
        </p:nvSpPr>
        <p:spPr>
          <a:xfrm>
            <a:off x="1390930" y="1613644"/>
            <a:ext cx="6629400" cy="2296330"/>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6D9A3C"/>
                </a:solidFill>
                <a:latin typeface="Verdana" charset="0"/>
                <a:ea typeface="Verdana" charset="0"/>
                <a:cs typeface="Verdana" charset="0"/>
              </a:rPr>
              <a:t>	A </a:t>
            </a:r>
            <a:r>
              <a:rPr lang="en-US" sz="2000" b="1" i="1" dirty="0">
                <a:solidFill>
                  <a:srgbClr val="6D9A3C"/>
                </a:solidFill>
                <a:latin typeface="Verdana" charset="0"/>
                <a:ea typeface="Verdana" charset="0"/>
                <a:cs typeface="Verdana" charset="0"/>
              </a:rPr>
              <a:t>square</a:t>
            </a:r>
            <a:r>
              <a:rPr lang="en-US" sz="2000" i="1" dirty="0">
                <a:solidFill>
                  <a:srgbClr val="6D9A3C"/>
                </a:solidFill>
                <a:latin typeface="Verdana" charset="0"/>
                <a:ea typeface="Verdana" charset="0"/>
                <a:cs typeface="Verdana" charset="0"/>
              </a:rPr>
              <a:t> </a:t>
            </a:r>
            <a:r>
              <a:rPr lang="en-US" sz="2000" dirty="0">
                <a:solidFill>
                  <a:srgbClr val="6D9A3C"/>
                </a:solidFill>
                <a:latin typeface="Verdana" charset="0"/>
                <a:ea typeface="Verdana" charset="0"/>
                <a:cs typeface="Verdana" charset="0"/>
              </a:rPr>
              <a:t>is a quadrilateral with four 	right angles and four equal-length sides. 	It’s a member of the following shape 	classes: polygons, quadrilaterals, 	trapezoids, parallelograms, rectangles, 	rhombi.</a:t>
            </a:r>
          </a:p>
        </p:txBody>
      </p:sp>
      <p:pic>
        <p:nvPicPr>
          <p:cNvPr id="10" name="Picture 9"/>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724283" y="1853168"/>
            <a:ext cx="518433"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880235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5"/>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9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6" y="528619"/>
                <a:ext cx="7541550" cy="1938992"/>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𝑇𝑅𝑁𝑋</m:t>
                    </m:r>
                  </m:oMath>
                </a14:m>
                <a:r>
                  <a:rPr lang="en-US" sz="2000" dirty="0">
                    <a:latin typeface="Verdana" charset="0"/>
                    <a:ea typeface="Verdana" charset="0"/>
                    <a:cs typeface="Verdana" charset="0"/>
                  </a:rPr>
                  <a:t> is a square with diagonals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𝑇𝑁</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𝑋𝑅</m:t>
                        </m:r>
                      </m:e>
                    </m:acc>
                  </m:oMath>
                </a14:m>
                <a:r>
                  <a:rPr lang="en-US" sz="2000" dirty="0">
                    <a:latin typeface="Verdana" charset="0"/>
                    <a:ea typeface="Verdana" charset="0"/>
                    <a:cs typeface="Verdana" charset="0"/>
                  </a:rPr>
                  <a:t> intersecting at point </a:t>
                </a:r>
                <a14:m>
                  <m:oMath xmlns:m="http://schemas.openxmlformats.org/officeDocument/2006/math">
                    <m:r>
                      <a:rPr lang="en-US" sz="2000" i="1">
                        <a:latin typeface="Cambria Math" panose="02040503050406030204" pitchFamily="18" charset="0"/>
                        <a:ea typeface="Verdana" charset="0"/>
                        <a:cs typeface="Verdana" charset="0"/>
                      </a:rPr>
                      <m:t>𝐴</m:t>
                    </m:r>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Use a ruler and a protractor to fill in the chart with the appropriate measurements. Include the units.</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6" y="528619"/>
                <a:ext cx="7541550" cy="1938992"/>
              </a:xfrm>
              <a:prstGeom prst="rect">
                <a:avLst/>
              </a:prstGeom>
              <a:blipFill>
                <a:blip r:embed="rId4"/>
                <a:stretch>
                  <a:fillRect l="-808" t="-1887" b="-4717"/>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237613" y="312086"/>
            <a:ext cx="3286311" cy="3116914"/>
          </a:xfrm>
          <a:prstGeom prst="rect">
            <a:avLst/>
          </a:prstGeom>
        </p:spPr>
      </p:pic>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556077218"/>
                  </p:ext>
                </p:extLst>
              </p:nvPr>
            </p:nvGraphicFramePr>
            <p:xfrm>
              <a:off x="2209883" y="3649328"/>
              <a:ext cx="7772233" cy="2596244"/>
            </p:xfrm>
            <a:graphic>
              <a:graphicData uri="http://schemas.openxmlformats.org/drawingml/2006/table">
                <a:tbl>
                  <a:tblPr firstRow="1" firstCol="1" bandRow="1"/>
                  <a:tblGrid>
                    <a:gridCol w="1744670">
                      <a:extLst>
                        <a:ext uri="{9D8B030D-6E8A-4147-A177-3AD203B41FA5}">
                          <a16:colId xmlns:a16="http://schemas.microsoft.com/office/drawing/2014/main" val="20000"/>
                        </a:ext>
                      </a:extLst>
                    </a:gridCol>
                    <a:gridCol w="1789995">
                      <a:extLst>
                        <a:ext uri="{9D8B030D-6E8A-4147-A177-3AD203B41FA5}">
                          <a16:colId xmlns:a16="http://schemas.microsoft.com/office/drawing/2014/main" val="20001"/>
                        </a:ext>
                      </a:extLst>
                    </a:gridCol>
                    <a:gridCol w="2446854">
                      <a:extLst>
                        <a:ext uri="{9D8B030D-6E8A-4147-A177-3AD203B41FA5}">
                          <a16:colId xmlns:a16="http://schemas.microsoft.com/office/drawing/2014/main" val="20002"/>
                        </a:ext>
                      </a:extLst>
                    </a:gridCol>
                    <a:gridCol w="1790714">
                      <a:extLst>
                        <a:ext uri="{9D8B030D-6E8A-4147-A177-3AD203B41FA5}">
                          <a16:colId xmlns:a16="http://schemas.microsoft.com/office/drawing/2014/main" val="20003"/>
                        </a:ext>
                      </a:extLst>
                    </a:gridCol>
                  </a:tblGrid>
                  <a:tr h="522846">
                    <a:tc>
                      <a:txBody>
                        <a:bodyPr/>
                        <a:lstStyle/>
                        <a:p>
                          <a:pPr marL="0" marR="0" algn="ctr">
                            <a:spcBef>
                              <a:spcPts val="0"/>
                            </a:spcBef>
                            <a:spcAft>
                              <a:spcPts val="0"/>
                            </a:spcAft>
                          </a:pPr>
                          <a:r>
                            <a:rPr lang="en-US" sz="2000" b="1">
                              <a:effectLst/>
                              <a:latin typeface="Verdana" charset="0"/>
                              <a:ea typeface="Verdana" charset="0"/>
                              <a:cs typeface="Verdana" charset="0"/>
                            </a:rPr>
                            <a:t>Segment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Measure</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a:effectLst/>
                              <a:latin typeface="Verdana" charset="0"/>
                              <a:ea typeface="Verdana" charset="0"/>
                              <a:cs typeface="Verdana" charset="0"/>
                            </a:rPr>
                            <a:t>Segment/Angle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Measure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extLst>
                      <a:ext uri="{0D108BD9-81ED-4DB2-BD59-A6C34878D82A}">
                        <a16:rowId xmlns:a16="http://schemas.microsoft.com/office/drawing/2014/main" val="10000"/>
                      </a:ext>
                    </a:extLst>
                  </a:tr>
                  <a:tr h="52284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𝑇𝑁</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𝑋𝐴</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2284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𝑋𝑅</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𝑅𝐴</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8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𝑇𝐴</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𝑋𝐴𝑇</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2284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𝑁𝐴</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𝑁𝐴𝑅</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556077218"/>
                  </p:ext>
                </p:extLst>
              </p:nvPr>
            </p:nvGraphicFramePr>
            <p:xfrm>
              <a:off x="2209883" y="3649328"/>
              <a:ext cx="7772233" cy="2596244"/>
            </p:xfrm>
            <a:graphic>
              <a:graphicData uri="http://schemas.openxmlformats.org/drawingml/2006/table">
                <a:tbl>
                  <a:tblPr firstRow="1" firstCol="1" bandRow="1"/>
                  <a:tblGrid>
                    <a:gridCol w="1744670">
                      <a:extLst>
                        <a:ext uri="{9D8B030D-6E8A-4147-A177-3AD203B41FA5}">
                          <a16:colId xmlns:a16="http://schemas.microsoft.com/office/drawing/2014/main" val="20000"/>
                        </a:ext>
                      </a:extLst>
                    </a:gridCol>
                    <a:gridCol w="1789995">
                      <a:extLst>
                        <a:ext uri="{9D8B030D-6E8A-4147-A177-3AD203B41FA5}">
                          <a16:colId xmlns:a16="http://schemas.microsoft.com/office/drawing/2014/main" val="20001"/>
                        </a:ext>
                      </a:extLst>
                    </a:gridCol>
                    <a:gridCol w="2446854">
                      <a:extLst>
                        <a:ext uri="{9D8B030D-6E8A-4147-A177-3AD203B41FA5}">
                          <a16:colId xmlns:a16="http://schemas.microsoft.com/office/drawing/2014/main" val="20002"/>
                        </a:ext>
                      </a:extLst>
                    </a:gridCol>
                    <a:gridCol w="1790714">
                      <a:extLst>
                        <a:ext uri="{9D8B030D-6E8A-4147-A177-3AD203B41FA5}">
                          <a16:colId xmlns:a16="http://schemas.microsoft.com/office/drawing/2014/main" val="20003"/>
                        </a:ext>
                      </a:extLst>
                    </a:gridCol>
                  </a:tblGrid>
                  <a:tr h="522846">
                    <a:tc>
                      <a:txBody>
                        <a:bodyPr/>
                        <a:lstStyle/>
                        <a:p>
                          <a:pPr marL="0" marR="0" algn="ctr">
                            <a:spcBef>
                              <a:spcPts val="0"/>
                            </a:spcBef>
                            <a:spcAft>
                              <a:spcPts val="0"/>
                            </a:spcAft>
                          </a:pPr>
                          <a:r>
                            <a:rPr lang="en-US" sz="2000" b="1">
                              <a:effectLst/>
                              <a:latin typeface="Verdana" charset="0"/>
                              <a:ea typeface="Verdana" charset="0"/>
                              <a:cs typeface="Verdana" charset="0"/>
                            </a:rPr>
                            <a:t>Segment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Measure</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a:effectLst/>
                              <a:latin typeface="Verdana" charset="0"/>
                              <a:ea typeface="Verdana" charset="0"/>
                              <a:cs typeface="Verdana" charset="0"/>
                            </a:rPr>
                            <a:t>Segment/Angle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Measure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extLst>
                      <a:ext uri="{0D108BD9-81ED-4DB2-BD59-A6C34878D82A}">
                        <a16:rowId xmlns:a16="http://schemas.microsoft.com/office/drawing/2014/main" val="10000"/>
                      </a:ext>
                    </a:extLst>
                  </a:tr>
                  <a:tr h="52284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50" t="-101163" r="-346853" b="-298837"/>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44527" t="-101163" r="-73632" b="-298837"/>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2284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50" t="-201163" r="-346853" b="-198837"/>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44527" t="-201163" r="-73632" b="-198837"/>
                          </a:stretch>
                        </a:blip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86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50" t="-312048" r="-346853" b="-106024"/>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44527" t="-312048" r="-73632" b="-106024"/>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2284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50" t="-397674" r="-346853" b="-2326"/>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44527" t="-397674" r="-73632" b="-2326"/>
                          </a:stretch>
                        </a:blip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257088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86966" y="520393"/>
            <a:ext cx="10514735" cy="707886"/>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Which of the following describe the diagonals of a square? Circle all that apply.</a:t>
            </a: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86965" y="1802087"/>
            <a:ext cx="7150100" cy="876300"/>
          </a:xfrm>
          <a:prstGeom prst="rect">
            <a:avLst/>
          </a:prstGeom>
        </p:spPr>
      </p:pic>
    </p:spTree>
    <p:extLst>
      <p:ext uri="{BB962C8B-B14F-4D97-AF65-F5344CB8AC3E}">
        <p14:creationId xmlns:p14="http://schemas.microsoft.com/office/powerpoint/2010/main" val="1822492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39669" y="520393"/>
            <a:ext cx="10357596" cy="400110"/>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List the features that determine if a parallelogram is a square.</a:t>
            </a:r>
          </a:p>
        </p:txBody>
      </p:sp>
      <p:sp>
        <p:nvSpPr>
          <p:cNvPr id="6" name="Text Box 24"/>
          <p:cNvSpPr txBox="1"/>
          <p:nvPr/>
        </p:nvSpPr>
        <p:spPr>
          <a:xfrm>
            <a:off x="1389433" y="1613519"/>
            <a:ext cx="6629400" cy="2296330"/>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6D9A3C"/>
                </a:solidFill>
                <a:latin typeface="Verdana" charset="0"/>
                <a:ea typeface="Verdana" charset="0"/>
                <a:cs typeface="Verdana" charset="0"/>
              </a:rPr>
              <a:t>	A </a:t>
            </a:r>
            <a:r>
              <a:rPr lang="en-US" sz="2000" b="1" i="1" dirty="0">
                <a:solidFill>
                  <a:srgbClr val="6D9A3C"/>
                </a:solidFill>
                <a:latin typeface="Verdana" charset="0"/>
                <a:ea typeface="Verdana" charset="0"/>
                <a:cs typeface="Verdana" charset="0"/>
              </a:rPr>
              <a:t>rhombus</a:t>
            </a:r>
            <a:r>
              <a:rPr lang="en-US" sz="2000" dirty="0">
                <a:solidFill>
                  <a:srgbClr val="6D9A3C"/>
                </a:solidFill>
                <a:latin typeface="Verdana" charset="0"/>
                <a:ea typeface="Verdana" charset="0"/>
                <a:cs typeface="Verdana" charset="0"/>
              </a:rPr>
              <a:t> is a quadrilateral containing 	four equal-length sides. It’s a member of 	the following shape classes: polygons, 	quadrilaterals, trapezoids, 	parallelograms. Squares form a sub-	class.</a:t>
            </a:r>
          </a:p>
        </p:txBody>
      </p:sp>
      <p:pic>
        <p:nvPicPr>
          <p:cNvPr id="7" name="Picture 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22786" y="1853043"/>
            <a:ext cx="518433"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156617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7718532" cy="1631216"/>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r>
                      <a:rPr lang="en-US" sz="2000" i="1">
                        <a:latin typeface="Cambria Math" panose="02040503050406030204" pitchFamily="18" charset="0"/>
                        <a:ea typeface="Verdana" charset="0"/>
                        <a:cs typeface="Verdana" charset="0"/>
                      </a:rPr>
                      <m:t>𝑌𝐷𝑊𝑍</m:t>
                    </m:r>
                  </m:oMath>
                </a14:m>
                <a:r>
                  <a:rPr lang="en-US" sz="2000" dirty="0">
                    <a:latin typeface="Verdana" charset="0"/>
                    <a:ea typeface="Verdana" charset="0"/>
                    <a:cs typeface="Verdana" charset="0"/>
                  </a:rPr>
                  <a:t> is a rhombus with diagonals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𝑌𝑊</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𝑍𝐷</m:t>
                        </m:r>
                      </m:e>
                    </m:acc>
                  </m:oMath>
                </a14:m>
                <a:r>
                  <a:rPr lang="en-US" sz="2000" dirty="0">
                    <a:latin typeface="Verdana" charset="0"/>
                    <a:ea typeface="Verdana" charset="0"/>
                    <a:cs typeface="Verdana" charset="0"/>
                  </a:rPr>
                  <a:t> intersecting at point </a:t>
                </a:r>
                <a14:m>
                  <m:oMath xmlns:m="http://schemas.openxmlformats.org/officeDocument/2006/math">
                    <m:r>
                      <a:rPr lang="en-US" sz="2000" i="1">
                        <a:latin typeface="Cambria Math" panose="02040503050406030204" pitchFamily="18" charset="0"/>
                        <a:ea typeface="Verdana" charset="0"/>
                        <a:cs typeface="Verdana" charset="0"/>
                      </a:rPr>
                      <m:t>𝐻</m:t>
                    </m:r>
                  </m:oMath>
                </a14:m>
                <a:r>
                  <a:rPr lang="en-US" sz="2000" dirty="0">
                    <a:latin typeface="Verdana" charset="0"/>
                    <a:ea typeface="Verdana" charset="0"/>
                    <a:cs typeface="Verdana" charset="0"/>
                  </a:rPr>
                  <a:t>.</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Use a ruler and a protractor to fill in the chart with the appropriate measurements. Include units.</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8618"/>
                <a:ext cx="7718532" cy="1631216"/>
              </a:xfrm>
              <a:prstGeom prst="rect">
                <a:avLst/>
              </a:prstGeom>
              <a:blipFill>
                <a:blip r:embed="rId4"/>
                <a:stretch>
                  <a:fillRect l="-790" t="-2247" r="-237" b="-59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702707072"/>
                  </p:ext>
                </p:extLst>
              </p:nvPr>
            </p:nvGraphicFramePr>
            <p:xfrm>
              <a:off x="2301144" y="3661291"/>
              <a:ext cx="7589711" cy="2796508"/>
            </p:xfrm>
            <a:graphic>
              <a:graphicData uri="http://schemas.openxmlformats.org/drawingml/2006/table">
                <a:tbl>
                  <a:tblPr firstRow="1" firstCol="1" bandRow="1"/>
                  <a:tblGrid>
                    <a:gridCol w="1702779">
                      <a:extLst>
                        <a:ext uri="{9D8B030D-6E8A-4147-A177-3AD203B41FA5}">
                          <a16:colId xmlns:a16="http://schemas.microsoft.com/office/drawing/2014/main" val="20000"/>
                        </a:ext>
                      </a:extLst>
                    </a:gridCol>
                    <a:gridCol w="1747089">
                      <a:extLst>
                        <a:ext uri="{9D8B030D-6E8A-4147-A177-3AD203B41FA5}">
                          <a16:colId xmlns:a16="http://schemas.microsoft.com/office/drawing/2014/main" val="20001"/>
                        </a:ext>
                      </a:extLst>
                    </a:gridCol>
                    <a:gridCol w="2392050">
                      <a:extLst>
                        <a:ext uri="{9D8B030D-6E8A-4147-A177-3AD203B41FA5}">
                          <a16:colId xmlns:a16="http://schemas.microsoft.com/office/drawing/2014/main" val="20002"/>
                        </a:ext>
                      </a:extLst>
                    </a:gridCol>
                    <a:gridCol w="1747793">
                      <a:extLst>
                        <a:ext uri="{9D8B030D-6E8A-4147-A177-3AD203B41FA5}">
                          <a16:colId xmlns:a16="http://schemas.microsoft.com/office/drawing/2014/main" val="20003"/>
                        </a:ext>
                      </a:extLst>
                    </a:gridCol>
                  </a:tblGrid>
                  <a:tr h="563215">
                    <a:tc>
                      <a:txBody>
                        <a:bodyPr/>
                        <a:lstStyle/>
                        <a:p>
                          <a:pPr marL="0" marR="0" algn="ctr">
                            <a:spcBef>
                              <a:spcPts val="0"/>
                            </a:spcBef>
                            <a:spcAft>
                              <a:spcPts val="0"/>
                            </a:spcAft>
                          </a:pPr>
                          <a:r>
                            <a:rPr lang="en-US" sz="2000" b="1">
                              <a:effectLst/>
                              <a:latin typeface="Verdana" charset="0"/>
                              <a:ea typeface="Verdana" charset="0"/>
                              <a:cs typeface="Verdana" charset="0"/>
                            </a:rPr>
                            <a:t>Segment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Measure</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Segment/Angle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Measure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6321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𝑌𝑊</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𝑍𝐻</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321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𝑍𝐷</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𝐷𝐻</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364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𝑌𝐻</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𝑍𝐻𝑊</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321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𝑊𝐻</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𝑌𝐻𝐷</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702707072"/>
                  </p:ext>
                </p:extLst>
              </p:nvPr>
            </p:nvGraphicFramePr>
            <p:xfrm>
              <a:off x="2301144" y="3661291"/>
              <a:ext cx="7589711" cy="2796508"/>
            </p:xfrm>
            <a:graphic>
              <a:graphicData uri="http://schemas.openxmlformats.org/drawingml/2006/table">
                <a:tbl>
                  <a:tblPr firstRow="1" firstCol="1" bandRow="1"/>
                  <a:tblGrid>
                    <a:gridCol w="1702779">
                      <a:extLst>
                        <a:ext uri="{9D8B030D-6E8A-4147-A177-3AD203B41FA5}">
                          <a16:colId xmlns:a16="http://schemas.microsoft.com/office/drawing/2014/main" val="20000"/>
                        </a:ext>
                      </a:extLst>
                    </a:gridCol>
                    <a:gridCol w="1747089">
                      <a:extLst>
                        <a:ext uri="{9D8B030D-6E8A-4147-A177-3AD203B41FA5}">
                          <a16:colId xmlns:a16="http://schemas.microsoft.com/office/drawing/2014/main" val="20001"/>
                        </a:ext>
                      </a:extLst>
                    </a:gridCol>
                    <a:gridCol w="2392050">
                      <a:extLst>
                        <a:ext uri="{9D8B030D-6E8A-4147-A177-3AD203B41FA5}">
                          <a16:colId xmlns:a16="http://schemas.microsoft.com/office/drawing/2014/main" val="20002"/>
                        </a:ext>
                      </a:extLst>
                    </a:gridCol>
                    <a:gridCol w="1747793">
                      <a:extLst>
                        <a:ext uri="{9D8B030D-6E8A-4147-A177-3AD203B41FA5}">
                          <a16:colId xmlns:a16="http://schemas.microsoft.com/office/drawing/2014/main" val="20003"/>
                        </a:ext>
                      </a:extLst>
                    </a:gridCol>
                  </a:tblGrid>
                  <a:tr h="563215">
                    <a:tc>
                      <a:txBody>
                        <a:bodyPr/>
                        <a:lstStyle/>
                        <a:p>
                          <a:pPr marL="0" marR="0" algn="ctr">
                            <a:spcBef>
                              <a:spcPts val="0"/>
                            </a:spcBef>
                            <a:spcAft>
                              <a:spcPts val="0"/>
                            </a:spcAft>
                          </a:pPr>
                          <a:r>
                            <a:rPr lang="en-US" sz="2000" b="1">
                              <a:effectLst/>
                              <a:latin typeface="Verdana" charset="0"/>
                              <a:ea typeface="Verdana" charset="0"/>
                              <a:cs typeface="Verdana" charset="0"/>
                            </a:rPr>
                            <a:t>Segment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Measure</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Segment/Angle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Measure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6321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7" t="-102174" r="-345714" b="-301087"/>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44275" t="-102174" r="-73537" b="-301087"/>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321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7" t="-200000" r="-345714" b="-197849"/>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44275" t="-200000" r="-73537" b="-197849"/>
                          </a:stretch>
                        </a:blipFill>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364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7" t="-313483" r="-345714" b="-106742"/>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44275" t="-313483" r="-73537" b="-106742"/>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321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7" t="-395699" r="-345714" b="-2151"/>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44275" t="-395699" r="-73537" b="-2151"/>
                          </a:stretch>
                        </a:blipFill>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pic>
        <p:nvPicPr>
          <p:cNvPr id="3" name="Picture 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8889924" y="444540"/>
            <a:ext cx="2082800" cy="2946400"/>
          </a:xfrm>
          <a:prstGeom prst="rect">
            <a:avLst/>
          </a:prstGeom>
        </p:spPr>
      </p:pic>
    </p:spTree>
    <p:extLst>
      <p:ext uri="{BB962C8B-B14F-4D97-AF65-F5344CB8AC3E}">
        <p14:creationId xmlns:p14="http://schemas.microsoft.com/office/powerpoint/2010/main" val="1830361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39669" y="528619"/>
            <a:ext cx="10562032" cy="4708981"/>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Which of the following describe the diagonals of a rhombus? Select all that apply.</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List the features that determine if a parallelogram is a rhombus. </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What are the differences between a square and a rhombus?</a:t>
            </a:r>
          </a:p>
          <a:p>
            <a:pPr marL="457200" indent="-457200">
              <a:buFont typeface="+mj-lt"/>
              <a:buAutoNum type="alphaLcPeriod" startAt="2"/>
            </a:pPr>
            <a:endParaRPr lang="en-US" sz="2000" dirty="0">
              <a:latin typeface="Verdana" charset="0"/>
              <a:ea typeface="Verdana" charset="0"/>
              <a:cs typeface="Verdana"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645635" y="1291236"/>
            <a:ext cx="7150100" cy="1193800"/>
          </a:xfrm>
          <a:prstGeom prst="rect">
            <a:avLst/>
          </a:prstGeom>
        </p:spPr>
      </p:pic>
    </p:spTree>
    <p:extLst>
      <p:ext uri="{BB962C8B-B14F-4D97-AF65-F5344CB8AC3E}">
        <p14:creationId xmlns:p14="http://schemas.microsoft.com/office/powerpoint/2010/main" val="689403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4" y="520394"/>
            <a:ext cx="10983359" cy="1015663"/>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Use the numbered statements in the box to fill in the Venn diagram comparing rectangles, squares, and rhombi.</a:t>
            </a:r>
          </a:p>
          <a:p>
            <a:pPr marL="457200" indent="-457200">
              <a:buFont typeface="+mj-lt"/>
              <a:buAutoNum type="arabicPeriod" startAt="3"/>
            </a:pPr>
            <a:endParaRPr lang="en-US" sz="2000" dirty="0">
              <a:latin typeface="Verdana" charset="0"/>
              <a:ea typeface="Verdana" charset="0"/>
              <a:cs typeface="Verdana"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90983" y="1536057"/>
            <a:ext cx="7226300" cy="4089400"/>
          </a:xfrm>
          <a:prstGeom prst="rect">
            <a:avLst/>
          </a:prstGeom>
        </p:spPr>
      </p:pic>
    </p:spTree>
    <p:extLst>
      <p:ext uri="{BB962C8B-B14F-4D97-AF65-F5344CB8AC3E}">
        <p14:creationId xmlns:p14="http://schemas.microsoft.com/office/powerpoint/2010/main" val="90281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24</a:t>
            </a:r>
          </a:p>
        </p:txBody>
      </p:sp>
      <p:pic>
        <p:nvPicPr>
          <p:cNvPr id="6" name="Picture 5"/>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207684" y="758386"/>
            <a:ext cx="6842466" cy="5349328"/>
          </a:xfrm>
          <a:prstGeom prst="rect">
            <a:avLst/>
          </a:prstGeom>
        </p:spPr>
      </p:pic>
    </p:spTree>
    <p:extLst>
      <p:ext uri="{BB962C8B-B14F-4D97-AF65-F5344CB8AC3E}">
        <p14:creationId xmlns:p14="http://schemas.microsoft.com/office/powerpoint/2010/main" val="1533440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24</a:t>
            </a: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505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777"/>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4916"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08956" y="0"/>
            <a:ext cx="1011132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8.3.5 Bring It Together: Which Special Parallelogram Is It?</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76690"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24</a:t>
            </a:r>
          </a:p>
        </p:txBody>
      </p:sp>
      <p:sp>
        <p:nvSpPr>
          <p:cNvPr id="8" name="TextBox 7">
            <a:extLst>
              <a:ext uri="{FF2B5EF4-FFF2-40B4-BE49-F238E27FC236}">
                <a16:creationId xmlns:a16="http://schemas.microsoft.com/office/drawing/2014/main" id="{669E00F9-F39F-5043-888E-B0A2D8C9AE0F}"/>
              </a:ext>
            </a:extLst>
          </p:cNvPr>
          <p:cNvSpPr txBox="1"/>
          <p:nvPr/>
        </p:nvSpPr>
        <p:spPr>
          <a:xfrm>
            <a:off x="549554" y="1398852"/>
            <a:ext cx="11065362" cy="347787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Explain how to show a parallelogram is a rectangle but not a rhombus or a square.</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Explain how to show a parallelogram is a rhombus but not a square or a rectangle.</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Explain how to show a parallelogram is a square</a:t>
            </a:r>
            <a:r>
              <a:rPr lang="en-US" sz="2000">
                <a:latin typeface="Verdana" charset="0"/>
                <a:ea typeface="Verdana" charset="0"/>
                <a:cs typeface="Verdana" charset="0"/>
              </a:rPr>
              <a:t>. </a:t>
            </a:r>
            <a:endParaRPr lang="en-US" sz="2000" dirty="0">
              <a:latin typeface="Verdana" charset="0"/>
              <a:ea typeface="Verdana" charset="0"/>
              <a:cs typeface="Verdana" charset="0"/>
            </a:endParaRPr>
          </a:p>
        </p:txBody>
      </p:sp>
      <p:pic>
        <p:nvPicPr>
          <p:cNvPr id="10" name="Picture 2" descr="Icon&#10;&#10;Description automatically generated">
            <a:extLst>
              <a:ext uri="{FF2B5EF4-FFF2-40B4-BE49-F238E27FC236}">
                <a16:creationId xmlns:a16="http://schemas.microsoft.com/office/drawing/2014/main" id="{649008E9-40B8-C74A-99EE-3168B937C19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7234" y="11290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8538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25</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60526"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25</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8752"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8.3.6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3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93248" y="1386025"/>
            <a:ext cx="10901278" cy="501675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Plot a point on the grid to indicate your level of interest and how much sense you made of today’s learning targets.</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Explain why you placed the point where you did.</a:t>
            </a: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86142" y="2159876"/>
            <a:ext cx="4341349" cy="3778907"/>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1294</TotalTime>
  <Words>1298</Words>
  <Application>Microsoft Macintosh PowerPoint</Application>
  <PresentationFormat>Widescreen</PresentationFormat>
  <Paragraphs>338</Paragraphs>
  <Slides>31</Slides>
  <Notes>31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Arial</vt:lpstr>
      <vt:lpstr>Arial Black</vt:lpstr>
      <vt:lpstr>Calibri</vt:lpstr>
      <vt:lpstr>Cambria</vt:lpstr>
      <vt:lpstr>Cambria Math</vt:lpstr>
      <vt:lpstr>Century Gothic</vt:lpstr>
      <vt:lpstr>Courier New</vt:lpstr>
      <vt:lpstr>Verdana</vt:lpstr>
      <vt:lpstr>Wingdings</vt:lpstr>
      <vt:lpstr>1_Office Theme</vt:lpstr>
      <vt:lpstr>Geometry  Unit 8, Lesson 3  Special Parallelograms  Volume 2, pg. 19  </vt:lpstr>
      <vt:lpstr>Benchmarks</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28</cp:revision>
  <dcterms:created xsi:type="dcterms:W3CDTF">2015-03-17T18:51:18Z</dcterms:created>
  <dcterms:modified xsi:type="dcterms:W3CDTF">2023-03-02T16:34:31Z</dcterms:modified>
</cp:coreProperties>
</file>