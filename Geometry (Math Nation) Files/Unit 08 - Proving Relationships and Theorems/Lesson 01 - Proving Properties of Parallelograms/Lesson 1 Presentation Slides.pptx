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 bookmarkIdSeed="2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52" r:id="rId10"/>
    <p:sldId id="311" r:id="rId11"/>
    <p:sldId id="312" r:id="rId12"/>
    <p:sldId id="353" r:id="rId13"/>
    <p:sldId id="362" r:id="rId14"/>
    <p:sldId id="363" r:id="rId15"/>
    <p:sldId id="365" r:id="rId16"/>
    <p:sldId id="372" r:id="rId17"/>
    <p:sldId id="373" r:id="rId18"/>
    <p:sldId id="374" r:id="rId19"/>
    <p:sldId id="366" r:id="rId20"/>
    <p:sldId id="367" r:id="rId21"/>
    <p:sldId id="368" r:id="rId22"/>
    <p:sldId id="369" r:id="rId23"/>
    <p:sldId id="370" r:id="rId24"/>
    <p:sldId id="371" r:id="rId25"/>
    <p:sldId id="375" r:id="rId26"/>
    <p:sldId id="306" r:id="rId27"/>
    <p:sldId id="307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9A3D"/>
    <a:srgbClr val="79B0DD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/>
    <p:restoredTop sz="94694"/>
  </p:normalViewPr>
  <p:slideViewPr>
    <p:cSldViewPr snapToGrid="0">
      <p:cViewPr varScale="1">
        <p:scale>
          <a:sx n="117" d="100"/>
          <a:sy n="117" d="100"/>
        </p:scale>
        <p:origin x="116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6107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5612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4184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20906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33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1302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26649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08785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10778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4592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93754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36227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84392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70818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0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Proving Properties of Parallelograms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144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9531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MA.912.GR.1.4 </a:t>
            </a:r>
          </a:p>
          <a:p>
            <a:pPr marL="4635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relationships and theorems about parallelograms. Solve mathematical and real-world problems involving postulates, relationships, and theorems of parallelograms.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MA.912.LT.4.10 </a:t>
            </a:r>
          </a:p>
          <a:p>
            <a:pPr marL="4635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Judge the validity of arguments and give counterexamples to disprove statements.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667"/>
            <a:ext cx="882996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7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7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608425"/>
            <a:ext cx="110575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define a parallelogram. 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prove opposite sides and opposite angles of a parallelogram are congruent.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prove consecutive angles of a parallelogram are supplementary.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prove diagonals of a parallelogram bisect each other.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642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6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8.1.1 Warm-Up: Cartographer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7820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1064" y="1386026"/>
            <a:ext cx="109611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Dave Imus is a cartographer whose maps have won many awards. Dave sees the world through understanding places. Dave’s maps are considered art.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457200" lvl="3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Have you ever used a paper map?</a:t>
            </a:r>
          </a:p>
          <a:p>
            <a:pPr marL="457200" lvl="3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Since you can’t put everything on a map, what three places do you think should be on the map of Florida?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8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6276" y="60325"/>
            <a:ext cx="1021149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8.1.2 Collaboration: Parallel Lines and Four-Sided Figures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8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6468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96874" y="1386026"/>
            <a:ext cx="109270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6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On a piece of patty paper, draw one set of parallel lines. Overlap your patty paper with a partner’s parallel lines to create an enclosed figure. Each partner should trace the enclosed shape onto a new piece of patty paper. 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28688" lvl="7" indent="-52705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Classify the enclosed shape. </a:t>
            </a:r>
          </a:p>
          <a:p>
            <a:pPr marL="928688" lvl="7" indent="-52705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7" indent="-52705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7" indent="-52705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7" indent="-52705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7" indent="-52705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Justify your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57949" y="513021"/>
            <a:ext cx="10565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Ask two classmates how they classified the figure they created. Record their classification and write your summary of their justification. </a:t>
            </a:r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You are the only person who should write in the first two columns of the table.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Have the person initial next to your summary stating that your summary was correct.</a:t>
            </a:r>
            <a:endParaRPr lang="en-US" dirty="0">
              <a:latin typeface="Verdana" charset="0"/>
              <a:ea typeface="Verdana" charset="0"/>
              <a:cs typeface="Verdana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692519"/>
              </p:ext>
            </p:extLst>
          </p:nvPr>
        </p:nvGraphicFramePr>
        <p:xfrm>
          <a:off x="1454928" y="2217236"/>
          <a:ext cx="9572015" cy="3106931"/>
        </p:xfrm>
        <a:graphic>
          <a:graphicData uri="http://schemas.openxmlformats.org/drawingml/2006/table">
            <a:tbl>
              <a:tblPr bandRow="1"/>
              <a:tblGrid>
                <a:gridCol w="2654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14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Classification</a:t>
                      </a:r>
                      <a:endParaRPr lang="en-US" sz="23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4301" marR="743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My Summary of Their Justification</a:t>
                      </a:r>
                      <a:r>
                        <a:rPr lang="en-US" sz="23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    </a:t>
                      </a:r>
                    </a:p>
                  </a:txBody>
                  <a:tcPr marL="74301" marR="743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Initials</a:t>
                      </a:r>
                      <a:endParaRPr lang="en-US" sz="23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4301" marR="743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26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4301" marR="743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4301" marR="743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4301" marR="743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2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4301" marR="743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4301" marR="743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4301" marR="743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819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6542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555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0733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8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485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303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9761" y="52100"/>
            <a:ext cx="973605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8.1.3 Exploration: Properties of Parallelograms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7481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8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463" y="30022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47676" y="4090378"/>
            <a:ext cx="109611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3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Using a ruler, measure the pairs of opposite sides in each parallelogram you and your partner created.      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28688" lvl="4" indent="-4953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notice?</a:t>
            </a:r>
          </a:p>
          <a:p>
            <a:pPr marL="928688" lvl="4" indent="-4953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4953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Make a conjecture about the measures of opposite sides of a parallelogram. </a:t>
            </a:r>
          </a:p>
        </p:txBody>
      </p:sp>
      <p:sp>
        <p:nvSpPr>
          <p:cNvPr id="9" name="Text Box 24"/>
          <p:cNvSpPr txBox="1"/>
          <p:nvPr/>
        </p:nvSpPr>
        <p:spPr>
          <a:xfrm>
            <a:off x="1396181" y="1492032"/>
            <a:ext cx="9065922" cy="1938993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	A quadrilateral containing two pairs of parallel sides is a		</a:t>
            </a:r>
            <a:r>
              <a:rPr lang="en-US" sz="2000" b="1" i="1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parallelogram</a:t>
            </a:r>
            <a:r>
              <a:rPr lang="en-US" sz="2000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. A member of the following shape classes:	polygons, quadrilaterals, trapezoids. Sub-classes include		rectangles, rhombi, and squares.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9897" y="1844818"/>
            <a:ext cx="518433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394"/>
            <a:ext cx="109611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Using a ruler, draw the diagonals of one of the parallelograms. 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28688" lvl="4" indent="-511175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Determine the lengths of each diagonal. </a:t>
            </a: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511175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Mark the point where the two diagonals intersect.</a:t>
            </a:r>
          </a:p>
        </p:txBody>
      </p:sp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71200" y="528618"/>
            <a:ext cx="1063472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4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point of intersection and its relationship to each diagonal?</a:t>
            </a: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4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4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4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4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4" indent="-447675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d. 	Repeat the same steps to draw and measure the diagonals in your second parallelogram. </a:t>
            </a:r>
          </a:p>
          <a:p>
            <a:pPr marL="457200" lvl="4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4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4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4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4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 startAt="5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Make a conjecture about the diagonals of a parallelogram. </a:t>
            </a:r>
          </a:p>
        </p:txBody>
      </p:sp>
    </p:spTree>
    <p:extLst>
      <p:ext uri="{BB962C8B-B14F-4D97-AF65-F5344CB8AC3E}">
        <p14:creationId xmlns:p14="http://schemas.microsoft.com/office/powerpoint/2010/main" val="341872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394"/>
            <a:ext cx="1096113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Using a protractor, measure the pairs of opposite interior angles of your parallelograms. 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28688" lvl="4" indent="-511175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notice?</a:t>
            </a: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511175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Make a conjecture about the measures of opposite angles of a parallelogram. </a:t>
            </a: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8688" lvl="4" indent="-511175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Make a conjecture about the measures of consecutive angles of a parallelogram. </a:t>
            </a:r>
          </a:p>
          <a:p>
            <a:pPr marL="928688" lvl="4" indent="-511175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40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393"/>
            <a:ext cx="109611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Based on your conjectures, select all of the statements about a parallelogram that are true. </a:t>
            </a:r>
          </a:p>
          <a:p>
            <a:pPr lvl="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   </a:t>
            </a:r>
          </a:p>
          <a:p>
            <a:pPr marL="866775" indent="-371475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parallelogram has only one set of opposite parallel sides.</a:t>
            </a:r>
          </a:p>
          <a:p>
            <a:pPr marL="866775" indent="-371475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parallelogram has two sets of opposite parallel sides.</a:t>
            </a:r>
          </a:p>
          <a:p>
            <a:pPr marL="866775" indent="-371475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parallelogram has only one set of opposite congruent sides.</a:t>
            </a:r>
          </a:p>
          <a:p>
            <a:pPr marL="866775" indent="-371475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parallelogram has two sets of opposite congruent sides.</a:t>
            </a:r>
          </a:p>
          <a:p>
            <a:pPr marL="866775" indent="-371475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Consecutive angles of a parallelogram are congruent.</a:t>
            </a:r>
          </a:p>
          <a:p>
            <a:pPr marL="866775" indent="-371475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Consecutive angles of a parallelogram are supplementary.</a:t>
            </a:r>
          </a:p>
          <a:p>
            <a:pPr marL="866775" indent="-371475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Opposite angles of a parallelogram are congruent.</a:t>
            </a:r>
          </a:p>
          <a:p>
            <a:pPr marL="866775" indent="-371475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Opposite angles of a parallelogram are supplementary.</a:t>
            </a:r>
          </a:p>
          <a:p>
            <a:pPr marL="866775" indent="-371475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Diagonals of a parallelogram bisect each other.</a:t>
            </a:r>
          </a:p>
        </p:txBody>
      </p:sp>
    </p:spTree>
    <p:extLst>
      <p:ext uri="{BB962C8B-B14F-4D97-AF65-F5344CB8AC3E}">
        <p14:creationId xmlns:p14="http://schemas.microsoft.com/office/powerpoint/2010/main" val="1573336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7567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8132" y="528619"/>
            <a:ext cx="109757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For each true statement in the previous problem, draw and name a parallelogram. Using the information in the statement, mark the diagram and write a mathematical statement. The first row has been completed.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79303"/>
                  </p:ext>
                </p:extLst>
              </p:nvPr>
            </p:nvGraphicFramePr>
            <p:xfrm>
              <a:off x="1280404" y="1727599"/>
              <a:ext cx="9298109" cy="4546882"/>
            </p:xfrm>
            <a:graphic>
              <a:graphicData uri="http://schemas.openxmlformats.org/drawingml/2006/table">
                <a:tbl>
                  <a:tblPr bandRow="1"/>
                  <a:tblGrid>
                    <a:gridCol w="29246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387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3473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028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Drawing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Given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51446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 parallelogram has two sets of opposite parallel sides.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𝐴𝐷</m:t>
                                    </m:r>
                                  </m:e>
                                </m:acc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∥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𝐵𝐶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𝐴𝐵</m:t>
                                    </m:r>
                                  </m:e>
                                </m:acc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∥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𝐷𝐶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    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0867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   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    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0867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892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79303"/>
                  </p:ext>
                </p:extLst>
              </p:nvPr>
            </p:nvGraphicFramePr>
            <p:xfrm>
              <a:off x="1280404" y="1727599"/>
              <a:ext cx="9298109" cy="4546882"/>
            </p:xfrm>
            <a:graphic>
              <a:graphicData uri="http://schemas.openxmlformats.org/drawingml/2006/table">
                <a:tbl>
                  <a:tblPr bandRow="1"/>
                  <a:tblGrid>
                    <a:gridCol w="29246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387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3473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Drawing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Given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524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 parallelogram has two sets of opposite parallel sides.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0312" t="-25200" r="-445" b="-1796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   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    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892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5342" marR="5534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049" name="Picture 14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8172" y="2170082"/>
            <a:ext cx="2768600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23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394"/>
            <a:ext cx="110653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Venn diagram shows the properties of a parallelogram and another quadrilateral called a kite. Discuss with your partner why a kite is not considered a parallelogram.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4088" y="1536057"/>
            <a:ext cx="6683824" cy="436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5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10</a:t>
            </a:r>
          </a:p>
        </p:txBody>
      </p:sp>
      <p:sp>
        <p:nvSpPr>
          <p:cNvPr id="6" name="Text Box 24"/>
          <p:cNvSpPr txBox="1"/>
          <p:nvPr/>
        </p:nvSpPr>
        <p:spPr>
          <a:xfrm>
            <a:off x="1241540" y="852291"/>
            <a:ext cx="9672265" cy="3645968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Verdana" charset="0"/>
                <a:ea typeface="Verdana" charset="0"/>
                <a:cs typeface="Verdana" charset="0"/>
              </a:rPr>
              <a:t>	</a:t>
            </a:r>
            <a:r>
              <a:rPr lang="en-US" sz="2400" b="1" dirty="0">
                <a:solidFill>
                  <a:srgbClr val="0070C0"/>
                </a:solidFill>
                <a:latin typeface="Verdana" charset="0"/>
                <a:ea typeface="Verdana" charset="0"/>
                <a:cs typeface="Verdana" charset="0"/>
              </a:rPr>
              <a:t>Properties of Parallelograms</a:t>
            </a:r>
            <a:endParaRPr lang="en-US" sz="2400" dirty="0">
              <a:solidFill>
                <a:srgbClr val="0070C0"/>
              </a:solidFill>
              <a:latin typeface="Verdana" charset="0"/>
              <a:ea typeface="Verdana" charset="0"/>
              <a:cs typeface="Verdana" charset="0"/>
            </a:endParaRPr>
          </a:p>
          <a:p>
            <a:pPr marL="1377950" indent="-481013">
              <a:buFont typeface="Arial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Verdana" charset="0"/>
                <a:ea typeface="Verdana" charset="0"/>
                <a:cs typeface="Verdana" charset="0"/>
              </a:rPr>
              <a:t>Opposite sides of a parallelogram are congruent.</a:t>
            </a:r>
          </a:p>
          <a:p>
            <a:pPr marL="1377950" indent="-481013">
              <a:buFont typeface="Arial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Verdana" charset="0"/>
                <a:ea typeface="Verdana" charset="0"/>
                <a:cs typeface="Verdana" charset="0"/>
              </a:rPr>
              <a:t>Opposite angles of a parallelogram are congruent.</a:t>
            </a:r>
          </a:p>
          <a:p>
            <a:pPr marL="1377950" indent="-481013">
              <a:buFont typeface="Arial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Verdana" charset="0"/>
                <a:ea typeface="Verdana" charset="0"/>
                <a:cs typeface="Verdana" charset="0"/>
              </a:rPr>
              <a:t>Consecutive interior angles of a parallelogram are supplementary.</a:t>
            </a:r>
          </a:p>
          <a:p>
            <a:pPr marL="1377950" indent="-481013">
              <a:buFont typeface="Arial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Verdana" charset="0"/>
                <a:ea typeface="Verdana" charset="0"/>
                <a:cs typeface="Verdana" charset="0"/>
              </a:rPr>
              <a:t>The diagonals of a parallelogram bisect </a:t>
            </a:r>
            <a:br>
              <a:rPr lang="en-US" sz="2400" dirty="0">
                <a:solidFill>
                  <a:srgbClr val="0070C0"/>
                </a:solidFill>
                <a:latin typeface="Verdana" charset="0"/>
                <a:ea typeface="Verdana" charset="0"/>
                <a:cs typeface="Verdana" charset="0"/>
              </a:rPr>
            </a:br>
            <a:r>
              <a:rPr lang="en-US" sz="2400" dirty="0">
                <a:solidFill>
                  <a:srgbClr val="0070C0"/>
                </a:solidFill>
                <a:latin typeface="Verdana" charset="0"/>
                <a:ea typeface="Verdana" charset="0"/>
                <a:cs typeface="Verdana" charset="0"/>
              </a:rPr>
              <a:t>each other.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5553" y="1331906"/>
            <a:ext cx="702252" cy="68647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1765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11</a:t>
            </a:r>
          </a:p>
        </p:txBody>
      </p:sp>
    </p:spTree>
    <p:extLst>
      <p:ext uri="{BB962C8B-B14F-4D97-AF65-F5344CB8AC3E}">
        <p14:creationId xmlns:p14="http://schemas.microsoft.com/office/powerpoint/2010/main" val="740513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85979"/>
            <a:ext cx="104712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8.1.4 Guided Instruction: Proofs with Parallelograms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7" y="1386025"/>
                <a:ext cx="10792507" cy="5017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3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𝑀𝑅𝑃𝑆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</a:t>
                </a:r>
              </a:p>
              <a:p>
                <a:pPr marL="457200" lvl="3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3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3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3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3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3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3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3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3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3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3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3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3550"/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Given: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𝑀𝑅𝑃𝑆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a parallelogram </a:t>
                </a:r>
              </a:p>
              <a:p>
                <a:pPr marL="463550"/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Prove: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𝑀𝑅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≅ 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𝑆𝑃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and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𝑀𝑆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≅ 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lvl="3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86025"/>
                <a:ext cx="10792507" cy="5017464"/>
              </a:xfrm>
              <a:prstGeom prst="rect">
                <a:avLst/>
              </a:prstGeom>
              <a:blipFill>
                <a:blip r:embed="rId5"/>
                <a:stretch>
                  <a:fillRect l="-565" t="-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0016" y="2199275"/>
            <a:ext cx="46736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510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8618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following two-column proof.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3996792"/>
                  </p:ext>
                </p:extLst>
              </p:nvPr>
            </p:nvGraphicFramePr>
            <p:xfrm>
              <a:off x="1022966" y="1257695"/>
              <a:ext cx="8091537" cy="50808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013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777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269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5373" marR="753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5373" marR="753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1394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Given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394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1394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∠1 ≅ ∠4, ∠2 ≅ ∠3</m:t>
                              </m:r>
                            </m:oMath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1394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𝑆𝑅</m:t>
                                  </m:r>
                                </m:e>
                              </m:acc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≅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𝑆𝑅</m:t>
                                  </m:r>
                                </m:e>
                              </m:acc>
                            </m:oMath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Reflexive property of congruence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00496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∆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𝑀𝑆𝑅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≅ ∆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𝑃𝑅𝑆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</m:t>
                              </m:r>
                            </m:oMath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ASA congruence theorem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9231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CPCTC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3996792"/>
                  </p:ext>
                </p:extLst>
              </p:nvPr>
            </p:nvGraphicFramePr>
            <p:xfrm>
              <a:off x="1022966" y="1257695"/>
              <a:ext cx="8091537" cy="50808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013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777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269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5373" marR="753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5373" marR="753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1394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Given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394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139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" t="-275214" r="-101973" b="-3401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139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" t="-375214" r="-101973" b="-2401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Reflexive property of congruence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" t="-336970" r="-101973" b="-70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ASA congruence theorem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9231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CPCTC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5373" marR="753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57785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141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848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3"/>
                <a:ext cx="10961136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𝑊𝑅𝐻𝐵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with diagonals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𝑊𝐻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𝐵𝑅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intersecting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3550"/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Given: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𝑊𝑅𝐻𝐵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parallelogram with diagonals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𝑊𝐻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𝐵𝑅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intersecting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3550"/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Prove: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𝑊𝐻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bisects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𝐵𝑅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𝐵𝑅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bisects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𝑊𝐻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3"/>
                <a:ext cx="10961136" cy="5940088"/>
              </a:xfrm>
              <a:prstGeom prst="rect">
                <a:avLst/>
              </a:prstGeom>
              <a:blipFill>
                <a:blip r:embed="rId4"/>
                <a:stretch>
                  <a:fillRect l="-347" t="-426" b="-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4514" y="1727846"/>
            <a:ext cx="43561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88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8618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following two-column proof.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7826875"/>
                  </p:ext>
                </p:extLst>
              </p:nvPr>
            </p:nvGraphicFramePr>
            <p:xfrm>
              <a:off x="657800" y="979501"/>
              <a:ext cx="8751671" cy="555498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8553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9637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676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Given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1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1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𝑅𝐻</m:t>
                                  </m:r>
                                </m:e>
                              </m:acc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≅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1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1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𝑊𝐵</m:t>
                                  </m:r>
                                </m:e>
                              </m:acc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;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1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1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𝑊𝑅</m:t>
                                  </m:r>
                                </m:e>
                              </m:acc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≅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1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1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𝐵𝐻</m:t>
                                  </m:r>
                                </m:e>
                              </m:acc>
                            </m:oMath>
                          </a14:m>
                          <a:endParaRPr lang="en-US" sz="21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𝑊𝑅𝐵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≅ ∠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𝐻𝐵𝑅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;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𝐵𝐻𝑊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≅ ∠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𝑅𝑊𝐻</m:t>
                              </m:r>
                            </m:oMath>
                          </a14:m>
                          <a:endParaRPr lang="en-US" sz="21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∆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𝐵𝑌𝐻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≅ ∆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𝑅𝑌𝑊</m:t>
                              </m:r>
                            </m:oMath>
                          </a14:m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ASA congruence theorem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CPCTC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𝐵𝑌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𝑌𝑅</m:t>
                              </m:r>
                            </m:oMath>
                          </a14:m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𝑊𝑌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𝑌𝐻</m:t>
                              </m:r>
                            </m:oMath>
                          </a14:m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8. 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8. Definition of a segment bisector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7826875"/>
                  </p:ext>
                </p:extLst>
              </p:nvPr>
            </p:nvGraphicFramePr>
            <p:xfrm>
              <a:off x="657800" y="979501"/>
              <a:ext cx="8751671" cy="555498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8553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9637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676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Given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5" t="-261111" r="-80552" b="-5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5" t="-364486" r="-80552" b="-424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5" t="-464486" r="-80552" b="-324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ASA congruence theorem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CPCTC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5" t="-658333" r="-80552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65352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8. 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8. Definition of a segment bisector</a:t>
                          </a:r>
                        </a:p>
                      </a:txBody>
                      <a:tcPr marL="64790" marR="6479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18777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8618"/>
                <a:ext cx="10961136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following flowchart proof. Statements go in the boxes and reasons go below the boxes.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3550"/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Given: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WDFC 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a parallelogram.</a:t>
                </a:r>
              </a:p>
              <a:p>
                <a:pPr marL="463550"/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Prove: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supplementary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supplementary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</a:t>
                </a:r>
              </a:p>
              <a:p>
                <a:pPr marL="463550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supplementary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supplementary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8618"/>
                <a:ext cx="10961136" cy="5324535"/>
              </a:xfrm>
              <a:prstGeom prst="rect">
                <a:avLst/>
              </a:prstGeom>
              <a:blipFill>
                <a:blip r:embed="rId4"/>
                <a:stretch>
                  <a:fillRect l="-612" t="-802" r="-1057" b="-1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C706BE5-3B3D-DFFF-C43D-2A97EAC7A0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1556" y="1539048"/>
            <a:ext cx="3715264" cy="234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279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335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39061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0600" y="406400"/>
            <a:ext cx="6756400" cy="604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445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0422" y="-1097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79502" y="645492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7728" y="619785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5222" y="-8531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8.1.5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772" y="5758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603670" y="1383281"/>
            <a:ext cx="110140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6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down one fact you knew about parallelograms before the lesson.</a:t>
            </a:r>
          </a:p>
          <a:p>
            <a:pPr marL="457200" lvl="6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6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6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6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6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6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6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down one fact you learned about parallelograms during the lesson. </a:t>
            </a:r>
          </a:p>
          <a:p>
            <a:pPr marL="457200" lvl="6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4043</TotalTime>
  <Words>1340</Words>
  <Application>Microsoft Macintosh PowerPoint</Application>
  <PresentationFormat>Widescreen</PresentationFormat>
  <Paragraphs>303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Geometry  Unit 8, Lesson 1  Proving Properties of Parallelograms  Volume 2, pg. 7  </vt:lpstr>
      <vt:lpstr>Benchmarks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28</cp:revision>
  <dcterms:created xsi:type="dcterms:W3CDTF">2015-03-17T18:51:18Z</dcterms:created>
  <dcterms:modified xsi:type="dcterms:W3CDTF">2023-03-02T19:31:41Z</dcterms:modified>
</cp:coreProperties>
</file>