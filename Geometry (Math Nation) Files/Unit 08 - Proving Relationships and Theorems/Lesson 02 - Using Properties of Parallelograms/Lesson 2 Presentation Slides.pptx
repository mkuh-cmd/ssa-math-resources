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77" r:id="rId9"/>
    <p:sldId id="314" r:id="rId10"/>
    <p:sldId id="315" r:id="rId11"/>
    <p:sldId id="352" r:id="rId12"/>
    <p:sldId id="362" r:id="rId13"/>
    <p:sldId id="363" r:id="rId14"/>
    <p:sldId id="367" r:id="rId15"/>
    <p:sldId id="368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06" r:id="rId25"/>
    <p:sldId id="307" r:id="rId26"/>
    <p:sldId id="361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B0DD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10"/>
    <p:restoredTop sz="94694"/>
  </p:normalViewPr>
  <p:slideViewPr>
    <p:cSldViewPr snapToGrid="0">
      <p:cViewPr varScale="1">
        <p:scale>
          <a:sx n="114" d="100"/>
          <a:sy n="114" d="100"/>
        </p:scale>
        <p:origin x="184" y="2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8837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61076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668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0583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47696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1538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8481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044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73160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94624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310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8565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1228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89706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2966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0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0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Using Properties of Parallelograms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144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034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17756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MA.912.GR.1.4 </a:t>
            </a:r>
          </a:p>
          <a:p>
            <a:pPr marL="4635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relationships and theorems about parallelograms. Solve mathematical and real-world problems involving postulates, relationships, and theorems of parallelograms.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MA.912.LT.4.10 </a:t>
            </a:r>
          </a:p>
          <a:p>
            <a:pPr marL="4635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Judge the validity of arguments and give counterexamples to disprove statements.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3252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298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11948" y="129667"/>
            <a:ext cx="90349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13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88508" y="1596390"/>
            <a:ext cx="1043541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97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665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7216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054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8427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13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7841" y="1608425"/>
            <a:ext cx="1115881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determine if a quadrilateral is a parallelogram using properties of a parallelogram.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038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84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2504" y="6855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8.2.1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204" y="2057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023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53102" y="1394250"/>
                <a:ext cx="1005098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𝑅𝐾𝑇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𝑅𝐻𝑇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𝐾𝑇𝐻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𝐾𝑅𝐻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𝑇𝐻𝑅𝐾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parallelogram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02" y="1394250"/>
                <a:ext cx="10050988" cy="707886"/>
              </a:xfrm>
              <a:prstGeom prst="rect">
                <a:avLst/>
              </a:prstGeom>
              <a:blipFill>
                <a:blip r:embed="rId5"/>
                <a:stretch>
                  <a:fillRect l="-667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3753" y="2572831"/>
            <a:ext cx="5485539" cy="232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3635412"/>
                  </p:ext>
                </p:extLst>
              </p:nvPr>
            </p:nvGraphicFramePr>
            <p:xfrm>
              <a:off x="699075" y="524557"/>
              <a:ext cx="8784138" cy="5639190"/>
            </p:xfrm>
            <a:graphic>
              <a:graphicData uri="http://schemas.openxmlformats.org/drawingml/2006/table">
                <a:tbl>
                  <a:tblPr bandRow="1"/>
                  <a:tblGrid>
                    <a:gridCol w="43596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245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141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00286">
                    <a:tc>
                      <a:txBody>
                        <a:bodyPr/>
                        <a:lstStyle/>
                        <a:p>
                          <a:pPr marL="0" marR="0" lvl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2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𝑅𝐾𝑇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≅∠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𝑅𝐻𝑇</m:t>
                              </m:r>
                            </m:oMath>
                          </a14:m>
                          <a:r>
                            <a:rPr lang="en-US" sz="22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27432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𝐾𝑇𝐻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≅∠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𝐾𝑅𝐻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Given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7762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𝑅𝐾𝑇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𝑅𝐻𝑇</m:t>
                              </m:r>
                            </m:oMath>
                          </a14:m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𝐾𝑇𝐻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𝐾𝑅𝐻</m:t>
                              </m:r>
                            </m:oMath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Definition of Congruence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7762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The sum of the angles in a quadrilateral is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360°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.</a:t>
                          </a:r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63673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𝑅𝐾𝑇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𝑅𝐾𝑇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𝐾𝑇𝐻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𝐾𝑇𝐻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=360°</m:t>
                              </m:r>
                            </m:oMath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𝑅𝐻𝑇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𝑅𝐻𝑇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𝐾𝑅𝐻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𝐾𝑅𝐻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=360°</m:t>
                              </m:r>
                            </m:oMath>
                          </a14:m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05550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2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𝑅𝐾𝑇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+2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𝐾𝑇𝐻</m:t>
                              </m:r>
                              <m:r>
                                <a:rPr lang="en-US" sz="22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=360°</m:t>
                              </m:r>
                            </m:oMath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2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𝑅𝐻𝑇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+2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𝐾𝑅𝐻</m:t>
                                </m:r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=360°</m:t>
                                </m:r>
                              </m:oMath>
                            </m:oMathPara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Addition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3635412"/>
                  </p:ext>
                </p:extLst>
              </p:nvPr>
            </p:nvGraphicFramePr>
            <p:xfrm>
              <a:off x="699075" y="524557"/>
              <a:ext cx="8784138" cy="5639190"/>
            </p:xfrm>
            <a:graphic>
              <a:graphicData uri="http://schemas.openxmlformats.org/drawingml/2006/table">
                <a:tbl>
                  <a:tblPr bandRow="1"/>
                  <a:tblGrid>
                    <a:gridCol w="43596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245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141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002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2" t="-56338" r="-102041" b="-4732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Given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776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2" t="-181967" r="-102041" b="-4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Definition of Congruence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7762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8567" t="-277419" r="-287" b="-34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6367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2" t="-181395" r="-102041" b="-651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0555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2" t="-437349" r="-102041" b="-1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Addition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6434" marR="66434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9916552"/>
                  </p:ext>
                </p:extLst>
              </p:nvPr>
            </p:nvGraphicFramePr>
            <p:xfrm>
              <a:off x="831619" y="418365"/>
              <a:ext cx="8789896" cy="4419107"/>
            </p:xfrm>
            <a:graphic>
              <a:graphicData uri="http://schemas.openxmlformats.org/drawingml/2006/table">
                <a:tbl>
                  <a:tblPr bandRow="1"/>
                  <a:tblGrid>
                    <a:gridCol w="4394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94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027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32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</a:t>
                          </a:r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</a:t>
                          </a:r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4082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7.</a:t>
                          </a:r>
                          <a14:m>
                            <m:oMath xmlns:m="http://schemas.openxmlformats.org/officeDocument/2006/math"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∠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𝑅𝐾𝑇</m:t>
                              </m:r>
                            </m:oMath>
                          </a14:m>
                          <a:r>
                            <a:rPr lang="en-US" sz="23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is supplementary to </a:t>
                          </a:r>
                          <a14:m>
                            <m:oMath xmlns:m="http://schemas.openxmlformats.org/officeDocument/2006/math"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𝐾𝑇𝐻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. ∠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𝑅𝐻𝑇</m:t>
                              </m:r>
                            </m:oMath>
                          </a14:m>
                          <a:r>
                            <a:rPr lang="en-US" sz="23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is supplementary to </a:t>
                          </a:r>
                          <a14:m>
                            <m:oMath xmlns:m="http://schemas.openxmlformats.org/officeDocument/2006/math"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𝐾𝑅𝐻</m:t>
                              </m:r>
                            </m:oMath>
                          </a14:m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7.</a:t>
                          </a:r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0136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8.</a:t>
                          </a:r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8. If two lines are intersected by a transversal so that consecutive interior angles are supplementary, then the lines are parallel.</a:t>
                          </a:r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832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9.</a:t>
                          </a:r>
                          <a14:m>
                            <m:oMath xmlns:m="http://schemas.openxmlformats.org/officeDocument/2006/math"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</m:t>
                              </m:r>
                              <m:r>
                                <a:rPr lang="en-US" sz="23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𝑇𝐻𝑅𝐾</m:t>
                              </m:r>
                            </m:oMath>
                          </a14:m>
                          <a:r>
                            <a:rPr lang="en-US" sz="23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is a parallelogram.</a:t>
                          </a:r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9.</a:t>
                          </a:r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9916552"/>
                  </p:ext>
                </p:extLst>
              </p:nvPr>
            </p:nvGraphicFramePr>
            <p:xfrm>
              <a:off x="831619" y="418365"/>
              <a:ext cx="8789896" cy="4419107"/>
            </p:xfrm>
            <a:graphic>
              <a:graphicData uri="http://schemas.openxmlformats.org/drawingml/2006/table">
                <a:tbl>
                  <a:tblPr bandRow="1"/>
                  <a:tblGrid>
                    <a:gridCol w="4394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94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027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32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</a:t>
                          </a:r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</a:t>
                          </a:r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40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88" t="-83333" r="-100000" b="-21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7.</a:t>
                          </a:r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0136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8.</a:t>
                          </a:r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8. If two lines are intersected by a transversal so that consecutive interior angles are supplementary, then the lines are parallel.</a:t>
                          </a:r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83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88" t="-810256" r="-100000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3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9.</a:t>
                          </a:r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2447" marR="4244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65334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14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6276" y="60325"/>
            <a:ext cx="958811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8.2.2 Collaboration: Determining Parallelograms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14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6468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96874" y="1386025"/>
                <a:ext cx="10927050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determine if the figure given is a parallelogram. Finish the statements that follow.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𝐶𝐺𝑇𝑅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 In the figure,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=113°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=67°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=103°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lvl="4" indent="-4953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 can conclude …</a:t>
                </a:r>
              </a:p>
              <a:p>
                <a:pPr marL="928688" lvl="4" indent="-4953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lvl="4" indent="-4953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 know this because …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74" y="1386025"/>
                <a:ext cx="10927050" cy="4708981"/>
              </a:xfrm>
              <a:prstGeom prst="rect">
                <a:avLst/>
              </a:prstGeom>
              <a:blipFill>
                <a:blip r:embed="rId5"/>
                <a:stretch>
                  <a:fillRect l="-614" t="-647" b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783552" y="2796520"/>
            <a:ext cx="4127500" cy="204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3"/>
                <a:ext cx="11065362" cy="5633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𝑊𝐶𝑋𝑁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with sides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𝑊𝐶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𝑁𝑋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each measuring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cm and sides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𝑊𝑁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𝐶𝑋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each measuring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cm. 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lvl="4" indent="-4953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 can conclude …</a:t>
                </a:r>
              </a:p>
              <a:p>
                <a:pPr marL="928688" lvl="4" indent="-4953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lvl="4" indent="-4953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 know this because …</a:t>
                </a:r>
              </a:p>
              <a:p>
                <a:pPr marL="928688" indent="-4953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3"/>
                <a:ext cx="11065362" cy="5633722"/>
              </a:xfrm>
              <a:prstGeom prst="rect">
                <a:avLst/>
              </a:prstGeom>
              <a:blipFill>
                <a:blip r:embed="rId4"/>
                <a:stretch>
                  <a:fillRect l="-551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1A16D8AA-7D49-A443-AE61-BAA9C1BB5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176" y="1344129"/>
            <a:ext cx="5384800" cy="328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819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8619"/>
                <a:ext cx="11087585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𝑆𝑃𝐿𝐹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=120°,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20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+47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°.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x=1/2, determine whether the figure is a parallelogram.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lvl="1" indent="-481013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 can conclude …</a:t>
                </a:r>
              </a:p>
              <a:p>
                <a:pPr marL="928688" lvl="1" indent="-481013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lvl="1" indent="-481013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lvl="1" indent="-481013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 know this because …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8619"/>
                <a:ext cx="11087585" cy="5632311"/>
              </a:xfrm>
              <a:prstGeom prst="rect">
                <a:avLst/>
              </a:prstGeom>
              <a:blipFill>
                <a:blip r:embed="rId4"/>
                <a:stretch>
                  <a:fillRect l="-605" t="-758" b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12104" y="1493404"/>
            <a:ext cx="4088915" cy="304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80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0393"/>
                <a:ext cx="11087585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𝑀𝐹𝐾𝑃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with diagonals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𝑀𝐾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𝑃𝐹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intersecting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=4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=4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=7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find the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that make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𝑀𝐹𝐾𝑃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 parallelogram.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355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=_________________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=________________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When determining if a figure is a parallelogram, what qualities must it have? List them below.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0393"/>
                <a:ext cx="11087585" cy="5632311"/>
              </a:xfrm>
              <a:prstGeom prst="rect">
                <a:avLst/>
              </a:prstGeom>
              <a:blipFill>
                <a:blip r:embed="rId4"/>
                <a:stretch>
                  <a:fillRect l="-605" t="-541" r="-440" b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54370" y="1021327"/>
            <a:ext cx="3621830" cy="217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32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16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239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37086"/>
            <a:ext cx="104712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8.2.3 Guided Practice: Is It a Parallelogram?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16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2894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593248" y="1386150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figure given to fill in the chart below.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1900" y="2044825"/>
            <a:ext cx="62738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512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97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767751"/>
                  </p:ext>
                </p:extLst>
              </p:nvPr>
            </p:nvGraphicFramePr>
            <p:xfrm>
              <a:off x="672666" y="539265"/>
              <a:ext cx="10021353" cy="50948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1643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351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697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0189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If you knew …</a:t>
                          </a:r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...would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b="1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𝑯𝑴𝑩𝑫</m:t>
                              </m:r>
                            </m:oMath>
                          </a14:m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be a parallelogram?</a:t>
                          </a:r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Why or why not?</a:t>
                          </a:r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189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𝐷𝐻𝑂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≅∠</m:t>
                              </m:r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𝑀𝐵𝑂</m:t>
                              </m:r>
                            </m:oMath>
                          </a14:m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𝐵𝐷𝑂</m:t>
                                </m:r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≅∠</m:t>
                                </m:r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𝐻𝑀𝑂</m:t>
                                </m:r>
                              </m:oMath>
                            </m:oMathPara>
                          </a14:m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553" marR="4755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189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1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1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𝐻𝑀</m:t>
                                    </m:r>
                                  </m:e>
                                </m:acc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≅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1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1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𝐷𝐵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553" marR="4755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189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𝑂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is the midpoint of </a:t>
                          </a:r>
                          <a:b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</a:b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1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1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𝐷𝑀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1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1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𝐻𝐵</m:t>
                                  </m:r>
                                </m:e>
                              </m:acc>
                            </m:oMath>
                          </a14:m>
                          <a:endParaRPr lang="en-US" sz="21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553" marR="4755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189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𝐷𝐻𝑂</m:t>
                                </m:r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r>
                                  <a:rPr lang="en-US" sz="2100" b="0" i="1" smtClean="0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𝐵𝐷𝑂</m:t>
                                </m:r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=180°</m:t>
                                </m:r>
                              </m:oMath>
                            </m:oMathPara>
                          </a14:m>
                          <a:endParaRPr lang="en-US" sz="21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553" marR="4755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767751"/>
                  </p:ext>
                </p:extLst>
              </p:nvPr>
            </p:nvGraphicFramePr>
            <p:xfrm>
              <a:off x="672666" y="539265"/>
              <a:ext cx="10021353" cy="50948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1643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351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697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01896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If you knew …</a:t>
                          </a:r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1328" t="-1250" r="-98047" b="-40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Why or why not?</a:t>
                          </a:r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18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00000" r="-177895" b="-298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553" marR="4755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18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2500" r="-177895" b="-2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553" marR="4755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18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98765" r="-17789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553" marR="4755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189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03750" r="-177895" b="-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47553" marR="47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553" marR="4755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55777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4917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084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7261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5482" y="520392"/>
                <a:ext cx="10961136" cy="2267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Rocio recently inherited a large field in the shape of a quadrilateral from her Uncle Asher.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𝐶𝐻𝑀𝑇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with diagonals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𝐶𝑀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𝐻𝑇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intersecting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𝐸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 She wants to partition the field into four triangular sections to make gardens. While she was out measuring for her supply order, she noticed that the field was shaped like a parallelogram. Her Uncle Asher disagrees. Rocio created the diagram below with the following measurements: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𝐶𝐻𝑇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=23°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𝐶𝐸𝑇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=72°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𝐶𝑀𝑇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=49°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𝐻𝑇𝑀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=23°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82" y="520392"/>
                <a:ext cx="10961136" cy="2267053"/>
              </a:xfrm>
              <a:prstGeom prst="rect">
                <a:avLst/>
              </a:prstGeom>
              <a:blipFill>
                <a:blip r:embed="rId4"/>
                <a:stretch>
                  <a:fillRect l="-611" t="-1613" b="-2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908340" y="2974848"/>
            <a:ext cx="5183289" cy="292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349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55702" y="528619"/>
            <a:ext cx="79119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Who is correct? </a:t>
            </a: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lvl="1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do you know? </a:t>
            </a:r>
          </a:p>
        </p:txBody>
      </p:sp>
    </p:spTree>
    <p:extLst>
      <p:ext uri="{BB962C8B-B14F-4D97-AF65-F5344CB8AC3E}">
        <p14:creationId xmlns:p14="http://schemas.microsoft.com/office/powerpoint/2010/main" val="516325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17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723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762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45888" y="68550"/>
            <a:ext cx="1114611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8.2.4 Try It: Parallelograms and Algebra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17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080" y="35649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586486" y="1394250"/>
                <a:ext cx="110416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3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𝐺𝑆𝑇𝐴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=2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86" y="1394250"/>
                <a:ext cx="11041664" cy="400110"/>
              </a:xfrm>
              <a:prstGeom prst="rect">
                <a:avLst/>
              </a:prstGeom>
              <a:blipFill>
                <a:blip r:embed="rId5"/>
                <a:stretch>
                  <a:fillRect l="-607" t="-10769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8681" y="2082306"/>
            <a:ext cx="59690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11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55702" y="528619"/>
                <a:ext cx="10322799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= 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= 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determine whether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𝐺𝑆𝑇𝐴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parallelogram. 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𝐺𝑆𝑇𝐴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not a parallelogram, what value(s)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would make it a parallelogram?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02" y="528619"/>
                <a:ext cx="10322799" cy="3170099"/>
              </a:xfrm>
              <a:prstGeom prst="rect">
                <a:avLst/>
              </a:prstGeom>
              <a:blipFill>
                <a:blip r:embed="rId4"/>
                <a:stretch>
                  <a:fillRect l="-650" t="-1346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6240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8619"/>
                <a:ext cx="10961136" cy="5452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𝑊𝐻𝑅𝐵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shown, where diagonals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𝑊𝑅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𝐻𝐵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intersect, such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=11+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5111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=−2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determine whether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𝑊𝐻𝑅𝐵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parallelogram.</a:t>
                </a:r>
              </a:p>
              <a:p>
                <a:pPr marL="928688" indent="-5111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5111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𝑊𝐻𝑅𝐵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not a parallelogram, what value(s)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would make it a parallelogram?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8619"/>
                <a:ext cx="10961136" cy="5452968"/>
              </a:xfrm>
              <a:prstGeom prst="rect">
                <a:avLst/>
              </a:prstGeom>
              <a:blipFill>
                <a:blip r:embed="rId4"/>
                <a:stretch>
                  <a:fillRect l="-556" t="-671" b="-1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0D6447D-4B20-04E3-F570-E561EE9E2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5684" y="1377287"/>
            <a:ext cx="4058216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10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8618"/>
                <a:ext cx="1106536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Tariq and Agnes were having a discussion about the different properties of parallelograms. Together they drew and labeled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𝑇𝐵𝑀𝑅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𝑅𝑇𝐵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=(5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−2)°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𝑇𝐵𝑀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𝐵𝑀𝑅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=118°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What are the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for Tariq and Agnes’ figure to be a parallelogram?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8618"/>
                <a:ext cx="11065362" cy="1323439"/>
              </a:xfrm>
              <a:prstGeom prst="rect">
                <a:avLst/>
              </a:prstGeom>
              <a:blipFill>
                <a:blip r:embed="rId4"/>
                <a:stretch>
                  <a:fillRect l="-606" t="-3226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2633" y="2041921"/>
            <a:ext cx="6223000" cy="351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54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18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18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8.2.5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386025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6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Check the property that is always true about the polygon.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277500"/>
              </p:ext>
            </p:extLst>
          </p:nvPr>
        </p:nvGraphicFramePr>
        <p:xfrm>
          <a:off x="685450" y="2061278"/>
          <a:ext cx="8488904" cy="3969354"/>
        </p:xfrm>
        <a:graphic>
          <a:graphicData uri="http://schemas.openxmlformats.org/drawingml/2006/table">
            <a:tbl>
              <a:tblPr bandRow="1"/>
              <a:tblGrid>
                <a:gridCol w="3617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5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5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40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Properties of Figure</a:t>
                      </a:r>
                      <a:endParaRPr lang="en-US" sz="15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98422" marR="98422" marT="49211" marB="4921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Types of Polygons</a:t>
                      </a:r>
                      <a:endParaRPr lang="en-US" sz="15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98422" marR="98422" marT="49211" marB="4921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1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Quadrilateral</a:t>
                      </a:r>
                      <a:endParaRPr lang="en-US" sz="15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4746" marR="647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Parallelogram</a:t>
                      </a:r>
                      <a:endParaRPr lang="en-US" sz="15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4746" marR="647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6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Only one set of parallel sides</a:t>
                      </a:r>
                      <a:endParaRPr lang="en-US" sz="15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4746" marR="647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charset="2"/>
                        <a:buChar char=""/>
                      </a:pPr>
                      <a:r>
                        <a:rPr lang="en-US" sz="2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5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4746" marR="6474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charset="2"/>
                        <a:buChar char=""/>
                      </a:pPr>
                      <a:r>
                        <a:rPr lang="en-US" sz="2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5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4746" marR="6474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6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Two sets of parallel sides</a:t>
                      </a:r>
                      <a:endParaRPr lang="en-US" sz="15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4746" marR="647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charset="2"/>
                        <a:buChar char=""/>
                      </a:pPr>
                      <a:r>
                        <a:rPr lang="en-US" sz="2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5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4746" marR="6474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charset="2"/>
                        <a:buChar char=""/>
                      </a:pPr>
                      <a:r>
                        <a:rPr lang="en-US" sz="2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5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4746" marR="6474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6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Two sides of equal length</a:t>
                      </a:r>
                      <a:endParaRPr lang="en-US" sz="15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4746" marR="647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charset="2"/>
                        <a:buChar char=""/>
                      </a:pPr>
                      <a:r>
                        <a:rPr lang="en-US" sz="2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5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4746" marR="6474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charset="2"/>
                        <a:buChar char=""/>
                      </a:pPr>
                      <a:r>
                        <a:rPr lang="en-US" sz="2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5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4746" marR="6474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56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Consecutive angles are supplementary.</a:t>
                      </a:r>
                      <a:endParaRPr lang="en-US" sz="15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4746" marR="647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charset="2"/>
                        <a:buChar char=""/>
                      </a:pPr>
                      <a:r>
                        <a:rPr lang="en-US" sz="2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50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4746" marR="6474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charset="2"/>
                        <a:buChar char=""/>
                      </a:pPr>
                      <a:r>
                        <a:rPr lang="en-US" sz="22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1500" dirty="0">
                        <a:effectLst/>
                        <a:latin typeface="Cambria" charset="0"/>
                        <a:ea typeface="Times New Roman" charset="0"/>
                        <a:cs typeface="Cambria" charset="0"/>
                      </a:endParaRPr>
                    </a:p>
                  </a:txBody>
                  <a:tcPr marL="64746" marR="6474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642038"/>
                  </p:ext>
                </p:extLst>
              </p:nvPr>
            </p:nvGraphicFramePr>
            <p:xfrm>
              <a:off x="747234" y="539266"/>
              <a:ext cx="8655544" cy="3613167"/>
            </p:xfrm>
            <a:graphic>
              <a:graphicData uri="http://schemas.openxmlformats.org/drawingml/2006/table">
                <a:tbl>
                  <a:tblPr bandRow="1"/>
                  <a:tblGrid>
                    <a:gridCol w="3688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837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837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9118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Properties of Figure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100971" marR="100971" marT="50485" marB="5048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Types of Polygons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100971" marR="100971" marT="50485" marB="50485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911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Quadrilateral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7369" marR="4736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Parallelogram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7369" marR="4736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9309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Diagonals are congruent.</a:t>
                          </a:r>
                        </a:p>
                      </a:txBody>
                      <a:tcPr marL="47369" marR="4736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3823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The sum of all angles is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360°</m:t>
                              </m:r>
                            </m:oMath>
                          </a14:m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.</a:t>
                          </a:r>
                        </a:p>
                      </a:txBody>
                      <a:tcPr marL="47369" marR="4736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3823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Diagonals bisect each other.</a:t>
                          </a:r>
                        </a:p>
                      </a:txBody>
                      <a:tcPr marL="47369" marR="4736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3823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Opposite angles are congruent.</a:t>
                          </a:r>
                        </a:p>
                      </a:txBody>
                      <a:tcPr marL="47369" marR="4736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642038"/>
                  </p:ext>
                </p:extLst>
              </p:nvPr>
            </p:nvGraphicFramePr>
            <p:xfrm>
              <a:off x="747234" y="539266"/>
              <a:ext cx="8655544" cy="3613167"/>
            </p:xfrm>
            <a:graphic>
              <a:graphicData uri="http://schemas.openxmlformats.org/drawingml/2006/table">
                <a:tbl>
                  <a:tblPr bandRow="1"/>
                  <a:tblGrid>
                    <a:gridCol w="3688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837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837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36250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Properties of Figure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100971" marR="100971" marT="50485" marB="50485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Types of Polygons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100971" marR="100971" marT="50485" marB="50485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911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Quadrilateral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7369" marR="4736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Parallelogram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7369" marR="4736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9309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Diagonals are congruent.</a:t>
                          </a:r>
                        </a:p>
                      </a:txBody>
                      <a:tcPr marL="47369" marR="4736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382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369" marR="4736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5" t="-194215" r="-135207" b="-2148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3823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Diagonals bisect each other.</a:t>
                          </a:r>
                        </a:p>
                      </a:txBody>
                      <a:tcPr marL="47369" marR="4736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3823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Opposite angles are congruent.</a:t>
                          </a:r>
                        </a:p>
                      </a:txBody>
                      <a:tcPr marL="47369" marR="47369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7369" marR="4736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957023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1265</Words>
  <Application>Microsoft Macintosh PowerPoint</Application>
  <PresentationFormat>Widescreen</PresentationFormat>
  <Paragraphs>259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Arial Black</vt:lpstr>
      <vt:lpstr>Calibri</vt:lpstr>
      <vt:lpstr>Cambria</vt:lpstr>
      <vt:lpstr>Cambria Math</vt:lpstr>
      <vt:lpstr>Century Gothic</vt:lpstr>
      <vt:lpstr>Courier New</vt:lpstr>
      <vt:lpstr>Verdana</vt:lpstr>
      <vt:lpstr>Wingdings</vt:lpstr>
      <vt:lpstr>1_Office Theme</vt:lpstr>
      <vt:lpstr>Geometry  Unit 8, Lesson 2  Using Properties of Parallelograms  Volume 2, pg. 13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27</cp:revision>
  <dcterms:created xsi:type="dcterms:W3CDTF">2015-03-17T18:51:18Z</dcterms:created>
  <dcterms:modified xsi:type="dcterms:W3CDTF">2023-06-09T19:24:13Z</dcterms:modified>
</cp:coreProperties>
</file>