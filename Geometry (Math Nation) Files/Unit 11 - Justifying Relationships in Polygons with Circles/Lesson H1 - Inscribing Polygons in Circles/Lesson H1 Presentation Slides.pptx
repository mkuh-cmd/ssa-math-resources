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85" r:id="rId4"/>
    <p:sldId id="286" r:id="rId5"/>
    <p:sldId id="261" r:id="rId6"/>
    <p:sldId id="287" r:id="rId7"/>
    <p:sldId id="288" r:id="rId8"/>
    <p:sldId id="317" r:id="rId9"/>
    <p:sldId id="318" r:id="rId10"/>
    <p:sldId id="319" r:id="rId11"/>
    <p:sldId id="323" r:id="rId12"/>
    <p:sldId id="325" r:id="rId13"/>
    <p:sldId id="320" r:id="rId14"/>
    <p:sldId id="321" r:id="rId15"/>
    <p:sldId id="324" r:id="rId16"/>
    <p:sldId id="326" r:id="rId17"/>
    <p:sldId id="306" r:id="rId18"/>
    <p:sldId id="307" r:id="rId19"/>
  </p:sldIdLst>
  <p:sldSz cx="12192000" cy="6858000"/>
  <p:notesSz cx="6858000" cy="9144000"/>
  <p:embeddedFontLst>
    <p:embeddedFont>
      <p:font typeface="Arial Black" panose="020B0A04020102020204" pitchFamily="34" charset="0"/>
      <p:bold r:id="rId21"/>
    </p:embeddedFont>
    <p:embeddedFont>
      <p:font typeface="Calibri" panose="020F0502020204030204" pitchFamily="34" charset="0"/>
      <p:regular r:id="rId22"/>
      <p:bold r:id="rId23"/>
      <p:italic r:id="rId24"/>
      <p:boldItalic r:id="rId25"/>
    </p:embeddedFont>
    <p:embeddedFont>
      <p:font typeface="Cambria" panose="02040503050406030204" pitchFamily="18" charset="0"/>
      <p:regular r:id="rId26"/>
      <p:bold r:id="rId27"/>
      <p:italic r:id="rId28"/>
      <p:boldItalic r:id="rId29"/>
    </p:embeddedFont>
    <p:embeddedFont>
      <p:font typeface="Cambria Math" panose="02040503050406030204" pitchFamily="18" charset="0"/>
      <p:regular r:id="rId30"/>
    </p:embeddedFont>
    <p:embeddedFont>
      <p:font typeface="Century Gothic" panose="020B0502020202020204" pitchFamily="34" charset="0"/>
      <p:regular r:id="rId31"/>
      <p:bold r:id="rId32"/>
      <p:italic r:id="rId33"/>
      <p:boldItalic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33" autoAdjust="0"/>
    <p:restoredTop sz="94490"/>
  </p:normalViewPr>
  <p:slideViewPr>
    <p:cSldViewPr snapToGrid="0">
      <p:cViewPr varScale="1">
        <p:scale>
          <a:sx n="78" d="100"/>
          <a:sy n="78" d="100"/>
        </p:scale>
        <p:origin x="1051"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8012070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703051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451310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358175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779465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721626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751144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751144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11, Lesson H1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Inscribing Polygons in Circles</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187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12701"/>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1998" y="1622538"/>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MA.912.GR.5.4</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Construct a regular polygon inscribed in a circle. Regular polygons are limited to triangles, quadrilaterals, and hexagons. </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37892"/>
            <a:ext cx="952313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59" y="1604615"/>
            <a:ext cx="1052639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id="{1DA584BC-EB75-AE44-835C-9113F9217718}"/>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187</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565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74413"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57200" y="1600200"/>
            <a:ext cx="111709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itchFamily="2" charset="2"/>
              <a:buChar char="q"/>
            </a:pPr>
            <a:r>
              <a:rPr lang="en-US" sz="3500" dirty="0">
                <a:latin typeface="Verdana" panose="020B0604030504040204" pitchFamily="34" charset="0"/>
                <a:ea typeface="Times New Roman" panose="02020603050405020304" pitchFamily="18" charset="0"/>
                <a:cs typeface="Times New Roman" panose="02020603050405020304" pitchFamily="18" charset="0"/>
              </a:rPr>
              <a:t>I can construct an equilateral triangle inscribed in a circle.</a:t>
            </a:r>
          </a:p>
          <a:p>
            <a:pPr marL="571500" indent="-571500">
              <a:buFont typeface="Wingdings" pitchFamily="2" charset="2"/>
              <a:buChar char="q"/>
            </a:pPr>
            <a:endParaRPr lang="en-US" sz="3500" dirty="0">
              <a:latin typeface="Cambria" panose="02040503050406030204" pitchFamily="18" charset="0"/>
              <a:ea typeface="Times New Roman" panose="02020603050405020304" pitchFamily="18" charset="0"/>
              <a:cs typeface="Times New Roman" panose="02020603050405020304" pitchFamily="18" charset="0"/>
            </a:endParaRPr>
          </a:p>
          <a:p>
            <a:pPr marL="571500" indent="-571500">
              <a:buFont typeface="Wingdings" pitchFamily="2" charset="2"/>
              <a:buChar char="q"/>
            </a:pPr>
            <a:r>
              <a:rPr lang="en-US" sz="3500" dirty="0">
                <a:latin typeface="Verdana" panose="020B0604030504040204" pitchFamily="34" charset="0"/>
                <a:ea typeface="Times New Roman" panose="02020603050405020304" pitchFamily="18" charset="0"/>
                <a:cs typeface="Times New Roman" panose="02020603050405020304" pitchFamily="18" charset="0"/>
              </a:rPr>
              <a:t>I can construct a square inscribed in a circle.</a:t>
            </a:r>
          </a:p>
          <a:p>
            <a:pPr marL="571500" indent="-571500">
              <a:buFont typeface="Wingdings" pitchFamily="2" charset="2"/>
              <a:buChar char="q"/>
            </a:pPr>
            <a:endParaRPr lang="en-US" sz="3500" dirty="0">
              <a:latin typeface="Cambria" panose="02040503050406030204" pitchFamily="18" charset="0"/>
              <a:ea typeface="Times New Roman" panose="02020603050405020304" pitchFamily="18" charset="0"/>
              <a:cs typeface="Times New Roman" panose="02020603050405020304" pitchFamily="18" charset="0"/>
            </a:endParaRPr>
          </a:p>
          <a:p>
            <a:pPr marL="571500" indent="-571500">
              <a:buFont typeface="Wingdings" pitchFamily="2" charset="2"/>
              <a:buChar char="q"/>
            </a:pPr>
            <a:r>
              <a:rPr lang="en-US" sz="3500" dirty="0">
                <a:latin typeface="Verdana" panose="020B0604030504040204" pitchFamily="34" charset="0"/>
                <a:ea typeface="Times New Roman" panose="02020603050405020304" pitchFamily="18" charset="0"/>
                <a:cs typeface="Times New Roman" panose="02020603050405020304" pitchFamily="18" charset="0"/>
              </a:rPr>
              <a:t>I can construct a regular hexagon inscribed in a circle.</a:t>
            </a:r>
            <a:endParaRPr lang="en-US" sz="35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Google Shape;282;g104476d1465_1_17">
            <a:extLst>
              <a:ext uri="{FF2B5EF4-FFF2-40B4-BE49-F238E27FC236}">
                <a16:creationId xmlns:a16="http://schemas.microsoft.com/office/drawing/2014/main" id="{00CA09FA-4E9A-9047-9CD9-016E89E09099}"/>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EB3C497B-21C6-B24A-8E32-6E0E7BB351F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315730"/>
            <a:ext cx="8019300" cy="51081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11.H1.1 Warm-Up: Earth’s Orbit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679000" y="1432178"/>
                <a:ext cx="6872174" cy="3170099"/>
              </a:xfrm>
              <a:prstGeom prst="rect">
                <a:avLst/>
              </a:prstGeom>
              <a:noFill/>
            </p:spPr>
            <p:txBody>
              <a:bodyPr wrap="square" rtlCol="0">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Since Earth's orbit is an ellipse, the Earth is slightly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closer to the sun in January. The picture shows two photos taken by the SOHO satellite. The left side shows the sun on January 4, 2009 and the right side shows the sun on July 4,</a:t>
                </a:r>
                <a:r>
                  <a:rPr lang="en-US" sz="2000" dirty="0">
                    <a:latin typeface="Cambria" panose="02040503050406030204" pitchFamily="18"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2009. </a:t>
                </a:r>
              </a:p>
              <a:p>
                <a:endParaRPr lang="en-PH"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A scientist measured the two images. She found that the diameter of the image for January was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millimeters and the image for July was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69</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millimeters.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679000" y="1432178"/>
                <a:ext cx="6872174" cy="3170099"/>
              </a:xfrm>
              <a:prstGeom prst="rect">
                <a:avLst/>
              </a:prstGeom>
              <a:blipFill>
                <a:blip r:embed="rId5"/>
                <a:stretch>
                  <a:fillRect l="-887" t="-1154" r="-621" b="-2500"/>
                </a:stretch>
              </a:blipFill>
            </p:spPr>
            <p:txBody>
              <a:bodyPr/>
              <a:lstStyle/>
              <a:p>
                <a:r>
                  <a:rPr lang="en-US">
                    <a:noFill/>
                  </a:rPr>
                  <a:t> </a:t>
                </a:r>
              </a:p>
            </p:txBody>
          </p:sp>
        </mc:Fallback>
      </mc:AlternateContent>
      <p:pic>
        <p:nvPicPr>
          <p:cNvPr id="10" name="image10.png" descr="Circle&#10;&#10;Description automatically generated">
            <a:extLst>
              <a:ext uri="{FF2B5EF4-FFF2-40B4-BE49-F238E27FC236}">
                <a16:creationId xmlns:a16="http://schemas.microsoft.com/office/drawing/2014/main" id="{45D7D4D0-7E6A-A84A-A066-FDD23CE555C4}"/>
              </a:ext>
            </a:extLst>
          </p:cNvPr>
          <p:cNvPicPr/>
          <p:nvPr/>
        </p:nvPicPr>
        <p:blipFill>
          <a:blip r:embed="rId6"/>
          <a:srcRect/>
          <a:stretch>
            <a:fillRect/>
          </a:stretch>
        </p:blipFill>
        <p:spPr>
          <a:xfrm>
            <a:off x="7854345" y="1432178"/>
            <a:ext cx="3773805" cy="3638550"/>
          </a:xfrm>
          <a:prstGeom prst="rect">
            <a:avLst/>
          </a:prstGeom>
          <a:ln/>
        </p:spPr>
      </p:pic>
      <p:sp>
        <p:nvSpPr>
          <p:cNvPr id="11" name="Google Shape;282;g104476d1465_1_17">
            <a:extLst>
              <a:ext uri="{FF2B5EF4-FFF2-40B4-BE49-F238E27FC236}">
                <a16:creationId xmlns:a16="http://schemas.microsoft.com/office/drawing/2014/main" id="{BF812ABA-3EBB-6041-9CAC-995345D4F92F}"/>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187</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11065362" cy="4154984"/>
              </a:xfrm>
              <a:prstGeom prst="rect">
                <a:avLst/>
              </a:prstGeom>
              <a:noFill/>
            </p:spPr>
            <p:txBody>
              <a:bodyPr wrap="square" rtlCol="0">
                <a:spAutoFit/>
              </a:bodyPr>
              <a:lstStyle/>
              <a:p>
                <a:pPr marL="457200" indent="-457200">
                  <a:buFont typeface="+mj-lt"/>
                  <a:buAutoNum type="arabicPeriod"/>
                </a:pPr>
                <a:r>
                  <a:rPr lang="en-US" sz="2400" dirty="0">
                    <a:latin typeface="Verdana" pitchFamily="34" charset="0"/>
                    <a:ea typeface="Verdana" pitchFamily="34" charset="0"/>
                    <a:cs typeface="Times New Roman" panose="02020603050405020304" pitchFamily="18" charset="0"/>
                  </a:rPr>
                  <a:t>By what percentage did the diameter of the Sun change between January and July compared to its average diameter of January and July?</a:t>
                </a:r>
              </a:p>
              <a:p>
                <a:pPr indent="-457200">
                  <a:buFont typeface="+mj-lt"/>
                  <a:buAutoNum type="arabicPeriod"/>
                </a:pPr>
                <a:endParaRPr lang="en-US" sz="2400" dirty="0">
                  <a:latin typeface="Verdana" pitchFamily="34" charset="0"/>
                  <a:ea typeface="Verdana" pitchFamily="34" charset="0"/>
                  <a:cs typeface="Times New Roman" panose="02020603050405020304" pitchFamily="18" charset="0"/>
                </a:endParaRPr>
              </a:p>
              <a:p>
                <a:pPr indent="-457200">
                  <a:buFont typeface="+mj-lt"/>
                  <a:buAutoNum type="arabicPeriod"/>
                </a:pPr>
                <a:endParaRPr lang="en-US" sz="2400" dirty="0">
                  <a:latin typeface="Verdana" pitchFamily="34" charset="0"/>
                  <a:ea typeface="Verdana" pitchFamily="34" charset="0"/>
                  <a:cs typeface="Times New Roman" panose="02020603050405020304" pitchFamily="18" charset="0"/>
                </a:endParaRPr>
              </a:p>
              <a:p>
                <a:pPr indent="-457200">
                  <a:buFont typeface="+mj-lt"/>
                  <a:buAutoNum type="arabicPeriod"/>
                </a:pPr>
                <a:endParaRPr lang="en-US" sz="2400" dirty="0">
                  <a:latin typeface="Verdana" pitchFamily="34" charset="0"/>
                  <a:ea typeface="Verdana" pitchFamily="34" charset="0"/>
                  <a:cs typeface="Times New Roman" panose="02020603050405020304" pitchFamily="18" charset="0"/>
                </a:endParaRPr>
              </a:p>
              <a:p>
                <a:pPr indent="-457200">
                  <a:buFont typeface="+mj-lt"/>
                  <a:buAutoNum type="arabicPeriod"/>
                </a:pPr>
                <a:endParaRPr lang="en-US" sz="2400" dirty="0">
                  <a:latin typeface="Verdana" pitchFamily="34" charset="0"/>
                  <a:ea typeface="Verdana" pitchFamily="34" charset="0"/>
                  <a:cs typeface="Times New Roman" panose="02020603050405020304" pitchFamily="18" charset="0"/>
                </a:endParaRPr>
              </a:p>
              <a:p>
                <a:pPr indent="-457200">
                  <a:buFont typeface="+mj-lt"/>
                  <a:buAutoNum type="arabicPeriod"/>
                </a:pPr>
                <a:endParaRPr lang="en-US" sz="2400" dirty="0">
                  <a:latin typeface="Verdana" pitchFamily="34" charset="0"/>
                  <a:ea typeface="Verdana" pitchFamily="34" charset="0"/>
                  <a:cs typeface="Times New Roman" panose="02020603050405020304" pitchFamily="18" charset="0"/>
                </a:endParaRPr>
              </a:p>
              <a:p>
                <a:pPr marL="457200" indent="-457200">
                  <a:buFont typeface="+mj-lt"/>
                  <a:buAutoNum type="arabicPeriod"/>
                </a:pPr>
                <a:r>
                  <a:rPr lang="en-US" sz="2400" dirty="0">
                    <a:latin typeface="Verdana" pitchFamily="34" charset="0"/>
                    <a:ea typeface="Verdana" pitchFamily="34" charset="0"/>
                    <a:cs typeface="Times New Roman" panose="02020603050405020304" pitchFamily="18" charset="0"/>
                  </a:rPr>
                  <a:t>If the average distance to the Sun from Earth is </a:t>
                </a:r>
                <a:br>
                  <a:rPr lang="en-US" sz="2400" dirty="0">
                    <a:latin typeface="Verdana" pitchFamily="34" charset="0"/>
                    <a:ea typeface="Verdana" pitchFamily="34" charset="0"/>
                    <a:cs typeface="Times New Roman" panose="02020603050405020304" pitchFamily="18" charset="0"/>
                  </a:rPr>
                </a:b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149,600,000</m:t>
                    </m:r>
                  </m:oMath>
                </a14:m>
                <a:r>
                  <a:rPr lang="en-US" sz="2400" dirty="0">
                    <a:latin typeface="Verdana" panose="020B0604030504040204" pitchFamily="34" charset="0"/>
                    <a:ea typeface="Verdana" pitchFamily="34" charset="0"/>
                    <a:cs typeface="Times New Roman" panose="02020603050405020304" pitchFamily="18" charset="0"/>
                  </a:rPr>
                  <a:t> kilometers, how much closer is Earth to the Sun in January compared to July?</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393"/>
                <a:ext cx="11065362" cy="4154984"/>
              </a:xfrm>
              <a:prstGeom prst="rect">
                <a:avLst/>
              </a:prstGeom>
              <a:blipFill>
                <a:blip r:embed="rId4"/>
                <a:stretch>
                  <a:fillRect l="-882" t="-1173" r="-551" b="-2346"/>
                </a:stretch>
              </a:blipFill>
            </p:spPr>
            <p:txBody>
              <a:bodyPr/>
              <a:lstStyle/>
              <a:p>
                <a:r>
                  <a:rPr lang="en-US">
                    <a:noFill/>
                  </a:rPr>
                  <a:t> </a:t>
                </a:r>
              </a:p>
            </p:txBody>
          </p:sp>
        </mc:Fallback>
      </mc:AlternateContent>
      <p:sp>
        <p:nvSpPr>
          <p:cNvPr id="6" name="Google Shape;282;g104476d1465_1_17">
            <a:extLst>
              <a:ext uri="{FF2B5EF4-FFF2-40B4-BE49-F238E27FC236}">
                <a16:creationId xmlns:a16="http://schemas.microsoft.com/office/drawing/2014/main" id="{62DE37D2-7831-C644-8A33-3917641B81FD}"/>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187</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5056"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80F758C9-2CBB-3744-BE5E-7E2E1ADBC547}"/>
              </a:ext>
            </a:extLst>
          </p:cNvPr>
          <p:cNvSpPr txBox="1"/>
          <p:nvPr/>
        </p:nvSpPr>
        <p:spPr>
          <a:xfrm>
            <a:off x="883683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188</a:t>
            </a:r>
            <a:endParaRPr i="1" dirty="0">
              <a:latin typeface="Calibri"/>
              <a:ea typeface="Calibri"/>
              <a:cs typeface="Calibri"/>
              <a:sym typeface="Calibri"/>
            </a:endParaRPr>
          </a:p>
        </p:txBody>
      </p:sp>
    </p:spTree>
    <p:extLst>
      <p:ext uri="{BB962C8B-B14F-4D97-AF65-F5344CB8AC3E}">
        <p14:creationId xmlns:p14="http://schemas.microsoft.com/office/powerpoint/2010/main" val="2816111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7696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68550"/>
            <a:ext cx="94629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11.H1.2 Activity: Regular Polygons Inscribed in Circles</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5649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593248" y="1394250"/>
            <a:ext cx="11034902" cy="3046988"/>
          </a:xfrm>
          <a:prstGeom prst="rect">
            <a:avLst/>
          </a:prstGeom>
          <a:noFill/>
        </p:spPr>
        <p:txBody>
          <a:bodyPr wrap="square" rtlCol="0">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to answer each question. Use the larger copies of each polygon provided by your teacher.</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a compass to draw a circumscribed circle for each polygon.</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Mark the center of the circle that was drawn on the </a:t>
            </a:r>
            <a:r>
              <a:rPr lang="en-US" sz="2400" dirty="0">
                <a:latin typeface="Verdana" panose="020B0604030504040204" pitchFamily="34" charset="0"/>
                <a:ea typeface="Times New Roman" panose="02020603050405020304" pitchFamily="18" charset="0"/>
                <a:cs typeface="Times New Roman" panose="02020603050405020304" pitchFamily="18" charset="0"/>
              </a:rPr>
              <a:t>polygon. Draw a central angle that passes through two subsequent vertices, as shown.</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1" name="Google Shape;282;g104476d1465_1_17">
            <a:extLst>
              <a:ext uri="{FF2B5EF4-FFF2-40B4-BE49-F238E27FC236}">
                <a16:creationId xmlns:a16="http://schemas.microsoft.com/office/drawing/2014/main" id="{3F2A5CEF-D96A-B349-9895-9CCC8A9BEB27}"/>
              </a:ext>
            </a:extLst>
          </p:cNvPr>
          <p:cNvSpPr txBox="1"/>
          <p:nvPr/>
        </p:nvSpPr>
        <p:spPr>
          <a:xfrm>
            <a:off x="8889924" y="64340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188</a:t>
            </a:r>
            <a:endParaRPr i="1" dirty="0">
              <a:latin typeface="Calibri"/>
              <a:ea typeface="Calibri"/>
              <a:cs typeface="Calibri"/>
              <a:sym typeface="Calibri"/>
            </a:endParaRPr>
          </a:p>
        </p:txBody>
      </p:sp>
    </p:spTree>
    <p:extLst>
      <p:ext uri="{BB962C8B-B14F-4D97-AF65-F5344CB8AC3E}">
        <p14:creationId xmlns:p14="http://schemas.microsoft.com/office/powerpoint/2010/main" val="4069935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6579AC1-E7A9-E247-BD62-788F5A6E9B19}"/>
              </a:ext>
            </a:extLst>
          </p:cNvPr>
          <p:cNvGraphicFramePr>
            <a:graphicFrameLocks noGrp="1"/>
          </p:cNvGraphicFramePr>
          <p:nvPr>
            <p:extLst>
              <p:ext uri="{D42A27DB-BD31-4B8C-83A1-F6EECF244321}">
                <p14:modId xmlns:p14="http://schemas.microsoft.com/office/powerpoint/2010/main" val="1221617521"/>
              </p:ext>
            </p:extLst>
          </p:nvPr>
        </p:nvGraphicFramePr>
        <p:xfrm>
          <a:off x="840571" y="532613"/>
          <a:ext cx="7640979" cy="2976650"/>
        </p:xfrm>
        <a:graphic>
          <a:graphicData uri="http://schemas.openxmlformats.org/drawingml/2006/table">
            <a:tbl>
              <a:tblPr firstRow="1" firstCol="1" bandRow="1">
                <a:tableStyleId>{A91F0D33-8C57-4600-99A7-42BC86742BE1}</a:tableStyleId>
              </a:tblPr>
              <a:tblGrid>
                <a:gridCol w="2552013">
                  <a:extLst>
                    <a:ext uri="{9D8B030D-6E8A-4147-A177-3AD203B41FA5}">
                      <a16:colId xmlns:a16="http://schemas.microsoft.com/office/drawing/2014/main" val="107668200"/>
                    </a:ext>
                  </a:extLst>
                </a:gridCol>
                <a:gridCol w="2435131">
                  <a:extLst>
                    <a:ext uri="{9D8B030D-6E8A-4147-A177-3AD203B41FA5}">
                      <a16:colId xmlns:a16="http://schemas.microsoft.com/office/drawing/2014/main" val="227406855"/>
                    </a:ext>
                  </a:extLst>
                </a:gridCol>
                <a:gridCol w="2653835">
                  <a:extLst>
                    <a:ext uri="{9D8B030D-6E8A-4147-A177-3AD203B41FA5}">
                      <a16:colId xmlns:a16="http://schemas.microsoft.com/office/drawing/2014/main" val="56962443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Square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Hexagon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237159668"/>
                  </a:ext>
                </a:extLst>
              </a:tr>
              <a:tr h="2519450">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4331263"/>
                  </a:ext>
                </a:extLst>
              </a:tr>
            </a:tbl>
          </a:graphicData>
        </a:graphic>
      </p:graphicFrame>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6C08EE3-8247-C14E-9600-35165D5C8679}"/>
              </a:ext>
            </a:extLst>
          </p:cNvPr>
          <p:cNvSpPr txBox="1"/>
          <p:nvPr/>
        </p:nvSpPr>
        <p:spPr>
          <a:xfrm>
            <a:off x="540564" y="3739455"/>
            <a:ext cx="10815693" cy="400110"/>
          </a:xfrm>
          <a:prstGeom prst="rect">
            <a:avLst/>
          </a:prstGeom>
          <a:noFill/>
        </p:spPr>
        <p:txBody>
          <a:bodyPr wrap="square" rtlCol="0">
            <a:spAutoFit/>
          </a:bodyPr>
          <a:lstStyle/>
          <a:p>
            <a:pPr marL="457200" indent="-457200">
              <a:buSzPct val="1000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Use a protractor to determine the measure of each central angle.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6" name="image1.png">
            <a:extLst>
              <a:ext uri="{FF2B5EF4-FFF2-40B4-BE49-F238E27FC236}">
                <a16:creationId xmlns:a16="http://schemas.microsoft.com/office/drawing/2014/main" id="{0F4E1512-8999-8447-9809-5CE2C34FC3C1}"/>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6018693" y="1157571"/>
            <a:ext cx="2291715" cy="2145665"/>
          </a:xfrm>
          <a:prstGeom prst="rect">
            <a:avLst/>
          </a:prstGeom>
          <a:ln/>
        </p:spPr>
      </p:pic>
      <p:pic>
        <p:nvPicPr>
          <p:cNvPr id="8" name="image2.png">
            <a:extLst>
              <a:ext uri="{FF2B5EF4-FFF2-40B4-BE49-F238E27FC236}">
                <a16:creationId xmlns:a16="http://schemas.microsoft.com/office/drawing/2014/main" id="{A76D7852-EF96-6347-A26C-4C590F1DADC3}"/>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652997" y="1157571"/>
            <a:ext cx="1978025" cy="1994535"/>
          </a:xfrm>
          <a:prstGeom prst="rect">
            <a:avLst/>
          </a:prstGeom>
          <a:ln/>
        </p:spPr>
      </p:pic>
      <p:pic>
        <p:nvPicPr>
          <p:cNvPr id="9" name="image4.png">
            <a:extLst>
              <a:ext uri="{FF2B5EF4-FFF2-40B4-BE49-F238E27FC236}">
                <a16:creationId xmlns:a16="http://schemas.microsoft.com/office/drawing/2014/main" id="{7E1AA247-BB14-8A41-9C41-8DB549C399FF}"/>
              </a:ext>
            </a:extLst>
          </p:cNvPr>
          <p:cNvPicPr/>
          <p:nvPr/>
        </p:nvPicPr>
        <p:blipFill>
          <a:blip r:embed="rId6"/>
          <a:srcRect/>
          <a:stretch>
            <a:fillRect/>
          </a:stretch>
        </p:blipFill>
        <p:spPr>
          <a:xfrm>
            <a:off x="1072096" y="1157571"/>
            <a:ext cx="2065020" cy="1984375"/>
          </a:xfrm>
          <a:prstGeom prst="rect">
            <a:avLst/>
          </a:prstGeom>
          <a:ln/>
        </p:spPr>
      </p:pic>
      <p:graphicFrame>
        <p:nvGraphicFramePr>
          <p:cNvPr id="3" name="Table 2">
            <a:extLst>
              <a:ext uri="{FF2B5EF4-FFF2-40B4-BE49-F238E27FC236}">
                <a16:creationId xmlns:a16="http://schemas.microsoft.com/office/drawing/2014/main" id="{66498884-678A-984F-8601-9BCBE85A6856}"/>
              </a:ext>
            </a:extLst>
          </p:cNvPr>
          <p:cNvGraphicFramePr>
            <a:graphicFrameLocks noGrp="1"/>
          </p:cNvGraphicFramePr>
          <p:nvPr>
            <p:extLst>
              <p:ext uri="{D42A27DB-BD31-4B8C-83A1-F6EECF244321}">
                <p14:modId xmlns:p14="http://schemas.microsoft.com/office/powerpoint/2010/main" val="1125065532"/>
              </p:ext>
            </p:extLst>
          </p:nvPr>
        </p:nvGraphicFramePr>
        <p:xfrm>
          <a:off x="1097770" y="4336953"/>
          <a:ext cx="8141519" cy="2120846"/>
        </p:xfrm>
        <a:graphic>
          <a:graphicData uri="http://schemas.openxmlformats.org/drawingml/2006/table">
            <a:tbl>
              <a:tblPr firstRow="1" firstCol="1" bandRow="1">
                <a:tableStyleId>{A91F0D33-8C57-4600-99A7-42BC86742BE1}</a:tableStyleId>
              </a:tblPr>
              <a:tblGrid>
                <a:gridCol w="2722241">
                  <a:extLst>
                    <a:ext uri="{9D8B030D-6E8A-4147-A177-3AD203B41FA5}">
                      <a16:colId xmlns:a16="http://schemas.microsoft.com/office/drawing/2014/main" val="1162356088"/>
                    </a:ext>
                  </a:extLst>
                </a:gridCol>
                <a:gridCol w="1806426">
                  <a:extLst>
                    <a:ext uri="{9D8B030D-6E8A-4147-A177-3AD203B41FA5}">
                      <a16:colId xmlns:a16="http://schemas.microsoft.com/office/drawing/2014/main" val="3459476677"/>
                    </a:ext>
                  </a:extLst>
                </a:gridCol>
                <a:gridCol w="1806426">
                  <a:extLst>
                    <a:ext uri="{9D8B030D-6E8A-4147-A177-3AD203B41FA5}">
                      <a16:colId xmlns:a16="http://schemas.microsoft.com/office/drawing/2014/main" val="1513947778"/>
                    </a:ext>
                  </a:extLst>
                </a:gridCol>
                <a:gridCol w="1806426">
                  <a:extLst>
                    <a:ext uri="{9D8B030D-6E8A-4147-A177-3AD203B41FA5}">
                      <a16:colId xmlns:a16="http://schemas.microsoft.com/office/drawing/2014/main" val="1522332722"/>
                    </a:ext>
                  </a:extLst>
                </a:gridCol>
              </a:tblGrid>
              <a:tr h="504119">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 </a:t>
                      </a:r>
                    </a:p>
                  </a:txBody>
                  <a:tcPr marL="75618" marR="7561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Triangle</a:t>
                      </a:r>
                    </a:p>
                  </a:txBody>
                  <a:tcPr marL="75618" marR="7561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Square</a:t>
                      </a:r>
                    </a:p>
                  </a:txBody>
                  <a:tcPr marL="75618" marR="7561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Hexagon</a:t>
                      </a:r>
                    </a:p>
                  </a:txBody>
                  <a:tcPr marL="75618" marR="7561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447616904"/>
                  </a:ext>
                </a:extLst>
              </a:tr>
              <a:tr h="1616727">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Measure of Central Angle</a:t>
                      </a:r>
                    </a:p>
                  </a:txBody>
                  <a:tcPr marL="75618" marR="7561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 </a:t>
                      </a:r>
                    </a:p>
                  </a:txBody>
                  <a:tcPr marL="75618" marR="7561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 </a:t>
                      </a:r>
                    </a:p>
                  </a:txBody>
                  <a:tcPr marL="75618" marR="7561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 </a:t>
                      </a:r>
                    </a:p>
                  </a:txBody>
                  <a:tcPr marL="75618" marR="7561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7168654"/>
                  </a:ext>
                </a:extLst>
              </a:tr>
            </a:tbl>
          </a:graphicData>
        </a:graphic>
      </p:graphicFrame>
      <p:sp>
        <p:nvSpPr>
          <p:cNvPr id="13" name="Google Shape;282;g104476d1465_1_17">
            <a:extLst>
              <a:ext uri="{FF2B5EF4-FFF2-40B4-BE49-F238E27FC236}">
                <a16:creationId xmlns:a16="http://schemas.microsoft.com/office/drawing/2014/main" id="{B37CD3EF-23AE-884D-8723-E1379C27B4CB}"/>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188</a:t>
            </a:r>
            <a:endParaRPr i="1" dirty="0">
              <a:latin typeface="Calibri"/>
              <a:ea typeface="Calibri"/>
              <a:cs typeface="Calibri"/>
              <a:sym typeface="Calibri"/>
            </a:endParaRPr>
          </a:p>
        </p:txBody>
      </p:sp>
    </p:spTree>
    <p:extLst>
      <p:ext uri="{BB962C8B-B14F-4D97-AF65-F5344CB8AC3E}">
        <p14:creationId xmlns:p14="http://schemas.microsoft.com/office/powerpoint/2010/main" val="2771154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6C08EE3-8247-C14E-9600-35165D5C8679}"/>
              </a:ext>
            </a:extLst>
          </p:cNvPr>
          <p:cNvSpPr txBox="1"/>
          <p:nvPr/>
        </p:nvSpPr>
        <p:spPr>
          <a:xfrm>
            <a:off x="465232" y="345739"/>
            <a:ext cx="11058692" cy="707886"/>
          </a:xfrm>
          <a:prstGeom prst="rect">
            <a:avLst/>
          </a:prstGeom>
          <a:noFill/>
        </p:spPr>
        <p:txBody>
          <a:bodyPr wrap="square" rtlCol="0">
            <a:spAutoFit/>
          </a:bodyPr>
          <a:lstStyle/>
          <a:p>
            <a:pPr marL="457200" indent="-457200">
              <a:buSzPct val="1000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Make a conjecture about how to construct each regular polygon inscribed in a circle using a compass and a straight edge.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58B8F249-2FCA-0844-AE81-DE0CABA93E65}"/>
              </a:ext>
            </a:extLst>
          </p:cNvPr>
          <p:cNvGraphicFramePr>
            <a:graphicFrameLocks noGrp="1"/>
          </p:cNvGraphicFramePr>
          <p:nvPr>
            <p:extLst>
              <p:ext uri="{D42A27DB-BD31-4B8C-83A1-F6EECF244321}">
                <p14:modId xmlns:p14="http://schemas.microsoft.com/office/powerpoint/2010/main" val="3823990160"/>
              </p:ext>
            </p:extLst>
          </p:nvPr>
        </p:nvGraphicFramePr>
        <p:xfrm>
          <a:off x="1003857" y="1539933"/>
          <a:ext cx="7477693" cy="4954818"/>
        </p:xfrm>
        <a:graphic>
          <a:graphicData uri="http://schemas.openxmlformats.org/drawingml/2006/table">
            <a:tbl>
              <a:tblPr firstRow="1" firstCol="1" bandRow="1">
                <a:tableStyleId>{A91F0D33-8C57-4600-99A7-42BC86742BE1}</a:tableStyleId>
              </a:tblPr>
              <a:tblGrid>
                <a:gridCol w="1885132">
                  <a:extLst>
                    <a:ext uri="{9D8B030D-6E8A-4147-A177-3AD203B41FA5}">
                      <a16:colId xmlns:a16="http://schemas.microsoft.com/office/drawing/2014/main" val="3280492643"/>
                    </a:ext>
                  </a:extLst>
                </a:gridCol>
                <a:gridCol w="5592561">
                  <a:extLst>
                    <a:ext uri="{9D8B030D-6E8A-4147-A177-3AD203B41FA5}">
                      <a16:colId xmlns:a16="http://schemas.microsoft.com/office/drawing/2014/main" val="490126870"/>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31544" marR="3154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Construction</a:t>
                      </a:r>
                    </a:p>
                  </a:txBody>
                  <a:tcPr marL="31544" marR="3154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618609692"/>
                  </a:ext>
                </a:extLst>
              </a:tr>
              <a:tr h="149920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p>
                  </a:txBody>
                  <a:tcPr marL="31544" marR="3154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31544" marR="3154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010225"/>
                  </a:ext>
                </a:extLst>
              </a:tr>
              <a:tr h="1499206">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Square</a:t>
                      </a:r>
                    </a:p>
                  </a:txBody>
                  <a:tcPr marL="31544" marR="3154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31544" marR="3154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135412"/>
                  </a:ext>
                </a:extLst>
              </a:tr>
              <a:tr h="149920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Hexagon</a:t>
                      </a:r>
                    </a:p>
                  </a:txBody>
                  <a:tcPr marL="31544" marR="3154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31544" marR="3154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0223100"/>
                  </a:ext>
                </a:extLst>
              </a:tr>
            </a:tbl>
          </a:graphicData>
        </a:graphic>
      </p:graphicFrame>
      <p:sp>
        <p:nvSpPr>
          <p:cNvPr id="7" name="Google Shape;282;g104476d1465_1_17">
            <a:extLst>
              <a:ext uri="{FF2B5EF4-FFF2-40B4-BE49-F238E27FC236}">
                <a16:creationId xmlns:a16="http://schemas.microsoft.com/office/drawing/2014/main" id="{73C9FBE4-A131-584A-9EA5-5FEBB6AF858B}"/>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188</a:t>
            </a:r>
            <a:endParaRPr i="1" dirty="0">
              <a:latin typeface="Calibri"/>
              <a:ea typeface="Calibri"/>
              <a:cs typeface="Calibri"/>
              <a:sym typeface="Calibri"/>
            </a:endParaRPr>
          </a:p>
        </p:txBody>
      </p:sp>
    </p:spTree>
    <p:extLst>
      <p:ext uri="{BB962C8B-B14F-4D97-AF65-F5344CB8AC3E}">
        <p14:creationId xmlns:p14="http://schemas.microsoft.com/office/powerpoint/2010/main" val="612318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6C08EE3-8247-C14E-9600-35165D5C8679}"/>
              </a:ext>
            </a:extLst>
          </p:cNvPr>
          <p:cNvSpPr txBox="1"/>
          <p:nvPr/>
        </p:nvSpPr>
        <p:spPr>
          <a:xfrm>
            <a:off x="465232" y="337513"/>
            <a:ext cx="11058692" cy="5632311"/>
          </a:xfrm>
          <a:prstGeom prst="rect">
            <a:avLst/>
          </a:prstGeom>
          <a:noFill/>
        </p:spPr>
        <p:txBody>
          <a:bodyPr wrap="square" rtlCol="0">
            <a:spAutoFit/>
          </a:bodyPr>
          <a:lstStyle/>
          <a:p>
            <a:pPr marL="457200" indent="-457200">
              <a:buSzPct val="1000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Ask another pair of partners for</a:t>
            </a:r>
            <a:r>
              <a:rPr lang="en-US" sz="2000" dirty="0">
                <a:latin typeface="Verdana" panose="020B0604030504040204" pitchFamily="34"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Verdana" panose="020B0604030504040204" pitchFamily="34" charset="0"/>
                <a:cs typeface="Verdana" panose="020B0604030504040204" pitchFamily="34" charset="0"/>
              </a:rPr>
              <a:t>the conjectures they wrote. Listen to their conjectures and write a summary. </a:t>
            </a:r>
            <a:r>
              <a:rPr lang="en-US" sz="2000" i="1" dirty="0">
                <a:latin typeface="Verdana" panose="020B0604030504040204" pitchFamily="34" charset="0"/>
                <a:ea typeface="Verdana" panose="020B0604030504040204" pitchFamily="34" charset="0"/>
                <a:cs typeface="Verdana" panose="020B0604030504040204" pitchFamily="34" charset="0"/>
              </a:rPr>
              <a:t>You are the only person who should write in the first three columns of the table.</a:t>
            </a:r>
            <a:r>
              <a:rPr lang="en-US" sz="2000" dirty="0">
                <a:latin typeface="Verdana" panose="020B0604030504040204" pitchFamily="34" charset="0"/>
                <a:ea typeface="Verdana" panose="020B0604030504040204" pitchFamily="34" charset="0"/>
                <a:cs typeface="Verdana" panose="020B0604030504040204" pitchFamily="34" charset="0"/>
              </a:rPr>
              <a:t> Have the person initial next to your summary stating that your summary was accurate.</a:t>
            </a: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SzPct val="1000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Review your conjectures with your partner and if necessary, make any changes.</a:t>
            </a:r>
            <a:r>
              <a:rPr lang="en-US" sz="2000" dirty="0"/>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421776EA-9DAC-414F-89A9-56B397575F18}"/>
              </a:ext>
            </a:extLst>
          </p:cNvPr>
          <p:cNvGraphicFramePr>
            <a:graphicFrameLocks noGrp="1"/>
          </p:cNvGraphicFramePr>
          <p:nvPr>
            <p:extLst>
              <p:ext uri="{D42A27DB-BD31-4B8C-83A1-F6EECF244321}">
                <p14:modId xmlns:p14="http://schemas.microsoft.com/office/powerpoint/2010/main" val="2775929453"/>
              </p:ext>
            </p:extLst>
          </p:nvPr>
        </p:nvGraphicFramePr>
        <p:xfrm>
          <a:off x="1021766" y="1870411"/>
          <a:ext cx="7514993" cy="3431655"/>
        </p:xfrm>
        <a:graphic>
          <a:graphicData uri="http://schemas.openxmlformats.org/drawingml/2006/table">
            <a:tbl>
              <a:tblPr firstRow="1" firstCol="1" bandRow="1">
                <a:tableStyleId>{A91F0D33-8C57-4600-99A7-42BC86742BE1}</a:tableStyleId>
              </a:tblPr>
              <a:tblGrid>
                <a:gridCol w="1463040">
                  <a:extLst>
                    <a:ext uri="{9D8B030D-6E8A-4147-A177-3AD203B41FA5}">
                      <a16:colId xmlns:a16="http://schemas.microsoft.com/office/drawing/2014/main" val="2945190206"/>
                    </a:ext>
                  </a:extLst>
                </a:gridCol>
                <a:gridCol w="4680353">
                  <a:extLst>
                    <a:ext uri="{9D8B030D-6E8A-4147-A177-3AD203B41FA5}">
                      <a16:colId xmlns:a16="http://schemas.microsoft.com/office/drawing/2014/main" val="3167567799"/>
                    </a:ext>
                  </a:extLst>
                </a:gridCol>
                <a:gridCol w="1371600">
                  <a:extLst>
                    <a:ext uri="{9D8B030D-6E8A-4147-A177-3AD203B41FA5}">
                      <a16:colId xmlns:a16="http://schemas.microsoft.com/office/drawing/2014/main" val="1908878298"/>
                    </a:ext>
                  </a:extLst>
                </a:gridCol>
              </a:tblGrid>
              <a:tr h="768474">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Other Partner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Pair’s Conjecture</a:t>
                      </a: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Other Partner Pair’s Initials</a:t>
                      </a: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278508160"/>
                  </a:ext>
                </a:extLst>
              </a:tr>
              <a:tr h="737485">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Triangle</a:t>
                      </a: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9752425"/>
                  </a:ext>
                </a:extLst>
              </a:tr>
              <a:tr h="73748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Square</a:t>
                      </a: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 </a:t>
                      </a: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4457008"/>
                  </a:ext>
                </a:extLst>
              </a:tr>
              <a:tr h="73748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Hexagon</a:t>
                      </a:r>
                    </a:p>
                  </a:txBody>
                  <a:tcPr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151614"/>
                  </a:ext>
                </a:extLst>
              </a:tr>
            </a:tbl>
          </a:graphicData>
        </a:graphic>
      </p:graphicFrame>
      <p:sp>
        <p:nvSpPr>
          <p:cNvPr id="7" name="Google Shape;282;g104476d1465_1_17">
            <a:extLst>
              <a:ext uri="{FF2B5EF4-FFF2-40B4-BE49-F238E27FC236}">
                <a16:creationId xmlns:a16="http://schemas.microsoft.com/office/drawing/2014/main" id="{42C091F2-C737-A74F-AAFF-E118FC367963}"/>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189</a:t>
            </a:r>
            <a:endParaRPr i="1" dirty="0">
              <a:latin typeface="Calibri"/>
              <a:ea typeface="Calibri"/>
              <a:cs typeface="Calibri"/>
              <a:sym typeface="Calibri"/>
            </a:endParaRPr>
          </a:p>
        </p:txBody>
      </p:sp>
    </p:spTree>
    <p:extLst>
      <p:ext uri="{BB962C8B-B14F-4D97-AF65-F5344CB8AC3E}">
        <p14:creationId xmlns:p14="http://schemas.microsoft.com/office/powerpoint/2010/main" val="3794022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F5F14ACC-8B35-9C47-B38A-8996388687F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189</a:t>
            </a:r>
            <a:endParaRPr i="1" dirty="0">
              <a:latin typeface="Calibri"/>
              <a:ea typeface="Calibri"/>
              <a:cs typeface="Calibri"/>
              <a:sym typeface="Calibri"/>
            </a:endParaRPr>
          </a:p>
        </p:txBody>
      </p:sp>
    </p:spTree>
    <p:extLst>
      <p:ext uri="{BB962C8B-B14F-4D97-AF65-F5344CB8AC3E}">
        <p14:creationId xmlns:p14="http://schemas.microsoft.com/office/powerpoint/2010/main" val="2890315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3253"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39397" y="288200"/>
            <a:ext cx="8019300" cy="47307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11.H1.3 Activity: Card Sort</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89589" y="14983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579994" y="1176475"/>
            <a:ext cx="10451799" cy="400110"/>
          </a:xfrm>
          <a:prstGeom prst="rect">
            <a:avLst/>
          </a:prstGeom>
          <a:noFill/>
        </p:spPr>
        <p:txBody>
          <a:bodyPr wrap="square" rtlCol="0">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Sort the sets for each construction. Then, write the steps in the table.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D51801F9-5542-F346-A046-7EAAA1017E04}"/>
              </a:ext>
            </a:extLst>
          </p:cNvPr>
          <p:cNvGraphicFramePr>
            <a:graphicFrameLocks noGrp="1"/>
          </p:cNvGraphicFramePr>
          <p:nvPr>
            <p:extLst>
              <p:ext uri="{D42A27DB-BD31-4B8C-83A1-F6EECF244321}">
                <p14:modId xmlns:p14="http://schemas.microsoft.com/office/powerpoint/2010/main" val="3136848849"/>
              </p:ext>
            </p:extLst>
          </p:nvPr>
        </p:nvGraphicFramePr>
        <p:xfrm>
          <a:off x="702593" y="2023989"/>
          <a:ext cx="7772400" cy="4419600"/>
        </p:xfrm>
        <a:graphic>
          <a:graphicData uri="http://schemas.openxmlformats.org/drawingml/2006/table">
            <a:tbl>
              <a:tblPr firstRow="1" firstCol="1" bandRow="1">
                <a:tableStyleId>{A91F0D33-8C57-4600-99A7-42BC86742BE1}</a:tableStyleId>
              </a:tblPr>
              <a:tblGrid>
                <a:gridCol w="1828800">
                  <a:extLst>
                    <a:ext uri="{9D8B030D-6E8A-4147-A177-3AD203B41FA5}">
                      <a16:colId xmlns:a16="http://schemas.microsoft.com/office/drawing/2014/main" val="504423703"/>
                    </a:ext>
                  </a:extLst>
                </a:gridCol>
                <a:gridCol w="5943600">
                  <a:extLst>
                    <a:ext uri="{9D8B030D-6E8A-4147-A177-3AD203B41FA5}">
                      <a16:colId xmlns:a16="http://schemas.microsoft.com/office/drawing/2014/main" val="4012210535"/>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Construction Steps</a:t>
                      </a: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870502503"/>
                  </a:ext>
                </a:extLst>
              </a:tr>
              <a:tr h="19659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Method 1</a:t>
                      </a: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3984162"/>
                  </a:ext>
                </a:extLst>
              </a:tr>
              <a:tr h="19659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Square</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Method 1</a:t>
                      </a: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tabLst>
                          <a:tab pos="1944370"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2143954"/>
                  </a:ext>
                </a:extLst>
              </a:tr>
            </a:tbl>
          </a:graphicData>
        </a:graphic>
      </p:graphicFrame>
      <p:sp>
        <p:nvSpPr>
          <p:cNvPr id="11" name="Google Shape;282;g104476d1465_1_17">
            <a:extLst>
              <a:ext uri="{FF2B5EF4-FFF2-40B4-BE49-F238E27FC236}">
                <a16:creationId xmlns:a16="http://schemas.microsoft.com/office/drawing/2014/main" id="{AEBE8337-55A6-7248-A49C-A03D2C58DC4C}"/>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189</a:t>
            </a:r>
            <a:endParaRPr i="1" dirty="0">
              <a:latin typeface="Calibri"/>
              <a:ea typeface="Calibri"/>
              <a:cs typeface="Calibri"/>
              <a:sym typeface="Calibri"/>
            </a:endParaRPr>
          </a:p>
        </p:txBody>
      </p:sp>
    </p:spTree>
    <p:extLst>
      <p:ext uri="{BB962C8B-B14F-4D97-AF65-F5344CB8AC3E}">
        <p14:creationId xmlns:p14="http://schemas.microsoft.com/office/powerpoint/2010/main" val="2728730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graphicFrame>
        <p:nvGraphicFramePr>
          <p:cNvPr id="2" name="Table 1">
            <a:extLst>
              <a:ext uri="{FF2B5EF4-FFF2-40B4-BE49-F238E27FC236}">
                <a16:creationId xmlns:a16="http://schemas.microsoft.com/office/drawing/2014/main" id="{8B027BE7-FDE0-C94D-B755-44BCB3BAC359}"/>
              </a:ext>
            </a:extLst>
          </p:cNvPr>
          <p:cNvGraphicFramePr>
            <a:graphicFrameLocks noGrp="1"/>
          </p:cNvGraphicFramePr>
          <p:nvPr>
            <p:extLst>
              <p:ext uri="{D42A27DB-BD31-4B8C-83A1-F6EECF244321}">
                <p14:modId xmlns:p14="http://schemas.microsoft.com/office/powerpoint/2010/main" val="1664224325"/>
              </p:ext>
            </p:extLst>
          </p:nvPr>
        </p:nvGraphicFramePr>
        <p:xfrm>
          <a:off x="938543" y="522514"/>
          <a:ext cx="7772400" cy="5516880"/>
        </p:xfrm>
        <a:graphic>
          <a:graphicData uri="http://schemas.openxmlformats.org/drawingml/2006/table">
            <a:tbl>
              <a:tblPr firstRow="1" firstCol="1" bandRow="1">
                <a:tableStyleId>{A91F0D33-8C57-4600-99A7-42BC86742BE1}</a:tableStyleId>
              </a:tblPr>
              <a:tblGrid>
                <a:gridCol w="1828800">
                  <a:extLst>
                    <a:ext uri="{9D8B030D-6E8A-4147-A177-3AD203B41FA5}">
                      <a16:colId xmlns:a16="http://schemas.microsoft.com/office/drawing/2014/main" val="3973801773"/>
                    </a:ext>
                  </a:extLst>
                </a:gridCol>
                <a:gridCol w="5943600">
                  <a:extLst>
                    <a:ext uri="{9D8B030D-6E8A-4147-A177-3AD203B41FA5}">
                      <a16:colId xmlns:a16="http://schemas.microsoft.com/office/drawing/2014/main" val="3961190607"/>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Construction Steps</a:t>
                      </a: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2514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Hexagon</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Method 1</a:t>
                      </a:r>
                    </a:p>
                  </a:txBody>
                  <a:tcPr marL="27566" marR="2756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27566" marR="27566"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4459871"/>
                  </a:ext>
                </a:extLst>
              </a:tr>
              <a:tr h="2514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Method 2</a:t>
                      </a:r>
                    </a:p>
                  </a:txBody>
                  <a:tcPr marL="27566" marR="2756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27566" marR="27566"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918302"/>
                  </a:ext>
                </a:extLst>
              </a:tr>
            </a:tbl>
          </a:graphicData>
        </a:graphic>
      </p:graphicFrame>
      <p:sp>
        <p:nvSpPr>
          <p:cNvPr id="7" name="Google Shape;282;g104476d1465_1_17">
            <a:extLst>
              <a:ext uri="{FF2B5EF4-FFF2-40B4-BE49-F238E27FC236}">
                <a16:creationId xmlns:a16="http://schemas.microsoft.com/office/drawing/2014/main" id="{6AF9EEB7-F203-984B-AB03-AA3C3E493ED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190</a:t>
            </a:r>
            <a:endParaRPr i="1" dirty="0">
              <a:latin typeface="Calibri"/>
              <a:ea typeface="Calibri"/>
              <a:cs typeface="Calibri"/>
              <a:sym typeface="Calibri"/>
            </a:endParaRPr>
          </a:p>
        </p:txBody>
      </p:sp>
    </p:spTree>
    <p:extLst>
      <p:ext uri="{BB962C8B-B14F-4D97-AF65-F5344CB8AC3E}">
        <p14:creationId xmlns:p14="http://schemas.microsoft.com/office/powerpoint/2010/main" val="4076802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graphicFrame>
        <p:nvGraphicFramePr>
          <p:cNvPr id="2" name="Table 1">
            <a:extLst>
              <a:ext uri="{FF2B5EF4-FFF2-40B4-BE49-F238E27FC236}">
                <a16:creationId xmlns:a16="http://schemas.microsoft.com/office/drawing/2014/main" id="{8B027BE7-FDE0-C94D-B755-44BCB3BAC359}"/>
              </a:ext>
            </a:extLst>
          </p:cNvPr>
          <p:cNvGraphicFramePr>
            <a:graphicFrameLocks noGrp="1"/>
          </p:cNvGraphicFramePr>
          <p:nvPr>
            <p:extLst>
              <p:ext uri="{D42A27DB-BD31-4B8C-83A1-F6EECF244321}">
                <p14:modId xmlns:p14="http://schemas.microsoft.com/office/powerpoint/2010/main" val="3427100837"/>
              </p:ext>
            </p:extLst>
          </p:nvPr>
        </p:nvGraphicFramePr>
        <p:xfrm>
          <a:off x="938543" y="522514"/>
          <a:ext cx="7772400" cy="5516880"/>
        </p:xfrm>
        <a:graphic>
          <a:graphicData uri="http://schemas.openxmlformats.org/drawingml/2006/table">
            <a:tbl>
              <a:tblPr firstRow="1" firstCol="1" bandRow="1">
                <a:tableStyleId>{A91F0D33-8C57-4600-99A7-42BC86742BE1}</a:tableStyleId>
              </a:tblPr>
              <a:tblGrid>
                <a:gridCol w="1828800">
                  <a:extLst>
                    <a:ext uri="{9D8B030D-6E8A-4147-A177-3AD203B41FA5}">
                      <a16:colId xmlns:a16="http://schemas.microsoft.com/office/drawing/2014/main" val="3973801773"/>
                    </a:ext>
                  </a:extLst>
                </a:gridCol>
                <a:gridCol w="5943600">
                  <a:extLst>
                    <a:ext uri="{9D8B030D-6E8A-4147-A177-3AD203B41FA5}">
                      <a16:colId xmlns:a16="http://schemas.microsoft.com/office/drawing/2014/main" val="3961190607"/>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Construction Steps</a:t>
                      </a: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2514600">
                <a:tc>
                  <a:txBody>
                    <a:bodyPr/>
                    <a:lstStyle/>
                    <a:p>
                      <a:pPr algn="ctr">
                        <a:spcAft>
                          <a:spcPts val="1000"/>
                        </a:spcAft>
                      </a:pPr>
                      <a:r>
                        <a:rPr lang="en-US" sz="2000" b="1" dirty="0">
                          <a:effectLst/>
                          <a:latin typeface="Verdana"/>
                          <a:ea typeface="Verdana"/>
                          <a:cs typeface="Verdana"/>
                        </a:rPr>
                        <a:t>Square</a:t>
                      </a:r>
                      <a:br>
                        <a:rPr lang="en-US" sz="2000" b="1" dirty="0">
                          <a:effectLst/>
                          <a:latin typeface="Verdana"/>
                          <a:ea typeface="Verdana"/>
                          <a:cs typeface="Verdana"/>
                        </a:rPr>
                      </a:br>
                      <a:r>
                        <a:rPr lang="en-US" sz="2000" b="1" dirty="0">
                          <a:effectLst/>
                          <a:latin typeface="Verdana"/>
                          <a:ea typeface="Verdana"/>
                          <a:cs typeface="Verdana"/>
                        </a:rPr>
                        <a:t>Method 2</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27566" marR="2756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27566" marR="27566"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4459871"/>
                  </a:ext>
                </a:extLst>
              </a:tr>
              <a:tr h="2514600">
                <a:tc>
                  <a:txBody>
                    <a:bodyPr/>
                    <a:lstStyle/>
                    <a:p>
                      <a:pPr algn="ctr">
                        <a:spcAft>
                          <a:spcPts val="1000"/>
                        </a:spcAft>
                      </a:pPr>
                      <a:r>
                        <a:rPr lang="en-US" sz="2000" b="1" dirty="0">
                          <a:effectLst/>
                          <a:latin typeface="Verdana"/>
                          <a:ea typeface="Verdana"/>
                          <a:cs typeface="Verdana"/>
                        </a:rPr>
                        <a:t>Hexagon</a:t>
                      </a:r>
                      <a:br>
                        <a:rPr lang="en-US" sz="2000" b="1" dirty="0">
                          <a:effectLst/>
                          <a:latin typeface="Verdana"/>
                          <a:ea typeface="Verdana"/>
                          <a:cs typeface="Verdana"/>
                        </a:rPr>
                      </a:br>
                      <a:r>
                        <a:rPr lang="en-US" sz="2000" b="1" dirty="0">
                          <a:effectLst/>
                          <a:latin typeface="Verdana"/>
                          <a:ea typeface="Verdana"/>
                          <a:cs typeface="Verdana"/>
                        </a:rPr>
                        <a:t>Method 2</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27566" marR="2756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spcBef>
                          <a:spcPts val="0"/>
                        </a:spcBef>
                        <a:spcAft>
                          <a:spcPts val="0"/>
                        </a:spcAft>
                      </a:pP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27566" marR="27566"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918302"/>
                  </a:ext>
                </a:extLst>
              </a:tr>
            </a:tbl>
          </a:graphicData>
        </a:graphic>
      </p:graphicFrame>
      <p:sp>
        <p:nvSpPr>
          <p:cNvPr id="7" name="Google Shape;282;g104476d1465_1_17">
            <a:extLst>
              <a:ext uri="{FF2B5EF4-FFF2-40B4-BE49-F238E27FC236}">
                <a16:creationId xmlns:a16="http://schemas.microsoft.com/office/drawing/2014/main" id="{6AF9EEB7-F203-984B-AB03-AA3C3E493ED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190</a:t>
            </a:r>
            <a:endParaRPr i="1" dirty="0">
              <a:latin typeface="Calibri"/>
              <a:ea typeface="Calibri"/>
              <a:cs typeface="Calibri"/>
              <a:sym typeface="Calibri"/>
            </a:endParaRPr>
          </a:p>
        </p:txBody>
      </p:sp>
    </p:spTree>
    <p:extLst>
      <p:ext uri="{BB962C8B-B14F-4D97-AF65-F5344CB8AC3E}">
        <p14:creationId xmlns:p14="http://schemas.microsoft.com/office/powerpoint/2010/main" val="2134334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46254F94-B23D-DD42-BE47-8C4A188D18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191</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362"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2788" y="620810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0162" y="321253"/>
            <a:ext cx="8019300" cy="33974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11.H1.4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10712" y="117475"/>
            <a:ext cx="747300" cy="747300"/>
          </a:xfrm>
          <a:prstGeom prst="rect">
            <a:avLst/>
          </a:prstGeom>
          <a:noFill/>
          <a:ln>
            <a:noFill/>
          </a:ln>
        </p:spPr>
      </p:pic>
      <p:sp>
        <p:nvSpPr>
          <p:cNvPr id="15" name="Google Shape;282;g104476d1465_1_17">
            <a:extLst>
              <a:ext uri="{FF2B5EF4-FFF2-40B4-BE49-F238E27FC236}">
                <a16:creationId xmlns:a16="http://schemas.microsoft.com/office/drawing/2014/main" id="{304001B5-F1D4-D84A-B3D5-D6D699309FA0}"/>
              </a:ext>
            </a:extLst>
          </p:cNvPr>
          <p:cNvSpPr txBox="1"/>
          <p:nvPr/>
        </p:nvSpPr>
        <p:spPr>
          <a:xfrm>
            <a:off x="8884562" y="646518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191</a:t>
            </a:r>
            <a:endParaRPr i="1" dirty="0">
              <a:latin typeface="Calibri"/>
              <a:ea typeface="Calibri"/>
              <a:cs typeface="Calibri"/>
              <a:sym typeface="Calibri"/>
            </a:endParaRPr>
          </a:p>
        </p:txBody>
      </p:sp>
      <p:sp>
        <p:nvSpPr>
          <p:cNvPr id="11" name="TextBox 10">
            <a:extLst>
              <a:ext uri="{FF2B5EF4-FFF2-40B4-BE49-F238E27FC236}">
                <a16:creationId xmlns:a16="http://schemas.microsoft.com/office/drawing/2014/main" id="{A3547ABD-563B-A148-B65C-C7679A7B43D4}"/>
              </a:ext>
            </a:extLst>
          </p:cNvPr>
          <p:cNvSpPr txBox="1"/>
          <p:nvPr/>
        </p:nvSpPr>
        <p:spPr>
          <a:xfrm>
            <a:off x="598609" y="1176475"/>
            <a:ext cx="10403687" cy="1200329"/>
          </a:xfrm>
          <a:prstGeom prst="rect">
            <a:avLst/>
          </a:prstGeom>
          <a:noFill/>
        </p:spPr>
        <p:txBody>
          <a:bodyPr wrap="square" rtlCol="0">
            <a:spAutoFit/>
          </a:bodyPr>
          <a:lstStyle/>
          <a:p>
            <a:pPr marL="463550" indent="-463550" rtl="0" fontAlgn="base">
              <a:spcBef>
                <a:spcPts val="0"/>
              </a:spcBef>
              <a:spcAft>
                <a:spcPts val="0"/>
              </a:spcAft>
              <a:buFont typeface="+mj-lt"/>
              <a:buAutoNum type="arabicPeriod"/>
            </a:pPr>
            <a:r>
              <a:rPr lang="en-US" sz="2400" b="0" i="0" u="none" strike="noStrike" dirty="0">
                <a:solidFill>
                  <a:srgbClr val="000000"/>
                </a:solidFill>
                <a:effectLst/>
                <a:latin typeface="Verdana" panose="020B0604030504040204" pitchFamily="34" charset="0"/>
              </a:rPr>
              <a:t>Write an explanation to a classmate who might have missed today’s lesson, in your own words, about inscribing polygon in circles.</a:t>
            </a:r>
            <a:endParaRPr lang="en-US" sz="24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1273</TotalTime>
  <Words>734</Words>
  <Application>Microsoft Office PowerPoint</Application>
  <PresentationFormat>Widescreen</PresentationFormat>
  <Paragraphs>147</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Century Gothic</vt:lpstr>
      <vt:lpstr>Wingdings</vt:lpstr>
      <vt:lpstr>Cambria</vt:lpstr>
      <vt:lpstr>Verdana</vt:lpstr>
      <vt:lpstr>Arial Black</vt:lpstr>
      <vt:lpstr>Calibri</vt:lpstr>
      <vt:lpstr>Arial</vt:lpstr>
      <vt:lpstr>Cambria Math</vt:lpstr>
      <vt:lpstr>1_Office Theme</vt:lpstr>
      <vt:lpstr>Geometry  Unit 11, Lesson H1  Inscribing Polygons in Circles  Volume 2, pg. 187  </vt:lpstr>
      <vt:lpstr>Benchmark</vt:lpstr>
      <vt:lpstr>PowerPoint Presentation</vt:lpstr>
      <vt:lpstr>PowerPoint Presentation</vt:lpstr>
      <vt:lpstr>Warm-Up</vt:lpstr>
      <vt:lpstr>PowerPoint Presentation</vt:lpstr>
      <vt:lpstr>PowerPoint Presentation</vt:lpstr>
      <vt:lpstr>Activity</vt:lpstr>
      <vt:lpstr>PowerPoint Presentation</vt:lpstr>
      <vt:lpstr>PowerPoint Presentation</vt:lpstr>
      <vt:lpstr>PowerPoint Presentation</vt:lpstr>
      <vt:lpstr>PowerPoint Presentation</vt:lpstr>
      <vt:lpstr>Activity</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Morgan Palomino</cp:lastModifiedBy>
  <cp:revision>27</cp:revision>
  <dcterms:created xsi:type="dcterms:W3CDTF">2015-03-17T18:51:18Z</dcterms:created>
  <dcterms:modified xsi:type="dcterms:W3CDTF">2023-03-03T18:33:18Z</dcterms:modified>
</cp:coreProperties>
</file>