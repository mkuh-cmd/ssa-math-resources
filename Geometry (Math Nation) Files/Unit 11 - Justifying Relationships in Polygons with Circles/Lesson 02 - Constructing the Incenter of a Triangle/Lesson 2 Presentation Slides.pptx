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85" r:id="rId4"/>
    <p:sldId id="286" r:id="rId5"/>
    <p:sldId id="261" r:id="rId6"/>
    <p:sldId id="287" r:id="rId7"/>
    <p:sldId id="288" r:id="rId8"/>
    <p:sldId id="320" r:id="rId9"/>
    <p:sldId id="311" r:id="rId10"/>
    <p:sldId id="312" r:id="rId11"/>
    <p:sldId id="313" r:id="rId12"/>
    <p:sldId id="315" r:id="rId13"/>
    <p:sldId id="314" r:id="rId14"/>
    <p:sldId id="316" r:id="rId15"/>
    <p:sldId id="317" r:id="rId16"/>
    <p:sldId id="318" r:id="rId17"/>
    <p:sldId id="319" r:id="rId18"/>
    <p:sldId id="306" r:id="rId19"/>
    <p:sldId id="307" r:id="rId20"/>
  </p:sldIdLst>
  <p:sldSz cx="12192000" cy="6858000"/>
  <p:notesSz cx="6858000" cy="9144000"/>
  <p:embeddedFontLst>
    <p:embeddedFont>
      <p:font typeface="Arial Black" panose="020B0A04020102020204" pitchFamily="34" charset="0"/>
      <p:bold r:id="rId22"/>
    </p:embeddedFont>
    <p:embeddedFont>
      <p:font typeface="Calibri" panose="020F0502020204030204" pitchFamily="34" charset="0"/>
      <p:regular r:id="rId23"/>
      <p:bold r:id="rId24"/>
      <p:italic r:id="rId25"/>
      <p:boldItalic r:id="rId26"/>
    </p:embeddedFont>
    <p:embeddedFont>
      <p:font typeface="Cambria" panose="02040503050406030204" pitchFamily="18"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55"/>
    <p:restoredTop sz="94490"/>
  </p:normalViewPr>
  <p:slideViewPr>
    <p:cSldViewPr snapToGrid="0">
      <p:cViewPr varScale="1">
        <p:scale>
          <a:sx n="79" d="100"/>
          <a:sy n="79" d="100"/>
        </p:scale>
        <p:origin x="104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772924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827547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790886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189081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022693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5797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56748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hyperlink" Target="http://www.vecteezy.com/spills-splatters/6375-splatter-pack-2" TargetMode="External"/><Relationship Id="rId5" Type="http://schemas.openxmlformats.org/officeDocument/2006/relationships/image" Target="../media/image35.jp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11,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Constructing the Incenter of a Triangle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182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12701"/>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1998" y="1622538"/>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MA.912.GR.5.3</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Construct the inscribed and circumscribed circles of a triangle.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29667"/>
            <a:ext cx="943464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390"/>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9" name="Google Shape;282;g104476d1465_1_17">
            <a:extLst>
              <a:ext uri="{FF2B5EF4-FFF2-40B4-BE49-F238E27FC236}">
                <a16:creationId xmlns:a16="http://schemas.microsoft.com/office/drawing/2014/main" id="{7C68EF67-7084-374F-BFBB-0794ED5C488D}"/>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565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74413"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57200" y="1600200"/>
            <a:ext cx="110667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construct an inscribed circle in a triangle.</a:t>
            </a:r>
          </a:p>
          <a:p>
            <a:pPr marL="571500" indent="-571500">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locate the incenter of a triangle.</a:t>
            </a:r>
          </a:p>
        </p:txBody>
      </p:sp>
      <p:sp>
        <p:nvSpPr>
          <p:cNvPr id="8" name="Google Shape;282;g104476d1465_1_17">
            <a:extLst>
              <a:ext uri="{FF2B5EF4-FFF2-40B4-BE49-F238E27FC236}">
                <a16:creationId xmlns:a16="http://schemas.microsoft.com/office/drawing/2014/main" id="{EF4834DD-316C-A241-B5E1-3F93D0E8CB4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70D83C6A-B270-1341-8D4D-7080D9E10081}"/>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1A53543-603B-854D-9F93-34FAFD1EB773}"/>
              </a:ext>
            </a:extLst>
          </p:cNvPr>
          <p:cNvGraphicFramePr>
            <a:graphicFrameLocks noGrp="1"/>
          </p:cNvGraphicFramePr>
          <p:nvPr>
            <p:extLst>
              <p:ext uri="{D42A27DB-BD31-4B8C-83A1-F6EECF244321}">
                <p14:modId xmlns:p14="http://schemas.microsoft.com/office/powerpoint/2010/main" val="2815841072"/>
              </p:ext>
            </p:extLst>
          </p:nvPr>
        </p:nvGraphicFramePr>
        <p:xfrm>
          <a:off x="782275" y="1302475"/>
          <a:ext cx="7315200" cy="4874489"/>
        </p:xfrm>
        <a:graphic>
          <a:graphicData uri="http://schemas.openxmlformats.org/drawingml/2006/table">
            <a:tbl>
              <a:tblPr firstRow="1" firstCol="1" bandRow="1">
                <a:tableStyleId>{A91F0D33-8C57-4600-99A7-42BC86742BE1}</a:tableStyleId>
              </a:tblPr>
              <a:tblGrid>
                <a:gridCol w="3657600">
                  <a:extLst>
                    <a:ext uri="{9D8B030D-6E8A-4147-A177-3AD203B41FA5}">
                      <a16:colId xmlns:a16="http://schemas.microsoft.com/office/drawing/2014/main" val="375426456"/>
                    </a:ext>
                  </a:extLst>
                </a:gridCol>
                <a:gridCol w="3657600">
                  <a:extLst>
                    <a:ext uri="{9D8B030D-6E8A-4147-A177-3AD203B41FA5}">
                      <a16:colId xmlns:a16="http://schemas.microsoft.com/office/drawing/2014/main" val="2289055925"/>
                    </a:ext>
                  </a:extLst>
                </a:gridCol>
              </a:tblGrid>
              <a:tr h="2393970">
                <a:tc>
                  <a:txBody>
                    <a:bodyPr/>
                    <a:lstStyle/>
                    <a:p>
                      <a:pPr marL="0" marR="0" algn="ctr">
                        <a:spcBef>
                          <a:spcPts val="600"/>
                        </a:spcBef>
                        <a:spcAft>
                          <a:spcPts val="0"/>
                        </a:spcAft>
                      </a:pPr>
                      <a:r>
                        <a:rPr lang="en-US" sz="1400" dirty="0">
                          <a:effectLst/>
                        </a:rPr>
                        <a:t> </a:t>
                      </a:r>
                      <a:endParaRPr lang="en-US" sz="9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1506" marR="5150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600"/>
                        </a:spcBef>
                        <a:spcAft>
                          <a:spcPts val="0"/>
                        </a:spcAft>
                      </a:pPr>
                      <a:r>
                        <a:rPr lang="en-US" sz="1400" dirty="0">
                          <a:effectLst/>
                        </a:rPr>
                        <a:t> </a:t>
                      </a:r>
                      <a:endParaRPr lang="en-US" sz="9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1506" marR="5150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1494632"/>
                  </a:ext>
                </a:extLst>
              </a:tr>
              <a:tr h="2480519">
                <a:tc gridSpan="2">
                  <a:txBody>
                    <a:bodyPr/>
                    <a:lstStyle/>
                    <a:p>
                      <a:pPr marL="0" marR="0" algn="ctr">
                        <a:spcBef>
                          <a:spcPts val="600"/>
                        </a:spcBef>
                        <a:spcAft>
                          <a:spcPts val="0"/>
                        </a:spcAft>
                      </a:pPr>
                      <a:r>
                        <a:rPr lang="en-US" sz="1400" dirty="0">
                          <a:effectLst/>
                        </a:rPr>
                        <a:t> </a:t>
                      </a:r>
                      <a:endParaRPr lang="en-US" sz="9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1506" marR="5150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548548411"/>
                  </a:ext>
                </a:extLst>
              </a:tr>
            </a:tbl>
          </a:graphicData>
        </a:graphic>
      </p:graphicFrame>
      <p:sp>
        <p:nvSpPr>
          <p:cNvPr id="278" name="Google Shape;278;g104476d1465_1_17"/>
          <p:cNvSpPr/>
          <p:nvPr/>
        </p:nvSpPr>
        <p:spPr>
          <a:xfrm>
            <a:off x="-57498"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995152" y="239710"/>
            <a:ext cx="8019300"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11.2.1 Warm-Up: Salt Pile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47852" y="1974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856C2D5A-FE47-5948-8D56-F6D4D085A9FB}"/>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pic>
        <p:nvPicPr>
          <p:cNvPr id="14" name="Picture 13">
            <a:extLst>
              <a:ext uri="{FF2B5EF4-FFF2-40B4-BE49-F238E27FC236}">
                <a16:creationId xmlns:a16="http://schemas.microsoft.com/office/drawing/2014/main" id="{8ACA4B42-86FE-4647-83D2-5FBE5D0685E3}"/>
              </a:ext>
            </a:extLst>
          </p:cNvPr>
          <p:cNvPicPr/>
          <p:nvPr/>
        </p:nvPicPr>
        <p:blipFill>
          <a:blip r:embed="rId5" cstate="screen">
            <a:extLst>
              <a:ext uri="{28A0092B-C50C-407E-A947-70E740481C1C}">
                <a14:useLocalDpi xmlns:a14="http://schemas.microsoft.com/office/drawing/2010/main"/>
              </a:ext>
            </a:extLst>
          </a:blip>
          <a:stretch>
            <a:fillRect/>
          </a:stretch>
        </p:blipFill>
        <p:spPr>
          <a:xfrm>
            <a:off x="1545788" y="1366976"/>
            <a:ext cx="2070116" cy="2244213"/>
          </a:xfrm>
          <a:prstGeom prst="rect">
            <a:avLst/>
          </a:prstGeom>
        </p:spPr>
      </p:pic>
      <p:pic>
        <p:nvPicPr>
          <p:cNvPr id="15" name="Picture 14">
            <a:extLst>
              <a:ext uri="{FF2B5EF4-FFF2-40B4-BE49-F238E27FC236}">
                <a16:creationId xmlns:a16="http://schemas.microsoft.com/office/drawing/2014/main" id="{E373944E-FF59-8D44-8912-5D5D4EDA2FA5}"/>
              </a:ext>
            </a:extLst>
          </p:cNvPr>
          <p:cNvPicPr/>
          <p:nvPr/>
        </p:nvPicPr>
        <p:blipFill>
          <a:blip r:embed="rId6" cstate="screen">
            <a:extLst>
              <a:ext uri="{28A0092B-C50C-407E-A947-70E740481C1C}">
                <a14:useLocalDpi xmlns:a14="http://schemas.microsoft.com/office/drawing/2010/main"/>
              </a:ext>
            </a:extLst>
          </a:blip>
          <a:stretch>
            <a:fillRect/>
          </a:stretch>
        </p:blipFill>
        <p:spPr>
          <a:xfrm>
            <a:off x="5430988" y="1366976"/>
            <a:ext cx="1864465" cy="2244213"/>
          </a:xfrm>
          <a:prstGeom prst="rect">
            <a:avLst/>
          </a:prstGeom>
        </p:spPr>
      </p:pic>
      <p:pic>
        <p:nvPicPr>
          <p:cNvPr id="16" name="Picture 15">
            <a:extLst>
              <a:ext uri="{FF2B5EF4-FFF2-40B4-BE49-F238E27FC236}">
                <a16:creationId xmlns:a16="http://schemas.microsoft.com/office/drawing/2014/main" id="{5E06BECD-2C38-A246-BB82-5F284D23703F}"/>
              </a:ext>
            </a:extLst>
          </p:cNvPr>
          <p:cNvPicPr/>
          <p:nvPr/>
        </p:nvPicPr>
        <p:blipFill>
          <a:blip r:embed="rId7" cstate="screen">
            <a:extLst>
              <a:ext uri="{28A0092B-C50C-407E-A947-70E740481C1C}">
                <a14:useLocalDpi xmlns:a14="http://schemas.microsoft.com/office/drawing/2010/main"/>
              </a:ext>
            </a:extLst>
          </a:blip>
          <a:stretch>
            <a:fillRect/>
          </a:stretch>
        </p:blipFill>
        <p:spPr>
          <a:xfrm>
            <a:off x="1822014" y="3785138"/>
            <a:ext cx="5232092" cy="2309899"/>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631201" y="276136"/>
            <a:ext cx="10793132" cy="5262979"/>
          </a:xfrm>
          <a:prstGeom prst="rect">
            <a:avLst/>
          </a:prstGeom>
          <a:noFill/>
        </p:spPr>
        <p:txBody>
          <a:bodyPr wrap="square" rtlCol="0">
            <a:spAutoFit/>
          </a:bodyPr>
          <a:lstStyle/>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PH"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Salt is poured onto a triangle until it piles up. As the salt piles up, the pile reaches a maximum height. As the salt reaches a maximum height, new grains of salt fall off whichever side of the triangle is closest.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wonder about the salt pile?</a:t>
            </a:r>
          </a:p>
        </p:txBody>
      </p:sp>
      <p:graphicFrame>
        <p:nvGraphicFramePr>
          <p:cNvPr id="2" name="Table 1">
            <a:extLst>
              <a:ext uri="{FF2B5EF4-FFF2-40B4-BE49-F238E27FC236}">
                <a16:creationId xmlns:a16="http://schemas.microsoft.com/office/drawing/2014/main" id="{82C86CA2-8CD2-5A41-B1A9-C2A6D6B7AC9C}"/>
              </a:ext>
            </a:extLst>
          </p:cNvPr>
          <p:cNvGraphicFramePr>
            <a:graphicFrameLocks noGrp="1"/>
          </p:cNvGraphicFramePr>
          <p:nvPr>
            <p:extLst>
              <p:ext uri="{D42A27DB-BD31-4B8C-83A1-F6EECF244321}">
                <p14:modId xmlns:p14="http://schemas.microsoft.com/office/powerpoint/2010/main" val="3642844635"/>
              </p:ext>
            </p:extLst>
          </p:nvPr>
        </p:nvGraphicFramePr>
        <p:xfrm>
          <a:off x="767667" y="292445"/>
          <a:ext cx="7976507" cy="2727926"/>
        </p:xfrm>
        <a:graphic>
          <a:graphicData uri="http://schemas.openxmlformats.org/drawingml/2006/table">
            <a:tbl>
              <a:tblPr firstRow="1" firstCol="1" bandRow="1">
                <a:tableStyleId>{A91F0D33-8C57-4600-99A7-42BC86742BE1}</a:tableStyleId>
              </a:tblPr>
              <a:tblGrid>
                <a:gridCol w="7976507">
                  <a:extLst>
                    <a:ext uri="{9D8B030D-6E8A-4147-A177-3AD203B41FA5}">
                      <a16:colId xmlns:a16="http://schemas.microsoft.com/office/drawing/2014/main" val="2711052352"/>
                    </a:ext>
                  </a:extLst>
                </a:gridCol>
              </a:tblGrid>
              <a:tr h="2727926">
                <a:tc>
                  <a:txBody>
                    <a:bodyPr/>
                    <a:lstStyle/>
                    <a:p>
                      <a:pPr marL="0" marR="0" algn="ctr">
                        <a:spcBef>
                          <a:spcPts val="60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085063"/>
                  </a:ext>
                </a:extLst>
              </a:tr>
            </a:tbl>
          </a:graphicData>
        </a:graphic>
      </p:graphicFrame>
      <p:sp>
        <p:nvSpPr>
          <p:cNvPr id="278" name="Google Shape;278;g104476d1465_1_17"/>
          <p:cNvSpPr/>
          <p:nvPr/>
        </p:nvSpPr>
        <p:spPr>
          <a:xfrm>
            <a:off x="-28002"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2155" y="6200599"/>
            <a:ext cx="563850" cy="657276"/>
          </a:xfrm>
          <a:prstGeom prst="rect">
            <a:avLst/>
          </a:prstGeom>
          <a:noFill/>
          <a:ln>
            <a:noFill/>
          </a:ln>
          <a:effectLst>
            <a:outerShdw blurRad="57150" dist="19050" dir="5400000" algn="bl" rotWithShape="0">
              <a:srgbClr val="000000">
                <a:alpha val="50000"/>
              </a:srgbClr>
            </a:outerShdw>
          </a:effectLst>
        </p:spPr>
      </p:pic>
      <p:pic>
        <p:nvPicPr>
          <p:cNvPr id="6" name="Picture 5">
            <a:extLst>
              <a:ext uri="{FF2B5EF4-FFF2-40B4-BE49-F238E27FC236}">
                <a16:creationId xmlns:a16="http://schemas.microsoft.com/office/drawing/2014/main" id="{1C25CCB2-F273-2C4F-8B88-661F279CA89E}"/>
              </a:ext>
            </a:extLst>
          </p:cNvPr>
          <p:cNvPicPr/>
          <p:nvPr/>
        </p:nvPicPr>
        <p:blipFill>
          <a:blip r:embed="rId4" cstate="screen">
            <a:extLst>
              <a:ext uri="{28A0092B-C50C-407E-A947-70E740481C1C}">
                <a14:useLocalDpi xmlns:a14="http://schemas.microsoft.com/office/drawing/2010/main"/>
              </a:ext>
            </a:extLst>
          </a:blip>
          <a:stretch>
            <a:fillRect/>
          </a:stretch>
        </p:blipFill>
        <p:spPr>
          <a:xfrm>
            <a:off x="2759832" y="345256"/>
            <a:ext cx="4069874" cy="2593470"/>
          </a:xfrm>
          <a:prstGeom prst="rect">
            <a:avLst/>
          </a:prstGeom>
        </p:spPr>
      </p:pic>
      <p:sp>
        <p:nvSpPr>
          <p:cNvPr id="8" name="Google Shape;282;g104476d1465_1_17">
            <a:extLst>
              <a:ext uri="{FF2B5EF4-FFF2-40B4-BE49-F238E27FC236}">
                <a16:creationId xmlns:a16="http://schemas.microsoft.com/office/drawing/2014/main" id="{E2960005-71F6-4A48-B26A-BB764B13FB38}"/>
              </a:ext>
            </a:extLst>
          </p:cNvPr>
          <p:cNvSpPr txBox="1"/>
          <p:nvPr/>
        </p:nvSpPr>
        <p:spPr>
          <a:xfrm>
            <a:off x="881392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659202" y="300670"/>
            <a:ext cx="10864721" cy="2308324"/>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salt pile?</a:t>
            </a:r>
          </a:p>
          <a:p>
            <a:pPr marL="457200" indent="-457200">
              <a:buFont typeface="+mj-lt"/>
              <a:buAutoNum type="arabicPeriod" startAt="2"/>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point where the salt reaches a maximum? </a:t>
            </a:r>
          </a:p>
        </p:txBody>
      </p:sp>
      <p:sp>
        <p:nvSpPr>
          <p:cNvPr id="8" name="Google Shape;282;g104476d1465_1_17">
            <a:extLst>
              <a:ext uri="{FF2B5EF4-FFF2-40B4-BE49-F238E27FC236}">
                <a16:creationId xmlns:a16="http://schemas.microsoft.com/office/drawing/2014/main" id="{E2960005-71F6-4A48-B26A-BB764B13FB3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182</a:t>
            </a:r>
            <a:endParaRPr i="1" dirty="0">
              <a:latin typeface="Calibri"/>
              <a:ea typeface="Calibri"/>
              <a:cs typeface="Calibri"/>
              <a:sym typeface="Calibri"/>
            </a:endParaRPr>
          </a:p>
        </p:txBody>
      </p:sp>
    </p:spTree>
    <p:extLst>
      <p:ext uri="{BB962C8B-B14F-4D97-AF65-F5344CB8AC3E}">
        <p14:creationId xmlns:p14="http://schemas.microsoft.com/office/powerpoint/2010/main" val="112234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63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282;g104476d1465_1_17">
            <a:extLst>
              <a:ext uri="{FF2B5EF4-FFF2-40B4-BE49-F238E27FC236}">
                <a16:creationId xmlns:a16="http://schemas.microsoft.com/office/drawing/2014/main" id="{9887BB03-E9A9-1D46-8199-DAB8E53D9E5B}"/>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183</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92963F6-9D8C-D045-8BF8-13266EC43F72}"/>
              </a:ext>
            </a:extLst>
          </p:cNvPr>
          <p:cNvGraphicFramePr>
            <a:graphicFrameLocks noGrp="1"/>
          </p:cNvGraphicFramePr>
          <p:nvPr>
            <p:extLst>
              <p:ext uri="{D42A27DB-BD31-4B8C-83A1-F6EECF244321}">
                <p14:modId xmlns:p14="http://schemas.microsoft.com/office/powerpoint/2010/main" val="528381881"/>
              </p:ext>
            </p:extLst>
          </p:nvPr>
        </p:nvGraphicFramePr>
        <p:xfrm>
          <a:off x="1633300" y="2396218"/>
          <a:ext cx="6743700" cy="3960000"/>
        </p:xfrm>
        <a:graphic>
          <a:graphicData uri="http://schemas.openxmlformats.org/drawingml/2006/table">
            <a:tbl>
              <a:tblPr firstRow="1" firstCol="1" bandRow="1">
                <a:tableStyleId>{A91F0D33-8C57-4600-99A7-42BC86742BE1}</a:tableStyleId>
              </a:tblPr>
              <a:tblGrid>
                <a:gridCol w="1316355">
                  <a:extLst>
                    <a:ext uri="{9D8B030D-6E8A-4147-A177-3AD203B41FA5}">
                      <a16:colId xmlns:a16="http://schemas.microsoft.com/office/drawing/2014/main" val="1393546156"/>
                    </a:ext>
                  </a:extLst>
                </a:gridCol>
                <a:gridCol w="5427345">
                  <a:extLst>
                    <a:ext uri="{9D8B030D-6E8A-4147-A177-3AD203B41FA5}">
                      <a16:colId xmlns:a16="http://schemas.microsoft.com/office/drawing/2014/main" val="3108438648"/>
                    </a:ext>
                  </a:extLst>
                </a:gridCol>
              </a:tblGrid>
              <a:tr h="396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Acute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600"/>
                        </a:spcBef>
                        <a:spcAft>
                          <a:spcPts val="60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824672"/>
                  </a:ext>
                </a:extLst>
              </a:tr>
            </a:tbl>
          </a:graphicData>
        </a:graphic>
      </p:graphicFrame>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961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400" b="1" dirty="0">
                <a:solidFill>
                  <a:srgbClr val="33BEA6"/>
                </a:solidFill>
                <a:latin typeface="Verdana"/>
                <a:ea typeface="Verdana"/>
                <a:cs typeface="Verdana"/>
                <a:sym typeface="Verdana"/>
              </a:rPr>
              <a:t>11.2.2 Exploration: Constructing an Inscribed Circle</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93248" y="1386025"/>
                <a:ext cx="9686378" cy="861774"/>
              </a:xfrm>
              <a:prstGeom prst="rect">
                <a:avLst/>
              </a:prstGeom>
              <a:noFill/>
            </p:spPr>
            <p:txBody>
              <a:bodyPr wrap="square" rtlCol="0">
                <a:spAutoFit/>
              </a:bodyPr>
              <a:lstStyle/>
              <a:p>
                <a:pPr marL="457200" indent="-457200">
                  <a:spcAft>
                    <a:spcPts val="1200"/>
                  </a:spcAft>
                </a:pPr>
                <a:r>
                  <a:rPr lang="en-PH" sz="2000" dirty="0">
                    <a:latin typeface="Verdana" pitchFamily="34" charset="0"/>
                    <a:ea typeface="Verdana" pitchFamily="34" charset="0"/>
                  </a:rPr>
                  <a:t>1.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𝑁𝑌𝐵</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is shown as three different types of triangles.</a:t>
                </a: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each point of concurrency as point </a:t>
                </a:r>
                <a14:m>
                  <m:oMath xmlns:m="http://schemas.openxmlformats.org/officeDocument/2006/math">
                    <m:r>
                      <a:rPr lang="en-US" sz="2000" i="1">
                        <a:latin typeface="Cambria Math" panose="02040503050406030204" pitchFamily="18" charset="0"/>
                        <a:ea typeface="Cambria Math" panose="020405030504060302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93248" y="1386025"/>
                <a:ext cx="9686378" cy="861774"/>
              </a:xfrm>
              <a:prstGeom prst="rect">
                <a:avLst/>
              </a:prstGeom>
              <a:blipFill>
                <a:blip r:embed="rId5"/>
                <a:stretch>
                  <a:fillRect l="-629" t="-3521" b="-11972"/>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54B761F2-47D3-3346-BBD2-6EC99D8E38A3}"/>
              </a:ext>
            </a:extLst>
          </p:cNvPr>
          <p:cNvSpPr txBox="1"/>
          <p:nvPr/>
        </p:nvSpPr>
        <p:spPr>
          <a:xfrm>
            <a:off x="8889924" y="64366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183</a:t>
            </a:r>
            <a:endParaRPr i="1" dirty="0">
              <a:latin typeface="Calibri"/>
              <a:ea typeface="Calibri"/>
              <a:cs typeface="Calibri"/>
              <a:sym typeface="Calibri"/>
            </a:endParaRPr>
          </a:p>
        </p:txBody>
      </p:sp>
      <p:pic>
        <p:nvPicPr>
          <p:cNvPr id="13" name="Picture 12"/>
          <p:cNvPicPr/>
          <p:nvPr/>
        </p:nvPicPr>
        <p:blipFill>
          <a:blip r:embed="rId6">
            <a:extLst>
              <a:ext uri="{28A0092B-C50C-407E-A947-70E740481C1C}">
                <a14:useLocalDpi xmlns:a14="http://schemas.microsoft.com/office/drawing/2010/main"/>
              </a:ext>
            </a:extLst>
          </a:blip>
          <a:stretch>
            <a:fillRect/>
          </a:stretch>
        </p:blipFill>
        <p:spPr>
          <a:xfrm>
            <a:off x="3336125" y="2886393"/>
            <a:ext cx="4737100" cy="3047365"/>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CFE5D0-C8CE-2D4E-A577-371B4A5560D6}"/>
              </a:ext>
            </a:extLst>
          </p:cNvPr>
          <p:cNvGraphicFramePr>
            <a:graphicFrameLocks noGrp="1"/>
          </p:cNvGraphicFramePr>
          <p:nvPr>
            <p:extLst>
              <p:ext uri="{D42A27DB-BD31-4B8C-83A1-F6EECF244321}">
                <p14:modId xmlns:p14="http://schemas.microsoft.com/office/powerpoint/2010/main" val="1523708941"/>
              </p:ext>
            </p:extLst>
          </p:nvPr>
        </p:nvGraphicFramePr>
        <p:xfrm>
          <a:off x="1256950" y="318132"/>
          <a:ext cx="6743700" cy="5882468"/>
        </p:xfrm>
        <a:graphic>
          <a:graphicData uri="http://schemas.openxmlformats.org/drawingml/2006/table">
            <a:tbl>
              <a:tblPr firstRow="1" firstCol="1" bandRow="1">
                <a:tableStyleId>{A91F0D33-8C57-4600-99A7-42BC86742BE1}</a:tableStyleId>
              </a:tblPr>
              <a:tblGrid>
                <a:gridCol w="1316355">
                  <a:extLst>
                    <a:ext uri="{9D8B030D-6E8A-4147-A177-3AD203B41FA5}">
                      <a16:colId xmlns:a16="http://schemas.microsoft.com/office/drawing/2014/main" val="3617610411"/>
                    </a:ext>
                  </a:extLst>
                </a:gridCol>
                <a:gridCol w="5427345">
                  <a:extLst>
                    <a:ext uri="{9D8B030D-6E8A-4147-A177-3AD203B41FA5}">
                      <a16:colId xmlns:a16="http://schemas.microsoft.com/office/drawing/2014/main" val="1328972671"/>
                    </a:ext>
                  </a:extLst>
                </a:gridCol>
              </a:tblGrid>
              <a:tr h="331671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Right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600"/>
                        </a:spcBef>
                        <a:spcAft>
                          <a:spcPts val="60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9210442"/>
                  </a:ext>
                </a:extLst>
              </a:tr>
              <a:tr h="256575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Obtuse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algn="ctr">
                        <a:spcBef>
                          <a:spcPts val="600"/>
                        </a:spcBef>
                        <a:spcAft>
                          <a:spcPts val="60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3876064"/>
                  </a:ext>
                </a:extLst>
              </a:tr>
            </a:tbl>
          </a:graphicData>
        </a:graphic>
      </p:graphicFrame>
      <p:sp>
        <p:nvSpPr>
          <p:cNvPr id="278" name="Google Shape;278;g104476d1465_1_17"/>
          <p:cNvSpPr/>
          <p:nvPr/>
        </p:nvSpPr>
        <p:spPr>
          <a:xfrm>
            <a:off x="0" y="-8226"/>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1290"/>
            <a:ext cx="563850" cy="657276"/>
          </a:xfrm>
          <a:prstGeom prst="rect">
            <a:avLst/>
          </a:prstGeom>
          <a:noFill/>
          <a:ln>
            <a:noFill/>
          </a:ln>
          <a:effectLst>
            <a:outerShdw blurRad="57150" dist="19050" dir="5400000" algn="bl" rotWithShape="0">
              <a:srgbClr val="000000">
                <a:alpha val="50000"/>
              </a:srgbClr>
            </a:outerShdw>
          </a:effectLst>
        </p:spPr>
      </p:pic>
      <p:pic>
        <p:nvPicPr>
          <p:cNvPr id="6" name="Picture 5">
            <a:extLst>
              <a:ext uri="{FF2B5EF4-FFF2-40B4-BE49-F238E27FC236}">
                <a16:creationId xmlns:a16="http://schemas.microsoft.com/office/drawing/2014/main" id="{CC6D4F0D-1A0D-E643-A86C-7DFA103D6047}"/>
              </a:ext>
            </a:extLst>
          </p:cNvPr>
          <p:cNvPicPr/>
          <p:nvPr/>
        </p:nvPicPr>
        <p:blipFill>
          <a:blip r:embed="rId4"/>
          <a:stretch>
            <a:fillRect/>
          </a:stretch>
        </p:blipFill>
        <p:spPr>
          <a:xfrm>
            <a:off x="3470261" y="518589"/>
            <a:ext cx="3588464" cy="2920592"/>
          </a:xfrm>
          <a:prstGeom prst="rect">
            <a:avLst/>
          </a:prstGeom>
        </p:spPr>
      </p:pic>
      <p:pic>
        <p:nvPicPr>
          <p:cNvPr id="7" name="Picture 6">
            <a:extLst>
              <a:ext uri="{FF2B5EF4-FFF2-40B4-BE49-F238E27FC236}">
                <a16:creationId xmlns:a16="http://schemas.microsoft.com/office/drawing/2014/main" id="{23A79D45-FD0B-7749-ABB9-99F0C05BF062}"/>
              </a:ext>
            </a:extLst>
          </p:cNvPr>
          <p:cNvPicPr/>
          <p:nvPr/>
        </p:nvPicPr>
        <p:blipFill>
          <a:blip r:embed="rId5">
            <a:extLst>
              <a:ext uri="{28A0092B-C50C-407E-A947-70E740481C1C}">
                <a14:useLocalDpi xmlns:a14="http://schemas.microsoft.com/office/drawing/2010/main"/>
              </a:ext>
            </a:extLst>
          </a:blip>
          <a:stretch>
            <a:fillRect/>
          </a:stretch>
        </p:blipFill>
        <p:spPr>
          <a:xfrm>
            <a:off x="2727261" y="3772456"/>
            <a:ext cx="5139055" cy="2231390"/>
          </a:xfrm>
          <a:prstGeom prst="rect">
            <a:avLst/>
          </a:prstGeom>
        </p:spPr>
      </p:pic>
      <p:sp>
        <p:nvSpPr>
          <p:cNvPr id="9" name="Google Shape;282;g104476d1465_1_17">
            <a:extLst>
              <a:ext uri="{FF2B5EF4-FFF2-40B4-BE49-F238E27FC236}">
                <a16:creationId xmlns:a16="http://schemas.microsoft.com/office/drawing/2014/main" id="{A2AE0510-F0E8-4444-A16B-D9B91CA98AB6}"/>
              </a:ext>
            </a:extLst>
          </p:cNvPr>
          <p:cNvSpPr txBox="1"/>
          <p:nvPr/>
        </p:nvSpPr>
        <p:spPr>
          <a:xfrm>
            <a:off x="8889924" y="64383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183</a:t>
            </a:r>
            <a:endParaRPr i="1" dirty="0">
              <a:latin typeface="Calibri"/>
              <a:ea typeface="Calibri"/>
              <a:cs typeface="Calibri"/>
              <a:sym typeface="Calibri"/>
            </a:endParaRPr>
          </a:p>
        </p:txBody>
      </p:sp>
    </p:spTree>
    <p:extLst>
      <p:ext uri="{BB962C8B-B14F-4D97-AF65-F5344CB8AC3E}">
        <p14:creationId xmlns:p14="http://schemas.microsoft.com/office/powerpoint/2010/main" val="687834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p:cNvPicPr/>
          <p:nvPr/>
        </p:nvPicPr>
        <p:blipFill>
          <a:blip r:embed="rId3"/>
          <a:stretch>
            <a:fillRect/>
          </a:stretch>
        </p:blipFill>
        <p:spPr>
          <a:xfrm>
            <a:off x="6917652" y="1571626"/>
            <a:ext cx="4534828" cy="3108135"/>
          </a:xfrm>
          <a:prstGeom prst="rect">
            <a:avLst/>
          </a:prstGeom>
        </p:spPr>
      </p:pic>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6688"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0565" y="292445"/>
                <a:ext cx="8327136" cy="5016758"/>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three different triangles and point </a:t>
                </a:r>
                <a14:m>
                  <m:oMath xmlns:m="http://schemas.openxmlformats.org/officeDocument/2006/math">
                    <m:r>
                      <a:rPr lang="en-US" sz="2000" i="1">
                        <a:latin typeface="Cambria Math" panose="02040503050406030204" pitchFamily="18" charset="0"/>
                        <a:ea typeface="Cambria Math" panose="020405030504060302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 the point of concurrency?</a:t>
                </a: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r>
                  <a:rPr lang="en-PH" sz="2000" dirty="0">
                    <a:latin typeface="Verdana" panose="020B0604030504040204" pitchFamily="34" charset="0"/>
                    <a:ea typeface="Verdana" panose="020B0604030504040204" pitchFamily="34" charset="0"/>
                    <a:cs typeface="Verdana" panose="020B0604030504040204" pitchFamily="34" charset="0"/>
                  </a:rPr>
                  <a:t>2.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𝑅𝐻𝑊</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is shown where each angle is bisected.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three angle bisectors meet at point </a:t>
                </a:r>
                <a14:m>
                  <m:oMath xmlns:m="http://schemas.openxmlformats.org/officeDocument/2006/math">
                    <m:r>
                      <a:rPr lang="en-US" sz="2000" i="1">
                        <a:latin typeface="Cambria Math" panose="02040503050406030204" pitchFamily="18" charset="0"/>
                        <a:ea typeface="Cambria Math" panose="02040503050406030204" pitchFamily="18" charset="0"/>
                      </a:rPr>
                      <m:t>𝑇</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How is circle </a:t>
                </a:r>
                <a14:m>
                  <m:oMath xmlns:m="http://schemas.openxmlformats.org/officeDocument/2006/math">
                    <m:r>
                      <a:rPr lang="en-US" sz="2000" i="1">
                        <a:latin typeface="Cambria Math" panose="02040503050406030204" pitchFamily="18" charset="0"/>
                        <a:ea typeface="Cambria Math" panose="02040503050406030204" pitchFamily="18" charset="0"/>
                      </a:rPr>
                      <m:t>𝑇</m:t>
                    </m:r>
                  </m:oMath>
                </a14:m>
                <a:r>
                  <a:rPr lang="en-US" sz="2000" dirty="0">
                    <a:latin typeface="Verdana" panose="020B0604030504040204" pitchFamily="34" charset="0"/>
                    <a:ea typeface="Verdana" panose="020B0604030504040204" pitchFamily="34" charset="0"/>
                    <a:cs typeface="Verdana" panose="020B0604030504040204" pitchFamily="34" charset="0"/>
                  </a:rPr>
                  <a:t> related to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𝑅𝐻𝑊</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Use a compass to draw the inscribed circles for each type of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𝑁𝑌𝐵</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in problem 1.</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292445"/>
                <a:ext cx="8327136" cy="5016758"/>
              </a:xfrm>
              <a:prstGeom prst="rect">
                <a:avLst/>
              </a:prstGeom>
              <a:blipFill>
                <a:blip r:embed="rId5"/>
                <a:stretch>
                  <a:fillRect l="-805" t="-851" r="-1757" b="-1215"/>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82E00FFE-9F48-5E4D-B794-67A6F4F54D8D}"/>
              </a:ext>
            </a:extLst>
          </p:cNvPr>
          <p:cNvSpPr txBox="1"/>
          <p:nvPr/>
        </p:nvSpPr>
        <p:spPr>
          <a:xfrm>
            <a:off x="8878462"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184</a:t>
            </a:r>
            <a:endParaRPr i="1" dirty="0">
              <a:latin typeface="Calibri"/>
              <a:ea typeface="Calibri"/>
              <a:cs typeface="Calibri"/>
              <a:sym typeface="Calibri"/>
            </a:endParaRPr>
          </a:p>
        </p:txBody>
      </p:sp>
    </p:spTree>
    <p:extLst>
      <p:ext uri="{BB962C8B-B14F-4D97-AF65-F5344CB8AC3E}">
        <p14:creationId xmlns:p14="http://schemas.microsoft.com/office/powerpoint/2010/main" val="1580750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0" name="Picture 9" descr="A screenshot of a computer&#10;&#10;Description automatically generated with medium confidence"/>
          <p:cNvPicPr/>
          <p:nvPr/>
        </p:nvPicPr>
        <p:blipFill>
          <a:blip r:embed="rId3" cstate="screen">
            <a:extLst>
              <a:ext uri="{28A0092B-C50C-407E-A947-70E740481C1C}">
                <a14:useLocalDpi xmlns:a14="http://schemas.microsoft.com/office/drawing/2010/main"/>
              </a:ext>
            </a:extLst>
          </a:blip>
          <a:stretch>
            <a:fillRect/>
          </a:stretch>
        </p:blipFill>
        <p:spPr>
          <a:xfrm>
            <a:off x="5929556" y="1426959"/>
            <a:ext cx="5876290" cy="3159125"/>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4EB5C6-2FDE-474B-866F-02AD6706D73C}"/>
                  </a:ext>
                </a:extLst>
              </p:cNvPr>
              <p:cNvSpPr txBox="1"/>
              <p:nvPr/>
            </p:nvSpPr>
            <p:spPr>
              <a:xfrm>
                <a:off x="540565" y="305068"/>
                <a:ext cx="8327136" cy="6247864"/>
              </a:xfrm>
              <a:prstGeom prst="rect">
                <a:avLst/>
              </a:prstGeom>
              <a:noFill/>
            </p:spPr>
            <p:txBody>
              <a:bodyPr wrap="square" rtlCol="0">
                <a:spAutoFit/>
              </a:bodyPr>
              <a:lstStyle/>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Consider </a:t>
                </a:r>
                <a14:m>
                  <m:oMath xmlns:m="http://schemas.openxmlformats.org/officeDocument/2006/math">
                    <m:r>
                      <a:rPr lang="en-US" sz="2000" i="1">
                        <a:latin typeface="Cambria Math"/>
                      </a:rPr>
                      <m:t>∆</m:t>
                    </m:r>
                    <m:r>
                      <a:rPr lang="en-US" sz="2000" i="1">
                        <a:latin typeface="Cambria Math"/>
                      </a:rPr>
                      <m:t>𝐾𝑊𝐵</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Copy </a:t>
                </a:r>
                <a14:m>
                  <m:oMath xmlns:m="http://schemas.openxmlformats.org/officeDocument/2006/math">
                    <m:r>
                      <a:rPr lang="en-US" sz="2000" i="1">
                        <a:latin typeface="Cambria Math"/>
                      </a:rPr>
                      <m:t>∆</m:t>
                    </m:r>
                    <m:r>
                      <a:rPr lang="en-US" sz="2000" i="1">
                        <a:latin typeface="Cambria Math"/>
                      </a:rPr>
                      <m:t>𝐾𝑊𝐵</m:t>
                    </m:r>
                  </m:oMath>
                </a14:m>
                <a:r>
                  <a:rPr lang="en-US" sz="2000" dirty="0">
                    <a:latin typeface="Verdana" panose="020B0604030504040204" pitchFamily="34" charset="0"/>
                    <a:ea typeface="Verdana" panose="020B0604030504040204" pitchFamily="34" charset="0"/>
                    <a:cs typeface="Verdana" panose="020B0604030504040204" pitchFamily="34" charset="0"/>
                  </a:rPr>
                  <a:t> onto patty paper and find the incenter of the triangle by constructing the angle bisectors. Label the incenter of </a:t>
                </a:r>
                <a14:m>
                  <m:oMath xmlns:m="http://schemas.openxmlformats.org/officeDocument/2006/math">
                    <m:r>
                      <a:rPr lang="en-US" sz="2000" i="1">
                        <a:latin typeface="Cambria Math"/>
                      </a:rPr>
                      <m:t>∆</m:t>
                    </m:r>
                    <m:r>
                      <a:rPr lang="en-US" sz="2000" i="1">
                        <a:latin typeface="Cambria Math"/>
                      </a:rPr>
                      <m:t>𝐾𝑊𝐵</m:t>
                    </m:r>
                  </m:oMath>
                </a14:m>
                <a:r>
                  <a:rPr lang="en-US" sz="2000" dirty="0">
                    <a:latin typeface="Verdana" panose="020B0604030504040204" pitchFamily="34" charset="0"/>
                    <a:ea typeface="Verdana" panose="020B0604030504040204" pitchFamily="34" charset="0"/>
                    <a:cs typeface="Verdana" panose="020B0604030504040204" pitchFamily="34" charset="0"/>
                  </a:rPr>
                  <a:t> as point </a:t>
                </a:r>
                <a14:m>
                  <m:oMath xmlns:m="http://schemas.openxmlformats.org/officeDocument/2006/math">
                    <m:r>
                      <a:rPr lang="en-US" sz="2000" i="1">
                        <a:latin typeface="Cambria Math"/>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Draw the inscribed circle for </a:t>
                </a:r>
                <a14:m>
                  <m:oMath xmlns:m="http://schemas.openxmlformats.org/officeDocument/2006/math">
                    <m:r>
                      <a:rPr lang="en-US" sz="2000" i="1">
                        <a:latin typeface="Cambria Math"/>
                      </a:rPr>
                      <m:t>∆</m:t>
                    </m:r>
                    <m:r>
                      <a:rPr lang="en-US" sz="2000" i="1">
                        <a:latin typeface="Cambria Math"/>
                      </a:rPr>
                      <m:t>𝐾𝑊𝐵</m:t>
                    </m:r>
                  </m:oMath>
                </a14:m>
                <a:r>
                  <a:rPr lang="en-US" sz="2000" dirty="0">
                    <a:latin typeface="Verdana" panose="020B0604030504040204" pitchFamily="34" charset="0"/>
                    <a:ea typeface="Verdana" panose="020B0604030504040204" pitchFamily="34" charset="0"/>
                    <a:cs typeface="Verdana" panose="020B0604030504040204" pitchFamily="34" charset="0"/>
                  </a:rPr>
                  <a:t> using point </a:t>
                </a:r>
                <a14:m>
                  <m:oMath xmlns:m="http://schemas.openxmlformats.org/officeDocument/2006/math">
                    <m:r>
                      <a:rPr lang="en-US" sz="2000" i="1">
                        <a:latin typeface="Cambria Math"/>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 the incenter, as the center of the circle. </a:t>
                </a:r>
              </a:p>
            </p:txBody>
          </p:sp>
        </mc:Choice>
        <mc:Fallback xmlns="">
          <p:sp>
            <p:nvSpPr>
              <p:cNvPr id="9" name="TextBox 8">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305068"/>
                <a:ext cx="8327136" cy="6247864"/>
              </a:xfrm>
              <a:prstGeom prst="rect">
                <a:avLst/>
              </a:prstGeom>
              <a:blipFill>
                <a:blip r:embed="rId4"/>
                <a:stretch>
                  <a:fillRect l="-805" b="-780"/>
                </a:stretch>
              </a:blipFill>
            </p:spPr>
            <p:txBody>
              <a:bodyPr/>
              <a:lstStyle/>
              <a:p>
                <a:r>
                  <a:rPr lang="en-US">
                    <a:noFill/>
                  </a:rPr>
                  <a:t> </a:t>
                </a:r>
              </a:p>
            </p:txBody>
          </p:sp>
        </mc:Fallback>
      </mc:AlternateContent>
      <p:sp>
        <p:nvSpPr>
          <p:cNvPr id="278" name="Google Shape;278;g104476d1465_1_17"/>
          <p:cNvSpPr/>
          <p:nvPr/>
        </p:nvSpPr>
        <p:spPr>
          <a:xfrm>
            <a:off x="0" y="4398"/>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Rounded Rectangle 6">
            <a:extLst>
              <a:ext uri="{FF2B5EF4-FFF2-40B4-BE49-F238E27FC236}">
                <a16:creationId xmlns:a16="http://schemas.microsoft.com/office/drawing/2014/main" id="{782A1551-F9DF-D747-98C3-F2DD7ACEF1FC}"/>
              </a:ext>
            </a:extLst>
          </p:cNvPr>
          <p:cNvSpPr/>
          <p:nvPr/>
        </p:nvSpPr>
        <p:spPr>
          <a:xfrm>
            <a:off x="1095342" y="305068"/>
            <a:ext cx="6962459" cy="92507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182880" tIns="91440" rIns="91425" bIns="0" anchor="ctr" anchorCtr="0">
            <a:spAutoFit/>
          </a:bodyPr>
          <a:lstStyle/>
          <a:p>
            <a:pPr>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point of concurrency of the angle bisectors of a triangle is 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incenter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Google Shape;282;g104476d1465_1_17">
            <a:extLst>
              <a:ext uri="{FF2B5EF4-FFF2-40B4-BE49-F238E27FC236}">
                <a16:creationId xmlns:a16="http://schemas.microsoft.com/office/drawing/2014/main" id="{9403996E-7AA0-904A-8061-2AAC0BC2C62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184</a:t>
            </a:r>
            <a:endParaRPr i="1" dirty="0">
              <a:latin typeface="Calibri"/>
              <a:ea typeface="Calibri"/>
              <a:cs typeface="Calibri"/>
              <a:sym typeface="Calibri"/>
            </a:endParaRPr>
          </a:p>
        </p:txBody>
      </p:sp>
    </p:spTree>
    <p:extLst>
      <p:ext uri="{BB962C8B-B14F-4D97-AF65-F5344CB8AC3E}">
        <p14:creationId xmlns:p14="http://schemas.microsoft.com/office/powerpoint/2010/main" val="152038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0565" y="374089"/>
                <a:ext cx="11065362" cy="5633017"/>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Noah is concerned that when he draws the inscribed circle, he does not have the exact points on the triangle where the circle intersects the triangle. He drew three perpendicular lines from the center to each side. </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When Circle </a:t>
                </a:r>
                <a14:m>
                  <m:oMath xmlns:m="http://schemas.openxmlformats.org/officeDocument/2006/math">
                    <m:r>
                      <a:rPr lang="en-US" sz="2000" i="1">
                        <a:latin typeface="Cambria Math" panose="02040503050406030204" pitchFamily="18" charset="0"/>
                        <a:ea typeface="Cambria Math" panose="020405030504060302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 is drawn on Noah’s version of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𝐾𝑊𝐵</m:t>
                    </m:r>
                  </m:oMath>
                </a14:m>
                <a:r>
                  <a:rPr lang="en-US" sz="2000" dirty="0">
                    <a:latin typeface="Verdana" panose="020B0604030504040204" pitchFamily="34" charset="0"/>
                    <a:ea typeface="Verdana" panose="020B0604030504040204" pitchFamily="34" charset="0"/>
                    <a:cs typeface="Verdana" panose="020B0604030504040204" pitchFamily="34" charset="0"/>
                  </a:rPr>
                  <a:t>, what relationship do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𝐻𝑅</m:t>
                        </m:r>
                      </m:e>
                    </m:acc>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𝐻𝑇</m:t>
                        </m:r>
                      </m:e>
                    </m:acc>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𝐻𝐶</m:t>
                        </m:r>
                      </m:e>
                    </m:acc>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have to each other and to Circle </a:t>
                </a:r>
                <a14:m>
                  <m:oMath xmlns:m="http://schemas.openxmlformats.org/officeDocument/2006/math">
                    <m:r>
                      <a:rPr lang="en-US" sz="2000" i="1">
                        <a:latin typeface="Cambria Math" panose="02040503050406030204" pitchFamily="18" charset="0"/>
                        <a:ea typeface="Cambria Math" panose="020405030504060302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Draw Circle </a:t>
                </a:r>
                <a14:m>
                  <m:oMath xmlns:m="http://schemas.openxmlformats.org/officeDocument/2006/math">
                    <m:r>
                      <a:rPr lang="en-US" sz="2000" i="1">
                        <a:latin typeface="Cambria Math" panose="02040503050406030204" pitchFamily="18" charset="0"/>
                        <a:ea typeface="Cambria Math" panose="020405030504060302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 that passes through points </a:t>
                </a:r>
                <a14:m>
                  <m:oMath xmlns:m="http://schemas.openxmlformats.org/officeDocument/2006/math">
                    <m:r>
                      <a:rPr lang="en-US" sz="2000" i="1">
                        <a:latin typeface="Cambria Math" panose="02040503050406030204" pitchFamily="18" charset="0"/>
                        <a:ea typeface="Cambria Math" panose="02040503050406030204" pitchFamily="18" charset="0"/>
                      </a:rPr>
                      <m:t>𝑇</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𝐶</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374089"/>
                <a:ext cx="11065362" cy="5633017"/>
              </a:xfrm>
              <a:prstGeom prst="rect">
                <a:avLst/>
              </a:prstGeom>
              <a:blipFill>
                <a:blip r:embed="rId4"/>
                <a:stretch>
                  <a:fillRect t="-649" r="-55" b="-1082"/>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7F3A53C-2647-7741-A6FC-AB75E8BB7834}"/>
              </a:ext>
            </a:extLst>
          </p:cNvPr>
          <p:cNvPicPr/>
          <p:nvPr/>
        </p:nvPicPr>
        <p:blipFill>
          <a:blip r:embed="rId5" cstate="screen">
            <a:extLst>
              <a:ext uri="{28A0092B-C50C-407E-A947-70E740481C1C}">
                <a14:useLocalDpi xmlns:a14="http://schemas.microsoft.com/office/drawing/2010/main"/>
              </a:ext>
            </a:extLst>
          </a:blip>
          <a:stretch>
            <a:fillRect/>
          </a:stretch>
        </p:blipFill>
        <p:spPr>
          <a:xfrm>
            <a:off x="2231081" y="1474687"/>
            <a:ext cx="5243246" cy="2804705"/>
          </a:xfrm>
          <a:prstGeom prst="rect">
            <a:avLst/>
          </a:prstGeom>
        </p:spPr>
      </p:pic>
      <p:sp>
        <p:nvSpPr>
          <p:cNvPr id="7" name="Google Shape;282;g104476d1465_1_17">
            <a:extLst>
              <a:ext uri="{FF2B5EF4-FFF2-40B4-BE49-F238E27FC236}">
                <a16:creationId xmlns:a16="http://schemas.microsoft.com/office/drawing/2014/main" id="{C35FD761-3439-C14C-ACE9-97F2F76F829F}"/>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185</a:t>
            </a:r>
            <a:endParaRPr i="1" dirty="0">
              <a:latin typeface="Calibri"/>
              <a:ea typeface="Calibri"/>
              <a:cs typeface="Calibri"/>
              <a:sym typeface="Calibri"/>
            </a:endParaRPr>
          </a:p>
        </p:txBody>
      </p:sp>
    </p:spTree>
    <p:extLst>
      <p:ext uri="{BB962C8B-B14F-4D97-AF65-F5344CB8AC3E}">
        <p14:creationId xmlns:p14="http://schemas.microsoft.com/office/powerpoint/2010/main" val="1293232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0565" y="374089"/>
                <a:ext cx="10961136" cy="707886"/>
              </a:xfrm>
              <a:prstGeom prst="rect">
                <a:avLst/>
              </a:prstGeom>
              <a:noFill/>
            </p:spPr>
            <p:txBody>
              <a:bodyPr wrap="square" rtlCol="0">
                <a:spAutoFit/>
              </a:bodyPr>
              <a:lstStyle/>
              <a:p>
                <a:pPr marL="457200" indent="-457200">
                  <a:spcAft>
                    <a:spcPts val="1000"/>
                  </a:spcAft>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Copy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𝑀𝐻𝐶</m:t>
                    </m:r>
                  </m:oMath>
                </a14:m>
                <a:r>
                  <a:rPr lang="en-US" sz="2000" dirty="0">
                    <a:latin typeface="Verdana" panose="020B0604030504040204" pitchFamily="34" charset="0"/>
                    <a:ea typeface="Verdana" panose="020B0604030504040204" pitchFamily="34" charset="0"/>
                    <a:cs typeface="Verdana" panose="020B0604030504040204" pitchFamily="34" charset="0"/>
                  </a:rPr>
                  <a:t> onto another piece of paper. Then, use a compass and a straight edge to inscribe a circle in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𝑀𝐻𝐶</m:t>
                    </m: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374089"/>
                <a:ext cx="10961136" cy="707886"/>
              </a:xfrm>
              <a:prstGeom prst="rect">
                <a:avLst/>
              </a:prstGeom>
              <a:blipFill>
                <a:blip r:embed="rId4"/>
                <a:stretch>
                  <a:fillRect l="-612" t="-5172" b="-1465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544BF6A-B5A5-1643-A290-DC9DAE0753EE}"/>
              </a:ext>
            </a:extLst>
          </p:cNvPr>
          <p:cNvPicPr/>
          <p:nvPr/>
        </p:nvPicPr>
        <p:blipFill>
          <a:blip r:embed="rId5" cstate="screen">
            <a:extLst>
              <a:ext uri="{28A0092B-C50C-407E-A947-70E740481C1C}">
                <a14:useLocalDpi xmlns:a14="http://schemas.microsoft.com/office/drawing/2010/main"/>
              </a:ext>
            </a:extLst>
          </a:blip>
          <a:stretch>
            <a:fillRect/>
          </a:stretch>
        </p:blipFill>
        <p:spPr>
          <a:xfrm>
            <a:off x="1230683" y="1346562"/>
            <a:ext cx="6946900" cy="3832860"/>
          </a:xfrm>
          <a:prstGeom prst="rect">
            <a:avLst/>
          </a:prstGeom>
        </p:spPr>
      </p:pic>
      <p:sp>
        <p:nvSpPr>
          <p:cNvPr id="7" name="Google Shape;282;g104476d1465_1_17">
            <a:extLst>
              <a:ext uri="{FF2B5EF4-FFF2-40B4-BE49-F238E27FC236}">
                <a16:creationId xmlns:a16="http://schemas.microsoft.com/office/drawing/2014/main" id="{78D3D61B-E9C1-3E49-ACC5-F1475B88DC9F}"/>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185</a:t>
            </a:r>
            <a:endParaRPr i="1" dirty="0">
              <a:latin typeface="Calibri"/>
              <a:ea typeface="Calibri"/>
              <a:cs typeface="Calibri"/>
              <a:sym typeface="Calibri"/>
            </a:endParaRPr>
          </a:p>
        </p:txBody>
      </p:sp>
    </p:spTree>
    <p:extLst>
      <p:ext uri="{BB962C8B-B14F-4D97-AF65-F5344CB8AC3E}">
        <p14:creationId xmlns:p14="http://schemas.microsoft.com/office/powerpoint/2010/main" val="3693072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0564" y="374089"/>
                <a:ext cx="10800945" cy="5120761"/>
              </a:xfrm>
              <a:prstGeom prst="rect">
                <a:avLst/>
              </a:prstGeom>
              <a:noFill/>
            </p:spPr>
            <p:txBody>
              <a:bodyPr wrap="square" rtlCol="0">
                <a:spAutoFit/>
              </a:bodyPr>
              <a:lstStyle/>
              <a:p>
                <a:pPr marL="457200" indent="-457200">
                  <a:spcAft>
                    <a:spcPts val="1000"/>
                  </a:spcAft>
                  <a:buFont typeface="+mj-lt"/>
                  <a:buAutoNum type="arabicPeriod" startAt="6"/>
                </a:pPr>
                <a:r>
                  <a:rPr lang="en-US" sz="2000" dirty="0">
                    <a:latin typeface="Verdana" pitchFamily="34" charset="0"/>
                    <a:ea typeface="Verdana" pitchFamily="34" charset="0"/>
                    <a:cs typeface="Verdana" pitchFamily="34"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𝑁𝑋𝑇</m:t>
                    </m:r>
                  </m:oMath>
                </a14:m>
                <a:r>
                  <a:rPr lang="en-US" sz="2000" dirty="0">
                    <a:latin typeface="Verdana" panose="020B0604030504040204" pitchFamily="34" charset="0"/>
                    <a:ea typeface="Verdana" pitchFamily="34" charset="0"/>
                    <a:cs typeface="Times New Roman" panose="02020603050405020304" pitchFamily="18" charset="0"/>
                  </a:rPr>
                  <a:t> is shown where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𝑃𝑇</m:t>
                        </m:r>
                      </m:e>
                    </m:acc>
                  </m:oMath>
                </a14:m>
                <a:r>
                  <a:rPr lang="en-US" sz="2000" dirty="0">
                    <a:latin typeface="Verdana" panose="020B0604030504040204" pitchFamily="34" charset="0"/>
                    <a:ea typeface="Verdana" pitchFamily="34" charset="0"/>
                    <a:cs typeface="Times New Roman" panose="02020603050405020304" pitchFamily="18" charset="0"/>
                  </a:rPr>
                  <a:t> bisects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𝑁𝑇𝑋</m:t>
                    </m:r>
                  </m:oMath>
                </a14:m>
                <a:r>
                  <a:rPr lang="en-US" sz="2000" dirty="0">
                    <a:latin typeface="Verdana" panose="020B0604030504040204" pitchFamily="34" charset="0"/>
                    <a:ea typeface="Verdana" pitchFamily="34" charset="0"/>
                    <a:cs typeface="Times New Roman" panose="02020603050405020304" pitchFamily="18" charset="0"/>
                  </a:rPr>
                  <a:t> and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𝐺𝑋</m:t>
                        </m:r>
                      </m:e>
                    </m:acc>
                  </m:oMath>
                </a14:m>
                <a:r>
                  <a:rPr lang="en-US" sz="2000" dirty="0">
                    <a:latin typeface="Verdana" panose="020B0604030504040204" pitchFamily="34" charset="0"/>
                    <a:ea typeface="Verdana" pitchFamily="34" charset="0"/>
                    <a:cs typeface="Times New Roman" panose="02020603050405020304" pitchFamily="18" charset="0"/>
                  </a:rPr>
                  <a:t> bisects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𝑃𝑋𝑇</m:t>
                    </m:r>
                  </m:oMath>
                </a14:m>
                <a:r>
                  <a:rPr lang="en-US" sz="2000" dirty="0">
                    <a:latin typeface="Verdana" panose="020B0604030504040204" pitchFamily="34" charset="0"/>
                    <a:ea typeface="Verdana" pitchFamily="34" charset="0"/>
                    <a:cs typeface="Times New Roman" panose="02020603050405020304" pitchFamily="18" charset="0"/>
                  </a:rPr>
                  <a:t>.</a:t>
                </a:r>
              </a:p>
              <a:p>
                <a:pPr>
                  <a:spcAft>
                    <a:spcPts val="1000"/>
                  </a:spcAft>
                </a:pPr>
                <a:r>
                  <a:rPr lang="en-US" sz="2000" dirty="0">
                    <a:latin typeface="Verdana" panose="020B0604030504040204" pitchFamily="34" charset="0"/>
                    <a:ea typeface="Verdana" pitchFamily="34" charset="0"/>
                    <a:cs typeface="Times New Roman" panose="02020603050405020304" pitchFamily="18" charset="0"/>
                  </a:rPr>
                  <a:t> </a:t>
                </a:r>
              </a:p>
              <a:p>
                <a:pPr>
                  <a:spcAft>
                    <a:spcPts val="1000"/>
                  </a:spcAft>
                </a:pPr>
                <a:r>
                  <a:rPr lang="en-US" sz="2000" dirty="0">
                    <a:latin typeface="Verdana" panose="020B0604030504040204" pitchFamily="34" charset="0"/>
                    <a:ea typeface="Verdana" pitchFamily="34" charset="0"/>
                    <a:cs typeface="Times New Roman" panose="02020603050405020304" pitchFamily="18" charset="0"/>
                  </a:rPr>
                  <a:t> </a:t>
                </a:r>
              </a:p>
              <a:p>
                <a:pPr>
                  <a:spcAft>
                    <a:spcPts val="1000"/>
                  </a:spcAft>
                </a:pPr>
                <a:r>
                  <a:rPr lang="en-US" sz="2000" dirty="0">
                    <a:latin typeface="Verdana" panose="020B0604030504040204" pitchFamily="34" charset="0"/>
                    <a:ea typeface="Verdana" pitchFamily="34" charset="0"/>
                    <a:cs typeface="Times New Roman" panose="02020603050405020304" pitchFamily="18" charset="0"/>
                  </a:rPr>
                  <a:t> </a:t>
                </a:r>
              </a:p>
              <a:p>
                <a:pPr>
                  <a:spcAft>
                    <a:spcPts val="1000"/>
                  </a:spcAft>
                </a:pPr>
                <a:r>
                  <a:rPr lang="en-US" sz="2000" dirty="0">
                    <a:latin typeface="Verdana" panose="020B0604030504040204" pitchFamily="34" charset="0"/>
                    <a:ea typeface="Verdana" pitchFamily="34" charset="0"/>
                    <a:cs typeface="Times New Roman" panose="02020603050405020304" pitchFamily="18" charset="0"/>
                  </a:rPr>
                  <a:t> </a:t>
                </a:r>
              </a:p>
              <a:p>
                <a:pPr>
                  <a:spcAft>
                    <a:spcPts val="1000"/>
                  </a:spcAft>
                </a:pPr>
                <a:r>
                  <a:rPr lang="en-US" sz="2000" dirty="0">
                    <a:latin typeface="Verdana" panose="020B0604030504040204" pitchFamily="34" charset="0"/>
                    <a:ea typeface="Verdana" pitchFamily="34" charset="0"/>
                    <a:cs typeface="Times New Roman" panose="02020603050405020304" pitchFamily="18" charset="0"/>
                  </a:rPr>
                  <a:t> </a:t>
                </a:r>
              </a:p>
              <a:p>
                <a:pPr>
                  <a:spcAft>
                    <a:spcPts val="1000"/>
                  </a:spcAft>
                </a:pPr>
                <a:r>
                  <a:rPr lang="en-US" sz="2000" dirty="0">
                    <a:latin typeface="Verdana" panose="020B0604030504040204" pitchFamily="34" charset="0"/>
                    <a:ea typeface="Verdana" pitchFamily="34" charset="0"/>
                    <a:cs typeface="Times New Roman" panose="02020603050405020304" pitchFamily="18" charset="0"/>
                  </a:rPr>
                  <a:t> </a:t>
                </a:r>
              </a:p>
              <a:p>
                <a:pPr>
                  <a:spcAft>
                    <a:spcPts val="1000"/>
                  </a:spcAft>
                </a:pPr>
                <a:r>
                  <a:rPr lang="en-US" sz="2000" dirty="0">
                    <a:latin typeface="Verdana" panose="020B0604030504040204" pitchFamily="34" charset="0"/>
                    <a:ea typeface="Verdana" pitchFamily="34" charset="0"/>
                    <a:cs typeface="Times New Roman" panose="02020603050405020304" pitchFamily="18" charset="0"/>
                  </a:rPr>
                  <a:t> </a:t>
                </a:r>
              </a:p>
              <a:p>
                <a:pPr marL="914400" indent="-457200">
                  <a:buFont typeface="+mj-lt"/>
                  <a:buAutoNum type="alphaLcPeriod"/>
                </a:pPr>
                <a:r>
                  <a:rPr lang="en-US" sz="2000" dirty="0">
                    <a:latin typeface="Verdana" panose="020B0604030504040204" pitchFamily="34" charset="0"/>
                    <a:ea typeface="Verdana" pitchFamily="34" charset="0"/>
                    <a:cs typeface="Times New Roman" panose="02020603050405020304" pitchFamily="18" charset="0"/>
                  </a:rPr>
                  <a:t>Will the inscribed circle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𝑁𝑋𝑇</m:t>
                    </m:r>
                  </m:oMath>
                </a14:m>
                <a:r>
                  <a:rPr lang="en-US" sz="2000" dirty="0">
                    <a:latin typeface="Verdana" panose="020B0604030504040204" pitchFamily="34" charset="0"/>
                    <a:ea typeface="Verdana" pitchFamily="34" charset="0"/>
                    <a:cs typeface="Times New Roman" panose="02020603050405020304" pitchFamily="18" charset="0"/>
                  </a:rPr>
                  <a:t> pass through points </a:t>
                </a:r>
                <a:br>
                  <a:rPr lang="en-US" sz="2000" dirty="0">
                    <a:latin typeface="Verdana" panose="020B0604030504040204" pitchFamily="34" charset="0"/>
                    <a:ea typeface="Verdana" pitchFamily="34" charset="0"/>
                    <a:cs typeface="Times New Roman" panose="02020603050405020304" pitchFamily="18" charset="0"/>
                  </a:rPr>
                </a:b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𝑃</m:t>
                    </m:r>
                  </m:oMath>
                </a14:m>
                <a:r>
                  <a:rPr lang="en-US" sz="2000" dirty="0">
                    <a:latin typeface="Verdana" panose="020B0604030504040204" pitchFamily="34" charset="0"/>
                    <a:ea typeface="Verdana" pitchFamily="34"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𝐺</m:t>
                    </m:r>
                  </m:oMath>
                </a14:m>
                <a:r>
                  <a:rPr lang="en-US" sz="2000" dirty="0">
                    <a:latin typeface="Verdana" panose="020B0604030504040204" pitchFamily="34" charset="0"/>
                    <a:ea typeface="Verdana" pitchFamily="34" charset="0"/>
                    <a:cs typeface="Times New Roman" panose="02020603050405020304" pitchFamily="18" charset="0"/>
                  </a:rPr>
                  <a:t>?</a:t>
                </a:r>
              </a:p>
              <a:p>
                <a:pPr marL="914400" indent="-457200">
                  <a:buFont typeface="+mj-lt"/>
                  <a:buAutoNum type="alphaLcPeriod"/>
                </a:pPr>
                <a:endParaRPr lang="en-PH" sz="2000" dirty="0">
                  <a:latin typeface="Verdana" panose="020B0604030504040204" pitchFamily="34" charset="0"/>
                  <a:ea typeface="Verdana" pitchFamily="34"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Verdana" pitchFamily="34" charset="0"/>
                  <a:cs typeface="Times New Roman" panose="02020603050405020304" pitchFamily="18" charset="0"/>
                </a:endParaRPr>
              </a:p>
              <a:p>
                <a:pPr marL="914400" indent="-457200">
                  <a:buFont typeface="+mj-lt"/>
                  <a:buAutoNum type="alphaLcPeriod"/>
                </a:pPr>
                <a:r>
                  <a:rPr lang="en-US" sz="2000" dirty="0">
                    <a:latin typeface="Verdana" pitchFamily="34" charset="0"/>
                    <a:ea typeface="Verdana" pitchFamily="34" charset="0"/>
                    <a:cs typeface="Times New Roman" panose="02020603050405020304" pitchFamily="18" charset="0"/>
                  </a:rPr>
                  <a:t>Justify why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𝑃𝐹</m:t>
                        </m:r>
                      </m:e>
                    </m:acc>
                  </m:oMath>
                </a14:m>
                <a:r>
                  <a:rPr lang="en-US" sz="2000" dirty="0">
                    <a:latin typeface="Verdana" panose="020B0604030504040204" pitchFamily="34" charset="0"/>
                    <a:ea typeface="Verdana" pitchFamily="34" charset="0"/>
                    <a:cs typeface="Times New Roman" panose="02020603050405020304" pitchFamily="18" charset="0"/>
                  </a:rPr>
                  <a:t> and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𝐹𝐺</m:t>
                        </m:r>
                      </m:e>
                    </m:acc>
                  </m:oMath>
                </a14:m>
                <a:r>
                  <a:rPr lang="en-US" sz="2000" dirty="0">
                    <a:latin typeface="Verdana" panose="020B0604030504040204" pitchFamily="34" charset="0"/>
                    <a:ea typeface="Verdana" pitchFamily="34" charset="0"/>
                    <a:cs typeface="Times New Roman" panose="02020603050405020304" pitchFamily="18" charset="0"/>
                  </a:rPr>
                  <a:t> are not radii of the inscribed Circle F.</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4" y="374089"/>
                <a:ext cx="10800945" cy="5120761"/>
              </a:xfrm>
              <a:prstGeom prst="rect">
                <a:avLst/>
              </a:prstGeom>
              <a:blipFill>
                <a:blip r:embed="rId4"/>
                <a:stretch>
                  <a:fillRect l="-621" t="-714" b="-131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38EC7B4C-94F2-EC47-8E65-AD3C2E15255C}"/>
              </a:ext>
            </a:extLst>
          </p:cNvPr>
          <p:cNvPicPr/>
          <p:nvPr/>
        </p:nvPicPr>
        <p:blipFill>
          <a:blip r:embed="rId5">
            <a:extLst>
              <a:ext uri="{28A0092B-C50C-407E-A947-70E740481C1C}">
                <a14:useLocalDpi xmlns:a14="http://schemas.microsoft.com/office/drawing/2010/main"/>
              </a:ext>
            </a:extLst>
          </a:blip>
          <a:stretch>
            <a:fillRect/>
          </a:stretch>
        </p:blipFill>
        <p:spPr>
          <a:xfrm>
            <a:off x="1274929" y="873616"/>
            <a:ext cx="6946900" cy="2837180"/>
          </a:xfrm>
          <a:prstGeom prst="rect">
            <a:avLst/>
          </a:prstGeom>
        </p:spPr>
      </p:pic>
      <p:sp>
        <p:nvSpPr>
          <p:cNvPr id="7" name="Google Shape;282;g104476d1465_1_17">
            <a:extLst>
              <a:ext uri="{FF2B5EF4-FFF2-40B4-BE49-F238E27FC236}">
                <a16:creationId xmlns:a16="http://schemas.microsoft.com/office/drawing/2014/main" id="{E24D32D0-D592-6F4C-BD35-D45FFB847C41}"/>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185</a:t>
            </a:r>
            <a:endParaRPr i="1" dirty="0">
              <a:latin typeface="Calibri"/>
              <a:ea typeface="Calibri"/>
              <a:cs typeface="Calibri"/>
              <a:sym typeface="Calibri"/>
            </a:endParaRPr>
          </a:p>
        </p:txBody>
      </p:sp>
    </p:spTree>
    <p:extLst>
      <p:ext uri="{BB962C8B-B14F-4D97-AF65-F5344CB8AC3E}">
        <p14:creationId xmlns:p14="http://schemas.microsoft.com/office/powerpoint/2010/main" val="3551879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Picture 7"/>
          <p:cNvPicPr/>
          <p:nvPr/>
        </p:nvPicPr>
        <p:blipFill>
          <a:blip r:embed="rId3"/>
          <a:stretch>
            <a:fillRect/>
          </a:stretch>
        </p:blipFill>
        <p:spPr>
          <a:xfrm>
            <a:off x="1785509" y="1236028"/>
            <a:ext cx="5847080" cy="5090795"/>
          </a:xfrm>
          <a:prstGeom prst="rect">
            <a:avLst/>
          </a:prstGeom>
        </p:spPr>
      </p:pic>
      <p:sp>
        <p:nvSpPr>
          <p:cNvPr id="278" name="Google Shape;278;g104476d1465_1_17"/>
          <p:cNvSpPr/>
          <p:nvPr/>
        </p:nvSpPr>
        <p:spPr>
          <a:xfrm>
            <a:off x="4916"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3234"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5480" y="374089"/>
                <a:ext cx="10191345" cy="707886"/>
              </a:xfrm>
              <a:prstGeom prst="rect">
                <a:avLst/>
              </a:prstGeom>
              <a:noFill/>
            </p:spPr>
            <p:txBody>
              <a:bodyPr wrap="square" rtlCol="0">
                <a:spAutoFit/>
              </a:bodyPr>
              <a:lstStyle/>
              <a:p>
                <a:pPr marL="457200" indent="-457200">
                  <a:spcAft>
                    <a:spcPts val="1000"/>
                  </a:spcAft>
                  <a:buFont typeface="+mj-lt"/>
                  <a:buAutoNum type="arabicPeriod" startAt="7"/>
                </a:pPr>
                <a:r>
                  <a:rPr lang="en-US" sz="2000" dirty="0">
                    <a:latin typeface="Verdana" panose="020B0604030504040204" pitchFamily="34" charset="0"/>
                    <a:ea typeface="Verdana" pitchFamily="34" charset="0"/>
                    <a:cs typeface="Times New Roman" panose="02020603050405020304" pitchFamily="18" charset="0"/>
                  </a:rPr>
                  <a:t>Copy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𝐻𝐷𝑊</m:t>
                    </m:r>
                  </m:oMath>
                </a14:m>
                <a:r>
                  <a:rPr lang="en-US" sz="2000" dirty="0">
                    <a:latin typeface="Verdana" panose="020B0604030504040204" pitchFamily="34" charset="0"/>
                    <a:ea typeface="Verdana" pitchFamily="34" charset="0"/>
                    <a:cs typeface="Times New Roman" panose="02020603050405020304" pitchFamily="18" charset="0"/>
                  </a:rPr>
                  <a:t> onto a piece of patty paper. Then, construct the incenter and circumcenter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𝐻𝐷𝑊</m:t>
                    </m:r>
                  </m:oMath>
                </a14:m>
                <a:r>
                  <a:rPr lang="en-US" sz="2000" dirty="0">
                    <a:latin typeface="Verdana" panose="020B0604030504040204" pitchFamily="34" charset="0"/>
                    <a:ea typeface="Verdana" pitchFamily="34" charset="0"/>
                    <a:cs typeface="Times New Roman" panose="02020603050405020304" pitchFamily="18" charset="0"/>
                  </a:rPr>
                  <a: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5480" y="374089"/>
                <a:ext cx="10191345" cy="707886"/>
              </a:xfrm>
              <a:prstGeom prst="rect">
                <a:avLst/>
              </a:prstGeom>
              <a:blipFill>
                <a:blip r:embed="rId5"/>
                <a:stretch>
                  <a:fillRect l="-658" t="-5172" b="-14655"/>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0FC5C949-68A4-6649-832C-A8A526B50679}"/>
              </a:ext>
            </a:extLst>
          </p:cNvPr>
          <p:cNvSpPr txBox="1"/>
          <p:nvPr/>
        </p:nvSpPr>
        <p:spPr>
          <a:xfrm>
            <a:off x="88850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186</a:t>
            </a:r>
            <a:endParaRPr i="1" dirty="0">
              <a:latin typeface="Calibri"/>
              <a:ea typeface="Calibri"/>
              <a:cs typeface="Calibri"/>
              <a:sym typeface="Calibri"/>
            </a:endParaRPr>
          </a:p>
        </p:txBody>
      </p:sp>
    </p:spTree>
    <p:extLst>
      <p:ext uri="{BB962C8B-B14F-4D97-AF65-F5344CB8AC3E}">
        <p14:creationId xmlns:p14="http://schemas.microsoft.com/office/powerpoint/2010/main" val="1198867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9211727B-DBCF-E649-B89B-805415DA0D28}"/>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140277"/>
            <a:ext cx="8019300" cy="58739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11.2.3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325"/>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593248" y="1081225"/>
            <a:ext cx="10930676" cy="769121"/>
          </a:xfrm>
          <a:prstGeom prst="rect">
            <a:avLst/>
          </a:prstGeom>
          <a:noFill/>
        </p:spPr>
        <p:txBody>
          <a:bodyPr wrap="square" rtlCol="0">
            <a:spAutoFit/>
          </a:bodyPr>
          <a:lstStyle/>
          <a:p>
            <a:pPr marL="457200" indent="-457200">
              <a:lnSpc>
                <a:spcPct val="115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was the </a:t>
            </a:r>
            <a:r>
              <a:rPr lang="en-US" sz="2000" b="1" i="1" dirty="0">
                <a:latin typeface="Verdana" panose="020B0604030504040204" pitchFamily="34" charset="0"/>
                <a:ea typeface="Verdana" panose="020B0604030504040204" pitchFamily="34" charset="0"/>
                <a:cs typeface="Verdana" panose="020B0604030504040204" pitchFamily="34" charset="0"/>
              </a:rPr>
              <a:t>muddiest</a:t>
            </a:r>
            <a:r>
              <a:rPr lang="en-US" sz="2000" dirty="0">
                <a:latin typeface="Verdana" panose="020B0604030504040204" pitchFamily="34" charset="0"/>
                <a:ea typeface="Verdana" panose="020B0604030504040204" pitchFamily="34" charset="0"/>
                <a:cs typeface="Verdana" panose="020B0604030504040204" pitchFamily="34" charset="0"/>
              </a:rPr>
              <a:t> (most difficult or confusing) point in today’s lesson on constructing a circle inscribed in a triangle?</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8" name="Picture 7" descr="Splatter pack 2 - Download Free Vector Art, Stock Graphics ...">
            <a:extLst>
              <a:ext uri="{FF2B5EF4-FFF2-40B4-BE49-F238E27FC236}">
                <a16:creationId xmlns:a16="http://schemas.microsoft.com/office/drawing/2014/main" id="{8BA6CAC9-5CEC-3246-80A7-1E915D8C63F1}"/>
              </a:ext>
            </a:extLst>
          </p:cNvPr>
          <p:cNvPicPr/>
          <p:nvPr/>
        </p:nvPicPr>
        <p:blipFill>
          <a:blip r:embed="rId5">
            <a:alphaModFix amt="35000"/>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2911219" y="2123946"/>
            <a:ext cx="3632200" cy="2540000"/>
          </a:xfrm>
          <a:prstGeom prst="rect">
            <a:avLst/>
          </a:prstGeom>
        </p:spPr>
      </p:pic>
      <p:sp>
        <p:nvSpPr>
          <p:cNvPr id="10" name="Google Shape;282;g104476d1465_1_17">
            <a:extLst>
              <a:ext uri="{FF2B5EF4-FFF2-40B4-BE49-F238E27FC236}">
                <a16:creationId xmlns:a16="http://schemas.microsoft.com/office/drawing/2014/main" id="{CF61B77B-0CA6-9B4C-8670-0DE1BF6BAEB8}"/>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186</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2128</TotalTime>
  <Words>755</Words>
  <Application>Microsoft Office PowerPoint</Application>
  <PresentationFormat>Widescreen</PresentationFormat>
  <Paragraphs>150</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Verdana</vt:lpstr>
      <vt:lpstr>Century Gothic</vt:lpstr>
      <vt:lpstr>Arial</vt:lpstr>
      <vt:lpstr>Cambria Math</vt:lpstr>
      <vt:lpstr>Wingdings</vt:lpstr>
      <vt:lpstr>Calibri</vt:lpstr>
      <vt:lpstr>Cambria</vt:lpstr>
      <vt:lpstr>Arial Black</vt:lpstr>
      <vt:lpstr>1_Office Theme</vt:lpstr>
      <vt:lpstr>Geometry  Unit 11, Lesson 2  Constructing the Incenter of a Triangle  Volume 2, pg. 182  </vt:lpstr>
      <vt:lpstr>Benchmark</vt:lpstr>
      <vt:lpstr>PowerPoint Presentation</vt:lpstr>
      <vt:lpstr>PowerPoint Presentation</vt:lpstr>
      <vt:lpstr>Warm-Up</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23</cp:revision>
  <dcterms:created xsi:type="dcterms:W3CDTF">2015-03-17T18:51:18Z</dcterms:created>
  <dcterms:modified xsi:type="dcterms:W3CDTF">2022-07-04T06:46:37Z</dcterms:modified>
</cp:coreProperties>
</file>