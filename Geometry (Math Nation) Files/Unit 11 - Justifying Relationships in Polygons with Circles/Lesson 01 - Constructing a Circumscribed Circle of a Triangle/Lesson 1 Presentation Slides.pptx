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14" r:id="rId12"/>
    <p:sldId id="315" r:id="rId13"/>
    <p:sldId id="316" r:id="rId14"/>
    <p:sldId id="318" r:id="rId15"/>
    <p:sldId id="319" r:id="rId16"/>
    <p:sldId id="320" r:id="rId17"/>
    <p:sldId id="321" r:id="rId18"/>
    <p:sldId id="322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75"/>
    <p:restoredTop sz="94464"/>
  </p:normalViewPr>
  <p:slideViewPr>
    <p:cSldViewPr snapToGrid="0">
      <p:cViewPr varScale="1">
        <p:scale>
          <a:sx n="79" d="100"/>
          <a:sy n="79" d="100"/>
        </p:scale>
        <p:origin x="104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10204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7197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2431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1462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085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2252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8003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9880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9880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6128" y="2054277"/>
            <a:ext cx="5122673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Constructing a Circumscribed Circle of a Triangle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 pg. 177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35239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MA.912.GR.5.3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the inscribed and circumscribed circles of a triangle.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859398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55288FB-9270-1F45-AFCC-EC20B4642092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06630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construct the circumscribed circle of a triangle.</a:t>
            </a:r>
          </a:p>
          <a:p>
            <a:pPr marL="571500" indent="-571500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locate the circumcenter of a triangle.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1DA1C94-6DE2-C549-9964-F1E171813B6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2F90016-409C-5A49-9ACC-B27D8B46EA6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9073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33577" y="128905"/>
            <a:ext cx="9349288" cy="884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11.1.1 Warm-Up: Lake Okeechobee and Deep Lake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277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74174" y="1418681"/>
                <a:ext cx="11053975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Lake Okeechobee means "big water" in the language of the Seminole tribe. Lake Okeechobee has a surface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730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miles. Deep Lake in Big Cypress National Preserve is a naturally occurring sinkhole that was formed roughly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6,000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 ago. Deep Lake has a surface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0.002 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miles.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Deep Lakes are needed to cover the same surface area as Lake Okeechobee?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4" y="1418681"/>
                <a:ext cx="11053975" cy="2523768"/>
              </a:xfrm>
              <a:prstGeom prst="rect">
                <a:avLst/>
              </a:prstGeom>
              <a:blipFill>
                <a:blip r:embed="rId5"/>
                <a:stretch>
                  <a:fillRect l="-606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D7F71EE-3807-034F-ABCD-61612AE4416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4"/>
                <a:ext cx="1118440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Lake Okeechobee averages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in depth, whereas Deep Lake averages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in depth. Based on the volume of the two lakes it would take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30,850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Deep Lakes to fill up Lake Okeechobee.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it takes more Deep Lakes to cover the surface area of Lake Okeechobee than to fill up Lake Okeechobee.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4"/>
                <a:ext cx="11184403" cy="1938992"/>
              </a:xfrm>
              <a:prstGeom prst="rect">
                <a:avLst/>
              </a:prstGeom>
              <a:blipFill>
                <a:blip r:embed="rId4"/>
                <a:stretch>
                  <a:fillRect l="-600" t="-1572" r="-1145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7D8CFF2-D81D-1445-896F-4179AC4BC6E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631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6819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72BBA5A-B496-064F-BF88-BF9C49A19169}"/>
              </a:ext>
            </a:extLst>
          </p:cNvPr>
          <p:cNvSpPr txBox="1"/>
          <p:nvPr/>
        </p:nvSpPr>
        <p:spPr>
          <a:xfrm>
            <a:off x="8889924" y="642526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7788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16506" y="231838"/>
            <a:ext cx="1040741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11.1.2 Exploration: Circumscribing A Triangle with A Circle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743" y="23183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54690" y="3274510"/>
                <a:ext cx="1097345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𝑇𝑊𝐷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inscribed 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radius. Lines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perpendicular bisectors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respectively.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diagram shows a different type of triangle inscribed 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90" y="3274510"/>
                <a:ext cx="10973459" cy="1323439"/>
              </a:xfrm>
              <a:prstGeom prst="rect">
                <a:avLst/>
              </a:prstGeom>
              <a:blipFill>
                <a:blip r:embed="rId5"/>
                <a:stretch>
                  <a:fillRect l="-555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20855B3-4194-894D-B8B8-2BF6685AE172}"/>
              </a:ext>
            </a:extLst>
          </p:cNvPr>
          <p:cNvGrpSpPr/>
          <p:nvPr/>
        </p:nvGrpSpPr>
        <p:grpSpPr>
          <a:xfrm>
            <a:off x="717920" y="1928416"/>
            <a:ext cx="8026942" cy="925076"/>
            <a:chOff x="0" y="200906"/>
            <a:chExt cx="8026942" cy="92531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541A7AD-FD47-A141-A31F-8EC449C011D1}"/>
                </a:ext>
              </a:extLst>
            </p:cNvPr>
            <p:cNvSpPr/>
            <p:nvPr/>
          </p:nvSpPr>
          <p:spPr>
            <a:xfrm>
              <a:off x="0" y="200906"/>
              <a:ext cx="8026942" cy="925313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685800">
                <a:spcAft>
                  <a:spcPts val="10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An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inscribed polygon in a circle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a polygon which has all of its vertices on a circle. 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Shape 7" descr="Icon&#10;&#10;Description automatically generated">
              <a:extLst>
                <a:ext uri="{FF2B5EF4-FFF2-40B4-BE49-F238E27FC236}">
                  <a16:creationId xmlns:a16="http://schemas.microsoft.com/office/drawing/2014/main" id="{4F463334-221A-EA41-8BC1-05242A12A886}"/>
                </a:ext>
              </a:extLst>
            </p:cNvPr>
            <p:cNvPicPr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0677" y="356620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822074-D556-BB4E-ABC8-2FC52487A57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FCEA55-98F8-C640-A8D1-9F8C15B5E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249768"/>
              </p:ext>
            </p:extLst>
          </p:nvPr>
        </p:nvGraphicFramePr>
        <p:xfrm>
          <a:off x="2030070" y="387737"/>
          <a:ext cx="5109420" cy="5974964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550761">
                  <a:extLst>
                    <a:ext uri="{9D8B030D-6E8A-4147-A177-3AD203B41FA5}">
                      <a16:colId xmlns:a16="http://schemas.microsoft.com/office/drawing/2014/main" val="1108467341"/>
                    </a:ext>
                  </a:extLst>
                </a:gridCol>
                <a:gridCol w="3558659">
                  <a:extLst>
                    <a:ext uri="{9D8B030D-6E8A-4147-A177-3AD203B41FA5}">
                      <a16:colId xmlns:a16="http://schemas.microsoft.com/office/drawing/2014/main" val="361166238"/>
                    </a:ext>
                  </a:extLst>
                </a:gridCol>
              </a:tblGrid>
              <a:tr h="29874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Acute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9866" marR="39866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866" marR="39866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755035"/>
                  </a:ext>
                </a:extLst>
              </a:tr>
              <a:tr h="29874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Right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9866" marR="39866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866" marR="39866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009619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-764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88CDCDD-0580-0D4E-A1DD-7E3A26A02B3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9538" y="510175"/>
            <a:ext cx="2958261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3841" y="3514450"/>
            <a:ext cx="308965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3"/>
            <a:ext cx="109611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similarities and differences among all three inscribed triangles.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6A8FC53-2F64-8143-862B-E05B872069C0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FCEA55-98F8-C640-A8D1-9F8C15B5E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36890"/>
              </p:ext>
            </p:extLst>
          </p:nvPr>
        </p:nvGraphicFramePr>
        <p:xfrm>
          <a:off x="2037710" y="387737"/>
          <a:ext cx="5109420" cy="2987482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550761">
                  <a:extLst>
                    <a:ext uri="{9D8B030D-6E8A-4147-A177-3AD203B41FA5}">
                      <a16:colId xmlns:a16="http://schemas.microsoft.com/office/drawing/2014/main" val="1108467341"/>
                    </a:ext>
                  </a:extLst>
                </a:gridCol>
                <a:gridCol w="3558659">
                  <a:extLst>
                    <a:ext uri="{9D8B030D-6E8A-4147-A177-3AD203B41FA5}">
                      <a16:colId xmlns:a16="http://schemas.microsoft.com/office/drawing/2014/main" val="361166238"/>
                    </a:ext>
                  </a:extLst>
                </a:gridCol>
              </a:tblGrid>
              <a:tr h="29874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Obtuse</a:t>
                      </a:r>
                    </a:p>
                  </a:txBody>
                  <a:tcPr marL="39866" marR="39866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866" marR="39866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755035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30" t="5869" r="17846" b="12766"/>
          <a:stretch/>
        </p:blipFill>
        <p:spPr bwMode="auto">
          <a:xfrm>
            <a:off x="3998695" y="500650"/>
            <a:ext cx="2848980" cy="2743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68966"/>
              </p:ext>
            </p:extLst>
          </p:nvPr>
        </p:nvGraphicFramePr>
        <p:xfrm>
          <a:off x="1060304" y="4130924"/>
          <a:ext cx="8555644" cy="250174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298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7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</a:p>
                  </a:txBody>
                  <a:tcPr marL="109538" marR="109538" marT="109538" marB="10953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</a:p>
                  </a:txBody>
                  <a:tcPr marL="109538" marR="109538" marT="109538" marB="10953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69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9538" marR="109538" marT="109538" marB="10953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9538" marR="109538" marT="109538" marB="10953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08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246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74089"/>
                <a:ext cx="11087585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center of the circle that is circumscribed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𝑇𝑊𝐷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Make a conjecture about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it relates to the perpendicular bisectors of the sides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𝑇𝑊𝐷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Ask two other pairs of partners for the conjectures they wrote. Listen to their conjectures and write a summary.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 are the only person who should write in the first column of the table.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Have the person initial next to your summary stating that your summary was accurate.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089"/>
                <a:ext cx="11087585" cy="2554545"/>
              </a:xfrm>
              <a:prstGeom prst="rect">
                <a:avLst/>
              </a:prstGeom>
              <a:blipFill>
                <a:blip r:embed="rId4"/>
                <a:stretch>
                  <a:fillRect l="-605" t="-143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B8EA45B-7FC2-FA4A-9AE9-B5E4AB4AE6CD}"/>
              </a:ext>
            </a:extLst>
          </p:cNvPr>
          <p:cNvSpPr txBox="1"/>
          <p:nvPr/>
        </p:nvSpPr>
        <p:spPr>
          <a:xfrm>
            <a:off x="8889924" y="64795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7D03A0-CF05-254A-9178-9CD61E441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219762"/>
              </p:ext>
            </p:extLst>
          </p:nvPr>
        </p:nvGraphicFramePr>
        <p:xfrm>
          <a:off x="1127561" y="3158428"/>
          <a:ext cx="8102103" cy="3321111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6447309">
                  <a:extLst>
                    <a:ext uri="{9D8B030D-6E8A-4147-A177-3AD203B41FA5}">
                      <a16:colId xmlns:a16="http://schemas.microsoft.com/office/drawing/2014/main" val="1962467561"/>
                    </a:ext>
                  </a:extLst>
                </a:gridCol>
                <a:gridCol w="1654794">
                  <a:extLst>
                    <a:ext uri="{9D8B030D-6E8A-4147-A177-3AD203B41FA5}">
                      <a16:colId xmlns:a16="http://schemas.microsoft.com/office/drawing/2014/main" val="4267224431"/>
                    </a:ext>
                  </a:extLst>
                </a:gridCol>
              </a:tblGrid>
              <a:tr h="6204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Conjecture</a:t>
                      </a:r>
                    </a:p>
                  </a:txBody>
                  <a:tcPr marL="108028" marR="108028" marT="108028" marB="10802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108028" marR="108028" marT="108028" marB="10802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900209"/>
                  </a:ext>
                </a:extLst>
              </a:tr>
              <a:tr h="13503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8028" marR="108028" marT="108028" marB="10802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8028" marR="108028" marT="108028" marB="10802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98847"/>
                  </a:ext>
                </a:extLst>
              </a:tr>
              <a:tr h="13503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8028" marR="108028" marT="108028" marB="10802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8028" marR="108028" marT="108028" marB="108028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14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655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374089"/>
            <a:ext cx="11065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your conjecture with your partner and if necessary, make any changes.</a:t>
            </a: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3A6FE45-3FC5-8447-87D1-A4DCBB51D347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80102" y="2923631"/>
            <a:ext cx="7401448" cy="2287151"/>
            <a:chOff x="1023302" y="1409155"/>
            <a:chExt cx="7401448" cy="2287151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EF1B8D0-D07B-8748-BAE1-CDF0DCA73D17}"/>
                </a:ext>
              </a:extLst>
            </p:cNvPr>
            <p:cNvSpPr/>
            <p:nvPr/>
          </p:nvSpPr>
          <p:spPr>
            <a:xfrm>
              <a:off x="1023302" y="1409155"/>
              <a:ext cx="7401448" cy="2287151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685800">
                <a:spcAft>
                  <a:spcPts val="10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circumscribed circle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the smallest circle that includes a plane figure. If the figure is a polygon, then the circle must contain all of the vertices of the polygon. Not every polygon has a circumscribed circle, but all triangles and all regular polygons have circumscribed circles. 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Shape 7" descr="Icon&#10;&#10;Description automatically generated"/>
            <p:cNvPicPr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54125" y="1616710"/>
              <a:ext cx="539750" cy="53848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EB53D3-D2B2-364D-A2B6-2BFA3E1C0525}"/>
              </a:ext>
            </a:extLst>
          </p:cNvPr>
          <p:cNvSpPr/>
          <p:nvPr/>
        </p:nvSpPr>
        <p:spPr>
          <a:xfrm>
            <a:off x="1080102" y="5518314"/>
            <a:ext cx="7401448" cy="925076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82880" tIns="91440" rIns="91425" bIns="0" anchor="ctr" anchorCtr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point of concurrency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the point where three or more lines intersect.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22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74089"/>
                <a:ext cx="11199151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Copy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𝐷𝑇𝑊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onto patty paper. Construct the perpendicular bisectors of each side. Name the point of concurrency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𝐷𝑇𝑊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relationship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with each of the vertices.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089"/>
                <a:ext cx="11199151" cy="5324535"/>
              </a:xfrm>
              <a:prstGeom prst="rect">
                <a:avLst/>
              </a:prstGeom>
              <a:blipFill>
                <a:blip r:embed="rId4"/>
                <a:stretch>
                  <a:fillRect l="-599" t="-686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CF3110D-FEEC-344A-8E95-8709EAADD6D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683" y="1584278"/>
            <a:ext cx="6946900" cy="368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8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89"/>
                <a:ext cx="11065362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definition of a circumcenter to explain how the relationship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with each of the vertices ensures that a circle can be drawn to circumscribe the triangle.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compass centered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draw the circle that will pass through all three vertices.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Review your conjecture. Does your conjecture hold true for newly constructed circumscribed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11065362" cy="5016758"/>
              </a:xfrm>
              <a:prstGeom prst="rect">
                <a:avLst/>
              </a:prstGeom>
              <a:blipFill>
                <a:blip r:embed="rId3"/>
                <a:stretch>
                  <a:fillRect l="-606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61B237-007F-0D48-8CCC-A5A22FE9CB92}"/>
              </a:ext>
            </a:extLst>
          </p:cNvPr>
          <p:cNvSpPr/>
          <p:nvPr/>
        </p:nvSpPr>
        <p:spPr>
          <a:xfrm>
            <a:off x="1076292" y="374089"/>
            <a:ext cx="7791409" cy="1316650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274320" tIns="91440" rIns="91425" bIns="0" anchor="ctr" anchorCtr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point of concurrency of the perpendicular bisectors of a triangle (the center of a triangle’s circumscribed circle) is the </a:t>
            </a: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circumcenter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E347AF5-EC04-F34A-87D1-8C41E5459D66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3334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polygon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6435" y="374090"/>
            <a:ext cx="4361815" cy="391223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-2013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391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38552" y="374090"/>
                <a:ext cx="695788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+mj-lt"/>
                  <a:buAutoNum type="arabicPeriod" startAt="10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Copy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𝐾𝑌𝐺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onto another piece of paper. Then, use a compass and a straight edge to construct the circle that circumscribes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𝐾𝑌𝐺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571500" indent="-571500">
                  <a:buFont typeface="+mj-lt"/>
                  <a:buAutoNum type="arabicPeriod" startAt="10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71500" indent="-571500">
                  <a:buFont typeface="+mj-lt"/>
                  <a:buAutoNum type="arabicPeriod" startAt="10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71500" indent="-571500">
                  <a:buFont typeface="+mj-lt"/>
                  <a:buAutoNum type="arabicPeriod" startAt="10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the circumscribed circle can be used to determine the type of triangle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𝐾𝑌𝐺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is. Name a property and theorem from Unit 10 that can be used to verify this.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52" y="374090"/>
                <a:ext cx="6957883" cy="2862322"/>
              </a:xfrm>
              <a:prstGeom prst="rect">
                <a:avLst/>
              </a:prstGeom>
              <a:blipFill>
                <a:blip r:embed="rId5"/>
                <a:stretch>
                  <a:fillRect l="-963" t="-1277" r="-263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7282756-E310-8F4A-B450-F58B936CAF1B}"/>
              </a:ext>
            </a:extLst>
          </p:cNvPr>
          <p:cNvSpPr txBox="1"/>
          <p:nvPr/>
        </p:nvSpPr>
        <p:spPr>
          <a:xfrm>
            <a:off x="886568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1495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4675" y="1389753"/>
            <a:ext cx="5486400" cy="304101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90"/>
                <a:ext cx="110653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+mj-lt"/>
                  <a:buAutoNum type="arabicPeriod" startAt="1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dotted line is the perpendicular bisector of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distance between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4.35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units. If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circumcenter, what is the distance between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Explain or show your reasoning.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90"/>
                <a:ext cx="11065362" cy="1015663"/>
              </a:xfrm>
              <a:prstGeom prst="rect">
                <a:avLst/>
              </a:prstGeom>
              <a:blipFill>
                <a:blip r:embed="rId5"/>
                <a:stretch>
                  <a:fillRect l="-606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BA697F8-4822-7343-BA48-C0A89821C196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8586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74089"/>
                <a:ext cx="1098335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+mj-lt"/>
                  <a:buAutoNum type="arabicPeriod" startAt="1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Emilio tells his partner, Talia, that in order to show that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circumcenter, he only needs to construct one more perpendicular bisector. Talia challenged him to prove it. Describe how Emilio could justify that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circumcenter by drawing only one more perpendicular bisector.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089"/>
                <a:ext cx="10983359" cy="1323439"/>
              </a:xfrm>
              <a:prstGeom prst="rect">
                <a:avLst/>
              </a:prstGeom>
              <a:blipFill>
                <a:blip r:embed="rId4"/>
                <a:stretch>
                  <a:fillRect l="-611" t="-2765" r="-1333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BA697F8-4822-7343-BA48-C0A89821C19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9085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7703F15-8AC9-6340-BDDC-68B0C9503AD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106650"/>
            <a:ext cx="9690516" cy="90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11.1.3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8758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10603"/>
                <a:ext cx="608777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to construct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circumscribed circle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𝐶𝑅𝑊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10603"/>
                <a:ext cx="6087771" cy="707886"/>
              </a:xfrm>
              <a:prstGeom prst="rect">
                <a:avLst/>
              </a:prstGeom>
              <a:blipFill>
                <a:blip r:embed="rId5"/>
                <a:stretch>
                  <a:fillRect l="-1101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9AAC08F-A63E-224B-8F26-F59626CFF21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4386" y="1297505"/>
            <a:ext cx="3367369" cy="4765388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9B213566-102D-D14D-A26C-7275F559DA5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1023</Words>
  <Application>Microsoft Office PowerPoint</Application>
  <PresentationFormat>Widescreen</PresentationFormat>
  <Paragraphs>147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Geometry  Unit 11, Lesson 1  Constructing a Circumscribed Circle of a Triangle  Volume 2 pg. 177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2022-07-04T06:46:09Z</dcterms:modified>
</cp:coreProperties>
</file>