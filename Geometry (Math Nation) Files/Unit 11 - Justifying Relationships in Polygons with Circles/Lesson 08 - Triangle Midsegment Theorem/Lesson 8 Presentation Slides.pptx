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85" r:id="rId4"/>
    <p:sldId id="286" r:id="rId5"/>
    <p:sldId id="261" r:id="rId6"/>
    <p:sldId id="287" r:id="rId7"/>
    <p:sldId id="288" r:id="rId8"/>
    <p:sldId id="311" r:id="rId9"/>
    <p:sldId id="312" r:id="rId10"/>
    <p:sldId id="326" r:id="rId11"/>
    <p:sldId id="327" r:id="rId12"/>
    <p:sldId id="313" r:id="rId13"/>
    <p:sldId id="325" r:id="rId14"/>
    <p:sldId id="323" r:id="rId15"/>
    <p:sldId id="324" r:id="rId16"/>
    <p:sldId id="328" r:id="rId17"/>
    <p:sldId id="329" r:id="rId18"/>
    <p:sldId id="330" r:id="rId19"/>
    <p:sldId id="302" r:id="rId20"/>
    <p:sldId id="303" r:id="rId21"/>
    <p:sldId id="309" r:id="rId22"/>
    <p:sldId id="306" r:id="rId23"/>
    <p:sldId id="307" r:id="rId24"/>
    <p:sldId id="331" r:id="rId25"/>
  </p:sldIdLst>
  <p:sldSz cx="12192000" cy="6858000"/>
  <p:notesSz cx="6858000" cy="9144000"/>
  <p:embeddedFontLst>
    <p:embeddedFont>
      <p:font typeface="Arial Black" panose="020B0A04020102020204" pitchFamily="34" charset="0"/>
      <p:bold r:id="rId27"/>
    </p:embeddedFont>
    <p:embeddedFont>
      <p:font typeface="Calibri" panose="020F0502020204030204" pitchFamily="34" charset="0"/>
      <p:regular r:id="rId28"/>
      <p:bold r:id="rId29"/>
      <p:italic r:id="rId30"/>
      <p:boldItalic r:id="rId31"/>
    </p:embeddedFont>
    <p:embeddedFont>
      <p:font typeface="Cambria" panose="02040503050406030204" pitchFamily="18" charset="0"/>
      <p:regular r:id="rId32"/>
      <p:bold r:id="rId33"/>
      <p:italic r:id="rId34"/>
      <p:boldItalic r:id="rId35"/>
    </p:embeddedFont>
    <p:embeddedFont>
      <p:font typeface="Cambria Math" panose="02040503050406030204" pitchFamily="18" charset="0"/>
      <p:regular r:id="rId36"/>
    </p:embeddedFont>
    <p:embeddedFont>
      <p:font typeface="Century Gothic" panose="020B0502020202020204" pitchFamily="34" charset="0"/>
      <p:regular r:id="rId37"/>
      <p:bold r:id="rId38"/>
      <p:italic r:id="rId39"/>
      <p:boldItalic r:id="rId40"/>
    </p:embeddedFont>
    <p:embeddedFont>
      <p:font typeface="Verdana" panose="020B0604030504040204" pitchFamily="34" charset="0"/>
      <p:regular r:id="rId41"/>
      <p:bold r:id="rId42"/>
      <p:italic r:id="rId43"/>
      <p:boldItalic r:id="rId4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399C8"/>
    <a:srgbClr val="1F3165"/>
    <a:srgbClr val="C9DF6F"/>
    <a:srgbClr val="417DBF"/>
    <a:srgbClr val="3F2A67"/>
    <a:srgbClr val="E24E5F"/>
    <a:srgbClr val="26B7D4"/>
    <a:srgbClr val="54B5D1"/>
    <a:srgbClr val="33BEA6"/>
    <a:srgbClr val="2DA4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406"/>
    <p:restoredTop sz="94485"/>
  </p:normalViewPr>
  <p:slideViewPr>
    <p:cSldViewPr snapToGrid="0">
      <p:cViewPr varScale="1">
        <p:scale>
          <a:sx n="79" d="100"/>
          <a:sy n="79" d="100"/>
        </p:scale>
        <p:origin x="1104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schemas.openxmlformats.org/officeDocument/2006/relationships/font" Target="fonts/font13.fntdata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42" Type="http://schemas.openxmlformats.org/officeDocument/2006/relationships/font" Target="fonts/font16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3.fntdata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font" Target="fonts/font11.fntdata"/><Relationship Id="rId40" Type="http://schemas.openxmlformats.org/officeDocument/2006/relationships/font" Target="fonts/font14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4" Type="http://schemas.openxmlformats.org/officeDocument/2006/relationships/font" Target="fonts/font1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43" Type="http://schemas.openxmlformats.org/officeDocument/2006/relationships/font" Target="fonts/font17.fntdata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font" Target="fonts/font12.fntdata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223796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52413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5093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982721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475797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290414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384142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88088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539210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5791976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753894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4902387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404584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731290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hyperlink" Target="http://archartme.blogspot.com/2014/10/suo-fujimoto-adds-greenery-to-layered.html" TargetMode="External"/><Relationship Id="rId5" Type="http://schemas.openxmlformats.org/officeDocument/2006/relationships/image" Target="../media/image13.jp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6.png"/><Relationship Id="rId5" Type="http://schemas.openxmlformats.org/officeDocument/2006/relationships/image" Target="../media/image150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5.png"/><Relationship Id="rId5" Type="http://schemas.openxmlformats.org/officeDocument/2006/relationships/image" Target="../media/image240.png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9.png"/><Relationship Id="rId5" Type="http://schemas.openxmlformats.org/officeDocument/2006/relationships/image" Target="../media/image10.png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9.png"/><Relationship Id="rId5" Type="http://schemas.openxmlformats.org/officeDocument/2006/relationships/image" Target="../media/image37.png"/><Relationship Id="rId4" Type="http://schemas.openxmlformats.org/officeDocument/2006/relationships/image" Target="../media/image1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49901" y="2054277"/>
            <a:ext cx="5168900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Geometry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11, Lesson 8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Triangle Midsegment Theorem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220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-12701"/>
            <a:ext cx="4094106" cy="6870701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6" name="Picture 5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AB08A17F-C082-CD48-B100-6B09C860CC1F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1998" y="1622538"/>
            <a:ext cx="3090582" cy="360273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24050" y="13652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Benchmarks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220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514000" y="1600200"/>
            <a:ext cx="1111415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MA.912.GR.1.3</a:t>
            </a:r>
          </a:p>
          <a:p>
            <a:pPr indent="0">
              <a:buNone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Prove </a:t>
            </a: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relationships and theorems about triangles. Solve mathematical and real-world problems involving postulates, relationships, and theorems of triangles.</a:t>
            </a:r>
          </a:p>
          <a:p>
            <a:pPr indent="0">
              <a:buNone/>
            </a:pP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Century Gothic"/>
            </a:endParaRPr>
          </a:p>
          <a:p>
            <a:pPr marL="0" indent="0">
              <a:buSzPts val="1100"/>
              <a:buNone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MA.912.LT.4.10</a:t>
            </a:r>
          </a:p>
          <a:p>
            <a:pPr indent="0">
              <a:buNone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J</a:t>
            </a:r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udge the validity of arguments and give counterexamples to disprove statements. </a:t>
            </a: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25199" y="129667"/>
            <a:ext cx="9051187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101760" y="1596390"/>
            <a:ext cx="1042216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 marL="457200"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MA.K12.MTR.6.1 Assess the reasonableness of solutions.</a:t>
            </a:r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F5D5FF16-8C57-3542-B9F6-8CFAE57FD93D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220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056575" y="3066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4413" y="3198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457200" y="1600200"/>
            <a:ext cx="1117095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76263" indent="-576263">
              <a:buFont typeface="Wingdings" pitchFamily="2" charset="2"/>
              <a:buChar char="q"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discover the triangle midsegment theorem using AA similarity.</a:t>
            </a:r>
          </a:p>
          <a:p>
            <a:pPr marL="576263" indent="-576263">
              <a:buFont typeface="Wingdings" pitchFamily="2" charset="2"/>
              <a:buChar char="q"/>
            </a:pPr>
            <a:endParaRPr lang="en-US" sz="35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576263" indent="-576263">
              <a:buFont typeface="Wingdings" pitchFamily="2" charset="2"/>
              <a:buChar char="q"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use the triangle midsegment theorem to prove relationships and to solve problems.   </a:t>
            </a: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0965D558-BF71-CD42-AF65-985061831B97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220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2F509DC8-9A59-8F44-8FDC-3F3C19B59A23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220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4164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50" y="275690"/>
            <a:ext cx="10229866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11.8.1 Warm-Up: “Many Small Cubes”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350" y="1974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593248" y="1386026"/>
            <a:ext cx="1098091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Japanese architect Sou Fujimoto exhibited a sculpture of stacked and suspended aluminum cubes as a part of the art fair in the Parisian Jardins des Tuileries’ gardens.</a:t>
            </a:r>
            <a:endParaRPr lang="en-US" sz="2000" dirty="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59A6C138-200F-CA49-9BDA-6556E8DEF4BB}"/>
              </a:ext>
            </a:extLst>
          </p:cNvPr>
          <p:cNvSpPr txBox="1"/>
          <p:nvPr/>
        </p:nvSpPr>
        <p:spPr>
          <a:xfrm>
            <a:off x="8835938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220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Picture 10" descr="Suo Fujimoto adds greenery to layered cube installation in ..."/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1863121" y="2505376"/>
            <a:ext cx="5787390" cy="3848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5927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540565" y="520393"/>
            <a:ext cx="832713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do you notice about the structure? </a:t>
            </a:r>
          </a:p>
          <a:p>
            <a:pPr marL="914400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914400" indent="-45720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do you wonder?</a:t>
            </a:r>
          </a:p>
        </p:txBody>
      </p:sp>
      <p:sp>
        <p:nvSpPr>
          <p:cNvPr id="6" name="Google Shape;282;g104476d1465_1_17">
            <a:extLst>
              <a:ext uri="{FF2B5EF4-FFF2-40B4-BE49-F238E27FC236}">
                <a16:creationId xmlns:a16="http://schemas.microsoft.com/office/drawing/2014/main" id="{998D8A9C-1D5A-1548-B3A2-1A54503E2501}"/>
              </a:ext>
            </a:extLst>
          </p:cNvPr>
          <p:cNvSpPr txBox="1"/>
          <p:nvPr/>
        </p:nvSpPr>
        <p:spPr>
          <a:xfrm>
            <a:off x="8867701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220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98233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26" name="Picture 2" descr="Icon&#10;&#10;Description automatically generated">
            <a:extLst>
              <a:ext uri="{FF2B5EF4-FFF2-40B4-BE49-F238E27FC236}">
                <a16:creationId xmlns:a16="http://schemas.microsoft.com/office/drawing/2014/main" id="{467567E5-BEAF-E24A-A492-D25759172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30950" y="2814305"/>
            <a:ext cx="1156228" cy="115622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46F5B3AB-1E93-5D4D-9B62-E78D18623089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221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969715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52650" y="60325"/>
            <a:ext cx="10842998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11.8.2 Exploration: Triangle Midsegment</a:t>
            </a:r>
          </a:p>
        </p:txBody>
      </p:sp>
      <p:pic>
        <p:nvPicPr>
          <p:cNvPr id="7" name="Picture 2" descr="Icon&#10;&#10;Description automatically generated">
            <a:extLst>
              <a:ext uri="{FF2B5EF4-FFF2-40B4-BE49-F238E27FC236}">
                <a16:creationId xmlns:a16="http://schemas.microsoft.com/office/drawing/2014/main" id="{A741EC39-D81C-A945-833B-CFC11AA40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96352" y="308450"/>
            <a:ext cx="752254" cy="7522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52D1D4D-DCB8-A246-B186-D40316579D77}"/>
                  </a:ext>
                </a:extLst>
              </p:cNvPr>
              <p:cNvSpPr txBox="1"/>
              <p:nvPr/>
            </p:nvSpPr>
            <p:spPr>
              <a:xfrm>
                <a:off x="593247" y="1386025"/>
                <a:ext cx="10659771" cy="40934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𝑁𝐾𝑉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𝑁𝑅𝑇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are shown, where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𝐾𝑉</m:t>
                        </m:r>
                      </m:e>
                    </m:acc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∥</m:t>
                    </m:r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𝑅𝑇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0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Discuss with your partner what can be concluded from the given information. Justify your conclusions.</a:t>
                </a:r>
                <a:endParaRPr lang="en-US" sz="2000" dirty="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52D1D4D-DCB8-A246-B186-D40316579D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247" y="1386025"/>
                <a:ext cx="10659771" cy="4093428"/>
              </a:xfrm>
              <a:prstGeom prst="rect">
                <a:avLst/>
              </a:prstGeom>
              <a:blipFill>
                <a:blip r:embed="rId5"/>
                <a:stretch>
                  <a:fillRect l="-629" t="-744" r="-229" b="-16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BE9F1CF9-73E2-9247-9F8B-6DA5A3D08D30}"/>
              </a:ext>
            </a:extLst>
          </p:cNvPr>
          <p:cNvPicPr/>
          <p:nvPr/>
        </p:nvPicPr>
        <p:blipFill>
          <a:blip r:embed="rId6"/>
          <a:stretch>
            <a:fillRect/>
          </a:stretch>
        </p:blipFill>
        <p:spPr>
          <a:xfrm>
            <a:off x="2223166" y="1862710"/>
            <a:ext cx="5067300" cy="2790825"/>
          </a:xfrm>
          <a:prstGeom prst="rect">
            <a:avLst/>
          </a:prstGeom>
        </p:spPr>
      </p:pic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9ACE2571-4994-0748-B112-F1825844DD60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221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352480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74EB5C6-2FDE-474B-866F-02AD6706D73C}"/>
              </a:ext>
            </a:extLst>
          </p:cNvPr>
          <p:cNvSpPr txBox="1"/>
          <p:nvPr/>
        </p:nvSpPr>
        <p:spPr>
          <a:xfrm>
            <a:off x="540564" y="382314"/>
            <a:ext cx="1098335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spcAft>
                <a:spcPts val="1000"/>
              </a:spcAft>
              <a:buFont typeface="+mj-lt"/>
              <a:buAutoNum type="arabi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Ask a classmate for two conclusions they made. Record their conclusions and write your summary of their reason. </a:t>
            </a:r>
            <a:r>
              <a:rPr lang="en-US" sz="2000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You are the only person who should write in the first two columns of the table.</a:t>
            </a: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Have the person initial next to your summary stating that your summary was correct.</a:t>
            </a:r>
            <a:endParaRPr lang="en-US" sz="2000" dirty="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00E9E3B-0043-2449-AD4A-4EB621E977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9104981"/>
              </p:ext>
            </p:extLst>
          </p:nvPr>
        </p:nvGraphicFramePr>
        <p:xfrm>
          <a:off x="1094672" y="1879104"/>
          <a:ext cx="8958040" cy="4329718"/>
        </p:xfrm>
        <a:graphic>
          <a:graphicData uri="http://schemas.openxmlformats.org/drawingml/2006/table">
            <a:tbl>
              <a:tblPr bandRow="1"/>
              <a:tblGrid>
                <a:gridCol w="2911363">
                  <a:extLst>
                    <a:ext uri="{9D8B030D-6E8A-4147-A177-3AD203B41FA5}">
                      <a16:colId xmlns:a16="http://schemas.microsoft.com/office/drawing/2014/main" val="2025375173"/>
                    </a:ext>
                  </a:extLst>
                </a:gridCol>
                <a:gridCol w="3807167">
                  <a:extLst>
                    <a:ext uri="{9D8B030D-6E8A-4147-A177-3AD203B41FA5}">
                      <a16:colId xmlns:a16="http://schemas.microsoft.com/office/drawing/2014/main" val="3612368801"/>
                    </a:ext>
                  </a:extLst>
                </a:gridCol>
                <a:gridCol w="2239510">
                  <a:extLst>
                    <a:ext uri="{9D8B030D-6E8A-4147-A177-3AD203B41FA5}">
                      <a16:colId xmlns:a16="http://schemas.microsoft.com/office/drawing/2014/main" val="3300196804"/>
                    </a:ext>
                  </a:extLst>
                </a:gridCol>
              </a:tblGrid>
              <a:tr h="970454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Conclusion</a:t>
                      </a:r>
                      <a:endParaRPr lang="en-US" sz="24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111975" marR="111975" marT="111975" marB="111975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My Summary of Their Reason</a:t>
                      </a:r>
                      <a:endParaRPr lang="en-US" sz="24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111975" marR="111975" marT="111975" marB="111975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Initials</a:t>
                      </a:r>
                      <a:endParaRPr lang="en-US" sz="24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111975" marR="111975" marT="111975" marB="111975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5674374"/>
                  </a:ext>
                </a:extLst>
              </a:tr>
              <a:tr h="1679632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24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111975" marR="111975" marT="111975" marB="11197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24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111975" marR="111975" marT="111975" marB="11197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24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111975" marR="111975" marT="111975" marB="11197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4539665"/>
                  </a:ext>
                </a:extLst>
              </a:tr>
              <a:tr h="1679632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240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111975" marR="111975" marT="111975" marB="11197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24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111975" marR="111975" marT="111975" marB="11197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endParaRPr lang="en-US" sz="2400" dirty="0">
                        <a:effectLst/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 marL="111975" marR="111975" marT="111975" marB="111975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7320493"/>
                  </a:ext>
                </a:extLst>
              </a:tr>
            </a:tbl>
          </a:graphicData>
        </a:graphic>
      </p:graphicFrame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F584F2D4-5B1F-9C49-A772-8B784574CF86}"/>
              </a:ext>
            </a:extLst>
          </p:cNvPr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221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367858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5927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4EB5C6-2FDE-474B-866F-02AD6706D73C}"/>
                  </a:ext>
                </a:extLst>
              </p:cNvPr>
              <p:cNvSpPr txBox="1"/>
              <p:nvPr/>
            </p:nvSpPr>
            <p:spPr>
              <a:xfrm>
                <a:off x="540565" y="374090"/>
                <a:ext cx="8327136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Given: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𝑁𝑅𝑇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with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𝐾𝑉</m:t>
                        </m:r>
                      </m:e>
                    </m:acc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∥</m:t>
                    </m:r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𝑅𝑇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US" sz="2000" dirty="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/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Prove: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𝑁𝐾𝑉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~∆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𝑁𝑅𝑇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457200"/>
                <a:endParaRPr lang="en-US" sz="2000" dirty="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>
                  <a:spcAft>
                    <a:spcPts val="1000"/>
                  </a:spcAft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Complete the flowchart proof.</a:t>
                </a:r>
                <a:endParaRPr lang="en-US" sz="2000" dirty="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4EB5C6-2FDE-474B-866F-02AD6706D7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374090"/>
                <a:ext cx="8327136" cy="1323439"/>
              </a:xfrm>
              <a:prstGeom prst="rect">
                <a:avLst/>
              </a:prstGeom>
              <a:blipFill>
                <a:blip r:embed="rId4"/>
                <a:stretch>
                  <a:fillRect l="-805" t="-2765" b="-73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 descr="Chart, box and whisker chart&#10;&#10;Description automatically generated">
            <a:extLst>
              <a:ext uri="{FF2B5EF4-FFF2-40B4-BE49-F238E27FC236}">
                <a16:creationId xmlns:a16="http://schemas.microsoft.com/office/drawing/2014/main" id="{F668F6DC-D51E-B34F-84BB-3E1954CA31E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91"/>
          <a:stretch/>
        </p:blipFill>
        <p:spPr>
          <a:xfrm>
            <a:off x="2409911" y="1847314"/>
            <a:ext cx="4588445" cy="4758125"/>
          </a:xfrm>
          <a:prstGeom prst="rect">
            <a:avLst/>
          </a:prstGeom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50344353-EF1A-3242-8C5F-A2466D74F6B9}"/>
              </a:ext>
            </a:extLst>
          </p:cNvPr>
          <p:cNvSpPr txBox="1"/>
          <p:nvPr/>
        </p:nvSpPr>
        <p:spPr>
          <a:xfrm>
            <a:off x="8867701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221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367144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5927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4EB5C6-2FDE-474B-866F-02AD6706D73C}"/>
                  </a:ext>
                </a:extLst>
              </p:cNvPr>
              <p:cNvSpPr txBox="1"/>
              <p:nvPr/>
            </p:nvSpPr>
            <p:spPr>
              <a:xfrm>
                <a:off x="540565" y="374089"/>
                <a:ext cx="10961136" cy="3477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4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other information about triangles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𝑁𝐾𝑉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𝑁𝑅𝑇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can be determined from knowing that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𝑁𝐾𝑉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~∆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𝑁𝑅𝑇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? </a:t>
                </a:r>
              </a:p>
              <a:p>
                <a:pPr marL="457200" indent="-457200">
                  <a:buFont typeface="+mj-lt"/>
                  <a:buAutoNum type="arabicPeriod" startAt="4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4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table using the information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𝐾𝑉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=5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𝑁𝑅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=6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𝑁𝐾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=3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𝑁𝑇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=8.8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74EB5C6-2FDE-474B-866F-02AD6706D7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374089"/>
                <a:ext cx="10961136" cy="3477875"/>
              </a:xfrm>
              <a:prstGeom prst="rect">
                <a:avLst/>
              </a:prstGeom>
              <a:blipFill>
                <a:blip r:embed="rId4"/>
                <a:stretch>
                  <a:fillRect l="-612" t="-1051" b="-22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D2C96C56-BEDD-DF4F-8C26-B3E883E7AD6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26146753"/>
                  </p:ext>
                </p:extLst>
              </p:nvPr>
            </p:nvGraphicFramePr>
            <p:xfrm>
              <a:off x="1114075" y="4309921"/>
              <a:ext cx="6400800" cy="103632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200400">
                      <a:extLst>
                        <a:ext uri="{9D8B030D-6E8A-4147-A177-3AD203B41FA5}">
                          <a16:colId xmlns:a16="http://schemas.microsoft.com/office/drawing/2014/main" val="1755171912"/>
                        </a:ext>
                      </a:extLst>
                    </a:gridCol>
                    <a:gridCol w="3200400">
                      <a:extLst>
                        <a:ext uri="{9D8B030D-6E8A-4147-A177-3AD203B41FA5}">
                          <a16:colId xmlns:a16="http://schemas.microsoft.com/office/drawing/2014/main" val="415052066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2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𝑅𝑇</m:t>
                                </m:r>
                                <m:r>
                                  <a:rPr lang="en-US" sz="22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22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2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𝑁𝑉</m:t>
                                </m:r>
                                <m:r>
                                  <a:rPr lang="en-US" sz="22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22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20600022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2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𝐾𝑅</m:t>
                                </m:r>
                                <m:r>
                                  <a:rPr lang="en-US" sz="22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22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2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𝑉𝑇</m:t>
                                </m:r>
                                <m:r>
                                  <a:rPr lang="en-US" sz="22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22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983188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D2C96C56-BEDD-DF4F-8C26-B3E883E7AD6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26146753"/>
                  </p:ext>
                </p:extLst>
              </p:nvPr>
            </p:nvGraphicFramePr>
            <p:xfrm>
              <a:off x="1114075" y="4309921"/>
              <a:ext cx="6400800" cy="103632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200400">
                      <a:extLst>
                        <a:ext uri="{9D8B030D-6E8A-4147-A177-3AD203B41FA5}">
                          <a16:colId xmlns:a16="http://schemas.microsoft.com/office/drawing/2014/main" val="1755171912"/>
                        </a:ext>
                      </a:extLst>
                    </a:gridCol>
                    <a:gridCol w="3200400">
                      <a:extLst>
                        <a:ext uri="{9D8B030D-6E8A-4147-A177-3AD203B41FA5}">
                          <a16:colId xmlns:a16="http://schemas.microsoft.com/office/drawing/2014/main" val="415052066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90" t="-2326" r="-100380" b="-1023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381" t="-2326" r="-571" b="-1023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06000227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90" t="-103529" r="-100380" b="-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381" t="-103529" r="-571" b="-35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983188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3" name="Google Shape;282;g104476d1465_1_17">
            <a:extLst>
              <a:ext uri="{FF2B5EF4-FFF2-40B4-BE49-F238E27FC236}">
                <a16:creationId xmlns:a16="http://schemas.microsoft.com/office/drawing/2014/main" id="{0230EAA5-6E73-3B41-BDF6-73392F6EB31A}"/>
              </a:ext>
            </a:extLst>
          </p:cNvPr>
          <p:cNvSpPr txBox="1"/>
          <p:nvPr/>
        </p:nvSpPr>
        <p:spPr>
          <a:xfrm>
            <a:off x="8867701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222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878348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66258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" name="Google Shape;282;g104476d1465_1_17">
            <a:extLst>
              <a:ext uri="{FF2B5EF4-FFF2-40B4-BE49-F238E27FC236}">
                <a16:creationId xmlns:a16="http://schemas.microsoft.com/office/drawing/2014/main" id="{3F1A8076-7F8F-A340-BE06-8D9BFAFD5D82}"/>
              </a:ext>
            </a:extLst>
          </p:cNvPr>
          <p:cNvSpPr txBox="1"/>
          <p:nvPr/>
        </p:nvSpPr>
        <p:spPr>
          <a:xfrm>
            <a:off x="8828032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222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74EB5C6-2FDE-474B-866F-02AD6706D73C}"/>
                  </a:ext>
                </a:extLst>
              </p:cNvPr>
              <p:cNvSpPr txBox="1"/>
              <p:nvPr/>
            </p:nvSpPr>
            <p:spPr>
              <a:xfrm>
                <a:off x="540565" y="374090"/>
                <a:ext cx="8327136" cy="22467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6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do you notice about the location of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𝐾𝑉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? </a:t>
                </a:r>
              </a:p>
              <a:p>
                <a:pPr marL="457200" indent="-457200">
                  <a:buFont typeface="+mj-lt"/>
                  <a:buAutoNum type="arabicPeriod" startAt="6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6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6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6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6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 startAt="6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do you notice about the lengths of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𝐾𝑉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𝑅𝑇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?</a:t>
                </a:r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B74EB5C6-2FDE-474B-866F-02AD6706D7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374090"/>
                <a:ext cx="8327136" cy="2246769"/>
              </a:xfrm>
              <a:prstGeom prst="rect">
                <a:avLst/>
              </a:prstGeom>
              <a:blipFill>
                <a:blip r:embed="rId4"/>
                <a:stretch>
                  <a:fillRect l="-805" t="-1626" b="-40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Group 1"/>
          <p:cNvGrpSpPr/>
          <p:nvPr/>
        </p:nvGrpSpPr>
        <p:grpSpPr>
          <a:xfrm>
            <a:off x="625742" y="4347078"/>
            <a:ext cx="7708284" cy="2088514"/>
            <a:chOff x="483765" y="4194678"/>
            <a:chExt cx="7708284" cy="2088514"/>
          </a:xfrm>
        </p:grpSpPr>
        <p:sp>
          <p:nvSpPr>
            <p:cNvPr id="33" name="Rounded Rectangle 32">
              <a:extLst>
                <a:ext uri="{FF2B5EF4-FFF2-40B4-BE49-F238E27FC236}">
                  <a16:creationId xmlns:a16="http://schemas.microsoft.com/office/drawing/2014/main" id="{0CAB4CB7-354C-C64E-9092-FFF82C884B43}"/>
                </a:ext>
              </a:extLst>
            </p:cNvPr>
            <p:cNvSpPr/>
            <p:nvPr/>
          </p:nvSpPr>
          <p:spPr>
            <a:xfrm>
              <a:off x="483765" y="4194678"/>
              <a:ext cx="7708284" cy="2088514"/>
            </a:xfrm>
            <a:prstGeom prst="roundRect">
              <a:avLst>
                <a:gd name="adj" fmla="val 16667"/>
              </a:avLst>
            </a:prstGeom>
            <a:solidFill>
              <a:srgbClr val="B8E6F5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spcFirstLastPara="1" wrap="square" lIns="91425" tIns="91440" rIns="91425" bIns="0" anchor="ctr" anchorCtr="0">
              <a:spAutoFit/>
            </a:bodyPr>
            <a:lstStyle/>
            <a:p>
              <a:pPr marL="742950">
                <a:spcAft>
                  <a:spcPts val="1000"/>
                </a:spcAft>
              </a:pPr>
              <a:r>
                <a:rPr lang="en-US" sz="2000" b="1" dirty="0">
                  <a:solidFill>
                    <a:srgbClr val="00619E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Triangle Midsegment Theorem</a:t>
              </a:r>
              <a:endParaRPr lang="en-US" sz="2000" dirty="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 marL="742950">
                <a:spcAft>
                  <a:spcPts val="1000"/>
                </a:spcAft>
              </a:pPr>
              <a:r>
                <a:rPr lang="en-US" sz="2000" dirty="0">
                  <a:solidFill>
                    <a:srgbClr val="00619E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The midsegment of a triangle joins the midpoints of two sides of a triangle such that its length is half the length of the third side of the triangle, and it is parallel to the third side of the triangle. </a:t>
              </a:r>
              <a:endParaRPr lang="en-US" sz="2000" dirty="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34" name="Shape 55" descr="Icon&#10;&#10;Description automatically generated">
              <a:extLst>
                <a:ext uri="{FF2B5EF4-FFF2-40B4-BE49-F238E27FC236}">
                  <a16:creationId xmlns:a16="http://schemas.microsoft.com/office/drawing/2014/main" id="{F3EB5E3E-BCB4-3A40-B24C-668540A78ADD}"/>
                </a:ext>
              </a:extLst>
            </p:cNvPr>
            <p:cNvPicPr preferRelativeResize="0"/>
            <p:nvPr/>
          </p:nvPicPr>
          <p:blipFill rotWithShape="1">
            <a:blip r:embed="rId5" cstate="screen">
              <a:alphaModFix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91411" y="4415867"/>
              <a:ext cx="609007" cy="608970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19183854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12825"/>
            <a:ext cx="2731200" cy="68707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25955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:a16="http://schemas.microsoft.com/office/drawing/2014/main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272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DD3F8645-CD26-644B-AE53-80E49E0A4B60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222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930146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1812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052650" y="-37211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11.8.3 Guided Practice: Triangle Midsegment Theorem</a:t>
            </a:r>
          </a:p>
        </p:txBody>
      </p:sp>
      <p:pic>
        <p:nvPicPr>
          <p:cNvPr id="8" name="Picture 2" descr="Icon&#10;&#10;Description automatically generated">
            <a:extLst>
              <a:ext uri="{FF2B5EF4-FFF2-40B4-BE49-F238E27FC236}">
                <a16:creationId xmlns:a16="http://schemas.microsoft.com/office/drawing/2014/main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02842" y="128815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/>
              <p:nvPr/>
            </p:nvSpPr>
            <p:spPr>
              <a:xfrm>
                <a:off x="593248" y="1386025"/>
                <a:ext cx="8327136" cy="26814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spcAft>
                    <a:spcPts val="1000"/>
                  </a:spcAft>
                </a:pPr>
                <a:r>
                  <a:rPr lang="en-PH" sz="2000" dirty="0">
                    <a:latin typeface="Verdana" pitchFamily="34" charset="0"/>
                    <a:ea typeface="Verdana" pitchFamily="34" charset="0"/>
                    <a:cs typeface="Times New Roman" panose="02020603050405020304" pitchFamily="18" charset="0"/>
                  </a:rPr>
                  <a:t>1.	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𝑀𝐶𝑊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itchFamily="34" charset="0"/>
                    <a:cs typeface="Times New Roman" panose="02020603050405020304" pitchFamily="18" charset="0"/>
                  </a:rPr>
                  <a:t> is shown, where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𝑆𝐺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itchFamily="34" charset="0"/>
                    <a:cs typeface="Times New Roman" panose="02020603050405020304" pitchFamily="18" charset="0"/>
                  </a:rPr>
                  <a:t> is the midsegment. </a:t>
                </a:r>
                <a:endParaRPr lang="en-US" sz="2000" i="1" dirty="0">
                  <a:latin typeface="Verdana" pitchFamily="34" charset="0"/>
                  <a:ea typeface="Verdana" pitchFamily="34" charset="0"/>
                  <a:cs typeface="Times New Roman" panose="02020603050405020304" pitchFamily="18" charset="0"/>
                </a:endParaRPr>
              </a:p>
              <a:p>
                <a:pPr marL="457200"/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𝑀𝑆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sz="20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0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den>
                        </m:f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+4</m:t>
                        </m:r>
                      </m:e>
                    </m:d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itchFamily="34" charset="0"/>
                    <a:cs typeface="Times New Roman" panose="02020603050405020304" pitchFamily="18" charset="0"/>
                  </a:rPr>
                  <a:t>,</a:t>
                </a:r>
              </a:p>
              <a:p>
                <a:pPr marL="457200"/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𝐺𝐶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=(11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−2)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itchFamily="34" charset="0"/>
                    <a:cs typeface="Times New Roman" panose="02020603050405020304" pitchFamily="18" charset="0"/>
                  </a:rPr>
                  <a:t>, </a:t>
                </a:r>
              </a:p>
              <a:p>
                <a:pPr marL="457200"/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𝑆𝐺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=(2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+5)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itchFamily="34" charset="0"/>
                    <a:cs typeface="Times New Roman" panose="02020603050405020304" pitchFamily="18" charset="0"/>
                  </a:rPr>
                  <a:t>, </a:t>
                </a:r>
              </a:p>
              <a:p>
                <a:pPr marL="457200"/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𝑀𝑊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=(8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−2)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itchFamily="34" charset="0"/>
                    <a:cs typeface="Times New Roman" panose="02020603050405020304" pitchFamily="18" charset="0"/>
                  </a:rPr>
                  <a:t>, </a:t>
                </a:r>
              </a:p>
              <a:p>
                <a:pPr marL="457200"/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𝑆𝐶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sz="20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US" sz="20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4</m:t>
                            </m:r>
                          </m:den>
                        </m:f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sz="20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0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itchFamily="34" charset="0"/>
                    <a:cs typeface="Times New Roman" panose="02020603050405020304" pitchFamily="18" charset="0"/>
                  </a:rPr>
                  <a:t>,</a:t>
                </a:r>
              </a:p>
              <a:p>
                <a:pPr marL="457200"/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𝑊𝐺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=(9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𝑧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+1)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itchFamily="34" charset="0"/>
                    <a:cs typeface="Times New Roman" panose="02020603050405020304" pitchFamily="18" charset="0"/>
                  </a:rPr>
                  <a:t>. 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248" y="1386025"/>
                <a:ext cx="8327136" cy="2681440"/>
              </a:xfrm>
              <a:prstGeom prst="rect">
                <a:avLst/>
              </a:prstGeom>
              <a:blipFill>
                <a:blip r:embed="rId5"/>
                <a:stretch>
                  <a:fillRect l="-732" t="-1136" b="-29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A60AC54E-2973-3D4F-84B6-347D8E151B02}"/>
              </a:ext>
            </a:extLst>
          </p:cNvPr>
          <p:cNvPicPr/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655" t="5518"/>
          <a:stretch/>
        </p:blipFill>
        <p:spPr bwMode="auto">
          <a:xfrm>
            <a:off x="7264047" y="1386025"/>
            <a:ext cx="4249848" cy="376217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3FD0EAEA-2980-4C48-A8E6-59C99E6F604A}"/>
              </a:ext>
            </a:extLst>
          </p:cNvPr>
          <p:cNvSpPr txBox="1"/>
          <p:nvPr/>
        </p:nvSpPr>
        <p:spPr>
          <a:xfrm>
            <a:off x="8879895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222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455233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3BC97A7-8575-5A46-8E72-A886A83AEC7E}"/>
                  </a:ext>
                </a:extLst>
              </p:cNvPr>
              <p:cNvSpPr txBox="1"/>
              <p:nvPr/>
            </p:nvSpPr>
            <p:spPr>
              <a:xfrm>
                <a:off x="465232" y="386281"/>
                <a:ext cx="8327136" cy="50167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Find the value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Find the value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Find the value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𝑧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spcAft>
                    <a:spcPts val="1000"/>
                  </a:spcAft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is the perimeter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𝑀𝐶𝑊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?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3BC97A7-8575-5A46-8E72-A886A83AEC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232" y="386281"/>
                <a:ext cx="8327136" cy="5016758"/>
              </a:xfrm>
              <a:prstGeom prst="rect">
                <a:avLst/>
              </a:prstGeom>
              <a:blipFill>
                <a:blip r:embed="rId4"/>
                <a:stretch>
                  <a:fillRect t="-729" b="-13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82;g104476d1465_1_17">
            <a:extLst>
              <a:ext uri="{FF2B5EF4-FFF2-40B4-BE49-F238E27FC236}">
                <a16:creationId xmlns:a16="http://schemas.microsoft.com/office/drawing/2014/main" id="{50D3620B-E55B-F346-8F28-014FE5B9A4A6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222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323404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82C1B4D-CEFA-1547-AB0E-A48DC2A8CF3D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7248400" y="386281"/>
            <a:ext cx="4358640" cy="340296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3BC97A7-8575-5A46-8E72-A886A83AEC7E}"/>
                  </a:ext>
                </a:extLst>
              </p:cNvPr>
              <p:cNvSpPr txBox="1"/>
              <p:nvPr/>
            </p:nvSpPr>
            <p:spPr>
              <a:xfrm>
                <a:off x="465232" y="386281"/>
                <a:ext cx="6889115" cy="378565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/>
                <a:r>
                  <a:rPr lang="en-PH" sz="2000" dirty="0">
                    <a:latin typeface="Verdana" pitchFamily="34" charset="0"/>
                    <a:ea typeface="Verdana" pitchFamily="34" charset="0"/>
                    <a:cs typeface="Times New Roman" panose="02020603050405020304" pitchFamily="18" charset="0"/>
                  </a:rPr>
                  <a:t>2.	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𝐵𝐾𝑅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shown, where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𝐷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𝑃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𝐻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are the midpoints and the perimeter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𝐷𝑃𝐻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23.5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𝐷𝑃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=17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𝑃𝐻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=(6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+5)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𝐻𝐷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=20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−3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</a:p>
              <a:p>
                <a:pPr marL="45720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What is the value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?</a:t>
                </a: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table.</a:t>
                </a: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3BC97A7-8575-5A46-8E72-A886A83AEC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232" y="386281"/>
                <a:ext cx="6889115" cy="3785652"/>
              </a:xfrm>
              <a:prstGeom prst="rect">
                <a:avLst/>
              </a:prstGeom>
              <a:blipFill>
                <a:blip r:embed="rId4"/>
                <a:stretch>
                  <a:fillRect l="-885" t="-805" b="-20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3B976B45-16C0-C84C-A863-438DB4F45CB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02301274"/>
                  </p:ext>
                </p:extLst>
              </p:nvPr>
            </p:nvGraphicFramePr>
            <p:xfrm>
              <a:off x="1507331" y="4603342"/>
              <a:ext cx="6889115" cy="155448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417570">
                      <a:extLst>
                        <a:ext uri="{9D8B030D-6E8A-4147-A177-3AD203B41FA5}">
                          <a16:colId xmlns:a16="http://schemas.microsoft.com/office/drawing/2014/main" val="339886252"/>
                        </a:ext>
                      </a:extLst>
                    </a:gridCol>
                    <a:gridCol w="3471545">
                      <a:extLst>
                        <a:ext uri="{9D8B030D-6E8A-4147-A177-3AD203B41FA5}">
                          <a16:colId xmlns:a16="http://schemas.microsoft.com/office/drawing/2014/main" val="2648643636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2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𝐵𝐾</m:t>
                                </m:r>
                                <m:r>
                                  <a:rPr lang="en-US" sz="22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22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2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𝐷𝐻</m:t>
                                </m:r>
                                <m:r>
                                  <a:rPr lang="en-US" sz="22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22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77175834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2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𝐵𝑅</m:t>
                                </m:r>
                                <m:r>
                                  <a:rPr lang="en-US" sz="22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22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2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𝐾𝑃</m:t>
                                </m:r>
                                <m:r>
                                  <a:rPr lang="en-US" sz="22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22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7367464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2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𝐷𝑃</m:t>
                                </m:r>
                                <m:r>
                                  <a:rPr lang="en-US" sz="22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22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2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𝐾𝑅</m:t>
                                </m:r>
                                <m:r>
                                  <a:rPr lang="en-US" sz="22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22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28749312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3B976B45-16C0-C84C-A863-438DB4F45CB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02301274"/>
                  </p:ext>
                </p:extLst>
              </p:nvPr>
            </p:nvGraphicFramePr>
            <p:xfrm>
              <a:off x="1507331" y="4603342"/>
              <a:ext cx="6889115" cy="155448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417570">
                      <a:extLst>
                        <a:ext uri="{9D8B030D-6E8A-4147-A177-3AD203B41FA5}">
                          <a16:colId xmlns:a16="http://schemas.microsoft.com/office/drawing/2014/main" val="339886252"/>
                        </a:ext>
                      </a:extLst>
                    </a:gridCol>
                    <a:gridCol w="3471545">
                      <a:extLst>
                        <a:ext uri="{9D8B030D-6E8A-4147-A177-3AD203B41FA5}">
                          <a16:colId xmlns:a16="http://schemas.microsoft.com/office/drawing/2014/main" val="2648643636"/>
                        </a:ext>
                      </a:extLst>
                    </a:gridCol>
                  </a:tblGrid>
                  <a:tr h="5181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357" t="-2353" r="-102139" b="-2047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98772" t="-2353" r="-526" b="-20470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71758340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357" t="-101163" r="-102139" b="-10232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98772" t="-101163" r="-526" b="-10232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3674643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357" t="-203529" r="-102139" b="-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98772" t="-203529" r="-526" b="-35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8749312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8BB2C1F2-BB16-FF49-95B9-E3F1CE8BCC0B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223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424341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3BC97A7-8575-5A46-8E72-A886A83AEC7E}"/>
                  </a:ext>
                </a:extLst>
              </p:cNvPr>
              <p:cNvSpPr txBox="1"/>
              <p:nvPr/>
            </p:nvSpPr>
            <p:spPr>
              <a:xfrm>
                <a:off x="465624" y="350388"/>
                <a:ext cx="9666518" cy="49584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/>
                <a:r>
                  <a:rPr lang="en-PH" sz="2000" dirty="0">
                    <a:latin typeface="Verdana" pitchFamily="34" charset="0"/>
                    <a:ea typeface="Verdana" pitchFamily="34" charset="0"/>
                    <a:cs typeface="Times New Roman" panose="02020603050405020304" pitchFamily="18" charset="0"/>
                  </a:rPr>
                  <a:t>3.	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𝑆𝐺𝐶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𝐻𝑇𝐶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are shown.</a:t>
                </a:r>
              </a:p>
              <a:p>
                <a:pPr marL="457200" indent="-457200"/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indent="457200"/>
                <a:r>
                  <a:rPr lang="en-US" sz="2000" dirty="0">
                    <a:latin typeface="Verdana" panose="020B0604030504040204" pitchFamily="34" charset="0"/>
                    <a:ea typeface="Verdana" pitchFamily="34" charset="0"/>
                    <a:cs typeface="Times New Roman" panose="02020603050405020304" pitchFamily="18" charset="0"/>
                  </a:rPr>
                  <a:t>Given: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𝑆𝐻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𝐻𝐶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itchFamily="34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𝐺𝑇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𝑇𝐶</m:t>
                    </m:r>
                  </m:oMath>
                </a14:m>
                <a:endParaRPr lang="en-US" sz="2000" dirty="0">
                  <a:latin typeface="Verdana" pitchFamily="34" charset="0"/>
                  <a:ea typeface="Verdana" pitchFamily="34" charset="0"/>
                  <a:cs typeface="Times New Roman" panose="02020603050405020304" pitchFamily="18" charset="0"/>
                </a:endParaRPr>
              </a:p>
              <a:p>
                <a:pPr indent="457200"/>
                <a:r>
                  <a:rPr lang="en-US" sz="2000" dirty="0">
                    <a:latin typeface="Verdana" pitchFamily="34" charset="0"/>
                    <a:ea typeface="Verdana" pitchFamily="34" charset="0"/>
                    <a:cs typeface="Times New Roman" panose="02020603050405020304" pitchFamily="18" charset="0"/>
                  </a:rPr>
                  <a:t>Prove: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𝑆𝐺</m:t>
                        </m:r>
                      </m:e>
                    </m:acc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∥</m:t>
                    </m:r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𝐻𝑇</m:t>
                        </m:r>
                      </m:e>
                    </m:acc>
                  </m:oMath>
                </a14:m>
                <a:endParaRPr lang="en-US" sz="2000" dirty="0">
                  <a:latin typeface="Verdana" pitchFamily="34" charset="0"/>
                  <a:ea typeface="Verdana" pitchFamily="34" charset="0"/>
                  <a:cs typeface="Times New Roman" panose="02020603050405020304" pitchFamily="18" charset="0"/>
                </a:endParaRPr>
              </a:p>
              <a:p>
                <a:pPr indent="457200"/>
                <a:endParaRPr lang="en-PH" sz="2000" dirty="0">
                  <a:latin typeface="Verdana" pitchFamily="34" charset="0"/>
                  <a:ea typeface="Verdana" pitchFamily="34" charset="0"/>
                  <a:cs typeface="Times New Roman" panose="02020603050405020304" pitchFamily="18" charset="0"/>
                </a:endParaRPr>
              </a:p>
              <a:p>
                <a:pPr indent="457200"/>
                <a:endParaRPr lang="en-PH" sz="2000" dirty="0">
                  <a:latin typeface="Verdana" pitchFamily="34" charset="0"/>
                  <a:ea typeface="Verdana" pitchFamily="34" charset="0"/>
                  <a:cs typeface="Times New Roman" panose="02020603050405020304" pitchFamily="18" charset="0"/>
                </a:endParaRPr>
              </a:p>
              <a:p>
                <a:pPr indent="457200"/>
                <a:endParaRPr lang="en-PH" sz="2000" dirty="0">
                  <a:latin typeface="Verdana" pitchFamily="34" charset="0"/>
                  <a:ea typeface="Verdana" pitchFamily="34" charset="0"/>
                  <a:cs typeface="Times New Roman" panose="02020603050405020304" pitchFamily="18" charset="0"/>
                </a:endParaRPr>
              </a:p>
              <a:p>
                <a:pPr indent="457200"/>
                <a:endParaRPr lang="en-PH" sz="2000" dirty="0">
                  <a:latin typeface="Verdana" pitchFamily="34" charset="0"/>
                  <a:ea typeface="Verdana" pitchFamily="34" charset="0"/>
                  <a:cs typeface="Times New Roman" panose="02020603050405020304" pitchFamily="18" charset="0"/>
                </a:endParaRPr>
              </a:p>
              <a:p>
                <a:pPr indent="457200"/>
                <a:endParaRPr lang="en-US" sz="2000" dirty="0">
                  <a:latin typeface="Verdana" pitchFamily="34" charset="0"/>
                  <a:ea typeface="Verdana" pitchFamily="34" charset="0"/>
                  <a:cs typeface="Times New Roman" panose="02020603050405020304" pitchFamily="18" charset="0"/>
                </a:endParaRPr>
              </a:p>
              <a:p>
                <a:pPr indent="457200"/>
                <a:endParaRPr lang="en-US" sz="2000" dirty="0">
                  <a:latin typeface="Verdana" pitchFamily="34" charset="0"/>
                  <a:ea typeface="Verdana" pitchFamily="34" charset="0"/>
                  <a:cs typeface="Times New Roman" panose="02020603050405020304" pitchFamily="18" charset="0"/>
                </a:endParaRPr>
              </a:p>
              <a:p>
                <a:pPr marL="457200">
                  <a:lnSpc>
                    <a:spcPct val="150000"/>
                  </a:lnSpc>
                  <a:spcAft>
                    <a:spcPts val="1000"/>
                  </a:spcAft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Since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𝑆𝐻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𝐻𝐶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𝐺𝑇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𝑇𝐶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𝐻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the ___________ of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𝑆𝐶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𝑇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the ____________ of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𝐺𝐶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by_______________________. Therefore,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𝐻𝑇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the _____________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𝑆𝐺𝐶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by definition and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𝑆𝐺</m:t>
                        </m:r>
                      </m:e>
                    </m:acc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∥</m:t>
                    </m:r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𝐻𝑇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by the ____________________. </a:t>
                </a:r>
                <a:endParaRPr lang="en-US" sz="2000" dirty="0">
                  <a:latin typeface="Verdana" pitchFamily="34" charset="0"/>
                  <a:ea typeface="Verdana" pitchFamily="34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A3BC97A7-8575-5A46-8E72-A886A83AEC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624" y="350388"/>
                <a:ext cx="9666518" cy="4958473"/>
              </a:xfrm>
              <a:prstGeom prst="rect">
                <a:avLst/>
              </a:prstGeom>
              <a:blipFill>
                <a:blip r:embed="rId3"/>
                <a:stretch>
                  <a:fillRect l="-631" t="-614" b="-12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35051184-7963-4D46-BDA7-99D2DCA20E79}"/>
              </a:ext>
            </a:extLst>
          </p:cNvPr>
          <p:cNvPicPr/>
          <p:nvPr/>
        </p:nvPicPr>
        <p:blipFill rotWithShape="1">
          <a:blip r:embed="rId4"/>
          <a:srcRect l="8762" t="6819"/>
          <a:stretch/>
        </p:blipFill>
        <p:spPr>
          <a:xfrm>
            <a:off x="8179223" y="350388"/>
            <a:ext cx="3375951" cy="2660851"/>
          </a:xfrm>
          <a:prstGeom prst="rect">
            <a:avLst/>
          </a:prstGeom>
        </p:spPr>
      </p:pic>
      <p:sp>
        <p:nvSpPr>
          <p:cNvPr id="278" name="Google Shape;278;g104476d1465_1_17"/>
          <p:cNvSpPr/>
          <p:nvPr/>
        </p:nvSpPr>
        <p:spPr>
          <a:xfrm>
            <a:off x="392" y="-44118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5174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854B6BE3-A93A-D34A-B831-BFF6F831242F}"/>
              </a:ext>
            </a:extLst>
          </p:cNvPr>
          <p:cNvSpPr txBox="1"/>
          <p:nvPr/>
        </p:nvSpPr>
        <p:spPr>
          <a:xfrm>
            <a:off x="8816948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223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820803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5"/>
            <a:ext cx="2731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:a16="http://schemas.microsoft.com/office/drawing/2014/main" id="{93D338D9-F4F3-AC46-BAB5-0DC7D391667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127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3CAA11ED-BB40-104C-A3DD-B230196F732B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224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052650" y="117475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3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11.8.4 Your Turn!</a:t>
            </a:r>
          </a:p>
        </p:txBody>
      </p:sp>
      <p:pic>
        <p:nvPicPr>
          <p:cNvPr id="9" name="Google Shape;430;g103996e1364_0_428">
            <a:extLst>
              <a:ext uri="{FF2B5EF4-FFF2-40B4-BE49-F238E27FC236}">
                <a16:creationId xmlns:a16="http://schemas.microsoft.com/office/drawing/2014/main" id="{032D5487-B5A9-DE4B-AE87-33198BE1614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350" y="117475"/>
            <a:ext cx="747300" cy="7473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9C3E41-93EC-B84D-963F-86A3B15AC1C6}"/>
                  </a:ext>
                </a:extLst>
              </p:cNvPr>
              <p:cNvSpPr txBox="1"/>
              <p:nvPr/>
            </p:nvSpPr>
            <p:spPr>
              <a:xfrm>
                <a:off x="678999" y="1200046"/>
                <a:ext cx="10264303" cy="8607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𝐾𝐶𝑅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shown, where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𝑇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𝑉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𝐻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are midpoints.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𝐾𝐶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=(5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𝑉𝐻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0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</m:ctrlPr>
                          </m:fPr>
                          <m:num>
                            <m:r>
                              <a:rPr lang="en-US" sz="20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sz="2000" i="1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den>
                        </m:f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+11</m:t>
                        </m:r>
                      </m:e>
                    </m:d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𝑉𝑇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=(6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𝑤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−5)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𝐾𝑅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=(2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𝑦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−2)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𝑅𝐶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=(8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𝑤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+8)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𝑇𝐻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=(3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−4)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9C3E41-93EC-B84D-963F-86A3B15AC1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999" y="1200046"/>
                <a:ext cx="10264303" cy="860748"/>
              </a:xfrm>
              <a:prstGeom prst="rect">
                <a:avLst/>
              </a:prstGeom>
              <a:blipFill>
                <a:blip r:embed="rId5"/>
                <a:stretch>
                  <a:fillRect b="-120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7767A731-D392-7E44-BC3C-36E572DBC6AE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224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Picture 10"/>
          <p:cNvPicPr/>
          <p:nvPr/>
        </p:nvPicPr>
        <p:blipFill>
          <a:blip r:embed="rId6"/>
          <a:stretch>
            <a:fillRect/>
          </a:stretch>
        </p:blipFill>
        <p:spPr>
          <a:xfrm>
            <a:off x="2999163" y="2493645"/>
            <a:ext cx="3686810" cy="3337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8C67FCF-92C3-654A-BF40-5BDF7A4F9271}"/>
              </a:ext>
            </a:extLst>
          </p:cNvPr>
          <p:cNvSpPr txBox="1"/>
          <p:nvPr/>
        </p:nvSpPr>
        <p:spPr>
          <a:xfrm>
            <a:off x="465232" y="398474"/>
            <a:ext cx="8327136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Find the value of each variable.</a:t>
            </a:r>
          </a:p>
          <a:p>
            <a:pPr marL="342900" indent="-342900">
              <a:buFont typeface="+mj-lt"/>
              <a:buAutoNum type="arabicPeriod"/>
            </a:pPr>
            <a:endParaRPr lang="en-PH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>
              <a:buFont typeface="+mj-lt"/>
              <a:buAutoNum type="arabicPeriod"/>
            </a:pPr>
            <a:endParaRPr lang="en-PH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>
              <a:buFont typeface="+mj-lt"/>
              <a:buAutoNum type="arabicPeriod"/>
            </a:pPr>
            <a:endParaRPr lang="en-PH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>
              <a:buFont typeface="+mj-lt"/>
              <a:buAutoNum type="arabicPeriod"/>
            </a:pPr>
            <a:endParaRPr lang="en-PH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>
              <a:buFont typeface="+mj-lt"/>
              <a:buAutoNum type="arabicPeriod"/>
            </a:pPr>
            <a:endParaRPr lang="en-PH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>
              <a:buFont typeface="+mj-lt"/>
              <a:buAutoNum type="arabicPeriod"/>
            </a:pPr>
            <a:endParaRPr lang="en-PH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>
              <a:buFont typeface="+mj-lt"/>
              <a:buAutoNum type="arabicPeriod"/>
            </a:pPr>
            <a:endParaRPr lang="en-PH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>
              <a:buFont typeface="+mj-lt"/>
              <a:buAutoNum type="arabicPeriod"/>
            </a:pPr>
            <a:endParaRPr lang="en-PH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Complete the table.</a:t>
            </a:r>
            <a:endParaRPr lang="en-US" dirty="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4DAB651B-F6B6-904F-A865-3464861D209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55250908"/>
                  </p:ext>
                </p:extLst>
              </p:nvPr>
            </p:nvGraphicFramePr>
            <p:xfrm>
              <a:off x="1031842" y="952788"/>
              <a:ext cx="6889115" cy="598603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259965">
                      <a:extLst>
                        <a:ext uri="{9D8B030D-6E8A-4147-A177-3AD203B41FA5}">
                          <a16:colId xmlns:a16="http://schemas.microsoft.com/office/drawing/2014/main" val="3874754761"/>
                        </a:ext>
                      </a:extLst>
                    </a:gridCol>
                    <a:gridCol w="2314575">
                      <a:extLst>
                        <a:ext uri="{9D8B030D-6E8A-4147-A177-3AD203B41FA5}">
                          <a16:colId xmlns:a16="http://schemas.microsoft.com/office/drawing/2014/main" val="1784747538"/>
                        </a:ext>
                      </a:extLst>
                    </a:gridCol>
                    <a:gridCol w="2314575">
                      <a:extLst>
                        <a:ext uri="{9D8B030D-6E8A-4147-A177-3AD203B41FA5}">
                          <a16:colId xmlns:a16="http://schemas.microsoft.com/office/drawing/2014/main" val="2848661578"/>
                        </a:ext>
                      </a:extLst>
                    </a:gridCol>
                  </a:tblGrid>
                  <a:tr h="598603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24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𝑦</m:t>
                                </m:r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24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𝑤</m:t>
                                </m:r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24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06847873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4DAB651B-F6B6-904F-A865-3464861D209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55250908"/>
                  </p:ext>
                </p:extLst>
              </p:nvPr>
            </p:nvGraphicFramePr>
            <p:xfrm>
              <a:off x="1031842" y="952788"/>
              <a:ext cx="6889115" cy="598603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259965">
                      <a:extLst>
                        <a:ext uri="{9D8B030D-6E8A-4147-A177-3AD203B41FA5}">
                          <a16:colId xmlns:a16="http://schemas.microsoft.com/office/drawing/2014/main" val="3874754761"/>
                        </a:ext>
                      </a:extLst>
                    </a:gridCol>
                    <a:gridCol w="2314575">
                      <a:extLst>
                        <a:ext uri="{9D8B030D-6E8A-4147-A177-3AD203B41FA5}">
                          <a16:colId xmlns:a16="http://schemas.microsoft.com/office/drawing/2014/main" val="1784747538"/>
                        </a:ext>
                      </a:extLst>
                    </a:gridCol>
                    <a:gridCol w="2314575">
                      <a:extLst>
                        <a:ext uri="{9D8B030D-6E8A-4147-A177-3AD203B41FA5}">
                          <a16:colId xmlns:a16="http://schemas.microsoft.com/office/drawing/2014/main" val="2848661578"/>
                        </a:ext>
                      </a:extLst>
                    </a:gridCol>
                  </a:tblGrid>
                  <a:tr h="59860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39" t="-2020" r="-205660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98158" t="-2020" r="-100789" b="-30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98158" t="-2020" r="-789" b="-30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68478731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DDA0F692-9AF0-6042-83EB-EBE84A17DEF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4759759"/>
                  </p:ext>
                </p:extLst>
              </p:nvPr>
            </p:nvGraphicFramePr>
            <p:xfrm>
              <a:off x="1062323" y="3994833"/>
              <a:ext cx="6889115" cy="164592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417570">
                      <a:extLst>
                        <a:ext uri="{9D8B030D-6E8A-4147-A177-3AD203B41FA5}">
                          <a16:colId xmlns:a16="http://schemas.microsoft.com/office/drawing/2014/main" val="2757553094"/>
                        </a:ext>
                      </a:extLst>
                    </a:gridCol>
                    <a:gridCol w="3471545">
                      <a:extLst>
                        <a:ext uri="{9D8B030D-6E8A-4147-A177-3AD203B41FA5}">
                          <a16:colId xmlns:a16="http://schemas.microsoft.com/office/drawing/2014/main" val="3644578661"/>
                        </a:ext>
                      </a:extLst>
                    </a:gridCol>
                  </a:tblGrid>
                  <a:tr h="507434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𝑇𝐻</m:t>
                                </m:r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24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𝐾𝐶</m:t>
                                </m:r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24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3130678"/>
                      </a:ext>
                    </a:extLst>
                  </a:tr>
                  <a:tr h="507434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𝑉𝐻</m:t>
                                </m:r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24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𝐾𝑅</m:t>
                                </m:r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24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054437228"/>
                      </a:ext>
                    </a:extLst>
                  </a:tr>
                  <a:tr h="507434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𝑉𝑇</m:t>
                                </m:r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24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𝑅𝐶</m:t>
                                </m:r>
                                <m:r>
                                  <a:rPr lang="en-US" sz="24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</m:t>
                                </m:r>
                              </m:oMath>
                            </m:oMathPara>
                          </a14:m>
                          <a:endParaRPr lang="en-US" sz="24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06547744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>
                <a:extLst>
                  <a:ext uri="{FF2B5EF4-FFF2-40B4-BE49-F238E27FC236}">
                    <a16:creationId xmlns:a16="http://schemas.microsoft.com/office/drawing/2014/main" id="{DDA0F692-9AF0-6042-83EB-EBE84A17DEF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4759759"/>
                  </p:ext>
                </p:extLst>
              </p:nvPr>
            </p:nvGraphicFramePr>
            <p:xfrm>
              <a:off x="1062323" y="3994833"/>
              <a:ext cx="6889115" cy="164592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417570">
                      <a:extLst>
                        <a:ext uri="{9D8B030D-6E8A-4147-A177-3AD203B41FA5}">
                          <a16:colId xmlns:a16="http://schemas.microsoft.com/office/drawing/2014/main" val="2757553094"/>
                        </a:ext>
                      </a:extLst>
                    </a:gridCol>
                    <a:gridCol w="3471545">
                      <a:extLst>
                        <a:ext uri="{9D8B030D-6E8A-4147-A177-3AD203B41FA5}">
                          <a16:colId xmlns:a16="http://schemas.microsoft.com/office/drawing/2014/main" val="3644578661"/>
                        </a:ext>
                      </a:extLst>
                    </a:gridCol>
                  </a:tblGrid>
                  <a:tr h="5486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57" t="-2222" r="-102139" b="-2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98772" t="-2222" r="-526" b="-20444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3130678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57" t="-101099" r="-102139" b="-1021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98772" t="-101099" r="-526" b="-10219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54437228"/>
                      </a:ext>
                    </a:extLst>
                  </a:tr>
                  <a:tr h="5486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57" t="-203333" r="-102139" b="-3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98772" t="-203333" r="-526" b="-3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6547744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1404C021-5DDB-BC4A-913A-C31A46304CF4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224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436146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21F91CA5-353D-2745-9639-CD2EBCEE76C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224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AFF83A7-9F30-9647-8D57-687D40D9AD25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47604" y="1139239"/>
            <a:ext cx="3576320" cy="3484880"/>
          </a:xfrm>
          <a:prstGeom prst="rect">
            <a:avLst/>
          </a:prstGeom>
        </p:spPr>
      </p:pic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134800" y="166230"/>
            <a:ext cx="8019300" cy="535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11.8.5 Wrap-Up: Error Analysis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05350" y="60325"/>
            <a:ext cx="747300" cy="7473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370EDB7-6994-3D43-ABF9-E04CBAFB9CD9}"/>
                  </a:ext>
                </a:extLst>
              </p:cNvPr>
              <p:cNvSpPr txBox="1"/>
              <p:nvPr/>
            </p:nvSpPr>
            <p:spPr>
              <a:xfrm>
                <a:off x="593248" y="1139239"/>
                <a:ext cx="7474120" cy="16312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/>
                <a:r>
                  <a:rPr lang="en-PH" sz="2000" dirty="0">
                    <a:latin typeface="Verdana" panose="020B0604030504040204" pitchFamily="34" charset="0"/>
                    <a:ea typeface="Verdana" panose="020B0604030504040204" pitchFamily="34" charset="0"/>
                    <a:cs typeface="Times New Roman" panose="02020603050405020304" pitchFamily="18" charset="0"/>
                  </a:rPr>
                  <a:t>1.	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𝑆𝐺𝑃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itchFamily="34" charset="0"/>
                    <a:cs typeface="Times New Roman" panose="02020603050405020304" pitchFamily="18" charset="0"/>
                  </a:rPr>
                  <a:t> is shown, where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𝐷𝐵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itchFamily="34" charset="0"/>
                    <a:cs typeface="Times New Roman" panose="02020603050405020304" pitchFamily="18" charset="0"/>
                  </a:rPr>
                  <a:t> is a midsegment. </a:t>
                </a:r>
              </a:p>
              <a:p>
                <a:pPr marL="457200"/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𝑆𝐺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=18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+22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itchFamily="34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𝐷𝐵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=11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+7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itchFamily="34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457200"/>
                <a:r>
                  <a:rPr lang="en-US" sz="2000" dirty="0">
                    <a:latin typeface="Verdana" panose="020B0604030504040204" pitchFamily="34" charset="0"/>
                    <a:ea typeface="Verdana" pitchFamily="34" charset="0"/>
                    <a:cs typeface="Times New Roman" panose="02020603050405020304" pitchFamily="18" charset="0"/>
                  </a:rPr>
                  <a:t> </a:t>
                </a:r>
              </a:p>
              <a:p>
                <a:pPr marL="457200"/>
                <a:r>
                  <a:rPr lang="en-US" sz="2000" dirty="0">
                    <a:latin typeface="Verdana" panose="020B0604030504040204" pitchFamily="34" charset="0"/>
                    <a:ea typeface="Verdana" pitchFamily="34" charset="0"/>
                    <a:cs typeface="Times New Roman" panose="02020603050405020304" pitchFamily="18" charset="0"/>
                  </a:rPr>
                  <a:t>Priscilla was finding the value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itchFamily="34" charset="0"/>
                    <a:cs typeface="Times New Roman" panose="02020603050405020304" pitchFamily="18" charset="0"/>
                  </a:rPr>
                  <a:t>. </a:t>
                </a:r>
              </a:p>
              <a:p>
                <a:pPr marL="457200"/>
                <a:r>
                  <a:rPr lang="en-US" sz="2000" dirty="0">
                    <a:latin typeface="Verdana" panose="020B0604030504040204" pitchFamily="34" charset="0"/>
                    <a:ea typeface="Verdana" pitchFamily="34" charset="0"/>
                    <a:cs typeface="Times New Roman" panose="02020603050405020304" pitchFamily="18" charset="0"/>
                  </a:rPr>
                  <a:t>Her work is shown.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370EDB7-6994-3D43-ABF9-E04CBAFB9C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248" y="1139239"/>
                <a:ext cx="7474120" cy="1631216"/>
              </a:xfrm>
              <a:prstGeom prst="rect">
                <a:avLst/>
              </a:prstGeom>
              <a:blipFill>
                <a:blip r:embed="rId6"/>
                <a:stretch>
                  <a:fillRect l="-816" t="-2247" b="-59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id="{A9660CCE-FDB9-D744-A615-08041B2D7FD4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224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54F5CCE9-E58A-3348-A771-416B133273B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80103339"/>
                  </p:ext>
                </p:extLst>
              </p:nvPr>
            </p:nvGraphicFramePr>
            <p:xfrm>
              <a:off x="1134800" y="3602689"/>
              <a:ext cx="3657600" cy="1857883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657600">
                      <a:extLst>
                        <a:ext uri="{9D8B030D-6E8A-4147-A177-3AD203B41FA5}">
                          <a16:colId xmlns:a16="http://schemas.microsoft.com/office/drawing/2014/main" val="550571066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Priscilla’s Work</a:t>
                          </a:r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110671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18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+22=11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+7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7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=−15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=−</m:t>
                                </m:r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15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7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27870487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10">
                <a:extLst>
                  <a:ext uri="{FF2B5EF4-FFF2-40B4-BE49-F238E27FC236}">
                    <a16:creationId xmlns:a16="http://schemas.microsoft.com/office/drawing/2014/main" id="{54F5CCE9-E58A-3348-A771-416B133273B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80103339"/>
                  </p:ext>
                </p:extLst>
              </p:nvPr>
            </p:nvGraphicFramePr>
            <p:xfrm>
              <a:off x="1134800" y="3602689"/>
              <a:ext cx="3657600" cy="1857883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657600">
                      <a:extLst>
                        <a:ext uri="{9D8B030D-6E8A-4147-A177-3AD203B41FA5}">
                          <a16:colId xmlns:a16="http://schemas.microsoft.com/office/drawing/2014/main" val="550571066"/>
                        </a:ext>
                      </a:extLst>
                    </a:gridCol>
                  </a:tblGrid>
                  <a:tr h="48768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Priscilla’s Work</a:t>
                          </a:r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1106714"/>
                      </a:ext>
                    </a:extLst>
                  </a:tr>
                  <a:tr h="137020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333" t="-35841" r="-499" b="-13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78704872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B399C8"/>
          </a:solidFill>
          <a:ln w="9525" cap="flat" cmpd="sng">
            <a:solidFill>
              <a:srgbClr val="B399C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94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0E944905-D17D-E242-B140-A255B6E1053E}"/>
              </a:ext>
            </a:extLst>
          </p:cNvPr>
          <p:cNvSpPr txBox="1"/>
          <p:nvPr/>
        </p:nvSpPr>
        <p:spPr>
          <a:xfrm>
            <a:off x="8792368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224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8C67FCF-92C3-654A-BF40-5BDF7A4F9271}"/>
                  </a:ext>
                </a:extLst>
              </p:cNvPr>
              <p:cNvSpPr txBox="1"/>
              <p:nvPr/>
            </p:nvSpPr>
            <p:spPr>
              <a:xfrm>
                <a:off x="465232" y="398474"/>
                <a:ext cx="8327136" cy="4401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Write a note to Priscilla explaining her mistake.</a:t>
                </a: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PH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14400" indent="-457200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Find the value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8C67FCF-92C3-654A-BF40-5BDF7A4F92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5232" y="398474"/>
                <a:ext cx="8327136" cy="4401205"/>
              </a:xfrm>
              <a:prstGeom prst="rect">
                <a:avLst/>
              </a:prstGeom>
              <a:blipFill>
                <a:blip r:embed="rId4"/>
                <a:stretch>
                  <a:fillRect t="-831" b="-16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7505114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1293</TotalTime>
  <Words>1011</Words>
  <Application>Microsoft Office PowerPoint</Application>
  <PresentationFormat>Widescreen</PresentationFormat>
  <Paragraphs>222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3" baseType="lpstr">
      <vt:lpstr>Verdana</vt:lpstr>
      <vt:lpstr>Century Gothic</vt:lpstr>
      <vt:lpstr>Arial</vt:lpstr>
      <vt:lpstr>Cambria Math</vt:lpstr>
      <vt:lpstr>Wingdings</vt:lpstr>
      <vt:lpstr>Calibri</vt:lpstr>
      <vt:lpstr>Cambria</vt:lpstr>
      <vt:lpstr>Arial Black</vt:lpstr>
      <vt:lpstr>1_Office Theme</vt:lpstr>
      <vt:lpstr>Geometry  Unit 11, Lesson 8  Triangle Midsegment Theorem  Volume 2, pg. 220  </vt:lpstr>
      <vt:lpstr>Benchmarks</vt:lpstr>
      <vt:lpstr>PowerPoint Presentation</vt:lpstr>
      <vt:lpstr>PowerPoint Presentation</vt:lpstr>
      <vt:lpstr>Warm-Up</vt:lpstr>
      <vt:lpstr>PowerPoint Presentation</vt:lpstr>
      <vt:lpstr>PowerPoint Presentation</vt:lpstr>
      <vt:lpstr>Exploration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Guided Practice</vt:lpstr>
      <vt:lpstr>PowerPoint Presentation</vt:lpstr>
      <vt:lpstr>PowerPoint Presentation</vt:lpstr>
      <vt:lpstr>PowerPoint Presentation</vt:lpstr>
      <vt:lpstr>PowerPoint Presentation</vt:lpstr>
      <vt:lpstr>Your Turn</vt:lpstr>
      <vt:lpstr>PowerPoint Presentation</vt:lpstr>
      <vt:lpstr>PowerPoint Presentation</vt:lpstr>
      <vt:lpstr>Wrap-Up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Cassie O'Connor</cp:lastModifiedBy>
  <cp:revision>26</cp:revision>
  <dcterms:created xsi:type="dcterms:W3CDTF">2015-03-17T18:51:18Z</dcterms:created>
  <dcterms:modified xsi:type="dcterms:W3CDTF">2022-07-04T06:50:25Z</dcterms:modified>
</cp:coreProperties>
</file>