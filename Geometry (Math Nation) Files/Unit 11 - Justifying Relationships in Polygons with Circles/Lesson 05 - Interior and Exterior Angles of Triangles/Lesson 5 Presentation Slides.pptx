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13" r:id="rId11"/>
    <p:sldId id="330" r:id="rId12"/>
    <p:sldId id="326" r:id="rId13"/>
    <p:sldId id="317" r:id="rId14"/>
    <p:sldId id="318" r:id="rId15"/>
    <p:sldId id="319" r:id="rId16"/>
    <p:sldId id="327" r:id="rId17"/>
    <p:sldId id="328" r:id="rId18"/>
    <p:sldId id="323" r:id="rId19"/>
    <p:sldId id="324" r:id="rId20"/>
    <p:sldId id="325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6" autoAdjust="0"/>
    <p:restoredTop sz="94490"/>
  </p:normalViewPr>
  <p:slideViewPr>
    <p:cSldViewPr snapToGrid="0">
      <p:cViewPr varScale="1">
        <p:scale>
          <a:sx n="83" d="100"/>
          <a:sy n="83" d="100"/>
        </p:scale>
        <p:origin x="106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72640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8095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8095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7682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2354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0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0.png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Interior and Exterior Angles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of Triangles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202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MA.912.GR.1.3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triangles. Solve mathematical and real-world problems involving postulates, relationships, and theorems of triangles.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90069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443FACD-60A3-9F43-A854-B668D0F5995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600200"/>
                <a:ext cx="11066724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569913" indent="-569913">
                  <a:spcAft>
                    <a:spcPts val="1200"/>
                  </a:spcAft>
                  <a:buFont typeface="Wingdings" pitchFamily="2" charset="2"/>
                  <a:buChar char="q"/>
                </a:pPr>
                <a:r>
                  <a:rPr lang="en-US" sz="32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 can show that the sum of the interior angles of a triangle is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</a:rPr>
                      <m:t>180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degrees. </a:t>
                </a:r>
              </a:p>
              <a:p>
                <a:pPr marL="569913" indent="-569913">
                  <a:spcAft>
                    <a:spcPts val="1200"/>
                  </a:spcAft>
                  <a:buFont typeface="Wingdings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show that the sum of the exterior angles of a triangle is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</a:rPr>
                      <m:t>360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degrees. </a:t>
                </a:r>
              </a:p>
              <a:p>
                <a:pPr marL="569913" indent="-569913">
                  <a:spcAft>
                    <a:spcPts val="1200"/>
                  </a:spcAft>
                  <a:buFont typeface="Wingdings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solve problems involving postulates, relationships, and theorems of triangles.</a:t>
                </a:r>
              </a:p>
            </p:txBody>
          </p:sp>
        </mc:Choice>
        <mc:Fallback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11066724" cy="4205700"/>
              </a:xfrm>
              <a:prstGeom prst="rect">
                <a:avLst/>
              </a:prstGeom>
              <a:blipFill>
                <a:blip r:embed="rId5"/>
                <a:stretch>
                  <a:fillRect l="-1267" t="-2032" r="-3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0C1C230-51E6-9B40-96F1-0D320C238D2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09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0E8A35E-C70A-AB4F-BE0E-ECE45D61758D}"/>
              </a:ext>
            </a:extLst>
          </p:cNvPr>
          <p:cNvSpPr txBox="1"/>
          <p:nvPr/>
        </p:nvSpPr>
        <p:spPr>
          <a:xfrm>
            <a:off x="8889924" y="64280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306450"/>
            <a:ext cx="8019300" cy="51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11.5.1 Warm-Up: Superhero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025"/>
            <a:ext cx="83271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geometry had a superpower, it would be …</a:t>
            </a:r>
          </a:p>
          <a:p>
            <a:pPr marL="457200"/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because …</a:t>
            </a: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Geometry’s villain would be …</a:t>
            </a:r>
          </a:p>
          <a:p>
            <a:pPr marL="457200"/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because …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3F68894-94E9-1F41-8DB5-AD9CC32B4C7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631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1534C44-2D56-7747-B179-17F7FF65BDE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8FBAB4-8DC1-8644-A320-1093A725CC3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302" t="3987" r="3479" b="4726"/>
          <a:stretch/>
        </p:blipFill>
        <p:spPr>
          <a:xfrm>
            <a:off x="8889924" y="1394250"/>
            <a:ext cx="2791632" cy="280851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11.5.2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Interior Angles of Triangles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7992528" cy="449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𝑅𝐵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=102°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𝐵𝐻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=108°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𝐻𝑅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=150°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sum of the angles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𝑅𝐵𝐻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</a:t>
                </a:r>
              </a:p>
              <a:p>
                <a:pPr lvl="0"/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7992528" cy="4497000"/>
              </a:xfrm>
              <a:prstGeom prst="rect">
                <a:avLst/>
              </a:prstGeom>
              <a:blipFill>
                <a:blip r:embed="rId6"/>
                <a:stretch>
                  <a:fillRect l="-839" t="-1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EFD75D-7641-674C-85E0-F78A6D1795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575320"/>
                  </p:ext>
                </p:extLst>
              </p:nvPr>
            </p:nvGraphicFramePr>
            <p:xfrm>
              <a:off x="1636439" y="2982068"/>
              <a:ext cx="4114800" cy="182259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629848444"/>
                        </a:ext>
                      </a:extLst>
                    </a:gridCol>
                  </a:tblGrid>
                  <a:tr h="4556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3356936"/>
                      </a:ext>
                    </a:extLst>
                  </a:tr>
                  <a:tr h="455649">
                    <a:tc>
                      <a:txBody>
                        <a:bodyPr/>
                        <a:lstStyle/>
                        <a:p>
                          <a:pPr marL="914400" marR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𝑅𝐻𝐵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1592008"/>
                      </a:ext>
                    </a:extLst>
                  </a:tr>
                  <a:tr h="455649">
                    <a:tc>
                      <a:txBody>
                        <a:bodyPr/>
                        <a:lstStyle/>
                        <a:p>
                          <a:pPr marL="914400" marR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𝑅𝐵𝐻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058596"/>
                      </a:ext>
                    </a:extLst>
                  </a:tr>
                  <a:tr h="455649">
                    <a:tc>
                      <a:txBody>
                        <a:bodyPr/>
                        <a:lstStyle/>
                        <a:p>
                          <a:pPr marL="914400" marR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𝐻𝑅𝐵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56627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EFD75D-7641-674C-85E0-F78A6D1795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575320"/>
                  </p:ext>
                </p:extLst>
              </p:nvPr>
            </p:nvGraphicFramePr>
            <p:xfrm>
              <a:off x="1636439" y="2982068"/>
              <a:ext cx="4114800" cy="182259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629848444"/>
                        </a:ext>
                      </a:extLst>
                    </a:gridCol>
                  </a:tblGrid>
                  <a:tr h="4556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3356936"/>
                      </a:ext>
                    </a:extLst>
                  </a:tr>
                  <a:tr h="4556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6" t="-102667" r="-444" b="-2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592008"/>
                      </a:ext>
                    </a:extLst>
                  </a:tr>
                  <a:tr h="4556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6" t="-202667" r="-444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058596"/>
                      </a:ext>
                    </a:extLst>
                  </a:tr>
                  <a:tr h="4556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96" t="-302667" r="-444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66276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B36D5FA9-C2DC-C240-A18A-6E4579D07C6C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438749"/>
                <a:ext cx="7204238" cy="3481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shown where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are on the circle.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𝑅𝐺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are tangent to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intersect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outside the circle.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𝐺𝑅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are tangent to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intersect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outside the circle.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𝑊𝐺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𝑊𝑅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are tangent to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intersect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outside the circle.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𝐶𝑀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=136°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𝑀𝑃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=108°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𝐶𝑃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=116°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38749"/>
                <a:ext cx="7204238" cy="3481081"/>
              </a:xfrm>
              <a:prstGeom prst="rect">
                <a:avLst/>
              </a:prstGeom>
              <a:blipFill>
                <a:blip r:embed="rId4"/>
                <a:stretch>
                  <a:fillRect l="-1355" t="-1576" r="-1693" b="-2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35652C4-4442-7E4F-AF98-1B61FFE83506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8" t="1914" r="5267" b="5041"/>
          <a:stretch/>
        </p:blipFill>
        <p:spPr>
          <a:xfrm>
            <a:off x="8149917" y="95972"/>
            <a:ext cx="3259187" cy="4525348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FF2492B-5819-0F4D-BB51-BEC9FF71CEDD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15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807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2714" y="374090"/>
                <a:ext cx="10371091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sum of the angles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𝑅𝐺𝑊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conjecture about the sum of the interior angles of a triangle.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14" y="374090"/>
                <a:ext cx="10371091" cy="4401205"/>
              </a:xfrm>
              <a:prstGeom prst="rect">
                <a:avLst/>
              </a:prstGeom>
              <a:blipFill>
                <a:blip r:embed="rId4"/>
                <a:stretch>
                  <a:fillRect t="-831" b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13F7E2A-8069-1648-A0B9-E655821F23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0392881"/>
                  </p:ext>
                </p:extLst>
              </p:nvPr>
            </p:nvGraphicFramePr>
            <p:xfrm>
              <a:off x="1575174" y="946434"/>
              <a:ext cx="411480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66281232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13593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91440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𝑊𝑅𝐺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302106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91440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𝑅𝐺𝑊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69239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91440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𝐺𝑊𝑅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06996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13F7E2A-8069-1648-A0B9-E655821F23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0392881"/>
                  </p:ext>
                </p:extLst>
              </p:nvPr>
            </p:nvGraphicFramePr>
            <p:xfrm>
              <a:off x="1575174" y="946434"/>
              <a:ext cx="411480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66281232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13593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6" t="-101316" r="-444" b="-20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302106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6" t="-204000" r="-444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69239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6" t="-304000" r="-444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06996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007C544-2FA9-BE4F-B204-F9FFAF04DD68}"/>
              </a:ext>
            </a:extLst>
          </p:cNvPr>
          <p:cNvSpPr txBox="1"/>
          <p:nvPr/>
        </p:nvSpPr>
        <p:spPr>
          <a:xfrm>
            <a:off x="886985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177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97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54741" y="374089"/>
            <a:ext cx="10955005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classmates for their conjectures. Record their conjectures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0814B8-1203-D644-B1D4-23D457643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840947"/>
              </p:ext>
            </p:extLst>
          </p:nvPr>
        </p:nvGraphicFramePr>
        <p:xfrm>
          <a:off x="1560426" y="1862995"/>
          <a:ext cx="7855241" cy="404147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935929">
                  <a:extLst>
                    <a:ext uri="{9D8B030D-6E8A-4147-A177-3AD203B41FA5}">
                      <a16:colId xmlns:a16="http://schemas.microsoft.com/office/drawing/2014/main" val="2343965454"/>
                    </a:ext>
                  </a:extLst>
                </a:gridCol>
                <a:gridCol w="3457872">
                  <a:extLst>
                    <a:ext uri="{9D8B030D-6E8A-4147-A177-3AD203B41FA5}">
                      <a16:colId xmlns:a16="http://schemas.microsoft.com/office/drawing/2014/main" val="1009671886"/>
                    </a:ext>
                  </a:extLst>
                </a:gridCol>
                <a:gridCol w="1461440">
                  <a:extLst>
                    <a:ext uri="{9D8B030D-6E8A-4147-A177-3AD203B41FA5}">
                      <a16:colId xmlns:a16="http://schemas.microsoft.com/office/drawing/2014/main" val="1804345781"/>
                    </a:ext>
                  </a:extLst>
                </a:gridCol>
              </a:tblGrid>
              <a:tr h="9047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Conjecture</a:t>
                      </a:r>
                    </a:p>
                  </a:txBody>
                  <a:tcPr marL="104389" marR="104389" marT="104389" marB="10438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</a:t>
                      </a:r>
                    </a:p>
                  </a:txBody>
                  <a:tcPr marL="104389" marR="104389" marT="104389" marB="10438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104389" marR="104389" marT="104389" marB="10438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79568"/>
                  </a:ext>
                </a:extLst>
              </a:tr>
              <a:tr h="15658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3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89" marR="104389" marT="104389" marB="10438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3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89" marR="104389" marT="104389" marB="10438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3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89" marR="104389" marT="104389" marB="10438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389186"/>
                  </a:ext>
                </a:extLst>
              </a:tr>
              <a:tr h="15658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389" marR="104389" marT="104389" marB="10438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3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89" marR="104389" marT="104389" marB="10438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3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89" marR="104389" marT="104389" marB="10438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008902"/>
                  </a:ext>
                </a:extLst>
              </a:tr>
            </a:tbl>
          </a:graphicData>
        </a:graphic>
      </p:graphicFrame>
      <p:sp>
        <p:nvSpPr>
          <p:cNvPr id="33" name="Google Shape;282;g104476d1465_1_17">
            <a:extLst>
              <a:ext uri="{FF2B5EF4-FFF2-40B4-BE49-F238E27FC236}">
                <a16:creationId xmlns:a16="http://schemas.microsoft.com/office/drawing/2014/main" id="{0E709921-18F3-1648-B6EF-9FCEACECCB66}"/>
              </a:ext>
            </a:extLst>
          </p:cNvPr>
          <p:cNvSpPr txBox="1"/>
          <p:nvPr/>
        </p:nvSpPr>
        <p:spPr>
          <a:xfrm>
            <a:off x="887574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5262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4" y="374089"/>
            <a:ext cx="10983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Aft>
                <a:spcPts val="1000"/>
              </a:spcAft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your conjecture with your partner. If necessary, make any changes.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542335" y="4896283"/>
            <a:ext cx="6629400" cy="1407478"/>
            <a:chOff x="1257300" y="5026894"/>
            <a:chExt cx="6629400" cy="14074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CCCFE5BF-4A81-384C-9727-35BB750AFCD9}"/>
                    </a:ext>
                  </a:extLst>
                </p:cNvPr>
                <p:cNvSpPr/>
                <p:nvPr/>
              </p:nvSpPr>
              <p:spPr>
                <a:xfrm>
                  <a:off x="1257300" y="5026894"/>
                  <a:ext cx="6629400" cy="140747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Triangle Sum Theorem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sum of the measures of the interior angles of a triangle is </a:t>
                  </a:r>
                  <a14:m>
                    <m:oMath xmlns:m="http://schemas.openxmlformats.org/officeDocument/2006/math">
                      <m:r>
                        <a:rPr lang="en-US" sz="2000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180°</m:t>
                      </m:r>
                    </m:oMath>
                  </a14:m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CCCFE5BF-4A81-384C-9727-35BB750AFC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5026894"/>
                  <a:ext cx="6629400" cy="1407478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Shape 55" descr="Icon&#10;&#10;Description automatically generated">
              <a:extLst>
                <a:ext uri="{FF2B5EF4-FFF2-40B4-BE49-F238E27FC236}">
                  <a16:creationId xmlns:a16="http://schemas.microsoft.com/office/drawing/2014/main" id="{ECB8A593-E1FE-FE40-A7DE-054AA4D8ECB2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85535" y="5204369"/>
              <a:ext cx="539750" cy="53941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3" name="Google Shape;282;g104476d1465_1_17">
            <a:extLst>
              <a:ext uri="{FF2B5EF4-FFF2-40B4-BE49-F238E27FC236}">
                <a16:creationId xmlns:a16="http://schemas.microsoft.com/office/drawing/2014/main" id="{0E709921-18F3-1648-B6EF-9FCEACECCB6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2377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C128B1B-538E-E549-B723-43CAF15CF3B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325"/>
            <a:ext cx="989065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11.5.3 Activity: Exterior Angles of Triangles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103490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On a separate sheet of paper, draw three line segments,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𝑉𝐵𝑊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as shown.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1034902" cy="1323439"/>
              </a:xfrm>
              <a:prstGeom prst="rect">
                <a:avLst/>
              </a:prstGeom>
              <a:blipFill>
                <a:blip r:embed="rId5"/>
                <a:stretch>
                  <a:fillRect l="-607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23B9B898-CB85-2B4B-AA86-0621B66AD9EB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90"/>
          <a:stretch/>
        </p:blipFill>
        <p:spPr bwMode="auto">
          <a:xfrm>
            <a:off x="2494097" y="2938577"/>
            <a:ext cx="4269407" cy="35136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938CB76E-EB97-EB46-85E0-1D076121ABB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89"/>
                <a:ext cx="832713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List the exterior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𝑉𝑊𝐵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Estimate the sum of the exterior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𝑉𝑊𝐵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8327136" cy="4093428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18047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A04DF19-FAFD-2643-98D6-DFC2C97F4947}"/>
              </a:ext>
            </a:extLst>
          </p:cNvPr>
          <p:cNvSpPr/>
          <p:nvPr/>
        </p:nvSpPr>
        <p:spPr>
          <a:xfrm>
            <a:off x="1525273" y="374089"/>
            <a:ext cx="6629400" cy="1027232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0" anchor="ctr" anchorCtr="0">
            <a:spAutoFit/>
          </a:bodyPr>
          <a:lstStyle/>
          <a:p>
            <a:pPr marL="171450"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exterior angle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an angle created by extending one leg of a triangle.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E6023AF6-2064-BB46-9B30-CF4E457982DA}"/>
              </a:ext>
            </a:extLst>
          </p:cNvPr>
          <p:cNvSpPr txBox="1"/>
          <p:nvPr/>
        </p:nvSpPr>
        <p:spPr>
          <a:xfrm>
            <a:off x="8867701" y="643754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1" y="386281"/>
                <a:ext cx="10920523" cy="805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compass to draw arc 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𝐵𝐻</m:t>
                        </m:r>
                      </m:e>
                    </m:groupCh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the center, 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𝐾𝑉</m:t>
                        </m:r>
                      </m:e>
                    </m:groupCh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the center, and 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𝑁𝑊</m:t>
                        </m:r>
                      </m:e>
                    </m:groupCh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the center, as shown.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386281"/>
                <a:ext cx="10920523" cy="805862"/>
              </a:xfrm>
              <a:prstGeom prst="rect">
                <a:avLst/>
              </a:prstGeom>
              <a:blipFill>
                <a:blip r:embed="rId4"/>
                <a:stretch>
                  <a:fillRect l="-614" t="-9774" r="-335" b="-1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67A1B5F-A564-FE4F-8B12-F7EFB415630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655365" y="1414099"/>
            <a:ext cx="3730389" cy="3683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E4FD62-54F8-6B49-AEF2-01E2ADF69F63}"/>
              </a:ext>
            </a:extLst>
          </p:cNvPr>
          <p:cNvSpPr txBox="1"/>
          <p:nvPr/>
        </p:nvSpPr>
        <p:spPr>
          <a:xfrm>
            <a:off x="465231" y="1347330"/>
            <a:ext cx="68647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Trace the figure above onto patty paper and cut out each sector. Rearrange the sectors to determine the sum of the exterior angles.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sum of the exterior angles of the triangle?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conjecture about the sum of the exterior angles of a triangle.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1BCB2A0-CB1C-A040-8135-7F5FB66A647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3995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65232" y="386281"/>
            <a:ext cx="11185994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classmates for their conjectures. Record their conjectures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your conjecture with your partner. If necessary, make any changes. </a:t>
            </a:r>
          </a:p>
          <a:p>
            <a:pPr>
              <a:spcAft>
                <a:spcPts val="1000"/>
              </a:spcAft>
            </a:pP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3C8B7A-C669-4545-9AB3-6BF33E9E3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92636"/>
              </p:ext>
            </p:extLst>
          </p:nvPr>
        </p:nvGraphicFramePr>
        <p:xfrm>
          <a:off x="1485964" y="1859789"/>
          <a:ext cx="6858000" cy="263144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369175276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13204674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893925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Conjecture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44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233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186468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1105021B-55D1-9147-9F84-A0B42220845D}"/>
              </a:ext>
            </a:extLst>
          </p:cNvPr>
          <p:cNvSpPr txBox="1"/>
          <p:nvPr/>
        </p:nvSpPr>
        <p:spPr>
          <a:xfrm>
            <a:off x="87923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9081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70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BBB4BDA-EACB-B440-94CC-162B6923A3D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1A6645-FC8E-8148-97F2-4DBB66DF797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51202" y="1010685"/>
            <a:ext cx="5704153" cy="2502503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-4226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17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48423" y="172294"/>
            <a:ext cx="10844961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11.5.4 Guided Practice: Interior and Exterior Angles of Triangles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616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36339" y="1089785"/>
                <a:ext cx="5559661" cy="453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PH" sz="2000" dirty="0">
                    <a:latin typeface="Verdana" pitchFamily="34" charset="0"/>
                    <a:ea typeface="Verdana" pitchFamily="34" charset="0"/>
                    <a:cs typeface="Helvetica Neue" panose="02000503000000020004" pitchFamily="2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𝑅𝑊𝑁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  <a:t>is shown where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𝑁𝑅𝑊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=14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𝑅𝑊𝑁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9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  <a:t>, and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𝑊𝑁𝑅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=9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−13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  <a:t>.</a:t>
                </a:r>
              </a:p>
              <a:p>
                <a:pPr marL="457200" indent="-457200"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Cambria" panose="02040503050406030204" pitchFamily="18" charset="0"/>
                  <a:ea typeface="Helvetica Neue" panose="02000503000000020004" pitchFamily="2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Cambria" panose="02040503050406030204" pitchFamily="18" charset="0"/>
                  <a:ea typeface="Helvetica Neue" panose="02000503000000020004" pitchFamily="2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Cambria" panose="02040503050406030204" pitchFamily="18" charset="0"/>
                  <a:ea typeface="Helvetica Neue" panose="02000503000000020004" pitchFamily="2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Complete the table.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39" y="1089785"/>
                <a:ext cx="5559661" cy="4533100"/>
              </a:xfrm>
              <a:prstGeom prst="rect">
                <a:avLst/>
              </a:prstGeom>
              <a:blipFill>
                <a:blip r:embed="rId6"/>
                <a:stretch>
                  <a:fillRect l="-1206" t="-808" b="-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6C625B0-6E98-064C-809E-409F0B864744}"/>
              </a:ext>
            </a:extLst>
          </p:cNvPr>
          <p:cNvSpPr txBox="1"/>
          <p:nvPr/>
        </p:nvSpPr>
        <p:spPr>
          <a:xfrm>
            <a:off x="88634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61838AA-D4FC-9D46-9290-376A277295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409768"/>
                  </p:ext>
                </p:extLst>
              </p:nvPr>
            </p:nvGraphicFramePr>
            <p:xfrm>
              <a:off x="1592126" y="5701985"/>
              <a:ext cx="6858000" cy="685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327730693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246713089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484092472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𝑁𝑅𝑊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91440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𝑅𝑊𝑁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91440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𝑊𝑁𝑅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91440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8005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61838AA-D4FC-9D46-9290-376A277295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409768"/>
                  </p:ext>
                </p:extLst>
              </p:nvPr>
            </p:nvGraphicFramePr>
            <p:xfrm>
              <a:off x="1592126" y="5701985"/>
              <a:ext cx="6858000" cy="685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327730693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246713089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484092472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91440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33" t="-1770" r="-201067" b="-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91440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266" t="-1770" r="-100532" b="-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91440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800" t="-1770" r="-800" b="-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80055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77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282"/>
                <a:ext cx="10743542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4488" indent="-344488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𝑃𝐶𝑇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𝑆𝑃𝑇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𝑃𝐶𝑉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𝐻𝑇𝐶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exterior angles.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𝑃𝐶𝑇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=52°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𝑆𝑃𝑇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=(11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−20)°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𝐻𝑇𝐶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=(8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+5)°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measure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𝑆𝑃𝑇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measure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𝐻𝑇𝐶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282"/>
                <a:ext cx="10743542" cy="5016758"/>
              </a:xfrm>
              <a:prstGeom prst="rect">
                <a:avLst/>
              </a:prstGeom>
              <a:blipFill>
                <a:blip r:embed="rId4"/>
                <a:stretch>
                  <a:fillRect l="-624" t="-729" r="-454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3C215D9-1A91-5346-B485-F4BE0BA24EA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228982" y="1571577"/>
            <a:ext cx="4328795" cy="3706495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51A0EF3-878B-9641-9474-C3DEEE4AC7CC}"/>
              </a:ext>
            </a:extLst>
          </p:cNvPr>
          <p:cNvSpPr txBox="1"/>
          <p:nvPr/>
        </p:nvSpPr>
        <p:spPr>
          <a:xfrm>
            <a:off x="881955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64D0BE-225F-4A4F-A75C-BAEF8AA02C7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102550"/>
            <a:ext cx="8019300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068786"/>
            <a:ext cx="10930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Write a summary of what you learned in this lesson.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F323BA41-9AA6-024D-A720-6B773844F27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1052</Words>
  <Application>Microsoft Office PowerPoint</Application>
  <PresentationFormat>Widescreen</PresentationFormat>
  <Paragraphs>199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Verdana</vt:lpstr>
      <vt:lpstr>Wingdings</vt:lpstr>
      <vt:lpstr>Century Gothic</vt:lpstr>
      <vt:lpstr>Arial</vt:lpstr>
      <vt:lpstr>Arial Black</vt:lpstr>
      <vt:lpstr>Cambria Math</vt:lpstr>
      <vt:lpstr>Calibri</vt:lpstr>
      <vt:lpstr>Cambria</vt:lpstr>
      <vt:lpstr>1_Office Theme</vt:lpstr>
      <vt:lpstr>Geometry  Unit 11, Lesson 5  Interior and Exterior Angles  of Triangles  Volume 2, pg. 202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24</cp:revision>
  <dcterms:created xsi:type="dcterms:W3CDTF">2015-03-17T18:51:18Z</dcterms:created>
  <dcterms:modified xsi:type="dcterms:W3CDTF">2022-09-16T15:31:11Z</dcterms:modified>
</cp:coreProperties>
</file>