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288" r:id="rId10"/>
    <p:sldId id="314" r:id="rId11"/>
    <p:sldId id="313" r:id="rId12"/>
    <p:sldId id="315" r:id="rId13"/>
    <p:sldId id="317" r:id="rId14"/>
    <p:sldId id="289" r:id="rId15"/>
    <p:sldId id="290" r:id="rId16"/>
    <p:sldId id="308" r:id="rId17"/>
    <p:sldId id="318" r:id="rId18"/>
    <p:sldId id="302" r:id="rId19"/>
    <p:sldId id="303" r:id="rId20"/>
    <p:sldId id="320" r:id="rId21"/>
    <p:sldId id="321" r:id="rId22"/>
    <p:sldId id="306" r:id="rId23"/>
    <p:sldId id="307" r:id="rId24"/>
  </p:sldIdLst>
  <p:sldSz cx="12192000" cy="6858000"/>
  <p:notesSz cx="6858000" cy="9144000"/>
  <p:embeddedFontLst>
    <p:embeddedFont>
      <p:font typeface="Arial Black" panose="020B0A04020102020204" pitchFamily="34" charset="0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08" autoAdjust="0"/>
    <p:restoredTop sz="94476" autoAdjust="0"/>
  </p:normalViewPr>
  <p:slideViewPr>
    <p:cSldViewPr snapToGrid="0">
      <p:cViewPr varScale="1">
        <p:scale>
          <a:sx n="82" d="100"/>
          <a:sy n="82" d="100"/>
        </p:scale>
        <p:origin x="437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127962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7155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68419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61310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75729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98955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4983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0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39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7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Centroid of a Triangle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213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998" y="1622538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4360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3999" y="1485899"/>
            <a:ext cx="11195779" cy="451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MA.912.GR.1.3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Prove relationships and theorems about triangles. Solve mathematical and real-world problems involving postulates, relationships, and theorems of triangles.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MA.912.GR.5.2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Construct the bisector of a segment or an angle, including the perpendicular bisector of a line segment. 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1826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667"/>
            <a:ext cx="863294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27584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DCD70299-F3EE-6D49-98BB-4575B90F6D44}"/>
              </a:ext>
            </a:extLst>
          </p:cNvPr>
          <p:cNvSpPr txBox="1"/>
          <p:nvPr/>
        </p:nvSpPr>
        <p:spPr>
          <a:xfrm>
            <a:off x="8743600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565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10667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1813" indent="-531813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find the centroid of a triangle.</a:t>
            </a:r>
          </a:p>
          <a:p>
            <a:pPr marL="531813" indent="-531813">
              <a:buFont typeface="Wingdings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1813" indent="-531813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the relationship of the distance a centroid is from a vertex to the midpoint of the opposite side to solve problems.  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528BD4FA-11A7-A647-928D-3DBECF38BEEF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7DBA31F-24B1-D147-902F-572F0C69CB2C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90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11.7.1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109306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𝐵𝑀𝑇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𝑀𝐵</m:t>
                    </m:r>
                    <m:r>
                      <a:rPr lang="en-US" sz="2400" i="1">
                        <a:latin typeface="Cambria Math"/>
                      </a:rPr>
                      <m:t>=7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𝑀𝑇</m:t>
                    </m:r>
                    <m:r>
                      <a:rPr lang="en-US" sz="2400" i="1">
                        <a:latin typeface="Cambria Math"/>
                      </a:rPr>
                      <m:t>=12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𝐵𝑇</m:t>
                    </m:r>
                    <m:r>
                      <a:rPr lang="en-US" sz="2400" i="1">
                        <a:latin typeface="Cambria Math"/>
                      </a:rPr>
                      <m:t>=9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list the angles in order from least to greatest.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10930676" cy="830997"/>
              </a:xfrm>
              <a:prstGeom prst="rect">
                <a:avLst/>
              </a:prstGeom>
              <a:blipFill>
                <a:blip r:embed="rId5"/>
                <a:stretch>
                  <a:fillRect l="-837" t="-6569" r="-167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5EB8584C-CADF-6540-B85A-D7AAF543D6FD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537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46E9020-5F8B-F84A-BA7F-FF7FCF700333}"/>
              </a:ext>
            </a:extLst>
          </p:cNvPr>
          <p:cNvSpPr txBox="1"/>
          <p:nvPr/>
        </p:nvSpPr>
        <p:spPr>
          <a:xfrm>
            <a:off x="882714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946502" y="1386025"/>
            <a:ext cx="4866568" cy="4282121"/>
            <a:chOff x="615680" y="2208212"/>
            <a:chExt cx="4866568" cy="428212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DD5A809-2521-0949-94E1-35F18B4F3903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5680" y="2208212"/>
              <a:ext cx="4866568" cy="222161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B6743A2-264F-7642-B51B-FEADC490A278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3683" y="4247443"/>
              <a:ext cx="4788564" cy="2242890"/>
            </a:xfrm>
            <a:prstGeom prst="rect">
              <a:avLst/>
            </a:prstGeom>
          </p:spPr>
        </p:pic>
      </p:grpSp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87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11.7.2 Exploration: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Centroid of a Triangle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593248" y="1386026"/>
            <a:ext cx="635325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All polygons have a balancing point. The diagrams show the balancing point of a triangle.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8525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 you notice?</a:t>
            </a:r>
          </a:p>
          <a:p>
            <a:pPr marL="898525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898525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898525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how you think the balance point was found. Summarize your discussion.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2E7AB39-1299-AB4B-8A14-1C0887AD3A7A}"/>
              </a:ext>
            </a:extLst>
          </p:cNvPr>
          <p:cNvSpPr txBox="1"/>
          <p:nvPr/>
        </p:nvSpPr>
        <p:spPr>
          <a:xfrm>
            <a:off x="88605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65860DB8-DD5B-BD45-ACB1-30878F2F1C77}"/>
              </a:ext>
            </a:extLst>
          </p:cNvPr>
          <p:cNvPicPr/>
          <p:nvPr/>
        </p:nvPicPr>
        <p:blipFill rotWithShape="1">
          <a:blip r:embed="rId3"/>
          <a:srcRect r="2194"/>
          <a:stretch/>
        </p:blipFill>
        <p:spPr>
          <a:xfrm>
            <a:off x="5826440" y="1923974"/>
            <a:ext cx="5801710" cy="2477116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09035" y="1475356"/>
                <a:ext cx="8534111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𝐾𝑃𝐶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shown, where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is a point of concurrency. </a:t>
                </a:r>
              </a:p>
              <a:p>
                <a:pPr marL="357188" indent="-357188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Discuss with your partner how to find the midpoints </a:t>
                </a:r>
                <a:b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of the triangle’s sides using each method. </a:t>
                </a:r>
                <a:b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Complete the table.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35" y="1475356"/>
                <a:ext cx="8534111" cy="1631216"/>
              </a:xfrm>
              <a:prstGeom prst="rect">
                <a:avLst/>
              </a:prstGeom>
              <a:blipFill>
                <a:blip r:embed="rId5"/>
                <a:stretch>
                  <a:fillRect l="-786" t="-2612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5483BA57-D161-314F-9989-D71CE4D97A54}"/>
              </a:ext>
            </a:extLst>
          </p:cNvPr>
          <p:cNvGrpSpPr/>
          <p:nvPr/>
        </p:nvGrpSpPr>
        <p:grpSpPr>
          <a:xfrm>
            <a:off x="509322" y="378847"/>
            <a:ext cx="8280000" cy="981995"/>
            <a:chOff x="2000058" y="3188270"/>
            <a:chExt cx="8280000" cy="10959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48BD8F5-F8EF-5F43-809D-3FEEC4B2C895}"/>
                </a:ext>
              </a:extLst>
            </p:cNvPr>
            <p:cNvSpPr/>
            <p:nvPr/>
          </p:nvSpPr>
          <p:spPr>
            <a:xfrm>
              <a:off x="2031300" y="3275735"/>
              <a:ext cx="6629400" cy="1008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FCFD760-276B-5C4F-8874-29F3BBE65571}"/>
                </a:ext>
              </a:extLst>
            </p:cNvPr>
            <p:cNvGrpSpPr/>
            <p:nvPr/>
          </p:nvGrpSpPr>
          <p:grpSpPr>
            <a:xfrm>
              <a:off x="2000058" y="3188270"/>
              <a:ext cx="8280000" cy="1095990"/>
              <a:chOff x="2000058" y="3188270"/>
              <a:chExt cx="8280000" cy="109599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C4AE610-12CF-EF4B-8E73-060FD3BA27AA}"/>
                  </a:ext>
                </a:extLst>
              </p:cNvPr>
              <p:cNvSpPr/>
              <p:nvPr/>
            </p:nvSpPr>
            <p:spPr>
              <a:xfrm>
                <a:off x="2031300" y="3275735"/>
                <a:ext cx="6629400" cy="100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A4B10C5-77EC-A241-83F6-7C6F5E9CDBB7}"/>
                  </a:ext>
                </a:extLst>
              </p:cNvPr>
              <p:cNvGrpSpPr/>
              <p:nvPr/>
            </p:nvGrpSpPr>
            <p:grpSpPr>
              <a:xfrm>
                <a:off x="2000058" y="3188270"/>
                <a:ext cx="8280000" cy="1095990"/>
                <a:chOff x="2000058" y="3188270"/>
                <a:chExt cx="8280000" cy="109599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AEFE035-5E16-BA46-B015-034C266B1C0F}"/>
                    </a:ext>
                  </a:extLst>
                </p:cNvPr>
                <p:cNvSpPr/>
                <p:nvPr/>
              </p:nvSpPr>
              <p:spPr>
                <a:xfrm>
                  <a:off x="2031300" y="3275735"/>
                  <a:ext cx="6629400" cy="10085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A5D91BCA-BDF4-6847-8433-E9F778810C60}"/>
                    </a:ext>
                  </a:extLst>
                </p:cNvPr>
                <p:cNvGrpSpPr/>
                <p:nvPr/>
              </p:nvGrpSpPr>
              <p:grpSpPr>
                <a:xfrm>
                  <a:off x="2000058" y="3188270"/>
                  <a:ext cx="8280000" cy="1095990"/>
                  <a:chOff x="2000058" y="3188270"/>
                  <a:chExt cx="8280000" cy="1095990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BF8FEC2B-B478-2043-8078-4A1C71994A58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75735"/>
                    <a:ext cx="6629400" cy="1008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47609735-44AC-AB45-9686-A7D1CAF26FC8}"/>
                      </a:ext>
                    </a:extLst>
                  </p:cNvPr>
                  <p:cNvGrpSpPr/>
                  <p:nvPr/>
                </p:nvGrpSpPr>
                <p:grpSpPr>
                  <a:xfrm>
                    <a:off x="2000058" y="3188270"/>
                    <a:ext cx="8280000" cy="1095990"/>
                    <a:chOff x="2000058" y="3188270"/>
                    <a:chExt cx="8280000" cy="1095990"/>
                  </a:xfrm>
                </p:grpSpPr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2D43B5FE-59E4-8C4F-B414-430607BC9C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275735"/>
                      <a:ext cx="6629400" cy="10085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18" name="Group 17">
                      <a:extLst>
                        <a:ext uri="{FF2B5EF4-FFF2-40B4-BE49-F238E27FC236}">
                          <a16:creationId xmlns:a16="http://schemas.microsoft.com/office/drawing/2014/main" id="{4B431430-E6CC-0849-9C04-BCD95D3EDCC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00058" y="3188270"/>
                      <a:ext cx="8280000" cy="1095990"/>
                      <a:chOff x="2000058" y="3188270"/>
                      <a:chExt cx="8280000" cy="1095990"/>
                    </a:xfrm>
                  </p:grpSpPr>
                  <p:sp>
                    <p:nvSpPr>
                      <p:cNvPr id="19" name="Rectangle 18">
                        <a:extLst>
                          <a:ext uri="{FF2B5EF4-FFF2-40B4-BE49-F238E27FC236}">
                            <a16:creationId xmlns:a16="http://schemas.microsoft.com/office/drawing/2014/main" id="{47C977BD-C351-AD4B-9371-02AEF2F776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275735"/>
                        <a:ext cx="6629400" cy="100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CC7346C9-5D34-8D4A-9AE2-763D987D935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00058" y="3188270"/>
                        <a:ext cx="8280000" cy="1095990"/>
                        <a:chOff x="2000058" y="3188270"/>
                        <a:chExt cx="8280000" cy="1095990"/>
                      </a:xfrm>
                    </p:grpSpPr>
                    <p:sp>
                      <p:nvSpPr>
                        <p:cNvPr id="21" name="Rectangle 20">
                          <a:extLst>
                            <a:ext uri="{FF2B5EF4-FFF2-40B4-BE49-F238E27FC236}">
                              <a16:creationId xmlns:a16="http://schemas.microsoft.com/office/drawing/2014/main" id="{497DB784-2641-9C4D-A096-4EC41834744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31300" y="3275735"/>
                          <a:ext cx="6629400" cy="1008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2" name="Group 21">
                          <a:extLst>
                            <a:ext uri="{FF2B5EF4-FFF2-40B4-BE49-F238E27FC236}">
                              <a16:creationId xmlns:a16="http://schemas.microsoft.com/office/drawing/2014/main" id="{41226139-7D14-6C40-83FA-3A5E7543A2B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00058" y="3188270"/>
                          <a:ext cx="8280000" cy="1095990"/>
                          <a:chOff x="2000058" y="3188270"/>
                          <a:chExt cx="8280000" cy="1095990"/>
                        </a:xfrm>
                      </p:grpSpPr>
                      <p:sp>
                        <p:nvSpPr>
                          <p:cNvPr id="23" name="Rectangle 22">
                            <a:extLst>
                              <a:ext uri="{FF2B5EF4-FFF2-40B4-BE49-F238E27FC236}">
                                <a16:creationId xmlns:a16="http://schemas.microsoft.com/office/drawing/2014/main" id="{0F2DAB68-4E32-534A-B7EC-854370AA2FB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031300" y="3275735"/>
                            <a:ext cx="6629400" cy="10085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12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grpSp>
                        <p:nvGrpSpPr>
                          <p:cNvPr id="24" name="Group 23">
                            <a:extLst>
                              <a:ext uri="{FF2B5EF4-FFF2-40B4-BE49-F238E27FC236}">
                                <a16:creationId xmlns:a16="http://schemas.microsoft.com/office/drawing/2014/main" id="{F1CDE22D-CEDB-1E4B-97FD-BE79E2FA77A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000058" y="3188270"/>
                            <a:ext cx="8280000" cy="1095990"/>
                            <a:chOff x="-31242" y="-87465"/>
                            <a:chExt cx="8280000" cy="1095990"/>
                          </a:xfrm>
                        </p:grpSpPr>
                        <p:sp>
                          <p:nvSpPr>
                            <p:cNvPr id="25" name="Rectangle 24">
                              <a:extLst>
                                <a:ext uri="{FF2B5EF4-FFF2-40B4-BE49-F238E27FC236}">
                                  <a16:creationId xmlns:a16="http://schemas.microsoft.com/office/drawing/2014/main" id="{6FFB340F-9A8B-FE40-B94C-72D3154B65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0" y="0"/>
                              <a:ext cx="6629400" cy="10085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>
                                <a:spcAft>
                                  <a:spcPts val="1000"/>
                                </a:spcAft>
                              </a:pPr>
                              <a:r>
                                <a:rPr lang="en-US" sz="1200">
                                  <a:latin typeface="Cambria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 </a:t>
                              </a:r>
                            </a:p>
                          </p:txBody>
                        </p:sp>
                        <p:grpSp>
                          <p:nvGrpSpPr>
                            <p:cNvPr id="26" name="Group 25">
                              <a:extLst>
                                <a:ext uri="{FF2B5EF4-FFF2-40B4-BE49-F238E27FC236}">
                                  <a16:creationId xmlns:a16="http://schemas.microsoft.com/office/drawing/2014/main" id="{58BF65F0-8218-B948-B7F6-91FB8433210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-31242" y="-87465"/>
                              <a:ext cx="8280000" cy="1008225"/>
                              <a:chOff x="-31242" y="-87465"/>
                              <a:chExt cx="8280000" cy="1008225"/>
                            </a:xfrm>
                          </p:grpSpPr>
                          <p:sp>
                            <p:nvSpPr>
                              <p:cNvPr id="27" name="Rectangle 26">
                                <a:extLst>
                                  <a:ext uri="{FF2B5EF4-FFF2-40B4-BE49-F238E27FC236}">
                                    <a16:creationId xmlns:a16="http://schemas.microsoft.com/office/drawing/2014/main" id="{8FA60736-CFDD-DD48-AA87-03835C3B046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0" y="0"/>
                                <a:ext cx="6629400" cy="78637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>
                                  <a:spcAft>
                                    <a:spcPts val="1000"/>
                                  </a:spcAft>
                                </a:pPr>
                                <a:r>
                                  <a:rPr lang="en-US" sz="1200">
                                    <a:latin typeface="Cambria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a:t> </a:t>
                                </a:r>
                              </a:p>
                            </p:txBody>
                          </p:sp>
                          <p:sp>
                            <p:nvSpPr>
                              <p:cNvPr id="28" name="Rectangle 27">
                                <a:extLst>
                                  <a:ext uri="{FF2B5EF4-FFF2-40B4-BE49-F238E27FC236}">
                                    <a16:creationId xmlns:a16="http://schemas.microsoft.com/office/drawing/2014/main" id="{CE5E2C9E-8BA5-3142-999A-7EA16F0960D0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0" y="0"/>
                                <a:ext cx="6629400" cy="78637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>
                                  <a:spcAft>
                                    <a:spcPts val="1000"/>
                                  </a:spcAft>
                                </a:pPr>
                                <a:r>
                                  <a:rPr lang="en-US" sz="1200">
                                    <a:latin typeface="Cambria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a:t> </a:t>
                                </a:r>
                              </a:p>
                            </p:txBody>
                          </p:sp>
                          <p:sp>
                            <p:nvSpPr>
                              <p:cNvPr id="29" name="Rounded Rectangle 28">
                                <a:extLst>
                                  <a:ext uri="{FF2B5EF4-FFF2-40B4-BE49-F238E27FC236}">
                                    <a16:creationId xmlns:a16="http://schemas.microsoft.com/office/drawing/2014/main" id="{B0B59AC1-FB80-5147-884C-919902D3FF6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-31242" y="-87465"/>
                                <a:ext cx="8280000" cy="1008225"/>
                              </a:xfrm>
                              <a:prstGeom prst="roundRect">
                                <a:avLst>
                                  <a:gd name="adj" fmla="val 16667"/>
                                </a:avLst>
                              </a:prstGeom>
                              <a:solidFill>
                                <a:srgbClr val="E2EED5"/>
                              </a:solidFill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72000" rIns="91425" bIns="0" anchor="ctr" anchorCtr="0">
                                <a:spAutoFit/>
                              </a:bodyPr>
                              <a:lstStyle/>
                              <a:p>
                                <a:pPr marL="114300">
                                  <a:spcAft>
                                    <a:spcPts val="1000"/>
                                  </a:spcAft>
                                </a:pPr>
                                <a:r>
                                  <a:rPr lang="en-US" sz="2000" dirty="0">
                                    <a:solidFill>
                                      <a:srgbClr val="6C993D"/>
                                    </a:solidFill>
                                    <a:latin typeface="Verdana" panose="020B0604030504040204" pitchFamily="34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a:t>A </a:t>
                                </a:r>
                                <a:r>
                                  <a:rPr lang="en-US" sz="2000" b="1" i="1" dirty="0">
                                    <a:solidFill>
                                      <a:srgbClr val="6C993D"/>
                                    </a:solidFill>
                                    <a:latin typeface="Verdana" panose="020B0604030504040204" pitchFamily="34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a:t>median of a triangle</a:t>
                                </a:r>
                                <a:r>
                                  <a:rPr lang="en-US" sz="2000" dirty="0">
                                    <a:solidFill>
                                      <a:srgbClr val="6C993D"/>
                                    </a:solidFill>
                                    <a:latin typeface="Verdana" panose="020B0604030504040204" pitchFamily="34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a:t> is a segment that joins any vertex of the triangle to the midpoint of the opposite side.</a:t>
                                </a:r>
                                <a:endParaRPr lang="en-US" sz="2000" dirty="0">
                                  <a:latin typeface="Cambria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endParaRPr>
                              </a:p>
                            </p:txBody>
                          </p:sp>
                        </p:grpSp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31" name="Google Shape;282;g104476d1465_1_17">
            <a:extLst>
              <a:ext uri="{FF2B5EF4-FFF2-40B4-BE49-F238E27FC236}">
                <a16:creationId xmlns:a16="http://schemas.microsoft.com/office/drawing/2014/main" id="{26A0B612-4DB8-6349-AA13-4BC33E786D5C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6A68996-9672-4D43-A314-EED339E97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809430"/>
              </p:ext>
            </p:extLst>
          </p:nvPr>
        </p:nvGraphicFramePr>
        <p:xfrm>
          <a:off x="1109805" y="4401090"/>
          <a:ext cx="7200000" cy="2088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338422875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4015995105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Patty Paper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Compass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512568"/>
                  </a:ext>
                </a:extLst>
              </a:tr>
              <a:tr h="16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5354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46090F-1DEA-2746-98E5-C6AAC34E5558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05" b="9185"/>
          <a:stretch/>
        </p:blipFill>
        <p:spPr bwMode="auto">
          <a:xfrm>
            <a:off x="1838696" y="374089"/>
            <a:ext cx="5730875" cy="23215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74089"/>
                <a:ext cx="83271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8775" indent="-358775">
                  <a:buFont typeface="+mj-lt"/>
                  <a:buAutoNum type="arabicPeriod" startAt="3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𝐻𝐶𝑇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4089"/>
                <a:ext cx="8327136" cy="400110"/>
              </a:xfrm>
              <a:prstGeom prst="rect">
                <a:avLst/>
              </a:prstGeom>
              <a:blipFill>
                <a:blip r:embed="rId5"/>
                <a:stretch>
                  <a:fillRect l="-805" t="-909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FE95F90-7DB6-A643-B2D1-83B2C409AFD5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40565" y="2839615"/>
                <a:ext cx="866023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steps to construct the centroid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𝐻𝐶𝑇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2839615"/>
                <a:ext cx="8660235" cy="400110"/>
              </a:xfrm>
              <a:prstGeom prst="rect">
                <a:avLst/>
              </a:prstGeom>
              <a:blipFill>
                <a:blip r:embed="rId6"/>
                <a:stretch>
                  <a:fillRect t="-10769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0CE8F04-5C46-C542-A6B0-A2C91EC709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1233822"/>
                  </p:ext>
                </p:extLst>
              </p:nvPr>
            </p:nvGraphicFramePr>
            <p:xfrm>
              <a:off x="1615102" y="3424825"/>
              <a:ext cx="6660000" cy="270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660000">
                      <a:extLst>
                        <a:ext uri="{9D8B030D-6E8A-4147-A177-3AD203B41FA5}">
                          <a16:colId xmlns:a16="http://schemas.microsoft.com/office/drawing/2014/main" val="164710150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 1: Trace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𝐻𝐶𝑇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on patty paper.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8522896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1071563" marR="0" indent="-107156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 2: Construct the perpendicular bisector of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𝐻𝑇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find its midpoint,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5210666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1006475" marR="0" indent="-102552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tabLst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 3: Draw the median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the opposite vertex,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𝐻𝐶𝑇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4780248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1071563" marR="0" indent="-107156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 4: Construct the perpendicular bisector of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𝐻𝐶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find its midpoint,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15944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0CE8F04-5C46-C542-A6B0-A2C91EC709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1233822"/>
                  </p:ext>
                </p:extLst>
              </p:nvPr>
            </p:nvGraphicFramePr>
            <p:xfrm>
              <a:off x="1615102" y="3424825"/>
              <a:ext cx="6660000" cy="270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660000">
                      <a:extLst>
                        <a:ext uri="{9D8B030D-6E8A-4147-A177-3AD203B41FA5}">
                          <a16:colId xmlns:a16="http://schemas.microsoft.com/office/drawing/2014/main" val="1647101506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91" t="-1124" r="-274" b="-4168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8522896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91" t="-76271" r="-274" b="-2144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210666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91" t="-174790" r="-274" b="-1126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94780248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91" t="-277119" r="-274" b="-135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5944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16392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424825"/>
                <a:ext cx="832713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about the location of point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∆</m:t>
                    </m:r>
                    <m:r>
                      <a:rPr lang="en-US" sz="2000" i="1">
                        <a:latin typeface="Cambria Math"/>
                      </a:rPr>
                      <m:t>𝐻𝐶𝑇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424825"/>
                <a:ext cx="8327136" cy="707886"/>
              </a:xfrm>
              <a:prstGeom prst="rect">
                <a:avLst/>
              </a:prstGeom>
              <a:blipFill>
                <a:blip r:embed="rId4"/>
                <a:stretch>
                  <a:fillRect t="-603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D214F59-6F63-7444-8372-6124BCE57596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0CE8F04-5C46-C542-A6B0-A2C91EC709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7297896"/>
                  </p:ext>
                </p:extLst>
              </p:nvPr>
            </p:nvGraphicFramePr>
            <p:xfrm>
              <a:off x="1615102" y="374089"/>
              <a:ext cx="6660000" cy="288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660000">
                      <a:extLst>
                        <a:ext uri="{9D8B030D-6E8A-4147-A177-3AD203B41FA5}">
                          <a16:colId xmlns:a16="http://schemas.microsoft.com/office/drawing/2014/main" val="1647101506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1071563" marR="0" indent="-107156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 5: Draw the median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the opposite vertex,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𝐻𝑇𝐶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170407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1071563" marR="0" indent="-107156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 6: Construct the perpendicular bisector of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𝑇𝐶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find its midpoint,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3043378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1071563" marR="0" indent="-107156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 7: Draw the median from midpoint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the opposite vertex,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𝑇𝐻𝐶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8296486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1071563" marR="0" indent="-1071563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Step 8: Draw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the point of concurrency, where medians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𝑅𝑇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𝑋𝐻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𝑀𝐶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intersect.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00128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0CE8F04-5C46-C542-A6B0-A2C91EC709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7297896"/>
                  </p:ext>
                </p:extLst>
              </p:nvPr>
            </p:nvGraphicFramePr>
            <p:xfrm>
              <a:off x="1615102" y="374089"/>
              <a:ext cx="6660000" cy="288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6660000">
                      <a:extLst>
                        <a:ext uri="{9D8B030D-6E8A-4147-A177-3AD203B41FA5}">
                          <a16:colId xmlns:a16="http://schemas.microsoft.com/office/drawing/2014/main" val="1647101506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1" t="-3390" r="-274" b="-3144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170407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1" t="-102521" r="-274" b="-2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043378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1" t="-204237" r="-274" b="-1135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8296486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1" t="-304237" r="-274" b="-135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001284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FF878D-DA41-D94D-9675-52BA2B76803C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1714" y="374090"/>
            <a:ext cx="5209721" cy="29533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74090"/>
                <a:ext cx="8327136" cy="2863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𝑌𝑊𝑇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shown, with medians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𝑊𝐺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𝑌𝐹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         the midpoint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𝑊𝐻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midpoint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𝑇𝐻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midpoint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𝑌𝐻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357188" indent="-357188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Copy the first segment using patty paper.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copy to determine the relationship                the first segment and the point have                       with the second segment.                               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table.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4090"/>
                <a:ext cx="8327136" cy="2863028"/>
              </a:xfrm>
              <a:prstGeom prst="rect">
                <a:avLst/>
              </a:prstGeom>
              <a:blipFill>
                <a:blip r:embed="rId4"/>
                <a:stretch>
                  <a:fillRect l="-805" t="-1277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A1254C18-455F-754C-83C4-3E339FE74013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844F486-8A3C-6E4B-A4AB-680B49814D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227586"/>
                  </p:ext>
                </p:extLst>
              </p:nvPr>
            </p:nvGraphicFramePr>
            <p:xfrm>
              <a:off x="1562030" y="3939403"/>
              <a:ext cx="6840000" cy="234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564268468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4280468055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83032039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3962280665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First Segment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Second Segment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Relationship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91145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𝐷𝐻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𝑇𝐻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351234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𝐹𝐻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𝐾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𝑌𝐻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215711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𝐺𝐻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𝑊𝐻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837030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844F486-8A3C-6E4B-A4AB-680B49814D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227586"/>
                  </p:ext>
                </p:extLst>
              </p:nvPr>
            </p:nvGraphicFramePr>
            <p:xfrm>
              <a:off x="1562030" y="3939403"/>
              <a:ext cx="6840000" cy="234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564268468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4280468055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83032039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3962280665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First Segment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Point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Second Segment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Relationship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9991145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76" t="-137079" r="-280405" b="-2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68362" t="-137079" r="-368927" b="-2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61017" t="-137079" r="-121356" b="-2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9351234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76" t="-237079" r="-280405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68362" t="-237079" r="-368927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61017" t="-237079" r="-121356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221571171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76" t="-337079" r="-280405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68362" t="-337079" r="-368927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61017" t="-337079" r="-121356" b="-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837030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86724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0565" y="1855165"/>
            <a:ext cx="109833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conjecture about the distance a centroid is from the vertex and the distance a centroid is from the midpoint of the opposite side.</a:t>
            </a:r>
            <a:endParaRPr lang="en-US" sz="16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823CF8-543E-2546-B8BF-C638ABD21A41}"/>
              </a:ext>
            </a:extLst>
          </p:cNvPr>
          <p:cNvGrpSpPr/>
          <p:nvPr/>
        </p:nvGrpSpPr>
        <p:grpSpPr>
          <a:xfrm>
            <a:off x="509820" y="324626"/>
            <a:ext cx="8280000" cy="3429112"/>
            <a:chOff x="1227020" y="877724"/>
            <a:chExt cx="8280000" cy="342932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7EE93D4-9675-3547-AABA-436B717617F4}"/>
                </a:ext>
              </a:extLst>
            </p:cNvPr>
            <p:cNvSpPr/>
            <p:nvPr/>
          </p:nvSpPr>
          <p:spPr>
            <a:xfrm>
              <a:off x="2031300" y="3252950"/>
              <a:ext cx="6629400" cy="10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92D3B3B-9192-784C-8324-2A21259677F5}"/>
                </a:ext>
              </a:extLst>
            </p:cNvPr>
            <p:cNvGrpSpPr/>
            <p:nvPr/>
          </p:nvGrpSpPr>
          <p:grpSpPr>
            <a:xfrm>
              <a:off x="1227020" y="877724"/>
              <a:ext cx="8280000" cy="3429326"/>
              <a:chOff x="1227020" y="877724"/>
              <a:chExt cx="8280000" cy="3429326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CF8B908-7362-4B47-8A3A-287F98874BA1}"/>
                  </a:ext>
                </a:extLst>
              </p:cNvPr>
              <p:cNvSpPr/>
              <p:nvPr/>
            </p:nvSpPr>
            <p:spPr>
              <a:xfrm>
                <a:off x="2031300" y="3252950"/>
                <a:ext cx="6629400" cy="10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7DB096B-E3EB-8646-AC0F-6B691812A4B2}"/>
                  </a:ext>
                </a:extLst>
              </p:cNvPr>
              <p:cNvGrpSpPr/>
              <p:nvPr/>
            </p:nvGrpSpPr>
            <p:grpSpPr>
              <a:xfrm>
                <a:off x="1227020" y="877724"/>
                <a:ext cx="8280000" cy="3429303"/>
                <a:chOff x="1227020" y="877323"/>
                <a:chExt cx="8280000" cy="3429779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586AEFD1-A863-C142-B498-E705EB41384F}"/>
                    </a:ext>
                  </a:extLst>
                </p:cNvPr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BB7FF325-211B-4240-BECF-E0F0B15560C3}"/>
                    </a:ext>
                  </a:extLst>
                </p:cNvPr>
                <p:cNvGrpSpPr/>
                <p:nvPr/>
              </p:nvGrpSpPr>
              <p:grpSpPr>
                <a:xfrm>
                  <a:off x="1227020" y="877323"/>
                  <a:ext cx="8280000" cy="3429779"/>
                  <a:chOff x="1227020" y="877323"/>
                  <a:chExt cx="8280000" cy="3429779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487EC770-EC44-EB40-9E74-AAD732FF4541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7F9D8907-B032-2746-A34B-F72697A1DAD2}"/>
                      </a:ext>
                    </a:extLst>
                  </p:cNvPr>
                  <p:cNvGrpSpPr/>
                  <p:nvPr/>
                </p:nvGrpSpPr>
                <p:grpSpPr>
                  <a:xfrm>
                    <a:off x="1227020" y="877323"/>
                    <a:ext cx="8280000" cy="3429779"/>
                    <a:chOff x="1227020" y="877323"/>
                    <a:chExt cx="8280000" cy="3429779"/>
                  </a:xfrm>
                </p:grpSpPr>
                <p:sp>
                  <p:nvSpPr>
                    <p:cNvPr id="16" name="Rectangle 15">
                      <a:extLst>
                        <a:ext uri="{FF2B5EF4-FFF2-40B4-BE49-F238E27FC236}">
                          <a16:creationId xmlns:a16="http://schemas.microsoft.com/office/drawing/2014/main" id="{61952CDB-6D8D-D641-947A-F3818AC365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252877"/>
                      <a:ext cx="6629400" cy="10542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0E7E5079-5B4B-3E4D-AB24-CD38FC50B3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27020" y="877323"/>
                      <a:ext cx="8280000" cy="3429779"/>
                      <a:chOff x="1227020" y="877323"/>
                      <a:chExt cx="8280000" cy="3429779"/>
                    </a:xfrm>
                  </p:grpSpPr>
                  <p:sp>
                    <p:nvSpPr>
                      <p:cNvPr id="18" name="Rectangle 17">
                        <a:extLst>
                          <a:ext uri="{FF2B5EF4-FFF2-40B4-BE49-F238E27FC236}">
                            <a16:creationId xmlns:a16="http://schemas.microsoft.com/office/drawing/2014/main" id="{04142ED3-45BD-0C4B-BD2D-4A5B0FB3AD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252877"/>
                        <a:ext cx="6629400" cy="105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19" name="Group 18">
                        <a:extLst>
                          <a:ext uri="{FF2B5EF4-FFF2-40B4-BE49-F238E27FC236}">
                            <a16:creationId xmlns:a16="http://schemas.microsoft.com/office/drawing/2014/main" id="{60AB6479-71F7-514A-A3D2-634C458C266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27020" y="877323"/>
                        <a:ext cx="8280000" cy="3429779"/>
                        <a:chOff x="1227020" y="877323"/>
                        <a:chExt cx="8280000" cy="3429779"/>
                      </a:xfrm>
                    </p:grpSpPr>
                    <p:sp>
                      <p:nvSpPr>
                        <p:cNvPr id="20" name="Rectangle 19">
                          <a:extLst>
                            <a:ext uri="{FF2B5EF4-FFF2-40B4-BE49-F238E27FC236}">
                              <a16:creationId xmlns:a16="http://schemas.microsoft.com/office/drawing/2014/main" id="{CCDF6FA3-4119-0B43-9CFF-7C4B8666F0E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31300" y="3252877"/>
                          <a:ext cx="6629400" cy="1054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1" name="Group 20">
                          <a:extLst>
                            <a:ext uri="{FF2B5EF4-FFF2-40B4-BE49-F238E27FC236}">
                              <a16:creationId xmlns:a16="http://schemas.microsoft.com/office/drawing/2014/main" id="{52E2D433-744F-F04C-90CC-CA2D31299F3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227020" y="877323"/>
                          <a:ext cx="8280000" cy="3429774"/>
                          <a:chOff x="1227020" y="929147"/>
                          <a:chExt cx="8280000" cy="3368541"/>
                        </a:xfrm>
                      </p:grpSpPr>
                      <p:sp>
                        <p:nvSpPr>
                          <p:cNvPr id="22" name="Rectangle 21">
                            <a:extLst>
                              <a:ext uri="{FF2B5EF4-FFF2-40B4-BE49-F238E27FC236}">
                                <a16:creationId xmlns:a16="http://schemas.microsoft.com/office/drawing/2014/main" id="{5948902B-5715-C346-B29B-9DDA34BBE92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031300" y="3262288"/>
                            <a:ext cx="6629400" cy="1035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12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grpSp>
                        <p:nvGrpSpPr>
                          <p:cNvPr id="23" name="Group 22">
                            <a:extLst>
                              <a:ext uri="{FF2B5EF4-FFF2-40B4-BE49-F238E27FC236}">
                                <a16:creationId xmlns:a16="http://schemas.microsoft.com/office/drawing/2014/main" id="{603E8691-78CF-824E-9FA3-247A5D64C1B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227020" y="929147"/>
                            <a:ext cx="8280000" cy="3368541"/>
                            <a:chOff x="1227020" y="1040459"/>
                            <a:chExt cx="8280000" cy="3368541"/>
                          </a:xfrm>
                        </p:grpSpPr>
                        <p:sp>
                          <p:nvSpPr>
                            <p:cNvPr id="24" name="Rectangle 23">
                              <a:extLst>
                                <a:ext uri="{FF2B5EF4-FFF2-40B4-BE49-F238E27FC236}">
                                  <a16:creationId xmlns:a16="http://schemas.microsoft.com/office/drawing/2014/main" id="{144C19BC-F26D-354C-A170-5643FCF3A1C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031300" y="3373600"/>
                              <a:ext cx="6629400" cy="10354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>
                                <a:spcAft>
                                  <a:spcPts val="1000"/>
                                </a:spcAft>
                              </a:pPr>
                              <a:r>
                                <a:rPr lang="en-US" sz="1200">
                                  <a:latin typeface="Cambria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 </a:t>
                              </a:r>
                            </a:p>
                          </p:txBody>
                        </p:sp>
                        <p:grpSp>
                          <p:nvGrpSpPr>
                            <p:cNvPr id="25" name="Group 24">
                              <a:extLst>
                                <a:ext uri="{FF2B5EF4-FFF2-40B4-BE49-F238E27FC236}">
                                  <a16:creationId xmlns:a16="http://schemas.microsoft.com/office/drawing/2014/main" id="{79357F97-8812-5744-ABB1-D59D19991CE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27020" y="1040459"/>
                              <a:ext cx="8280000" cy="3145941"/>
                              <a:chOff x="1227020" y="1040459"/>
                              <a:chExt cx="8280000" cy="3145941"/>
                            </a:xfrm>
                          </p:grpSpPr>
                          <p:sp>
                            <p:nvSpPr>
                              <p:cNvPr id="26" name="Rectangle 25">
                                <a:extLst>
                                  <a:ext uri="{FF2B5EF4-FFF2-40B4-BE49-F238E27FC236}">
                                    <a16:creationId xmlns:a16="http://schemas.microsoft.com/office/drawing/2014/main" id="{FC903BE1-7C04-2443-A4A5-B74912393159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2031300" y="3373600"/>
                                <a:ext cx="6629400" cy="81280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>
                                  <a:spcAft>
                                    <a:spcPts val="1000"/>
                                  </a:spcAft>
                                </a:pPr>
                                <a:r>
                                  <a:rPr lang="en-US" sz="1200">
                                    <a:latin typeface="Cambria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a:t> </a:t>
                                </a:r>
                              </a:p>
                            </p:txBody>
                          </p:sp>
                          <p:grpSp>
                            <p:nvGrpSpPr>
                              <p:cNvPr id="27" name="Group 26">
                                <a:extLst>
                                  <a:ext uri="{FF2B5EF4-FFF2-40B4-BE49-F238E27FC236}">
                                    <a16:creationId xmlns:a16="http://schemas.microsoft.com/office/drawing/2014/main" id="{40D4B748-68B9-6B49-B7FB-8D08E01C7627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227020" y="1040459"/>
                                <a:ext cx="8280000" cy="3145941"/>
                                <a:chOff x="-804280" y="-2333141"/>
                                <a:chExt cx="8280000" cy="3145941"/>
                              </a:xfrm>
                            </p:grpSpPr>
                            <p:sp>
                              <p:nvSpPr>
                                <p:cNvPr id="28" name="Rectangle 27">
                                  <a:extLst>
                                    <a:ext uri="{FF2B5EF4-FFF2-40B4-BE49-F238E27FC236}">
                                      <a16:creationId xmlns:a16="http://schemas.microsoft.com/office/drawing/2014/main" id="{C73E5916-487B-2441-A813-4599F59089B6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0" y="0"/>
                                  <a:ext cx="6629400" cy="81280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>
                                    <a:spcAft>
                                      <a:spcPts val="1000"/>
                                    </a:spcAft>
                                  </a:pPr>
                                  <a:r>
                                    <a:rPr lang="en-US" sz="1200">
                                      <a:latin typeface="Cambria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29" name="Rounded Rectangle 28">
                                  <a:extLst>
                                    <a:ext uri="{FF2B5EF4-FFF2-40B4-BE49-F238E27FC236}">
                                      <a16:creationId xmlns:a16="http://schemas.microsoft.com/office/drawing/2014/main" id="{B9A5A0D1-747F-DC44-BFE9-1CBD19577B28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-804280" y="-2333141"/>
                                  <a:ext cx="8280000" cy="1272069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solidFill>
                                  <a:srgbClr val="E2EED5"/>
                                </a:solidFill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72000" rIns="91425" bIns="0" anchor="ctr" anchorCtr="0">
                                  <a:spAutoFit/>
                                </a:bodyPr>
                                <a:lstStyle/>
                                <a:p>
                                  <a:pPr marL="171450">
                                    <a:spcAft>
                                      <a:spcPts val="1000"/>
                                    </a:spcAft>
                                  </a:pP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The </a:t>
                                  </a:r>
                                  <a:r>
                                    <a:rPr lang="en-US" sz="2000" b="1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centroid of a triangle</a:t>
                                  </a: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a:t> is the intersection of the three medians of the triangle (each median connecting a vertex with the midpoint of the opposite side).</a:t>
                                  </a:r>
                                  <a:endParaRPr lang="en-US" sz="2000" dirty="0">
                                    <a:latin typeface="Cambria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endParaRPr>
                                </a:p>
                              </p:txBody>
                            </p:sp>
                          </p:grpSp>
                        </p:grpSp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30" name="Google Shape;282;g104476d1465_1_17">
            <a:extLst>
              <a:ext uri="{FF2B5EF4-FFF2-40B4-BE49-F238E27FC236}">
                <a16:creationId xmlns:a16="http://schemas.microsoft.com/office/drawing/2014/main" id="{52920AA0-A489-DD41-ACAF-0554459E9D4C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735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9C91399A-B651-DC45-9E4D-FCA4155FC3E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18395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49" y="100266"/>
            <a:ext cx="8582669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11.7.3 Guided Instruction: Centroid of a Triangle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2713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40565" y="3006762"/>
                <a:ext cx="9913620" cy="836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𝑅𝑍𝐵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shown, where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the centroid of the triangle.</a:t>
                </a:r>
              </a:p>
              <a:p>
                <a:pPr algn="ctr"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𝐷𝐻</m:t>
                    </m:r>
                    <m:r>
                      <a:rPr lang="en-US" sz="2000" i="1">
                        <a:latin typeface="Cambria Math"/>
                      </a:rPr>
                      <m:t>=11.3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𝑅𝐾</m:t>
                    </m:r>
                    <m:r>
                      <a:rPr lang="en-US" sz="2000" i="1">
                        <a:latin typeface="Cambria Math"/>
                      </a:rPr>
                      <m:t>=20.55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𝐵𝐻</m:t>
                    </m:r>
                    <m:r>
                      <a:rPr lang="en-US" sz="2000" i="1">
                        <a:latin typeface="Cambria Math"/>
                      </a:rPr>
                      <m:t>=15.2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006762"/>
                <a:ext cx="9913620" cy="836126"/>
              </a:xfrm>
              <a:prstGeom prst="rect">
                <a:avLst/>
              </a:prstGeom>
              <a:blipFill>
                <a:blip r:embed="rId5"/>
                <a:stretch>
                  <a:fillRect l="-677" t="-5109" b="-12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3F44363-12BA-AC44-9B50-2148A96D079C}"/>
              </a:ext>
            </a:extLst>
          </p:cNvPr>
          <p:cNvGrpSpPr/>
          <p:nvPr/>
        </p:nvGrpSpPr>
        <p:grpSpPr>
          <a:xfrm>
            <a:off x="488800" y="1452492"/>
            <a:ext cx="8280000" cy="1294932"/>
            <a:chOff x="1206000" y="3275735"/>
            <a:chExt cx="8280000" cy="133653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823A213-A2A0-4F41-A1DF-9A51F0E90676}"/>
                </a:ext>
              </a:extLst>
            </p:cNvPr>
            <p:cNvGrpSpPr/>
            <p:nvPr/>
          </p:nvGrpSpPr>
          <p:grpSpPr>
            <a:xfrm>
              <a:off x="1206000" y="3275735"/>
              <a:ext cx="8280000" cy="1336534"/>
              <a:chOff x="1206000" y="3275735"/>
              <a:chExt cx="8280000" cy="1336534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0FDF984-7203-FD43-B594-9158FFF53A98}"/>
                  </a:ext>
                </a:extLst>
              </p:cNvPr>
              <p:cNvSpPr/>
              <p:nvPr/>
            </p:nvSpPr>
            <p:spPr>
              <a:xfrm>
                <a:off x="2031300" y="3275735"/>
                <a:ext cx="6629400" cy="1008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17DF391-79DB-0041-95A8-146770F3E966}"/>
                  </a:ext>
                </a:extLst>
              </p:cNvPr>
              <p:cNvGrpSpPr/>
              <p:nvPr/>
            </p:nvGrpSpPr>
            <p:grpSpPr>
              <a:xfrm>
                <a:off x="1206000" y="3275735"/>
                <a:ext cx="8280000" cy="1336534"/>
                <a:chOff x="1206000" y="3275735"/>
                <a:chExt cx="8280000" cy="1336534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7210DE70-C191-7244-8932-D6C6AE0DAC9F}"/>
                    </a:ext>
                  </a:extLst>
                </p:cNvPr>
                <p:cNvSpPr/>
                <p:nvPr/>
              </p:nvSpPr>
              <p:spPr>
                <a:xfrm>
                  <a:off x="2031300" y="3275735"/>
                  <a:ext cx="6629400" cy="10085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1E3EA425-A451-F64C-AE1E-50F706A78422}"/>
                    </a:ext>
                  </a:extLst>
                </p:cNvPr>
                <p:cNvGrpSpPr/>
                <p:nvPr/>
              </p:nvGrpSpPr>
              <p:grpSpPr>
                <a:xfrm>
                  <a:off x="1206000" y="3275735"/>
                  <a:ext cx="8280000" cy="1336534"/>
                  <a:chOff x="1206000" y="3275735"/>
                  <a:chExt cx="8280000" cy="1336534"/>
                </a:xfrm>
              </p:grpSpPr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968BE6AA-2E1B-5D46-8F5B-BFD8C1F66DB4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75735"/>
                    <a:ext cx="6629400" cy="1008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E62E7780-2587-2F48-AEA8-D1F9A7BF22B7}"/>
                      </a:ext>
                    </a:extLst>
                  </p:cNvPr>
                  <p:cNvGrpSpPr/>
                  <p:nvPr/>
                </p:nvGrpSpPr>
                <p:grpSpPr>
                  <a:xfrm>
                    <a:off x="1206000" y="3275735"/>
                    <a:ext cx="8280000" cy="1336534"/>
                    <a:chOff x="1206000" y="3275735"/>
                    <a:chExt cx="8280000" cy="1336534"/>
                  </a:xfrm>
                </p:grpSpPr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70020D23-E3AA-3242-945D-F959F85E2B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275735"/>
                      <a:ext cx="6629400" cy="10085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DDCBAC88-062D-9044-A9E4-456EB07B68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206000" y="3275735"/>
                      <a:ext cx="8280000" cy="1336534"/>
                      <a:chOff x="1206000" y="3275735"/>
                      <a:chExt cx="8280000" cy="1336534"/>
                    </a:xfrm>
                  </p:grpSpPr>
                  <p:sp>
                    <p:nvSpPr>
                      <p:cNvPr id="21" name="Rectangle 20">
                        <a:extLst>
                          <a:ext uri="{FF2B5EF4-FFF2-40B4-BE49-F238E27FC236}">
                            <a16:creationId xmlns:a16="http://schemas.microsoft.com/office/drawing/2014/main" id="{8FD5D059-D92C-2147-9D11-99812EA39C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275735"/>
                        <a:ext cx="6629400" cy="100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22" name="Group 21">
                        <a:extLst>
                          <a:ext uri="{FF2B5EF4-FFF2-40B4-BE49-F238E27FC236}">
                            <a16:creationId xmlns:a16="http://schemas.microsoft.com/office/drawing/2014/main" id="{D9EFFFB7-A539-BF4C-8E99-B71823D3AA8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206000" y="3275735"/>
                        <a:ext cx="8280000" cy="1336534"/>
                        <a:chOff x="1206000" y="3275735"/>
                        <a:chExt cx="8280000" cy="1336534"/>
                      </a:xfrm>
                    </p:grpSpPr>
                    <p:sp>
                      <p:nvSpPr>
                        <p:cNvPr id="23" name="Rectangle 22">
                          <a:extLst>
                            <a:ext uri="{FF2B5EF4-FFF2-40B4-BE49-F238E27FC236}">
                              <a16:creationId xmlns:a16="http://schemas.microsoft.com/office/drawing/2014/main" id="{19CC2020-BF6A-8B4E-AAE5-8BCE62251D0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31300" y="3275735"/>
                          <a:ext cx="6629400" cy="1008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4" name="Group 23">
                          <a:extLst>
                            <a:ext uri="{FF2B5EF4-FFF2-40B4-BE49-F238E27FC236}">
                              <a16:creationId xmlns:a16="http://schemas.microsoft.com/office/drawing/2014/main" id="{E7BDC75F-1585-7C4A-9FF1-7A01A3BF4B9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206000" y="3275735"/>
                          <a:ext cx="8280000" cy="1336534"/>
                          <a:chOff x="1206000" y="3275735"/>
                          <a:chExt cx="8280000" cy="1336534"/>
                        </a:xfrm>
                      </p:grpSpPr>
                      <p:sp>
                        <p:nvSpPr>
                          <p:cNvPr id="25" name="Rectangle 24">
                            <a:extLst>
                              <a:ext uri="{FF2B5EF4-FFF2-40B4-BE49-F238E27FC236}">
                                <a16:creationId xmlns:a16="http://schemas.microsoft.com/office/drawing/2014/main" id="{1FA14B34-9875-BB47-8B98-574498F53E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031300" y="3275735"/>
                            <a:ext cx="6629400" cy="10085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12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grpSp>
                        <p:nvGrpSpPr>
                          <p:cNvPr id="26" name="Group 25">
                            <a:extLst>
                              <a:ext uri="{FF2B5EF4-FFF2-40B4-BE49-F238E27FC236}">
                                <a16:creationId xmlns:a16="http://schemas.microsoft.com/office/drawing/2014/main" id="{91AEF721-CEFA-CC48-8767-3586DD05A68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206000" y="3275735"/>
                            <a:ext cx="8280000" cy="1336534"/>
                            <a:chOff x="1206000" y="3275735"/>
                            <a:chExt cx="8280000" cy="1336534"/>
                          </a:xfrm>
                        </p:grpSpPr>
                        <p:sp>
                          <p:nvSpPr>
                            <p:cNvPr id="27" name="Rectangle 26">
                              <a:extLst>
                                <a:ext uri="{FF2B5EF4-FFF2-40B4-BE49-F238E27FC236}">
                                  <a16:creationId xmlns:a16="http://schemas.microsoft.com/office/drawing/2014/main" id="{BA66DD48-BFB6-C045-8C82-7582CA2C016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031300" y="3275735"/>
                              <a:ext cx="6629400" cy="1008525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>
                                <a:spcAft>
                                  <a:spcPts val="1000"/>
                                </a:spcAft>
                              </a:pPr>
                              <a:r>
                                <a:rPr lang="en-US" sz="1200">
                                  <a:latin typeface="Cambria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 </a:t>
                              </a:r>
                            </a:p>
                          </p:txBody>
                        </p:sp>
                        <p:grpSp>
                          <p:nvGrpSpPr>
                            <p:cNvPr id="28" name="Group 27">
                              <a:extLst>
                                <a:ext uri="{FF2B5EF4-FFF2-40B4-BE49-F238E27FC236}">
                                  <a16:creationId xmlns:a16="http://schemas.microsoft.com/office/drawing/2014/main" id="{07FF058D-B661-A54E-BFE1-6F25E96A490F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206000" y="3275735"/>
                              <a:ext cx="8280000" cy="1336534"/>
                              <a:chOff x="-825300" y="0"/>
                              <a:chExt cx="8280000" cy="1336534"/>
                            </a:xfrm>
                          </p:grpSpPr>
                          <p:sp>
                            <p:nvSpPr>
                              <p:cNvPr id="29" name="Rectangle 28">
                                <a:extLst>
                                  <a:ext uri="{FF2B5EF4-FFF2-40B4-BE49-F238E27FC236}">
                                    <a16:creationId xmlns:a16="http://schemas.microsoft.com/office/drawing/2014/main" id="{B9CD52BE-AA05-3E4E-A128-7567B2AE407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0" y="0"/>
                                <a:ext cx="6629400" cy="1008525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>
                                  <a:spcAft>
                                    <a:spcPts val="1000"/>
                                  </a:spcAft>
                                </a:pPr>
                                <a:r>
                                  <a:rPr lang="en-US" sz="1200">
                                    <a:latin typeface="Cambria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a:t> </a:t>
                                </a:r>
                              </a:p>
                            </p:txBody>
                          </p:sp>
                          <p:grpSp>
                            <p:nvGrpSpPr>
                              <p:cNvPr id="30" name="Group 29">
                                <a:extLst>
                                  <a:ext uri="{FF2B5EF4-FFF2-40B4-BE49-F238E27FC236}">
                                    <a16:creationId xmlns:a16="http://schemas.microsoft.com/office/drawing/2014/main" id="{AF4843A7-5D27-5147-A3E2-35FA26C93566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-825300" y="0"/>
                                <a:ext cx="8280000" cy="1336534"/>
                                <a:chOff x="-825300" y="0"/>
                                <a:chExt cx="8280000" cy="1336534"/>
                              </a:xfrm>
                            </p:grpSpPr>
                            <p:sp>
                              <p:nvSpPr>
                                <p:cNvPr id="32" name="Rectangle 31">
                                  <a:extLst>
                                    <a:ext uri="{FF2B5EF4-FFF2-40B4-BE49-F238E27FC236}">
                                      <a16:creationId xmlns:a16="http://schemas.microsoft.com/office/drawing/2014/main" id="{403FE6BA-C214-3845-9D66-252FF4F6BBF4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0" y="0"/>
                                  <a:ext cx="6629400" cy="786375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>
                                    <a:spcAft>
                                      <a:spcPts val="1000"/>
                                    </a:spcAft>
                                  </a:pPr>
                                  <a:r>
                                    <a:rPr lang="en-US" sz="1200">
                                      <a:latin typeface="Cambria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3" name="Rectangle 32">
                                  <a:extLst>
                                    <a:ext uri="{FF2B5EF4-FFF2-40B4-BE49-F238E27FC236}">
                                      <a16:creationId xmlns:a16="http://schemas.microsoft.com/office/drawing/2014/main" id="{D5EF03E9-4653-A242-9690-C5B80D2FA17D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0" y="0"/>
                                  <a:ext cx="6629400" cy="786375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>
                                    <a:spcAft>
                                      <a:spcPts val="1000"/>
                                    </a:spcAft>
                                  </a:pPr>
                                  <a:r>
                                    <a:rPr lang="en-US" sz="1200">
                                      <a:latin typeface="Cambria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  <mc:AlternateContent xmlns:mc="http://schemas.openxmlformats.org/markup-compatibility/2006" xmlns:a14="http://schemas.microsoft.com/office/drawing/2010/main">
                              <mc:Choice Requires="a14">
                                <p:sp>
                                  <p:nvSpPr>
                                    <p:cNvPr id="34" name="Rounded Rectangle 33">
                                      <a:extLst>
                                        <a:ext uri="{FF2B5EF4-FFF2-40B4-BE49-F238E27FC236}">
                                          <a16:creationId xmlns:a16="http://schemas.microsoft.com/office/drawing/2014/main" id="{C1BE617F-7993-0248-9C4B-F7DA48DB5106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-825300" y="0"/>
                                      <a:ext cx="8280000" cy="1336534"/>
                                    </a:xfrm>
                                    <a:prstGeom prst="roundRect">
                                      <a:avLst>
                                        <a:gd name="adj" fmla="val 16667"/>
                                      </a:avLst>
                                    </a:prstGeom>
                                    <a:solidFill>
                                      <a:srgbClr val="B8E6F5"/>
                                    </a:solidFill>
                                    <a:ln>
                                      <a:noFill/>
                                    </a:ln>
                                    <a:effectLst>
                                      <a:outerShdw blurRad="50800" dist="38100" dir="2700000" algn="tl" rotWithShape="0">
                                        <a:prstClr val="black">
                                          <a:alpha val="40000"/>
                                        </a:prstClr>
                                      </a:outerShdw>
                                    </a:effectLst>
                                  </p:spPr>
                                  <p:txBody>
                                    <a:bodyPr spcFirstLastPara="1" wrap="square" lIns="91425" tIns="72000" rIns="91425" bIns="0" anchor="ctr" anchorCtr="0">
                                      <a:spAutoFit/>
                                    </a:bodyPr>
                                    <a:lstStyle/>
                                    <a:p>
                                      <a:pPr marL="627063">
                                        <a:spcAft>
                                          <a:spcPts val="1000"/>
                                        </a:spcAft>
                                      </a:pPr>
                                      <a:r>
                                        <a:rPr lang="en-US" sz="2000" dirty="0">
                                          <a:solidFill>
                                            <a:srgbClr val="00619E"/>
                                          </a:solidFill>
                                          <a:latin typeface="Verdana" panose="020B0604030504040204" pitchFamily="34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a:t>The length from the vertex to the centroid is twice the length from the centroid to the midpoint of the opposite side, which yields a ratio of </a:t>
                                      </a:r>
                                      <a14:m>
                                        <m:oMath xmlns:m="http://schemas.openxmlformats.org/officeDocument/2006/math">
                                          <m:r>
                                            <a:rPr lang="en-US" sz="2000" i="1">
                                              <a:solidFill>
                                                <a:srgbClr val="00619E"/>
                                              </a:solidFill>
                                              <a:latin typeface="Cambria Math" panose="02040503050406030204" pitchFamily="18" charset="0"/>
                                              <a:ea typeface="Verdana" panose="020B0604030504040204" pitchFamily="34" charset="0"/>
                                              <a:cs typeface="Verdana" panose="020B0604030504040204" pitchFamily="34" charset="0"/>
                                            </a:rPr>
                                            <m:t>2:1</m:t>
                                          </m:r>
                                        </m:oMath>
                                      </a14:m>
                                      <a:r>
                                        <a:rPr lang="en-US" sz="2000" dirty="0">
                                          <a:solidFill>
                                            <a:srgbClr val="00619E"/>
                                          </a:solidFill>
                                          <a:latin typeface="Verdana" panose="020B0604030504040204" pitchFamily="34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a:t>. </a:t>
                                      </a:r>
                                      <a:endParaRPr lang="en-US" sz="2000" dirty="0">
                                        <a:latin typeface="Verdana" panose="020B0604030504040204" pitchFamily="34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endParaRPr>
                                    </a:p>
                                  </p:txBody>
                                </p:sp>
                              </mc:Choice>
                              <mc:Fallback xmlns="">
                                <p:sp>
                                  <p:nvSpPr>
                                    <p:cNvPr id="34" name="Rounded Rectangle 33">
                                      <a:extLst>
                                        <a:ext uri="{FF2B5EF4-FFF2-40B4-BE49-F238E27FC236}">
                                          <a16:creationId xmlns:a16="http://schemas.microsoft.com/office/drawing/2014/main" xmlns:a14="http://schemas.microsoft.com/office/drawing/2010/main" xmlns="" id="{C1BE617F-7993-0248-9C4B-F7DA48DB5106}"/>
                                        </a:ext>
                                      </a:extLst>
                                    </p:cNvPr>
                                    <p:cNvSpPr>
                                      <a:spLocks noRot="1" noChangeAspect="1" noMove="1" noResize="1" noEditPoints="1" noAdjustHandles="1" noChangeArrowheads="1" noChangeShapeType="1" noTextEdit="1"/>
                                    </p:cNvSpPr>
                                    <p:nvPr/>
                                  </p:nvSpPr>
                                  <p:spPr>
                                    <a:xfrm>
                                      <a:off x="-825300" y="0"/>
                                      <a:ext cx="8280000" cy="1336534"/>
                                    </a:xfrm>
                                    <a:prstGeom prst="roundRect">
                                      <a:avLst>
                                        <a:gd name="adj" fmla="val 16667"/>
                                      </a:avLst>
                                    </a:prstGeom>
                                    <a:blipFill rotWithShape="1">
                                      <a:blip r:embed="rId6"/>
                                      <a:stretch>
                                        <a:fillRect/>
                                      </a:stretch>
                                    </a:blipFill>
                                    <a:ln>
                                      <a:noFill/>
                                    </a:ln>
                                    <a:effectLst>
                                      <a:outerShdw blurRad="50800" dist="38100" dir="2700000" algn="tl" rotWithShape="0">
                                        <a:prstClr val="black">
                                          <a:alpha val="40000"/>
                                        </a:prstClr>
                                      </a:outerShdw>
                                    </a:effectLst>
                                  </p:spPr>
                                  <p:txBody>
                                    <a:bodyPr/>
                                    <a:lstStyle/>
                                    <a:p>
                                      <a:r>
                                        <a:rPr lang="en-PH">
                                          <a:noFill/>
                                        </a:rPr>
                                        <a:t> </a:t>
                                      </a:r>
                                    </a:p>
                                  </p:txBody>
                                </p:sp>
                              </mc:Fallback>
                            </mc:AlternateContent>
                          </p:grpSp>
                          <p:pic>
                            <p:nvPicPr>
                              <p:cNvPr id="31" name="Shape 55" descr="Icon&#10;&#10;Description automatically generated">
                                <a:extLst>
                                  <a:ext uri="{FF2B5EF4-FFF2-40B4-BE49-F238E27FC236}">
                                    <a16:creationId xmlns:a16="http://schemas.microsoft.com/office/drawing/2014/main" id="{E645E4C7-9A7A-3A4F-8A36-9B65C7A47D2B}"/>
                                  </a:ext>
                                </a:extLst>
                              </p:cNvPr>
                              <p:cNvPicPr preferRelativeResize="0"/>
                              <p:nvPr/>
                            </p:nvPicPr>
                            <p:blipFill rotWithShape="1">
                              <a:blip r:embed="rId7" cstate="screen">
                                <a:alphaModFix/>
                                <a:extLst>
                                  <a:ext uri="{28A0092B-C50C-407E-A947-70E740481C1C}">
                                    <a14:useLocalDpi xmlns:a14="http://schemas.microsoft.com/office/drawing/2010/main"/>
                                  </a:ext>
                                </a:extLst>
                              </a:blip>
                              <a:srcRect/>
                              <a:stretch/>
                            </p:blipFill>
                            <p:spPr>
                              <a:xfrm>
                                <a:off x="-698768" y="398392"/>
                                <a:ext cx="539750" cy="53975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>
                                <a:outerShdw blurRad="50800" dist="38100" dir="2700000" algn="tl" rotWithShape="0">
                                  <a:prstClr val="black">
                                    <a:alpha val="40000"/>
                                  </a:prstClr>
                                </a:outerShdw>
                              </a:effectLst>
                            </p:spPr>
                          </p:pic>
                        </p:grpSp>
                      </p:grpSp>
                    </p:grpSp>
                  </p:grpSp>
                </p:grpSp>
              </p:grpSp>
            </p:grpSp>
          </p:grpSp>
        </p:grp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F19A298B-B9B0-F248-8ADD-3C9A97E686DA}"/>
              </a:ext>
            </a:extLst>
          </p:cNvPr>
          <p:cNvPicPr/>
          <p:nvPr/>
        </p:nvPicPr>
        <p:blipFill rotWithShape="1">
          <a:blip r:embed="rId8"/>
          <a:srcRect t="5874" b="4341"/>
          <a:stretch/>
        </p:blipFill>
        <p:spPr bwMode="auto">
          <a:xfrm>
            <a:off x="2896877" y="3899116"/>
            <a:ext cx="5200995" cy="261347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7" name="Google Shape;282;g104476d1465_1_17">
            <a:extLst>
              <a:ext uri="{FF2B5EF4-FFF2-40B4-BE49-F238E27FC236}">
                <a16:creationId xmlns:a16="http://schemas.microsoft.com/office/drawing/2014/main" id="{F3E24F75-97BA-2643-B631-71A6F6198028}"/>
              </a:ext>
            </a:extLst>
          </p:cNvPr>
          <p:cNvSpPr txBox="1"/>
          <p:nvPr/>
        </p:nvSpPr>
        <p:spPr>
          <a:xfrm>
            <a:off x="8867701" y="6441031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17782" y="383336"/>
                <a:ext cx="10482314" cy="4319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𝐵𝐾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=6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𝐾𝑍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=10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𝐵𝑍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342900" indent="-3429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16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782" y="383336"/>
                <a:ext cx="10482314" cy="4319131"/>
              </a:xfrm>
              <a:prstGeom prst="rect">
                <a:avLst/>
              </a:prstGeom>
              <a:blipFill>
                <a:blip r:embed="rId4"/>
                <a:stretch>
                  <a:fillRect t="-1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915E71E-42E5-4A48-A368-F1DE94269B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7429377"/>
                  </p:ext>
                </p:extLst>
              </p:nvPr>
            </p:nvGraphicFramePr>
            <p:xfrm>
              <a:off x="2158939" y="1195714"/>
              <a:ext cx="7200000" cy="216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2889853261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411817298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𝐻𝑍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𝐷𝑍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180808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𝑅𝐻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𝐻𝐾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3770554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𝐻𝑃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𝐵𝑃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158463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915E71E-42E5-4A48-A368-F1DE94269BD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7429377"/>
                  </p:ext>
                </p:extLst>
              </p:nvPr>
            </p:nvGraphicFramePr>
            <p:xfrm>
              <a:off x="2158939" y="1195714"/>
              <a:ext cx="7200000" cy="216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2889853261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411817298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38" t="-1695" r="-100508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38" t="-1695" r="-508" b="-2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80808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38" t="-100840" r="-100508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38" t="-100840" r="-508" b="-101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7705545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38" t="-202542" r="-100508" b="-2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38" t="-202542" r="-508" b="-25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58463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CA151E3C-F7CC-704C-B8C4-B7EBE3BAE872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7FF2A5-57DE-1046-9B5A-3207DEB676D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103054" y="339426"/>
            <a:ext cx="4581674" cy="2318272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507272" y="383338"/>
                <a:ext cx="6595782" cy="3811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𝑀𝑃𝑉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shown, where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the centroid of the triangle.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br>
                  <a:rPr lang="en-PH" sz="2000" i="1" dirty="0">
                    <a:latin typeface="Cambria Math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b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=1.75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each variable. </a:t>
                </a: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72" y="383338"/>
                <a:ext cx="6595782" cy="3811300"/>
              </a:xfrm>
              <a:prstGeom prst="rect">
                <a:avLst/>
              </a:prstGeom>
              <a:blipFill>
                <a:blip r:embed="rId5"/>
                <a:stretch>
                  <a:fillRect l="-1017" t="-1120" b="-20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6A07034F-D87B-2846-994A-CC9D257DD4E9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7A1C8281-A76F-024F-8EC0-5D5A6D3C20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4737371"/>
                  </p:ext>
                </p:extLst>
              </p:nvPr>
            </p:nvGraphicFramePr>
            <p:xfrm>
              <a:off x="1562615" y="3081253"/>
              <a:ext cx="7020000" cy="54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340000">
                      <a:extLst>
                        <a:ext uri="{9D8B030D-6E8A-4147-A177-3AD203B41FA5}">
                          <a16:colId xmlns:a16="http://schemas.microsoft.com/office/drawing/2014/main" val="2799583781"/>
                        </a:ext>
                      </a:extLst>
                    </a:gridCol>
                    <a:gridCol w="23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𝑤</m:t>
                                </m:r>
                                <m:r>
                                  <a:rPr lang="en-US" sz="2000" smtClean="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137496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7A1C8281-A76F-024F-8EC0-5D5A6D3C20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4737371"/>
                  </p:ext>
                </p:extLst>
              </p:nvPr>
            </p:nvGraphicFramePr>
            <p:xfrm>
              <a:off x="1562615" y="3081253"/>
              <a:ext cx="7020000" cy="54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340000">
                      <a:extLst>
                        <a:ext uri="{9D8B030D-6E8A-4147-A177-3AD203B41FA5}">
                          <a16:colId xmlns:a16="http://schemas.microsoft.com/office/drawing/2014/main" val="2799583781"/>
                        </a:ext>
                      </a:extLst>
                    </a:gridCol>
                    <a:gridCol w="234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4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21" t="-2222" r="-20104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521" t="-2222" r="-10104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521" t="-2222" r="-1042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37496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37CCF5C6-D2FA-5646-9087-9878BE744E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2959043"/>
                  </p:ext>
                </p:extLst>
              </p:nvPr>
            </p:nvGraphicFramePr>
            <p:xfrm>
              <a:off x="1565776" y="4418086"/>
              <a:ext cx="7020000" cy="16632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340000">
                      <a:extLst>
                        <a:ext uri="{9D8B030D-6E8A-4147-A177-3AD203B41FA5}">
                          <a16:colId xmlns:a16="http://schemas.microsoft.com/office/drawing/2014/main" val="3349322284"/>
                        </a:ext>
                      </a:extLst>
                    </a:gridCol>
                    <a:gridCol w="2340000">
                      <a:extLst>
                        <a:ext uri="{9D8B030D-6E8A-4147-A177-3AD203B41FA5}">
                          <a16:colId xmlns:a16="http://schemas.microsoft.com/office/drawing/2014/main" val="4165586929"/>
                        </a:ext>
                      </a:extLst>
                    </a:gridCol>
                    <a:gridCol w="2340000">
                      <a:extLst>
                        <a:ext uri="{9D8B030D-6E8A-4147-A177-3AD203B41FA5}">
                          <a16:colId xmlns:a16="http://schemas.microsoft.com/office/drawing/2014/main" val="1243071031"/>
                        </a:ext>
                      </a:extLst>
                    </a:gridCol>
                  </a:tblGrid>
                  <a:tr h="55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𝐻𝑅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𝑅𝑃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𝐻𝑃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27348847"/>
                      </a:ext>
                    </a:extLst>
                  </a:tr>
                  <a:tr h="55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𝑅𝑇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𝑉𝑅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𝑉𝑇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1729197"/>
                      </a:ext>
                    </a:extLst>
                  </a:tr>
                  <a:tr h="55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𝑅𝑊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𝑀𝑅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𝑀𝑊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230300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37CCF5C6-D2FA-5646-9087-9878BE744E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2959043"/>
                  </p:ext>
                </p:extLst>
              </p:nvPr>
            </p:nvGraphicFramePr>
            <p:xfrm>
              <a:off x="1565776" y="4418086"/>
              <a:ext cx="7020000" cy="16632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340000">
                      <a:extLst>
                        <a:ext uri="{9D8B030D-6E8A-4147-A177-3AD203B41FA5}">
                          <a16:colId xmlns:a16="http://schemas.microsoft.com/office/drawing/2014/main" val="3349322284"/>
                        </a:ext>
                      </a:extLst>
                    </a:gridCol>
                    <a:gridCol w="2340000">
                      <a:extLst>
                        <a:ext uri="{9D8B030D-6E8A-4147-A177-3AD203B41FA5}">
                          <a16:colId xmlns:a16="http://schemas.microsoft.com/office/drawing/2014/main" val="4165586929"/>
                        </a:ext>
                      </a:extLst>
                    </a:gridCol>
                    <a:gridCol w="2340000">
                      <a:extLst>
                        <a:ext uri="{9D8B030D-6E8A-4147-A177-3AD203B41FA5}">
                          <a16:colId xmlns:a16="http://schemas.microsoft.com/office/drawing/2014/main" val="1243071031"/>
                        </a:ext>
                      </a:extLst>
                    </a:gridCol>
                  </a:tblGrid>
                  <a:tr h="55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60" t="-1099" r="-201042" b="-204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00" t="-1099" r="-100519" b="-204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0521" t="-1099" r="-781" b="-204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7348847"/>
                      </a:ext>
                    </a:extLst>
                  </a:tr>
                  <a:tr h="55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60" t="-100000" r="-201042" b="-1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00" t="-100000" r="-100519" b="-1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0521" t="-100000" r="-781" b="-10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729197"/>
                      </a:ext>
                    </a:extLst>
                  </a:tr>
                  <a:tr h="55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60" t="-202198" r="-201042" b="-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00" t="-202198" r="-100519" b="-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200521" t="-202198" r="-781" b="-32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30300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7945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CCB04012-EB75-D54D-9FD5-A4B815B03EB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72AF924-6556-9049-B4F0-AD90A834120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751350" y="1155210"/>
            <a:ext cx="4876800" cy="2269615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11.7.4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40565" y="994139"/>
                <a:ext cx="7102181" cy="3681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𝐶𝐺𝐾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shown, where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the centroid  of the triangle.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=4.4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b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57188" indent="-357188">
                  <a:buFont typeface="+mj-lt"/>
                  <a:buAutoNum type="arabicPeriod"/>
                </a:pP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994139"/>
                <a:ext cx="7102181" cy="3681008"/>
              </a:xfrm>
              <a:prstGeom prst="rect">
                <a:avLst/>
              </a:prstGeom>
              <a:blipFill>
                <a:blip r:embed="rId6"/>
                <a:stretch>
                  <a:fillRect l="-944" t="-1159" b="-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9D3AB906-F1EC-954F-B0F5-6FEE8F66FE68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507272" y="377454"/>
                <a:ext cx="11016652" cy="39446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𝐶𝑇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𝑇𝐺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𝐶𝐺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72" y="377454"/>
                <a:ext cx="11016652" cy="3944670"/>
              </a:xfrm>
              <a:prstGeom prst="rect">
                <a:avLst/>
              </a:prstGeom>
              <a:blipFill>
                <a:blip r:embed="rId4"/>
                <a:stretch>
                  <a:fillRect t="-1236" b="-2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AC15173E-1DBE-3244-87E4-84858C58A8A8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33E830A-17C6-784D-8439-060DC77A1E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1982995"/>
                  </p:ext>
                </p:extLst>
              </p:nvPr>
            </p:nvGraphicFramePr>
            <p:xfrm>
              <a:off x="1559779" y="982384"/>
              <a:ext cx="7200000" cy="216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3109270075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81846846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𝑇𝐵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𝐵𝐾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4361196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𝐶𝐵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𝐶𝑁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4705248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𝐵𝐺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𝑃𝐺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170141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733E830A-17C6-784D-8439-060DC77A1E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1982995"/>
                  </p:ext>
                </p:extLst>
              </p:nvPr>
            </p:nvGraphicFramePr>
            <p:xfrm>
              <a:off x="1559779" y="982384"/>
              <a:ext cx="7200000" cy="216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600000">
                      <a:extLst>
                        <a:ext uri="{9D8B030D-6E8A-4147-A177-3AD203B41FA5}">
                          <a16:colId xmlns:a16="http://schemas.microsoft.com/office/drawing/2014/main" val="3109270075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818468463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9" t="-1695" r="-100677" b="-2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69" t="-1695" r="-677" b="-2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361196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9" t="-100840" r="-100677" b="-1016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69" t="-100840" r="-677" b="-1016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4705248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9" t="-202542" r="-100677" b="-25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169" t="-202542" r="-677" b="-25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70141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98271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613D2B-22D2-574D-9622-EEE040151E3A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30437" y="377453"/>
            <a:ext cx="5193487" cy="2331512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-1478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92492" y="377453"/>
                <a:ext cx="6617992" cy="1784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7188" indent="-357188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𝐷𝑀𝑁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shown, where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centroid.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Leonardo is finding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information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His work is shown.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92" y="377453"/>
                <a:ext cx="6617992" cy="1784078"/>
              </a:xfrm>
              <a:prstGeom prst="rect">
                <a:avLst/>
              </a:prstGeom>
              <a:blipFill>
                <a:blip r:embed="rId5"/>
                <a:stretch>
                  <a:fillRect l="-1014" t="-2389" b="-3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54BE9E69-220F-014E-A590-2A581C8D906F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D020AB7-99E1-B44C-B923-3D398A2240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5234044"/>
                  </p:ext>
                </p:extLst>
              </p:nvPr>
            </p:nvGraphicFramePr>
            <p:xfrm>
              <a:off x="1536459" y="3296683"/>
              <a:ext cx="3240000" cy="298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val="483756739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Leonardo’s Work 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3466236"/>
                      </a:ext>
                    </a:extLst>
                  </a:tr>
                  <a:tr h="25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−6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−12=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=13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26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817540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D020AB7-99E1-B44C-B923-3D398A2240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5234044"/>
                  </p:ext>
                </p:extLst>
              </p:nvPr>
            </p:nvGraphicFramePr>
            <p:xfrm>
              <a:off x="1536459" y="3296683"/>
              <a:ext cx="3240000" cy="298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40000">
                      <a:extLst>
                        <a:ext uri="{9D8B030D-6E8A-4147-A177-3AD203B41FA5}">
                          <a16:colId xmlns:a16="http://schemas.microsoft.com/office/drawing/2014/main" val="483756739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Leonardo’s Work 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3466236"/>
                      </a:ext>
                    </a:extLst>
                  </a:tr>
                  <a:tr h="25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76" t="-18841" r="-564" b="-9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8175402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866268" y="3214618"/>
                <a:ext cx="703458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note to Leonardo explaining his mistake.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268" y="3214618"/>
                <a:ext cx="7034580" cy="1631216"/>
              </a:xfrm>
              <a:prstGeom prst="rect">
                <a:avLst/>
              </a:prstGeom>
              <a:blipFill>
                <a:blip r:embed="rId7"/>
                <a:stretch>
                  <a:fillRect l="-953" t="-2239"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5585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18E6A173-F15F-3140-AC2F-7139CE5F26CF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11.7.5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6994" y="218242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1386026"/>
            <a:ext cx="8327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short note summarizing today’s lesson to a friend who missed class.</a:t>
            </a:r>
            <a:endParaRPr lang="en-US" sz="16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pplication&#10;&#10;Description automatically generated with low confidence">
            <a:extLst>
              <a:ext uri="{FF2B5EF4-FFF2-40B4-BE49-F238E27FC236}">
                <a16:creationId xmlns:a16="http://schemas.microsoft.com/office/drawing/2014/main" id="{D4806A15-6195-D842-B207-B53A9446C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294" y="2385186"/>
            <a:ext cx="9470016" cy="4172521"/>
          </a:xfrm>
          <a:prstGeom prst="rect">
            <a:avLst/>
          </a:prstGeom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9B029AF-B1EA-534C-8EFD-3F5ED7905BE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</TotalTime>
  <Words>1258</Words>
  <Application>Microsoft Office PowerPoint</Application>
  <PresentationFormat>Widescreen</PresentationFormat>
  <Paragraphs>228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Century Gothic</vt:lpstr>
      <vt:lpstr>Cambria</vt:lpstr>
      <vt:lpstr>Wingdings</vt:lpstr>
      <vt:lpstr>Verdana</vt:lpstr>
      <vt:lpstr>Arial Black</vt:lpstr>
      <vt:lpstr>Calibri</vt:lpstr>
      <vt:lpstr>Arial</vt:lpstr>
      <vt:lpstr>Cambria Math</vt:lpstr>
      <vt:lpstr>1_Office Theme</vt:lpstr>
      <vt:lpstr>Geometry  Unit 11, Lesson 7  Centroid of a Triangle  Volume 2, pg. 213  </vt:lpstr>
      <vt:lpstr>Benchmarks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25</cp:revision>
  <dcterms:created xsi:type="dcterms:W3CDTF">2015-03-17T18:51:18Z</dcterms:created>
  <dcterms:modified xsi:type="dcterms:W3CDTF">2023-03-02T20:29:44Z</dcterms:modified>
</cp:coreProperties>
</file>