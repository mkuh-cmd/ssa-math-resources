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13" r:id="rId11"/>
    <p:sldId id="326" r:id="rId12"/>
    <p:sldId id="323" r:id="rId13"/>
    <p:sldId id="324" r:id="rId14"/>
    <p:sldId id="325" r:id="rId15"/>
    <p:sldId id="327" r:id="rId16"/>
    <p:sldId id="302" r:id="rId17"/>
    <p:sldId id="303" r:id="rId18"/>
    <p:sldId id="309" r:id="rId19"/>
    <p:sldId id="306" r:id="rId20"/>
    <p:sldId id="307" r:id="rId21"/>
    <p:sldId id="328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entury Gothic" panose="020B0502020202020204" pitchFamily="34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7"/>
    <p:restoredTop sz="94502"/>
  </p:normalViewPr>
  <p:slideViewPr>
    <p:cSldViewPr snapToGrid="0">
      <p:cViewPr varScale="1">
        <p:scale>
          <a:sx n="78" d="100"/>
          <a:sy n="78" d="100"/>
        </p:scale>
        <p:origin x="98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03628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4959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6748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7738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it.wikivoyage.org/wiki/Machu_Picch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4</a:t>
            </a:r>
            <a:b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Quadrilaterals Inscribed in Circles</a:t>
            </a:r>
            <a:b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197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22538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MA.912.GR.6.3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problems involving triangles and quadrilaterals inscribed in a circle.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86529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495A3B7-050C-AD46-AE7D-6451D50B38FD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1709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mathematical problems involving quadrilaterals inscribed in a circle.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C99A961-1E85-DE45-B7E0-9FFAC443A69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2A406B5-988A-0D44-A76D-32E902AD19BC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11.4.1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7179152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Machu Picchu is an Inca citadel in southern Peru. Machu Picchu was built in the classical Inca style with polished dry-stone walls and consists of more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buildings. Although many of the stones that were used to build the city were more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pounds, it is believed that no wheels were used to transport these rocks up the mountain.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wonder?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7179152" cy="3477875"/>
              </a:xfrm>
              <a:prstGeom prst="rect">
                <a:avLst/>
              </a:prstGeom>
              <a:blipFill>
                <a:blip r:embed="rId5"/>
                <a:stretch>
                  <a:fillRect l="-934" t="-876" r="-170" b="-2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DEC362C2-621A-CB4D-A804-83751A2BCCD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 descr="Machu Picchu - Wikivoyage, guida turistica di viaggio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8001923" y="1386025"/>
            <a:ext cx="3798954" cy="36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980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2BFD2BB-1462-DB41-8957-B75EEDFBB6AE}"/>
              </a:ext>
            </a:extLst>
          </p:cNvPr>
          <p:cNvSpPr txBox="1"/>
          <p:nvPr/>
        </p:nvSpPr>
        <p:spPr>
          <a:xfrm>
            <a:off x="885157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07283"/>
            <a:ext cx="101413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11.4.2 Exploration: Quadrilaterals Inscribed in Circles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465232" y="1694038"/>
                <a:ext cx="10728794" cy="806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𝐷𝑉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𝑅𝑉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=100°</m:t>
                    </m:r>
                  </m:oMath>
                </a14:m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𝐷𝑉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=68°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𝐻𝐷𝑉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=136°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𝐻𝑅𝑉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=224°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1694038"/>
                <a:ext cx="10728794" cy="806118"/>
              </a:xfrm>
              <a:prstGeom prst="rect">
                <a:avLst/>
              </a:prstGeom>
              <a:blipFill>
                <a:blip r:embed="rId5"/>
                <a:stretch>
                  <a:fillRect l="-625" t="-12879" b="-12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5598BA3-4FD0-2D4A-BABE-75C3731B4C70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480664" y="2699437"/>
            <a:ext cx="4089678" cy="3758239"/>
          </a:xfrm>
          <a:prstGeom prst="rect">
            <a:avLst/>
          </a:prstGeom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ED1937B0-55ED-B446-BF61-FCAC55871CB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359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28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1924" y="520393"/>
                <a:ext cx="1106536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  <a:tabLst>
                    <a:tab pos="342900" algn="l"/>
                    <a:tab pos="4572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make a conjecture about the relationships of the angles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𝐷𝐻𝑅𝑉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24" y="520393"/>
                <a:ext cx="11065362" cy="4093428"/>
              </a:xfrm>
              <a:prstGeom prst="rect">
                <a:avLst/>
              </a:prstGeom>
              <a:blipFill>
                <a:blip r:embed="rId4"/>
                <a:stretch>
                  <a:fillRect t="-893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A226565-B8A9-D141-8E40-055EF61824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8182733"/>
                  </p:ext>
                </p:extLst>
              </p:nvPr>
            </p:nvGraphicFramePr>
            <p:xfrm>
              <a:off x="1575174" y="1106150"/>
              <a:ext cx="6800850" cy="238707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1591500589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3289606934"/>
                        </a:ext>
                      </a:extLst>
                    </a:gridCol>
                  </a:tblGrid>
                  <a:tr h="5967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7866856"/>
                      </a:ext>
                    </a:extLst>
                  </a:tr>
                  <a:tr h="5967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𝑅𝐻𝑉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𝐻𝐷𝑉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8602516"/>
                      </a:ext>
                    </a:extLst>
                  </a:tr>
                  <a:tr h="5967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𝐷𝐻𝑉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𝐷𝑉𝐻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01067211"/>
                      </a:ext>
                    </a:extLst>
                  </a:tr>
                  <a:tr h="5967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𝐻𝑅𝑉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𝐻𝑉𝑅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67806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A226565-B8A9-D141-8E40-055EF61824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8182733"/>
                  </p:ext>
                </p:extLst>
              </p:nvPr>
            </p:nvGraphicFramePr>
            <p:xfrm>
              <a:off x="1575174" y="1106150"/>
              <a:ext cx="6800850" cy="238707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1591500589"/>
                        </a:ext>
                      </a:extLst>
                    </a:gridCol>
                    <a:gridCol w="3383280">
                      <a:extLst>
                        <a:ext uri="{9D8B030D-6E8A-4147-A177-3AD203B41FA5}">
                          <a16:colId xmlns:a16="http://schemas.microsoft.com/office/drawing/2014/main" val="3289606934"/>
                        </a:ext>
                      </a:extLst>
                    </a:gridCol>
                  </a:tblGrid>
                  <a:tr h="59676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7866856"/>
                      </a:ext>
                    </a:extLst>
                  </a:tr>
                  <a:tr h="5967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7" t="-101010" r="-99643" b="-2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259" t="-101010" r="-540" b="-201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02516"/>
                      </a:ext>
                    </a:extLst>
                  </a:tr>
                  <a:tr h="5967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7" t="-203061" r="-99643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259" t="-203061" r="-540" b="-1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1067211"/>
                      </a:ext>
                    </a:extLst>
                  </a:tr>
                  <a:tr h="5967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7" t="-303061" r="-99643" b="-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259" t="-303061" r="-540" b="-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67806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7A93671-8CD5-9741-AA09-3CDC8B3A86E3}"/>
              </a:ext>
            </a:extLst>
          </p:cNvPr>
          <p:cNvSpPr txBox="1"/>
          <p:nvPr/>
        </p:nvSpPr>
        <p:spPr>
          <a:xfrm>
            <a:off x="886906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272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2836" y="374089"/>
            <a:ext cx="10981087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classmates for their conjectures. Record their conjectures and write your summary of their reason.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correct.</a:t>
            </a:r>
          </a:p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spcAft>
                <a:spcPts val="1000"/>
              </a:spcAft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Review your conjecture with your partner. If necessary, make any changes.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E7A236-188A-7F49-8033-C71D93E02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002760"/>
              </p:ext>
            </p:extLst>
          </p:nvPr>
        </p:nvGraphicFramePr>
        <p:xfrm>
          <a:off x="1549774" y="1885585"/>
          <a:ext cx="6858000" cy="307848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90298624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05253422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4913326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Conjecture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Reason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T="91440" marB="9144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18539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290228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65207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BCF6AA8-797C-EF4F-80F8-3D217A779C48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5DD23B-8CA4-BC46-9AF8-84AA1672651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06179" y="235894"/>
            <a:ext cx="3945255" cy="3846195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6" y="374090"/>
                <a:ext cx="8213195" cy="3219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circle. Quadrilateral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𝐻𝐴𝑆𝑊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inscribed in the circle.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𝐻𝐴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=59°</m:t>
                    </m:r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𝐻𝑊𝑆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=166°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𝑊𝐻𝐴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=136°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conjecture to find the measures.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4090"/>
                <a:ext cx="8213195" cy="3219984"/>
              </a:xfrm>
              <a:prstGeom prst="rect">
                <a:avLst/>
              </a:prstGeom>
              <a:blipFill>
                <a:blip r:embed="rId5"/>
                <a:stretch>
                  <a:fillRect l="-817" t="-1134" b="-2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89278F2-AED4-4145-91E8-143DC7E9D9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8282858"/>
                  </p:ext>
                </p:extLst>
              </p:nvPr>
            </p:nvGraphicFramePr>
            <p:xfrm>
              <a:off x="1009257" y="4381935"/>
              <a:ext cx="6035040" cy="2286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468880">
                      <a:extLst>
                        <a:ext uri="{9D8B030D-6E8A-4147-A177-3AD203B41FA5}">
                          <a16:colId xmlns:a16="http://schemas.microsoft.com/office/drawing/2014/main" val="554324084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246021486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Arc Measures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098283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𝑊𝐻𝐴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𝑚</m:t>
                              </m:r>
                              <m:groupChr>
                                <m:groupChrPr>
                                  <m:chr m:val="⏜"/>
                                  <m:pos m:val="top"/>
                                  <m:vertJc m:val="bot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𝑆𝐴</m:t>
                                  </m:r>
                                </m:e>
                              </m:groupCh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4170624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𝐻𝐴𝑆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groupChr>
                                  <m:groupChrPr>
                                    <m:chr m:val="⏜"/>
                                    <m:pos m:val="top"/>
                                    <m:vertJc m:val="bot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𝑆𝑊</m:t>
                                    </m:r>
                                  </m:e>
                                </m:groupCh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 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77387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𝐴𝑆𝑊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groupChr>
                                  <m:groupChrPr>
                                    <m:chr m:val="⏜"/>
                                    <m:pos m:val="top"/>
                                    <m:vertJc m:val="bot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𝐻𝑊</m:t>
                                    </m:r>
                                  </m:e>
                                </m:groupCh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587824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𝑆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WH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356675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689278F2-AED4-4145-91E8-143DC7E9D9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8282858"/>
                  </p:ext>
                </p:extLst>
              </p:nvPr>
            </p:nvGraphicFramePr>
            <p:xfrm>
              <a:off x="1009257" y="4381935"/>
              <a:ext cx="6035040" cy="2286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468880">
                      <a:extLst>
                        <a:ext uri="{9D8B030D-6E8A-4147-A177-3AD203B41FA5}">
                          <a16:colId xmlns:a16="http://schemas.microsoft.com/office/drawing/2014/main" val="554324084"/>
                        </a:ext>
                      </a:extLst>
                    </a:gridCol>
                    <a:gridCol w="3566160">
                      <a:extLst>
                        <a:ext uri="{9D8B030D-6E8A-4147-A177-3AD203B41FA5}">
                          <a16:colId xmlns:a16="http://schemas.microsoft.com/office/drawing/2014/main" val="246021486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Arc Measures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098283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00000" r="-144691" b="-3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69113" t="-100000" b="-30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170624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97368" r="-144691" b="-197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69113" t="-197368" b="-1973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7387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301333" r="-14469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69113" t="-301333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87824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401333" r="-1446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356675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6B20B14-4536-3F48-9689-ABEE24EF773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04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825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BC78C4A-8B81-2D45-9AAA-3E774253EDD1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14888"/>
            <a:ext cx="104712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11.4.3 Guided Practice: Quadrilaterals Inscribed in Circles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730609" y="2037107"/>
            <a:ext cx="8327136" cy="2266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statement.</a:t>
            </a:r>
          </a:p>
          <a:p>
            <a:pPr marL="457200">
              <a:lnSpc>
                <a:spcPct val="300000"/>
              </a:lnSpc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a quadrilateral is inscribed in a circle,		               angles are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4F5C6F3C-EEEA-934B-8154-4D6BF06EA097}"/>
              </a:ext>
            </a:extLst>
          </p:cNvPr>
          <p:cNvSpPr/>
          <p:nvPr/>
        </p:nvSpPr>
        <p:spPr>
          <a:xfrm>
            <a:off x="7009609" y="2597629"/>
            <a:ext cx="1828800" cy="907656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ClrTx/>
              <a:buFont typeface="Courier New" panose="02070309020205020404" pitchFamily="49" charset="0"/>
              <a:buChar char="o"/>
              <a:defRPr/>
            </a:pPr>
            <a:r>
              <a:rPr lang="en-US" sz="22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adjacent</a:t>
            </a:r>
          </a:p>
          <a:p>
            <a:pPr marL="342900" indent="-342900">
              <a:spcAft>
                <a:spcPts val="1000"/>
              </a:spcAft>
              <a:buClrTx/>
              <a:buFont typeface="Courier New" panose="02070309020205020404" pitchFamily="49" charset="0"/>
              <a:buChar char="o"/>
              <a:defRPr/>
            </a:pPr>
            <a:r>
              <a:rPr lang="en-US" sz="22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opposite</a:t>
            </a:r>
          </a:p>
        </p:txBody>
      </p:sp>
      <p:sp>
        <p:nvSpPr>
          <p:cNvPr id="14" name="Rectangle: Rounded Corners 14">
            <a:extLst>
              <a:ext uri="{FF2B5EF4-FFF2-40B4-BE49-F238E27FC236}">
                <a16:creationId xmlns:a16="http://schemas.microsoft.com/office/drawing/2014/main" id="{2DB21369-EA94-4D4F-83EF-44867DDDB5E8}"/>
              </a:ext>
            </a:extLst>
          </p:cNvPr>
          <p:cNvSpPr/>
          <p:nvPr/>
        </p:nvSpPr>
        <p:spPr>
          <a:xfrm>
            <a:off x="2890990" y="3489698"/>
            <a:ext cx="2926080" cy="1193793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ClrTx/>
              <a:buFont typeface="Courier New" panose="02070309020205020404" pitchFamily="49" charset="0"/>
              <a:buChar char="o"/>
              <a:defRPr/>
            </a:pPr>
            <a:r>
              <a:rPr lang="en-US" sz="22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congruent.</a:t>
            </a:r>
          </a:p>
          <a:p>
            <a:pPr marL="342900" indent="-342900">
              <a:buClrTx/>
              <a:buFont typeface="Courier New" panose="02070309020205020404" pitchFamily="49" charset="0"/>
              <a:buChar char="o"/>
              <a:defRPr/>
            </a:pPr>
            <a:r>
              <a:rPr lang="en-US" sz="22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complementary.</a:t>
            </a:r>
          </a:p>
          <a:p>
            <a:pPr marL="342900" indent="-342900">
              <a:spcAft>
                <a:spcPts val="1000"/>
              </a:spcAft>
              <a:buClrTx/>
              <a:buFont typeface="Courier New" panose="02070309020205020404" pitchFamily="49" charset="0"/>
              <a:buChar char="o"/>
              <a:defRPr/>
            </a:pPr>
            <a:r>
              <a:rPr lang="en-US" sz="2200" dirty="0">
                <a:solidFill>
                  <a:sysClr val="windowText" lastClr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supplementary.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453D3DF1-2D11-AD46-9010-3E0C590D7D4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3" y="394507"/>
                <a:ext cx="5271819" cy="3503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𝐺𝑇𝐵𝐾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inscribed in </a:t>
                </a:r>
                <a:b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the circle.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𝑇𝐵𝐾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=206°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:b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𝐺𝐾𝐵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=84°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𝑇𝐵𝐾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𝐺𝑇𝐵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3" y="394507"/>
                <a:ext cx="5271819" cy="3503523"/>
              </a:xfrm>
              <a:prstGeom prst="rect">
                <a:avLst/>
              </a:prstGeom>
              <a:blipFill>
                <a:blip r:embed="rId3"/>
                <a:stretch>
                  <a:fillRect l="-1272" t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22A493-3782-A84A-B71E-EE90900E679E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0820" y="428772"/>
            <a:ext cx="3807460" cy="3489325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6945903-BCB7-9240-961F-0B74EC0F8B0D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3" y="386282"/>
                <a:ext cx="7410406" cy="3067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𝑉𝑀𝐸𝐻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 inscribed in the circle.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𝐻𝐸𝑀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−7)°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𝐸𝐻𝑉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PH" sz="2000" i="1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)°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, and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𝐻𝑉𝑀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+4)°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3" y="386282"/>
                <a:ext cx="7410406" cy="3067506"/>
              </a:xfrm>
              <a:prstGeom prst="rect">
                <a:avLst/>
              </a:prstGeom>
              <a:blipFill>
                <a:blip r:embed="rId4"/>
                <a:stretch>
                  <a:fillRect l="-905" t="-119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F7773F4-D7E8-CC47-AB91-06000F0EBED6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14522" y="214676"/>
            <a:ext cx="3313628" cy="35498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E66F01F-F03F-3F45-B71F-3715D2777C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271462"/>
                  </p:ext>
                </p:extLst>
              </p:nvPr>
            </p:nvGraphicFramePr>
            <p:xfrm>
              <a:off x="1497764" y="3955240"/>
              <a:ext cx="5737906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37906">
                      <a:extLst>
                        <a:ext uri="{9D8B030D-6E8A-4147-A177-3AD203B41FA5}">
                          <a16:colId xmlns:a16="http://schemas.microsoft.com/office/drawing/2014/main" val="121281004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𝐻𝑉𝑀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828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4754649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𝐻𝐸𝑀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828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420981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𝐸𝐻𝑉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828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7305537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𝐸𝑀𝑉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828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1200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E66F01F-F03F-3F45-B71F-3715D2777C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271462"/>
                  </p:ext>
                </p:extLst>
              </p:nvPr>
            </p:nvGraphicFramePr>
            <p:xfrm>
              <a:off x="1497764" y="3955240"/>
              <a:ext cx="5737906" cy="21945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737906">
                      <a:extLst>
                        <a:ext uri="{9D8B030D-6E8A-4147-A177-3AD203B41FA5}">
                          <a16:colId xmlns:a16="http://schemas.microsoft.com/office/drawing/2014/main" val="121281004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6" t="-1111" r="-425" b="-3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754649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6" t="-100000" r="-425" b="-2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209810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6" t="-202222" r="-425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305537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6" t="-302222" r="-42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12001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F235F8D-4140-654E-8ED7-9778D55AF56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1755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643CF92-9A9B-8143-B0AA-85C86CB40A0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7F9070-D5DB-E949-BE30-5196162DC8B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9072" y="1141097"/>
            <a:ext cx="3974814" cy="3505763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11.4.4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40565" y="1141097"/>
                <a:ext cx="7202338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𝑁𝐹𝐶𝑍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inscribed in the circle.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𝑁𝐹𝐶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=(6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+32)°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𝐹𝐶𝑍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=(6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𝑁𝑍𝐶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=73°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𝐹𝑁𝑍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=(3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𝑁𝐹𝐶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𝐹𝐶𝑍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1141097"/>
                <a:ext cx="7202338" cy="4401205"/>
              </a:xfrm>
              <a:prstGeom prst="rect">
                <a:avLst/>
              </a:prstGeom>
              <a:blipFill>
                <a:blip r:embed="rId6"/>
                <a:stretch>
                  <a:fillRect l="-931" t="-970" b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446D2DDE-BA0B-CD40-B431-96BA2ACC9A8A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6D08AE-7E3E-5C40-BA20-936608BCB98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583593" y="176759"/>
            <a:ext cx="3842775" cy="3749668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398474"/>
                <a:ext cx="7118361" cy="3270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Ci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𝑇𝑃𝐵𝑀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inscribed in the circle.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𝑇𝑀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=71°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groupChr>
                      <m:groupChrPr>
                        <m:chr m:val="⏜"/>
                        <m:pos m:val="top"/>
                        <m:vertJc m:val="bot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𝑀𝐵</m:t>
                        </m:r>
                      </m:e>
                    </m:groupCh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=61°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𝑇𝑀𝐵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=(12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𝑇𝑀𝐵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lvl="0"/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8474"/>
                <a:ext cx="7118361" cy="3270254"/>
              </a:xfrm>
              <a:prstGeom prst="rect">
                <a:avLst/>
              </a:prstGeom>
              <a:blipFill>
                <a:blip r:embed="rId5"/>
                <a:stretch>
                  <a:fillRect l="-942" t="-1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568B7A6-3E0C-5247-8736-4761B7FBD0D8}"/>
              </a:ext>
            </a:extLst>
          </p:cNvPr>
          <p:cNvSpPr txBox="1"/>
          <p:nvPr/>
        </p:nvSpPr>
        <p:spPr>
          <a:xfrm>
            <a:off x="87923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25A9BA1-7D54-4046-A547-38EE4F91BC1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675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322610"/>
            <a:ext cx="8019300" cy="51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11.4.5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207183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203146"/>
                <a:ext cx="7748056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𝑆𝑌𝑉𝐴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inscribed in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𝐴𝑆𝑌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=(3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+23)°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𝐴𝑉𝑌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=(6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+13)°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Anastasia is finding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Her work is shown.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203146"/>
                <a:ext cx="7748056" cy="2554545"/>
              </a:xfrm>
              <a:prstGeom prst="rect">
                <a:avLst/>
              </a:prstGeom>
              <a:blipFill>
                <a:blip r:embed="rId5"/>
                <a:stretch>
                  <a:fillRect l="-787" t="-1193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E652A3D-84F0-524B-970B-1F74635C2CF5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628"/>
          <a:stretch/>
        </p:blipFill>
        <p:spPr bwMode="auto">
          <a:xfrm>
            <a:off x="8341304" y="1203146"/>
            <a:ext cx="3182620" cy="3312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83D3AB6-611C-3741-8325-55D7B51BCC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143541"/>
                  </p:ext>
                </p:extLst>
              </p:nvPr>
            </p:nvGraphicFramePr>
            <p:xfrm>
              <a:off x="1134800" y="4426480"/>
              <a:ext cx="4572000" cy="185280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72000">
                      <a:extLst>
                        <a:ext uri="{9D8B030D-6E8A-4147-A177-3AD203B41FA5}">
                          <a16:colId xmlns:a16="http://schemas.microsoft.com/office/drawing/2014/main" val="35077511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Anastasia’s Work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06935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+23=6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32240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83D3AB6-611C-3741-8325-55D7B51BCC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143541"/>
                  </p:ext>
                </p:extLst>
              </p:nvPr>
            </p:nvGraphicFramePr>
            <p:xfrm>
              <a:off x="1134800" y="4426480"/>
              <a:ext cx="4572000" cy="185280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572000">
                      <a:extLst>
                        <a:ext uri="{9D8B030D-6E8A-4147-A177-3AD203B41FA5}">
                          <a16:colId xmlns:a16="http://schemas.microsoft.com/office/drawing/2014/main" val="350775117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Anastasia’s Work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0693587"/>
                      </a:ext>
                    </a:extLst>
                  </a:tr>
                  <a:tr h="13651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66" t="-36444" r="-399" b="-1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32240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21CC3F7E-B61F-0642-BB10-8EC4037E7B7A}"/>
              </a:ext>
            </a:extLst>
          </p:cNvPr>
          <p:cNvSpPr txBox="1"/>
          <p:nvPr/>
        </p:nvSpPr>
        <p:spPr>
          <a:xfrm>
            <a:off x="8889924" y="646382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398473"/>
                <a:ext cx="832713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note to Anastasia explaining her mistake.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8473"/>
                <a:ext cx="8327136" cy="4154984"/>
              </a:xfrm>
              <a:prstGeom prst="rect">
                <a:avLst/>
              </a:prstGeom>
              <a:blipFill>
                <a:blip r:embed="rId3"/>
                <a:stretch>
                  <a:fillRect t="-1173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973E2E4-FD19-4944-83D8-A068CB2AA21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79888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946</Words>
  <Application>Microsoft Office PowerPoint</Application>
  <PresentationFormat>Widescreen</PresentationFormat>
  <Paragraphs>189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Century Gothic</vt:lpstr>
      <vt:lpstr>Wingdings</vt:lpstr>
      <vt:lpstr>Verdana</vt:lpstr>
      <vt:lpstr>Courier New</vt:lpstr>
      <vt:lpstr>Arial Black</vt:lpstr>
      <vt:lpstr>Calibri</vt:lpstr>
      <vt:lpstr>Arial</vt:lpstr>
      <vt:lpstr>Cambria Math</vt:lpstr>
      <vt:lpstr>1_Office Theme</vt:lpstr>
      <vt:lpstr>Geometry  Unit 11, Lesson 4  Solving Problems Involving Quadrilaterals Inscribed in Circles  Volume 2, pg. 197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33</cp:revision>
  <dcterms:created xsi:type="dcterms:W3CDTF">2015-03-17T18:51:18Z</dcterms:created>
  <dcterms:modified xsi:type="dcterms:W3CDTF">2023-03-02T19:53:27Z</dcterms:modified>
</cp:coreProperties>
</file>