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13" r:id="rId10"/>
    <p:sldId id="332" r:id="rId11"/>
    <p:sldId id="323" r:id="rId12"/>
    <p:sldId id="324" r:id="rId13"/>
    <p:sldId id="333" r:id="rId14"/>
    <p:sldId id="325" r:id="rId15"/>
    <p:sldId id="302" r:id="rId16"/>
    <p:sldId id="303" r:id="rId17"/>
    <p:sldId id="309" r:id="rId18"/>
    <p:sldId id="334" r:id="rId19"/>
    <p:sldId id="306" r:id="rId20"/>
    <p:sldId id="307" r:id="rId21"/>
  </p:sldIdLst>
  <p:sldSz cx="12192000" cy="6858000"/>
  <p:notesSz cx="6858000" cy="9144000"/>
  <p:embeddedFontLst>
    <p:embeddedFont>
      <p:font typeface="Arial Black" panose="020B0A04020102020204" pitchFamily="34" charset="0"/>
      <p:regular r:id="rId23"/>
      <p:bold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mbria" panose="02040503050406030204" pitchFamily="18" charset="0"/>
      <p:regular r:id="rId29"/>
      <p:bold r:id="rId30"/>
      <p:italic r:id="rId31"/>
      <p:boldItalic r:id="rId32"/>
    </p:embeddedFont>
    <p:embeddedFont>
      <p:font typeface="Cambria Math" panose="02040503050406030204" pitchFamily="18" charset="0"/>
      <p:regular r:id="rId33"/>
    </p:embeddedFont>
    <p:embeddedFont>
      <p:font typeface="Century Gothic" panose="020B0502020202020204" pitchFamily="34" charset="0"/>
      <p:regular r:id="rId34"/>
      <p:bold r:id="rId35"/>
      <p:italic r:id="rId36"/>
      <p:boldItalic r:id="rId37"/>
    </p:embeddedFont>
    <p:embeddedFont>
      <p:font typeface="Verdana" panose="020B0604030504040204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99C8"/>
    <a:srgbClr val="1F3165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98"/>
    <p:restoredTop sz="94694"/>
  </p:normalViewPr>
  <p:slideViewPr>
    <p:cSldViewPr snapToGrid="0">
      <p:cViewPr varScale="1">
        <p:scale>
          <a:sx n="83" d="100"/>
          <a:sy n="83" d="100"/>
        </p:scale>
        <p:origin x="54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12144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13199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46251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7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0.png"/><Relationship Id="rId5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26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3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49901" y="2054277"/>
            <a:ext cx="516890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11, Lesson 3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Problems Involving Triangles Inscribed in Circles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191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28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70701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AB08A17F-C082-CD48-B100-6B09C860CC1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998" y="1635239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4475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8425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2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MA.912.GR.6.3</a:t>
            </a:r>
          </a:p>
          <a:p>
            <a:pPr indent="0">
              <a:buNone/>
            </a:pPr>
            <a:r>
              <a:rPr lang="en-US" sz="32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Solve mathematical problems involving triangles and quadrilaterals inscribed in a circle. </a:t>
            </a:r>
            <a:endParaRPr lang="en-US" sz="20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199" y="137892"/>
            <a:ext cx="956738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604615"/>
            <a:ext cx="104221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44633844-F72A-4F4E-931B-D5ED6E841AF1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565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4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110667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solve mathematical problems involving triangles inscribed in a circle. 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F27BD570-C637-C349-9ABE-F139F03657E3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0270D2B-CC49-EF49-B253-62FA3ADB0DEB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11.3.1 Warm-Up: Patterns 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40565" y="4148925"/>
            <a:ext cx="832713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What is the first question that comes to your mind?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2. Describe the pattern used in the image. 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72525F-1BFD-DF4A-9FCA-D6FF2A510F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3929" y="1038344"/>
            <a:ext cx="3972661" cy="2916199"/>
          </a:xfrm>
          <a:prstGeom prst="rect">
            <a:avLst/>
          </a:prstGeom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BEDBF53D-18CD-7749-8348-48BDCD5AA63C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DD192571-8784-364E-B215-FF48703A0EE5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35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60200"/>
            <a:ext cx="1071656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11.3.2 Exploration: Triangles Inscribed in Circles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308325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2D1D4D-DCB8-A246-B186-D40316579D77}"/>
              </a:ext>
            </a:extLst>
          </p:cNvPr>
          <p:cNvSpPr txBox="1"/>
          <p:nvPr/>
        </p:nvSpPr>
        <p:spPr>
          <a:xfrm>
            <a:off x="593248" y="1385900"/>
            <a:ext cx="109306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complete the following.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Elijah is constructing a triangle inscribed in Circle B and stopped after he created six points on Circle B that are the same distance from each other.  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09A981-3C3C-FF42-8101-B6C8DB3C5E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0717" y="3032442"/>
            <a:ext cx="3877145" cy="3825433"/>
          </a:xfrm>
          <a:prstGeom prst="rect">
            <a:avLst/>
          </a:prstGeom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B8CF1181-5E7C-5949-B0D6-B4BDC509D6FE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663114" y="2884010"/>
                <a:ext cx="8327136" cy="36452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1. Using a straightedge, draw a line from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indent="-457200">
                  <a:lnSpc>
                    <a:spcPct val="115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indent="-457200">
                  <a:lnSpc>
                    <a:spcPct val="115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>
                  <a:lnSpc>
                    <a:spcPct val="115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2. Using a straightedge, draw a line from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indent="-457200">
                  <a:lnSpc>
                    <a:spcPct val="115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indent="-457200">
                  <a:lnSpc>
                    <a:spcPct val="115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>
                  <a:lnSpc>
                    <a:spcPct val="115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3. In relation to the circle, what type of angle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𝐴𝐻𝑊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indent="-457200">
                  <a:lnSpc>
                    <a:spcPct val="115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</a:t>
                </a:r>
              </a:p>
              <a:p>
                <a:pPr indent="-457200">
                  <a:lnSpc>
                    <a:spcPct val="115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>
                  <a:lnSpc>
                    <a:spcPct val="115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4. Explain the relationship between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𝐴𝐻𝑊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𝑊𝐴</m:t>
                        </m:r>
                      </m:e>
                    </m:groupCh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114" y="2884010"/>
                <a:ext cx="8327136" cy="3645229"/>
              </a:xfrm>
              <a:prstGeom prst="rect">
                <a:avLst/>
              </a:prstGeom>
              <a:blipFill>
                <a:blip r:embed="rId4"/>
                <a:stretch>
                  <a:fillRect l="-805" t="-502" b="-20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57E69E2E-EE55-5A41-AAEA-A0EC745C4C8C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13FC0A-18AA-4263-960F-0405837621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6582" y="98772"/>
            <a:ext cx="2664436" cy="262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5" y="2685241"/>
                <a:ext cx="8327136" cy="39991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5. Using a straightedge, draw a line from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indent="-457200">
                  <a:lnSpc>
                    <a:spcPct val="115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indent="-457200">
                  <a:lnSpc>
                    <a:spcPct val="115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>
                  <a:lnSpc>
                    <a:spcPct val="115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6. Use a ruler or patty paper to verify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𝐴𝐻𝑊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an equilateral triangle. </a:t>
                </a:r>
              </a:p>
              <a:p>
                <a:pPr indent="-457200">
                  <a:lnSpc>
                    <a:spcPct val="115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indent="-457200">
                  <a:lnSpc>
                    <a:spcPct val="115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>
                  <a:lnSpc>
                    <a:spcPct val="115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7. What is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𝐴𝐻𝑊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indent="-457200">
                  <a:lnSpc>
                    <a:spcPct val="115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indent="-457200">
                  <a:lnSpc>
                    <a:spcPct val="115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>
                  <a:lnSpc>
                    <a:spcPct val="115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8. What is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𝑊𝐴</m:t>
                        </m:r>
                      </m:e>
                    </m:groupCh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2685241"/>
                <a:ext cx="8327136" cy="3999172"/>
              </a:xfrm>
              <a:prstGeom prst="rect">
                <a:avLst/>
              </a:prstGeom>
              <a:blipFill>
                <a:blip r:embed="rId4"/>
                <a:stretch>
                  <a:fillRect l="-805" t="-457" b="-1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DB22875E-F202-0A4D-81EF-B8B989058E10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72BD06-1A62-4352-B091-F260BFA7EA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6582" y="89345"/>
            <a:ext cx="2664436" cy="262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446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2825"/>
            <a:ext cx="2731200" cy="68707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3E8E8BB1-F843-6348-9B9F-8B8D429FE18A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BA3DEC-A13A-CC42-921C-680B798A4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260" y="1535679"/>
            <a:ext cx="3172345" cy="2926507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-125699"/>
            <a:ext cx="1083650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11.3.3 Guided Practice: Triangles Inscribed in Circles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12881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628933" y="1214301"/>
                <a:ext cx="9989905" cy="5271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shown.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on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create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𝑃𝐶𝐺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𝑃𝐺</m:t>
                        </m:r>
                      </m:e>
                    </m:groupCh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=162°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𝐶𝑃𝐺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=58°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𝑃𝐶𝐺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=(7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−17)°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0375"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a. What is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𝑃𝐶𝐺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 </a:t>
                </a:r>
              </a:p>
              <a:p>
                <a:pPr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865188" indent="-404813"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b. Find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60375"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c. What is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𝑃𝐺𝐶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33" y="1214301"/>
                <a:ext cx="9989905" cy="5271828"/>
              </a:xfrm>
              <a:prstGeom prst="rect">
                <a:avLst/>
              </a:prstGeom>
              <a:blipFill>
                <a:blip r:embed="rId6"/>
                <a:stretch>
                  <a:fillRect l="-671" t="-809" b="-1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EF34400D-D42B-E64B-868C-8888FA1B244D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EF456C-6B74-1145-A06A-D8872A37B5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21578" y="832943"/>
            <a:ext cx="3370422" cy="3236977"/>
          </a:xfrm>
          <a:prstGeom prst="rect">
            <a:avLst/>
          </a:prstGeom>
          <a:effectLst>
            <a:softEdge rad="0"/>
          </a:effectLst>
        </p:spPr>
      </p:pic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465233" y="386281"/>
                <a:ext cx="10242095" cy="5897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6075" indent="-346075"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2.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has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circle and diameter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𝐻𝐵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𝐻𝑊𝐵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inscribed in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𝐵𝑊</m:t>
                        </m:r>
                      </m:e>
                    </m:groupCh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=102°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𝐻𝐵𝑊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=(4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−10)°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346075" indent="-346075"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 indent="-346075"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 indent="-346075"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 indent="-346075"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 indent="-346075"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 indent="-346075"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 indent="-346075"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3175">
                  <a:spcAft>
                    <a:spcPts val="10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What is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𝐻𝐵𝑊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 </a:t>
                </a:r>
                <a:endParaRPr lang="en-US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 </a:t>
                </a:r>
              </a:p>
              <a:p>
                <a:pPr>
                  <a:spcAft>
                    <a:spcPts val="1000"/>
                  </a:spcAft>
                </a:pPr>
                <a:endParaRPr lang="en-US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6075"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b. Find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6075" indent="-346075"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3" y="386281"/>
                <a:ext cx="10242095" cy="5897833"/>
              </a:xfrm>
              <a:prstGeom prst="rect">
                <a:avLst/>
              </a:prstGeom>
              <a:blipFill>
                <a:blip r:embed="rId6"/>
                <a:stretch>
                  <a:fillRect l="-595" t="-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2DE3B600-913E-8D46-AA61-ACE3227A51B9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0320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EB213F-5429-8849-8729-790CF39734C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93390" y="1139520"/>
            <a:ext cx="3842075" cy="3623658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465232" y="386282"/>
                <a:ext cx="10498393" cy="4143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eriod" startAt="3"/>
                </a:pP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𝐶𝐿𝑊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𝐹𝐿𝑊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inscribed in Circle </a:t>
                </a:r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𝐹𝑊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diameter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m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𝐹𝐶</m:t>
                        </m:r>
                      </m:e>
                    </m:groupChr>
                    <m:r>
                      <a:rPr lang="en-US" sz="20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=(2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x</m:t>
                    </m:r>
                    <m:r>
                      <a:rPr lang="en-US" sz="20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−6)°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m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𝐿𝐶</m:t>
                        </m:r>
                      </m:e>
                    </m:groupChr>
                    <m:r>
                      <a:rPr lang="en-US" sz="20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=(4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x</m:t>
                    </m:r>
                    <m:r>
                      <a:rPr lang="en-US" sz="20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−6)°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m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𝐿𝑊</m:t>
                        </m:r>
                      </m:e>
                    </m:groupChr>
                    <m:r>
                      <a:rPr lang="en-US" sz="20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=(3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x</m:t>
                    </m:r>
                    <m:r>
                      <a:rPr lang="en-US" sz="20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+30)°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386282"/>
                <a:ext cx="10498393" cy="4143507"/>
              </a:xfrm>
              <a:prstGeom prst="rect">
                <a:avLst/>
              </a:prstGeom>
              <a:blipFill>
                <a:blip r:embed="rId5"/>
                <a:stretch>
                  <a:fillRect l="-581" t="-735" r="-174" b="-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91CC4E9-4696-BA47-A2C9-4831ADEE8C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6063175"/>
                  </p:ext>
                </p:extLst>
              </p:nvPr>
            </p:nvGraphicFramePr>
            <p:xfrm>
              <a:off x="1228375" y="4996567"/>
              <a:ext cx="6800850" cy="14630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417570">
                      <a:extLst>
                        <a:ext uri="{9D8B030D-6E8A-4147-A177-3AD203B41FA5}">
                          <a16:colId xmlns:a16="http://schemas.microsoft.com/office/drawing/2014/main" val="2005498985"/>
                        </a:ext>
                      </a:extLst>
                    </a:gridCol>
                    <a:gridCol w="3383280">
                      <a:extLst>
                        <a:ext uri="{9D8B030D-6E8A-4147-A177-3AD203B41FA5}">
                          <a16:colId xmlns:a16="http://schemas.microsoft.com/office/drawing/2014/main" val="427798289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Angle Measures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Angle Measures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318379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𝐿𝐶𝑊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𝐿𝐹𝑊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3593704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𝐶𝑊𝐿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𝐹𝑊𝐶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3919287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𝐹𝐿𝐶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𝐹𝐿𝑊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370532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91CC4E9-4696-BA47-A2C9-4831ADEE8C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6063175"/>
                  </p:ext>
                </p:extLst>
              </p:nvPr>
            </p:nvGraphicFramePr>
            <p:xfrm>
              <a:off x="1228375" y="4996567"/>
              <a:ext cx="6800850" cy="14630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417570">
                      <a:extLst>
                        <a:ext uri="{9D8B030D-6E8A-4147-A177-3AD203B41FA5}">
                          <a16:colId xmlns:a16="http://schemas.microsoft.com/office/drawing/2014/main" val="2005498985"/>
                        </a:ext>
                      </a:extLst>
                    </a:gridCol>
                    <a:gridCol w="3383280">
                      <a:extLst>
                        <a:ext uri="{9D8B030D-6E8A-4147-A177-3AD203B41FA5}">
                          <a16:colId xmlns:a16="http://schemas.microsoft.com/office/drawing/2014/main" val="427798289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Angle Measures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Angle Measures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318379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78" t="-109836" r="-9946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1079" t="-109836" r="-360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593704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78" t="-213333" r="-99465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1079" t="-213333" r="-360" b="-1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919287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78" t="-313333" r="-99465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1079" t="-313333" r="-360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705324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10B5632-E194-F142-B0BD-F754518C07B9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A8787987-507D-1B4C-84AB-C4F23F9FE4D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382FFD-A6EA-AF4D-ADCD-C436B3BD0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481" y="1738002"/>
            <a:ext cx="3415037" cy="2939543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913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52650" y="68550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11.3.4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5350" y="68550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678999" y="1104884"/>
                <a:ext cx="10721503" cy="5025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1000"/>
                  </a:spcAft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has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circle,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𝑉𝐶𝑍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inscribed in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𝑉𝐶</m:t>
                        </m:r>
                      </m:e>
                    </m:groupCh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=(9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+23)°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𝐶𝑉𝑍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=36°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𝑉𝑍𝐶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=(7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−21)°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spcAft>
                    <a:spcPts val="1000"/>
                  </a:spcAft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spcAft>
                    <a:spcPts val="1000"/>
                  </a:spcAft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spcAft>
                    <a:spcPts val="1000"/>
                  </a:spcAft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spcAft>
                    <a:spcPts val="1000"/>
                  </a:spcAft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spcAft>
                    <a:spcPts val="1000"/>
                  </a:spcAft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8038" indent="-347663">
                  <a:spcAft>
                    <a:spcPts val="10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  <a:endParaRPr lang="en-US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 </a:t>
                </a:r>
              </a:p>
              <a:p>
                <a:pPr>
                  <a:spcAft>
                    <a:spcPts val="1000"/>
                  </a:spcAft>
                </a:pPr>
                <a:endParaRPr lang="en-US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60375"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b. What is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𝑉𝐶𝑍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  <a:endParaRPr lang="en-US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999" y="1104884"/>
                <a:ext cx="10721503" cy="5025607"/>
              </a:xfrm>
              <a:prstGeom prst="rect">
                <a:avLst/>
              </a:prstGeom>
              <a:blipFill>
                <a:blip r:embed="rId6"/>
                <a:stretch>
                  <a:fillRect l="-625" t="-848" b="-1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724F0906-30C4-424D-911E-EF2FDC2CDD58}"/>
              </a:ext>
            </a:extLst>
          </p:cNvPr>
          <p:cNvSpPr txBox="1"/>
          <p:nvPr/>
        </p:nvSpPr>
        <p:spPr>
          <a:xfrm>
            <a:off x="8889924" y="645621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DE5FD99-5F14-E144-B885-AA3DE9748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145" y="1047342"/>
            <a:ext cx="3339091" cy="3418024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465232" y="315904"/>
                <a:ext cx="11162918" cy="4453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6075" indent="-34607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2.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has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circle,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𝑆𝐷𝑁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inscribed in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𝑁𝐷</m:t>
                        </m:r>
                      </m:e>
                    </m:groupCh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=(7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−7)°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𝐷𝐵𝑆</m:t>
                        </m:r>
                      </m:e>
                    </m:groupCh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=(23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−5)°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𝑁𝑆𝐷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=(5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−23)°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𝐷𝑁𝑆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=(8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+29)°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346075" indent="-34607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 indent="-34607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 indent="-34607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 indent="-34607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 indent="-34607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 indent="-34607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 indent="-34607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 indent="-34607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 indent="-34607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 indent="-34607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 indent="-34607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315904"/>
                <a:ext cx="11162918" cy="4453527"/>
              </a:xfrm>
              <a:prstGeom prst="rect">
                <a:avLst/>
              </a:prstGeom>
              <a:blipFill>
                <a:blip r:embed="rId5"/>
                <a:stretch>
                  <a:fillRect l="-546" t="-822" b="-16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EF23BFE-8825-FB4D-9751-C1CD4B20B8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664281"/>
                  </p:ext>
                </p:extLst>
              </p:nvPr>
            </p:nvGraphicFramePr>
            <p:xfrm>
              <a:off x="1228375" y="5077206"/>
              <a:ext cx="6800850" cy="14630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417570">
                      <a:extLst>
                        <a:ext uri="{9D8B030D-6E8A-4147-A177-3AD203B41FA5}">
                          <a16:colId xmlns:a16="http://schemas.microsoft.com/office/drawing/2014/main" val="1780067378"/>
                        </a:ext>
                      </a:extLst>
                    </a:gridCol>
                    <a:gridCol w="3383280">
                      <a:extLst>
                        <a:ext uri="{9D8B030D-6E8A-4147-A177-3AD203B41FA5}">
                          <a16:colId xmlns:a16="http://schemas.microsoft.com/office/drawing/2014/main" val="169504272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Angle Measures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Arc Measures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717832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𝑁𝑆𝐷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groupChr>
                                  <m:groupChrPr>
                                    <m:chr m:val="⏜"/>
                                    <m:pos m:val="top"/>
                                    <m:vertJc m:val="bot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groupChr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𝑁𝐷</m:t>
                                    </m:r>
                                  </m:e>
                                </m:groupCh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341818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𝑆𝑁𝐷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groupChr>
                                  <m:groupChrPr>
                                    <m:chr m:val="⏜"/>
                                    <m:pos m:val="top"/>
                                    <m:vertJc m:val="bot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groupChr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𝐷𝐵𝑆</m:t>
                                    </m:r>
                                  </m:e>
                                </m:groupCh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5912306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𝑁𝐷𝑆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groupChr>
                                  <m:groupChrPr>
                                    <m:chr m:val="⏜"/>
                                    <m:pos m:val="top"/>
                                    <m:vertJc m:val="bot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groupChr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𝑁𝑆</m:t>
                                    </m:r>
                                  </m:e>
                                </m:groupCh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4393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EF23BFE-8825-FB4D-9751-C1CD4B20B8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664281"/>
                  </p:ext>
                </p:extLst>
              </p:nvPr>
            </p:nvGraphicFramePr>
            <p:xfrm>
              <a:off x="1228375" y="5077206"/>
              <a:ext cx="6800850" cy="14630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417570">
                      <a:extLst>
                        <a:ext uri="{9D8B030D-6E8A-4147-A177-3AD203B41FA5}">
                          <a16:colId xmlns:a16="http://schemas.microsoft.com/office/drawing/2014/main" val="1780067378"/>
                        </a:ext>
                      </a:extLst>
                    </a:gridCol>
                    <a:gridCol w="3383280">
                      <a:extLst>
                        <a:ext uri="{9D8B030D-6E8A-4147-A177-3AD203B41FA5}">
                          <a16:colId xmlns:a16="http://schemas.microsoft.com/office/drawing/2014/main" val="169504272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Angle Measures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Arc Measures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717832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78" t="-109836" r="-99465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1079" t="-109836" r="-360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41818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78" t="-213333" r="-99465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1079" t="-213333" r="-360" b="-1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912306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78" t="-313333" r="-99465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1079" t="-313333" r="-360" b="-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3935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DBF58D08-35A7-8743-B3DE-329BB72CDD10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3FAB06C-EB6F-D24D-B878-8C70CD466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708" y="782326"/>
            <a:ext cx="3362584" cy="3392775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465232" y="324128"/>
                <a:ext cx="11058692" cy="5940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6075" indent="-346075"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3.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has diameter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𝑀𝑃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𝑀𝑇𝑃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inscribed in the circle.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𝑇𝑀𝑃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=(6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−8)°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𝑇𝑃𝑀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=(4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+13)°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marL="346075" indent="-346075"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 indent="-346075"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 indent="-346075"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 indent="-346075"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 indent="-346075"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 indent="-346075"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 indent="-346075"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3175">
                  <a:spcAft>
                    <a:spcPts val="10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Find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46075"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b. What is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𝑇𝑀𝑃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46075"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c. What is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𝑇𝑃𝑀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324128"/>
                <a:ext cx="11058692" cy="5940088"/>
              </a:xfrm>
              <a:prstGeom prst="rect">
                <a:avLst/>
              </a:prstGeom>
              <a:blipFill>
                <a:blip r:embed="rId5"/>
                <a:stretch>
                  <a:fillRect l="-551" t="-513" b="-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511DB9F8-FD70-434E-A1F2-1E04CBB35F1D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70728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261348C7-8638-8E47-924D-33CF6611E805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-8257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11.3.5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0325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93247" y="1386026"/>
            <a:ext cx="104952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 summary of what you learned about solving problems involving triangles inscribed in circles.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323A031-8302-B441-B090-0C8FA495BBCA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1283</TotalTime>
  <Words>929</Words>
  <Application>Microsoft Office PowerPoint</Application>
  <PresentationFormat>Widescreen</PresentationFormat>
  <Paragraphs>186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Calibri</vt:lpstr>
      <vt:lpstr>Cambria</vt:lpstr>
      <vt:lpstr>Verdana</vt:lpstr>
      <vt:lpstr>Century Gothic</vt:lpstr>
      <vt:lpstr>Arial</vt:lpstr>
      <vt:lpstr>Arial Black</vt:lpstr>
      <vt:lpstr>Cambria Math</vt:lpstr>
      <vt:lpstr>1_Office Theme</vt:lpstr>
      <vt:lpstr>Geometry  Unit 11, Lesson 3  Solving Problems Involving Triangles Inscribed in Circles  Volume 2, pg. 191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20</cp:revision>
  <dcterms:created xsi:type="dcterms:W3CDTF">2015-03-17T18:51:18Z</dcterms:created>
  <dcterms:modified xsi:type="dcterms:W3CDTF">2022-09-16T13:46:54Z</dcterms:modified>
</cp:coreProperties>
</file>