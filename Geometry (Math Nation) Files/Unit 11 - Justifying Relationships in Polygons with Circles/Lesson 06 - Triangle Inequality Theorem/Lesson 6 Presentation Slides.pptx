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288" r:id="rId10"/>
    <p:sldId id="313" r:id="rId11"/>
    <p:sldId id="338" r:id="rId12"/>
    <p:sldId id="339" r:id="rId13"/>
    <p:sldId id="320" r:id="rId14"/>
    <p:sldId id="321" r:id="rId15"/>
    <p:sldId id="340" r:id="rId16"/>
    <p:sldId id="341" r:id="rId17"/>
    <p:sldId id="308" r:id="rId18"/>
    <p:sldId id="289" r:id="rId19"/>
    <p:sldId id="290" r:id="rId20"/>
    <p:sldId id="342" r:id="rId21"/>
    <p:sldId id="343" r:id="rId22"/>
    <p:sldId id="335" r:id="rId23"/>
    <p:sldId id="336" r:id="rId24"/>
    <p:sldId id="306" r:id="rId25"/>
    <p:sldId id="307" r:id="rId26"/>
  </p:sldIdLst>
  <p:sldSz cx="12192000" cy="6858000"/>
  <p:notesSz cx="6858000" cy="9144000"/>
  <p:embeddedFontLst>
    <p:embeddedFont>
      <p:font typeface="Arial Black" panose="020B0A04020102020204" pitchFamily="34" charset="0"/>
      <p:bold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Cambria" panose="02040503050406030204" pitchFamily="18" charset="0"/>
      <p:regular r:id="rId33"/>
      <p:bold r:id="rId34"/>
      <p:italic r:id="rId35"/>
      <p:boldItalic r:id="rId36"/>
    </p:embeddedFont>
    <p:embeddedFont>
      <p:font typeface="Cambria Math" panose="02040503050406030204" pitchFamily="18" charset="0"/>
      <p:regular r:id="rId37"/>
    </p:embeddedFont>
    <p:embeddedFont>
      <p:font typeface="Century Gothic" panose="020B0502020202020204" pitchFamily="34" charset="0"/>
      <p:regular r:id="rId38"/>
      <p:bold r:id="rId39"/>
      <p:italic r:id="rId40"/>
      <p:boldItalic r:id="rId41"/>
    </p:embeddedFont>
    <p:embeddedFont>
      <p:font typeface="Verdana" panose="020B0604030504040204" pitchFamily="34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99C8"/>
    <a:srgbClr val="1F3165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85"/>
    <p:restoredTop sz="94490"/>
  </p:normalViewPr>
  <p:slideViewPr>
    <p:cSldViewPr snapToGrid="0">
      <p:cViewPr varScale="1">
        <p:scale>
          <a:sx n="83" d="100"/>
          <a:sy n="83" d="100"/>
        </p:scale>
        <p:origin x="106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846419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23053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44900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65849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07359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57090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033395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731478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20921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432050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15631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0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0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17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49901" y="2054277"/>
            <a:ext cx="516890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11, Lesson 6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Triangle Inequality Theorem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207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12701"/>
            <a:ext cx="4094106" cy="6870701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AB08A17F-C082-CD48-B100-6B09C860CC1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1998" y="1622538"/>
            <a:ext cx="3090582" cy="36027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46169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MA.912.GR.1.3</a:t>
            </a:r>
          </a:p>
          <a:p>
            <a:pPr indent="0"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Prove relationships and theorems about triangles. Solve mathematical and real-world problems involving postulates, relationships, and theorems of triangles. </a:t>
            </a:r>
          </a:p>
          <a:p>
            <a:pPr indent="0">
              <a:buNone/>
            </a:pPr>
            <a:endParaRPr lang="en-US" sz="2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MA.912.LT.4.10</a:t>
            </a:r>
          </a:p>
          <a:p>
            <a:pPr indent="0"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Judge the validity of arguments and give counterexamples to disprove statements. 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199" y="129667"/>
            <a:ext cx="850549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596390"/>
            <a:ext cx="1052639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1504AEE9-6482-AB4D-96FF-9AD29288C31F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68826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7006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987749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5587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388374" y="1600200"/>
            <a:ext cx="111355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71500" indent="-571500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determine if a set of triangle side lengths can be used to construct a triangle.</a:t>
            </a:r>
          </a:p>
          <a:p>
            <a:pPr marL="571500" indent="-571500">
              <a:buFont typeface="Wingdings" pitchFamily="2" charset="2"/>
              <a:buChar char="q"/>
            </a:pPr>
            <a:endParaRPr lang="en-US" sz="3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571500" indent="-571500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use the triangle inequality theorem to prove relationships in triangles.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86AEF539-4E27-5B42-8079-63630A1D7FAC}"/>
              </a:ext>
            </a:extLst>
          </p:cNvPr>
          <p:cNvSpPr txBox="1"/>
          <p:nvPr/>
        </p:nvSpPr>
        <p:spPr>
          <a:xfrm>
            <a:off x="8889924" y="642713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B5A701AC-7E75-1047-BCC4-6EFBD0CAC47B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-72407"/>
            <a:ext cx="897625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11.6.1 Warm-Up: Number Riddle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593248" y="1386025"/>
                <a:ext cx="10930676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any of the four operations (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  <a:ea typeface="Cambria Math"/>
                        <a:cs typeface="Verdana" panose="020B0604030504040204" pitchFamily="34" charset="0"/>
                      </a:rPr>
                      <m:t>÷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) with the numbers shown to produce a result of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𝟑𝟔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5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6025"/>
                <a:ext cx="10930676" cy="1569660"/>
              </a:xfrm>
              <a:prstGeom prst="rect">
                <a:avLst/>
              </a:prstGeom>
              <a:blipFill>
                <a:blip r:embed="rId5"/>
                <a:stretch>
                  <a:fillRect l="-837" t="-3488" b="-7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43FBCA87-8EBA-0E4D-9B7B-583F708C9C5C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FD8FA40A-6603-4647-94AB-62F7CECE4BCB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60325"/>
            <a:ext cx="1094554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11.6.2 Exploration: Triangle Inequality Theorem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6352" y="308450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2D1D4D-DCB8-A246-B186-D40316579D77}"/>
              </a:ext>
            </a:extLst>
          </p:cNvPr>
          <p:cNvSpPr txBox="1"/>
          <p:nvPr/>
        </p:nvSpPr>
        <p:spPr>
          <a:xfrm>
            <a:off x="593248" y="1386026"/>
            <a:ext cx="110349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your partner, use a ruler to determine if the given measurements can be used to create a triangle. Then, complete the table. </a:t>
            </a:r>
            <a:endParaRPr lang="en-US" sz="2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D363DFA0-DC40-8643-8DCE-712714549E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2128130"/>
                  </p:ext>
                </p:extLst>
              </p:nvPr>
            </p:nvGraphicFramePr>
            <p:xfrm>
              <a:off x="1169865" y="2507882"/>
              <a:ext cx="9448974" cy="3774306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4250878">
                      <a:extLst>
                        <a:ext uri="{9D8B030D-6E8A-4147-A177-3AD203B41FA5}">
                          <a16:colId xmlns:a16="http://schemas.microsoft.com/office/drawing/2014/main" val="2270983545"/>
                        </a:ext>
                      </a:extLst>
                    </a:gridCol>
                    <a:gridCol w="2599048">
                      <a:extLst>
                        <a:ext uri="{9D8B030D-6E8A-4147-A177-3AD203B41FA5}">
                          <a16:colId xmlns:a16="http://schemas.microsoft.com/office/drawing/2014/main" val="353015286"/>
                        </a:ext>
                      </a:extLst>
                    </a:gridCol>
                    <a:gridCol w="2599048">
                      <a:extLst>
                        <a:ext uri="{9D8B030D-6E8A-4147-A177-3AD203B41FA5}">
                          <a16:colId xmlns:a16="http://schemas.microsoft.com/office/drawing/2014/main" val="3671896131"/>
                        </a:ext>
                      </a:extLst>
                    </a:gridCol>
                  </a:tblGrid>
                  <a:tr h="72630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Measurements in Centimeters (cm)</a:t>
                          </a:r>
                        </a:p>
                      </a:txBody>
                      <a:tcPr marL="57254" marR="572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Can it create a triangle?</a:t>
                          </a:r>
                        </a:p>
                      </a:txBody>
                      <a:tcPr marL="57254" marR="572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Explanation</a:t>
                          </a:r>
                        </a:p>
                      </a:txBody>
                      <a:tcPr marL="57254" marR="572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4919577"/>
                      </a:ext>
                    </a:extLst>
                  </a:tr>
                  <a:tr h="54472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3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cm,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6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cm,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8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cm</a:t>
                          </a:r>
                        </a:p>
                      </a:txBody>
                      <a:tcPr marL="57254" marR="572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57254" marR="572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7254" marR="572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14106533"/>
                      </a:ext>
                    </a:extLst>
                  </a:tr>
                  <a:tr h="54472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3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cm,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4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cm,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10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cm</a:t>
                          </a:r>
                        </a:p>
                      </a:txBody>
                      <a:tcPr marL="57254" marR="572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57254" marR="572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7254" marR="572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40932488"/>
                      </a:ext>
                    </a:extLst>
                  </a:tr>
                  <a:tr h="54472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8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cm,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11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cm,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15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cm</a:t>
                          </a:r>
                        </a:p>
                      </a:txBody>
                      <a:tcPr marL="57254" marR="572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57254" marR="572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7254" marR="572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66652764"/>
                      </a:ext>
                    </a:extLst>
                  </a:tr>
                  <a:tr h="54472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2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cm,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5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cm,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8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cm</a:t>
                          </a:r>
                        </a:p>
                      </a:txBody>
                      <a:tcPr marL="57254" marR="572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57254" marR="572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7254" marR="572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93271264"/>
                      </a:ext>
                    </a:extLst>
                  </a:tr>
                  <a:tr h="54472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4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cm,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5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cm,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11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cm</a:t>
                          </a:r>
                        </a:p>
                      </a:txBody>
                      <a:tcPr marL="57254" marR="572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57254" marR="572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7254" marR="572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926534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D363DFA0-DC40-8643-8DCE-712714549E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2128130"/>
                  </p:ext>
                </p:extLst>
              </p:nvPr>
            </p:nvGraphicFramePr>
            <p:xfrm>
              <a:off x="1169865" y="2507882"/>
              <a:ext cx="9448974" cy="3774306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4250878">
                      <a:extLst>
                        <a:ext uri="{9D8B030D-6E8A-4147-A177-3AD203B41FA5}">
                          <a16:colId xmlns:a16="http://schemas.microsoft.com/office/drawing/2014/main" val="2270983545"/>
                        </a:ext>
                      </a:extLst>
                    </a:gridCol>
                    <a:gridCol w="2599048">
                      <a:extLst>
                        <a:ext uri="{9D8B030D-6E8A-4147-A177-3AD203B41FA5}">
                          <a16:colId xmlns:a16="http://schemas.microsoft.com/office/drawing/2014/main" val="353015286"/>
                        </a:ext>
                      </a:extLst>
                    </a:gridCol>
                    <a:gridCol w="2599048">
                      <a:extLst>
                        <a:ext uri="{9D8B030D-6E8A-4147-A177-3AD203B41FA5}">
                          <a16:colId xmlns:a16="http://schemas.microsoft.com/office/drawing/2014/main" val="3671896131"/>
                        </a:ext>
                      </a:extLst>
                    </a:gridCol>
                  </a:tblGrid>
                  <a:tr h="72630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Measurements in Centimeters (cm)</a:t>
                          </a:r>
                        </a:p>
                      </a:txBody>
                      <a:tcPr marL="57254" marR="572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Can it create a triangle?</a:t>
                          </a:r>
                        </a:p>
                      </a:txBody>
                      <a:tcPr marL="57254" marR="572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Explanation</a:t>
                          </a:r>
                        </a:p>
                      </a:txBody>
                      <a:tcPr marL="57254" marR="572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4919577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7254" marR="572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43" t="-122000" r="-122779" b="-429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57254" marR="572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7254" marR="572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14106533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7254" marR="572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43" t="-219802" r="-122779" b="-3247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57254" marR="572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7254" marR="572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40932488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7254" marR="572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43" t="-323000" r="-122779" b="-2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57254" marR="572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7254" marR="572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66652764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7254" marR="572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43" t="-423000" r="-122779" b="-1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57254" marR="572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7254" marR="572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93271264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7254" marR="572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43" t="-523000" r="-122779" b="-2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57254" marR="572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7254" marR="57254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9265340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407805B7-4675-7A49-8886-5384932EC11F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540565" y="374089"/>
            <a:ext cx="1096113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similarities did you notice about the measurements that could create a triangle?</a:t>
            </a: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similarities did you notice about the measurements that could not create a triangle?</a:t>
            </a: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Make a conjecture about how to determine if side lengths can be used to construct a triangle if you cannot draw it.</a:t>
            </a: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F6B2DFCD-593C-8F47-99BB-9AB9C12FE055}"/>
              </a:ext>
            </a:extLst>
          </p:cNvPr>
          <p:cNvSpPr txBox="1"/>
          <p:nvPr/>
        </p:nvSpPr>
        <p:spPr>
          <a:xfrm>
            <a:off x="886770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540565" y="374089"/>
            <a:ext cx="109611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Ask two other pairs of partners for the conjectures they wrote. Listen to their conjectures and write a summary. </a:t>
            </a:r>
            <a:r>
              <a:rPr lang="en-US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You are the only person who should write in the first column of the table.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Have the person initial next to your summary stating that your summary was accurate.</a:t>
            </a:r>
          </a:p>
        </p:txBody>
      </p:sp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E05B313C-2B1A-884D-A41A-7B42DF234FED}"/>
              </a:ext>
            </a:extLst>
          </p:cNvPr>
          <p:cNvSpPr txBox="1"/>
          <p:nvPr/>
        </p:nvSpPr>
        <p:spPr>
          <a:xfrm>
            <a:off x="886770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A1EF06A-63A3-B040-8F37-28CDD54282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59513"/>
              </p:ext>
            </p:extLst>
          </p:nvPr>
        </p:nvGraphicFramePr>
        <p:xfrm>
          <a:off x="1128176" y="1826426"/>
          <a:ext cx="8049548" cy="4631247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6480050">
                  <a:extLst>
                    <a:ext uri="{9D8B030D-6E8A-4147-A177-3AD203B41FA5}">
                      <a16:colId xmlns:a16="http://schemas.microsoft.com/office/drawing/2014/main" val="2495548731"/>
                    </a:ext>
                  </a:extLst>
                </a:gridCol>
                <a:gridCol w="1569498">
                  <a:extLst>
                    <a:ext uri="{9D8B030D-6E8A-4147-A177-3AD203B41FA5}">
                      <a16:colId xmlns:a16="http://schemas.microsoft.com/office/drawing/2014/main" val="3291431759"/>
                    </a:ext>
                  </a:extLst>
                </a:gridCol>
              </a:tblGrid>
              <a:tr h="51458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My Summary of the Conjecture</a:t>
                      </a:r>
                    </a:p>
                  </a:txBody>
                  <a:tcPr marL="77187" marR="77187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Initials</a:t>
                      </a:r>
                    </a:p>
                  </a:txBody>
                  <a:tcPr marL="77187" marR="77187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492760"/>
                  </a:ext>
                </a:extLst>
              </a:tr>
              <a:tr h="205833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23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77187" marR="77187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3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77187" marR="77187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928579"/>
                  </a:ext>
                </a:extLst>
              </a:tr>
              <a:tr h="205833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23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77187" marR="77187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3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77187" marR="77187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0673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7834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9EB9FDE9-3B2C-2543-87DB-B765A4762FFE}"/>
              </a:ext>
            </a:extLst>
          </p:cNvPr>
          <p:cNvSpPr txBox="1"/>
          <p:nvPr/>
        </p:nvSpPr>
        <p:spPr>
          <a:xfrm>
            <a:off x="886770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40565" y="382315"/>
                <a:ext cx="10961136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6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Review your conjecture with your partner and if necessary, make any changes.</a:t>
                </a:r>
              </a:p>
              <a:p>
                <a:pPr marL="457200" indent="-457200">
                  <a:buFont typeface="+mj-lt"/>
                  <a:buAutoNum type="arabicPeriod" startAt="6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your conjecture to determine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Arial" panose="020B0604020202020204" pitchFamily="34" charset="0"/>
                        <a:cs typeface="Arial" panose="020B0604020202020204" pitchFamily="34" charset="0"/>
                      </a:rPr>
                      <m:t>3 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cm,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Arial" panose="020B0604020202020204" pitchFamily="34" charset="0"/>
                        <a:cs typeface="Arial" panose="020B0604020202020204" pitchFamily="34" charset="0"/>
                      </a:rPr>
                      <m:t>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cm,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Arial" panose="020B0604020202020204" pitchFamily="34" charset="0"/>
                        <a:cs typeface="Arial" panose="020B0604020202020204" pitchFamily="34" charset="0"/>
                      </a:rPr>
                      <m:t>7 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cm will create a triangle.</a:t>
                </a:r>
              </a:p>
              <a:p>
                <a:pPr marL="457200" indent="-457200">
                  <a:buFont typeface="+mj-lt"/>
                  <a:buAutoNum type="arabicPeriod" startAt="6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Check your answer by constructing the triangle with a ruler.</a:t>
                </a:r>
              </a:p>
              <a:p>
                <a:pPr marL="457200" indent="-457200">
                  <a:buFont typeface="+mj-lt"/>
                  <a:buAutoNum type="arabicPeriod" startAt="6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did you notice about the measurements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Arial" panose="020B0604020202020204" pitchFamily="34" charset="0"/>
                        <a:cs typeface="Arial" panose="020B0604020202020204" pitchFamily="34" charset="0"/>
                      </a:rPr>
                      <m:t>3 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cm,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Arial" panose="020B0604020202020204" pitchFamily="34" charset="0"/>
                        <a:cs typeface="Arial" panose="020B0604020202020204" pitchFamily="34" charset="0"/>
                      </a:rPr>
                      <m:t>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cm,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Arial" panose="020B0604020202020204" pitchFamily="34" charset="0"/>
                        <a:cs typeface="Arial" panose="020B0604020202020204" pitchFamily="34" charset="0"/>
                      </a:rPr>
                      <m:t>7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cm?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382315"/>
                <a:ext cx="10961136" cy="4093428"/>
              </a:xfrm>
              <a:prstGeom prst="rect">
                <a:avLst/>
              </a:prstGeom>
              <a:blipFill>
                <a:blip r:embed="rId4"/>
                <a:stretch>
                  <a:fillRect l="-612" t="-1043" b="-17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0508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347CCE-34A7-8044-BA67-B5895157AE55}"/>
              </a:ext>
            </a:extLst>
          </p:cNvPr>
          <p:cNvSpPr txBox="1"/>
          <p:nvPr/>
        </p:nvSpPr>
        <p:spPr>
          <a:xfrm>
            <a:off x="465232" y="349705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+mj-lt"/>
              <a:buAutoNum type="arabicPeriod" startAt="10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Adjust your conjecture if needed.</a:t>
            </a:r>
          </a:p>
        </p:txBody>
      </p:sp>
      <p:sp>
        <p:nvSpPr>
          <p:cNvPr id="30" name="Google Shape;282;g104476d1465_1_17">
            <a:extLst>
              <a:ext uri="{FF2B5EF4-FFF2-40B4-BE49-F238E27FC236}">
                <a16:creationId xmlns:a16="http://schemas.microsoft.com/office/drawing/2014/main" id="{81C980EA-6E54-A246-9ED2-C7640EDA73AD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660116" y="4817747"/>
            <a:ext cx="7925660" cy="1265595"/>
            <a:chOff x="603316" y="4979671"/>
            <a:chExt cx="7925660" cy="1265595"/>
          </a:xfrm>
        </p:grpSpPr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8A6CD0D1-610F-A04A-AA87-164FAE3A21B7}"/>
                </a:ext>
              </a:extLst>
            </p:cNvPr>
            <p:cNvSpPr/>
            <p:nvPr/>
          </p:nvSpPr>
          <p:spPr>
            <a:xfrm>
              <a:off x="603316" y="4979671"/>
              <a:ext cx="7925660" cy="1265595"/>
            </a:xfrm>
            <a:prstGeom prst="roundRect">
              <a:avLst>
                <a:gd name="adj" fmla="val 16667"/>
              </a:avLst>
            </a:prstGeom>
            <a:solidFill>
              <a:srgbClr val="B8E6F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91440" rIns="91425" bIns="0" anchor="ctr" anchorCtr="0">
              <a:spAutoFit/>
            </a:bodyPr>
            <a:lstStyle/>
            <a:p>
              <a:pPr marL="742950">
                <a:spcAft>
                  <a:spcPts val="1000"/>
                </a:spcAft>
              </a:pPr>
              <a:r>
                <a:rPr lang="en-US" sz="2000" dirty="0">
                  <a:solidFill>
                    <a:srgbClr val="00609E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If three segments have lengths such that the sum of any two is greater than the third, then a triangle can be constructed from the segments.  </a:t>
              </a:r>
              <a:endPara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29" name="Shape 40" descr="Icon&#10;&#10;Description automatically generated">
              <a:extLst>
                <a:ext uri="{FF2B5EF4-FFF2-40B4-BE49-F238E27FC236}">
                  <a16:creationId xmlns:a16="http://schemas.microsoft.com/office/drawing/2014/main" id="{68DE2850-CC7D-DC49-B8C2-3B6886B4B772}"/>
                </a:ext>
              </a:extLst>
            </p:cNvPr>
            <p:cNvPicPr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17791" y="5161937"/>
              <a:ext cx="539750" cy="53911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3" name="Group 2"/>
          <p:cNvGrpSpPr/>
          <p:nvPr/>
        </p:nvGrpSpPr>
        <p:grpSpPr>
          <a:xfrm>
            <a:off x="704314" y="3203978"/>
            <a:ext cx="7881462" cy="1407478"/>
            <a:chOff x="647514" y="3365903"/>
            <a:chExt cx="7881462" cy="1407478"/>
          </a:xfrm>
        </p:grpSpPr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29F996B8-79DB-384F-9DD1-76E8CAAEEFC7}"/>
                </a:ext>
              </a:extLst>
            </p:cNvPr>
            <p:cNvSpPr/>
            <p:nvPr/>
          </p:nvSpPr>
          <p:spPr>
            <a:xfrm>
              <a:off x="647514" y="3365903"/>
              <a:ext cx="7881462" cy="1407478"/>
            </a:xfrm>
            <a:prstGeom prst="roundRect">
              <a:avLst>
                <a:gd name="adj" fmla="val 16667"/>
              </a:avLst>
            </a:prstGeom>
            <a:solidFill>
              <a:srgbClr val="B8E6F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91440" rIns="91425" bIns="0" anchor="ctr" anchorCtr="0">
              <a:spAutoFit/>
            </a:bodyPr>
            <a:lstStyle/>
            <a:p>
              <a:pPr marL="742950">
                <a:spcAft>
                  <a:spcPts val="1000"/>
                </a:spcAft>
              </a:pPr>
              <a:r>
                <a:rPr lang="en-US" sz="2000" b="1" dirty="0">
                  <a:solidFill>
                    <a:srgbClr val="00619E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Triangle Inequality Theorem</a:t>
              </a:r>
              <a:endPara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marL="742950">
                <a:spcAft>
                  <a:spcPts val="1000"/>
                </a:spcAft>
              </a:pPr>
              <a:r>
                <a:rPr lang="en-US" sz="2000" dirty="0">
                  <a:solidFill>
                    <a:srgbClr val="00619E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The sum of the lengths of any two sides of a triangle is greater than the length of the third side.  </a:t>
              </a:r>
              <a:endPara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28" name="Shape 40" descr="Icon&#10;&#10;Description automatically generated">
              <a:extLst>
                <a:ext uri="{FF2B5EF4-FFF2-40B4-BE49-F238E27FC236}">
                  <a16:creationId xmlns:a16="http://schemas.microsoft.com/office/drawing/2014/main" id="{6C78A6F4-0B9F-D64E-9C68-D492F81BD78A}"/>
                </a:ext>
              </a:extLst>
            </p:cNvPr>
            <p:cNvPicPr/>
            <p:nvPr/>
          </p:nvPicPr>
          <p:blipFill rotWithShape="1">
            <a:blip r:embed="rId4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17791" y="3490527"/>
              <a:ext cx="539750" cy="53911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082243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116285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13171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03FDA840-D241-EF47-BEEF-3A60C2F0363B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06858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295990"/>
            <a:ext cx="1113935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11.6.3 Try It: Triangle Inequality Theorem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21653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AB6A3A1-5A0D-C84F-AC89-57E6782F43E5}"/>
              </a:ext>
            </a:extLst>
          </p:cNvPr>
          <p:cNvSpPr txBox="1"/>
          <p:nvPr/>
        </p:nvSpPr>
        <p:spPr>
          <a:xfrm>
            <a:off x="593248" y="1309825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Complete the table. </a:t>
            </a:r>
            <a:endParaRPr lang="en-US" sz="2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D2F1D410-E1C6-EE46-83C8-43899A98106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7111305"/>
                  </p:ext>
                </p:extLst>
              </p:nvPr>
            </p:nvGraphicFramePr>
            <p:xfrm>
              <a:off x="1176476" y="1822476"/>
              <a:ext cx="9791254" cy="463519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785584">
                      <a:extLst>
                        <a:ext uri="{9D8B030D-6E8A-4147-A177-3AD203B41FA5}">
                          <a16:colId xmlns:a16="http://schemas.microsoft.com/office/drawing/2014/main" val="368498073"/>
                        </a:ext>
                      </a:extLst>
                    </a:gridCol>
                    <a:gridCol w="4406024">
                      <a:extLst>
                        <a:ext uri="{9D8B030D-6E8A-4147-A177-3AD203B41FA5}">
                          <a16:colId xmlns:a16="http://schemas.microsoft.com/office/drawing/2014/main" val="1902054856"/>
                        </a:ext>
                      </a:extLst>
                    </a:gridCol>
                    <a:gridCol w="2599646">
                      <a:extLst>
                        <a:ext uri="{9D8B030D-6E8A-4147-A177-3AD203B41FA5}">
                          <a16:colId xmlns:a16="http://schemas.microsoft.com/office/drawing/2014/main" val="2058258055"/>
                        </a:ext>
                      </a:extLst>
                    </a:gridCol>
                  </a:tblGrid>
                  <a:tr h="77253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Side Lengths</a:t>
                          </a:r>
                          <a:endParaRPr lang="en-US" sz="21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97405" marR="9740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Work</a:t>
                          </a:r>
                          <a:endParaRPr lang="en-US" sz="21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97405" marR="9740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Can it create a triangle?</a:t>
                          </a:r>
                          <a:endParaRPr lang="en-US" sz="21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97405" marR="9740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0266183"/>
                      </a:ext>
                    </a:extLst>
                  </a:tr>
                  <a:tr h="77253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57</m:t>
                              </m:r>
                            </m:oMath>
                          </a14:m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16</m:t>
                              </m:r>
                            </m:oMath>
                          </a14:m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and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75</m:t>
                              </m:r>
                            </m:oMath>
                          </a14:m>
                          <a:endParaRPr lang="en-US" sz="21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97405" marR="9740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3147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97405" marR="97405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97405" marR="9740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73551698"/>
                      </a:ext>
                    </a:extLst>
                  </a:tr>
                  <a:tr h="77253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33</m:t>
                              </m:r>
                            </m:oMath>
                          </a14:m>
                          <a:r>
                            <a:rPr lang="en-US" sz="21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12</m:t>
                              </m:r>
                            </m:oMath>
                          </a14:m>
                          <a:r>
                            <a:rPr lang="en-US" sz="21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and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25</m:t>
                              </m:r>
                            </m:oMath>
                          </a14:m>
                          <a:endParaRPr lang="en-US" sz="2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97405" marR="9740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3147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97405" marR="97405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1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1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  <a:endParaRPr lang="en-US" sz="21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97405" marR="9740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55580589"/>
                      </a:ext>
                    </a:extLst>
                  </a:tr>
                  <a:tr h="77253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21</m:t>
                              </m:r>
                            </m:oMath>
                          </a14:m>
                          <a:r>
                            <a:rPr lang="en-US" sz="21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</m:oMath>
                          </a14:m>
                          <a:r>
                            <a:rPr lang="en-US" sz="21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and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26</m:t>
                              </m:r>
                            </m:oMath>
                          </a14:m>
                          <a:endParaRPr lang="en-US" sz="2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97405" marR="9740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3147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97405" marR="97405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1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1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  <a:endParaRPr lang="en-US" sz="21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97405" marR="9740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09774786"/>
                      </a:ext>
                    </a:extLst>
                  </a:tr>
                  <a:tr h="77253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61</m:t>
                              </m:r>
                            </m:oMath>
                          </a14:m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100</m:t>
                              </m:r>
                            </m:oMath>
                          </a14:m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and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61</m:t>
                              </m:r>
                            </m:oMath>
                          </a14:m>
                          <a:endParaRPr lang="en-US" sz="21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97405" marR="9740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3147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97405" marR="97405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1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1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  <a:endParaRPr lang="en-US" sz="21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97405" marR="9740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88711879"/>
                      </a:ext>
                    </a:extLst>
                  </a:tr>
                  <a:tr h="77253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48</m:t>
                              </m:r>
                            </m:oMath>
                          </a14:m>
                          <a:r>
                            <a:rPr lang="en-US" sz="21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24</m:t>
                              </m:r>
                            </m:oMath>
                          </a14:m>
                          <a:r>
                            <a:rPr lang="en-US" sz="21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and </a:t>
                          </a:r>
                          <a14:m>
                            <m:oMath xmlns:m="http://schemas.openxmlformats.org/officeDocument/2006/math">
                              <m:r>
                                <a:rPr lang="en-US" sz="21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21</m:t>
                              </m:r>
                            </m:oMath>
                          </a14:m>
                          <a:endParaRPr lang="en-US" sz="21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97405" marR="9740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3147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97405" marR="97405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97405" marR="9740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143865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D2F1D410-E1C6-EE46-83C8-43899A98106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7111305"/>
                  </p:ext>
                </p:extLst>
              </p:nvPr>
            </p:nvGraphicFramePr>
            <p:xfrm>
              <a:off x="1176476" y="1822476"/>
              <a:ext cx="9791254" cy="463519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785584">
                      <a:extLst>
                        <a:ext uri="{9D8B030D-6E8A-4147-A177-3AD203B41FA5}">
                          <a16:colId xmlns:a16="http://schemas.microsoft.com/office/drawing/2014/main" val="368498073"/>
                        </a:ext>
                      </a:extLst>
                    </a:gridCol>
                    <a:gridCol w="4406024">
                      <a:extLst>
                        <a:ext uri="{9D8B030D-6E8A-4147-A177-3AD203B41FA5}">
                          <a16:colId xmlns:a16="http://schemas.microsoft.com/office/drawing/2014/main" val="1902054856"/>
                        </a:ext>
                      </a:extLst>
                    </a:gridCol>
                    <a:gridCol w="2599646">
                      <a:extLst>
                        <a:ext uri="{9D8B030D-6E8A-4147-A177-3AD203B41FA5}">
                          <a16:colId xmlns:a16="http://schemas.microsoft.com/office/drawing/2014/main" val="2058258055"/>
                        </a:ext>
                      </a:extLst>
                    </a:gridCol>
                  </a:tblGrid>
                  <a:tr h="77253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Side Lengths</a:t>
                          </a:r>
                          <a:endParaRPr lang="en-US" sz="21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97405" marR="9740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Work</a:t>
                          </a:r>
                          <a:endParaRPr lang="en-US" sz="21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97405" marR="9740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Can it create a triangle?</a:t>
                          </a:r>
                          <a:endParaRPr lang="en-US" sz="21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97405" marR="9740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0266183"/>
                      </a:ext>
                    </a:extLst>
                  </a:tr>
                  <a:tr h="7725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405" marR="9740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9" t="-102362" r="-252516" b="-4141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3147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97405" marR="97405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97405" marR="9740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73551698"/>
                      </a:ext>
                    </a:extLst>
                  </a:tr>
                  <a:tr h="7725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405" marR="9740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9" t="-202362" r="-252516" b="-3141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3147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97405" marR="97405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1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1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  <a:endParaRPr lang="en-US" sz="21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97405" marR="9740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55580589"/>
                      </a:ext>
                    </a:extLst>
                  </a:tr>
                  <a:tr h="7725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405" marR="9740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9" t="-302362" r="-252516" b="-2141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3147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97405" marR="97405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1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1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  <a:endParaRPr lang="en-US" sz="21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97405" marR="9740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09774786"/>
                      </a:ext>
                    </a:extLst>
                  </a:tr>
                  <a:tr h="7725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405" marR="9740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9" t="-402362" r="-252516" b="-1141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3147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97405" marR="97405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1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1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  <a:endParaRPr lang="en-US" sz="21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97405" marR="9740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88711879"/>
                      </a:ext>
                    </a:extLst>
                  </a:tr>
                  <a:tr h="7725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405" marR="9740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19" t="-502362" r="-252516" b="-141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33147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97405" marR="97405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Yes</a:t>
                          </a:r>
                        </a:p>
                        <a:p>
                          <a:pPr marL="6858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1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No</a:t>
                          </a:r>
                        </a:p>
                      </a:txBody>
                      <a:tcPr marL="97405" marR="9740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1438653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140D9C05-8A4B-834D-815B-24049FBBD52A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40359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FEDDF6EC-437A-7D44-8AF6-9E91E32D0A1F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69406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DF0BC82-CFA7-3540-BCC0-46EFEBA63AF2}"/>
              </a:ext>
            </a:extLst>
          </p:cNvPr>
          <p:cNvPicPr/>
          <p:nvPr/>
        </p:nvPicPr>
        <p:blipFill rotWithShape="1">
          <a:blip r:embed="rId3"/>
          <a:srcRect l="2589" t="4387" b="6570"/>
          <a:stretch/>
        </p:blipFill>
        <p:spPr>
          <a:xfrm>
            <a:off x="3143672" y="2339341"/>
            <a:ext cx="6055323" cy="20756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540565" y="1889489"/>
                <a:ext cx="8327136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𝑅𝐶𝑊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shown,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𝑊𝐶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=24,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𝐶𝑅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𝑅𝑊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a protractor to find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angle measures.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Record your answers in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table.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1889489"/>
                <a:ext cx="8327136" cy="4093428"/>
              </a:xfrm>
              <a:prstGeom prst="rect">
                <a:avLst/>
              </a:prstGeom>
              <a:blipFill>
                <a:blip r:embed="rId4"/>
                <a:stretch>
                  <a:fillRect l="-805" t="-894" b="-17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48605" y="308450"/>
            <a:ext cx="1112117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11.6.4 Exploration: Relating Angle Measures and Sides of Triangles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6352" y="308450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AE5241F4-4249-D84B-BE16-41BFD3123940}"/>
              </a:ext>
            </a:extLst>
          </p:cNvPr>
          <p:cNvSpPr txBox="1"/>
          <p:nvPr/>
        </p:nvSpPr>
        <p:spPr>
          <a:xfrm>
            <a:off x="886770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043CF17-7A59-7046-BE00-E2BF22307C0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959274"/>
                  </p:ext>
                </p:extLst>
              </p:nvPr>
            </p:nvGraphicFramePr>
            <p:xfrm>
              <a:off x="4765092" y="4647252"/>
              <a:ext cx="4433903" cy="192398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433903">
                      <a:extLst>
                        <a:ext uri="{9D8B030D-6E8A-4147-A177-3AD203B41FA5}">
                          <a16:colId xmlns:a16="http://schemas.microsoft.com/office/drawing/2014/main" val="3920945054"/>
                        </a:ext>
                      </a:extLst>
                    </a:gridCol>
                  </a:tblGrid>
                  <a:tr h="48099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Angle Measures</a:t>
                          </a:r>
                          <a:endParaRPr lang="en-US" sz="21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72149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6157748"/>
                      </a:ext>
                    </a:extLst>
                  </a:tr>
                  <a:tr h="480996">
                    <a:tc>
                      <a:txBody>
                        <a:bodyPr/>
                        <a:lstStyle/>
                        <a:p>
                          <a:pPr marL="628650" marR="0" indent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1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r>
                                  <a:rPr lang="en-US" sz="21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∠</m:t>
                                </m:r>
                                <m:r>
                                  <a:rPr lang="en-US" sz="21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𝐶𝑊𝑅</m:t>
                                </m:r>
                                <m:r>
                                  <a:rPr lang="en-US" sz="21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1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72149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03153687"/>
                      </a:ext>
                    </a:extLst>
                  </a:tr>
                  <a:tr h="480996">
                    <a:tc>
                      <a:txBody>
                        <a:bodyPr/>
                        <a:lstStyle/>
                        <a:p>
                          <a:pPr marL="628650" marR="0" indent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1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r>
                                  <a:rPr lang="en-US" sz="21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∠</m:t>
                                </m:r>
                                <m:r>
                                  <a:rPr lang="en-US" sz="21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𝑊𝑅𝐶</m:t>
                                </m:r>
                                <m:r>
                                  <a:rPr lang="en-US" sz="21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1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72149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31583047"/>
                      </a:ext>
                    </a:extLst>
                  </a:tr>
                  <a:tr h="480996">
                    <a:tc>
                      <a:txBody>
                        <a:bodyPr/>
                        <a:lstStyle/>
                        <a:p>
                          <a:pPr marL="628650" marR="0" indent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1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r>
                                  <a:rPr lang="en-US" sz="21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∠</m:t>
                                </m:r>
                                <m:r>
                                  <a:rPr lang="en-US" sz="21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𝑅𝐶𝑊</m:t>
                                </m:r>
                                <m:r>
                                  <a:rPr lang="en-US" sz="21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1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72149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486490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F043CF17-7A59-7046-BE00-E2BF22307C0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959274"/>
                  </p:ext>
                </p:extLst>
              </p:nvPr>
            </p:nvGraphicFramePr>
            <p:xfrm>
              <a:off x="4765092" y="4647252"/>
              <a:ext cx="4433903" cy="192398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433903">
                      <a:extLst>
                        <a:ext uri="{9D8B030D-6E8A-4147-A177-3AD203B41FA5}">
                          <a16:colId xmlns:a16="http://schemas.microsoft.com/office/drawing/2014/main" val="3920945054"/>
                        </a:ext>
                      </a:extLst>
                    </a:gridCol>
                  </a:tblGrid>
                  <a:tr h="480996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Angle Measures</a:t>
                          </a:r>
                          <a:endParaRPr lang="en-US" sz="21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72149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6157748"/>
                      </a:ext>
                    </a:extLst>
                  </a:tr>
                  <a:tr h="48099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2149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37" t="-102532" r="-412" b="-2050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3153687"/>
                      </a:ext>
                    </a:extLst>
                  </a:tr>
                  <a:tr h="48099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2149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37" t="-202532" r="-412" b="-1050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1583047"/>
                      </a:ext>
                    </a:extLst>
                  </a:tr>
                  <a:tr h="48099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2149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37" t="-302532" r="-412" b="-50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864903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92642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465232" y="288746"/>
            <a:ext cx="1105869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List the side lengths in order from longest to shortest.</a:t>
            </a: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List the angles in order from largest to smallest.</a:t>
            </a: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notice about the size of the angle compared to the length of the opposite side?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8E27A372-22A3-1448-A873-7557BBDDC93A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210/211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99101ED8-4063-E544-9763-B6536B80EF7E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2977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2501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49673" y="238393"/>
            <a:ext cx="1005586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11.6.5 Guided Instruction: Proving Inequality in a Triangle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2373" y="1212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3" name="Group 2"/>
          <p:cNvGrpSpPr/>
          <p:nvPr/>
        </p:nvGrpSpPr>
        <p:grpSpPr>
          <a:xfrm>
            <a:off x="1213015" y="1863658"/>
            <a:ext cx="7265558" cy="1316650"/>
            <a:chOff x="1159192" y="1863658"/>
            <a:chExt cx="7265558" cy="1316650"/>
          </a:xfrm>
        </p:grpSpPr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4BC486B5-3FD1-B24A-BE25-6561AA7ADD43}"/>
                </a:ext>
              </a:extLst>
            </p:cNvPr>
            <p:cNvSpPr/>
            <p:nvPr/>
          </p:nvSpPr>
          <p:spPr>
            <a:xfrm>
              <a:off x="1159192" y="1863658"/>
              <a:ext cx="7265558" cy="1316650"/>
            </a:xfrm>
            <a:prstGeom prst="roundRect">
              <a:avLst>
                <a:gd name="adj" fmla="val 16667"/>
              </a:avLst>
            </a:prstGeom>
            <a:solidFill>
              <a:srgbClr val="B8E6F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91440" rIns="91425" bIns="0" anchor="ctr" anchorCtr="0">
              <a:spAutoFit/>
            </a:bodyPr>
            <a:lstStyle/>
            <a:p>
              <a:pPr marL="742950">
                <a:spcAft>
                  <a:spcPts val="1000"/>
                </a:spcAft>
              </a:pPr>
              <a:r>
                <a:rPr lang="en-US" sz="2000" dirty="0">
                  <a:solidFill>
                    <a:srgbClr val="00609E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If two </a:t>
              </a:r>
              <a:r>
                <a:rPr lang="en-US" sz="2000" b="1" dirty="0">
                  <a:solidFill>
                    <a:srgbClr val="00609E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sides</a:t>
              </a:r>
              <a:r>
                <a:rPr lang="en-US" sz="2000" dirty="0">
                  <a:solidFill>
                    <a:srgbClr val="00609E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of a triangle are unequal in measure, then the angle opposite the longer side has the greater measure. </a:t>
              </a:r>
              <a:endPara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26" name="Shape 40" descr="Icon&#10;&#10;Description automatically generated">
              <a:extLst>
                <a:ext uri="{FF2B5EF4-FFF2-40B4-BE49-F238E27FC236}">
                  <a16:creationId xmlns:a16="http://schemas.microsoft.com/office/drawing/2014/main" id="{988EFB60-B632-C34C-AC68-0653C5602DDD}"/>
                </a:ext>
              </a:extLst>
            </p:cNvPr>
            <p:cNvPicPr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342571" y="2042598"/>
              <a:ext cx="539750" cy="53911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2" name="Group 1"/>
          <p:cNvGrpSpPr/>
          <p:nvPr/>
        </p:nvGrpSpPr>
        <p:grpSpPr>
          <a:xfrm>
            <a:off x="1213015" y="3402767"/>
            <a:ext cx="7269480" cy="1265595"/>
            <a:chOff x="1159192" y="3517066"/>
            <a:chExt cx="7269480" cy="1265595"/>
          </a:xfrm>
        </p:grpSpPr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601BA3D9-BA5D-464C-91AE-545D0043A26C}"/>
                </a:ext>
              </a:extLst>
            </p:cNvPr>
            <p:cNvSpPr/>
            <p:nvPr/>
          </p:nvSpPr>
          <p:spPr>
            <a:xfrm>
              <a:off x="1159192" y="3517066"/>
              <a:ext cx="7269480" cy="1265595"/>
            </a:xfrm>
            <a:prstGeom prst="roundRect">
              <a:avLst>
                <a:gd name="adj" fmla="val 16667"/>
              </a:avLst>
            </a:prstGeom>
            <a:solidFill>
              <a:srgbClr val="B8E6F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91440" rIns="91425" bIns="0" anchor="ctr" anchorCtr="0">
              <a:spAutoFit/>
            </a:bodyPr>
            <a:lstStyle/>
            <a:p>
              <a:pPr marL="742950">
                <a:spcAft>
                  <a:spcPts val="1000"/>
                </a:spcAft>
              </a:pPr>
              <a:r>
                <a:rPr lang="en-US" sz="2000" dirty="0">
                  <a:solidFill>
                    <a:srgbClr val="00609E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If two </a:t>
              </a:r>
              <a:r>
                <a:rPr lang="en-US" sz="2000" b="1" dirty="0">
                  <a:solidFill>
                    <a:srgbClr val="00609E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angles</a:t>
              </a:r>
              <a:r>
                <a:rPr lang="en-US" sz="2000" dirty="0">
                  <a:solidFill>
                    <a:srgbClr val="00609E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of a triangle are unequal in measure, then the side opposite the angle with the greater measure is the longer side.</a:t>
              </a:r>
              <a:endPara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27" name="Shape 40" descr="Icon&#10;&#10;Description automatically generated">
              <a:extLst>
                <a:ext uri="{FF2B5EF4-FFF2-40B4-BE49-F238E27FC236}">
                  <a16:creationId xmlns:a16="http://schemas.microsoft.com/office/drawing/2014/main" id="{8CCF4032-3C56-BC40-B08D-70515D867C8B}"/>
                </a:ext>
              </a:extLst>
            </p:cNvPr>
            <p:cNvPicPr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342571" y="3693437"/>
              <a:ext cx="539750" cy="53911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4" name="Group 3"/>
          <p:cNvGrpSpPr/>
          <p:nvPr/>
        </p:nvGrpSpPr>
        <p:grpSpPr>
          <a:xfrm>
            <a:off x="1213015" y="4854263"/>
            <a:ext cx="7269480" cy="1367750"/>
            <a:chOff x="1159192" y="4854263"/>
            <a:chExt cx="7269480" cy="13677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Rounded Rectangle 31">
                  <a:extLst>
                    <a:ext uri="{FF2B5EF4-FFF2-40B4-BE49-F238E27FC236}">
                      <a16:creationId xmlns:a16="http://schemas.microsoft.com/office/drawing/2014/main" id="{6C7A9BF5-1E5D-B548-8B79-6EBEB2D03AA0}"/>
                    </a:ext>
                  </a:extLst>
                </p:cNvPr>
                <p:cNvSpPr/>
                <p:nvPr/>
              </p:nvSpPr>
              <p:spPr>
                <a:xfrm>
                  <a:off x="1159192" y="4854263"/>
                  <a:ext cx="7269480" cy="136775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B8E6F5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spcFirstLastPara="1" wrap="square" lIns="91425" tIns="91440" rIns="91425" bIns="91440" anchor="ctr" anchorCtr="0">
                  <a:spAutoFit/>
                </a:bodyPr>
                <a:lstStyle/>
                <a:p>
                  <a:pPr marL="742950">
                    <a:spcAft>
                      <a:spcPts val="1000"/>
                    </a:spcAft>
                  </a:pPr>
                  <a:r>
                    <a:rPr lang="en-US" sz="2000" b="1" dirty="0">
                      <a:solidFill>
                        <a:srgbClr val="00619E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Whole Greater Than Parts Theorem</a:t>
                  </a:r>
                  <a:endPara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  <a:p>
                  <a:pPr marL="740410"/>
                  <a:r>
                    <a:rPr lang="en-US" sz="2000" dirty="0">
                      <a:solidFill>
                        <a:srgbClr val="00619E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If </a:t>
                  </a: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𝑎</m:t>
                      </m:r>
                      <m:r>
                        <a:rPr lang="en-US" sz="20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&gt;0</m:t>
                      </m:r>
                    </m:oMath>
                  </a14:m>
                  <a:r>
                    <a:rPr lang="en-US" sz="2000" dirty="0">
                      <a:solidFill>
                        <a:srgbClr val="00619E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𝑏</m:t>
                      </m:r>
                      <m:r>
                        <a:rPr lang="en-US" sz="20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&gt;0</m:t>
                      </m:r>
                    </m:oMath>
                  </a14:m>
                  <a:r>
                    <a:rPr lang="en-US" sz="2000" dirty="0">
                      <a:solidFill>
                        <a:srgbClr val="00619E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, and </a:t>
                  </a: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𝑎</m:t>
                      </m:r>
                      <m:r>
                        <a:rPr lang="en-US" sz="20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+</m:t>
                      </m:r>
                      <m:r>
                        <a:rPr lang="en-US" sz="20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𝑏</m:t>
                      </m:r>
                      <m:r>
                        <a:rPr lang="en-US" sz="20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=</m:t>
                      </m:r>
                      <m:r>
                        <a:rPr lang="en-US" sz="20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𝑐</m:t>
                      </m:r>
                    </m:oMath>
                  </a14:m>
                  <a:r>
                    <a:rPr lang="en-US" sz="2000" dirty="0">
                      <a:solidFill>
                        <a:srgbClr val="00619E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, then </a:t>
                  </a:r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𝑐</m:t>
                      </m:r>
                      <m:r>
                        <a:rPr lang="en-US" sz="20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&gt;</m:t>
                      </m:r>
                      <m:r>
                        <a:rPr lang="en-US" sz="20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𝑎</m:t>
                      </m:r>
                    </m:oMath>
                  </a14:m>
                  <a:r>
                    <a:rPr lang="en-US" sz="2000" dirty="0">
                      <a:solidFill>
                        <a:srgbClr val="00619E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and</a:t>
                  </a:r>
                  <a:endPara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  <a:p>
                  <a:pPr marL="740410"/>
                  <a14:m>
                    <m:oMath xmlns:m="http://schemas.openxmlformats.org/officeDocument/2006/math">
                      <m:r>
                        <a:rPr lang="en-US" sz="20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𝑐</m:t>
                      </m:r>
                      <m:r>
                        <a:rPr lang="en-US" sz="20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&gt;</m:t>
                      </m:r>
                      <m:r>
                        <a:rPr lang="en-US" sz="2000" i="1">
                          <a:solidFill>
                            <a:srgbClr val="00619E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𝑏</m:t>
                      </m:r>
                    </m:oMath>
                  </a14:m>
                  <a:r>
                    <a:rPr lang="en-US" sz="2000" dirty="0">
                      <a:solidFill>
                        <a:srgbClr val="00619E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.</a:t>
                  </a:r>
                  <a:endPara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32" name="Rounded Rectangle 31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6C7A9BF5-1E5D-B548-8B79-6EBEB2D03AA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9192" y="4854263"/>
                  <a:ext cx="7269480" cy="1367750"/>
                </a:xfrm>
                <a:prstGeom prst="roundRect">
                  <a:avLst>
                    <a:gd name="adj" fmla="val 16667"/>
                  </a:avLst>
                </a:prstGeom>
                <a:blipFill rotWithShape="1">
                  <a:blip r:embed="rId6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8" name="Shape 40" descr="Icon&#10;&#10;Description automatically generated">
              <a:extLst>
                <a:ext uri="{FF2B5EF4-FFF2-40B4-BE49-F238E27FC236}">
                  <a16:creationId xmlns:a16="http://schemas.microsoft.com/office/drawing/2014/main" id="{8E464A15-E3F3-A24C-B1B5-A63BE590E525}"/>
                </a:ext>
              </a:extLst>
            </p:cNvPr>
            <p:cNvPicPr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342571" y="5030470"/>
              <a:ext cx="539750" cy="53911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29" name="Google Shape;282;g104476d1465_1_17">
            <a:extLst>
              <a:ext uri="{FF2B5EF4-FFF2-40B4-BE49-F238E27FC236}">
                <a16:creationId xmlns:a16="http://schemas.microsoft.com/office/drawing/2014/main" id="{FC3E52CB-162F-2145-955E-1E0650897A6E}"/>
              </a:ext>
            </a:extLst>
          </p:cNvPr>
          <p:cNvSpPr txBox="1"/>
          <p:nvPr/>
        </p:nvSpPr>
        <p:spPr>
          <a:xfrm>
            <a:off x="8889924" y="648208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465232" y="288745"/>
                <a:ext cx="10950020" cy="59400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Aft>
                    <a:spcPts val="1000"/>
                  </a:spcAft>
                </a:pPr>
                <a:r>
                  <a:rPr lang="en-PH" sz="2000" dirty="0">
                    <a:latin typeface="Verdana" pitchFamily="34" charset="0"/>
                    <a:ea typeface="Verdana" pitchFamily="34" charset="0"/>
                    <a:cs typeface="Times New Roman" panose="02020603050405020304" pitchFamily="18" charset="0"/>
                  </a:rPr>
                  <a:t>1.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𝑇𝐻𝑀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is shown, with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𝑇𝐷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creating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𝐻𝑇𝐷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𝐷𝑇𝑀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, 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𝐷𝑇𝑀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is an equilateral triangle.</a:t>
                </a:r>
              </a:p>
              <a:p>
                <a:pPr marL="457200" indent="-457200">
                  <a:spcAft>
                    <a:spcPts val="1000"/>
                  </a:spcAft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spcAft>
                    <a:spcPts val="1000"/>
                  </a:spcAft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spcAft>
                    <a:spcPts val="1000"/>
                  </a:spcAft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spcAft>
                    <a:spcPts val="1000"/>
                  </a:spcAft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spcAft>
                    <a:spcPts val="1000"/>
                  </a:spcAft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spcAft>
                    <a:spcPts val="1000"/>
                  </a:spcAft>
                  <a:buFont typeface="+mj-lt"/>
                  <a:buAutoNum type="arabicPeriod"/>
                </a:pPr>
                <a:endParaRPr lang="en-PH" sz="2000" dirty="0">
                  <a:latin typeface="Verdana" panose="020B0604030504040204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spcAft>
                    <a:spcPts val="1000"/>
                  </a:spcAft>
                  <a:buFont typeface="+mj-lt"/>
                  <a:buAutoNum type="arabicPeriod"/>
                </a:pPr>
                <a:endParaRPr lang="en-PH" sz="2000" dirty="0">
                  <a:latin typeface="Verdana" panose="020B0604030504040204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spcAft>
                    <a:spcPts val="1000"/>
                  </a:spcAft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spcAft>
                    <a:spcPts val="1000"/>
                  </a:spcAft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457200">
                  <a:spcAft>
                    <a:spcPts val="100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Given: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𝐷𝑇𝑀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is equilateral;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𝐷𝑇𝐻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=22°</m:t>
                    </m:r>
                  </m:oMath>
                </a14:m>
                <a:endParaRPr lang="en-US" sz="2000" dirty="0">
                  <a:latin typeface="Verdana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457200">
                  <a:spcAft>
                    <a:spcPts val="1000"/>
                  </a:spcAft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 panose="02020603050405020304" pitchFamily="18" charset="0"/>
                  </a:rPr>
                  <a:t>Prove: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𝐻𝑀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𝐻𝑇</m:t>
                    </m:r>
                  </m:oMath>
                </a14:m>
                <a:endParaRPr lang="en-US" sz="2000" dirty="0">
                  <a:latin typeface="Verdana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457200" indent="-457200">
                  <a:spcAft>
                    <a:spcPts val="1000"/>
                  </a:spcAft>
                  <a:buFont typeface="+mj-lt"/>
                  <a:buAutoNum type="arabicPeriod"/>
                </a:pPr>
                <a:endParaRPr lang="en-US" sz="2000" dirty="0">
                  <a:latin typeface="Verdana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288745"/>
                <a:ext cx="10950020" cy="5940088"/>
              </a:xfrm>
              <a:prstGeom prst="rect">
                <a:avLst/>
              </a:prstGeom>
              <a:blipFill>
                <a:blip r:embed="rId4"/>
                <a:stretch>
                  <a:fillRect l="-556" t="-513" r="-1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B4A76A73-C1AC-3C49-ABC9-29DE0EF32559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1615408" y="1113245"/>
            <a:ext cx="6026785" cy="3643630"/>
          </a:xfrm>
          <a:prstGeom prst="rect">
            <a:avLst/>
          </a:prstGeom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1C4FBA0-9749-814F-912F-3BF325C73B43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081314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2147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137359F-34D9-3144-A5B2-D8F74508CE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3191164"/>
                  </p:ext>
                </p:extLst>
              </p:nvPr>
            </p:nvGraphicFramePr>
            <p:xfrm>
              <a:off x="934361" y="666299"/>
              <a:ext cx="9920452" cy="538255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434159">
                      <a:extLst>
                        <a:ext uri="{9D8B030D-6E8A-4147-A177-3AD203B41FA5}">
                          <a16:colId xmlns:a16="http://schemas.microsoft.com/office/drawing/2014/main" val="1641762857"/>
                        </a:ext>
                      </a:extLst>
                    </a:gridCol>
                    <a:gridCol w="4486293">
                      <a:extLst>
                        <a:ext uri="{9D8B030D-6E8A-4147-A177-3AD203B41FA5}">
                          <a16:colId xmlns:a16="http://schemas.microsoft.com/office/drawing/2014/main" val="24485697"/>
                        </a:ext>
                      </a:extLst>
                    </a:gridCol>
                  </a:tblGrid>
                  <a:tr h="24881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Statement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Reason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3475065"/>
                      </a:ext>
                    </a:extLst>
                  </a:tr>
                  <a:tr h="497625">
                    <a:tc>
                      <a:txBody>
                        <a:bodyPr/>
                        <a:lstStyle/>
                        <a:p>
                          <a:pPr marL="457200" marR="0" indent="-4572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1.</a:t>
                          </a:r>
                          <a:r>
                            <a:rPr lang="en-US" sz="2000" dirty="0"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 	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∆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𝐷𝑇𝑀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is equilateral;</a:t>
                          </a:r>
                          <a:endParaRPr lang="en-PH" sz="2000" i="1" dirty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457200" marR="0" indent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𝐷𝑇𝐻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=22°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57200" marR="0" indent="-4572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Given</a:t>
                          </a: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45627778"/>
                      </a:ext>
                    </a:extLst>
                  </a:tr>
                  <a:tr h="668107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2. </a:t>
                          </a: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57200" marR="0" indent="-4572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 startAt="2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Property of equilateral triangles</a:t>
                          </a: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31695715"/>
                      </a:ext>
                    </a:extLst>
                  </a:tr>
                  <a:tr h="719943">
                    <a:tc>
                      <a:txBody>
                        <a:bodyPr/>
                        <a:lstStyle/>
                        <a:p>
                          <a:pPr marL="457200" marR="0" indent="-4572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3.</a:t>
                          </a:r>
                          <a:r>
                            <a:rPr lang="en-US" sz="2000" dirty="0"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 	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US" sz="2000" dirty="0" smtClean="0">
                                  <a:latin typeface="Verdana" panose="020B0604030504040204" pitchFamily="34" charset="0"/>
                                  <a:ea typeface="Verdana" pitchFamily="34" charset="0"/>
                                  <a:cs typeface="Times New Roman" panose="02020603050405020304" pitchFamily="18" charset="0"/>
                                </a:rPr>
                                <m:t>	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𝐷𝑇𝑀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𝐷𝑇𝐻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𝑀𝑇𝐻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3. 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50737726"/>
                      </a:ext>
                    </a:extLst>
                  </a:tr>
                  <a:tr h="719943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4. </a:t>
                          </a: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57200" marR="0" indent="-4572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 startAt="4"/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Substitution Property</a:t>
                          </a:r>
                          <a:b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of Equality 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01555156"/>
                      </a:ext>
                    </a:extLst>
                  </a:tr>
                  <a:tr h="564436">
                    <a:tc>
                      <a:txBody>
                        <a:bodyPr/>
                        <a:lstStyle/>
                        <a:p>
                          <a:pPr marL="457200" marR="0" indent="-4572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5.</a:t>
                          </a:r>
                          <a:r>
                            <a:rPr lang="en-US" sz="2000" dirty="0"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 	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𝑀𝑇𝐻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&gt;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𝑇𝑀𝐷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57200" marR="0" indent="-4572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 startAt="5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Whole greater than parts theorem</a:t>
                          </a: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18195959"/>
                      </a:ext>
                    </a:extLst>
                  </a:tr>
                  <a:tr h="932471">
                    <a:tc>
                      <a:txBody>
                        <a:bodyPr/>
                        <a:lstStyle/>
                        <a:p>
                          <a:pPr marL="457200" marR="0" indent="-4572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6.</a:t>
                          </a:r>
                          <a:r>
                            <a:rPr lang="en-US" sz="2000" dirty="0"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 	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𝐻𝑀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&gt;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𝐻𝑇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6.</a:t>
                          </a: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149653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137359F-34D9-3144-A5B2-D8F74508CE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3191164"/>
                  </p:ext>
                </p:extLst>
              </p:nvPr>
            </p:nvGraphicFramePr>
            <p:xfrm>
              <a:off x="934361" y="666299"/>
              <a:ext cx="9920452" cy="538255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5434159">
                      <a:extLst>
                        <a:ext uri="{9D8B030D-6E8A-4147-A177-3AD203B41FA5}">
                          <a16:colId xmlns:a16="http://schemas.microsoft.com/office/drawing/2014/main" val="1641762857"/>
                        </a:ext>
                      </a:extLst>
                    </a:gridCol>
                    <a:gridCol w="4486293">
                      <a:extLst>
                        <a:ext uri="{9D8B030D-6E8A-4147-A177-3AD203B41FA5}">
                          <a16:colId xmlns:a16="http://schemas.microsoft.com/office/drawing/2014/main" val="24485697"/>
                        </a:ext>
                      </a:extLst>
                    </a:gridCol>
                  </a:tblGrid>
                  <a:tr h="4876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Statement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Reason</a:t>
                          </a:r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3475065"/>
                      </a:ext>
                    </a:extLst>
                  </a:tr>
                  <a:tr h="792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2" t="-62308" r="-82735" b="-5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457200" marR="0" indent="-4572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Given</a:t>
                          </a: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45627778"/>
                      </a:ext>
                    </a:extLst>
                  </a:tr>
                  <a:tr h="7924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2. </a:t>
                          </a: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57200" marR="0" indent="-4572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 startAt="2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Property of equilateral triangles</a:t>
                          </a: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31695715"/>
                      </a:ext>
                    </a:extLst>
                  </a:tr>
                  <a:tr h="792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2" t="-260305" r="-82735" b="-3167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3. 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50737726"/>
                      </a:ext>
                    </a:extLst>
                  </a:tr>
                  <a:tr h="7924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4. </a:t>
                          </a: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57200" marR="0" indent="-4572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 startAt="4"/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Substitution Property</a:t>
                          </a:r>
                          <a:b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of Equality 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01555156"/>
                      </a:ext>
                    </a:extLst>
                  </a:tr>
                  <a:tr h="792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2" t="-463077" r="-82735" b="-11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457200" marR="0" indent="-4572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 startAt="5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Whole greater than parts theorem</a:t>
                          </a: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18195959"/>
                      </a:ext>
                    </a:extLst>
                  </a:tr>
                  <a:tr h="93247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2" t="-478431" r="-82735" b="-13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6.</a:t>
                          </a: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149653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0BDEBF32-422E-8D42-978F-10D627C53683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68415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116285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13171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79F27821-F24A-094F-90CD-F82B92E6FC8D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006151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60325"/>
            <a:ext cx="1068706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11.6.6 Try It: Triangle’s Angle Measures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B6A3A1-5A0D-C84F-AC89-57E6782F43E5}"/>
                  </a:ext>
                </a:extLst>
              </p:cNvPr>
              <p:cNvSpPr txBox="1"/>
              <p:nvPr/>
            </p:nvSpPr>
            <p:spPr>
              <a:xfrm>
                <a:off x="593248" y="1386025"/>
                <a:ext cx="1103490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/>
                <a:r>
                  <a:rPr lang="en-PH" sz="2000" dirty="0">
                    <a:latin typeface="Verdana" pitchFamily="34" charset="0"/>
                    <a:ea typeface="Verdana" pitchFamily="34" charset="0"/>
                    <a:cs typeface="Times New Roman" panose="02020603050405020304" pitchFamily="18" charset="0"/>
                  </a:rPr>
                  <a:t>1.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𝑇𝐾𝑀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shown,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𝐾𝑇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=32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𝑀𝐾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=34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𝑇𝑀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b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List the angles in order from least to greatest. </a:t>
                </a:r>
                <a:endParaRPr lang="en-US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B6A3A1-5A0D-C84F-AC89-57E6782F4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6025"/>
                <a:ext cx="11034902" cy="707886"/>
              </a:xfrm>
              <a:prstGeom prst="rect">
                <a:avLst/>
              </a:prstGeom>
              <a:blipFill>
                <a:blip r:embed="rId5"/>
                <a:stretch>
                  <a:fillRect l="-552" t="-4310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A52CABAF-8387-4B41-AA83-513724770847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2156491" y="2171431"/>
            <a:ext cx="5200650" cy="3219450"/>
          </a:xfrm>
          <a:prstGeom prst="rect">
            <a:avLst/>
          </a:prstGeom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00D082BB-C78D-8E49-9943-E13F1BE1CB2F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650825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644B02EA-9692-514A-A740-C924A62D2381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34800" y="251130"/>
            <a:ext cx="8019300" cy="433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11.6.7 Wrap-Up: Cool Down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107950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93248" y="1186001"/>
            <a:ext cx="1093067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3550" indent="-46355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List three side lengths that would not make a triangle. Explain how you know those sides would not make a triangle.</a:t>
            </a:r>
            <a:endParaRPr lang="en-US" sz="2400" i="0" u="none" strike="noStrike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3550" indent="-46355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sz="2400" b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3550" indent="-46355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sz="2400" i="0" u="none" strike="noStrike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3550" indent="-46355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sz="2400" b="0" dirty="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63550" indent="-463550"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List three side lengths that would make a triangle. Explain how you know those sides would make a triangle.</a:t>
            </a:r>
          </a:p>
          <a:p>
            <a:pPr marL="463550" indent="-463550"/>
            <a:br>
              <a:rPr lang="en-US" sz="2400" b="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50B612BA-4CB3-F049-BF68-F6DD210396EC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1331</TotalTime>
  <Words>1208</Words>
  <Application>Microsoft Office PowerPoint</Application>
  <PresentationFormat>Widescreen</PresentationFormat>
  <Paragraphs>237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Calibri</vt:lpstr>
      <vt:lpstr>Cambria</vt:lpstr>
      <vt:lpstr>Verdana</vt:lpstr>
      <vt:lpstr>Wingdings</vt:lpstr>
      <vt:lpstr>Century Gothic</vt:lpstr>
      <vt:lpstr>Arial</vt:lpstr>
      <vt:lpstr>Arial Black</vt:lpstr>
      <vt:lpstr>Cambria Math</vt:lpstr>
      <vt:lpstr>Courier New</vt:lpstr>
      <vt:lpstr>1_Office Theme</vt:lpstr>
      <vt:lpstr>Geometry  Unit 11, Lesson 6  Triangle Inequality Theorem  Volume 2, pg. 207  </vt:lpstr>
      <vt:lpstr>Benchmarks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Try It</vt:lpstr>
      <vt:lpstr>PowerPoint Presentation</vt:lpstr>
      <vt:lpstr>Exploration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Try It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25</cp:revision>
  <dcterms:created xsi:type="dcterms:W3CDTF">2015-03-17T18:51:18Z</dcterms:created>
  <dcterms:modified xsi:type="dcterms:W3CDTF">2022-09-16T16:22:44Z</dcterms:modified>
</cp:coreProperties>
</file>