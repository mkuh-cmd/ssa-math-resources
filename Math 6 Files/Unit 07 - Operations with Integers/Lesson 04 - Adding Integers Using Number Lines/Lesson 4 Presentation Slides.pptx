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351" r:id="rId8"/>
    <p:sldId id="342" r:id="rId9"/>
    <p:sldId id="343" r:id="rId10"/>
    <p:sldId id="344" r:id="rId11"/>
    <p:sldId id="358" r:id="rId12"/>
    <p:sldId id="346" r:id="rId13"/>
    <p:sldId id="347" r:id="rId14"/>
    <p:sldId id="359" r:id="rId15"/>
    <p:sldId id="360" r:id="rId16"/>
    <p:sldId id="361" r:id="rId17"/>
    <p:sldId id="302" r:id="rId18"/>
    <p:sldId id="303" r:id="rId19"/>
    <p:sldId id="340" r:id="rId20"/>
    <p:sldId id="356" r:id="rId21"/>
    <p:sldId id="348" r:id="rId22"/>
    <p:sldId id="349" r:id="rId23"/>
    <p:sldId id="362" r:id="rId24"/>
    <p:sldId id="311" r:id="rId25"/>
    <p:sldId id="312" r:id="rId26"/>
    <p:sldId id="333" r:id="rId27"/>
    <p:sldId id="363" r:id="rId28"/>
    <p:sldId id="364" r:id="rId29"/>
    <p:sldId id="306" r:id="rId30"/>
    <p:sldId id="307" r:id="rId31"/>
  </p:sldIdLst>
  <p:sldSz cx="12192000" cy="6858000"/>
  <p:notesSz cx="6858000" cy="9144000"/>
  <p:embeddedFontLst>
    <p:embeddedFont>
      <p:font typeface="Arial Black" panose="020B0A04020102020204" pitchFamily="34" charset="0"/>
      <p:bold r:id="rId33"/>
    </p:embeddedFont>
    <p:embeddedFont>
      <p:font typeface="Calibri" panose="020F0502020204030204" pitchFamily="34" charset="0"/>
      <p:regular r:id="rId34"/>
      <p:bold r:id="rId35"/>
      <p:italic r:id="rId36"/>
      <p:boldItalic r:id="rId37"/>
    </p:embeddedFont>
    <p:embeddedFont>
      <p:font typeface="Cambria" panose="02040503050406030204" pitchFamily="18" charset="0"/>
      <p:regular r:id="rId38"/>
      <p:bold r:id="rId39"/>
      <p:italic r:id="rId40"/>
      <p:boldItalic r:id="rId41"/>
    </p:embeddedFont>
    <p:embeddedFont>
      <p:font typeface="Cambria Math" panose="02040503050406030204" pitchFamily="18" charset="0"/>
      <p:regular r:id="rId42"/>
    </p:embeddedFont>
    <p:embeddedFont>
      <p:font typeface="Century Gothic" panose="020B0502020202020204"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29"/>
    <p:restoredTop sz="94694"/>
  </p:normalViewPr>
  <p:slideViewPr>
    <p:cSldViewPr snapToGrid="0">
      <p:cViewPr varScale="1">
        <p:scale>
          <a:sx n="79" d="100"/>
          <a:sy n="79" d="100"/>
        </p:scale>
        <p:origin x="413"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62782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1881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391276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658913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962024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737060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09831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882745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041515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682653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231250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110105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tiff"/><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2.tiff"/><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7.tiff"/><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2.tiff"/><Relationship Id="rId3" Type="http://schemas.openxmlformats.org/officeDocument/2006/relationships/image" Target="../media/image10.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0.tiff"/><Relationship Id="rId5" Type="http://schemas.openxmlformats.org/officeDocument/2006/relationships/image" Target="../media/image29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0.tiff"/><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5.tiff"/><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40.png"/><Relationship Id="rId5" Type="http://schemas.openxmlformats.org/officeDocument/2006/relationships/image" Target="../media/image36.tiff"/><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0.png"/><Relationship Id="rId7" Type="http://schemas.openxmlformats.org/officeDocument/2006/relationships/image" Target="../media/image39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39.png"/><Relationship Id="rId4" Type="http://schemas.openxmlformats.org/officeDocument/2006/relationships/image" Target="../media/image40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6.tiff"/><Relationship Id="rId4" Type="http://schemas.openxmlformats.org/officeDocument/2006/relationships/image" Target="../media/image45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7.tiff"/><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25119" y="2140968"/>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Adding Integers Using Number Lines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6" y="1204500"/>
            <a:ext cx="1109794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add and subtract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3916"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a:t>
            </a:r>
            <a:r>
              <a:rPr lang="en-US" sz="3000" b="1">
                <a:solidFill>
                  <a:srgbClr val="54B5D1"/>
                </a:solidFill>
                <a:latin typeface="Verdana"/>
                <a:ea typeface="Verdana"/>
                <a:cs typeface="Verdana"/>
                <a:sym typeface="Verdana"/>
              </a:rPr>
              <a:t>Reasoning Standard</a:t>
            </a:r>
            <a:endParaRPr lang="en-US" sz="3000" b="1" dirty="0">
              <a:solidFill>
                <a:srgbClr val="54B5D1"/>
              </a:solidFill>
              <a:latin typeface="Verdana"/>
              <a:ea typeface="Verdana"/>
              <a:cs typeface="Verdana"/>
              <a:sym typeface="Verdana"/>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5" y="1526868"/>
            <a:ext cx="1083246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p:txBody>
      </p:sp>
      <p:sp>
        <p:nvSpPr>
          <p:cNvPr id="9" name="Google Shape;282;g104476d1465_1_17">
            <a:extLst>
              <a:ext uri="{FF2B5EF4-FFF2-40B4-BE49-F238E27FC236}">
                <a16:creationId xmlns:a16="http://schemas.microsoft.com/office/drawing/2014/main" id="{AC0AE969-0A27-9545-AB11-BBE5491801C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257830"/>
            <a:ext cx="822960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add integers using a number line.</a:t>
            </a:r>
          </a:p>
        </p:txBody>
      </p:sp>
      <p:sp>
        <p:nvSpPr>
          <p:cNvPr id="8" name="Google Shape;282;g104476d1465_1_17">
            <a:extLst>
              <a:ext uri="{FF2B5EF4-FFF2-40B4-BE49-F238E27FC236}">
                <a16:creationId xmlns:a16="http://schemas.microsoft.com/office/drawing/2014/main" id="{AE0319DD-E1E2-064E-A3C0-1ADADEA7DC7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6503EB0-E904-7143-BA20-369F935837E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45824"/>
            <a:ext cx="99566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7.4.1 Warm-Up: Speed Is Not Important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730266" y="1279876"/>
            <a:ext cx="11156934"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How fast you perform calculations in mathematics is not at all related to how “good” you are at math. Fast calculation is not important. What matters is deep thinking and understanding.</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a time when you felt rushed to perform calculations on a math assignment or assessment.</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509130" y="613235"/>
            <a:ext cx="1137807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If you were given as much time as you needed in the situation you described, how would that have affected your feelings and performance on completing the assignment or assessment?</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0829"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A21BFB15-8FF8-764F-95C7-BC60E1B60A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3" y="2271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7.4.2 Refresher: Plotting Numbers on a Number Line</a:t>
            </a:r>
          </a:p>
        </p:txBody>
      </p:sp>
      <p:sp>
        <p:nvSpPr>
          <p:cNvPr id="2" name="Rectangle 1">
            <a:extLst>
              <a:ext uri="{FF2B5EF4-FFF2-40B4-BE49-F238E27FC236}">
                <a16:creationId xmlns:a16="http://schemas.microsoft.com/office/drawing/2014/main" id="{B2BE9AFC-D858-8947-AE27-3738478587E3}"/>
              </a:ext>
            </a:extLst>
          </p:cNvPr>
          <p:cNvSpPr/>
          <p:nvPr/>
        </p:nvSpPr>
        <p:spPr>
          <a:xfrm>
            <a:off x="730265" y="1579096"/>
            <a:ext cx="11024199"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Plot each of the following integers on the number line below. Label each point with the letter indicated.</a:t>
            </a:r>
          </a:p>
        </p:txBody>
      </p:sp>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F4B1FB9F-3E8E-1546-B764-AFA0B2AD43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1" cy="747301"/>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3C34DD57-6BA1-2644-AB4D-D5CA199CE8D0}"/>
                  </a:ext>
                </a:extLst>
              </p:cNvPr>
              <p:cNvGraphicFramePr>
                <a:graphicFrameLocks noGrp="1"/>
              </p:cNvGraphicFramePr>
              <p:nvPr>
                <p:extLst>
                  <p:ext uri="{D42A27DB-BD31-4B8C-83A1-F6EECF244321}">
                    <p14:modId xmlns:p14="http://schemas.microsoft.com/office/powerpoint/2010/main" val="3968267656"/>
                  </p:ext>
                </p:extLst>
              </p:nvPr>
            </p:nvGraphicFramePr>
            <p:xfrm>
              <a:off x="2365300" y="3371006"/>
              <a:ext cx="7766050" cy="274320"/>
            </p:xfrm>
            <a:graphic>
              <a:graphicData uri="http://schemas.openxmlformats.org/drawingml/2006/table">
                <a:tbl>
                  <a:tblPr firstRow="1" firstCol="1" bandRow="1">
                    <a:tableStyleId>{A91F0D33-8C57-4600-99A7-42BC86742BE1}</a:tableStyleId>
                  </a:tblPr>
                  <a:tblGrid>
                    <a:gridCol w="1294130">
                      <a:extLst>
                        <a:ext uri="{9D8B030D-6E8A-4147-A177-3AD203B41FA5}">
                          <a16:colId xmlns:a16="http://schemas.microsoft.com/office/drawing/2014/main" val="110770977"/>
                        </a:ext>
                      </a:extLst>
                    </a:gridCol>
                    <a:gridCol w="1294130">
                      <a:extLst>
                        <a:ext uri="{9D8B030D-6E8A-4147-A177-3AD203B41FA5}">
                          <a16:colId xmlns:a16="http://schemas.microsoft.com/office/drawing/2014/main" val="2526948438"/>
                        </a:ext>
                      </a:extLst>
                    </a:gridCol>
                    <a:gridCol w="1294130">
                      <a:extLst>
                        <a:ext uri="{9D8B030D-6E8A-4147-A177-3AD203B41FA5}">
                          <a16:colId xmlns:a16="http://schemas.microsoft.com/office/drawing/2014/main" val="3255293960"/>
                        </a:ext>
                      </a:extLst>
                    </a:gridCol>
                    <a:gridCol w="1294130">
                      <a:extLst>
                        <a:ext uri="{9D8B030D-6E8A-4147-A177-3AD203B41FA5}">
                          <a16:colId xmlns:a16="http://schemas.microsoft.com/office/drawing/2014/main" val="2445278028"/>
                        </a:ext>
                      </a:extLst>
                    </a:gridCol>
                    <a:gridCol w="1294765">
                      <a:extLst>
                        <a:ext uri="{9D8B030D-6E8A-4147-A177-3AD203B41FA5}">
                          <a16:colId xmlns:a16="http://schemas.microsoft.com/office/drawing/2014/main" val="3685115070"/>
                        </a:ext>
                      </a:extLst>
                    </a:gridCol>
                    <a:gridCol w="1294765">
                      <a:extLst>
                        <a:ext uri="{9D8B030D-6E8A-4147-A177-3AD203B41FA5}">
                          <a16:colId xmlns:a16="http://schemas.microsoft.com/office/drawing/2014/main" val="3648991719"/>
                        </a:ext>
                      </a:extLst>
                    </a:gridCol>
                  </a:tblGrid>
                  <a:tr h="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 4</m:t>
                                </m:r>
                              </m:oMath>
                            </m:oMathPara>
                          </a14:m>
                          <a:endParaRPr lang="x-none" sz="1600" i="1">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𝐵</m:t>
                                </m:r>
                                <m:r>
                                  <a:rPr lang="en-US" sz="1800">
                                    <a:effectLst/>
                                    <a:latin typeface="Cambria Math" panose="02040503050406030204" pitchFamily="18" charset="0"/>
                                  </a:rPr>
                                  <m:t> = −4</m:t>
                                </m:r>
                              </m:oMath>
                            </m:oMathPara>
                          </a14:m>
                          <a:endParaRPr lang="x-none" sz="1600" i="1">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𝐶</m:t>
                                </m:r>
                                <m:r>
                                  <a:rPr lang="en-US" sz="1800">
                                    <a:effectLst/>
                                    <a:latin typeface="Cambria Math" panose="02040503050406030204" pitchFamily="18" charset="0"/>
                                  </a:rPr>
                                  <m:t> = −16</m:t>
                                </m:r>
                              </m:oMath>
                            </m:oMathPara>
                          </a14:m>
                          <a:endParaRPr lang="x-none" sz="1600" i="1">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𝐷</m:t>
                                </m:r>
                                <m:r>
                                  <a:rPr lang="en-US" sz="1800">
                                    <a:effectLst/>
                                    <a:latin typeface="Cambria Math" panose="02040503050406030204" pitchFamily="18" charset="0"/>
                                  </a:rPr>
                                  <m:t> = 8</m:t>
                                </m:r>
                              </m:oMath>
                            </m:oMathPara>
                          </a14:m>
                          <a:endParaRPr lang="x-none" sz="1600" i="1">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𝐸</m:t>
                                </m:r>
                                <m:r>
                                  <a:rPr lang="en-US" sz="1800">
                                    <a:effectLst/>
                                    <a:latin typeface="Cambria Math" panose="02040503050406030204" pitchFamily="18" charset="0"/>
                                  </a:rPr>
                                  <m:t> = 18</m:t>
                                </m:r>
                              </m:oMath>
                            </m:oMathPara>
                          </a14:m>
                          <a:endParaRPr lang="x-none" sz="1600" i="1" dirty="0">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𝐹</m:t>
                                </m:r>
                                <m:r>
                                  <a:rPr lang="en-US" sz="1800">
                                    <a:effectLst/>
                                    <a:latin typeface="Cambria Math" panose="02040503050406030204" pitchFamily="18" charset="0"/>
                                  </a:rPr>
                                  <m:t> = −19</m:t>
                                </m:r>
                              </m:oMath>
                            </m:oMathPara>
                          </a14:m>
                          <a:endParaRPr lang="x-none" sz="1600" i="1" dirty="0">
                            <a:effectLst/>
                            <a:latin typeface="Cambria Math" panose="02040503050406030204" pitchFamily="18" charset="0"/>
                            <a:ea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630963881"/>
                      </a:ext>
                    </a:extLst>
                  </a:tr>
                </a:tbl>
              </a:graphicData>
            </a:graphic>
          </p:graphicFrame>
        </mc:Choice>
        <mc:Fallback xmlns="">
          <p:graphicFrame>
            <p:nvGraphicFramePr>
              <p:cNvPr id="8" name="Table 7">
                <a:extLst>
                  <a:ext uri="{FF2B5EF4-FFF2-40B4-BE49-F238E27FC236}">
                    <a16:creationId xmlns:a16="http://schemas.microsoft.com/office/drawing/2014/main" id="{3C34DD57-6BA1-2644-AB4D-D5CA199CE8D0}"/>
                  </a:ext>
                </a:extLst>
              </p:cNvPr>
              <p:cNvGraphicFramePr>
                <a:graphicFrameLocks noGrp="1"/>
              </p:cNvGraphicFramePr>
              <p:nvPr>
                <p:extLst>
                  <p:ext uri="{D42A27DB-BD31-4B8C-83A1-F6EECF244321}">
                    <p14:modId xmlns:p14="http://schemas.microsoft.com/office/powerpoint/2010/main" val="3968267656"/>
                  </p:ext>
                </p:extLst>
              </p:nvPr>
            </p:nvGraphicFramePr>
            <p:xfrm>
              <a:off x="2365300" y="3371006"/>
              <a:ext cx="7766050" cy="274320"/>
            </p:xfrm>
            <a:graphic>
              <a:graphicData uri="http://schemas.openxmlformats.org/drawingml/2006/table">
                <a:tbl>
                  <a:tblPr firstRow="1" firstCol="1" bandRow="1">
                    <a:tableStyleId>{A91F0D33-8C57-4600-99A7-42BC86742BE1}</a:tableStyleId>
                  </a:tblPr>
                  <a:tblGrid>
                    <a:gridCol w="1294130">
                      <a:extLst>
                        <a:ext uri="{9D8B030D-6E8A-4147-A177-3AD203B41FA5}">
                          <a16:colId xmlns:a16="http://schemas.microsoft.com/office/drawing/2014/main" val="110770977"/>
                        </a:ext>
                      </a:extLst>
                    </a:gridCol>
                    <a:gridCol w="1294130">
                      <a:extLst>
                        <a:ext uri="{9D8B030D-6E8A-4147-A177-3AD203B41FA5}">
                          <a16:colId xmlns:a16="http://schemas.microsoft.com/office/drawing/2014/main" val="2526948438"/>
                        </a:ext>
                      </a:extLst>
                    </a:gridCol>
                    <a:gridCol w="1294130">
                      <a:extLst>
                        <a:ext uri="{9D8B030D-6E8A-4147-A177-3AD203B41FA5}">
                          <a16:colId xmlns:a16="http://schemas.microsoft.com/office/drawing/2014/main" val="3255293960"/>
                        </a:ext>
                      </a:extLst>
                    </a:gridCol>
                    <a:gridCol w="1294130">
                      <a:extLst>
                        <a:ext uri="{9D8B030D-6E8A-4147-A177-3AD203B41FA5}">
                          <a16:colId xmlns:a16="http://schemas.microsoft.com/office/drawing/2014/main" val="2445278028"/>
                        </a:ext>
                      </a:extLst>
                    </a:gridCol>
                    <a:gridCol w="1294765">
                      <a:extLst>
                        <a:ext uri="{9D8B030D-6E8A-4147-A177-3AD203B41FA5}">
                          <a16:colId xmlns:a16="http://schemas.microsoft.com/office/drawing/2014/main" val="3685115070"/>
                        </a:ext>
                      </a:extLst>
                    </a:gridCol>
                    <a:gridCol w="1294765">
                      <a:extLst>
                        <a:ext uri="{9D8B030D-6E8A-4147-A177-3AD203B41FA5}">
                          <a16:colId xmlns:a16="http://schemas.microsoft.com/office/drawing/2014/main" val="3648991719"/>
                        </a:ext>
                      </a:extLst>
                    </a:gridCol>
                  </a:tblGrid>
                  <a:tr h="27432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8696" r="-500000" b="-3478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000" t="-8696" r="-400000" b="-3478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0000" t="-8696" r="-300000" b="-3478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300000" t="-8696" r="-200000" b="-3478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400000" t="-8696" r="-100000" b="-3478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500000" t="-8696" b="-34783"/>
                          </a:stretch>
                        </a:blipFill>
                      </a:tcPr>
                    </a:tc>
                    <a:extLst>
                      <a:ext uri="{0D108BD9-81ED-4DB2-BD59-A6C34878D82A}">
                        <a16:rowId xmlns:a16="http://schemas.microsoft.com/office/drawing/2014/main" val="630963881"/>
                      </a:ext>
                    </a:extLst>
                  </a:tr>
                </a:tbl>
              </a:graphicData>
            </a:graphic>
          </p:graphicFrame>
        </mc:Fallback>
      </mc:AlternateContent>
      <p:pic>
        <p:nvPicPr>
          <p:cNvPr id="15" name="Picture 14">
            <a:extLst>
              <a:ext uri="{FF2B5EF4-FFF2-40B4-BE49-F238E27FC236}">
                <a16:creationId xmlns:a16="http://schemas.microsoft.com/office/drawing/2014/main" id="{9F8E6DB7-8AB3-B24D-9F2A-B04E88398AC1}"/>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357133" y="4240059"/>
            <a:ext cx="7477735" cy="555930"/>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501568" y="371922"/>
            <a:ext cx="11690432" cy="5632311"/>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When moving from left to right (→) on the number line, the</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values                      This can be described as moving in a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direction.</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When moving from right to left (←) on the number line, the </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values                      This can be described as moving in a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direction.</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5" name="Picture 4" descr="A picture containing text&#10;&#10;Description automatically generated">
            <a:extLst>
              <a:ext uri="{FF2B5EF4-FFF2-40B4-BE49-F238E27FC236}">
                <a16:creationId xmlns:a16="http://schemas.microsoft.com/office/drawing/2014/main" id="{AFB493B2-1B01-F74A-90C3-6254C21737E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69538" y="1581326"/>
            <a:ext cx="1562957" cy="736210"/>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12E1AFC-9D35-5343-9A6B-131ABBF2CF0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1078" y="2398912"/>
            <a:ext cx="1562957" cy="789165"/>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4754907F-EFCE-1842-AC67-65345D2E81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31128" y="4458267"/>
            <a:ext cx="1562957" cy="736210"/>
          </a:xfrm>
          <a:prstGeom prst="rect">
            <a:avLst/>
          </a:prstGeom>
        </p:spPr>
      </p:pic>
      <p:pic>
        <p:nvPicPr>
          <p:cNvPr id="13" name="Picture 12" descr="A picture containing shape&#10;&#10;Description automatically generated">
            <a:extLst>
              <a:ext uri="{FF2B5EF4-FFF2-40B4-BE49-F238E27FC236}">
                <a16:creationId xmlns:a16="http://schemas.microsoft.com/office/drawing/2014/main" id="{1AC86D67-6314-2248-ABE2-FED3AA4799C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69431" y="5296444"/>
            <a:ext cx="1562957" cy="789165"/>
          </a:xfrm>
          <a:prstGeom prst="rect">
            <a:avLst/>
          </a:prstGeom>
        </p:spPr>
      </p:pic>
    </p:spTree>
    <p:extLst>
      <p:ext uri="{BB962C8B-B14F-4D97-AF65-F5344CB8AC3E}">
        <p14:creationId xmlns:p14="http://schemas.microsoft.com/office/powerpoint/2010/main" val="215334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0829"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50975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28438" y="546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7.4.3 Guided Instruction: Rules for Adding Integers on a Number Line</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2BE9AFC-D858-8947-AE27-3738478587E3}"/>
                  </a:ext>
                </a:extLst>
              </p:cNvPr>
              <p:cNvSpPr/>
              <p:nvPr/>
            </p:nvSpPr>
            <p:spPr>
              <a:xfrm>
                <a:off x="730833" y="1198001"/>
                <a:ext cx="11348096" cy="2677656"/>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addition to integer chips, number lines are another helpful tool you can use to model adding integers.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following to model integer addition.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−3+(−2)= ___________</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730833" y="1198001"/>
                <a:ext cx="11348096" cy="2677656"/>
              </a:xfrm>
              <a:prstGeom prst="rect">
                <a:avLst/>
              </a:prstGeom>
              <a:blipFill>
                <a:blip r:embed="rId4"/>
                <a:stretch>
                  <a:fillRect l="-895" t="-1887" b="-2830"/>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id="{EEA08AD6-E452-664F-99DA-7496147E414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8434" cy="748434"/>
          </a:xfrm>
          <a:prstGeom prst="rect">
            <a:avLst/>
          </a:prstGeom>
        </p:spPr>
      </p:pic>
      <p:graphicFrame>
        <p:nvGraphicFramePr>
          <p:cNvPr id="3" name="Table 2">
            <a:extLst>
              <a:ext uri="{FF2B5EF4-FFF2-40B4-BE49-F238E27FC236}">
                <a16:creationId xmlns:a16="http://schemas.microsoft.com/office/drawing/2014/main" id="{68CED9D8-D338-3444-A681-9E15640DDEE6}"/>
              </a:ext>
            </a:extLst>
          </p:cNvPr>
          <p:cNvGraphicFramePr>
            <a:graphicFrameLocks noGrp="1"/>
          </p:cNvGraphicFramePr>
          <p:nvPr>
            <p:extLst>
              <p:ext uri="{D42A27DB-BD31-4B8C-83A1-F6EECF244321}">
                <p14:modId xmlns:p14="http://schemas.microsoft.com/office/powerpoint/2010/main" val="1214660236"/>
              </p:ext>
            </p:extLst>
          </p:nvPr>
        </p:nvGraphicFramePr>
        <p:xfrm>
          <a:off x="2739708" y="4223914"/>
          <a:ext cx="6712585" cy="2018665"/>
        </p:xfrm>
        <a:graphic>
          <a:graphicData uri="http://schemas.openxmlformats.org/drawingml/2006/table">
            <a:tbl>
              <a:tblPr firstRow="1" firstCol="1" bandRow="1">
                <a:tableStyleId>{A91F0D33-8C57-4600-99A7-42BC86742BE1}</a:tableStyleId>
              </a:tblPr>
              <a:tblGrid>
                <a:gridCol w="3422650">
                  <a:extLst>
                    <a:ext uri="{9D8B030D-6E8A-4147-A177-3AD203B41FA5}">
                      <a16:colId xmlns:a16="http://schemas.microsoft.com/office/drawing/2014/main" val="782296666"/>
                    </a:ext>
                  </a:extLst>
                </a:gridCol>
                <a:gridCol w="3289935">
                  <a:extLst>
                    <a:ext uri="{9D8B030D-6E8A-4147-A177-3AD203B41FA5}">
                      <a16:colId xmlns:a16="http://schemas.microsoft.com/office/drawing/2014/main" val="4016526590"/>
                    </a:ext>
                  </a:extLst>
                </a:gridCol>
              </a:tblGrid>
              <a:tr h="447675">
                <a:tc>
                  <a:txBody>
                    <a:bodyPr/>
                    <a:lstStyle/>
                    <a:p>
                      <a:pPr marL="0" marR="0" algn="ctr">
                        <a:lnSpc>
                          <a:spcPct val="107000"/>
                        </a:lnSpc>
                        <a:spcBef>
                          <a:spcPts val="0"/>
                        </a:spcBef>
                        <a:spcAft>
                          <a:spcPts val="0"/>
                        </a:spcAft>
                      </a:pPr>
                      <a:r>
                        <a:rPr lang="en-US" sz="1800" b="1" i="0">
                          <a:effectLst/>
                          <a:latin typeface="Verdana" panose="020B0604030504040204" pitchFamily="34" charset="0"/>
                          <a:ea typeface="Times New Roman" panose="02020603050405020304" pitchFamily="18" charset="0"/>
                          <a:cs typeface="Times New Roman" panose="02020603050405020304" pitchFamily="18" charset="0"/>
                        </a:rPr>
                        <a:t>Integer Chip</a:t>
                      </a:r>
                      <a:r>
                        <a:rPr lang="en-US" sz="1800" b="1" i="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Model</a:t>
                      </a:r>
                      <a:endParaRPr lang="x-none" sz="1600" i="1">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Number Line Model</a:t>
                      </a:r>
                      <a:endParaRPr lang="x-none" sz="1600" i="1" dirty="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78162229"/>
                  </a:ext>
                </a:extLst>
              </a:tr>
              <a:tr h="157099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385176"/>
                  </a:ext>
                </a:extLst>
              </a:tr>
            </a:tbl>
          </a:graphicData>
        </a:graphic>
      </p:graphicFrame>
      <p:pic>
        <p:nvPicPr>
          <p:cNvPr id="12" name="Picture 11">
            <a:extLst>
              <a:ext uri="{FF2B5EF4-FFF2-40B4-BE49-F238E27FC236}">
                <a16:creationId xmlns:a16="http://schemas.microsoft.com/office/drawing/2014/main" id="{B951C45B-E796-464C-AD04-DEB572E94D66}"/>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078" t="25054" b="56855"/>
          <a:stretch/>
        </p:blipFill>
        <p:spPr bwMode="auto">
          <a:xfrm>
            <a:off x="6248325" y="5233246"/>
            <a:ext cx="3136900" cy="4984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92729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2782377" y="1022312"/>
                <a:ext cx="6627247"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4+</m:t>
                      </m:r>
                      <m:d>
                        <m:dPr>
                          <m:ctrlPr>
                            <a:rPr lang="x-none" sz="2400" i="1">
                              <a:latin typeface="Cambria Math" panose="02040503050406030204" pitchFamily="18" charset="0"/>
                            </a:rPr>
                          </m:ctrlPr>
                        </m:dPr>
                        <m:e>
                          <m:r>
                            <a:rPr lang="en-US" sz="2400" i="1">
                              <a:latin typeface="Cambria Math" panose="02040503050406030204" pitchFamily="18" charset="0"/>
                            </a:rPr>
                            <m:t>−7</m:t>
                          </m:r>
                        </m:e>
                      </m:d>
                      <m:r>
                        <a:rPr lang="en-US" sz="2400" i="1">
                          <a:latin typeface="Cambria Math" panose="02040503050406030204" pitchFamily="18" charset="0"/>
                        </a:rPr>
                        <m:t>= ___________</m:t>
                      </m:r>
                    </m:oMath>
                  </m:oMathPara>
                </a14:m>
                <a:endParaRPr lang="x-none" sz="2400" i="1" dirty="0"/>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2782377" y="1022312"/>
                <a:ext cx="6627247" cy="461665"/>
              </a:xfrm>
              <a:prstGeom prst="rect">
                <a:avLst/>
              </a:prstGeom>
              <a:blipFill>
                <a:blip r:embed="rId4"/>
                <a:stretch>
                  <a:fillRect b="-21622"/>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C850618F-7548-7D4E-9061-B0815E39C594}"/>
              </a:ext>
            </a:extLst>
          </p:cNvPr>
          <p:cNvGraphicFramePr>
            <a:graphicFrameLocks noGrp="1"/>
          </p:cNvGraphicFramePr>
          <p:nvPr>
            <p:extLst>
              <p:ext uri="{D42A27DB-BD31-4B8C-83A1-F6EECF244321}">
                <p14:modId xmlns:p14="http://schemas.microsoft.com/office/powerpoint/2010/main" val="3568944316"/>
              </p:ext>
            </p:extLst>
          </p:nvPr>
        </p:nvGraphicFramePr>
        <p:xfrm>
          <a:off x="2739708" y="1990185"/>
          <a:ext cx="6712585" cy="2182686"/>
        </p:xfrm>
        <a:graphic>
          <a:graphicData uri="http://schemas.openxmlformats.org/drawingml/2006/table">
            <a:tbl>
              <a:tblPr firstRow="1" firstCol="1" bandRow="1">
                <a:tableStyleId>{A91F0D33-8C57-4600-99A7-42BC86742BE1}</a:tableStyleId>
              </a:tblPr>
              <a:tblGrid>
                <a:gridCol w="3422650">
                  <a:extLst>
                    <a:ext uri="{9D8B030D-6E8A-4147-A177-3AD203B41FA5}">
                      <a16:colId xmlns:a16="http://schemas.microsoft.com/office/drawing/2014/main" val="2502521361"/>
                    </a:ext>
                  </a:extLst>
                </a:gridCol>
                <a:gridCol w="3289935">
                  <a:extLst>
                    <a:ext uri="{9D8B030D-6E8A-4147-A177-3AD203B41FA5}">
                      <a16:colId xmlns:a16="http://schemas.microsoft.com/office/drawing/2014/main" val="2045598512"/>
                    </a:ext>
                  </a:extLst>
                </a:gridCol>
              </a:tblGrid>
              <a:tr h="4476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 Chip Model</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Line Model</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618658883"/>
                  </a:ext>
                </a:extLst>
              </a:tr>
              <a:tr h="157099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6187"/>
                  </a:ext>
                </a:extLst>
              </a:tr>
            </a:tbl>
          </a:graphicData>
        </a:graphic>
      </p:graphicFrame>
      <p:pic>
        <p:nvPicPr>
          <p:cNvPr id="7" name="Picture 6">
            <a:extLst>
              <a:ext uri="{FF2B5EF4-FFF2-40B4-BE49-F238E27FC236}">
                <a16:creationId xmlns:a16="http://schemas.microsoft.com/office/drawing/2014/main" id="{2A8C686C-7F62-6544-8852-796DAE5697C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1297" b="46593"/>
          <a:stretch/>
        </p:blipFill>
        <p:spPr bwMode="auto">
          <a:xfrm>
            <a:off x="6188763" y="2872541"/>
            <a:ext cx="3253740" cy="8489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91239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p:sp>
        <p:nvSpPr>
          <p:cNvPr id="14" name="Rectangle 13">
            <a:extLst>
              <a:ext uri="{FF2B5EF4-FFF2-40B4-BE49-F238E27FC236}">
                <a16:creationId xmlns:a16="http://schemas.microsoft.com/office/drawing/2014/main" id="{44178F99-D315-C04B-A9AC-C948B7B4AC0C}"/>
              </a:ext>
            </a:extLst>
          </p:cNvPr>
          <p:cNvSpPr/>
          <p:nvPr/>
        </p:nvSpPr>
        <p:spPr>
          <a:xfrm>
            <a:off x="541655" y="315065"/>
            <a:ext cx="11381372"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sum of integers can be represented using rays on a number line. A ray has a single endpoint and extends in a specified direction based on the sign of the integer.</a:t>
            </a:r>
          </a:p>
        </p:txBody>
      </p:sp>
      <p:grpSp>
        <p:nvGrpSpPr>
          <p:cNvPr id="15" name="Group 14">
            <a:extLst>
              <a:ext uri="{FF2B5EF4-FFF2-40B4-BE49-F238E27FC236}">
                <a16:creationId xmlns:a16="http://schemas.microsoft.com/office/drawing/2014/main" id="{5A2C5860-6214-4D4F-8813-50A6383668C3}"/>
              </a:ext>
            </a:extLst>
          </p:cNvPr>
          <p:cNvGrpSpPr/>
          <p:nvPr/>
        </p:nvGrpSpPr>
        <p:grpSpPr>
          <a:xfrm>
            <a:off x="3487103" y="2354608"/>
            <a:ext cx="2130425" cy="108642"/>
            <a:chOff x="0" y="0"/>
            <a:chExt cx="2130589" cy="108642"/>
          </a:xfrm>
          <a:solidFill>
            <a:schemeClr val="tx1"/>
          </a:solidFill>
        </p:grpSpPr>
        <p:cxnSp>
          <p:nvCxnSpPr>
            <p:cNvPr id="19" name="Straight Arrow Connector 18">
              <a:extLst>
                <a:ext uri="{FF2B5EF4-FFF2-40B4-BE49-F238E27FC236}">
                  <a16:creationId xmlns:a16="http://schemas.microsoft.com/office/drawing/2014/main" id="{6E1DF652-3B33-4C4F-B8BA-A3B3CC702461}"/>
                </a:ext>
              </a:extLst>
            </p:cNvPr>
            <p:cNvCxnSpPr/>
            <p:nvPr/>
          </p:nvCxnSpPr>
          <p:spPr>
            <a:xfrm>
              <a:off x="27161" y="54447"/>
              <a:ext cx="2103428" cy="0"/>
            </a:xfrm>
            <a:prstGeom prst="straightConnector1">
              <a:avLst/>
            </a:prstGeom>
            <a:grpFill/>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52C0B1ED-2A0B-4249-BC10-EB55004F0DC8}"/>
                </a:ext>
              </a:extLst>
            </p:cNvPr>
            <p:cNvSpPr/>
            <p:nvPr/>
          </p:nvSpPr>
          <p:spPr>
            <a:xfrm>
              <a:off x="0" y="0"/>
              <a:ext cx="111665" cy="10864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6" name="Group 15">
            <a:extLst>
              <a:ext uri="{FF2B5EF4-FFF2-40B4-BE49-F238E27FC236}">
                <a16:creationId xmlns:a16="http://schemas.microsoft.com/office/drawing/2014/main" id="{DE80902D-8140-EA46-87AA-751422E5B78E}"/>
              </a:ext>
            </a:extLst>
          </p:cNvPr>
          <p:cNvGrpSpPr/>
          <p:nvPr/>
        </p:nvGrpSpPr>
        <p:grpSpPr>
          <a:xfrm rot="10800000">
            <a:off x="6574473" y="2353916"/>
            <a:ext cx="2130425" cy="108642"/>
            <a:chOff x="0" y="0"/>
            <a:chExt cx="2130589" cy="108642"/>
          </a:xfrm>
          <a:solidFill>
            <a:schemeClr val="tx1"/>
          </a:solidFill>
        </p:grpSpPr>
        <p:cxnSp>
          <p:nvCxnSpPr>
            <p:cNvPr id="17" name="Straight Arrow Connector 16">
              <a:extLst>
                <a:ext uri="{FF2B5EF4-FFF2-40B4-BE49-F238E27FC236}">
                  <a16:creationId xmlns:a16="http://schemas.microsoft.com/office/drawing/2014/main" id="{B0ECFA74-556B-0B41-8DC7-58077BB1131D}"/>
                </a:ext>
              </a:extLst>
            </p:cNvPr>
            <p:cNvCxnSpPr/>
            <p:nvPr/>
          </p:nvCxnSpPr>
          <p:spPr>
            <a:xfrm>
              <a:off x="27161" y="54447"/>
              <a:ext cx="2103428" cy="0"/>
            </a:xfrm>
            <a:prstGeom prst="straightConnector1">
              <a:avLst/>
            </a:prstGeom>
            <a:grpFill/>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9368847-B1E2-E84E-B240-5D83256E3141}"/>
                </a:ext>
              </a:extLst>
            </p:cNvPr>
            <p:cNvSpPr/>
            <p:nvPr/>
          </p:nvSpPr>
          <p:spPr>
            <a:xfrm>
              <a:off x="0" y="0"/>
              <a:ext cx="111665" cy="10864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E89326B0-8E78-0642-B354-40A4A953A7B0}"/>
                  </a:ext>
                </a:extLst>
              </p:cNvPr>
              <p:cNvSpPr/>
              <p:nvPr/>
            </p:nvSpPr>
            <p:spPr>
              <a:xfrm>
                <a:off x="847262" y="3094065"/>
                <a:ext cx="10671227" cy="1938992"/>
              </a:xfrm>
              <a:prstGeom prst="rect">
                <a:avLst/>
              </a:prstGeom>
            </p:spPr>
            <p:txBody>
              <a:bodyPr wrap="square">
                <a:spAutoFit/>
              </a:bodyPr>
              <a:lstStyle/>
              <a:p>
                <a:pPr marL="4572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 ray that represents a positive integer has its endpoint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with the arrow extending to the ____________.</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 ray that represents a negative integer has its endpoint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with the arrow extending to the ____________.</a:t>
                </a:r>
              </a:p>
            </p:txBody>
          </p:sp>
        </mc:Choice>
        <mc:Fallback xmlns="">
          <p:sp>
            <p:nvSpPr>
              <p:cNvPr id="21" name="Rectangle 20">
                <a:extLst>
                  <a:ext uri="{FF2B5EF4-FFF2-40B4-BE49-F238E27FC236}">
                    <a16:creationId xmlns:a16="http://schemas.microsoft.com/office/drawing/2014/main" id="{E89326B0-8E78-0642-B354-40A4A953A7B0}"/>
                  </a:ext>
                </a:extLst>
              </p:cNvPr>
              <p:cNvSpPr>
                <a:spLocks noRot="1" noChangeAspect="1" noMove="1" noResize="1" noEditPoints="1" noAdjustHandles="1" noChangeArrowheads="1" noChangeShapeType="1" noTextEdit="1"/>
              </p:cNvSpPr>
              <p:nvPr/>
            </p:nvSpPr>
            <p:spPr>
              <a:xfrm>
                <a:off x="847262" y="3094065"/>
                <a:ext cx="10671227" cy="1938992"/>
              </a:xfrm>
              <a:prstGeom prst="rect">
                <a:avLst/>
              </a:prstGeom>
              <a:blipFill>
                <a:blip r:embed="rId4"/>
                <a:stretch>
                  <a:fillRect l="-713" t="-2597" b="-6494"/>
                </a:stretch>
              </a:blipFill>
            </p:spPr>
            <p:txBody>
              <a:bodyPr/>
              <a:lstStyle/>
              <a:p>
                <a:r>
                  <a:rPr lang="en-US">
                    <a:noFill/>
                  </a:rPr>
                  <a:t> </a:t>
                </a:r>
              </a:p>
            </p:txBody>
          </p:sp>
        </mc:Fallback>
      </mc:AlternateContent>
    </p:spTree>
    <p:extLst>
      <p:ext uri="{BB962C8B-B14F-4D97-AF65-F5344CB8AC3E}">
        <p14:creationId xmlns:p14="http://schemas.microsoft.com/office/powerpoint/2010/main" val="60962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4178F99-D315-C04B-A9AC-C948B7B4AC0C}"/>
                  </a:ext>
                </a:extLst>
              </p:cNvPr>
              <p:cNvSpPr/>
              <p:nvPr/>
            </p:nvSpPr>
            <p:spPr>
              <a:xfrm>
                <a:off x="630146" y="275477"/>
                <a:ext cx="11198060" cy="4524315"/>
              </a:xfrm>
              <a:prstGeom prst="rect">
                <a:avLst/>
              </a:prstGeom>
            </p:spPr>
            <p:txBody>
              <a:bodyPr wrap="square">
                <a:spAutoFit/>
              </a:bodyPr>
              <a:lstStyle/>
              <a:p>
                <a:pPr marL="4572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To represent a sum, </a:t>
                </a:r>
                <a:r>
                  <a:rPr lang="en-US" sz="24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draw a ray for the first integer that starts at </a:t>
                </a:r>
                <a14:m>
                  <m:oMath xmlns:m="http://schemas.openxmlformats.org/officeDocument/2006/math">
                    <m:r>
                      <a:rPr lang="en-US" sz="2400" i="1" dirty="0">
                        <a:solidFill>
                          <a:schemeClr val="accent1">
                            <a:lumMod val="75000"/>
                          </a:schemeClr>
                        </a:solidFill>
                        <a:latin typeface="Cambria Math" panose="02040503050406030204" pitchFamily="18" charset="0"/>
                        <a:ea typeface="Verdana" panose="020B0604030504040204" pitchFamily="34" charset="0"/>
                        <a:cs typeface="Verdana" panose="020B0604030504040204" pitchFamily="34" charset="0"/>
                      </a:rPr>
                      <m:t>0</m:t>
                    </m:r>
                  </m:oMath>
                </a14:m>
                <a:r>
                  <a:rPr lang="en-US" sz="24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and extends in the direction indicated by the ____________ of the first integer. It ends at the location of the first integer on the number line.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Arial" panose="020B0604020202020204" pitchFamily="34" charset="0"/>
                  <a:buChar char="•"/>
                </a:pPr>
                <a:r>
                  <a:rPr lang="en-US" sz="2400" dirty="0">
                    <a:solidFill>
                      <a:srgbClr val="92D050"/>
                    </a:solidFill>
                    <a:latin typeface="Verdana" panose="020B0604030504040204" pitchFamily="34" charset="0"/>
                    <a:ea typeface="Verdana" panose="020B0604030504040204" pitchFamily="34" charset="0"/>
                    <a:cs typeface="Verdana" panose="020B0604030504040204" pitchFamily="34" charset="0"/>
                  </a:rPr>
                  <a:t>Then, draw a ray for the second integer that starts where the first ray’s arrow ends and extends in the direction indicated by the ____________ of the second integer. It ends after moving the number of units indicated by the second integer.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sum of the two integers is the integer where the second ray ends.</a:t>
                </a:r>
              </a:p>
            </p:txBody>
          </p:sp>
        </mc:Choice>
        <mc:Fallback xmlns="">
          <p:sp>
            <p:nvSpPr>
              <p:cNvPr id="14" name="Rectangle 13">
                <a:extLst>
                  <a:ext uri="{FF2B5EF4-FFF2-40B4-BE49-F238E27FC236}">
                    <a16:creationId xmlns:a16="http://schemas.microsoft.com/office/drawing/2014/main" id="{44178F99-D315-C04B-A9AC-C948B7B4AC0C}"/>
                  </a:ext>
                </a:extLst>
              </p:cNvPr>
              <p:cNvSpPr>
                <a:spLocks noRot="1" noChangeAspect="1" noMove="1" noResize="1" noEditPoints="1" noAdjustHandles="1" noChangeArrowheads="1" noChangeShapeType="1" noTextEdit="1"/>
              </p:cNvSpPr>
              <p:nvPr/>
            </p:nvSpPr>
            <p:spPr>
              <a:xfrm>
                <a:off x="630146" y="275477"/>
                <a:ext cx="11198060" cy="4524315"/>
              </a:xfrm>
              <a:prstGeom prst="rect">
                <a:avLst/>
              </a:prstGeom>
              <a:blipFill>
                <a:blip r:embed="rId4"/>
                <a:stretch>
                  <a:fillRect l="-680" t="-1120" b="-2241"/>
                </a:stretch>
              </a:blipFill>
            </p:spPr>
            <p:txBody>
              <a:bodyPr/>
              <a:lstStyle/>
              <a:p>
                <a:r>
                  <a:rPr lang="en-US">
                    <a:noFill/>
                  </a:rPr>
                  <a:t> </a:t>
                </a:r>
              </a:p>
            </p:txBody>
          </p:sp>
        </mc:Fallback>
      </mc:AlternateContent>
    </p:spTree>
    <p:extLst>
      <p:ext uri="{BB962C8B-B14F-4D97-AF65-F5344CB8AC3E}">
        <p14:creationId xmlns:p14="http://schemas.microsoft.com/office/powerpoint/2010/main" val="2844017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4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4178F99-D315-C04B-A9AC-C948B7B4AC0C}"/>
                  </a:ext>
                </a:extLst>
              </p:cNvPr>
              <p:cNvSpPr/>
              <p:nvPr/>
            </p:nvSpPr>
            <p:spPr>
              <a:xfrm>
                <a:off x="659642" y="332963"/>
                <a:ext cx="8581650" cy="46166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The diagram shown represents </a:t>
                </a:r>
                <a14:m>
                  <m:oMath xmlns:m="http://schemas.openxmlformats.org/officeDocument/2006/math">
                    <m:r>
                      <a:rPr lang="en-US" sz="2400" i="1" dirty="0">
                        <a:solidFill>
                          <a:srgbClr val="0070C0"/>
                        </a:solidFill>
                        <a:latin typeface="Cambria Math" panose="02040503050406030204" pitchFamily="18" charset="0"/>
                        <a:ea typeface="Verdana" panose="020B0604030504040204" pitchFamily="34" charset="0"/>
                        <a:cs typeface="Verdana" panose="020B0604030504040204" pitchFamily="34" charset="0"/>
                      </a:rPr>
                      <m:t>−3 </m:t>
                    </m:r>
                    <m:r>
                      <a:rPr lang="en-US" sz="2400" i="1" dirty="0">
                        <a:solidFill>
                          <a:srgbClr val="92D050"/>
                        </a:solidFill>
                        <a:latin typeface="Cambria Math" panose="02040503050406030204" pitchFamily="18" charset="0"/>
                        <a:ea typeface="Verdana" panose="020B0604030504040204" pitchFamily="34" charset="0"/>
                        <a:cs typeface="Verdana" panose="020B0604030504040204" pitchFamily="34" charset="0"/>
                      </a:rPr>
                      <m:t>+ 4</m:t>
                    </m:r>
                    <m:r>
                      <a:rPr lang="en-US" sz="2400" i="1" dirty="0">
                        <a:latin typeface="Cambria Math" panose="02040503050406030204" pitchFamily="18" charset="0"/>
                        <a:ea typeface="Verdana" panose="020B0604030504040204" pitchFamily="34" charset="0"/>
                        <a:cs typeface="Verdana" panose="020B0604030504040204" pitchFamily="34" charset="0"/>
                      </a:rPr>
                      <m:t>= +1  </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Rectangle 13">
                <a:extLst>
                  <a:ext uri="{FF2B5EF4-FFF2-40B4-BE49-F238E27FC236}">
                    <a16:creationId xmlns:a16="http://schemas.microsoft.com/office/drawing/2014/main" id="{44178F99-D315-C04B-A9AC-C948B7B4AC0C}"/>
                  </a:ext>
                </a:extLst>
              </p:cNvPr>
              <p:cNvSpPr>
                <a:spLocks noRot="1" noChangeAspect="1" noMove="1" noResize="1" noEditPoints="1" noAdjustHandles="1" noChangeArrowheads="1" noChangeShapeType="1" noTextEdit="1"/>
              </p:cNvSpPr>
              <p:nvPr/>
            </p:nvSpPr>
            <p:spPr>
              <a:xfrm>
                <a:off x="659642" y="332963"/>
                <a:ext cx="8581650" cy="461665"/>
              </a:xfrm>
              <a:prstGeom prst="rect">
                <a:avLst/>
              </a:prstGeom>
              <a:blipFill>
                <a:blip r:embed="rId4"/>
                <a:stretch>
                  <a:fillRect l="-1034" t="-10811" b="-29730"/>
                </a:stretch>
              </a:blipFill>
            </p:spPr>
            <p:txBody>
              <a:bodyPr/>
              <a:lstStyle/>
              <a:p>
                <a:r>
                  <a:rPr lang="en-US">
                    <a:noFill/>
                  </a:rPr>
                  <a:t> </a:t>
                </a:r>
              </a:p>
            </p:txBody>
          </p:sp>
        </mc:Fallback>
      </mc:AlternateContent>
      <p:pic>
        <p:nvPicPr>
          <p:cNvPr id="6" name="Picture 5" descr="A picture containing object, antenna, clock, plane&#10;&#10;Description automatically generated">
            <a:extLst>
              <a:ext uri="{FF2B5EF4-FFF2-40B4-BE49-F238E27FC236}">
                <a16:creationId xmlns:a16="http://schemas.microsoft.com/office/drawing/2014/main" id="{4FB025A4-1199-8541-9519-7B7DECA6468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8165" r="25657" b="30918"/>
          <a:stretch/>
        </p:blipFill>
        <p:spPr bwMode="auto">
          <a:xfrm>
            <a:off x="4258591" y="795131"/>
            <a:ext cx="2663415" cy="938075"/>
          </a:xfrm>
          <a:prstGeom prst="rect">
            <a:avLst/>
          </a:prstGeom>
          <a:ln>
            <a:noFill/>
          </a:ln>
          <a:extLst>
            <a:ext uri="{53640926-AAD7-44D8-BBD7-CCE9431645EC}">
              <a14:shadowObscured xmlns:a14="http://schemas.microsoft.com/office/drawing/2010/main"/>
            </a:ext>
          </a:extLst>
        </p:spPr>
      </p:pic>
      <p:pic>
        <p:nvPicPr>
          <p:cNvPr id="7" name="Picture 6" descr="Chart&#10;&#10;Description automatically generated">
            <a:extLst>
              <a:ext uri="{FF2B5EF4-FFF2-40B4-BE49-F238E27FC236}">
                <a16:creationId xmlns:a16="http://schemas.microsoft.com/office/drawing/2014/main" id="{6924E856-C310-3A45-B458-E771A0DC97EB}"/>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330" t="29228" r="1145" b="60377"/>
          <a:stretch/>
        </p:blipFill>
        <p:spPr bwMode="auto">
          <a:xfrm>
            <a:off x="3729484" y="1733206"/>
            <a:ext cx="4733032" cy="612429"/>
          </a:xfrm>
          <a:prstGeom prst="rect">
            <a:avLst/>
          </a:prstGeom>
          <a:ln>
            <a:noFill/>
          </a:ln>
          <a:extLst>
            <a:ext uri="{53640926-AAD7-44D8-BBD7-CCE9431645EC}">
              <a14:shadowObscured xmlns:a14="http://schemas.microsoft.com/office/drawing/2010/main"/>
            </a:ext>
          </a:extLst>
        </p:spPr>
      </p:pic>
      <p:sp>
        <p:nvSpPr>
          <p:cNvPr id="8" name="Rectangle 7">
            <a:extLst>
              <a:ext uri="{FF2B5EF4-FFF2-40B4-BE49-F238E27FC236}">
                <a16:creationId xmlns:a16="http://schemas.microsoft.com/office/drawing/2014/main" id="{44D0BF0D-8E0F-6444-A849-15D8B0C64503}"/>
              </a:ext>
            </a:extLst>
          </p:cNvPr>
          <p:cNvSpPr/>
          <p:nvPr/>
        </p:nvSpPr>
        <p:spPr>
          <a:xfrm>
            <a:off x="659641" y="2868211"/>
            <a:ext cx="11050577"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Give an example or explain when a number line model would be more useful than using integer chips.</a:t>
            </a:r>
          </a:p>
        </p:txBody>
      </p:sp>
    </p:spTree>
    <p:extLst>
      <p:ext uri="{BB962C8B-B14F-4D97-AF65-F5344CB8AC3E}">
        <p14:creationId xmlns:p14="http://schemas.microsoft.com/office/powerpoint/2010/main" val="3750158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37512" y="2766150"/>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40175" y="123915"/>
            <a:ext cx="10455295"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7.4.4 Collaboration: Commutative Property</a:t>
            </a:r>
          </a:p>
        </p:txBody>
      </p:sp>
      <p:sp>
        <p:nvSpPr>
          <p:cNvPr id="2" name="Rectangle 1">
            <a:extLst>
              <a:ext uri="{FF2B5EF4-FFF2-40B4-BE49-F238E27FC236}">
                <a16:creationId xmlns:a16="http://schemas.microsoft.com/office/drawing/2014/main" id="{A66A031F-2EC8-DF4C-B3F5-E7AC5B8F3239}"/>
              </a:ext>
            </a:extLst>
          </p:cNvPr>
          <p:cNvSpPr/>
          <p:nvPr/>
        </p:nvSpPr>
        <p:spPr>
          <a:xfrm>
            <a:off x="731687" y="1153562"/>
            <a:ext cx="11111267" cy="2308324"/>
          </a:xfrm>
          <a:prstGeom prst="rect">
            <a:avLst/>
          </a:prstGeom>
        </p:spPr>
        <p:txBody>
          <a:bodyPr wrap="square">
            <a:spAutoFit/>
          </a:bodyPr>
          <a:lstStyle/>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The </a:t>
            </a:r>
            <a:r>
              <a:rPr lang="en-US" sz="1800" b="1" dirty="0">
                <a:latin typeface="Verdana" panose="020B0604030504040204" pitchFamily="34" charset="0"/>
                <a:ea typeface="Verdana" panose="020B0604030504040204" pitchFamily="34" charset="0"/>
                <a:cs typeface="Verdana" panose="020B0604030504040204" pitchFamily="34" charset="0"/>
              </a:rPr>
              <a:t>commutative property of addition</a:t>
            </a:r>
            <a:r>
              <a:rPr lang="en-US" sz="1800" dirty="0">
                <a:latin typeface="Verdana" panose="020B0604030504040204" pitchFamily="34" charset="0"/>
                <a:ea typeface="Verdana" panose="020B0604030504040204" pitchFamily="34" charset="0"/>
                <a:cs typeface="Verdana" panose="020B0604030504040204" pitchFamily="34" charset="0"/>
              </a:rPr>
              <a:t> states that the order in which addition is performed does not change the value of the expression.</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With your partner, add integers using the commutative property.</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54013" indent="-342900">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table by sketching the integer chip model for the first column, the number line model for the third column, and answering the question in the last column.</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E5D6BCF-9F8D-654D-80C4-BA244885BA2A}"/>
                  </a:ext>
                </a:extLst>
              </p:cNvPr>
              <p:cNvGraphicFramePr>
                <a:graphicFrameLocks noGrp="1"/>
              </p:cNvGraphicFramePr>
              <p:nvPr>
                <p:extLst>
                  <p:ext uri="{D42A27DB-BD31-4B8C-83A1-F6EECF244321}">
                    <p14:modId xmlns:p14="http://schemas.microsoft.com/office/powerpoint/2010/main" val="1065874020"/>
                  </p:ext>
                </p:extLst>
              </p:nvPr>
            </p:nvGraphicFramePr>
            <p:xfrm>
              <a:off x="2243251" y="3679891"/>
              <a:ext cx="7675011" cy="2671328"/>
            </p:xfrm>
            <a:graphic>
              <a:graphicData uri="http://schemas.openxmlformats.org/drawingml/2006/table">
                <a:tbl>
                  <a:tblPr firstRow="1" firstCol="1" bandRow="1">
                    <a:tableStyleId>{A91F0D33-8C57-4600-99A7-42BC86742BE1}</a:tableStyleId>
                  </a:tblPr>
                  <a:tblGrid>
                    <a:gridCol w="1063079">
                      <a:extLst>
                        <a:ext uri="{9D8B030D-6E8A-4147-A177-3AD203B41FA5}">
                          <a16:colId xmlns:a16="http://schemas.microsoft.com/office/drawing/2014/main" val="3449916159"/>
                        </a:ext>
                      </a:extLst>
                    </a:gridCol>
                    <a:gridCol w="2028437">
                      <a:extLst>
                        <a:ext uri="{9D8B030D-6E8A-4147-A177-3AD203B41FA5}">
                          <a16:colId xmlns:a16="http://schemas.microsoft.com/office/drawing/2014/main" val="3863976051"/>
                        </a:ext>
                      </a:extLst>
                    </a:gridCol>
                    <a:gridCol w="2132080">
                      <a:extLst>
                        <a:ext uri="{9D8B030D-6E8A-4147-A177-3AD203B41FA5}">
                          <a16:colId xmlns:a16="http://schemas.microsoft.com/office/drawing/2014/main" val="1424133120"/>
                        </a:ext>
                      </a:extLst>
                    </a:gridCol>
                    <a:gridCol w="2451415">
                      <a:extLst>
                        <a:ext uri="{9D8B030D-6E8A-4147-A177-3AD203B41FA5}">
                          <a16:colId xmlns:a16="http://schemas.microsoft.com/office/drawing/2014/main" val="1709747220"/>
                        </a:ext>
                      </a:extLst>
                    </a:gridCol>
                  </a:tblGrid>
                  <a:tr h="755152">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Integer Chip Model</a:t>
                          </a:r>
                          <a:endParaRPr lang="x-none"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 Model</a:t>
                          </a:r>
                          <a:endParaRPr lang="x-none"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Commutative Property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 Model</a:t>
                          </a:r>
                          <a:endParaRPr lang="x-none"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Yes/No</a:t>
                          </a:r>
                          <a:endParaRPr lang="x-none"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001766006"/>
                      </a:ext>
                    </a:extLst>
                  </a:tr>
                  <a:tr h="173771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−3 + 4</m:t>
                                </m:r>
                              </m:oMath>
                            </m:oMathPara>
                          </a14:m>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500"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−3 + </m:t>
                                </m:r>
                                <m:r>
                                  <a:rPr lang="en-US" sz="1700" smtClean="0">
                                    <a:effectLst/>
                                    <a:latin typeface="Cambria Math" panose="02040503050406030204" pitchFamily="18" charset="0"/>
                                  </a:rPr>
                                  <m:t>4</m:t>
                                </m:r>
                              </m:oMath>
                            </m:oMathPara>
                          </a14:m>
                          <a:endParaRPr lang="en-US" sz="17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p>
                        <a:p>
                          <a:pPr marL="0" marR="0" algn="l">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500"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4 +(− 3)</m:t>
                                </m:r>
                              </m:oMath>
                            </m:oMathPara>
                          </a14:m>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500"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Is the sum of  </a:t>
                          </a:r>
                          <a14:m>
                            <m:oMath xmlns:m="http://schemas.openxmlformats.org/officeDocument/2006/math">
                              <m:r>
                                <a:rPr lang="en-US" sz="1700">
                                  <a:effectLst/>
                                  <a:latin typeface="Cambria Math" panose="02040503050406030204" pitchFamily="18" charset="0"/>
                                </a:rPr>
                                <m:t>−3 + 4</m:t>
                              </m:r>
                            </m:oMath>
                          </a14:m>
                          <a:r>
                            <a:rPr lang="en-US" sz="1700" dirty="0">
                              <a:effectLst/>
                              <a:latin typeface="Verdana" panose="020B0604030504040204" pitchFamily="34" charset="0"/>
                              <a:ea typeface="Verdana" panose="020B0604030504040204" pitchFamily="34" charset="0"/>
                              <a:cs typeface="Verdana" panose="020B0604030504040204" pitchFamily="34" charset="0"/>
                            </a:rPr>
                            <a:t> the same as the sum of</a:t>
                          </a:r>
                          <a14:m>
                            <m:oMath xmlns:m="http://schemas.openxmlformats.org/officeDocument/2006/math">
                              <m:r>
                                <a:rPr lang="en-US" sz="1700">
                                  <a:effectLst/>
                                  <a:latin typeface="Cambria Math" panose="02040503050406030204" pitchFamily="18" charset="0"/>
                                </a:rPr>
                                <m:t>4 +(− 3)</m:t>
                              </m:r>
                            </m:oMath>
                          </a14:m>
                          <a:r>
                            <a:rPr lang="en-US" sz="1700" dirty="0">
                              <a:effectLst/>
                              <a:latin typeface="Verdana" panose="020B0604030504040204" pitchFamily="34" charset="0"/>
                              <a:ea typeface="Verdana" panose="020B0604030504040204" pitchFamily="34" charset="0"/>
                              <a:cs typeface="Verdana" panose="020B0604030504040204" pitchFamily="34" charset="0"/>
                            </a:rPr>
                            <a:t>?</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160231"/>
                      </a:ext>
                    </a:extLst>
                  </a:tr>
                </a:tbl>
              </a:graphicData>
            </a:graphic>
          </p:graphicFrame>
        </mc:Choice>
        <mc:Fallback xmlns="">
          <p:graphicFrame>
            <p:nvGraphicFramePr>
              <p:cNvPr id="5" name="Table 4">
                <a:extLst>
                  <a:ext uri="{FF2B5EF4-FFF2-40B4-BE49-F238E27FC236}">
                    <a16:creationId xmlns:a16="http://schemas.microsoft.com/office/drawing/2014/main" id="{0E5D6BCF-9F8D-654D-80C4-BA244885BA2A}"/>
                  </a:ext>
                </a:extLst>
              </p:cNvPr>
              <p:cNvGraphicFramePr>
                <a:graphicFrameLocks noGrp="1"/>
              </p:cNvGraphicFramePr>
              <p:nvPr>
                <p:extLst>
                  <p:ext uri="{D42A27DB-BD31-4B8C-83A1-F6EECF244321}">
                    <p14:modId xmlns:p14="http://schemas.microsoft.com/office/powerpoint/2010/main" val="1065874020"/>
                  </p:ext>
                </p:extLst>
              </p:nvPr>
            </p:nvGraphicFramePr>
            <p:xfrm>
              <a:off x="2243251" y="3679891"/>
              <a:ext cx="7675011" cy="2671328"/>
            </p:xfrm>
            <a:graphic>
              <a:graphicData uri="http://schemas.openxmlformats.org/drawingml/2006/table">
                <a:tbl>
                  <a:tblPr firstRow="1" firstCol="1" bandRow="1">
                    <a:tableStyleId>{A91F0D33-8C57-4600-99A7-42BC86742BE1}</a:tableStyleId>
                  </a:tblPr>
                  <a:tblGrid>
                    <a:gridCol w="1063079">
                      <a:extLst>
                        <a:ext uri="{9D8B030D-6E8A-4147-A177-3AD203B41FA5}">
                          <a16:colId xmlns:a16="http://schemas.microsoft.com/office/drawing/2014/main" val="3449916159"/>
                        </a:ext>
                      </a:extLst>
                    </a:gridCol>
                    <a:gridCol w="2028437">
                      <a:extLst>
                        <a:ext uri="{9D8B030D-6E8A-4147-A177-3AD203B41FA5}">
                          <a16:colId xmlns:a16="http://schemas.microsoft.com/office/drawing/2014/main" val="3863976051"/>
                        </a:ext>
                      </a:extLst>
                    </a:gridCol>
                    <a:gridCol w="2132080">
                      <a:extLst>
                        <a:ext uri="{9D8B030D-6E8A-4147-A177-3AD203B41FA5}">
                          <a16:colId xmlns:a16="http://schemas.microsoft.com/office/drawing/2014/main" val="1424133120"/>
                        </a:ext>
                      </a:extLst>
                    </a:gridCol>
                    <a:gridCol w="2451415">
                      <a:extLst>
                        <a:ext uri="{9D8B030D-6E8A-4147-A177-3AD203B41FA5}">
                          <a16:colId xmlns:a16="http://schemas.microsoft.com/office/drawing/2014/main" val="1709747220"/>
                        </a:ext>
                      </a:extLst>
                    </a:gridCol>
                  </a:tblGrid>
                  <a:tr h="755152">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Integer Chip Model</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 Model</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Commutative Property</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Number Line Model</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Yes/No</a:t>
                          </a:r>
                          <a:endParaRPr lang="en-CO" sz="1200" b="1" i="1" dirty="0">
                            <a:effectLst/>
                            <a:latin typeface="Verdana" panose="020B0604030504040204" pitchFamily="34" charset="0"/>
                            <a:ea typeface="Verdana" panose="020B0604030504040204" pitchFamily="34" charset="0"/>
                            <a:cs typeface="Verdana" panose="020B0604030504040204" pitchFamily="34" charset="0"/>
                          </a:endParaRPr>
                        </a:p>
                      </a:txBody>
                      <a:tcPr marL="63962" marR="639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001766006"/>
                      </a:ext>
                    </a:extLst>
                  </a:tr>
                  <a:tr h="1916176">
                    <a:tc>
                      <a:txBody>
                        <a:bodyPr/>
                        <a:lstStyle/>
                        <a:p>
                          <a:endParaRPr lang="en-US"/>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90" t="-40132" r="-622619" b="-658"/>
                          </a:stretch>
                        </a:blipFill>
                      </a:tcPr>
                    </a:tc>
                    <a:tc>
                      <a:txBody>
                        <a:bodyPr/>
                        <a:lstStyle/>
                        <a:p>
                          <a:endParaRPr lang="en-US"/>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3125" t="-40132" r="-226875" b="-658"/>
                          </a:stretch>
                        </a:blipFill>
                      </a:tcPr>
                    </a:tc>
                    <a:tc>
                      <a:txBody>
                        <a:bodyPr/>
                        <a:lstStyle/>
                        <a:p>
                          <a:endParaRPr lang="en-US"/>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5833" t="-40132" r="-116071" b="-658"/>
                          </a:stretch>
                        </a:blipFill>
                      </a:tcPr>
                    </a:tc>
                    <a:tc>
                      <a:txBody>
                        <a:bodyPr/>
                        <a:lstStyle/>
                        <a:p>
                          <a:endParaRPr lang="en-US"/>
                        </a:p>
                      </a:txBody>
                      <a:tcPr marL="63962" marR="639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3990" t="-40132" r="-1036" b="-658"/>
                          </a:stretch>
                        </a:blipFill>
                      </a:tcPr>
                    </a:tc>
                    <a:extLst>
                      <a:ext uri="{0D108BD9-81ED-4DB2-BD59-A6C34878D82A}">
                        <a16:rowId xmlns:a16="http://schemas.microsoft.com/office/drawing/2014/main" val="1930160231"/>
                      </a:ext>
                    </a:extLst>
                  </a:tr>
                </a:tbl>
              </a:graphicData>
            </a:graphic>
          </p:graphicFrame>
        </mc:Fallback>
      </mc:AlternateContent>
      <p:pic>
        <p:nvPicPr>
          <p:cNvPr id="15" name="Picture 14">
            <a:extLst>
              <a:ext uri="{FF2B5EF4-FFF2-40B4-BE49-F238E27FC236}">
                <a16:creationId xmlns:a16="http://schemas.microsoft.com/office/drawing/2014/main" id="{150F3DA9-BDAA-8340-9897-CFA7B96AC080}"/>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078" t="25054" b="61996"/>
          <a:stretch/>
        </p:blipFill>
        <p:spPr bwMode="auto">
          <a:xfrm>
            <a:off x="5388121" y="5368045"/>
            <a:ext cx="2028825" cy="230505"/>
          </a:xfrm>
          <a:prstGeom prst="rect">
            <a:avLst/>
          </a:prstGeom>
          <a:ln>
            <a:noFill/>
          </a:ln>
          <a:extLst>
            <a:ext uri="{53640926-AAD7-44D8-BBD7-CCE9431645EC}">
              <a14:shadowObscured xmlns:a14="http://schemas.microsoft.com/office/drawing/2010/main"/>
            </a:ext>
          </a:extLst>
        </p:spPr>
      </p:pic>
      <p:pic>
        <p:nvPicPr>
          <p:cNvPr id="16" name="Picture 15" descr="A picture containing object, antenna, clock, plane&#10;&#10;Description automatically generated">
            <a:extLst>
              <a:ext uri="{FF2B5EF4-FFF2-40B4-BE49-F238E27FC236}">
                <a16:creationId xmlns:a16="http://schemas.microsoft.com/office/drawing/2014/main" id="{C2FF8191-CAF2-9A4F-91A1-8CFC667D717C}"/>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8165" r="25657" b="30918"/>
          <a:stretch/>
        </p:blipFill>
        <p:spPr bwMode="auto">
          <a:xfrm>
            <a:off x="3556001" y="4936974"/>
            <a:ext cx="1062267" cy="374139"/>
          </a:xfrm>
          <a:prstGeom prst="rect">
            <a:avLst/>
          </a:prstGeom>
          <a:ln>
            <a:noFill/>
          </a:ln>
          <a:extLst>
            <a:ext uri="{53640926-AAD7-44D8-BBD7-CCE9431645EC}">
              <a14:shadowObscured xmlns:a14="http://schemas.microsoft.com/office/drawing/2010/main"/>
            </a:ext>
          </a:extLst>
        </p:spPr>
      </p:pic>
      <p:pic>
        <p:nvPicPr>
          <p:cNvPr id="17" name="Picture 16" descr="Chart&#10;&#10;Description automatically generated">
            <a:extLst>
              <a:ext uri="{FF2B5EF4-FFF2-40B4-BE49-F238E27FC236}">
                <a16:creationId xmlns:a16="http://schemas.microsoft.com/office/drawing/2014/main" id="{14DC94C7-3F48-EF48-9DCD-1F76AB335F03}"/>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l="1330" t="29228" r="1145" b="60377"/>
          <a:stretch/>
        </p:blipFill>
        <p:spPr bwMode="auto">
          <a:xfrm>
            <a:off x="3365700" y="5334854"/>
            <a:ext cx="1887706" cy="24425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99012445-7FF1-904C-9EE6-37AAF631BEA2}"/>
                  </a:ext>
                </a:extLst>
              </p:cNvPr>
              <p:cNvGraphicFramePr>
                <a:graphicFrameLocks noGrp="1"/>
              </p:cNvGraphicFramePr>
              <p:nvPr>
                <p:extLst>
                  <p:ext uri="{D42A27DB-BD31-4B8C-83A1-F6EECF244321}">
                    <p14:modId xmlns:p14="http://schemas.microsoft.com/office/powerpoint/2010/main" val="68597714"/>
                  </p:ext>
                </p:extLst>
              </p:nvPr>
            </p:nvGraphicFramePr>
            <p:xfrm>
              <a:off x="2667000" y="1785081"/>
              <a:ext cx="7205870" cy="2322005"/>
            </p:xfrm>
            <a:graphic>
              <a:graphicData uri="http://schemas.openxmlformats.org/drawingml/2006/table">
                <a:tbl>
                  <a:tblPr firstRow="1" firstCol="1" bandRow="1">
                    <a:tableStyleId>{A91F0D33-8C57-4600-99A7-42BC86742BE1}</a:tableStyleId>
                  </a:tblPr>
                  <a:tblGrid>
                    <a:gridCol w="1139825">
                      <a:extLst>
                        <a:ext uri="{9D8B030D-6E8A-4147-A177-3AD203B41FA5}">
                          <a16:colId xmlns:a16="http://schemas.microsoft.com/office/drawing/2014/main" val="1749422239"/>
                        </a:ext>
                      </a:extLst>
                    </a:gridCol>
                    <a:gridCol w="2174875">
                      <a:extLst>
                        <a:ext uri="{9D8B030D-6E8A-4147-A177-3AD203B41FA5}">
                          <a16:colId xmlns:a16="http://schemas.microsoft.com/office/drawing/2014/main" val="1551488948"/>
                        </a:ext>
                      </a:extLst>
                    </a:gridCol>
                    <a:gridCol w="2286000">
                      <a:extLst>
                        <a:ext uri="{9D8B030D-6E8A-4147-A177-3AD203B41FA5}">
                          <a16:colId xmlns:a16="http://schemas.microsoft.com/office/drawing/2014/main" val="2909013376"/>
                        </a:ext>
                      </a:extLst>
                    </a:gridCol>
                    <a:gridCol w="1605170">
                      <a:extLst>
                        <a:ext uri="{9D8B030D-6E8A-4147-A177-3AD203B41FA5}">
                          <a16:colId xmlns:a16="http://schemas.microsoft.com/office/drawing/2014/main" val="768746186"/>
                        </a:ext>
                      </a:extLst>
                    </a:gridCol>
                  </a:tblGrid>
                  <a:tr h="118237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 + 2</m:t>
                                </m:r>
                              </m:oMath>
                            </m:oMathPara>
                          </a14:m>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 + 2</m:t>
                                </m:r>
                              </m:oMath>
                            </m:oMathPara>
                          </a14:m>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 +(−4 )</m:t>
                                </m:r>
                              </m:oMath>
                            </m:oMathPara>
                          </a14:m>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Is the sum of  </a:t>
                          </a:r>
                          <a14:m>
                            <m:oMath xmlns:m="http://schemas.openxmlformats.org/officeDocument/2006/math">
                              <m:r>
                                <a:rPr lang="en-US" sz="1800">
                                  <a:effectLst/>
                                  <a:latin typeface="Cambria Math" panose="02040503050406030204" pitchFamily="18" charset="0"/>
                                </a:rPr>
                                <m:t>−4 + 2</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the same as the sum of</a:t>
                          </a:r>
                          <a14:m>
                            <m:oMath xmlns:m="http://schemas.openxmlformats.org/officeDocument/2006/math">
                              <m:r>
                                <a:rPr lang="en-US" sz="1800" b="0" i="0" smtClean="0">
                                  <a:effectLst/>
                                  <a:latin typeface="Cambria Math" panose="02040503050406030204" pitchFamily="18" charset="0"/>
                                </a:rPr>
                                <m:t> </m:t>
                              </m:r>
                              <m:r>
                                <a:rPr lang="en-US" sz="1800">
                                  <a:effectLst/>
                                  <a:latin typeface="Cambria Math" panose="02040503050406030204" pitchFamily="18" charset="0"/>
                                </a:rPr>
                                <m:t>2 +(− 4)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7607776"/>
                      </a:ext>
                    </a:extLst>
                  </a:tr>
                </a:tbl>
              </a:graphicData>
            </a:graphic>
          </p:graphicFrame>
        </mc:Choice>
        <mc:Fallback>
          <p:graphicFrame>
            <p:nvGraphicFramePr>
              <p:cNvPr id="3" name="Table 2">
                <a:extLst>
                  <a:ext uri="{FF2B5EF4-FFF2-40B4-BE49-F238E27FC236}">
                    <a16:creationId xmlns:a16="http://schemas.microsoft.com/office/drawing/2014/main" id="{99012445-7FF1-904C-9EE6-37AAF631BEA2}"/>
                  </a:ext>
                </a:extLst>
              </p:cNvPr>
              <p:cNvGraphicFramePr>
                <a:graphicFrameLocks noGrp="1"/>
              </p:cNvGraphicFramePr>
              <p:nvPr>
                <p:extLst>
                  <p:ext uri="{D42A27DB-BD31-4B8C-83A1-F6EECF244321}">
                    <p14:modId xmlns:p14="http://schemas.microsoft.com/office/powerpoint/2010/main" val="68597714"/>
                  </p:ext>
                </p:extLst>
              </p:nvPr>
            </p:nvGraphicFramePr>
            <p:xfrm>
              <a:off x="2667000" y="1785081"/>
              <a:ext cx="7205870" cy="2322005"/>
            </p:xfrm>
            <a:graphic>
              <a:graphicData uri="http://schemas.openxmlformats.org/drawingml/2006/table">
                <a:tbl>
                  <a:tblPr firstRow="1" firstCol="1" bandRow="1">
                    <a:tableStyleId>{A91F0D33-8C57-4600-99A7-42BC86742BE1}</a:tableStyleId>
                  </a:tblPr>
                  <a:tblGrid>
                    <a:gridCol w="1139825">
                      <a:extLst>
                        <a:ext uri="{9D8B030D-6E8A-4147-A177-3AD203B41FA5}">
                          <a16:colId xmlns:a16="http://schemas.microsoft.com/office/drawing/2014/main" val="1749422239"/>
                        </a:ext>
                      </a:extLst>
                    </a:gridCol>
                    <a:gridCol w="2174875">
                      <a:extLst>
                        <a:ext uri="{9D8B030D-6E8A-4147-A177-3AD203B41FA5}">
                          <a16:colId xmlns:a16="http://schemas.microsoft.com/office/drawing/2014/main" val="1551488948"/>
                        </a:ext>
                      </a:extLst>
                    </a:gridCol>
                    <a:gridCol w="2286000">
                      <a:extLst>
                        <a:ext uri="{9D8B030D-6E8A-4147-A177-3AD203B41FA5}">
                          <a16:colId xmlns:a16="http://schemas.microsoft.com/office/drawing/2014/main" val="2909013376"/>
                        </a:ext>
                      </a:extLst>
                    </a:gridCol>
                    <a:gridCol w="1605170">
                      <a:extLst>
                        <a:ext uri="{9D8B030D-6E8A-4147-A177-3AD203B41FA5}">
                          <a16:colId xmlns:a16="http://schemas.microsoft.com/office/drawing/2014/main" val="768746186"/>
                        </a:ext>
                      </a:extLst>
                    </a:gridCol>
                  </a:tblGrid>
                  <a:tr h="2322005">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5" t="-3403" r="-533690" b="-52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2661" t="-3403" r="-179552" b="-52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5333" t="-3403" r="-70933" b="-52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8485" t="-3403" r="-758" b="-524"/>
                          </a:stretch>
                        </a:blipFill>
                      </a:tcPr>
                    </a:tc>
                    <a:extLst>
                      <a:ext uri="{0D108BD9-81ED-4DB2-BD59-A6C34878D82A}">
                        <a16:rowId xmlns:a16="http://schemas.microsoft.com/office/drawing/2014/main" val="2107607776"/>
                      </a:ext>
                    </a:extLst>
                  </a:tr>
                </a:tbl>
              </a:graphicData>
            </a:graphic>
          </p:graphicFrame>
        </mc:Fallback>
      </mc:AlternateContent>
      <p:pic>
        <p:nvPicPr>
          <p:cNvPr id="7" name="Picture 6" descr="A picture containing object, clock&#10;&#10;Description automatically generated">
            <a:extLst>
              <a:ext uri="{FF2B5EF4-FFF2-40B4-BE49-F238E27FC236}">
                <a16:creationId xmlns:a16="http://schemas.microsoft.com/office/drawing/2014/main" id="{7A52668C-70F1-BE48-B463-FBD38DA61B6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42134"/>
          <a:stretch/>
        </p:blipFill>
        <p:spPr bwMode="auto">
          <a:xfrm>
            <a:off x="3928269" y="2546385"/>
            <a:ext cx="1836420" cy="312420"/>
          </a:xfrm>
          <a:prstGeom prst="rect">
            <a:avLst/>
          </a:prstGeom>
          <a:ln>
            <a:noFill/>
          </a:ln>
          <a:extLst>
            <a:ext uri="{53640926-AAD7-44D8-BBD7-CCE9431645EC}">
              <a14:shadowObscured xmlns:a14="http://schemas.microsoft.com/office/drawing/2010/main"/>
            </a:ext>
          </a:extLst>
        </p:spPr>
      </p:pic>
      <p:pic>
        <p:nvPicPr>
          <p:cNvPr id="8" name="Picture 7" descr="Chart&#10;&#10;Description automatically generated">
            <a:extLst>
              <a:ext uri="{FF2B5EF4-FFF2-40B4-BE49-F238E27FC236}">
                <a16:creationId xmlns:a16="http://schemas.microsoft.com/office/drawing/2014/main" id="{1E3E0143-8B21-D348-BB2E-7FDB5AE6FD9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330" t="29228" r="1145" b="60377"/>
          <a:stretch/>
        </p:blipFill>
        <p:spPr bwMode="auto">
          <a:xfrm>
            <a:off x="3821273" y="2824516"/>
            <a:ext cx="2050415" cy="264795"/>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DA7A6BF9-7B17-3A4C-AAD2-95DFFB88E929}"/>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1078" t="25054" b="61996"/>
          <a:stretch/>
        </p:blipFill>
        <p:spPr bwMode="auto">
          <a:xfrm>
            <a:off x="6106795" y="2858806"/>
            <a:ext cx="2028825" cy="2305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2435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531434" y="428030"/>
                <a:ext cx="8772786" cy="400110"/>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Show the model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number line below. </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531434" y="428030"/>
                <a:ext cx="8772786" cy="400110"/>
              </a:xfrm>
              <a:prstGeom prst="rect">
                <a:avLst/>
              </a:prstGeom>
              <a:blipFill>
                <a:blip r:embed="rId4"/>
                <a:stretch>
                  <a:fillRect l="-578" t="-6061" b="-24242"/>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8" name="Picture 7" descr="A picture containing shape&#10;&#10;Description automatically generated">
            <a:extLst>
              <a:ext uri="{FF2B5EF4-FFF2-40B4-BE49-F238E27FC236}">
                <a16:creationId xmlns:a16="http://schemas.microsoft.com/office/drawing/2014/main" id="{D63B9C26-A377-A74A-9126-F5D3221DEC3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30711" b="52617"/>
          <a:stretch/>
        </p:blipFill>
        <p:spPr bwMode="auto">
          <a:xfrm>
            <a:off x="2622233" y="1013723"/>
            <a:ext cx="6947535" cy="98742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586C56E-94EE-7F40-A7EB-0BF6BB21DDEE}"/>
                  </a:ext>
                </a:extLst>
              </p:cNvPr>
              <p:cNvSpPr/>
              <p:nvPr/>
            </p:nvSpPr>
            <p:spPr>
              <a:xfrm>
                <a:off x="531434" y="2250318"/>
                <a:ext cx="8772786" cy="400110"/>
              </a:xfrm>
              <a:prstGeom prst="rect">
                <a:avLst/>
              </a:prstGeom>
            </p:spPr>
            <p:txBody>
              <a:bodyPr wrap="square">
                <a:spAutoFit/>
              </a:bodyPr>
              <a:lstStyle/>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Show the model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number line below.</a:t>
                </a:r>
              </a:p>
            </p:txBody>
          </p:sp>
        </mc:Choice>
        <mc:Fallback xmlns="">
          <p:sp>
            <p:nvSpPr>
              <p:cNvPr id="10" name="Rectangle 9">
                <a:extLst>
                  <a:ext uri="{FF2B5EF4-FFF2-40B4-BE49-F238E27FC236}">
                    <a16:creationId xmlns:a16="http://schemas.microsoft.com/office/drawing/2014/main" id="{B586C56E-94EE-7F40-A7EB-0BF6BB21DDEE}"/>
                  </a:ext>
                </a:extLst>
              </p:cNvPr>
              <p:cNvSpPr>
                <a:spLocks noRot="1" noChangeAspect="1" noMove="1" noResize="1" noEditPoints="1" noAdjustHandles="1" noChangeArrowheads="1" noChangeShapeType="1" noTextEdit="1"/>
              </p:cNvSpPr>
              <p:nvPr/>
            </p:nvSpPr>
            <p:spPr>
              <a:xfrm>
                <a:off x="531434" y="2250318"/>
                <a:ext cx="8772786" cy="400110"/>
              </a:xfrm>
              <a:prstGeom prst="rect">
                <a:avLst/>
              </a:prstGeom>
              <a:blipFill>
                <a:blip r:embed="rId6"/>
                <a:stretch>
                  <a:fillRect l="-578" t="-9375" b="-25000"/>
                </a:stretch>
              </a:blipFill>
            </p:spPr>
            <p:txBody>
              <a:bodyPr/>
              <a:lstStyle/>
              <a:p>
                <a:r>
                  <a:rPr lang="en-US">
                    <a:noFill/>
                  </a:rPr>
                  <a:t> </a:t>
                </a:r>
              </a:p>
            </p:txBody>
          </p:sp>
        </mc:Fallback>
      </mc:AlternateContent>
      <p:pic>
        <p:nvPicPr>
          <p:cNvPr id="11" name="Picture 10" descr="A picture containing shape&#10;&#10;Description automatically generated">
            <a:extLst>
              <a:ext uri="{FF2B5EF4-FFF2-40B4-BE49-F238E27FC236}">
                <a16:creationId xmlns:a16="http://schemas.microsoft.com/office/drawing/2014/main" id="{5B7D6086-8FA3-FE46-87A0-CB32EF66842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30711" b="52617"/>
          <a:stretch/>
        </p:blipFill>
        <p:spPr bwMode="auto">
          <a:xfrm>
            <a:off x="2622233" y="2961791"/>
            <a:ext cx="6947535" cy="98742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8F2B6C0-67A5-0E4A-8779-7B249ACDBA4F}"/>
                  </a:ext>
                </a:extLst>
              </p:cNvPr>
              <p:cNvSpPr/>
              <p:nvPr/>
            </p:nvSpPr>
            <p:spPr>
              <a:xfrm>
                <a:off x="531434" y="4349021"/>
                <a:ext cx="8772786" cy="1015663"/>
              </a:xfrm>
              <a:prstGeom prst="rect">
                <a:avLst/>
              </a:prstGeom>
            </p:spPr>
            <p:txBody>
              <a:bodyPr wrap="square">
                <a:spAutoFit/>
              </a:bodyPr>
              <a:lstStyle/>
              <a:p>
                <a:pPr marL="457200" indent="-457200">
                  <a:buSzPts val="18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how the two number line models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show that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(−7)+9=9+(−7)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Write a summary of your reasoning.</a:t>
                </a:r>
              </a:p>
            </p:txBody>
          </p:sp>
        </mc:Choice>
        <mc:Fallback xmlns="">
          <p:sp>
            <p:nvSpPr>
              <p:cNvPr id="12" name="Rectangle 11">
                <a:extLst>
                  <a:ext uri="{FF2B5EF4-FFF2-40B4-BE49-F238E27FC236}">
                    <a16:creationId xmlns:a16="http://schemas.microsoft.com/office/drawing/2014/main" id="{08F2B6C0-67A5-0E4A-8779-7B249ACDBA4F}"/>
                  </a:ext>
                </a:extLst>
              </p:cNvPr>
              <p:cNvSpPr>
                <a:spLocks noRot="1" noChangeAspect="1" noMove="1" noResize="1" noEditPoints="1" noAdjustHandles="1" noChangeArrowheads="1" noChangeShapeType="1" noTextEdit="1"/>
              </p:cNvSpPr>
              <p:nvPr/>
            </p:nvSpPr>
            <p:spPr>
              <a:xfrm>
                <a:off x="531434" y="4349021"/>
                <a:ext cx="8772786" cy="1015663"/>
              </a:xfrm>
              <a:prstGeom prst="rect">
                <a:avLst/>
              </a:prstGeom>
              <a:blipFill>
                <a:blip r:embed="rId7"/>
                <a:stretch>
                  <a:fillRect l="-578" t="-3704" b="-9877"/>
                </a:stretch>
              </a:blipFill>
            </p:spPr>
            <p:txBody>
              <a:bodyPr/>
              <a:lstStyle/>
              <a:p>
                <a:r>
                  <a:rPr lang="en-US">
                    <a:noFill/>
                  </a:rPr>
                  <a:t> </a:t>
                </a:r>
              </a:p>
            </p:txBody>
          </p:sp>
        </mc:Fallback>
      </mc:AlternateContent>
    </p:spTree>
    <p:extLst>
      <p:ext uri="{BB962C8B-B14F-4D97-AF65-F5344CB8AC3E}">
        <p14:creationId xmlns:p14="http://schemas.microsoft.com/office/powerpoint/2010/main" val="2676669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20334" y="2766150"/>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7" name="image2.png">
            <a:extLst>
              <a:ext uri="{FF2B5EF4-FFF2-40B4-BE49-F238E27FC236}">
                <a16:creationId xmlns:a16="http://schemas.microsoft.com/office/drawing/2014/main" id="{952E9ABF-4A5A-6047-B98A-B57B5AF0224E}"/>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532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28437" y="129709"/>
            <a:ext cx="10891497"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7.4.5 Try It: Adding Integers Using Number Lines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66A031F-2EC8-DF4C-B3F5-E7AC5B8F3239}"/>
                  </a:ext>
                </a:extLst>
              </p:cNvPr>
              <p:cNvSpPr/>
              <p:nvPr/>
            </p:nvSpPr>
            <p:spPr>
              <a:xfrm>
                <a:off x="731688" y="1393591"/>
                <a:ext cx="10314854" cy="923330"/>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Find each sum. Use the number line to model the addition.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8+(−18)= ________</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731688" y="1393591"/>
                <a:ext cx="10314854" cy="923330"/>
              </a:xfrm>
              <a:prstGeom prst="rect">
                <a:avLst/>
              </a:prstGeom>
              <a:blipFill>
                <a:blip r:embed="rId4"/>
                <a:stretch>
                  <a:fillRect l="-369" t="-2703" b="-9459"/>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12" name="image2.png">
            <a:extLst>
              <a:ext uri="{FF2B5EF4-FFF2-40B4-BE49-F238E27FC236}">
                <a16:creationId xmlns:a16="http://schemas.microsoft.com/office/drawing/2014/main" id="{CEE695F5-1A7B-4A4D-A390-9746DB691379}"/>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pic>
        <p:nvPicPr>
          <p:cNvPr id="8" name="Picture 7">
            <a:extLst>
              <a:ext uri="{FF2B5EF4-FFF2-40B4-BE49-F238E27FC236}">
                <a16:creationId xmlns:a16="http://schemas.microsoft.com/office/drawing/2014/main" id="{87297090-D650-FA47-BC34-647D2623B06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616835" y="2807848"/>
            <a:ext cx="6958330" cy="447675"/>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685449B-E3A2-F445-9C9C-6C8297B4D943}"/>
                  </a:ext>
                </a:extLst>
              </p:cNvPr>
              <p:cNvSpPr/>
              <p:nvPr/>
            </p:nvSpPr>
            <p:spPr>
              <a:xfrm>
                <a:off x="731688" y="3833300"/>
                <a:ext cx="8526780" cy="369332"/>
              </a:xfrm>
              <a:prstGeom prst="rect">
                <a:avLst/>
              </a:prstGeom>
            </p:spPr>
            <p:txBody>
              <a:bodyPr wrap="square">
                <a:spAutoFit/>
              </a:bodyPr>
              <a:lstStyle/>
              <a:p>
                <a:pPr marL="407988" indent="-396875">
                  <a:buSzPts val="1800"/>
                  <a:buFont typeface="+mj-lt"/>
                  <a:buAutoNum type="alphaLcPeriod" startAt="2"/>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−7+(−5)= ________</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9" name="Rectangle 8">
                <a:extLst>
                  <a:ext uri="{FF2B5EF4-FFF2-40B4-BE49-F238E27FC236}">
                    <a16:creationId xmlns:a16="http://schemas.microsoft.com/office/drawing/2014/main" id="{9685449B-E3A2-F445-9C9C-6C8297B4D943}"/>
                  </a:ext>
                </a:extLst>
              </p:cNvPr>
              <p:cNvSpPr>
                <a:spLocks noRot="1" noChangeAspect="1" noMove="1" noResize="1" noEditPoints="1" noAdjustHandles="1" noChangeArrowheads="1" noChangeShapeType="1" noTextEdit="1"/>
              </p:cNvSpPr>
              <p:nvPr/>
            </p:nvSpPr>
            <p:spPr>
              <a:xfrm>
                <a:off x="731688" y="3833300"/>
                <a:ext cx="8526780" cy="369332"/>
              </a:xfrm>
              <a:prstGeom prst="rect">
                <a:avLst/>
              </a:prstGeom>
              <a:blipFill>
                <a:blip r:embed="rId7"/>
                <a:stretch>
                  <a:fillRect l="-446" t="-6667" b="-2666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203E1EB-D7CF-7833-9B14-55DA2D600D94}"/>
              </a:ext>
            </a:extLst>
          </p:cNvPr>
          <p:cNvPicPr>
            <a:picLocks noChangeAspect="1"/>
          </p:cNvPicPr>
          <p:nvPr/>
        </p:nvPicPr>
        <p:blipFill>
          <a:blip r:embed="rId8"/>
          <a:stretch>
            <a:fillRect/>
          </a:stretch>
        </p:blipFill>
        <p:spPr>
          <a:xfrm>
            <a:off x="2616835" y="4843766"/>
            <a:ext cx="6958330" cy="485382"/>
          </a:xfrm>
          <a:prstGeom prst="rect">
            <a:avLst/>
          </a:prstGeom>
        </p:spPr>
      </p:pic>
    </p:spTree>
    <p:extLst>
      <p:ext uri="{BB962C8B-B14F-4D97-AF65-F5344CB8AC3E}">
        <p14:creationId xmlns:p14="http://schemas.microsoft.com/office/powerpoint/2010/main" val="1079925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66A031F-2EC8-DF4C-B3F5-E7AC5B8F3239}"/>
                  </a:ext>
                </a:extLst>
              </p:cNvPr>
              <p:cNvSpPr/>
              <p:nvPr/>
            </p:nvSpPr>
            <p:spPr>
              <a:xfrm>
                <a:off x="716526" y="570682"/>
                <a:ext cx="8526780" cy="369332"/>
              </a:xfrm>
              <a:prstGeom prst="rect">
                <a:avLst/>
              </a:prstGeom>
            </p:spPr>
            <p:txBody>
              <a:bodyPr wrap="square">
                <a:spAutoFit/>
              </a:bodyPr>
              <a:lstStyle/>
              <a:p>
                <a:pPr marL="407988" indent="-396875">
                  <a:buSzPts val="1800"/>
                  <a:buFont typeface="+mj-lt"/>
                  <a:buAutoNum type="alphaLcPeriod" startAt="3"/>
                </a:pPr>
                <a:r>
                  <a:rPr lang="en-US" sz="18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−3+20= ________</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716526" y="570682"/>
                <a:ext cx="8526780" cy="369332"/>
              </a:xfrm>
              <a:prstGeom prst="rect">
                <a:avLst/>
              </a:prstGeom>
              <a:blipFill>
                <a:blip r:embed="rId4"/>
                <a:stretch>
                  <a:fillRect l="-446" t="-10345" b="-27586"/>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id="{87297090-D650-FA47-BC34-647D2623B06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16835" y="1340448"/>
            <a:ext cx="6958330" cy="447675"/>
          </a:xfrm>
          <a:prstGeom prst="rect">
            <a:avLst/>
          </a:prstGeom>
        </p:spPr>
      </p:pic>
      <p:sp>
        <p:nvSpPr>
          <p:cNvPr id="9" name="Rectangle 8">
            <a:extLst>
              <a:ext uri="{FF2B5EF4-FFF2-40B4-BE49-F238E27FC236}">
                <a16:creationId xmlns:a16="http://schemas.microsoft.com/office/drawing/2014/main" id="{9685449B-E3A2-F445-9C9C-6C8297B4D943}"/>
              </a:ext>
            </a:extLst>
          </p:cNvPr>
          <p:cNvSpPr/>
          <p:nvPr/>
        </p:nvSpPr>
        <p:spPr>
          <a:xfrm>
            <a:off x="716526" y="2893363"/>
            <a:ext cx="9900300" cy="369332"/>
          </a:xfrm>
          <a:prstGeom prst="rect">
            <a:avLst/>
          </a:prstGeom>
        </p:spPr>
        <p:txBody>
          <a:bodyPr wrap="square">
            <a:spAutoFit/>
          </a:bodyPr>
          <a:lstStyle/>
          <a:p>
            <a:pPr marL="407988" indent="-396875">
              <a:buSzPts val="1800"/>
              <a:buFont typeface="+mj-lt"/>
              <a:buAutoNum type="arabicPeriod" startAt="2"/>
            </a:pPr>
            <a:r>
              <a:rPr lang="en-US" sz="1800" dirty="0">
                <a:latin typeface="Verdana" panose="020B0604030504040204" pitchFamily="34" charset="0"/>
                <a:ea typeface="Verdana" panose="020B0604030504040204" pitchFamily="34" charset="0"/>
                <a:cs typeface="Verdana" panose="020B0604030504040204" pitchFamily="34" charset="0"/>
              </a:rPr>
              <a:t>Write the numerical expression for the model below. Then, find the sum.</a:t>
            </a:r>
          </a:p>
        </p:txBody>
      </p:sp>
      <p:pic>
        <p:nvPicPr>
          <p:cNvPr id="11" name="Picture 10">
            <a:extLst>
              <a:ext uri="{FF2B5EF4-FFF2-40B4-BE49-F238E27FC236}">
                <a16:creationId xmlns:a16="http://schemas.microsoft.com/office/drawing/2014/main" id="{7693FC57-0D4D-E943-986D-2470CDC37BB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208" y="3879548"/>
            <a:ext cx="6585585" cy="759460"/>
          </a:xfrm>
          <a:prstGeom prst="rect">
            <a:avLst/>
          </a:prstGeom>
        </p:spPr>
      </p:pic>
    </p:spTree>
    <p:extLst>
      <p:ext uri="{BB962C8B-B14F-4D97-AF65-F5344CB8AC3E}">
        <p14:creationId xmlns:p14="http://schemas.microsoft.com/office/powerpoint/2010/main" val="3035374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52516" y="2766150"/>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8" y="-6177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7.4.6 Your Turn!</a:t>
            </a:r>
          </a:p>
        </p:txBody>
      </p:sp>
      <p:sp>
        <p:nvSpPr>
          <p:cNvPr id="2" name="Rectangle 1">
            <a:extLst>
              <a:ext uri="{FF2B5EF4-FFF2-40B4-BE49-F238E27FC236}">
                <a16:creationId xmlns:a16="http://schemas.microsoft.com/office/drawing/2014/main" id="{B05AB5A2-AF35-B14C-AE54-D2A0628C823C}"/>
              </a:ext>
            </a:extLst>
          </p:cNvPr>
          <p:cNvSpPr/>
          <p:nvPr/>
        </p:nvSpPr>
        <p:spPr>
          <a:xfrm>
            <a:off x="732743" y="1307046"/>
            <a:ext cx="11459257"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For each number line model, write the addition expression represented and find the sum.</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a.</a:t>
            </a:r>
          </a:p>
        </p:txBody>
      </p:sp>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0D9959C-BC81-7642-9A75-F49D35524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pic>
        <p:nvPicPr>
          <p:cNvPr id="4" name="Picture 3" descr="Table&#10;&#10;Description automatically generated with medium confidence">
            <a:extLst>
              <a:ext uri="{FF2B5EF4-FFF2-40B4-BE49-F238E27FC236}">
                <a16:creationId xmlns:a16="http://schemas.microsoft.com/office/drawing/2014/main" id="{625F1083-BA4D-DE44-927B-4C8BC0B406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90125" y="3064762"/>
            <a:ext cx="6411751" cy="2452256"/>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8A71DEF1-087D-214F-86DF-C80090F990CE}"/>
              </a:ext>
            </a:extLst>
          </p:cNvPr>
          <p:cNvSpPr/>
          <p:nvPr/>
        </p:nvSpPr>
        <p:spPr>
          <a:xfrm>
            <a:off x="641645" y="679508"/>
            <a:ext cx="8254001" cy="461665"/>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p:pic>
        <p:nvPicPr>
          <p:cNvPr id="4" name="Picture 3" descr="Table&#10;&#10;Description automatically generated with medium confidence">
            <a:extLst>
              <a:ext uri="{FF2B5EF4-FFF2-40B4-BE49-F238E27FC236}">
                <a16:creationId xmlns:a16="http://schemas.microsoft.com/office/drawing/2014/main" id="{740E29EF-B2AC-F34F-A795-7890584A48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72138" y="1141173"/>
            <a:ext cx="7447722" cy="2836237"/>
          </a:xfrm>
          <a:prstGeom prst="rect">
            <a:avLst/>
          </a:prstGeom>
        </p:spPr>
      </p:pic>
    </p:spTree>
    <p:extLst>
      <p:ext uri="{BB962C8B-B14F-4D97-AF65-F5344CB8AC3E}">
        <p14:creationId xmlns:p14="http://schemas.microsoft.com/office/powerpoint/2010/main" val="155251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A71DEF1-087D-214F-86DF-C80090F990CE}"/>
                  </a:ext>
                </a:extLst>
              </p:cNvPr>
              <p:cNvSpPr/>
              <p:nvPr/>
            </p:nvSpPr>
            <p:spPr>
              <a:xfrm>
                <a:off x="377749" y="605360"/>
                <a:ext cx="11022754" cy="1226746"/>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number line to show the sum of </a:t>
                </a:r>
                <a14:m>
                  <m:oMath xmlns:m="http://schemas.openxmlformats.org/officeDocument/2006/math">
                    <m:sPre>
                      <m:sPrePr>
                        <m:ctrlPr>
                          <a:rPr lang="en-US" sz="2400" i="1" dirty="0">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sz="24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400" i="1" dirty="0">
                            <a:latin typeface="Cambria Math" panose="02040503050406030204" pitchFamily="18" charset="0"/>
                            <a:ea typeface="Times New Roman" panose="02020603050405020304" pitchFamily="18" charset="0"/>
                            <a:cs typeface="Times New Roman" panose="02020603050405020304" pitchFamily="18" charset="0"/>
                          </a:rPr>
                          <m:t>8</m:t>
                        </m:r>
                      </m:e>
                    </m:sPre>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Then, complete the equation.</a:t>
                </a: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8A71DEF1-087D-214F-86DF-C80090F990CE}"/>
                  </a:ext>
                </a:extLst>
              </p:cNvPr>
              <p:cNvSpPr>
                <a:spLocks noRot="1" noChangeAspect="1" noMove="1" noResize="1" noEditPoints="1" noAdjustHandles="1" noChangeArrowheads="1" noChangeShapeType="1" noTextEdit="1"/>
              </p:cNvSpPr>
              <p:nvPr/>
            </p:nvSpPr>
            <p:spPr>
              <a:xfrm>
                <a:off x="377749" y="605360"/>
                <a:ext cx="11022754" cy="1226746"/>
              </a:xfrm>
              <a:prstGeom prst="rect">
                <a:avLst/>
              </a:prstGeom>
              <a:blipFill>
                <a:blip r:embed="rId4"/>
                <a:stretch>
                  <a:fillRect l="-806" t="-5102"/>
                </a:stretch>
              </a:blipFill>
            </p:spPr>
            <p:txBody>
              <a:bodyPr/>
              <a:lstStyle/>
              <a:p>
                <a:r>
                  <a:rPr lang="en-US">
                    <a:noFill/>
                  </a:rPr>
                  <a:t> </a:t>
                </a:r>
              </a:p>
            </p:txBody>
          </p:sp>
        </mc:Fallback>
      </mc:AlternateContent>
      <p:pic>
        <p:nvPicPr>
          <p:cNvPr id="7" name="Picture 6" descr="A picture containing shape&#10;&#10;Description automatically generated">
            <a:extLst>
              <a:ext uri="{FF2B5EF4-FFF2-40B4-BE49-F238E27FC236}">
                <a16:creationId xmlns:a16="http://schemas.microsoft.com/office/drawing/2014/main" id="{DE64229D-7E8B-524A-935B-CE645AD2DA3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36949" b="52617"/>
          <a:stretch/>
        </p:blipFill>
        <p:spPr bwMode="auto">
          <a:xfrm>
            <a:off x="2799398" y="2131904"/>
            <a:ext cx="6593205" cy="59880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2589BD2-1DB3-504C-B7D4-7962D30D3F56}"/>
                  </a:ext>
                </a:extLst>
              </p:cNvPr>
              <p:cNvSpPr/>
              <p:nvPr/>
            </p:nvSpPr>
            <p:spPr>
              <a:xfrm>
                <a:off x="1969000" y="3330306"/>
                <a:ext cx="8254001" cy="46980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sz="2400" i="1" dirty="0">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sz="24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400" i="1" dirty="0">
                              <a:latin typeface="Cambria Math" panose="02040503050406030204" pitchFamily="18" charset="0"/>
                              <a:ea typeface="Times New Roman" panose="02020603050405020304" pitchFamily="18" charset="0"/>
                              <a:cs typeface="Times New Roman" panose="02020603050405020304" pitchFamily="18" charset="0"/>
                            </a:rPr>
                            <m:t>8</m:t>
                          </m:r>
                        </m:e>
                      </m:sPre>
                      <m:r>
                        <a:rPr lang="en-US" sz="2400" i="1" dirty="0">
                          <a:latin typeface="Cambria Math" panose="02040503050406030204" pitchFamily="18" charset="0"/>
                          <a:ea typeface="Times New Roman" panose="02020603050405020304" pitchFamily="18" charset="0"/>
                          <a:cs typeface="Times New Roman" panose="02020603050405020304" pitchFamily="18" charset="0"/>
                        </a:rPr>
                        <m:t>+5=_________</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42589BD2-1DB3-504C-B7D4-7962D30D3F56}"/>
                  </a:ext>
                </a:extLst>
              </p:cNvPr>
              <p:cNvSpPr>
                <a:spLocks noRot="1" noChangeAspect="1" noMove="1" noResize="1" noEditPoints="1" noAdjustHandles="1" noChangeArrowheads="1" noChangeShapeType="1" noTextEdit="1"/>
              </p:cNvSpPr>
              <p:nvPr/>
            </p:nvSpPr>
            <p:spPr>
              <a:xfrm>
                <a:off x="1969000" y="3330306"/>
                <a:ext cx="8254001" cy="46980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95342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A71DEF1-087D-214F-86DF-C80090F990CE}"/>
                  </a:ext>
                </a:extLst>
              </p:cNvPr>
              <p:cNvSpPr/>
              <p:nvPr/>
            </p:nvSpPr>
            <p:spPr>
              <a:xfrm>
                <a:off x="598866" y="441331"/>
                <a:ext cx="10949121" cy="769441"/>
              </a:xfrm>
              <a:prstGeom prst="rect">
                <a:avLst/>
              </a:prstGeom>
            </p:spPr>
            <p:txBody>
              <a:bodyPr wrap="square">
                <a:spAutoFit/>
              </a:bodyPr>
              <a:lstStyle/>
              <a:p>
                <a:pPr marL="457200" indent="-457200">
                  <a:buFont typeface="+mj-lt"/>
                  <a:buAutoNum type="arabi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In a single day, the temperature in degrees Fahrenheit (℉) of a town in Canada began at a low of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−20℉ </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and increased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40℉</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by noon.</a:t>
                </a:r>
              </a:p>
            </p:txBody>
          </p:sp>
        </mc:Choice>
        <mc:Fallback xmlns="">
          <p:sp>
            <p:nvSpPr>
              <p:cNvPr id="6" name="Rectangle 5">
                <a:extLst>
                  <a:ext uri="{FF2B5EF4-FFF2-40B4-BE49-F238E27FC236}">
                    <a16:creationId xmlns:a16="http://schemas.microsoft.com/office/drawing/2014/main" id="{8A71DEF1-087D-214F-86DF-C80090F990CE}"/>
                  </a:ext>
                </a:extLst>
              </p:cNvPr>
              <p:cNvSpPr>
                <a:spLocks noRot="1" noChangeAspect="1" noMove="1" noResize="1" noEditPoints="1" noAdjustHandles="1" noChangeArrowheads="1" noChangeShapeType="1" noTextEdit="1"/>
              </p:cNvSpPr>
              <p:nvPr/>
            </p:nvSpPr>
            <p:spPr>
              <a:xfrm>
                <a:off x="598866" y="441331"/>
                <a:ext cx="10949121" cy="769441"/>
              </a:xfrm>
              <a:prstGeom prst="rect">
                <a:avLst/>
              </a:prstGeom>
              <a:blipFill>
                <a:blip r:embed="rId4"/>
                <a:stretch>
                  <a:fillRect l="-811" t="-6452" b="-14516"/>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EA023DE9-C06F-F749-945D-33542C0288DD}"/>
              </a:ext>
            </a:extLst>
          </p:cNvPr>
          <p:cNvSpPr/>
          <p:nvPr/>
        </p:nvSpPr>
        <p:spPr>
          <a:xfrm>
            <a:off x="950100" y="1890483"/>
            <a:ext cx="7426104" cy="3477875"/>
          </a:xfrm>
          <a:prstGeom prst="rect">
            <a:avLst/>
          </a:prstGeom>
        </p:spPr>
        <p:txBody>
          <a:bodyPr wrap="square">
            <a:spAutoFit/>
          </a:bodyPr>
          <a:lstStyle/>
          <a:p>
            <a:pPr marL="457200" indent="-457200">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Plot a point at the low temperature.</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Draw a ray along the number line to represent the increase of 40℉.</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Which direction does the arrow extend to show the increase in temperature?</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4"/>
            </a:pPr>
            <a:r>
              <a:rPr lang="en-US" sz="2200" dirty="0">
                <a:latin typeface="Verdana" panose="020B0604030504040204" pitchFamily="34" charset="0"/>
                <a:ea typeface="Times New Roman" panose="02020603050405020304" pitchFamily="18" charset="0"/>
                <a:cs typeface="Times New Roman" panose="02020603050405020304" pitchFamily="18" charset="0"/>
              </a:rPr>
              <a:t>What was the temperature in the town by noon?</a:t>
            </a:r>
          </a:p>
        </p:txBody>
      </p:sp>
      <p:pic>
        <p:nvPicPr>
          <p:cNvPr id="11" name="Picture 10" descr="Chart&#10;&#10;Description automatically generated">
            <a:extLst>
              <a:ext uri="{FF2B5EF4-FFF2-40B4-BE49-F238E27FC236}">
                <a16:creationId xmlns:a16="http://schemas.microsoft.com/office/drawing/2014/main" id="{080E4DA2-0732-044F-A636-74AD38E4EEC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8014" r="40457"/>
          <a:stretch/>
        </p:blipFill>
        <p:spPr bwMode="auto">
          <a:xfrm>
            <a:off x="9381574" y="1890483"/>
            <a:ext cx="953327" cy="422209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07658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03916"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7.4.7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730266" y="1204500"/>
            <a:ext cx="10800318"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Color in the arrow up to the statement that best describes your current level of confidence with using a number line to add integers.</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CBC43585-A433-A848-9FC1-7313648EC2D7}"/>
              </a:ext>
            </a:extLst>
          </p:cNvPr>
          <p:cNvGraphicFramePr>
            <a:graphicFrameLocks noGrp="1"/>
          </p:cNvGraphicFramePr>
          <p:nvPr>
            <p:extLst>
              <p:ext uri="{D42A27DB-BD31-4B8C-83A1-F6EECF244321}">
                <p14:modId xmlns:p14="http://schemas.microsoft.com/office/powerpoint/2010/main" val="1639400285"/>
              </p:ext>
            </p:extLst>
          </p:nvPr>
        </p:nvGraphicFramePr>
        <p:xfrm>
          <a:off x="5113566" y="2563857"/>
          <a:ext cx="6341165" cy="3466148"/>
        </p:xfrm>
        <a:graphic>
          <a:graphicData uri="http://schemas.openxmlformats.org/drawingml/2006/table">
            <a:tbl>
              <a:tblPr firstRow="1" firstCol="1" bandRow="1">
                <a:tableStyleId>{A91F0D33-8C57-4600-99A7-42BC86742BE1}</a:tableStyleId>
              </a:tblPr>
              <a:tblGrid>
                <a:gridCol w="152400">
                  <a:extLst>
                    <a:ext uri="{9D8B030D-6E8A-4147-A177-3AD203B41FA5}">
                      <a16:colId xmlns:a16="http://schemas.microsoft.com/office/drawing/2014/main" val="331834123"/>
                    </a:ext>
                  </a:extLst>
                </a:gridCol>
                <a:gridCol w="6188765">
                  <a:extLst>
                    <a:ext uri="{9D8B030D-6E8A-4147-A177-3AD203B41FA5}">
                      <a16:colId xmlns:a16="http://schemas.microsoft.com/office/drawing/2014/main" val="2471442249"/>
                    </a:ext>
                  </a:extLst>
                </a:gridCol>
              </a:tblGrid>
              <a:tr h="555625">
                <a:tc>
                  <a:txBody>
                    <a:bodyPr/>
                    <a:lstStyle/>
                    <a:p>
                      <a:pPr>
                        <a:lnSpc>
                          <a:spcPct val="107000"/>
                        </a:lnSpc>
                      </a:pP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I’m very confident! I can teach anyone how to add integers.</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666104733"/>
                  </a:ext>
                </a:extLst>
              </a:tr>
              <a:tr h="555625">
                <a:tc>
                  <a:txBody>
                    <a:bodyPr/>
                    <a:lstStyle/>
                    <a:p>
                      <a:pPr>
                        <a:lnSpc>
                          <a:spcPct val="107000"/>
                        </a:lnSpc>
                      </a:pP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help others add integers.</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848034087"/>
                  </a:ext>
                </a:extLst>
              </a:tr>
              <a:tr h="555625">
                <a:tc>
                  <a:txBody>
                    <a:bodyPr/>
                    <a:lstStyle/>
                    <a:p>
                      <a:pPr>
                        <a:lnSpc>
                          <a:spcPct val="107000"/>
                        </a:lnSpc>
                      </a:pP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I can add integers on my own.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16049473"/>
                  </a:ext>
                </a:extLst>
              </a:tr>
              <a:tr h="555625">
                <a:tc>
                  <a:txBody>
                    <a:bodyPr/>
                    <a:lstStyle/>
                    <a:p>
                      <a:pPr>
                        <a:lnSpc>
                          <a:spcPct val="107000"/>
                        </a:lnSpc>
                      </a:pP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add integers with assistance.</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00477251"/>
                  </a:ext>
                </a:extLst>
              </a:tr>
              <a:tr h="555625">
                <a:tc>
                  <a:txBody>
                    <a:bodyPr/>
                    <a:lstStyle/>
                    <a:p>
                      <a:pPr marL="0" marR="0">
                        <a:lnSpc>
                          <a:spcPct val="107000"/>
                        </a:lnSpc>
                        <a:spcBef>
                          <a:spcPts val="0"/>
                        </a:spcBef>
                        <a:spcAft>
                          <a:spcPts val="0"/>
                        </a:spcAft>
                      </a:pPr>
                      <a:r>
                        <a:rPr lang="en-US" sz="12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I’m having trouble adding integers.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804636322"/>
                  </a:ext>
                </a:extLst>
              </a:tr>
              <a:tr h="555625">
                <a:tc>
                  <a:txBody>
                    <a:bodyPr/>
                    <a:lstStyle/>
                    <a:p>
                      <a:pPr>
                        <a:lnSpc>
                          <a:spcPct val="107000"/>
                        </a:lnSpc>
                      </a:pP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I’m not sure what integers are.</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3500" marR="63500" marT="63500" marB="635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57663557"/>
                  </a:ext>
                </a:extLst>
              </a:tr>
            </a:tbl>
          </a:graphicData>
        </a:graphic>
      </p:graphicFrame>
      <p:sp>
        <p:nvSpPr>
          <p:cNvPr id="12" name="Up Arrow 11">
            <a:extLst>
              <a:ext uri="{FF2B5EF4-FFF2-40B4-BE49-F238E27FC236}">
                <a16:creationId xmlns:a16="http://schemas.microsoft.com/office/drawing/2014/main" id="{666FAB62-5C07-E24D-AD91-E9C6D5CB1A7D}"/>
              </a:ext>
            </a:extLst>
          </p:cNvPr>
          <p:cNvSpPr/>
          <p:nvPr/>
        </p:nvSpPr>
        <p:spPr>
          <a:xfrm>
            <a:off x="3723827" y="2563857"/>
            <a:ext cx="1002030" cy="3466148"/>
          </a:xfrm>
          <a:prstGeom prst="up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TotalTime>
  <Words>1304</Words>
  <Application>Microsoft Office PowerPoint</Application>
  <PresentationFormat>Widescreen</PresentationFormat>
  <Paragraphs>229</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Verdana</vt:lpstr>
      <vt:lpstr>Century Gothic</vt:lpstr>
      <vt:lpstr>Arial</vt:lpstr>
      <vt:lpstr>Cambria Math</vt:lpstr>
      <vt:lpstr>Wingdings</vt:lpstr>
      <vt:lpstr>Calibri</vt:lpstr>
      <vt:lpstr>Cambria</vt:lpstr>
      <vt:lpstr>Arial Black</vt:lpstr>
      <vt:lpstr>1_Office Theme</vt:lpstr>
      <vt:lpstr>6th Grade Math  Unit 7, Lesson 4  Adding Integers Using Number Lines  Volume 2, pg. 19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Try It</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28</cp:revision>
  <dcterms:created xsi:type="dcterms:W3CDTF">2015-03-17T18:51:18Z</dcterms:created>
  <dcterms:modified xsi:type="dcterms:W3CDTF">2022-07-09T06:04:41Z</dcterms:modified>
</cp:coreProperties>
</file>