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85" r:id="rId4"/>
    <p:sldId id="286" r:id="rId5"/>
    <p:sldId id="261" r:id="rId6"/>
    <p:sldId id="287" r:id="rId7"/>
    <p:sldId id="345" r:id="rId8"/>
    <p:sldId id="346" r:id="rId9"/>
    <p:sldId id="347" r:id="rId10"/>
    <p:sldId id="350" r:id="rId11"/>
    <p:sldId id="352" r:id="rId12"/>
    <p:sldId id="351" r:id="rId13"/>
    <p:sldId id="348" r:id="rId14"/>
    <p:sldId id="349" r:id="rId15"/>
    <p:sldId id="353" r:id="rId16"/>
    <p:sldId id="354" r:id="rId17"/>
    <p:sldId id="311" r:id="rId18"/>
    <p:sldId id="312" r:id="rId19"/>
    <p:sldId id="333" r:id="rId20"/>
    <p:sldId id="306" r:id="rId21"/>
    <p:sldId id="307" r:id="rId22"/>
  </p:sldIdLst>
  <p:sldSz cx="12192000" cy="6858000"/>
  <p:notesSz cx="6858000" cy="9144000"/>
  <p:embeddedFontLst>
    <p:embeddedFont>
      <p:font typeface="Arial Black" panose="020B0A04020102020204" pitchFamily="34" charset="0"/>
      <p:bold r:id="rId24"/>
    </p:embeddedFont>
    <p:embeddedFont>
      <p:font typeface="Calibri" panose="020F0502020204030204" pitchFamily="34" charset="0"/>
      <p:regular r:id="rId25"/>
      <p:bold r:id="rId26"/>
      <p:italic r:id="rId27"/>
      <p:boldItalic r:id="rId28"/>
    </p:embeddedFont>
    <p:embeddedFont>
      <p:font typeface="Cambria" panose="02040503050406030204" pitchFamily="18" charset="0"/>
      <p:regular r:id="rId29"/>
      <p:bold r:id="rId30"/>
      <p:italic r:id="rId31"/>
      <p:boldItalic r:id="rId32"/>
    </p:embeddedFont>
    <p:embeddedFont>
      <p:font typeface="Cambria Math" panose="02040503050406030204" pitchFamily="18" charset="0"/>
      <p:regular r:id="rId33"/>
    </p:embeddedFont>
    <p:embeddedFont>
      <p:font typeface="Century Gothic" panose="020B0502020202020204" pitchFamily="34" charset="0"/>
      <p:regular r:id="rId34"/>
      <p:bold r:id="rId35"/>
      <p:italic r:id="rId36"/>
      <p:boldItalic r:id="rId37"/>
    </p:embeddedFont>
    <p:embeddedFont>
      <p:font typeface="Verdana" panose="020B0604030504040204" pitchFamily="34"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BAAA"/>
    <a:srgbClr val="26B7D4"/>
    <a:srgbClr val="E24E5F"/>
    <a:srgbClr val="52BDA6"/>
    <a:srgbClr val="276C46"/>
    <a:srgbClr val="C9DF6F"/>
    <a:srgbClr val="417DBF"/>
    <a:srgbClr val="3F2A67"/>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94"/>
    <p:restoredTop sz="94722"/>
  </p:normalViewPr>
  <p:slideViewPr>
    <p:cSldViewPr snapToGrid="0">
      <p:cViewPr varScale="1">
        <p:scale>
          <a:sx n="79" d="100"/>
          <a:sy n="79" d="100"/>
        </p:scale>
        <p:origin x="706"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858514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40875314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6589136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523423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9136316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2411296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9500189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8827459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0041515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493611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8720850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5119672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5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3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29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7, Lesson 9</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Integer Subtraction</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43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solidFill>
                <a:srgbClr val="26B7D4"/>
              </a:solidFill>
            </a:endParaRPr>
          </a:p>
        </p:txBody>
      </p:sp>
      <p:sp>
        <p:nvSpPr>
          <p:cNvPr id="279" name="Google Shape;279;g104476d1465_1_17"/>
          <p:cNvSpPr txBox="1">
            <a:spLocks noGrp="1"/>
          </p:cNvSpPr>
          <p:nvPr>
            <p:ph type="title" idx="4294967295"/>
          </p:nvPr>
        </p:nvSpPr>
        <p:spPr>
          <a:xfrm>
            <a:off x="1234440" y="-9144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234440" y="1600200"/>
            <a:ext cx="9696796"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MA.6.NSO.4.1</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Apply and extend previous understandings of operations with whole numbers to add and subtract integers with procedural fluency.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06423" y="0"/>
            <a:ext cx="1055910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905256" y="1596390"/>
            <a:ext cx="971157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82;g104476d1465_1_17">
            <a:extLst>
              <a:ext uri="{FF2B5EF4-FFF2-40B4-BE49-F238E27FC236}">
                <a16:creationId xmlns:a16="http://schemas.microsoft.com/office/drawing/2014/main" id="{AC0AE969-0A27-9545-AB11-BBE5491801C1}"/>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43</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06424"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05255" y="1547093"/>
                <a:ext cx="10053689" cy="449886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subtract integers with values greater than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100</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4" name="Google Shape;302;g103996e1364_0_16">
                <a:extLst>
                  <a:ext uri="{FF2B5EF4-FFF2-40B4-BE49-F238E27FC236}">
                    <a16:creationId xmlns:a16="http://schemas.microsoft.com/office/drawing/2014/main" id="{9B7C98EC-F13C-9146-B728-D7044DB4247D}"/>
                  </a:ext>
                </a:extLst>
              </p:cNvPr>
              <p:cNvSpPr txBox="1">
                <a:spLocks noRot="1" noChangeAspect="1" noMove="1" noResize="1" noEditPoints="1" noAdjustHandles="1" noChangeArrowheads="1" noChangeShapeType="1" noTextEdit="1"/>
              </p:cNvSpPr>
              <p:nvPr/>
            </p:nvSpPr>
            <p:spPr>
              <a:xfrm>
                <a:off x="905255" y="1547093"/>
                <a:ext cx="10053689" cy="4498865"/>
              </a:xfrm>
              <a:prstGeom prst="rect">
                <a:avLst/>
              </a:prstGeom>
              <a:blipFill>
                <a:blip r:embed="rId5"/>
                <a:stretch>
                  <a:fillRect l="-883" t="-843"/>
                </a:stretch>
              </a:blipFill>
              <a:ln>
                <a:noFill/>
              </a:ln>
            </p:spPr>
            <p:txBody>
              <a:bodyPr/>
              <a:lstStyle/>
              <a:p>
                <a:r>
                  <a:rPr lang="en-US">
                    <a:noFill/>
                  </a:rPr>
                  <a:t> </a:t>
                </a:r>
              </a:p>
            </p:txBody>
          </p:sp>
        </mc:Fallback>
      </mc:AlternateContent>
      <p:sp>
        <p:nvSpPr>
          <p:cNvPr id="8" name="Google Shape;282;g104476d1465_1_17">
            <a:extLst>
              <a:ext uri="{FF2B5EF4-FFF2-40B4-BE49-F238E27FC236}">
                <a16:creationId xmlns:a16="http://schemas.microsoft.com/office/drawing/2014/main" id="{AE0319DD-E1E2-064E-A3C0-1ADADEA7DC7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43</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70632"/>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06503EB0-E904-7143-BA20-369F935837E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43</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06424"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7.9.1 Warm-Up: Self-Reflection</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3" name="Rectangle 2">
            <a:extLst>
              <a:ext uri="{FF2B5EF4-FFF2-40B4-BE49-F238E27FC236}">
                <a16:creationId xmlns:a16="http://schemas.microsoft.com/office/drawing/2014/main" id="{079F083F-A67E-0047-8E64-5125815AF3D8}"/>
              </a:ext>
            </a:extLst>
          </p:cNvPr>
          <p:cNvSpPr/>
          <p:nvPr/>
        </p:nvSpPr>
        <p:spPr>
          <a:xfrm>
            <a:off x="1103917" y="1386026"/>
            <a:ext cx="9364860" cy="1200329"/>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For each statement, rate yourself on a scale of 1-5. A rating of 5 means “absolutely yes” and 1 means “absolutely not.”</a:t>
            </a:r>
          </a:p>
        </p:txBody>
      </p:sp>
      <p:sp>
        <p:nvSpPr>
          <p:cNvPr id="18" name="Google Shape;282;g104476d1465_1_17">
            <a:extLst>
              <a:ext uri="{FF2B5EF4-FFF2-40B4-BE49-F238E27FC236}">
                <a16:creationId xmlns:a16="http://schemas.microsoft.com/office/drawing/2014/main" id="{570FC961-D801-0C4E-8D4A-AEC23A74C9C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43</a:t>
            </a:r>
            <a:endParaRPr i="1" dirty="0">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7B1BF4A8-2FF4-B34F-9F90-F68E4FD100CC}"/>
              </a:ext>
            </a:extLst>
          </p:cNvPr>
          <p:cNvGraphicFramePr>
            <a:graphicFrameLocks noGrp="1"/>
          </p:cNvGraphicFramePr>
          <p:nvPr>
            <p:extLst>
              <p:ext uri="{D42A27DB-BD31-4B8C-83A1-F6EECF244321}">
                <p14:modId xmlns:p14="http://schemas.microsoft.com/office/powerpoint/2010/main" val="4278517110"/>
              </p:ext>
            </p:extLst>
          </p:nvPr>
        </p:nvGraphicFramePr>
        <p:xfrm>
          <a:off x="1943766" y="2922689"/>
          <a:ext cx="7685162" cy="3250594"/>
        </p:xfrm>
        <a:graphic>
          <a:graphicData uri="http://schemas.openxmlformats.org/drawingml/2006/table">
            <a:tbl>
              <a:tblPr firstRow="1" firstCol="1" bandRow="1">
                <a:tableStyleId>{A91F0D33-8C57-4600-99A7-42BC86742BE1}</a:tableStyleId>
              </a:tblPr>
              <a:tblGrid>
                <a:gridCol w="4458183">
                  <a:extLst>
                    <a:ext uri="{9D8B030D-6E8A-4147-A177-3AD203B41FA5}">
                      <a16:colId xmlns:a16="http://schemas.microsoft.com/office/drawing/2014/main" val="3930242956"/>
                    </a:ext>
                  </a:extLst>
                </a:gridCol>
                <a:gridCol w="3226979">
                  <a:extLst>
                    <a:ext uri="{9D8B030D-6E8A-4147-A177-3AD203B41FA5}">
                      <a16:colId xmlns:a16="http://schemas.microsoft.com/office/drawing/2014/main" val="1619035209"/>
                    </a:ext>
                  </a:extLst>
                </a:gridCol>
              </a:tblGrid>
              <a:tr h="349469">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Statement</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Rating</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49521413"/>
                  </a:ext>
                </a:extLst>
              </a:tr>
              <a:tr h="349469">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I can subtract integers using integer chips.</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1146076"/>
                  </a:ext>
                </a:extLst>
              </a:tr>
              <a:tr h="716820">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I understand how to show subtraction of integers on the number line.</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8769453"/>
                  </a:ext>
                </a:extLst>
              </a:tr>
              <a:tr h="716820">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I can subtract integers without using integer chips or a number line.</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9457805"/>
                  </a:ext>
                </a:extLst>
              </a:tr>
              <a:tr h="716820">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I can explain to someone else how to subtract integers.</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4076478"/>
                  </a:ext>
                </a:extLst>
              </a:tr>
            </a:tbl>
          </a:graphicData>
        </a:graphic>
      </p:graphicFrame>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Practice</a:t>
            </a:r>
            <a:endParaRPr sz="5100" b="1" dirty="0">
              <a:solidFill>
                <a:srgbClr val="26B7D4"/>
              </a:solidFill>
              <a:latin typeface="Verdana"/>
              <a:ea typeface="Verdana"/>
              <a:cs typeface="Verdana"/>
              <a:sym typeface="Verdana"/>
            </a:endParaRPr>
          </a:p>
        </p:txBody>
      </p:sp>
      <p:sp>
        <p:nvSpPr>
          <p:cNvPr id="9" name="Google Shape;282;g104476d1465_1_17">
            <a:extLst>
              <a:ext uri="{FF2B5EF4-FFF2-40B4-BE49-F238E27FC236}">
                <a16:creationId xmlns:a16="http://schemas.microsoft.com/office/drawing/2014/main" id="{AE80E75D-78AE-A94E-86B4-91D469B7BFAD}"/>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44</a:t>
            </a:r>
            <a:endParaRPr i="1" dirty="0">
              <a:latin typeface="Calibri"/>
              <a:ea typeface="Calibri"/>
              <a:cs typeface="Calibri"/>
              <a:sym typeface="Calibri"/>
            </a:endParaRPr>
          </a:p>
        </p:txBody>
      </p:sp>
      <p:pic>
        <p:nvPicPr>
          <p:cNvPr id="8" name="Picture 7" descr="Icon&#10;&#10;Description automatically generated">
            <a:extLst>
              <a:ext uri="{FF2B5EF4-FFF2-40B4-BE49-F238E27FC236}">
                <a16:creationId xmlns:a16="http://schemas.microsoft.com/office/drawing/2014/main" id="{AEA4B4EA-62E9-1C44-B6F0-74A8572D4D1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1972" cy="115197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86049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06424" y="0"/>
            <a:ext cx="925677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7.9.2 Guided Practice: Subtracting Integers</a:t>
            </a:r>
          </a:p>
        </p:txBody>
      </p:sp>
      <p:sp>
        <p:nvSpPr>
          <p:cNvPr id="2" name="Rectangle 1">
            <a:extLst>
              <a:ext uri="{FF2B5EF4-FFF2-40B4-BE49-F238E27FC236}">
                <a16:creationId xmlns:a16="http://schemas.microsoft.com/office/drawing/2014/main" id="{B2BE9AFC-D858-8947-AE27-3738478587E3}"/>
              </a:ext>
            </a:extLst>
          </p:cNvPr>
          <p:cNvSpPr/>
          <p:nvPr/>
        </p:nvSpPr>
        <p:spPr>
          <a:xfrm>
            <a:off x="905256" y="1331162"/>
            <a:ext cx="8581650" cy="461665"/>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Two expressions are shown. </a:t>
            </a:r>
          </a:p>
        </p:txBody>
      </p:sp>
      <p:sp>
        <p:nvSpPr>
          <p:cNvPr id="10" name="Google Shape;282;g104476d1465_1_17">
            <a:extLst>
              <a:ext uri="{FF2B5EF4-FFF2-40B4-BE49-F238E27FC236}">
                <a16:creationId xmlns:a16="http://schemas.microsoft.com/office/drawing/2014/main" id="{A0B3F56A-90D4-0546-BD18-061853EE942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44</a:t>
            </a:r>
            <a:endParaRPr i="1" dirty="0">
              <a:latin typeface="Calibri"/>
              <a:ea typeface="Calibri"/>
              <a:cs typeface="Calibri"/>
              <a:sym typeface="Calibri"/>
            </a:endParaRPr>
          </a:p>
        </p:txBody>
      </p:sp>
      <p:sp>
        <p:nvSpPr>
          <p:cNvPr id="11" name="Rectangle 10">
            <a:extLst>
              <a:ext uri="{FF2B5EF4-FFF2-40B4-BE49-F238E27FC236}">
                <a16:creationId xmlns:a16="http://schemas.microsoft.com/office/drawing/2014/main" id="{63FB836D-7BF8-B941-8F1E-1C998C7EDD5F}"/>
              </a:ext>
            </a:extLst>
          </p:cNvPr>
          <p:cNvSpPr/>
          <p:nvPr/>
        </p:nvSpPr>
        <p:spPr>
          <a:xfrm>
            <a:off x="2146200" y="2419359"/>
            <a:ext cx="8333128" cy="1019277"/>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4" name="Picture 13" descr="Icon&#10;&#10;Description automatically generated">
            <a:extLst>
              <a:ext uri="{FF2B5EF4-FFF2-40B4-BE49-F238E27FC236}">
                <a16:creationId xmlns:a16="http://schemas.microsoft.com/office/drawing/2014/main" id="{A11C236F-F6F0-6C44-9CE3-50FB461FC6B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47300" cy="747300"/>
          </a:xfrm>
          <a:prstGeom prst="rect">
            <a:avLst/>
          </a:prstGeom>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65979601-B6B5-1C42-892C-FCDE45C3C683}"/>
                  </a:ext>
                </a:extLst>
              </p:cNvPr>
              <p:cNvGraphicFramePr>
                <a:graphicFrameLocks noGrp="1"/>
              </p:cNvGraphicFramePr>
              <p:nvPr>
                <p:extLst>
                  <p:ext uri="{D42A27DB-BD31-4B8C-83A1-F6EECF244321}">
                    <p14:modId xmlns:p14="http://schemas.microsoft.com/office/powerpoint/2010/main" val="1043419270"/>
                  </p:ext>
                </p:extLst>
              </p:nvPr>
            </p:nvGraphicFramePr>
            <p:xfrm>
              <a:off x="2465805" y="2191800"/>
              <a:ext cx="5460552" cy="1050690"/>
            </p:xfrm>
            <a:graphic>
              <a:graphicData uri="http://schemas.openxmlformats.org/drawingml/2006/table">
                <a:tbl>
                  <a:tblPr firstRow="1" firstCol="1" bandRow="1">
                    <a:tableStyleId>{A91F0D33-8C57-4600-99A7-42BC86742BE1}</a:tableStyleId>
                  </a:tblPr>
                  <a:tblGrid>
                    <a:gridCol w="2730276">
                      <a:extLst>
                        <a:ext uri="{9D8B030D-6E8A-4147-A177-3AD203B41FA5}">
                          <a16:colId xmlns:a16="http://schemas.microsoft.com/office/drawing/2014/main" val="1081644262"/>
                        </a:ext>
                      </a:extLst>
                    </a:gridCol>
                    <a:gridCol w="2730276">
                      <a:extLst>
                        <a:ext uri="{9D8B030D-6E8A-4147-A177-3AD203B41FA5}">
                          <a16:colId xmlns:a16="http://schemas.microsoft.com/office/drawing/2014/main" val="1901102390"/>
                        </a:ext>
                      </a:extLst>
                    </a:gridCol>
                  </a:tblGrid>
                  <a:tr h="525345">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Expression A</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Expression B</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575834203"/>
                      </a:ext>
                    </a:extLst>
                  </a:tr>
                  <a:tr h="525345">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−191 + 77</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−191−(</m:t>
                                </m:r>
                                <m:sPre>
                                  <m:sPrePr>
                                    <m:ctrlPr>
                                      <a:rPr lang="x-none" sz="1800" i="1">
                                        <a:effectLst/>
                                        <a:latin typeface="Cambria Math" panose="02040503050406030204" pitchFamily="18" charset="0"/>
                                      </a:rPr>
                                    </m:ctrlPr>
                                  </m:sPrePr>
                                  <m:sub/>
                                  <m:sup>
                                    <m:r>
                                      <a:rPr lang="en-US" sz="1800">
                                        <a:effectLst/>
                                        <a:latin typeface="Cambria Math" panose="02040503050406030204" pitchFamily="18" charset="0"/>
                                      </a:rPr>
                                      <m:t>−</m:t>
                                    </m:r>
                                  </m:sup>
                                  <m:e>
                                    <m:r>
                                      <a:rPr lang="en-US" sz="1800">
                                        <a:effectLst/>
                                        <a:latin typeface="Cambria Math" panose="02040503050406030204" pitchFamily="18" charset="0"/>
                                      </a:rPr>
                                      <m:t>77)</m:t>
                                    </m:r>
                                  </m:e>
                                </m:sPre>
                              </m:oMath>
                            </m:oMathPara>
                          </a14:m>
                          <a:endParaRPr lang="x-none"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3532093"/>
                      </a:ext>
                    </a:extLst>
                  </a:tr>
                </a:tbl>
              </a:graphicData>
            </a:graphic>
          </p:graphicFrame>
        </mc:Choice>
        <mc:Fallback xmlns="">
          <p:graphicFrame>
            <p:nvGraphicFramePr>
              <p:cNvPr id="3" name="Table 2">
                <a:extLst>
                  <a:ext uri="{FF2B5EF4-FFF2-40B4-BE49-F238E27FC236}">
                    <a16:creationId xmlns:a16="http://schemas.microsoft.com/office/drawing/2014/main" id="{65979601-B6B5-1C42-892C-FCDE45C3C683}"/>
                  </a:ext>
                </a:extLst>
              </p:cNvPr>
              <p:cNvGraphicFramePr>
                <a:graphicFrameLocks noGrp="1"/>
              </p:cNvGraphicFramePr>
              <p:nvPr>
                <p:extLst>
                  <p:ext uri="{D42A27DB-BD31-4B8C-83A1-F6EECF244321}">
                    <p14:modId xmlns:p14="http://schemas.microsoft.com/office/powerpoint/2010/main" val="1043419270"/>
                  </p:ext>
                </p:extLst>
              </p:nvPr>
            </p:nvGraphicFramePr>
            <p:xfrm>
              <a:off x="2465805" y="2191800"/>
              <a:ext cx="5460552" cy="1050690"/>
            </p:xfrm>
            <a:graphic>
              <a:graphicData uri="http://schemas.openxmlformats.org/drawingml/2006/table">
                <a:tbl>
                  <a:tblPr firstRow="1" firstCol="1" bandRow="1">
                    <a:tableStyleId>{A91F0D33-8C57-4600-99A7-42BC86742BE1}</a:tableStyleId>
                  </a:tblPr>
                  <a:tblGrid>
                    <a:gridCol w="2730276">
                      <a:extLst>
                        <a:ext uri="{9D8B030D-6E8A-4147-A177-3AD203B41FA5}">
                          <a16:colId xmlns:a16="http://schemas.microsoft.com/office/drawing/2014/main" val="1081644262"/>
                        </a:ext>
                      </a:extLst>
                    </a:gridCol>
                    <a:gridCol w="2730276">
                      <a:extLst>
                        <a:ext uri="{9D8B030D-6E8A-4147-A177-3AD203B41FA5}">
                          <a16:colId xmlns:a16="http://schemas.microsoft.com/office/drawing/2014/main" val="1901102390"/>
                        </a:ext>
                      </a:extLst>
                    </a:gridCol>
                  </a:tblGrid>
                  <a:tr h="525345">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Expression A</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Expression B</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575834203"/>
                      </a:ext>
                    </a:extLst>
                  </a:tr>
                  <a:tr h="52534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63" t="-102381" r="-100000" b="-238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930" t="-102381" r="-465" b="-2381"/>
                          </a:stretch>
                        </a:blipFill>
                      </a:tcPr>
                    </a:tc>
                    <a:extLst>
                      <a:ext uri="{0D108BD9-81ED-4DB2-BD59-A6C34878D82A}">
                        <a16:rowId xmlns:a16="http://schemas.microsoft.com/office/drawing/2014/main" val="4293532093"/>
                      </a:ext>
                    </a:extLst>
                  </a:tr>
                </a:tbl>
              </a:graphicData>
            </a:graphic>
          </p:graphicFrame>
        </mc:Fallback>
      </mc:AlternateContent>
      <p:sp>
        <p:nvSpPr>
          <p:cNvPr id="12" name="Rectangle 11">
            <a:extLst>
              <a:ext uri="{FF2B5EF4-FFF2-40B4-BE49-F238E27FC236}">
                <a16:creationId xmlns:a16="http://schemas.microsoft.com/office/drawing/2014/main" id="{DCFE61A0-9C29-E84B-8221-21A0AB35013D}"/>
              </a:ext>
            </a:extLst>
          </p:cNvPr>
          <p:cNvSpPr/>
          <p:nvPr/>
        </p:nvSpPr>
        <p:spPr>
          <a:xfrm>
            <a:off x="905255" y="3959175"/>
            <a:ext cx="10206089" cy="830997"/>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With your partner, determine if the expressions are equivalent. Summarize your determination below.</a:t>
            </a:r>
          </a:p>
        </p:txBody>
      </p:sp>
    </p:spTree>
    <p:extLst>
      <p:ext uri="{BB962C8B-B14F-4D97-AF65-F5344CB8AC3E}">
        <p14:creationId xmlns:p14="http://schemas.microsoft.com/office/powerpoint/2010/main" val="592729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22E7CAFC-319F-CE4F-8B26-ED2749A56CDA}"/>
                  </a:ext>
                </a:extLst>
              </p:cNvPr>
              <p:cNvSpPr/>
              <p:nvPr/>
            </p:nvSpPr>
            <p:spPr>
              <a:xfrm>
                <a:off x="905256" y="512298"/>
                <a:ext cx="10275362" cy="2561214"/>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Annalise is on a trivia game show. Her score after the first round is </a:t>
                </a:r>
                <a14:m>
                  <m:oMath xmlns:m="http://schemas.openxmlformats.org/officeDocument/2006/math">
                    <m:sPre>
                      <m:sPrePr>
                        <m:ctrlPr>
                          <a:rPr lang="en-US" sz="2000" i="1" dirty="0">
                            <a:latin typeface="Cambria Math" panose="02040503050406030204" pitchFamily="18" charset="0"/>
                            <a:ea typeface="Times New Roman" panose="02020603050405020304" pitchFamily="18" charset="0"/>
                            <a:cs typeface="Times New Roman" panose="02020603050405020304" pitchFamily="18" charset="0"/>
                          </a:rPr>
                        </m:ctrlPr>
                      </m:sPrePr>
                      <m:sub/>
                      <m:sup>
                        <m:r>
                          <a:rPr lang="es-ES" sz="2000" i="1" dirty="0">
                            <a:latin typeface="Cambria Math" panose="02040503050406030204" pitchFamily="18" charset="0"/>
                            <a:ea typeface="Times New Roman" panose="02020603050405020304" pitchFamily="18" charset="0"/>
                            <a:cs typeface="Times New Roman" panose="02020603050405020304" pitchFamily="18" charset="0"/>
                          </a:rPr>
                          <m:t>−</m:t>
                        </m:r>
                      </m:sup>
                      <m:e>
                        <m:r>
                          <a:rPr lang="es-ES" sz="2000" i="1" dirty="0">
                            <a:latin typeface="Cambria Math" panose="02040503050406030204" pitchFamily="18" charset="0"/>
                            <a:ea typeface="Times New Roman" panose="02020603050405020304" pitchFamily="18" charset="0"/>
                            <a:cs typeface="Times New Roman" panose="02020603050405020304" pitchFamily="18" charset="0"/>
                          </a:rPr>
                          <m:t>500</m:t>
                        </m:r>
                      </m:e>
                    </m:sPre>
                    <m:r>
                      <a:rPr lang="en-U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s-ES" sz="2000" dirty="0">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points. She misses the first question in the second round, losing an additional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125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points.</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54025"/>
                <a:r>
                  <a:rPr lang="en-US" sz="2000" dirty="0">
                    <a:latin typeface="Verdana" panose="020B0604030504040204" pitchFamily="34" charset="0"/>
                    <a:ea typeface="Times New Roman" panose="02020603050405020304" pitchFamily="18" charset="0"/>
                    <a:cs typeface="Times New Roman" panose="02020603050405020304" pitchFamily="18" charset="0"/>
                  </a:rPr>
                  <a:t>Kiersten said she could represent Annalise’s score using subtraction, while Dylan said it could only be represented with addition. </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table with the expression each student was thinking of.</a:t>
                </a: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905256" y="512298"/>
                <a:ext cx="10275362" cy="2561214"/>
              </a:xfrm>
              <a:prstGeom prst="rect">
                <a:avLst/>
              </a:prstGeom>
              <a:blipFill>
                <a:blip r:embed="rId4"/>
                <a:stretch>
                  <a:fillRect l="-617" t="-1485" r="-123" b="-3465"/>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62A725FF-40C5-564A-B9CA-EFA185BD9045}"/>
                  </a:ext>
                </a:extLst>
              </p:cNvPr>
              <p:cNvGraphicFramePr>
                <a:graphicFrameLocks noGrp="1"/>
              </p:cNvGraphicFramePr>
              <p:nvPr>
                <p:extLst>
                  <p:ext uri="{D42A27DB-BD31-4B8C-83A1-F6EECF244321}">
                    <p14:modId xmlns:p14="http://schemas.microsoft.com/office/powerpoint/2010/main" val="3310007382"/>
                  </p:ext>
                </p:extLst>
              </p:nvPr>
            </p:nvGraphicFramePr>
            <p:xfrm>
              <a:off x="2842537" y="3957001"/>
              <a:ext cx="6400800" cy="1018223"/>
            </p:xfrm>
            <a:graphic>
              <a:graphicData uri="http://schemas.openxmlformats.org/drawingml/2006/table">
                <a:tbl>
                  <a:tblPr firstRow="1" firstCol="1" bandRow="1">
                    <a:tableStyleId>{A91F0D33-8C57-4600-99A7-42BC86742BE1}</a:tableStyleId>
                  </a:tblPr>
                  <a:tblGrid>
                    <a:gridCol w="3200400">
                      <a:extLst>
                        <a:ext uri="{9D8B030D-6E8A-4147-A177-3AD203B41FA5}">
                          <a16:colId xmlns:a16="http://schemas.microsoft.com/office/drawing/2014/main" val="1258372972"/>
                        </a:ext>
                      </a:extLst>
                    </a:gridCol>
                    <a:gridCol w="3200400">
                      <a:extLst>
                        <a:ext uri="{9D8B030D-6E8A-4147-A177-3AD203B41FA5}">
                          <a16:colId xmlns:a16="http://schemas.microsoft.com/office/drawing/2014/main" val="2839092415"/>
                        </a:ext>
                      </a:extLst>
                    </a:gridCol>
                  </a:tblGrid>
                  <a:tr h="45720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Kiersten’s Subtraction Expression</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Dylan’s Addition Expression</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04671320"/>
                      </a:ext>
                    </a:extLst>
                  </a:tr>
                  <a:tr h="457200">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____ </a:t>
                          </a:r>
                          <a14:m>
                            <m:oMath xmlns:m="http://schemas.openxmlformats.org/officeDocument/2006/math">
                              <m:r>
                                <a:rPr lang="en-US" sz="1800">
                                  <a:effectLst/>
                                  <a:latin typeface="Cambria Math" panose="02040503050406030204" pitchFamily="18" charset="0"/>
                                </a:rPr>
                                <m:t>−</m:t>
                              </m:r>
                            </m:oMath>
                          </a14:m>
                          <a:r>
                            <a:rPr lang="en-US" sz="1800">
                              <a:effectLst/>
                              <a:latin typeface="Verdana" panose="020B0604030504040204" pitchFamily="34" charset="0"/>
                              <a:ea typeface="Verdana" panose="020B0604030504040204" pitchFamily="34" charset="0"/>
                              <a:cs typeface="Verdana" panose="020B0604030504040204" pitchFamily="34" charset="0"/>
                            </a:rPr>
                            <a:t> ____</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____ </a:t>
                          </a:r>
                          <a14:m>
                            <m:oMath xmlns:m="http://schemas.openxmlformats.org/officeDocument/2006/math">
                              <m:r>
                                <a:rPr lang="en-US" sz="1800">
                                  <a:effectLst/>
                                  <a:latin typeface="Cambria Math" panose="02040503050406030204" pitchFamily="18" charset="0"/>
                                </a:rPr>
                                <m:t>+</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____</a:t>
                          </a:r>
                          <a:endParaRPr lang="x-none"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9795382"/>
                      </a:ext>
                    </a:extLst>
                  </a:tr>
                </a:tbl>
              </a:graphicData>
            </a:graphic>
          </p:graphicFrame>
        </mc:Choice>
        <mc:Fallback xmlns="">
          <p:graphicFrame>
            <p:nvGraphicFramePr>
              <p:cNvPr id="3" name="Table 2">
                <a:extLst>
                  <a:ext uri="{FF2B5EF4-FFF2-40B4-BE49-F238E27FC236}">
                    <a16:creationId xmlns:a16="http://schemas.microsoft.com/office/drawing/2014/main" id="{62A725FF-40C5-564A-B9CA-EFA185BD9045}"/>
                  </a:ext>
                </a:extLst>
              </p:cNvPr>
              <p:cNvGraphicFramePr>
                <a:graphicFrameLocks noGrp="1"/>
              </p:cNvGraphicFramePr>
              <p:nvPr>
                <p:extLst>
                  <p:ext uri="{D42A27DB-BD31-4B8C-83A1-F6EECF244321}">
                    <p14:modId xmlns:p14="http://schemas.microsoft.com/office/powerpoint/2010/main" val="3310007382"/>
                  </p:ext>
                </p:extLst>
              </p:nvPr>
            </p:nvGraphicFramePr>
            <p:xfrm>
              <a:off x="2842537" y="3957001"/>
              <a:ext cx="6400800" cy="1018223"/>
            </p:xfrm>
            <a:graphic>
              <a:graphicData uri="http://schemas.openxmlformats.org/drawingml/2006/table">
                <a:tbl>
                  <a:tblPr firstRow="1" firstCol="1" bandRow="1">
                    <a:tableStyleId>{A91F0D33-8C57-4600-99A7-42BC86742BE1}</a:tableStyleId>
                  </a:tblPr>
                  <a:tblGrid>
                    <a:gridCol w="3200400">
                      <a:extLst>
                        <a:ext uri="{9D8B030D-6E8A-4147-A177-3AD203B41FA5}">
                          <a16:colId xmlns:a16="http://schemas.microsoft.com/office/drawing/2014/main" val="1258372972"/>
                        </a:ext>
                      </a:extLst>
                    </a:gridCol>
                    <a:gridCol w="3200400">
                      <a:extLst>
                        <a:ext uri="{9D8B030D-6E8A-4147-A177-3AD203B41FA5}">
                          <a16:colId xmlns:a16="http://schemas.microsoft.com/office/drawing/2014/main" val="2839092415"/>
                        </a:ext>
                      </a:extLst>
                    </a:gridCol>
                  </a:tblGrid>
                  <a:tr h="561023">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Kiersten’s Subtraction Expression</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Dylan’s Addition Expression</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04671320"/>
                      </a:ext>
                    </a:extLst>
                  </a:tr>
                  <a:tr h="4572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144444" r="-100395" b="-111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97" t="-144444" r="-794" b="-11111"/>
                          </a:stretch>
                        </a:blipFill>
                      </a:tcPr>
                    </a:tc>
                    <a:extLst>
                      <a:ext uri="{0D108BD9-81ED-4DB2-BD59-A6C34878D82A}">
                        <a16:rowId xmlns:a16="http://schemas.microsoft.com/office/drawing/2014/main" val="3289795382"/>
                      </a:ext>
                    </a:extLst>
                  </a:tr>
                </a:tbl>
              </a:graphicData>
            </a:graphic>
          </p:graphicFrame>
        </mc:Fallback>
      </mc:AlternateContent>
    </p:spTree>
    <p:extLst>
      <p:ext uri="{BB962C8B-B14F-4D97-AF65-F5344CB8AC3E}">
        <p14:creationId xmlns:p14="http://schemas.microsoft.com/office/powerpoint/2010/main" val="3891239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22E7CAFC-319F-CE4F-8B26-ED2749A56CDA}"/>
                  </a:ext>
                </a:extLst>
              </p:cNvPr>
              <p:cNvSpPr/>
              <p:nvPr/>
            </p:nvSpPr>
            <p:spPr>
              <a:xfrm>
                <a:off x="905256" y="512298"/>
                <a:ext cx="10025980" cy="1938992"/>
              </a:xfrm>
              <a:prstGeom prst="rect">
                <a:avLst/>
              </a:prstGeom>
            </p:spPr>
            <p:txBody>
              <a:bodyPr wrap="square">
                <a:spAutoFit/>
              </a:bodyPr>
              <a:lstStyle/>
              <a:p>
                <a:pPr marL="457200" indent="-4572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Kiersten said Annalise’s score was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−375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after missing the first question in the second round, but Dylan said it was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−625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Explain which student is correct.</a:t>
                </a:r>
              </a:p>
              <a:p>
                <a:pPr marL="457200"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Rewrite each subtraction equation as an equivalent addition equation.</a:t>
                </a: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905256" y="512298"/>
                <a:ext cx="10025980" cy="1938992"/>
              </a:xfrm>
              <a:prstGeom prst="rect">
                <a:avLst/>
              </a:prstGeom>
              <a:blipFill>
                <a:blip r:embed="rId4"/>
                <a:stretch>
                  <a:fillRect l="-633" t="-1961" r="-1519" b="-5229"/>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0646406-7661-4942-905D-7A44BB61D9F5}"/>
                  </a:ext>
                </a:extLst>
              </p:cNvPr>
              <p:cNvGraphicFramePr>
                <a:graphicFrameLocks noGrp="1"/>
              </p:cNvGraphicFramePr>
              <p:nvPr>
                <p:extLst>
                  <p:ext uri="{D42A27DB-BD31-4B8C-83A1-F6EECF244321}">
                    <p14:modId xmlns:p14="http://schemas.microsoft.com/office/powerpoint/2010/main" val="1094306641"/>
                  </p:ext>
                </p:extLst>
              </p:nvPr>
            </p:nvGraphicFramePr>
            <p:xfrm>
              <a:off x="2543856" y="3297483"/>
              <a:ext cx="6748780" cy="1463040"/>
            </p:xfrm>
            <a:graphic>
              <a:graphicData uri="http://schemas.openxmlformats.org/drawingml/2006/table">
                <a:tbl>
                  <a:tblPr firstRow="1" firstCol="1" bandRow="1">
                    <a:tableStyleId>{A91F0D33-8C57-4600-99A7-42BC86742BE1}</a:tableStyleId>
                  </a:tblPr>
                  <a:tblGrid>
                    <a:gridCol w="1885950">
                      <a:extLst>
                        <a:ext uri="{9D8B030D-6E8A-4147-A177-3AD203B41FA5}">
                          <a16:colId xmlns:a16="http://schemas.microsoft.com/office/drawing/2014/main" val="2531578290"/>
                        </a:ext>
                      </a:extLst>
                    </a:gridCol>
                    <a:gridCol w="2431415">
                      <a:extLst>
                        <a:ext uri="{9D8B030D-6E8A-4147-A177-3AD203B41FA5}">
                          <a16:colId xmlns:a16="http://schemas.microsoft.com/office/drawing/2014/main" val="3656377747"/>
                        </a:ext>
                      </a:extLst>
                    </a:gridCol>
                    <a:gridCol w="2431415">
                      <a:extLst>
                        <a:ext uri="{9D8B030D-6E8A-4147-A177-3AD203B41FA5}">
                          <a16:colId xmlns:a16="http://schemas.microsoft.com/office/drawing/2014/main" val="1611065506"/>
                        </a:ext>
                      </a:extLst>
                    </a:gridCol>
                  </a:tblGrid>
                  <a:tr h="73152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Subtraction Equation</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513−382 = 131</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957−</m:t>
                                </m:r>
                                <m:sPre>
                                  <m:sPrePr>
                                    <m:ctrlPr>
                                      <a:rPr lang="x-none" sz="1800" i="1">
                                        <a:effectLst/>
                                        <a:latin typeface="Cambria Math" panose="02040503050406030204" pitchFamily="18" charset="0"/>
                                      </a:rPr>
                                    </m:ctrlPr>
                                  </m:sPrePr>
                                  <m:sub/>
                                  <m:sup>
                                    <m:r>
                                      <a:rPr lang="en-US" sz="1800">
                                        <a:effectLst/>
                                        <a:latin typeface="Cambria Math" panose="02040503050406030204" pitchFamily="18" charset="0"/>
                                      </a:rPr>
                                      <m:t>−</m:t>
                                    </m:r>
                                  </m:sup>
                                  <m:e>
                                    <m:r>
                                      <a:rPr lang="en-US" sz="1800">
                                        <a:effectLst/>
                                        <a:latin typeface="Cambria Math" panose="02040503050406030204" pitchFamily="18" charset="0"/>
                                      </a:rPr>
                                      <m:t>136</m:t>
                                    </m:r>
                                  </m:e>
                                </m:sPre>
                                <m:r>
                                  <a:rPr lang="en-US" sz="1800">
                                    <a:effectLst/>
                                    <a:latin typeface="Cambria Math" panose="02040503050406030204" pitchFamily="18" charset="0"/>
                                  </a:rPr>
                                  <m:t> = 1,093</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8656499"/>
                      </a:ext>
                    </a:extLst>
                  </a:tr>
                  <a:tr h="73152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Addition Equation</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2741807"/>
                      </a:ext>
                    </a:extLst>
                  </a:tr>
                </a:tbl>
              </a:graphicData>
            </a:graphic>
          </p:graphicFrame>
        </mc:Choice>
        <mc:Fallback xmlns="">
          <p:graphicFrame>
            <p:nvGraphicFramePr>
              <p:cNvPr id="4" name="Table 3">
                <a:extLst>
                  <a:ext uri="{FF2B5EF4-FFF2-40B4-BE49-F238E27FC236}">
                    <a16:creationId xmlns:a16="http://schemas.microsoft.com/office/drawing/2014/main" id="{30646406-7661-4942-905D-7A44BB61D9F5}"/>
                  </a:ext>
                </a:extLst>
              </p:cNvPr>
              <p:cNvGraphicFramePr>
                <a:graphicFrameLocks noGrp="1"/>
              </p:cNvGraphicFramePr>
              <p:nvPr>
                <p:extLst>
                  <p:ext uri="{D42A27DB-BD31-4B8C-83A1-F6EECF244321}">
                    <p14:modId xmlns:p14="http://schemas.microsoft.com/office/powerpoint/2010/main" val="1094306641"/>
                  </p:ext>
                </p:extLst>
              </p:nvPr>
            </p:nvGraphicFramePr>
            <p:xfrm>
              <a:off x="2543856" y="3297483"/>
              <a:ext cx="6748780" cy="1463040"/>
            </p:xfrm>
            <a:graphic>
              <a:graphicData uri="http://schemas.openxmlformats.org/drawingml/2006/table">
                <a:tbl>
                  <a:tblPr firstRow="1" firstCol="1" bandRow="1">
                    <a:tableStyleId>{A91F0D33-8C57-4600-99A7-42BC86742BE1}</a:tableStyleId>
                  </a:tblPr>
                  <a:tblGrid>
                    <a:gridCol w="1885950">
                      <a:extLst>
                        <a:ext uri="{9D8B030D-6E8A-4147-A177-3AD203B41FA5}">
                          <a16:colId xmlns:a16="http://schemas.microsoft.com/office/drawing/2014/main" val="2531578290"/>
                        </a:ext>
                      </a:extLst>
                    </a:gridCol>
                    <a:gridCol w="2431415">
                      <a:extLst>
                        <a:ext uri="{9D8B030D-6E8A-4147-A177-3AD203B41FA5}">
                          <a16:colId xmlns:a16="http://schemas.microsoft.com/office/drawing/2014/main" val="3656377747"/>
                        </a:ext>
                      </a:extLst>
                    </a:gridCol>
                    <a:gridCol w="2431415">
                      <a:extLst>
                        <a:ext uri="{9D8B030D-6E8A-4147-A177-3AD203B41FA5}">
                          <a16:colId xmlns:a16="http://schemas.microsoft.com/office/drawing/2014/main" val="1611065506"/>
                        </a:ext>
                      </a:extLst>
                    </a:gridCol>
                  </a:tblGrid>
                  <a:tr h="73152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Subtraction Equation</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78534" t="-1724" r="-101047" b="-10862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77604" t="-1724" r="-521" b="-108621"/>
                          </a:stretch>
                        </a:blipFill>
                      </a:tcPr>
                    </a:tc>
                    <a:extLst>
                      <a:ext uri="{0D108BD9-81ED-4DB2-BD59-A6C34878D82A}">
                        <a16:rowId xmlns:a16="http://schemas.microsoft.com/office/drawing/2014/main" val="4088656499"/>
                      </a:ext>
                    </a:extLst>
                  </a:tr>
                  <a:tr h="73152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Addition Equation</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2741807"/>
                      </a:ext>
                    </a:extLst>
                  </a:tr>
                </a:tbl>
              </a:graphicData>
            </a:graphic>
          </p:graphicFrame>
        </mc:Fallback>
      </mc:AlternateContent>
    </p:spTree>
    <p:extLst>
      <p:ext uri="{BB962C8B-B14F-4D97-AF65-F5344CB8AC3E}">
        <p14:creationId xmlns:p14="http://schemas.microsoft.com/office/powerpoint/2010/main" val="3706453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22E7CAFC-319F-CE4F-8B26-ED2749A56CDA}"/>
              </a:ext>
            </a:extLst>
          </p:cNvPr>
          <p:cNvSpPr/>
          <p:nvPr/>
        </p:nvSpPr>
        <p:spPr>
          <a:xfrm>
            <a:off x="905256" y="932003"/>
            <a:ext cx="10067544" cy="1938992"/>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Addition and subtraction are </a:t>
            </a:r>
            <a:r>
              <a:rPr lang="en-US" sz="2400" b="1" dirty="0">
                <a:latin typeface="Verdana" panose="020B0604030504040204" pitchFamily="34" charset="0"/>
                <a:ea typeface="Times New Roman" panose="02020603050405020304" pitchFamily="18" charset="0"/>
                <a:cs typeface="Times New Roman" panose="02020603050405020304" pitchFamily="18" charset="0"/>
              </a:rPr>
              <a:t>inverse operations</a:t>
            </a:r>
            <a:r>
              <a:rPr lang="en-US" sz="2400" dirty="0">
                <a:latin typeface="Verdana" panose="020B0604030504040204" pitchFamily="34" charset="0"/>
                <a:ea typeface="Times New Roman" panose="02020603050405020304" pitchFamily="18" charset="0"/>
                <a:cs typeface="Times New Roman" panose="02020603050405020304" pitchFamily="18" charset="0"/>
              </a:rPr>
              <a:t>, which means they are operations that have the opposite effect of each other. </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Understanding this relationship and the existence of additive inverses can be helpful when subtracting integers.</a:t>
            </a:r>
          </a:p>
        </p:txBody>
      </p:sp>
      <p:sp>
        <p:nvSpPr>
          <p:cNvPr id="10" name="Google Shape;282;g104476d1465_1_17">
            <a:extLst>
              <a:ext uri="{FF2B5EF4-FFF2-40B4-BE49-F238E27FC236}">
                <a16:creationId xmlns:a16="http://schemas.microsoft.com/office/drawing/2014/main"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44</a:t>
            </a:r>
            <a:endParaRPr i="1" dirty="0">
              <a:latin typeface="Calibri"/>
              <a:ea typeface="Calibri"/>
              <a:cs typeface="Calibri"/>
              <a:sym typeface="Calibri"/>
            </a:endParaRPr>
          </a:p>
        </p:txBody>
      </p:sp>
      <p:grpSp>
        <p:nvGrpSpPr>
          <p:cNvPr id="7" name="Group 6">
            <a:extLst>
              <a:ext uri="{FF2B5EF4-FFF2-40B4-BE49-F238E27FC236}">
                <a16:creationId xmlns:a16="http://schemas.microsoft.com/office/drawing/2014/main" id="{8FCE17EF-A64D-9647-8996-8ED466E60D53}"/>
              </a:ext>
            </a:extLst>
          </p:cNvPr>
          <p:cNvGrpSpPr/>
          <p:nvPr/>
        </p:nvGrpSpPr>
        <p:grpSpPr>
          <a:xfrm>
            <a:off x="2355303" y="2654528"/>
            <a:ext cx="7167450" cy="2664956"/>
            <a:chOff x="1941793" y="3252877"/>
            <a:chExt cx="7167450" cy="2666137"/>
          </a:xfrm>
        </p:grpSpPr>
        <p:grpSp>
          <p:nvGrpSpPr>
            <p:cNvPr id="8" name="Group 7">
              <a:extLst>
                <a:ext uri="{FF2B5EF4-FFF2-40B4-BE49-F238E27FC236}">
                  <a16:creationId xmlns:a16="http://schemas.microsoft.com/office/drawing/2014/main" id="{9049AF56-539D-174B-92CE-5F250AD06354}"/>
                </a:ext>
              </a:extLst>
            </p:cNvPr>
            <p:cNvGrpSpPr/>
            <p:nvPr/>
          </p:nvGrpSpPr>
          <p:grpSpPr>
            <a:xfrm>
              <a:off x="1941793" y="3252877"/>
              <a:ext cx="7167450" cy="2666137"/>
              <a:chOff x="1941793" y="3262288"/>
              <a:chExt cx="7167450" cy="2618538"/>
            </a:xfrm>
          </p:grpSpPr>
          <p:sp>
            <p:nvSpPr>
              <p:cNvPr id="9" name="Rectangle 8">
                <a:extLst>
                  <a:ext uri="{FF2B5EF4-FFF2-40B4-BE49-F238E27FC236}">
                    <a16:creationId xmlns:a16="http://schemas.microsoft.com/office/drawing/2014/main" id="{EFF9F629-C0FC-D443-B396-5D0208C38FE8}"/>
                  </a:ext>
                </a:extLst>
              </p:cNvPr>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Times New Roman" panose="02020603050405020304" pitchFamily="18" charset="0"/>
                    <a:cs typeface="Times New Roman" panose="02020603050405020304" pitchFamily="18" charset="0"/>
                  </a:rPr>
                  <a:t> </a:t>
                </a:r>
                <a:endParaRPr lang="x-none" sz="1600" i="1">
                  <a:latin typeface="Cambria Math" panose="02040503050406030204" pitchFamily="18" charset="0"/>
                  <a:ea typeface="Times New Roman" panose="02020603050405020304" pitchFamily="18" charset="0"/>
                  <a:cs typeface="Times New Roman" panose="02020603050405020304" pitchFamily="18" charset="0"/>
                </a:endParaRPr>
              </a:p>
            </p:txBody>
          </p:sp>
          <p:grpSp>
            <p:nvGrpSpPr>
              <p:cNvPr id="11" name="Group 10">
                <a:extLst>
                  <a:ext uri="{FF2B5EF4-FFF2-40B4-BE49-F238E27FC236}">
                    <a16:creationId xmlns:a16="http://schemas.microsoft.com/office/drawing/2014/main" id="{99A43662-0E51-324F-BA17-A9B944FD7597}"/>
                  </a:ext>
                </a:extLst>
              </p:cNvPr>
              <p:cNvGrpSpPr/>
              <p:nvPr/>
            </p:nvGrpSpPr>
            <p:grpSpPr>
              <a:xfrm>
                <a:off x="1941793" y="3262288"/>
                <a:ext cx="7167450" cy="2618538"/>
                <a:chOff x="1941793" y="3373600"/>
                <a:chExt cx="7167450" cy="2618538"/>
              </a:xfrm>
            </p:grpSpPr>
            <p:sp>
              <p:nvSpPr>
                <p:cNvPr id="12" name="Rectangle 11">
                  <a:extLst>
                    <a:ext uri="{FF2B5EF4-FFF2-40B4-BE49-F238E27FC236}">
                      <a16:creationId xmlns:a16="http://schemas.microsoft.com/office/drawing/2014/main" id="{5B7FA876-C058-104F-A69B-AFBBCE6DD7AA}"/>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Times New Roman" panose="02020603050405020304" pitchFamily="18" charset="0"/>
                      <a:cs typeface="Times New Roman" panose="02020603050405020304" pitchFamily="18" charset="0"/>
                    </a:rPr>
                    <a:t> </a:t>
                  </a:r>
                  <a:endParaRPr lang="x-none" sz="1600" i="1">
                    <a:latin typeface="Cambria Math" panose="02040503050406030204" pitchFamily="18" charset="0"/>
                    <a:ea typeface="Times New Roman" panose="02020603050405020304" pitchFamily="18" charset="0"/>
                    <a:cs typeface="Times New Roman" panose="02020603050405020304" pitchFamily="18" charset="0"/>
                  </a:endParaRPr>
                </a:p>
              </p:txBody>
            </p:sp>
            <p:grpSp>
              <p:nvGrpSpPr>
                <p:cNvPr id="13" name="Group 12">
                  <a:extLst>
                    <a:ext uri="{FF2B5EF4-FFF2-40B4-BE49-F238E27FC236}">
                      <a16:creationId xmlns:a16="http://schemas.microsoft.com/office/drawing/2014/main" id="{E1C5F360-81A3-9B45-B69C-370BCD1A3C1F}"/>
                    </a:ext>
                  </a:extLst>
                </p:cNvPr>
                <p:cNvGrpSpPr/>
                <p:nvPr/>
              </p:nvGrpSpPr>
              <p:grpSpPr>
                <a:xfrm>
                  <a:off x="1941793" y="3373600"/>
                  <a:ext cx="7167450" cy="2618538"/>
                  <a:chOff x="1941793" y="3373600"/>
                  <a:chExt cx="7167450" cy="2618538"/>
                </a:xfrm>
              </p:grpSpPr>
              <p:sp>
                <p:nvSpPr>
                  <p:cNvPr id="14" name="Rectangle 13">
                    <a:extLst>
                      <a:ext uri="{FF2B5EF4-FFF2-40B4-BE49-F238E27FC236}">
                        <a16:creationId xmlns:a16="http://schemas.microsoft.com/office/drawing/2014/main" id="{F2FBC9FD-6E49-784C-B555-1F37EBD6E04C}"/>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Times New Roman" panose="02020603050405020304" pitchFamily="18" charset="0"/>
                        <a:cs typeface="Times New Roman" panose="02020603050405020304" pitchFamily="18" charset="0"/>
                      </a:rPr>
                      <a:t> </a:t>
                    </a:r>
                    <a:endParaRPr lang="x-none" sz="1600" i="1">
                      <a:latin typeface="Cambria Math" panose="02040503050406030204" pitchFamily="18" charset="0"/>
                      <a:ea typeface="Times New Roman" panose="02020603050405020304" pitchFamily="18" charset="0"/>
                      <a:cs typeface="Times New Roman" panose="02020603050405020304" pitchFamily="18" charset="0"/>
                    </a:endParaRPr>
                  </a:p>
                </p:txBody>
              </p:sp>
              <p:grpSp>
                <p:nvGrpSpPr>
                  <p:cNvPr id="15" name="Group 14">
                    <a:extLst>
                      <a:ext uri="{FF2B5EF4-FFF2-40B4-BE49-F238E27FC236}">
                        <a16:creationId xmlns:a16="http://schemas.microsoft.com/office/drawing/2014/main" id="{AA1F8AAD-38F5-B147-8E2F-B10443C743E0}"/>
                      </a:ext>
                    </a:extLst>
                  </p:cNvPr>
                  <p:cNvGrpSpPr/>
                  <p:nvPr/>
                </p:nvGrpSpPr>
                <p:grpSpPr>
                  <a:xfrm>
                    <a:off x="1941793" y="3373600"/>
                    <a:ext cx="7167450" cy="2618538"/>
                    <a:chOff x="-89507" y="0"/>
                    <a:chExt cx="7167450" cy="2618538"/>
                  </a:xfrm>
                </p:grpSpPr>
                <p:sp>
                  <p:nvSpPr>
                    <p:cNvPr id="16" name="Rectangle 15">
                      <a:extLst>
                        <a:ext uri="{FF2B5EF4-FFF2-40B4-BE49-F238E27FC236}">
                          <a16:creationId xmlns:a16="http://schemas.microsoft.com/office/drawing/2014/main" id="{423B7A04-12F1-0342-AD41-ED8BB3A8B98A}"/>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Times New Roman" panose="02020603050405020304" pitchFamily="18" charset="0"/>
                          <a:cs typeface="Times New Roman" panose="02020603050405020304" pitchFamily="18" charset="0"/>
                        </a:rPr>
                        <a:t> </a:t>
                      </a:r>
                      <a:endParaRPr lang="x-none" sz="1600" i="1">
                        <a:latin typeface="Cambria Math" panose="02040503050406030204" pitchFamily="18" charset="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 name="Rounded Rectangle 16">
                          <a:extLst>
                            <a:ext uri="{FF2B5EF4-FFF2-40B4-BE49-F238E27FC236}">
                              <a16:creationId xmlns:a16="http://schemas.microsoft.com/office/drawing/2014/main" id="{3F8CB30D-26B5-4E4F-B812-F65DE36AFCF8}"/>
                            </a:ext>
                          </a:extLst>
                        </p:cNvPr>
                        <p:cNvSpPr/>
                        <p:nvPr/>
                      </p:nvSpPr>
                      <p:spPr>
                        <a:xfrm>
                          <a:off x="-89507" y="1339462"/>
                          <a:ext cx="7167450" cy="1279076"/>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lnSpc>
                              <a:spcPct val="107000"/>
                            </a:lnSpc>
                            <a:spcAft>
                              <a:spcPts val="800"/>
                            </a:spcAft>
                          </a:pPr>
                          <a:r>
                            <a:rPr lang="en-US" sz="1800" b="1" i="1"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Existence of Additive Inverses</a:t>
                          </a:r>
                          <a:endParaRPr lang="x-none" sz="1600" i="1" dirty="0">
                            <a:latin typeface="Cambria Math" panose="02040503050406030204" pitchFamily="18" charset="0"/>
                            <a:ea typeface="Times New Roman" panose="02020603050405020304" pitchFamily="18" charset="0"/>
                            <a:cs typeface="Times New Roman" panose="02020603050405020304" pitchFamily="18" charset="0"/>
                          </a:endParaRPr>
                        </a:p>
                        <a:p>
                          <a:pPr marL="685800">
                            <a:lnSpc>
                              <a:spcPct val="107000"/>
                            </a:lnSpc>
                            <a:spcAft>
                              <a:spcPts val="800"/>
                            </a:spcAft>
                          </a:pPr>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For every </a:t>
                          </a:r>
                          <a14:m>
                            <m:oMath xmlns:m="http://schemas.openxmlformats.org/officeDocument/2006/math">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𝑎</m:t>
                              </m:r>
                            </m:oMath>
                          </a14:m>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there exists </a:t>
                          </a:r>
                          <a14:m>
                            <m:oMath xmlns:m="http://schemas.openxmlformats.org/officeDocument/2006/math">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𝑎</m:t>
                              </m:r>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so that</a:t>
                          </a:r>
                          <a14:m>
                            <m:oMath xmlns:m="http://schemas.openxmlformats.org/officeDocument/2006/math">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 </m:t>
                              </m:r>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𝑎</m:t>
                              </m:r>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m:t>
                              </m:r>
                              <m:d>
                                <m:dPr>
                                  <m:ctrlPr>
                                    <a:rPr lang="x-none"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𝑎</m:t>
                                  </m:r>
                                </m:e>
                              </m:d>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=0</m:t>
                              </m:r>
                            </m:oMath>
                          </a14:m>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d>
                                <m:dPr>
                                  <m:ctrlPr>
                                    <a:rPr lang="x-none"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𝑎</m:t>
                                  </m:r>
                                </m:e>
                              </m:d>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𝑎</m:t>
                              </m:r>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=0</m:t>
                              </m:r>
                            </m:oMath>
                          </a14:m>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a:t>
                          </a:r>
                          <a:endParaRPr lang="x-none" sz="1600" i="1" dirty="0">
                            <a:latin typeface="Cambria Math"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7" name="Rounded Rectangle 16">
                          <a:extLst>
                            <a:ext uri="{FF2B5EF4-FFF2-40B4-BE49-F238E27FC236}">
                              <a16:creationId xmlns:a16="http://schemas.microsoft.com/office/drawing/2014/main" id="{3F8CB30D-26B5-4E4F-B812-F65DE36AFCF8}"/>
                            </a:ext>
                          </a:extLst>
                        </p:cNvPr>
                        <p:cNvSpPr>
                          <a:spLocks noRot="1" noChangeAspect="1" noMove="1" noResize="1" noEditPoints="1" noAdjustHandles="1" noChangeArrowheads="1" noChangeShapeType="1" noTextEdit="1"/>
                        </p:cNvSpPr>
                        <p:nvPr/>
                      </p:nvSpPr>
                      <p:spPr>
                        <a:xfrm>
                          <a:off x="-89507" y="1339462"/>
                          <a:ext cx="7167450" cy="1279076"/>
                        </a:xfrm>
                        <a:prstGeom prst="roundRect">
                          <a:avLst>
                            <a:gd name="adj" fmla="val 16667"/>
                          </a:avLst>
                        </a:prstGeom>
                        <a:blipFill>
                          <a:blip r:embed="rId4"/>
                          <a:stretch>
                            <a:fillRect/>
                          </a:stretch>
                        </a:blipFill>
                        <a:ln>
                          <a:noFill/>
                        </a:ln>
                        <a:effectLst>
                          <a:outerShdw blurRad="50800" dist="38100" dir="2700000" algn="tl" rotWithShape="0">
                            <a:prstClr val="black">
                              <a:alpha val="40000"/>
                            </a:prstClr>
                          </a:outerShdw>
                        </a:effectLst>
                      </p:spPr>
                      <p:txBody>
                        <a:bodyPr/>
                        <a:lstStyle/>
                        <a:p>
                          <a:r>
                            <a:rPr lang="en-CO">
                              <a:noFill/>
                            </a:rPr>
                            <a:t> </a:t>
                          </a:r>
                        </a:p>
                      </p:txBody>
                    </p:sp>
                  </mc:Fallback>
                </mc:AlternateContent>
                <p:pic>
                  <p:nvPicPr>
                    <p:cNvPr id="18" name="Shape 11" descr="Icon&#10;&#10;Description automatically generated">
                      <a:extLst>
                        <a:ext uri="{FF2B5EF4-FFF2-40B4-BE49-F238E27FC236}">
                          <a16:creationId xmlns:a16="http://schemas.microsoft.com/office/drawing/2014/main" id="{E7C1A5BF-ECD1-004F-98C4-ED845A27708F}"/>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94129" y="1478996"/>
                      <a:ext cx="539750" cy="539750"/>
                    </a:xfrm>
                    <a:prstGeom prst="rect">
                      <a:avLst/>
                    </a:prstGeom>
                    <a:noFill/>
                    <a:ln>
                      <a:noFill/>
                    </a:ln>
                    <a:effectLst>
                      <a:outerShdw blurRad="50800" dist="38100" dir="2700000" algn="tl" rotWithShape="0">
                        <a:prstClr val="black">
                          <a:alpha val="40000"/>
                        </a:prstClr>
                      </a:outerShdw>
                    </a:effectLst>
                  </p:spPr>
                </p:pic>
              </p:grpSp>
            </p:grpSp>
          </p:grpSp>
        </p:grpSp>
      </p:grpSp>
    </p:spTree>
    <p:extLst>
      <p:ext uri="{BB962C8B-B14F-4D97-AF65-F5344CB8AC3E}">
        <p14:creationId xmlns:p14="http://schemas.microsoft.com/office/powerpoint/2010/main" val="28519888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7630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22E7CAFC-319F-CE4F-8B26-ED2749A56CDA}"/>
              </a:ext>
            </a:extLst>
          </p:cNvPr>
          <p:cNvSpPr/>
          <p:nvPr/>
        </p:nvSpPr>
        <p:spPr>
          <a:xfrm>
            <a:off x="905255" y="377827"/>
            <a:ext cx="10192235" cy="3526286"/>
          </a:xfrm>
          <a:prstGeom prst="rect">
            <a:avLst/>
          </a:prstGeom>
        </p:spPr>
        <p:txBody>
          <a:bodyPr wrap="square">
            <a:spAutoFit/>
          </a:bodyPr>
          <a:lstStyle/>
          <a:p>
            <a:pPr marL="457200" indent="-457200">
              <a:buFont typeface="+mj-lt"/>
              <a:buAutoNum type="arabi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statements below using this information.</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a:lnSpc>
                <a:spcPct val="150000"/>
              </a:lnSpc>
            </a:pPr>
            <a:r>
              <a:rPr lang="en-US" sz="2400" dirty="0">
                <a:latin typeface="Verdana" panose="020B0604030504040204" pitchFamily="34" charset="0"/>
                <a:ea typeface="Times New Roman" panose="02020603050405020304" pitchFamily="18" charset="0"/>
                <a:cs typeface="Times New Roman" panose="02020603050405020304" pitchFamily="18" charset="0"/>
              </a:rPr>
              <a:t>A subtraction expression can be rewritten as an equivalent addition expression by changing the operation from subtraction to ________________ and changing the second value to its _____________ _____________.</a:t>
            </a:r>
            <a:br>
              <a:rPr lang="en-US" sz="2400" dirty="0">
                <a:latin typeface="Verdana" panose="020B0604030504040204" pitchFamily="34" charset="0"/>
                <a:ea typeface="Times New Roman" panose="02020603050405020304" pitchFamily="18" charset="0"/>
                <a:cs typeface="Times New Roman" panose="02020603050405020304" pitchFamily="18" charset="0"/>
              </a:rPr>
            </a:b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p:sp>
        <p:nvSpPr>
          <p:cNvPr id="10" name="Google Shape;282;g104476d1465_1_17">
            <a:extLst>
              <a:ext uri="{FF2B5EF4-FFF2-40B4-BE49-F238E27FC236}">
                <a16:creationId xmlns:a16="http://schemas.microsoft.com/office/drawing/2014/main"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44</a:t>
            </a:r>
            <a:endParaRPr i="1" dirty="0">
              <a:latin typeface="Calibri"/>
              <a:ea typeface="Calibri"/>
              <a:cs typeface="Calibri"/>
              <a:sym typeface="Calibri"/>
            </a:endParaRPr>
          </a:p>
        </p:txBody>
      </p:sp>
    </p:spTree>
    <p:extLst>
      <p:ext uri="{BB962C8B-B14F-4D97-AF65-F5344CB8AC3E}">
        <p14:creationId xmlns:p14="http://schemas.microsoft.com/office/powerpoint/2010/main" val="2175600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70632"/>
            <a:ext cx="4480750" cy="1325700"/>
          </a:xfrm>
          <a:prstGeom prst="rect">
            <a:avLst/>
          </a:prstGeom>
          <a:noFill/>
          <a:ln>
            <a:noFill/>
          </a:ln>
        </p:spPr>
        <p:txBody>
          <a:bodyPr spcFirstLastPara="1" wrap="square" lIns="91425" tIns="45700" rIns="91425" bIns="45700" anchor="ctr" anchorCtr="0">
            <a:normAutofit/>
          </a:bodyPr>
          <a:lstStyle/>
          <a:p>
            <a:pPr>
              <a:buClr>
                <a:schemeClr val="lt1"/>
              </a:buClr>
              <a:buSzPts val="4800"/>
            </a:pPr>
            <a:r>
              <a:rPr lang="en-US" sz="5500" b="1" dirty="0">
                <a:solidFill>
                  <a:srgbClr val="52BDA6"/>
                </a:solidFill>
                <a:latin typeface="Verdana"/>
                <a:ea typeface="Verdana"/>
                <a:cs typeface="Verdana"/>
                <a:sym typeface="Verdana"/>
              </a:rPr>
              <a:t>Try It</a:t>
            </a:r>
            <a:endParaRPr sz="5100" b="1" dirty="0">
              <a:solidFill>
                <a:srgbClr val="52BDA6"/>
              </a:solidFill>
              <a:latin typeface="Verdana"/>
              <a:ea typeface="Verdana"/>
              <a:cs typeface="Verdana"/>
              <a:sym typeface="Verdana"/>
            </a:endParaRPr>
          </a:p>
        </p:txBody>
      </p:sp>
      <p:sp>
        <p:nvSpPr>
          <p:cNvPr id="11" name="Google Shape;282;g104476d1465_1_17">
            <a:extLst>
              <a:ext uri="{FF2B5EF4-FFF2-40B4-BE49-F238E27FC236}">
                <a16:creationId xmlns:a16="http://schemas.microsoft.com/office/drawing/2014/main" id="{04201096-008D-9E40-8962-B6CD490C930F}"/>
              </a:ext>
            </a:extLst>
          </p:cNvPr>
          <p:cNvSpPr txBox="1"/>
          <p:nvPr/>
        </p:nvSpPr>
        <p:spPr>
          <a:xfrm>
            <a:off x="8896584" y="652827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45</a:t>
            </a:r>
            <a:endParaRPr i="1" dirty="0">
              <a:latin typeface="Calibri"/>
              <a:ea typeface="Calibri"/>
              <a:cs typeface="Calibri"/>
              <a:sym typeface="Calibri"/>
            </a:endParaRPr>
          </a:p>
        </p:txBody>
      </p:sp>
      <p:pic>
        <p:nvPicPr>
          <p:cNvPr id="7" name="image2.png">
            <a:extLst>
              <a:ext uri="{FF2B5EF4-FFF2-40B4-BE49-F238E27FC236}">
                <a16:creationId xmlns:a16="http://schemas.microsoft.com/office/drawing/2014/main" id="{952E9ABF-4A5A-6047-B98A-B57B5AF0224E}"/>
              </a:ext>
            </a:extLst>
          </p:cNvPr>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33502" cy="1133502"/>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867532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106424" y="0"/>
            <a:ext cx="8019300" cy="10148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2BDA6"/>
                </a:solidFill>
                <a:latin typeface="Verdana"/>
                <a:ea typeface="Verdana"/>
                <a:cs typeface="Verdana"/>
                <a:sym typeface="Verdana"/>
              </a:rPr>
              <a:t>7.9.3 Try It: Subtracting Integers</a:t>
            </a:r>
          </a:p>
        </p:txBody>
      </p:sp>
      <p:sp>
        <p:nvSpPr>
          <p:cNvPr id="2" name="Rectangle 1">
            <a:extLst>
              <a:ext uri="{FF2B5EF4-FFF2-40B4-BE49-F238E27FC236}">
                <a16:creationId xmlns:a16="http://schemas.microsoft.com/office/drawing/2014/main" id="{A66A031F-2EC8-DF4C-B3F5-E7AC5B8F3239}"/>
              </a:ext>
            </a:extLst>
          </p:cNvPr>
          <p:cNvSpPr/>
          <p:nvPr/>
        </p:nvSpPr>
        <p:spPr>
          <a:xfrm>
            <a:off x="905256" y="1375714"/>
            <a:ext cx="10330780" cy="2246769"/>
          </a:xfrm>
          <a:prstGeom prst="rect">
            <a:avLst/>
          </a:prstGeom>
        </p:spPr>
        <p:txBody>
          <a:bodyPr wrap="square">
            <a:spAutoFit/>
          </a:bodyPr>
          <a:lstStyle/>
          <a:p>
            <a:pPr marL="407988" indent="-396875">
              <a:buSzPct val="1000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table shows the beginning and ending elevations, in feet (ft), of six different hiking trails. The change in elevation along the trail can be found by subtracting the initial elevation from the final elevation.</a:t>
            </a:r>
          </a:p>
          <a:p>
            <a:pPr marL="11113">
              <a:buSzPts val="1800"/>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11113" algn="ctr">
              <a:buSzPts val="1800"/>
            </a:pPr>
            <a:r>
              <a:rPr lang="en-US" sz="2000" dirty="0">
                <a:latin typeface="Verdana" panose="020B0604030504040204" pitchFamily="34" charset="0"/>
                <a:ea typeface="Verdana" panose="020B0604030504040204" pitchFamily="34" charset="0"/>
                <a:cs typeface="Verdana" panose="020B0604030504040204" pitchFamily="34" charset="0"/>
              </a:rPr>
              <a:t>(𝑓𝑖𝑛𝑎𝑙 𝑒𝑙𝑒𝑣𝑎𝑡𝑖𝑜𝑛) − (𝑖𝑛𝑖𝑡𝑖𝑎𝑙 𝑒𝑙𝑒𝑣𝑎𝑡𝑖𝑜𝑛) = (𝑐</a:t>
            </a:r>
            <a:r>
              <a:rPr lang="en-US" sz="2000" dirty="0" err="1">
                <a:latin typeface="Verdana" panose="020B0604030504040204" pitchFamily="34" charset="0"/>
                <a:ea typeface="Verdana" panose="020B0604030504040204" pitchFamily="34" charset="0"/>
                <a:cs typeface="Verdana" panose="020B0604030504040204" pitchFamily="34" charset="0"/>
              </a:rPr>
              <a:t>ℎ</a:t>
            </a:r>
            <a:r>
              <a:rPr lang="en-US" sz="2000" dirty="0">
                <a:latin typeface="Verdana" panose="020B0604030504040204" pitchFamily="34" charset="0"/>
                <a:ea typeface="Verdana" panose="020B0604030504040204" pitchFamily="34" charset="0"/>
                <a:cs typeface="Verdana" panose="020B0604030504040204" pitchFamily="34" charset="0"/>
              </a:rPr>
              <a:t>𝑎𝑛𝑔𝑒 𝑖𝑛 𝑒𝑙𝑒𝑣𝑎𝑡𝑖𝑜𝑛) </a:t>
            </a:r>
          </a:p>
        </p:txBody>
      </p:sp>
      <p:sp>
        <p:nvSpPr>
          <p:cNvPr id="13" name="Google Shape;282;g104476d1465_1_17">
            <a:extLst>
              <a:ext uri="{FF2B5EF4-FFF2-40B4-BE49-F238E27FC236}">
                <a16:creationId xmlns:a16="http://schemas.microsoft.com/office/drawing/2014/main" id="{38A626CB-082C-DB4E-B059-328DCC8AD13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45</a:t>
            </a:r>
            <a:endParaRPr i="1" dirty="0">
              <a:latin typeface="Calibri"/>
              <a:ea typeface="Calibri"/>
              <a:cs typeface="Calibri"/>
              <a:sym typeface="Calibri"/>
            </a:endParaRPr>
          </a:p>
        </p:txBody>
      </p:sp>
      <p:pic>
        <p:nvPicPr>
          <p:cNvPr id="12" name="image2.png">
            <a:extLst>
              <a:ext uri="{FF2B5EF4-FFF2-40B4-BE49-F238E27FC236}">
                <a16:creationId xmlns:a16="http://schemas.microsoft.com/office/drawing/2014/main" id="{CEE695F5-1A7B-4A4D-A390-9746DB691379}"/>
              </a:ext>
            </a:extLst>
          </p:cNvPr>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50144" cy="750144"/>
          </a:xfrm>
          <a:prstGeom prst="rect">
            <a:avLst/>
          </a:prstGeom>
          <a:ln/>
        </p:spPr>
      </p:pic>
    </p:spTree>
    <p:extLst>
      <p:ext uri="{BB962C8B-B14F-4D97-AF65-F5344CB8AC3E}">
        <p14:creationId xmlns:p14="http://schemas.microsoft.com/office/powerpoint/2010/main" val="1079925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A66A031F-2EC8-DF4C-B3F5-E7AC5B8F3239}"/>
              </a:ext>
            </a:extLst>
          </p:cNvPr>
          <p:cNvSpPr/>
          <p:nvPr/>
        </p:nvSpPr>
        <p:spPr>
          <a:xfrm>
            <a:off x="905256" y="273054"/>
            <a:ext cx="10178380" cy="1323439"/>
          </a:xfrm>
          <a:prstGeom prst="rect">
            <a:avLst/>
          </a:prstGeom>
        </p:spPr>
        <p:txBody>
          <a:bodyPr wrap="square">
            <a:spAutoFit/>
          </a:bodyPr>
          <a:lstStyle/>
          <a:p>
            <a:pPr marL="468313" indent="-457200">
              <a:buSzPct val="1000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Write an expression that represents the change in elevation along each hiking trail. Then, write the value that represents the change in elevation. </a:t>
            </a:r>
          </a:p>
          <a:p>
            <a:pPr marL="11113">
              <a:buSzPct val="100000"/>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1113" indent="482600">
              <a:buSzPct val="100000"/>
            </a:pPr>
            <a:r>
              <a:rPr lang="en-US" sz="2000" dirty="0">
                <a:latin typeface="Verdana" panose="020B0604030504040204" pitchFamily="34" charset="0"/>
                <a:ea typeface="Verdana" panose="020B0604030504040204" pitchFamily="34" charset="0"/>
                <a:cs typeface="Verdana" panose="020B0604030504040204" pitchFamily="34" charset="0"/>
              </a:rPr>
              <a:t>The first row has been completed as an example.</a:t>
            </a:r>
          </a:p>
        </p:txBody>
      </p:sp>
      <p:sp>
        <p:nvSpPr>
          <p:cNvPr id="13" name="Google Shape;282;g104476d1465_1_17">
            <a:extLst>
              <a:ext uri="{FF2B5EF4-FFF2-40B4-BE49-F238E27FC236}">
                <a16:creationId xmlns:a16="http://schemas.microsoft.com/office/drawing/2014/main" id="{38A626CB-082C-DB4E-B059-328DCC8AD13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31DB114A-0E6F-FF48-8EC3-08DCF65B1834}"/>
                  </a:ext>
                </a:extLst>
              </p:cNvPr>
              <p:cNvGraphicFramePr>
                <a:graphicFrameLocks noGrp="1"/>
              </p:cNvGraphicFramePr>
              <p:nvPr>
                <p:extLst>
                  <p:ext uri="{D42A27DB-BD31-4B8C-83A1-F6EECF244321}">
                    <p14:modId xmlns:p14="http://schemas.microsoft.com/office/powerpoint/2010/main" val="504300754"/>
                  </p:ext>
                </p:extLst>
              </p:nvPr>
            </p:nvGraphicFramePr>
            <p:xfrm>
              <a:off x="2595608" y="2081475"/>
              <a:ext cx="6797675" cy="3891217"/>
            </p:xfrm>
            <a:graphic>
              <a:graphicData uri="http://schemas.openxmlformats.org/drawingml/2006/table">
                <a:tbl>
                  <a:tblPr firstRow="1" firstCol="1" bandRow="1">
                    <a:tableStyleId>{A91F0D33-8C57-4600-99A7-42BC86742BE1}</a:tableStyleId>
                  </a:tblPr>
                  <a:tblGrid>
                    <a:gridCol w="1658620">
                      <a:extLst>
                        <a:ext uri="{9D8B030D-6E8A-4147-A177-3AD203B41FA5}">
                          <a16:colId xmlns:a16="http://schemas.microsoft.com/office/drawing/2014/main" val="525941170"/>
                        </a:ext>
                      </a:extLst>
                    </a:gridCol>
                    <a:gridCol w="1712595">
                      <a:extLst>
                        <a:ext uri="{9D8B030D-6E8A-4147-A177-3AD203B41FA5}">
                          <a16:colId xmlns:a16="http://schemas.microsoft.com/office/drawing/2014/main" val="187745121"/>
                        </a:ext>
                      </a:extLst>
                    </a:gridCol>
                    <a:gridCol w="1713230">
                      <a:extLst>
                        <a:ext uri="{9D8B030D-6E8A-4147-A177-3AD203B41FA5}">
                          <a16:colId xmlns:a16="http://schemas.microsoft.com/office/drawing/2014/main" val="2346308977"/>
                        </a:ext>
                      </a:extLst>
                    </a:gridCol>
                    <a:gridCol w="1713230">
                      <a:extLst>
                        <a:ext uri="{9D8B030D-6E8A-4147-A177-3AD203B41FA5}">
                          <a16:colId xmlns:a16="http://schemas.microsoft.com/office/drawing/2014/main" val="160736385"/>
                        </a:ext>
                      </a:extLst>
                    </a:gridCol>
                  </a:tblGrid>
                  <a:tr h="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Initial Elevation</a:t>
                          </a:r>
                          <a:endParaRPr lang="x-none" sz="16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(ft)</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Final Elevation (ft)</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a:effectLst/>
                              <a:latin typeface="Verdana" panose="020B0604030504040204" pitchFamily="34" charset="0"/>
                              <a:ea typeface="Verdana" panose="020B0604030504040204" pitchFamily="34" charset="0"/>
                              <a:cs typeface="Verdana" panose="020B0604030504040204" pitchFamily="34" charset="0"/>
                            </a:rPr>
                            <a:t>Difference Between Final and Beginning</a:t>
                          </a:r>
                          <a:endParaRPr lang="x-none" sz="1600" b="1"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Change in Elevation</a:t>
                          </a:r>
                          <a:endParaRPr lang="x-none" sz="16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(ft)</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966875509"/>
                      </a:ext>
                    </a:extLst>
                  </a:tr>
                  <a:tr h="45720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400</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900</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900−400</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500</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4194221"/>
                      </a:ext>
                    </a:extLst>
                  </a:tr>
                  <a:tr h="45720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115</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68</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906668"/>
                      </a:ext>
                    </a:extLst>
                  </a:tr>
                  <a:tr h="45720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294</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−121</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3677184"/>
                      </a:ext>
                    </a:extLst>
                  </a:tr>
                  <a:tr h="45720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−200</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610</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2440205"/>
                      </a:ext>
                    </a:extLst>
                  </a:tr>
                  <a:tr h="45720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−163</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−57</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7323992"/>
                      </a:ext>
                    </a:extLst>
                  </a:tr>
                  <a:tr h="45720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−17</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−87</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9319007"/>
                      </a:ext>
                    </a:extLst>
                  </a:tr>
                </a:tbl>
              </a:graphicData>
            </a:graphic>
          </p:graphicFrame>
        </mc:Choice>
        <mc:Fallback xmlns="">
          <p:graphicFrame>
            <p:nvGraphicFramePr>
              <p:cNvPr id="3" name="Table 2">
                <a:extLst>
                  <a:ext uri="{FF2B5EF4-FFF2-40B4-BE49-F238E27FC236}">
                    <a16:creationId xmlns:a16="http://schemas.microsoft.com/office/drawing/2014/main" id="{31DB114A-0E6F-FF48-8EC3-08DCF65B1834}"/>
                  </a:ext>
                </a:extLst>
              </p:cNvPr>
              <p:cNvGraphicFramePr>
                <a:graphicFrameLocks noGrp="1"/>
              </p:cNvGraphicFramePr>
              <p:nvPr>
                <p:extLst>
                  <p:ext uri="{D42A27DB-BD31-4B8C-83A1-F6EECF244321}">
                    <p14:modId xmlns:p14="http://schemas.microsoft.com/office/powerpoint/2010/main" val="504300754"/>
                  </p:ext>
                </p:extLst>
              </p:nvPr>
            </p:nvGraphicFramePr>
            <p:xfrm>
              <a:off x="2595608" y="2081475"/>
              <a:ext cx="6797675" cy="3891217"/>
            </p:xfrm>
            <a:graphic>
              <a:graphicData uri="http://schemas.openxmlformats.org/drawingml/2006/table">
                <a:tbl>
                  <a:tblPr firstRow="1" firstCol="1" bandRow="1">
                    <a:tableStyleId>{A91F0D33-8C57-4600-99A7-42BC86742BE1}</a:tableStyleId>
                  </a:tblPr>
                  <a:tblGrid>
                    <a:gridCol w="1658620">
                      <a:extLst>
                        <a:ext uri="{9D8B030D-6E8A-4147-A177-3AD203B41FA5}">
                          <a16:colId xmlns:a16="http://schemas.microsoft.com/office/drawing/2014/main" val="525941170"/>
                        </a:ext>
                      </a:extLst>
                    </a:gridCol>
                    <a:gridCol w="1712595">
                      <a:extLst>
                        <a:ext uri="{9D8B030D-6E8A-4147-A177-3AD203B41FA5}">
                          <a16:colId xmlns:a16="http://schemas.microsoft.com/office/drawing/2014/main" val="187745121"/>
                        </a:ext>
                      </a:extLst>
                    </a:gridCol>
                    <a:gridCol w="1713230">
                      <a:extLst>
                        <a:ext uri="{9D8B030D-6E8A-4147-A177-3AD203B41FA5}">
                          <a16:colId xmlns:a16="http://schemas.microsoft.com/office/drawing/2014/main" val="2346308977"/>
                        </a:ext>
                      </a:extLst>
                    </a:gridCol>
                    <a:gridCol w="1713230">
                      <a:extLst>
                        <a:ext uri="{9D8B030D-6E8A-4147-A177-3AD203B41FA5}">
                          <a16:colId xmlns:a16="http://schemas.microsoft.com/office/drawing/2014/main" val="160736385"/>
                        </a:ext>
                      </a:extLst>
                    </a:gridCol>
                  </a:tblGrid>
                  <a:tr h="1148017">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Initial Elevation</a:t>
                          </a:r>
                          <a:endParaRPr lang="en-CO" sz="16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(ft)</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Final Elevation (ft)</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a:effectLst/>
                              <a:latin typeface="Verdana" panose="020B0604030504040204" pitchFamily="34" charset="0"/>
                              <a:ea typeface="Verdana" panose="020B0604030504040204" pitchFamily="34" charset="0"/>
                              <a:cs typeface="Verdana" panose="020B0604030504040204" pitchFamily="34" charset="0"/>
                            </a:rPr>
                            <a:t>Difference Between Final and Beginning</a:t>
                          </a:r>
                          <a:endParaRPr lang="en-CO" sz="1600" b="1"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Change in Elevation</a:t>
                          </a:r>
                          <a:endParaRPr lang="en-CO" sz="16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(ft)</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966875509"/>
                      </a:ext>
                    </a:extLst>
                  </a:tr>
                  <a:tr h="4572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63" t="-272222" r="-309924" b="-50555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7778" t="-272222" r="-200741" b="-50555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7778" t="-272222" r="-100741" b="-50555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97778" t="-272222" r="-741" b="-505556"/>
                          </a:stretch>
                        </a:blipFill>
                      </a:tcPr>
                    </a:tc>
                    <a:extLst>
                      <a:ext uri="{0D108BD9-81ED-4DB2-BD59-A6C34878D82A}">
                        <a16:rowId xmlns:a16="http://schemas.microsoft.com/office/drawing/2014/main" val="1064194221"/>
                      </a:ext>
                    </a:extLst>
                  </a:tr>
                  <a:tr h="4572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63" t="-372222" r="-309924" b="-40555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7778" t="-372222" r="-200741" b="-405556"/>
                          </a:stretch>
                        </a:blipFill>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906668"/>
                      </a:ext>
                    </a:extLst>
                  </a:tr>
                  <a:tr h="4572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63" t="-472222" r="-309924" b="-30555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7778" t="-472222" r="-200741" b="-305556"/>
                          </a:stretch>
                        </a:blipFill>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3677184"/>
                      </a:ext>
                    </a:extLst>
                  </a:tr>
                  <a:tr h="4572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63" t="-556757" r="-309924" b="-19729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7778" t="-556757" r="-200741" b="-197297"/>
                          </a:stretch>
                        </a:blipFill>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2440205"/>
                      </a:ext>
                    </a:extLst>
                  </a:tr>
                  <a:tr h="4572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63" t="-675000" r="-309924" b="-10277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7778" t="-675000" r="-200741" b="-102778"/>
                          </a:stretch>
                        </a:blipFill>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7323992"/>
                      </a:ext>
                    </a:extLst>
                  </a:tr>
                  <a:tr h="4572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63" t="-775000" r="-309924" b="-277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7778" t="-775000" r="-200741" b="-2778"/>
                          </a:stretch>
                        </a:blipFill>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9319007"/>
                      </a:ext>
                    </a:extLst>
                  </a:tr>
                </a:tbl>
              </a:graphicData>
            </a:graphic>
          </p:graphicFrame>
        </mc:Fallback>
      </mc:AlternateContent>
    </p:spTree>
    <p:extLst>
      <p:ext uri="{BB962C8B-B14F-4D97-AF65-F5344CB8AC3E}">
        <p14:creationId xmlns:p14="http://schemas.microsoft.com/office/powerpoint/2010/main" val="40629441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A66A031F-2EC8-DF4C-B3F5-E7AC5B8F3239}"/>
                  </a:ext>
                </a:extLst>
              </p:cNvPr>
              <p:cNvSpPr/>
              <p:nvPr/>
            </p:nvSpPr>
            <p:spPr>
              <a:xfrm>
                <a:off x="905256" y="273055"/>
                <a:ext cx="9970562" cy="2862322"/>
              </a:xfrm>
              <a:prstGeom prst="rect">
                <a:avLst/>
              </a:prstGeom>
            </p:spPr>
            <p:txBody>
              <a:bodyPr wrap="square">
                <a:spAutoFit/>
              </a:bodyPr>
              <a:lstStyle/>
              <a:p>
                <a:pPr marL="468313" indent="-457200">
                  <a:buSzPct val="1000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Explain what a negative change in elevation means in this context. </a:t>
                </a:r>
              </a:p>
              <a:p>
                <a:pPr marL="468313" indent="-457200">
                  <a:buSzPct val="1000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8313" indent="-457200">
                  <a:buSzPct val="1000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8313" indent="-457200">
                  <a:buSzPct val="1000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8313" indent="-457200">
                  <a:buSzPct val="1000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8313" indent="-457200">
                  <a:buSzPct val="1000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Find each difference. </a:t>
                </a:r>
              </a:p>
              <a:p>
                <a:pPr marL="11113">
                  <a:buSzPct val="100000"/>
                </a:pPr>
                <a:r>
                  <a:rPr lang="en-US" sz="2000" dirty="0">
                    <a:latin typeface="Verdana" panose="020B0604030504040204" pitchFamily="34" charset="0"/>
                    <a:ea typeface="Verdana" panose="020B0604030504040204" pitchFamily="34" charset="0"/>
                    <a:cs typeface="Verdana" panose="020B0604030504040204" pitchFamily="34" charset="0"/>
                  </a:rPr>
                  <a:t> </a:t>
                </a:r>
              </a:p>
              <a:p>
                <a:pPr marL="11113">
                  <a:buSzPct val="100000"/>
                </a:pPr>
                <a:r>
                  <a:rPr lang="en-US" sz="2000" dirty="0">
                    <a:latin typeface="Verdana" panose="020B0604030504040204" pitchFamily="34" charset="0"/>
                    <a:ea typeface="Verdana" panose="020B0604030504040204" pitchFamily="34" charset="0"/>
                    <a:cs typeface="Verdana" panose="020B0604030504040204" pitchFamily="34" charset="0"/>
                  </a:rPr>
                  <a:t> </a:t>
                </a:r>
              </a:p>
              <a:p>
                <a:pPr marL="468313" indent="-457200">
                  <a:buSzPct val="1000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−664−231</m:t>
                    </m:r>
                  </m:oMath>
                </a14:m>
                <a:r>
                  <a:rPr lang="en-US" sz="2000" dirty="0">
                    <a:latin typeface="Verdana" panose="020B0604030504040204" pitchFamily="34" charset="0"/>
                    <a:ea typeface="Verdana" panose="020B0604030504040204" pitchFamily="34" charset="0"/>
                    <a:cs typeface="Verdana" panose="020B0604030504040204" pitchFamily="34" charset="0"/>
                  </a:rPr>
                  <a:t>			b.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109−(−115)</m:t>
                    </m:r>
                  </m:oMath>
                </a14:m>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2" name="Rectangle 1">
                <a:extLst>
                  <a:ext uri="{FF2B5EF4-FFF2-40B4-BE49-F238E27FC236}">
                    <a16:creationId xmlns:a16="http://schemas.microsoft.com/office/drawing/2014/main" id="{A66A031F-2EC8-DF4C-B3F5-E7AC5B8F3239}"/>
                  </a:ext>
                </a:extLst>
              </p:cNvPr>
              <p:cNvSpPr>
                <a:spLocks noRot="1" noChangeAspect="1" noMove="1" noResize="1" noEditPoints="1" noAdjustHandles="1" noChangeArrowheads="1" noChangeShapeType="1" noTextEdit="1"/>
              </p:cNvSpPr>
              <p:nvPr/>
            </p:nvSpPr>
            <p:spPr>
              <a:xfrm>
                <a:off x="905256" y="273055"/>
                <a:ext cx="9970562" cy="2862322"/>
              </a:xfrm>
              <a:prstGeom prst="rect">
                <a:avLst/>
              </a:prstGeom>
              <a:blipFill>
                <a:blip r:embed="rId4"/>
                <a:stretch>
                  <a:fillRect l="-509" t="-1327" b="-3097"/>
                </a:stretch>
              </a:blipFill>
            </p:spPr>
            <p:txBody>
              <a:bodyPr/>
              <a:lstStyle/>
              <a:p>
                <a:r>
                  <a:rPr lang="en-US">
                    <a:noFill/>
                  </a:rPr>
                  <a:t> </a:t>
                </a:r>
              </a:p>
            </p:txBody>
          </p:sp>
        </mc:Fallback>
      </mc:AlternateContent>
      <p:sp>
        <p:nvSpPr>
          <p:cNvPr id="13" name="Google Shape;282;g104476d1465_1_17">
            <a:extLst>
              <a:ext uri="{FF2B5EF4-FFF2-40B4-BE49-F238E27FC236}">
                <a16:creationId xmlns:a16="http://schemas.microsoft.com/office/drawing/2014/main" id="{38A626CB-082C-DB4E-B059-328DCC8AD13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45</a:t>
            </a:r>
            <a:endParaRPr i="1" dirty="0">
              <a:latin typeface="Calibri"/>
              <a:ea typeface="Calibri"/>
              <a:cs typeface="Calibri"/>
              <a:sym typeface="Calibri"/>
            </a:endParaRPr>
          </a:p>
        </p:txBody>
      </p:sp>
    </p:spTree>
    <p:extLst>
      <p:ext uri="{BB962C8B-B14F-4D97-AF65-F5344CB8AC3E}">
        <p14:creationId xmlns:p14="http://schemas.microsoft.com/office/powerpoint/2010/main" val="29794043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39693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E24E5F"/>
                </a:solidFill>
                <a:latin typeface="Verdana"/>
                <a:ea typeface="Verdana"/>
                <a:cs typeface="Verdana"/>
                <a:sym typeface="Verdana"/>
              </a:rPr>
              <a:t>Your Turn</a:t>
            </a:r>
            <a:endParaRPr sz="4000" b="1" dirty="0">
              <a:solidFill>
                <a:srgbClr val="E24E5F"/>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46</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id="{2C8C0BED-1AF4-B944-96AA-2CF26F1ABF6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6228" cy="115622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96971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06424"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E24E5F"/>
                </a:solidFill>
                <a:latin typeface="Verdana"/>
                <a:ea typeface="Verdana"/>
                <a:cs typeface="Verdana"/>
                <a:sym typeface="Verdana"/>
              </a:rPr>
              <a:t>7.9.4 Your Turn!</a:t>
            </a:r>
          </a:p>
        </p:txBody>
      </p:sp>
      <p:sp>
        <p:nvSpPr>
          <p:cNvPr id="2" name="Rectangle 1">
            <a:extLst>
              <a:ext uri="{FF2B5EF4-FFF2-40B4-BE49-F238E27FC236}">
                <a16:creationId xmlns:a16="http://schemas.microsoft.com/office/drawing/2014/main" id="{B05AB5A2-AF35-B14C-AE54-D2A0628C823C}"/>
              </a:ext>
            </a:extLst>
          </p:cNvPr>
          <p:cNvSpPr/>
          <p:nvPr/>
        </p:nvSpPr>
        <p:spPr>
          <a:xfrm>
            <a:off x="905256" y="1340983"/>
            <a:ext cx="8254001" cy="461665"/>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Evaluate each expression.</a:t>
            </a:r>
          </a:p>
        </p:txBody>
      </p:sp>
      <p:sp>
        <p:nvSpPr>
          <p:cNvPr id="11" name="Google Shape;282;g104476d1465_1_17">
            <a:extLst>
              <a:ext uri="{FF2B5EF4-FFF2-40B4-BE49-F238E27FC236}">
                <a16:creationId xmlns:a16="http://schemas.microsoft.com/office/drawing/2014/main" id="{85268C17-F7CB-D243-B65D-166A4DD9987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46</a:t>
            </a:r>
            <a:endParaRPr i="1" dirty="0">
              <a:latin typeface="Calibri"/>
              <a:ea typeface="Calibri"/>
              <a:cs typeface="Calibri"/>
              <a:sym typeface="Calibri"/>
            </a:endParaRPr>
          </a:p>
        </p:txBody>
      </p:sp>
      <p:pic>
        <p:nvPicPr>
          <p:cNvPr id="10" name="Picture 9" descr="Icon&#10;&#10;Description automatically generated">
            <a:extLst>
              <a:ext uri="{FF2B5EF4-FFF2-40B4-BE49-F238E27FC236}">
                <a16:creationId xmlns:a16="http://schemas.microsoft.com/office/drawing/2014/main" id="{00D9959C-BC81-7642-9A75-F49D3552473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52254" cy="752254"/>
          </a:xfrm>
          <a:prstGeom prst="rect">
            <a:avLst/>
          </a:prstGeom>
        </p:spPr>
      </p:pic>
      <p:pic>
        <p:nvPicPr>
          <p:cNvPr id="4" name="Picture 3" descr="Chart&#10;&#10;Description automatically generated">
            <a:extLst>
              <a:ext uri="{FF2B5EF4-FFF2-40B4-BE49-F238E27FC236}">
                <a16:creationId xmlns:a16="http://schemas.microsoft.com/office/drawing/2014/main" id="{C3262FC8-06B2-264F-A492-F714907F198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295779" y="2517359"/>
            <a:ext cx="5472953" cy="2718160"/>
          </a:xfrm>
          <a:prstGeom prst="rect">
            <a:avLst/>
          </a:prstGeom>
        </p:spPr>
      </p:pic>
    </p:spTree>
    <p:extLst>
      <p:ext uri="{BB962C8B-B14F-4D97-AF65-F5344CB8AC3E}">
        <p14:creationId xmlns:p14="http://schemas.microsoft.com/office/powerpoint/2010/main" val="2235248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E3DC8F22-04D2-D04F-BA67-53D9B7F3B29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46</a:t>
            </a:r>
            <a:endParaRPr i="1" dirty="0">
              <a:latin typeface="Calibri"/>
              <a:ea typeface="Calibri"/>
              <a:cs typeface="Calibri"/>
              <a:sym typeface="Calibri"/>
            </a:endParaRPr>
          </a:p>
        </p:txBody>
      </p:sp>
      <p:pic>
        <p:nvPicPr>
          <p:cNvPr id="4" name="Picture 3" descr="Chart&#10;&#10;Description automatically generated with medium confidence">
            <a:extLst>
              <a:ext uri="{FF2B5EF4-FFF2-40B4-BE49-F238E27FC236}">
                <a16:creationId xmlns:a16="http://schemas.microsoft.com/office/drawing/2014/main" id="{EA56E8A2-F527-F941-B7E6-58F8CCAD798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295144" y="1463285"/>
            <a:ext cx="6514668" cy="3201690"/>
          </a:xfrm>
          <a:prstGeom prst="rect">
            <a:avLst/>
          </a:prstGeom>
        </p:spPr>
      </p:pic>
    </p:spTree>
    <p:extLst>
      <p:ext uri="{BB962C8B-B14F-4D97-AF65-F5344CB8AC3E}">
        <p14:creationId xmlns:p14="http://schemas.microsoft.com/office/powerpoint/2010/main" val="1552515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70632"/>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ABBAE5D4-A013-554B-AF18-FD3C50BA4B0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46</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06424"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7.9.5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50A85065-1747-6C4E-8BA4-9C1ED8A185A6}"/>
                  </a:ext>
                </a:extLst>
              </p:cNvPr>
              <p:cNvSpPr/>
              <p:nvPr/>
            </p:nvSpPr>
            <p:spPr>
              <a:xfrm>
                <a:off x="904769" y="1325700"/>
                <a:ext cx="8422610" cy="3477875"/>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Evaluate each expression.</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447−(−702)</m:t>
                    </m:r>
                  </m:oMath>
                </a14:m>
                <a:r>
                  <a:rPr lang="en-US" sz="2000" dirty="0">
                    <a:latin typeface="Verdana" panose="020B0604030504040204" pitchFamily="34" charset="0"/>
                    <a:ea typeface="Verdana" panose="020B0604030504040204" pitchFamily="34" charset="0"/>
                    <a:cs typeface="Verdana" panose="020B0604030504040204" pitchFamily="34" charset="0"/>
                  </a:rPr>
                  <a:t>			b.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−834−(−610)</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−309−525</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Rectangle 1">
                <a:extLst>
                  <a:ext uri="{FF2B5EF4-FFF2-40B4-BE49-F238E27FC236}">
                    <a16:creationId xmlns:a16="http://schemas.microsoft.com/office/drawing/2014/main" id="{50A85065-1747-6C4E-8BA4-9C1ED8A185A6}"/>
                  </a:ext>
                </a:extLst>
              </p:cNvPr>
              <p:cNvSpPr>
                <a:spLocks noRot="1" noChangeAspect="1" noMove="1" noResize="1" noEditPoints="1" noAdjustHandles="1" noChangeArrowheads="1" noChangeShapeType="1" noTextEdit="1"/>
              </p:cNvSpPr>
              <p:nvPr/>
            </p:nvSpPr>
            <p:spPr>
              <a:xfrm>
                <a:off x="904769" y="1325700"/>
                <a:ext cx="8422610" cy="3477875"/>
              </a:xfrm>
              <a:prstGeom prst="rect">
                <a:avLst/>
              </a:prstGeom>
              <a:blipFill>
                <a:blip r:embed="rId5"/>
                <a:stretch>
                  <a:fillRect l="-753" t="-1091"/>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id="{D20425D2-BFDA-974E-9037-009E6465CCF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46</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1441</TotalTime>
  <Words>858</Words>
  <Application>Microsoft Office PowerPoint</Application>
  <PresentationFormat>Widescreen</PresentationFormat>
  <Paragraphs>166</Paragraphs>
  <Slides>21</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Verdana</vt:lpstr>
      <vt:lpstr>Century Gothic</vt:lpstr>
      <vt:lpstr>Arial</vt:lpstr>
      <vt:lpstr>Wingdings</vt:lpstr>
      <vt:lpstr>Cambria Math</vt:lpstr>
      <vt:lpstr>Calibri</vt:lpstr>
      <vt:lpstr>Cambria</vt:lpstr>
      <vt:lpstr>Arial Black</vt:lpstr>
      <vt:lpstr>1_Office Theme</vt:lpstr>
      <vt:lpstr>6th Grade Math  Unit 7, Lesson 9  Integer Subtraction  Volume 2, pg. 43  </vt:lpstr>
      <vt:lpstr>Benchmark</vt:lpstr>
      <vt:lpstr>PowerPoint Presentation</vt:lpstr>
      <vt:lpstr>PowerPoint Presentation</vt:lpstr>
      <vt:lpstr>Warm-Up</vt:lpstr>
      <vt:lpstr>PowerPoint Presentation</vt:lpstr>
      <vt:lpstr>Guided Practice</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27</cp:revision>
  <dcterms:created xsi:type="dcterms:W3CDTF">2015-03-17T18:51:18Z</dcterms:created>
  <dcterms:modified xsi:type="dcterms:W3CDTF">2022-07-09T06:32:20Z</dcterms:modified>
</cp:coreProperties>
</file>