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351" r:id="rId8"/>
    <p:sldId id="342" r:id="rId9"/>
    <p:sldId id="343" r:id="rId10"/>
    <p:sldId id="344" r:id="rId11"/>
    <p:sldId id="352" r:id="rId12"/>
    <p:sldId id="353" r:id="rId13"/>
    <p:sldId id="354" r:id="rId14"/>
    <p:sldId id="355" r:id="rId15"/>
    <p:sldId id="345" r:id="rId16"/>
    <p:sldId id="346" r:id="rId17"/>
    <p:sldId id="347" r:id="rId18"/>
    <p:sldId id="302" r:id="rId19"/>
    <p:sldId id="303" r:id="rId20"/>
    <p:sldId id="340" r:id="rId21"/>
    <p:sldId id="356" r:id="rId22"/>
    <p:sldId id="357" r:id="rId23"/>
    <p:sldId id="348" r:id="rId24"/>
    <p:sldId id="349" r:id="rId25"/>
    <p:sldId id="311" r:id="rId26"/>
    <p:sldId id="312" r:id="rId27"/>
    <p:sldId id="333" r:id="rId28"/>
    <p:sldId id="306" r:id="rId29"/>
    <p:sldId id="307" r:id="rId30"/>
    <p:sldId id="341" r:id="rId31"/>
  </p:sldIdLst>
  <p:sldSz cx="12192000" cy="6858000"/>
  <p:notesSz cx="6858000" cy="9144000"/>
  <p:embeddedFontLst>
    <p:embeddedFont>
      <p:font typeface="Verdana" pitchFamily="34" charset="0"/>
      <p:regular r:id="rId33"/>
      <p:bold r:id="rId34"/>
      <p:italic r:id="rId35"/>
      <p:boldItalic r:id="rId36"/>
    </p:embeddedFont>
    <p:embeddedFont>
      <p:font typeface="Calibri" pitchFamily="34" charset="0"/>
      <p:regular r:id="rId37"/>
      <p:bold r:id="rId38"/>
      <p:italic r:id="rId39"/>
      <p:boldItalic r:id="rId40"/>
    </p:embeddedFont>
    <p:embeddedFont>
      <p:font typeface="Century Gothic" pitchFamily="34" charset="0"/>
      <p:regular r:id="rId41"/>
      <p:bold r:id="rId42"/>
      <p:italic r:id="rId43"/>
      <p:boldItalic r:id="rId44"/>
    </p:embeddedFont>
    <p:embeddedFont>
      <p:font typeface="Cambria Math" pitchFamily="18" charset="0"/>
      <p:regular r:id="rId45"/>
    </p:embeddedFont>
    <p:embeddedFont>
      <p:font typeface="Cambria" pitchFamily="18" charset="0"/>
      <p:regular r:id="rId46"/>
      <p:bold r:id="rId47"/>
      <p:italic r:id="rId48"/>
      <p:boldItalic r:id="rId49"/>
    </p:embeddedFont>
    <p:embeddedFont>
      <p:font typeface="Arial Black" pitchFamily="34" charset="0"/>
      <p:bold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99"/>
    <p:restoredTop sz="94719"/>
  </p:normalViewPr>
  <p:slideViewPr>
    <p:cSldViewPr snapToGrid="0">
      <p:cViewPr varScale="1">
        <p:scale>
          <a:sx n="80" d="100"/>
          <a:sy n="80" d="100"/>
        </p:scale>
        <p:origin x="-29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978202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1881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70094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785194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589136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82745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004151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2907484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8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400.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52216" y="2054275"/>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Exponents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237668"/>
            <a:ext cx="1112264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Evaluate positive rational numbers and integers with natural number exponents.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3916" y="-5710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6" y="1206738"/>
            <a:ext cx="1125980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1520" y="1237668"/>
            <a:ext cx="11111214"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understand the role of a base and an exponent in the exponential form of a numeric expression.</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write a numeric expression using repeated multiplication in exponential form.</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write an expression in exponential form as a numeric expression using repeated multiplication.</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evaluate a positive rational number raised to a power.</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3916"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7.1.1 Warm-Up: Graphic Designer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730266" y="1526868"/>
            <a:ext cx="11111214" cy="230832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Maurice Woods is a graphic designer and founder of the </a:t>
            </a:r>
            <a:r>
              <a:rPr lang="en-US" sz="2400" dirty="0" err="1">
                <a:latin typeface="Verdana" panose="020B0604030504040204" pitchFamily="34" charset="0"/>
                <a:ea typeface="Times New Roman" panose="02020603050405020304" pitchFamily="18" charset="0"/>
                <a:cs typeface="Times New Roman" panose="02020603050405020304" pitchFamily="18" charset="0"/>
              </a:rPr>
              <a:t>Inneract</a:t>
            </a:r>
            <a:r>
              <a:rPr lang="en-US" sz="2400" dirty="0">
                <a:latin typeface="Verdana" panose="020B0604030504040204" pitchFamily="34" charset="0"/>
                <a:ea typeface="Times New Roman" panose="02020603050405020304" pitchFamily="18" charset="0"/>
                <a:cs typeface="Times New Roman" panose="02020603050405020304" pitchFamily="18" charset="0"/>
              </a:rPr>
              <a:t> Project. He says, “Design is really about a process of thinking creatively and critically about how to solve something in a way that not only makes sense to people, but produces a solution to a problem.” How does that process relate to your study of mathematics?</a:t>
            </a:r>
          </a:p>
        </p:txBody>
      </p:sp>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568861" y="577102"/>
            <a:ext cx="11226899" cy="378565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Maurice states that one of the skills he brought with him from his basketball career to his design career was his experience with teamwork and what it means to be flexible and compromise. Describe an experience when teamwork was needed for you to reach a goal.</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Maurice said, “I want to be remembered for giving back to the community and giving back to young people ... I get more joy out of that than any project I work on.” What do you want to be remembered for in life?</a:t>
            </a:r>
          </a:p>
        </p:txBody>
      </p:sp>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51000"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332"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7.1.2 Guided Instruction: Expressions with Exponents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730266" y="1289851"/>
                <a:ext cx="10894044"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principal at Fitzgerald Middle School has been tasked with contacting everyone at the school regarding an upcoming change. The principal uses a phone tree to contact the staff. The principal calls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people, then those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people will call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other people. This process repeats until everyone has been contacted. </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730266" y="1289851"/>
                <a:ext cx="10894044" cy="1938992"/>
              </a:xfrm>
              <a:prstGeom prst="rect">
                <a:avLst/>
              </a:prstGeom>
              <a:blipFill>
                <a:blip r:embed="rId4"/>
                <a:stretch>
                  <a:fillRect l="-931" t="-2597" r="-1164" b="-584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C6C9C2DF-E989-BB45-9CB6-957F279300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461010" y="386025"/>
            <a:ext cx="8549640" cy="400110"/>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Fill in the blanks for the phone tree.</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4DFFB45-2DD5-6345-BE49-3D93D172C7BF}"/>
                  </a:ext>
                </a:extLst>
              </p:cNvPr>
              <p:cNvGraphicFramePr>
                <a:graphicFrameLocks noGrp="1"/>
              </p:cNvGraphicFramePr>
              <p:nvPr>
                <p:extLst>
                  <p:ext uri="{D42A27DB-BD31-4B8C-83A1-F6EECF244321}">
                    <p14:modId xmlns:p14="http://schemas.microsoft.com/office/powerpoint/2010/main" val="2999229413"/>
                  </p:ext>
                </p:extLst>
              </p:nvPr>
            </p:nvGraphicFramePr>
            <p:xfrm>
              <a:off x="3267075" y="1078843"/>
              <a:ext cx="5657850" cy="2651760"/>
            </p:xfrm>
            <a:graphic>
              <a:graphicData uri="http://schemas.openxmlformats.org/drawingml/2006/table">
                <a:tbl>
                  <a:tblPr firstRow="1" firstCol="1" bandRow="1">
                    <a:tableStyleId>{A91F0D33-8C57-4600-99A7-42BC86742BE1}</a:tableStyleId>
                  </a:tblPr>
                  <a:tblGrid>
                    <a:gridCol w="2743200">
                      <a:extLst>
                        <a:ext uri="{9D8B030D-6E8A-4147-A177-3AD203B41FA5}">
                          <a16:colId xmlns:a16="http://schemas.microsoft.com/office/drawing/2014/main" xmlns="" val="1150124035"/>
                        </a:ext>
                      </a:extLst>
                    </a:gridCol>
                    <a:gridCol w="2914650">
                      <a:extLst>
                        <a:ext uri="{9D8B030D-6E8A-4147-A177-3AD203B41FA5}">
                          <a16:colId xmlns:a16="http://schemas.microsoft.com/office/drawing/2014/main" xmlns="" val="250955374"/>
                        </a:ext>
                      </a:extLst>
                    </a:gridCol>
                  </a:tblGrid>
                  <a:tr h="365760">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Phone Tree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x-none"/>
                        </a:p>
                      </a:txBody>
                      <a:tcPr/>
                    </a:tc>
                    <a:extLst>
                      <a:ext uri="{0D108BD9-81ED-4DB2-BD59-A6C34878D82A}">
                        <a16:rowId xmlns:a16="http://schemas.microsoft.com/office/drawing/2014/main" xmlns="" val="205643154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First round of calls: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m:t>
                              </m:r>
                            </m:oMath>
                          </a14:m>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72607336"/>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Second round of calls: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 ∙ 2</m:t>
                              </m:r>
                            </m:oMath>
                          </a14:m>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98940782"/>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Third round of calls: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 ∙ 2 ∙ 2</m:t>
                              </m:r>
                            </m:oMath>
                          </a14:m>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6343645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Fourth round of calls: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 ∙ _____ ∙ _____ ∙ _____</m:t>
                              </m:r>
                            </m:oMath>
                          </a14:m>
                          <a:r>
                            <a:rPr lang="en-US" sz="11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3584577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Fifth round of calls: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81490686"/>
                      </a:ext>
                    </a:extLst>
                  </a:tr>
                </a:tbl>
              </a:graphicData>
            </a:graphic>
          </p:graphicFrame>
        </mc:Choice>
        <mc:Fallback xmlns="">
          <p:graphicFrame>
            <p:nvGraphicFramePr>
              <p:cNvPr id="3" name="Table 2">
                <a:extLst>
                  <a:ext uri="{FF2B5EF4-FFF2-40B4-BE49-F238E27FC236}">
                    <a16:creationId xmlns:a16="http://schemas.microsoft.com/office/drawing/2014/main" id="{04DFFB45-2DD5-6345-BE49-3D93D172C7BF}"/>
                  </a:ext>
                </a:extLst>
              </p:cNvPr>
              <p:cNvGraphicFramePr>
                <a:graphicFrameLocks noGrp="1"/>
              </p:cNvGraphicFramePr>
              <p:nvPr>
                <p:extLst>
                  <p:ext uri="{D42A27DB-BD31-4B8C-83A1-F6EECF244321}">
                    <p14:modId xmlns:p14="http://schemas.microsoft.com/office/powerpoint/2010/main" val="2999229413"/>
                  </p:ext>
                </p:extLst>
              </p:nvPr>
            </p:nvGraphicFramePr>
            <p:xfrm>
              <a:off x="3267075" y="1078843"/>
              <a:ext cx="5657850" cy="2651760"/>
            </p:xfrm>
            <a:graphic>
              <a:graphicData uri="http://schemas.openxmlformats.org/drawingml/2006/table">
                <a:tbl>
                  <a:tblPr firstRow="1" firstCol="1" bandRow="1">
                    <a:tableStyleId>{A91F0D33-8C57-4600-99A7-42BC86742BE1}</a:tableStyleId>
                  </a:tblPr>
                  <a:tblGrid>
                    <a:gridCol w="2743200">
                      <a:extLst>
                        <a:ext uri="{9D8B030D-6E8A-4147-A177-3AD203B41FA5}">
                          <a16:colId xmlns:a16="http://schemas.microsoft.com/office/drawing/2014/main" val="1150124035"/>
                        </a:ext>
                      </a:extLst>
                    </a:gridCol>
                    <a:gridCol w="2914650">
                      <a:extLst>
                        <a:ext uri="{9D8B030D-6E8A-4147-A177-3AD203B41FA5}">
                          <a16:colId xmlns:a16="http://schemas.microsoft.com/office/drawing/2014/main" val="250955374"/>
                        </a:ext>
                      </a:extLst>
                    </a:gridCol>
                  </a:tblGrid>
                  <a:tr h="365760">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Phone Tree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extLst>
                      <a:ext uri="{0D108BD9-81ED-4DB2-BD59-A6C34878D82A}">
                        <a16:rowId xmlns:a16="http://schemas.microsoft.com/office/drawing/2014/main" val="205643154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First round of calls: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348" t="-86111" r="-870" b="-413889"/>
                          </a:stretch>
                        </a:blipFill>
                      </a:tcPr>
                    </a:tc>
                    <a:extLst>
                      <a:ext uri="{0D108BD9-81ED-4DB2-BD59-A6C34878D82A}">
                        <a16:rowId xmlns:a16="http://schemas.microsoft.com/office/drawing/2014/main" val="1272607336"/>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Second round of calls: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348" t="-186111" r="-870" b="-313889"/>
                          </a:stretch>
                        </a:blipFill>
                      </a:tcPr>
                    </a:tc>
                    <a:extLst>
                      <a:ext uri="{0D108BD9-81ED-4DB2-BD59-A6C34878D82A}">
                        <a16:rowId xmlns:a16="http://schemas.microsoft.com/office/drawing/2014/main" val="3998940782"/>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Third round of calls: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348" t="-278378" r="-870" b="-205405"/>
                          </a:stretch>
                        </a:blipFill>
                      </a:tcPr>
                    </a:tc>
                    <a:extLst>
                      <a:ext uri="{0D108BD9-81ED-4DB2-BD59-A6C34878D82A}">
                        <a16:rowId xmlns:a16="http://schemas.microsoft.com/office/drawing/2014/main" val="176343645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Fourth round of calls: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348" t="-388889" r="-870" b="-111111"/>
                          </a:stretch>
                        </a:blipFill>
                      </a:tcPr>
                    </a:tc>
                    <a:extLst>
                      <a:ext uri="{0D108BD9-81ED-4DB2-BD59-A6C34878D82A}">
                        <a16:rowId xmlns:a16="http://schemas.microsoft.com/office/drawing/2014/main" val="3335845770"/>
                      </a:ext>
                    </a:extLst>
                  </a:tr>
                  <a:tr h="4572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Fifth round of calls: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1490686"/>
                      </a:ext>
                    </a:extLst>
                  </a:tr>
                </a:tbl>
              </a:graphicData>
            </a:graphic>
          </p:graphicFrame>
        </mc:Fallback>
      </mc:AlternateContent>
      <p:sp>
        <p:nvSpPr>
          <p:cNvPr id="7" name="Rectangle 6">
            <a:extLst>
              <a:ext uri="{FF2B5EF4-FFF2-40B4-BE49-F238E27FC236}">
                <a16:creationId xmlns:a16="http://schemas.microsoft.com/office/drawing/2014/main" xmlns="" id="{8A2583F5-B985-8145-B10A-B1031F474105}"/>
              </a:ext>
            </a:extLst>
          </p:cNvPr>
          <p:cNvSpPr/>
          <p:nvPr/>
        </p:nvSpPr>
        <p:spPr>
          <a:xfrm>
            <a:off x="461010" y="4023311"/>
            <a:ext cx="11266170" cy="1631216"/>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What do you notice about the phone tree?</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people were contacted on the fifth round?</a:t>
            </a:r>
          </a:p>
        </p:txBody>
      </p:sp>
    </p:spTree>
    <p:extLst>
      <p:ext uri="{BB962C8B-B14F-4D97-AF65-F5344CB8AC3E}">
        <p14:creationId xmlns:p14="http://schemas.microsoft.com/office/powerpoint/2010/main" val="215334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518160" y="538583"/>
                <a:ext cx="11300460" cy="1943161"/>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fifth round of calls can be rewritten in exponential form as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5</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How does the exponential expression for the fifth round of calls relate to the repeated multiplication written in the phone tree?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518160" y="538583"/>
                <a:ext cx="11300460" cy="1943161"/>
              </a:xfrm>
              <a:prstGeom prst="rect">
                <a:avLst/>
              </a:prstGeom>
              <a:blipFill>
                <a:blip r:embed="rId4"/>
                <a:stretch>
                  <a:fillRect l="-786" t="-2597" b="-584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spTree>
    <p:extLst>
      <p:ext uri="{BB962C8B-B14F-4D97-AF65-F5344CB8AC3E}">
        <p14:creationId xmlns:p14="http://schemas.microsoft.com/office/powerpoint/2010/main" val="370816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495300" y="438609"/>
                <a:ext cx="11357610" cy="8351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numeric expression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 ∙ 2 ∙ 2 ∙ 2 ∙ 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in exponential form as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5</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where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base</a:t>
                </a:r>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exponent</a:t>
                </a:r>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495300" y="438609"/>
                <a:ext cx="11357610" cy="835165"/>
              </a:xfrm>
              <a:prstGeom prst="rect">
                <a:avLst/>
              </a:prstGeom>
              <a:blipFill>
                <a:blip r:embed="rId4"/>
                <a:stretch>
                  <a:fillRect l="-781" t="-5970" b="-1492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6480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xmlns="" id="{D26B00E8-5646-7349-9320-86F4E939E5CF}"/>
              </a:ext>
            </a:extLst>
          </p:cNvPr>
          <p:cNvGrpSpPr/>
          <p:nvPr/>
        </p:nvGrpSpPr>
        <p:grpSpPr>
          <a:xfrm>
            <a:off x="2362290" y="2119162"/>
            <a:ext cx="7940860" cy="973592"/>
            <a:chOff x="0" y="0"/>
            <a:chExt cx="6629400" cy="812800"/>
          </a:xfrm>
        </p:grpSpPr>
        <p:sp>
          <p:nvSpPr>
            <p:cNvPr id="11" name="Text Box 37">
              <a:extLst>
                <a:ext uri="{FF2B5EF4-FFF2-40B4-BE49-F238E27FC236}">
                  <a16:creationId xmlns:a16="http://schemas.microsoft.com/office/drawing/2014/main" xmlns="" id="{1B9BCFBE-E621-0546-A29E-5EEE6F6E4651}"/>
                </a:ext>
              </a:extLst>
            </p:cNvPr>
            <p:cNvSpPr txBox="1"/>
            <p:nvPr/>
          </p:nvSpPr>
          <p:spPr>
            <a:xfrm>
              <a:off x="0" y="0"/>
              <a:ext cx="6629400" cy="81280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pP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base</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of an exponent is the number used as a factor in exponential form.</a:t>
              </a:r>
              <a:endParaRPr lang="x-none" sz="1100" dirty="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91DB77ED-D017-3A4A-A71B-F584E7A4FA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4311" y="116601"/>
              <a:ext cx="539750" cy="539750"/>
            </a:xfrm>
            <a:prstGeom prst="rect">
              <a:avLst/>
            </a:prstGeom>
            <a:effectLst>
              <a:outerShdw blurRad="50800" dist="38100" dir="2700000" algn="tl" rotWithShape="0">
                <a:prstClr val="black">
                  <a:alpha val="40000"/>
                </a:prstClr>
              </a:outerShdw>
            </a:effectLst>
          </p:spPr>
        </p:pic>
      </p:grpSp>
      <p:grpSp>
        <p:nvGrpSpPr>
          <p:cNvPr id="7" name="Group 6">
            <a:extLst>
              <a:ext uri="{FF2B5EF4-FFF2-40B4-BE49-F238E27FC236}">
                <a16:creationId xmlns:a16="http://schemas.microsoft.com/office/drawing/2014/main" xmlns="" id="{57A285B1-6443-DB42-AEF9-43C6ED58B394}"/>
              </a:ext>
            </a:extLst>
          </p:cNvPr>
          <p:cNvGrpSpPr/>
          <p:nvPr/>
        </p:nvGrpSpPr>
        <p:grpSpPr>
          <a:xfrm>
            <a:off x="2358480" y="3396006"/>
            <a:ext cx="7940860" cy="973593"/>
            <a:chOff x="0" y="225717"/>
            <a:chExt cx="6629400" cy="812800"/>
          </a:xfrm>
        </p:grpSpPr>
        <p:sp>
          <p:nvSpPr>
            <p:cNvPr id="8" name="Text Box 23">
              <a:extLst>
                <a:ext uri="{FF2B5EF4-FFF2-40B4-BE49-F238E27FC236}">
                  <a16:creationId xmlns:a16="http://schemas.microsoft.com/office/drawing/2014/main" xmlns="" id="{7ECA4E89-6A65-4249-AF18-7971BE89A096}"/>
                </a:ext>
              </a:extLst>
            </p:cNvPr>
            <p:cNvSpPr txBox="1"/>
            <p:nvPr/>
          </p:nvSpPr>
          <p:spPr>
            <a:xfrm>
              <a:off x="0" y="225717"/>
              <a:ext cx="6629400" cy="81280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pP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exponent</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is the number of times the base occurs as a factor.</a:t>
              </a:r>
              <a:endParaRPr lang="x-none" sz="1100" dirty="0">
                <a:ea typeface="Times New Roman" panose="02020603050405020304" pitchFamily="18" charset="0"/>
                <a:cs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xmlns="" id="{5561D67A-F6F4-CF43-A514-C405614C166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4311" y="322591"/>
              <a:ext cx="539750" cy="539750"/>
            </a:xfrm>
            <a:prstGeom prst="rect">
              <a:avLst/>
            </a:prstGeom>
            <a:effectLst>
              <a:outerShdw blurRad="50800" dist="38100" dir="2700000" algn="tl" rotWithShape="0">
                <a:prstClr val="black">
                  <a:alpha val="40000"/>
                </a:prstClr>
              </a:outerShdw>
            </a:effectLst>
          </p:spPr>
        </p:pic>
      </p:gr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xmlns="" id="{604EDD47-67B5-C643-B0F3-081242E7B3B9}"/>
                  </a:ext>
                </a:extLst>
              </p:cNvPr>
              <p:cNvSpPr/>
              <p:nvPr/>
            </p:nvSpPr>
            <p:spPr>
              <a:xfrm>
                <a:off x="495300" y="4783682"/>
                <a:ext cx="11357610" cy="862608"/>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Exponents are also commonly referred to as powers. For example,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5</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read as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 the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m:rPr>
                            <m:sty m:val="p"/>
                          </m:rPr>
                          <a:rPr lang="es-ES" sz="2400" dirty="0">
                            <a:latin typeface="Cambria Math" panose="02040503050406030204" pitchFamily="18" charset="0"/>
                            <a:cs typeface="Times New Roman" panose="02020603050405020304" pitchFamily="18" charset="0"/>
                          </a:rPr>
                          <m:t>th</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power.”</a:t>
                </a:r>
              </a:p>
            </p:txBody>
          </p:sp>
        </mc:Choice>
        <mc:Fallback xmlns="">
          <p:sp>
            <p:nvSpPr>
              <p:cNvPr id="13" name="Rectangle 12">
                <a:extLst>
                  <a:ext uri="{FF2B5EF4-FFF2-40B4-BE49-F238E27FC236}">
                    <a16:creationId xmlns:a16="http://schemas.microsoft.com/office/drawing/2014/main" id="{604EDD47-67B5-C643-B0F3-081242E7B3B9}"/>
                  </a:ext>
                </a:extLst>
              </p:cNvPr>
              <p:cNvSpPr>
                <a:spLocks noRot="1" noChangeAspect="1" noMove="1" noResize="1" noEditPoints="1" noAdjustHandles="1" noChangeArrowheads="1" noChangeShapeType="1" noTextEdit="1"/>
              </p:cNvSpPr>
              <p:nvPr/>
            </p:nvSpPr>
            <p:spPr>
              <a:xfrm>
                <a:off x="495300" y="4783682"/>
                <a:ext cx="11357610" cy="862608"/>
              </a:xfrm>
              <a:prstGeom prst="rect">
                <a:avLst/>
              </a:prstGeom>
              <a:blipFill>
                <a:blip r:embed="rId6"/>
                <a:stretch>
                  <a:fillRect l="-781" t="-5797" r="-335" b="-14493"/>
                </a:stretch>
              </a:blipFill>
            </p:spPr>
            <p:txBody>
              <a:bodyPr/>
              <a:lstStyle/>
              <a:p>
                <a:r>
                  <a:rPr lang="en-US">
                    <a:noFill/>
                  </a:rPr>
                  <a:t> </a:t>
                </a:r>
              </a:p>
            </p:txBody>
          </p:sp>
        </mc:Fallback>
      </mc:AlternateContent>
    </p:spTree>
    <p:extLst>
      <p:ext uri="{BB962C8B-B14F-4D97-AF65-F5344CB8AC3E}">
        <p14:creationId xmlns:p14="http://schemas.microsoft.com/office/powerpoint/2010/main" val="170272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449580" y="577084"/>
                <a:ext cx="11220450" cy="452431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 using the definitions of base and exponent.</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In the exponential expression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9</m:t>
                        </m:r>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the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of the expression and the 3 is the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exponential expression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9</m:t>
                        </m:r>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has the same value </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as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449580" y="577084"/>
                <a:ext cx="11220450" cy="4524315"/>
              </a:xfrm>
              <a:prstGeom prst="rect">
                <a:avLst/>
              </a:prstGeom>
              <a:blipFill>
                <a:blip r:embed="rId4"/>
                <a:stretch>
                  <a:fillRect l="-905" t="-1120" b="-2241"/>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pic>
        <p:nvPicPr>
          <p:cNvPr id="4" name="Picture 3" descr="A picture containing text&#10;&#10;Description automatically generated">
            <a:extLst>
              <a:ext uri="{FF2B5EF4-FFF2-40B4-BE49-F238E27FC236}">
                <a16:creationId xmlns:a16="http://schemas.microsoft.com/office/drawing/2014/main" xmlns="" id="{C00B2E49-CF57-7342-8DA5-6A5C8200821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1970" y="2196219"/>
            <a:ext cx="1419679" cy="745895"/>
          </a:xfrm>
          <a:prstGeom prst="rect">
            <a:avLst/>
          </a:prstGeom>
        </p:spPr>
      </p:pic>
      <p:pic>
        <p:nvPicPr>
          <p:cNvPr id="14" name="Picture 13" descr="A picture containing text&#10;&#10;Description automatically generated">
            <a:extLst>
              <a:ext uri="{FF2B5EF4-FFF2-40B4-BE49-F238E27FC236}">
                <a16:creationId xmlns:a16="http://schemas.microsoft.com/office/drawing/2014/main" xmlns="" id="{B15EA858-1685-6343-865E-D7AE793849B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038920" y="1364973"/>
            <a:ext cx="1419679" cy="728376"/>
          </a:xfrm>
          <a:prstGeom prst="rect">
            <a:avLst/>
          </a:prstGeom>
        </p:spPr>
      </p:pic>
      <p:pic>
        <p:nvPicPr>
          <p:cNvPr id="16" name="Picture 15" descr="A picture containing shape&#10;&#10;Description automatically generated">
            <a:extLst>
              <a:ext uri="{FF2B5EF4-FFF2-40B4-BE49-F238E27FC236}">
                <a16:creationId xmlns:a16="http://schemas.microsoft.com/office/drawing/2014/main" xmlns="" id="{FC69F53E-2334-FB4F-9CFD-BDC22D11A11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46662" y="4167348"/>
            <a:ext cx="2989943" cy="1138430"/>
          </a:xfrm>
          <a:prstGeom prst="rect">
            <a:avLst/>
          </a:prstGeom>
        </p:spPr>
      </p:pic>
    </p:spTree>
    <p:extLst>
      <p:ext uri="{BB962C8B-B14F-4D97-AF65-F5344CB8AC3E}">
        <p14:creationId xmlns:p14="http://schemas.microsoft.com/office/powerpoint/2010/main" val="922001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495300" y="2552622"/>
                <a:ext cx="8549640" cy="46166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Evaluate </a:t>
                </a:r>
                <a14:m>
                  <m:oMath xmlns:m="http://schemas.openxmlformats.org/officeDocument/2006/math">
                    <m:sSup>
                      <m:sSupPr>
                        <m:ctrlPr>
                          <a:rPr lang="en-US" sz="2400" i="1" dirty="0">
                            <a:latin typeface="Cambria Math"/>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9</m:t>
                        </m:r>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495300" y="2552622"/>
                <a:ext cx="8549640" cy="461665"/>
              </a:xfrm>
              <a:prstGeom prst="rect">
                <a:avLst/>
              </a:prstGeom>
              <a:blipFill>
                <a:blip r:embed="rId4"/>
                <a:stretch>
                  <a:fillRect l="-1037" t="-10811" b="-29730"/>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a:t>
            </a:r>
            <a:endParaRPr i="1" dirty="0">
              <a:latin typeface="Calibri"/>
              <a:ea typeface="Calibri"/>
              <a:cs typeface="Calibri"/>
              <a:sym typeface="Calibri"/>
            </a:endParaRPr>
          </a:p>
        </p:txBody>
      </p:sp>
      <p:sp>
        <p:nvSpPr>
          <p:cNvPr id="9" name="Text Box 40">
            <a:extLst>
              <a:ext uri="{FF2B5EF4-FFF2-40B4-BE49-F238E27FC236}">
                <a16:creationId xmlns:a16="http://schemas.microsoft.com/office/drawing/2014/main" xmlns="" id="{39EAE493-6A47-5B40-B6C8-21AFA10F981F}"/>
              </a:ext>
            </a:extLst>
          </p:cNvPr>
          <p:cNvSpPr txBox="1"/>
          <p:nvPr/>
        </p:nvSpPr>
        <p:spPr>
          <a:xfrm>
            <a:off x="2638005" y="687722"/>
            <a:ext cx="7167450" cy="1075065"/>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lnSpc>
                <a:spcPct val="107000"/>
              </a:lnSpc>
              <a:spcAft>
                <a:spcPts val="800"/>
              </a:spcAft>
            </a:pPr>
            <a:r>
              <a:rPr lang="en-US" sz="18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In mathematics, </a:t>
            </a:r>
            <a:r>
              <a:rPr lang="en-US" sz="1800" b="1"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evaluate</a:t>
            </a:r>
            <a:r>
              <a:rPr lang="en-US" sz="18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 is an instruction that means “find the value of.”</a:t>
            </a:r>
            <a:r>
              <a:rPr lang="es-ES" sz="1100" b="1" dirty="0">
                <a:solidFill>
                  <a:srgbClr val="0075BF"/>
                </a:solidFill>
                <a:ea typeface="Times New Roman" panose="02020603050405020304" pitchFamily="18" charset="0"/>
                <a:cs typeface="Times New Roman" panose="02020603050405020304" pitchFamily="18" charset="0"/>
              </a:rPr>
              <a:t> </a:t>
            </a:r>
            <a:endParaRPr lang="x-none" sz="1100" dirty="0">
              <a:ea typeface="Times New Roman" panose="02020603050405020304" pitchFamily="18" charset="0"/>
              <a:cs typeface="Times New Roman" panose="02020603050405020304" pitchFamily="18" charset="0"/>
            </a:endParaRPr>
          </a:p>
        </p:txBody>
      </p:sp>
      <p:pic>
        <p:nvPicPr>
          <p:cNvPr id="11" name="Picture 10" descr="Icon&#10;&#10;Description automatically generated">
            <a:extLst>
              <a:ext uri="{FF2B5EF4-FFF2-40B4-BE49-F238E27FC236}">
                <a16:creationId xmlns:a16="http://schemas.microsoft.com/office/drawing/2014/main" xmlns="" id="{8D5A4FE0-8D28-AD47-BDE7-66CDB7EA643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49097" y="955380"/>
            <a:ext cx="539750" cy="5397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73437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0082" y="2852928"/>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AEA4B4EA-62E9-1C44-B6F0-74A8572D4D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3916" y="546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7.1.3 Guided Practice: Equivalent Expressions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730266" y="1331161"/>
                <a:ext cx="10894044" cy="433836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each numeric expression in exponential form.</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 ∙  5  ∙  5  ∙  5</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400" i="1" dirty="0">
                            <a:latin typeface="Cambria Math"/>
                            <a:ea typeface="Verdana" panose="020B0604030504040204" pitchFamily="34" charset="0"/>
                            <a:cs typeface="Verdana" panose="020B0604030504040204" pitchFamily="34" charset="0"/>
                          </a:rPr>
                        </m:ctrlPr>
                      </m:dPr>
                      <m:e>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6</m:t>
                            </m:r>
                          </m:num>
                          <m:den>
                            <m:r>
                              <a:rPr lang="es-ES" sz="2400" i="1" dirty="0">
                                <a:latin typeface="Cambria Math" panose="02040503050406030204" pitchFamily="18" charset="0"/>
                                <a:ea typeface="Verdana" panose="020B0604030504040204" pitchFamily="34" charset="0"/>
                                <a:cs typeface="Verdana" panose="020B0604030504040204" pitchFamily="34" charset="0"/>
                              </a:rPr>
                              <m:t>7</m:t>
                            </m:r>
                          </m:den>
                        </m:f>
                      </m:e>
                    </m:d>
                    <m:r>
                      <a:rPr lang="en-US" sz="2400" i="1" dirty="0">
                        <a:latin typeface="Cambria Math" panose="02040503050406030204" pitchFamily="18" charset="0"/>
                        <a:ea typeface="Verdana" panose="020B0604030504040204" pitchFamily="34" charset="0"/>
                        <a:cs typeface="Verdana" panose="020B0604030504040204" pitchFamily="34" charset="0"/>
                      </a:rPr>
                      <m:t> ×</m:t>
                    </m:r>
                    <m:d>
                      <m:dPr>
                        <m:ctrlPr>
                          <a:rPr lang="en-US" sz="2400" i="1" dirty="0">
                            <a:latin typeface="Cambria Math"/>
                            <a:ea typeface="Verdana" panose="020B0604030504040204" pitchFamily="34" charset="0"/>
                            <a:cs typeface="Verdana" panose="020B0604030504040204" pitchFamily="34" charset="0"/>
                          </a:rPr>
                        </m:ctrlPr>
                      </m:dPr>
                      <m:e>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6</m:t>
                            </m:r>
                          </m:num>
                          <m:den>
                            <m:r>
                              <a:rPr lang="es-ES" sz="2400" i="1" dirty="0">
                                <a:latin typeface="Cambria Math" panose="02040503050406030204" pitchFamily="18" charset="0"/>
                                <a:ea typeface="Verdana" panose="020B0604030504040204" pitchFamily="34" charset="0"/>
                                <a:cs typeface="Verdana" panose="020B0604030504040204" pitchFamily="34" charset="0"/>
                              </a:rPr>
                              <m:t>7</m:t>
                            </m:r>
                          </m:den>
                        </m:f>
                      </m:e>
                    </m:d>
                    <m:r>
                      <a:rPr lang="en-US" sz="2400" i="1" dirty="0">
                        <a:latin typeface="Cambria Math" panose="02040503050406030204" pitchFamily="18" charset="0"/>
                        <a:ea typeface="Verdana" panose="020B0604030504040204" pitchFamily="34" charset="0"/>
                        <a:cs typeface="Verdana" panose="020B0604030504040204" pitchFamily="34" charset="0"/>
                      </a:rPr>
                      <m:t> ×</m:t>
                    </m:r>
                    <m:d>
                      <m:dPr>
                        <m:ctrlPr>
                          <a:rPr lang="en-US" sz="2400" i="1" dirty="0">
                            <a:latin typeface="Cambria Math"/>
                            <a:ea typeface="Verdana" panose="020B0604030504040204" pitchFamily="34" charset="0"/>
                            <a:cs typeface="Verdana" panose="020B0604030504040204" pitchFamily="34" charset="0"/>
                          </a:rPr>
                        </m:ctrlPr>
                      </m:dPr>
                      <m:e>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6</m:t>
                            </m:r>
                          </m:num>
                          <m:den>
                            <m:r>
                              <a:rPr lang="es-ES" sz="2400" i="1" dirty="0">
                                <a:latin typeface="Cambria Math" panose="02040503050406030204" pitchFamily="18" charset="0"/>
                                <a:ea typeface="Verdana" panose="020B0604030504040204" pitchFamily="34" charset="0"/>
                                <a:cs typeface="Verdana" panose="020B0604030504040204" pitchFamily="34" charset="0"/>
                              </a:rPr>
                              <m:t>7</m:t>
                            </m:r>
                          </m:den>
                        </m:f>
                      </m:e>
                    </m:d>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(3.25)(3.25)</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730266" y="1331161"/>
                <a:ext cx="10894044" cy="4338367"/>
              </a:xfrm>
              <a:prstGeom prst="rect">
                <a:avLst/>
              </a:prstGeom>
              <a:blipFill>
                <a:blip r:embed="rId4"/>
                <a:stretch>
                  <a:fillRect l="-931" t="-1166" b="-2332"/>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xmlns="" id="{A11C236F-F6F0-6C44-9CE3-50FB461FC6B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592729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483870" y="960375"/>
                <a:ext cx="11300460" cy="461838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Rewrite each expression given in exponential form as repeated multiplication.</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2000" i="1" dirty="0">
                            <a:latin typeface="Cambria Math"/>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7</m:t>
                        </m:r>
                      </m:e>
                      <m:sup>
                        <m:r>
                          <a:rPr lang="es-ES" sz="2000" i="1" dirty="0">
                            <a:latin typeface="Cambria Math" panose="02040503050406030204" pitchFamily="18" charset="0"/>
                            <a:cs typeface="Times New Roman" panose="02020603050405020304" pitchFamily="18" charset="0"/>
                          </a:rPr>
                          <m:t>5</m:t>
                        </m:r>
                      </m:sup>
                    </m:sSup>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cs typeface="Times New Roman" panose="02020603050405020304" pitchFamily="18" charset="0"/>
                  </a:rPr>
                  <a:t> </a:t>
                </a:r>
                <a14:m>
                  <m:oMath xmlns:m="http://schemas.openxmlformats.org/officeDocument/2006/math">
                    <m:sSup>
                      <m:sSupPr>
                        <m:ctrlPr>
                          <a:rPr lang="en-US" sz="2000" i="1" dirty="0">
                            <a:latin typeface="Cambria Math"/>
                            <a:cs typeface="Times New Roman" panose="02020603050405020304" pitchFamily="18" charset="0"/>
                          </a:rPr>
                        </m:ctrlPr>
                      </m:sSupPr>
                      <m:e>
                        <m:d>
                          <m:dPr>
                            <m:ctrlPr>
                              <a:rPr lang="en-US" sz="2000" i="1" dirty="0">
                                <a:latin typeface="Cambria Math"/>
                                <a:cs typeface="Times New Roman" panose="02020603050405020304" pitchFamily="18" charset="0"/>
                              </a:rPr>
                            </m:ctrlPr>
                          </m:dPr>
                          <m:e>
                            <m:r>
                              <a:rPr lang="es-ES" sz="2000" i="1" dirty="0">
                                <a:latin typeface="Cambria Math" panose="02040503050406030204" pitchFamily="18" charset="0"/>
                                <a:cs typeface="Times New Roman" panose="02020603050405020304" pitchFamily="18" charset="0"/>
                              </a:rPr>
                              <m:t>1.5</m:t>
                            </m:r>
                          </m:e>
                        </m:d>
                      </m:e>
                      <m:sup>
                        <m:r>
                          <a:rPr lang="es-ES" sz="2000" i="1" dirty="0">
                            <a:latin typeface="Cambria Math" panose="020405030504060302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2000" i="1" dirty="0">
                            <a:latin typeface="Cambria Math"/>
                            <a:cs typeface="Times New Roman" panose="02020603050405020304" pitchFamily="18" charset="0"/>
                          </a:rPr>
                        </m:ctrlPr>
                      </m:sSupPr>
                      <m:e>
                        <m:d>
                          <m:dPr>
                            <m:ctrlPr>
                              <a:rPr lang="en-US" sz="2000" i="1" dirty="0">
                                <a:latin typeface="Cambria Math"/>
                                <a:cs typeface="Times New Roman" panose="02020603050405020304" pitchFamily="18" charset="0"/>
                              </a:rPr>
                            </m:ctrlPr>
                          </m:dPr>
                          <m:e>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4</m:t>
                                </m:r>
                              </m:den>
                            </m:f>
                          </m:e>
                        </m:d>
                      </m:e>
                      <m:sup>
                        <m:r>
                          <a:rPr lang="es-ES" sz="2000" i="1" dirty="0">
                            <a:latin typeface="Cambria Math" panose="02040503050406030204" pitchFamily="18" charset="0"/>
                            <a:cs typeface="Times New Roman" panose="02020603050405020304" pitchFamily="18" charset="0"/>
                          </a:rPr>
                          <m:t>3</m:t>
                        </m:r>
                      </m:sup>
                    </m:sSup>
                    <m:r>
                      <a:rPr lang="es-ES" sz="2000" i="1" dirty="0">
                        <a:latin typeface="Cambria Math" panose="020405030504060302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483870" y="960375"/>
                <a:ext cx="11300460" cy="4618380"/>
              </a:xfrm>
              <a:prstGeom prst="rect">
                <a:avLst/>
              </a:prstGeom>
              <a:blipFill>
                <a:blip r:embed="rId4"/>
                <a:stretch>
                  <a:fillRect l="-449" t="-822"/>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spTree>
    <p:extLst>
      <p:ext uri="{BB962C8B-B14F-4D97-AF65-F5344CB8AC3E}">
        <p14:creationId xmlns:p14="http://schemas.microsoft.com/office/powerpoint/2010/main" val="3891239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96930" y="2754345"/>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0176" y="60324"/>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2BDA6"/>
                </a:solidFill>
                <a:latin typeface="Verdana"/>
                <a:ea typeface="Verdana"/>
                <a:cs typeface="Verdana"/>
                <a:sym typeface="Verdana"/>
              </a:rPr>
              <a:t>7.1.4 Collaboration: Evaluating Exponential Expressions</a:t>
            </a:r>
          </a:p>
        </p:txBody>
      </p:sp>
      <p:sp>
        <p:nvSpPr>
          <p:cNvPr id="2" name="Rectangle 1">
            <a:extLst>
              <a:ext uri="{FF2B5EF4-FFF2-40B4-BE49-F238E27FC236}">
                <a16:creationId xmlns:a16="http://schemas.microsoft.com/office/drawing/2014/main" xmlns="" id="{A66A031F-2EC8-DF4C-B3F5-E7AC5B8F3239}"/>
              </a:ext>
            </a:extLst>
          </p:cNvPr>
          <p:cNvSpPr/>
          <p:nvPr/>
        </p:nvSpPr>
        <p:spPr>
          <a:xfrm>
            <a:off x="731688" y="1326509"/>
            <a:ext cx="8526780" cy="369332"/>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With your partner, discuss the four expressions in the table.</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70AB881-DD44-164E-971F-E7CC7FA86C97}"/>
                  </a:ext>
                </a:extLst>
              </p:cNvPr>
              <p:cNvGraphicFramePr>
                <a:graphicFrameLocks noGrp="1"/>
              </p:cNvGraphicFramePr>
              <p:nvPr>
                <p:extLst>
                  <p:ext uri="{D42A27DB-BD31-4B8C-83A1-F6EECF244321}">
                    <p14:modId xmlns:p14="http://schemas.microsoft.com/office/powerpoint/2010/main" val="2083999803"/>
                  </p:ext>
                </p:extLst>
              </p:nvPr>
            </p:nvGraphicFramePr>
            <p:xfrm>
              <a:off x="4224655" y="2045617"/>
              <a:ext cx="3742690" cy="1828800"/>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xmlns="" val="587656415"/>
                        </a:ext>
                      </a:extLst>
                    </a:gridCol>
                    <a:gridCol w="1913890">
                      <a:extLst>
                        <a:ext uri="{9D8B030D-6E8A-4147-A177-3AD203B41FA5}">
                          <a16:colId xmlns:a16="http://schemas.microsoft.com/office/drawing/2014/main" xmlns="" val="2268498357"/>
                        </a:ext>
                      </a:extLst>
                    </a:gridCol>
                  </a:tblGrid>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A</a:t>
                          </a:r>
                          <a:endParaRPr lang="x-none"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(2)(2)(2)(2)</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1767562"/>
                      </a:ext>
                    </a:extLst>
                  </a:tr>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B</a:t>
                          </a:r>
                          <a:endParaRPr lang="x-none"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m:t>
                                </m:r>
                                <m:sSup>
                                  <m:sSupPr>
                                    <m:ctrlPr>
                                      <a:rPr lang="x-none" sz="1800" i="1">
                                        <a:effectLst/>
                                        <a:latin typeface="Cambria Math"/>
                                      </a:rPr>
                                    </m:ctrlPr>
                                  </m:sSupPr>
                                  <m:e>
                                    <m:r>
                                      <a:rPr lang="en-US" sz="1800">
                                        <a:effectLst/>
                                        <a:latin typeface="Cambria Math" panose="02040503050406030204" pitchFamily="18" charset="0"/>
                                      </a:rPr>
                                      <m:t>2</m:t>
                                    </m:r>
                                  </m:e>
                                  <m:sup>
                                    <m:r>
                                      <a:rPr lang="en-US" sz="1800">
                                        <a:effectLst/>
                                        <a:latin typeface="Cambria Math" panose="02040503050406030204" pitchFamily="18" charset="0"/>
                                      </a:rPr>
                                      <m:t>4</m:t>
                                    </m:r>
                                  </m:sup>
                                </m:sSup>
                                <m:r>
                                  <a:rPr lang="en-US" sz="1800">
                                    <a:effectLst/>
                                    <a:latin typeface="Cambria Math" panose="02040503050406030204" pitchFamily="18" charset="0"/>
                                  </a:rPr>
                                  <m:t>)</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62519119"/>
                      </a:ext>
                    </a:extLst>
                  </a:tr>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C</a:t>
                          </a:r>
                          <a:endParaRPr lang="x-none"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16</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08262109"/>
                      </a:ext>
                    </a:extLst>
                  </a:tr>
                  <a:tr h="457200">
                    <a:tc>
                      <a:txBody>
                        <a:bodyPr/>
                        <a:lstStyle/>
                        <a:p>
                          <a:pPr marL="0" marR="0">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D</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 × 4</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04073394"/>
                      </a:ext>
                    </a:extLst>
                  </a:tr>
                </a:tbl>
              </a:graphicData>
            </a:graphic>
          </p:graphicFrame>
        </mc:Choice>
        <mc:Fallback xmlns="">
          <p:graphicFrame>
            <p:nvGraphicFramePr>
              <p:cNvPr id="3" name="Table 2">
                <a:extLst>
                  <a:ext uri="{FF2B5EF4-FFF2-40B4-BE49-F238E27FC236}">
                    <a16:creationId xmlns:a16="http://schemas.microsoft.com/office/drawing/2014/main" id="{070AB881-DD44-164E-971F-E7CC7FA86C97}"/>
                  </a:ext>
                </a:extLst>
              </p:cNvPr>
              <p:cNvGraphicFramePr>
                <a:graphicFrameLocks noGrp="1"/>
              </p:cNvGraphicFramePr>
              <p:nvPr>
                <p:extLst>
                  <p:ext uri="{D42A27DB-BD31-4B8C-83A1-F6EECF244321}">
                    <p14:modId xmlns:p14="http://schemas.microsoft.com/office/powerpoint/2010/main" val="2083999803"/>
                  </p:ext>
                </p:extLst>
              </p:nvPr>
            </p:nvGraphicFramePr>
            <p:xfrm>
              <a:off x="4224655" y="2045617"/>
              <a:ext cx="3742690" cy="1828800"/>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587656415"/>
                        </a:ext>
                      </a:extLst>
                    </a:gridCol>
                    <a:gridCol w="1913890">
                      <a:extLst>
                        <a:ext uri="{9D8B030D-6E8A-4147-A177-3AD203B41FA5}">
                          <a16:colId xmlns:a16="http://schemas.microsoft.com/office/drawing/2014/main" val="2268498357"/>
                        </a:ext>
                      </a:extLst>
                    </a:gridCol>
                  </a:tblGrid>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A</a:t>
                          </a:r>
                          <a:endParaRPr lang="en-CO"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689" t="-2778" r="-662" b="-311111"/>
                          </a:stretch>
                        </a:blipFill>
                      </a:tcPr>
                    </a:tc>
                    <a:extLst>
                      <a:ext uri="{0D108BD9-81ED-4DB2-BD59-A6C34878D82A}">
                        <a16:rowId xmlns:a16="http://schemas.microsoft.com/office/drawing/2014/main" val="2691767562"/>
                      </a:ext>
                    </a:extLst>
                  </a:tr>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B</a:t>
                          </a:r>
                          <a:endParaRPr lang="en-CO"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689" t="-100000" r="-662" b="-202703"/>
                          </a:stretch>
                        </a:blipFill>
                      </a:tcPr>
                    </a:tc>
                    <a:extLst>
                      <a:ext uri="{0D108BD9-81ED-4DB2-BD59-A6C34878D82A}">
                        <a16:rowId xmlns:a16="http://schemas.microsoft.com/office/drawing/2014/main" val="3262519119"/>
                      </a:ext>
                    </a:extLst>
                  </a:tr>
                  <a:tr h="457200">
                    <a:tc>
                      <a:txBody>
                        <a:bodyPr/>
                        <a:lstStyle/>
                        <a:p>
                          <a:pPr marL="0" marR="0">
                            <a:lnSpc>
                              <a:spcPct val="107000"/>
                            </a:lnSpc>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Expression C</a:t>
                          </a:r>
                          <a:endParaRPr lang="en-CO" sz="11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689" t="-205556" r="-662" b="-108333"/>
                          </a:stretch>
                        </a:blipFill>
                      </a:tcPr>
                    </a:tc>
                    <a:extLst>
                      <a:ext uri="{0D108BD9-81ED-4DB2-BD59-A6C34878D82A}">
                        <a16:rowId xmlns:a16="http://schemas.microsoft.com/office/drawing/2014/main" val="3808262109"/>
                      </a:ext>
                    </a:extLst>
                  </a:tr>
                  <a:tr h="457200">
                    <a:tc>
                      <a:txBody>
                        <a:bodyPr/>
                        <a:lstStyle/>
                        <a:p>
                          <a:pPr marL="0" marR="0">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D</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689" t="-305556" r="-662" b="-8333"/>
                          </a:stretch>
                        </a:blipFill>
                      </a:tcPr>
                    </a:tc>
                    <a:extLst>
                      <a:ext uri="{0D108BD9-81ED-4DB2-BD59-A6C34878D82A}">
                        <a16:rowId xmlns:a16="http://schemas.microsoft.com/office/drawing/2014/main" val="3004073394"/>
                      </a:ext>
                    </a:extLst>
                  </a:tr>
                </a:tbl>
              </a:graphicData>
            </a:graphic>
          </p:graphicFrame>
        </mc:Fallback>
      </mc:AlternateContent>
      <p:sp>
        <p:nvSpPr>
          <p:cNvPr id="14" name="Rectangle 13">
            <a:extLst>
              <a:ext uri="{FF2B5EF4-FFF2-40B4-BE49-F238E27FC236}">
                <a16:creationId xmlns:a16="http://schemas.microsoft.com/office/drawing/2014/main" xmlns="" id="{171D0238-04AA-AD44-9E65-831FFFF61ED9}"/>
              </a:ext>
            </a:extLst>
          </p:cNvPr>
          <p:cNvSpPr/>
          <p:nvPr/>
        </p:nvSpPr>
        <p:spPr>
          <a:xfrm>
            <a:off x="731688" y="4224193"/>
            <a:ext cx="8526780" cy="369332"/>
          </a:xfrm>
          <a:prstGeom prst="rect">
            <a:avLst/>
          </a:prstGeom>
        </p:spPr>
        <p:txBody>
          <a:bodyPr wrap="square">
            <a:spAutoFit/>
          </a:bodyPr>
          <a:lstStyle/>
          <a:p>
            <a:pPr marL="407988" indent="-39687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Which expression does not represent the same value as the others? </a:t>
            </a:r>
          </a:p>
        </p:txBody>
      </p:sp>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776"/>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369570" y="945655"/>
            <a:ext cx="11609070" cy="3170099"/>
          </a:xfrm>
          <a:prstGeom prst="rect">
            <a:avLst/>
          </a:prstGeom>
        </p:spPr>
        <p:txBody>
          <a:bodyPr wrap="square">
            <a:spAutoFit/>
          </a:bodyPr>
          <a:lstStyle/>
          <a:p>
            <a:pPr marL="457200" indent="-457200">
              <a:buSzPts val="18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your answer or show the work that led to your conclusion.</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what mathematics process should be done if the directions state to </a:t>
            </a:r>
            <a:r>
              <a:rPr lang="en-US" sz="2000" b="1" dirty="0">
                <a:latin typeface="Verdana" panose="020B0604030504040204" pitchFamily="34" charset="0"/>
                <a:ea typeface="Times New Roman" panose="02020603050405020304" pitchFamily="18" charset="0"/>
                <a:cs typeface="Times New Roman" panose="02020603050405020304" pitchFamily="18" charset="0"/>
              </a:rPr>
              <a:t>evaluate</a:t>
            </a:r>
            <a:r>
              <a:rPr lang="en-US" sz="2000" dirty="0">
                <a:latin typeface="Verdana" panose="020B0604030504040204" pitchFamily="34" charset="0"/>
                <a:ea typeface="Times New Roman" panose="02020603050405020304" pitchFamily="18" charset="0"/>
                <a:cs typeface="Times New Roman" panose="02020603050405020304" pitchFamily="18" charset="0"/>
              </a:rPr>
              <a:t> an expression.</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495300" y="385586"/>
                <a:ext cx="8772786" cy="400110"/>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Marta’s work for evaluating the expression </a:t>
                </a:r>
                <a14:m>
                  <m:oMath xmlns:m="http://schemas.openxmlformats.org/officeDocument/2006/math">
                    <m:sSup>
                      <m:sSupPr>
                        <m:ctrlPr>
                          <a:rPr lang="en-US" sz="2000" i="1" dirty="0">
                            <a:latin typeface="Cambria Math"/>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3</m:t>
                        </m:r>
                      </m:e>
                      <m:sup>
                        <m:r>
                          <a:rPr lang="es-ES" sz="2000" i="1" dirty="0">
                            <a:latin typeface="Cambria Math" panose="02040503050406030204" pitchFamily="18" charset="0"/>
                            <a:cs typeface="Times New Roman" panose="02020603050405020304" pitchFamily="18" charset="0"/>
                          </a:rPr>
                          <m:t>2</m:t>
                        </m:r>
                      </m:sup>
                    </m:sSup>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shown:</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495300" y="385586"/>
                <a:ext cx="8772786" cy="400110"/>
              </a:xfrm>
              <a:prstGeom prst="rect">
                <a:avLst/>
              </a:prstGeom>
              <a:blipFill>
                <a:blip r:embed="rId4"/>
                <a:stretch>
                  <a:fillRect l="-434" t="-9375" b="-28125"/>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6" name="Picture 5">
            <a:extLst>
              <a:ext uri="{FF2B5EF4-FFF2-40B4-BE49-F238E27FC236}">
                <a16:creationId xmlns:a16="http://schemas.microsoft.com/office/drawing/2014/main" xmlns="" id="{1E6D615C-628C-8847-BD8B-2140AFC7537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753610" y="1218979"/>
            <a:ext cx="2684780" cy="692150"/>
          </a:xfrm>
          <a:prstGeom prst="rect">
            <a:avLst/>
          </a:prstGeom>
        </p:spPr>
      </p:pic>
      <p:sp>
        <p:nvSpPr>
          <p:cNvPr id="7" name="Rectangle 6">
            <a:extLst>
              <a:ext uri="{FF2B5EF4-FFF2-40B4-BE49-F238E27FC236}">
                <a16:creationId xmlns:a16="http://schemas.microsoft.com/office/drawing/2014/main" xmlns="" id="{776C4F48-29CA-7A40-B19A-4E6C3425AEEF}"/>
              </a:ext>
            </a:extLst>
          </p:cNvPr>
          <p:cNvSpPr/>
          <p:nvPr/>
        </p:nvSpPr>
        <p:spPr>
          <a:xfrm>
            <a:off x="495300" y="2344413"/>
            <a:ext cx="11380470" cy="2554545"/>
          </a:xfrm>
          <a:prstGeom prst="rect">
            <a:avLst/>
          </a:prstGeom>
        </p:spPr>
        <p:txBody>
          <a:bodyPr wrap="square">
            <a:spAutoFit/>
          </a:bodyPr>
          <a:lstStyle/>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Marta’s work with your partner. </a:t>
            </a: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whether her work is correct or incorrect. If it is correct, describe how you know. If it is incorrect, describe her error and provide the correct evaluation of the expression.</a:t>
            </a:r>
          </a:p>
        </p:txBody>
      </p:sp>
    </p:spTree>
    <p:extLst>
      <p:ext uri="{BB962C8B-B14F-4D97-AF65-F5344CB8AC3E}">
        <p14:creationId xmlns:p14="http://schemas.microsoft.com/office/powerpoint/2010/main" val="2676669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552450" y="543056"/>
            <a:ext cx="11334750" cy="707886"/>
          </a:xfrm>
          <a:prstGeom prst="rect">
            <a:avLst/>
          </a:prstGeom>
        </p:spPr>
        <p:txBody>
          <a:bodyPr wrap="square">
            <a:spAutoFit/>
          </a:bodyPr>
          <a:lstStyle/>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if each equation in the table is true or false.  Show your work to support your answer.</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30CFB26-9C24-B246-82A3-68EFFBEE645A}"/>
                  </a:ext>
                </a:extLst>
              </p:cNvPr>
              <p:cNvGraphicFramePr>
                <a:graphicFrameLocks noGrp="1"/>
              </p:cNvGraphicFramePr>
              <p:nvPr>
                <p:extLst>
                  <p:ext uri="{D42A27DB-BD31-4B8C-83A1-F6EECF244321}">
                    <p14:modId xmlns:p14="http://schemas.microsoft.com/office/powerpoint/2010/main" val="1068546474"/>
                  </p:ext>
                </p:extLst>
              </p:nvPr>
            </p:nvGraphicFramePr>
            <p:xfrm>
              <a:off x="3265295" y="1501652"/>
              <a:ext cx="5909060" cy="4731284"/>
            </p:xfrm>
            <a:graphic>
              <a:graphicData uri="http://schemas.openxmlformats.org/drawingml/2006/table">
                <a:tbl>
                  <a:tblPr firstRow="1" firstCol="1" bandRow="1">
                    <a:tableStyleId>{A91F0D33-8C57-4600-99A7-42BC86742BE1}</a:tableStyleId>
                  </a:tblPr>
                  <a:tblGrid>
                    <a:gridCol w="2067839">
                      <a:extLst>
                        <a:ext uri="{9D8B030D-6E8A-4147-A177-3AD203B41FA5}">
                          <a16:colId xmlns:a16="http://schemas.microsoft.com/office/drawing/2014/main" xmlns="" val="1398165146"/>
                        </a:ext>
                      </a:extLst>
                    </a:gridCol>
                    <a:gridCol w="1052946">
                      <a:extLst>
                        <a:ext uri="{9D8B030D-6E8A-4147-A177-3AD203B41FA5}">
                          <a16:colId xmlns:a16="http://schemas.microsoft.com/office/drawing/2014/main" xmlns="" val="1162872403"/>
                        </a:ext>
                      </a:extLst>
                    </a:gridCol>
                    <a:gridCol w="2788275">
                      <a:extLst>
                        <a:ext uri="{9D8B030D-6E8A-4147-A177-3AD203B41FA5}">
                          <a16:colId xmlns:a16="http://schemas.microsoft.com/office/drawing/2014/main" xmlns="" val="3207739063"/>
                        </a:ext>
                      </a:extLst>
                    </a:gridCol>
                  </a:tblGrid>
                  <a:tr h="5005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Equation</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True or False?</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Work</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192456383"/>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800" i="1">
                                        <a:effectLst/>
                                        <a:latin typeface="Cambria Math"/>
                                      </a:rPr>
                                    </m:ctrlPr>
                                  </m:sSupPr>
                                  <m:e>
                                    <m:r>
                                      <a:rPr lang="en-US" sz="1800">
                                        <a:effectLst/>
                                        <a:latin typeface="Cambria Math" panose="02040503050406030204" pitchFamily="18" charset="0"/>
                                      </a:rPr>
                                      <m:t>16</m:t>
                                    </m:r>
                                  </m:e>
                                  <m:sup>
                                    <m:r>
                                      <a:rPr lang="en-US" sz="1800">
                                        <a:effectLst/>
                                        <a:latin typeface="Cambria Math" panose="02040503050406030204" pitchFamily="18" charset="0"/>
                                      </a:rPr>
                                      <m:t>1</m:t>
                                    </m:r>
                                  </m:sup>
                                </m:sSup>
                                <m:r>
                                  <a:rPr lang="en-US" sz="1800">
                                    <a:effectLst/>
                                    <a:latin typeface="Cambria Math" panose="02040503050406030204" pitchFamily="18" charset="0"/>
                                  </a:rPr>
                                  <m:t> =</m:t>
                                </m:r>
                                <m:sSup>
                                  <m:sSupPr>
                                    <m:ctrlPr>
                                      <a:rPr lang="x-none" sz="1800" i="1">
                                        <a:effectLst/>
                                        <a:latin typeface="Cambria Math"/>
                                      </a:rPr>
                                    </m:ctrlPr>
                                  </m:sSupPr>
                                  <m:e>
                                    <m:r>
                                      <a:rPr lang="en-US" sz="1800">
                                        <a:effectLst/>
                                        <a:latin typeface="Cambria Math" panose="02040503050406030204" pitchFamily="18" charset="0"/>
                                      </a:rPr>
                                      <m:t> 8</m:t>
                                    </m:r>
                                  </m:e>
                                  <m:sup>
                                    <m:r>
                                      <a:rPr lang="en-US" sz="1800">
                                        <a:effectLst/>
                                        <a:latin typeface="Cambria Math" panose="02040503050406030204" pitchFamily="18" charset="0"/>
                                      </a:rPr>
                                      <m:t>2</m:t>
                                    </m:r>
                                  </m:sup>
                                </m:sSup>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6680377"/>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3+3+3 =</m:t>
                                </m:r>
                                <m:sSup>
                                  <m:sSupPr>
                                    <m:ctrlPr>
                                      <a:rPr lang="x-none" sz="1800" i="1">
                                        <a:effectLst/>
                                        <a:latin typeface="Cambria Math"/>
                                      </a:rPr>
                                    </m:ctrlPr>
                                  </m:sSupPr>
                                  <m:e>
                                    <m:r>
                                      <a:rPr lang="en-US" sz="1800">
                                        <a:effectLst/>
                                        <a:latin typeface="Cambria Math" panose="02040503050406030204" pitchFamily="18" charset="0"/>
                                      </a:rPr>
                                      <m:t> 3</m:t>
                                    </m:r>
                                  </m:e>
                                  <m:sup>
                                    <m:r>
                                      <a:rPr lang="en-US" sz="1800">
                                        <a:effectLst/>
                                        <a:latin typeface="Cambria Math" panose="02040503050406030204" pitchFamily="18" charset="0"/>
                                      </a:rPr>
                                      <m:t>3</m:t>
                                    </m:r>
                                  </m:sup>
                                </m:sSup>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7000763"/>
                      </a:ext>
                    </a:extLst>
                  </a:tr>
                  <a:tr h="96303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 = 4 ∙</m:t>
                                </m:r>
                                <m:f>
                                  <m:fPr>
                                    <m:ctrlPr>
                                      <a:rPr lang="x-none"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42852595"/>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m:t>
                                </m:r>
                                <m:sSup>
                                  <m:sSupPr>
                                    <m:ctrlPr>
                                      <a:rPr lang="x-none" sz="1800" i="1">
                                        <a:effectLst/>
                                        <a:latin typeface="Cambria Math"/>
                                      </a:rPr>
                                    </m:ctrlPr>
                                  </m:sSupPr>
                                  <m:e>
                                    <m:r>
                                      <a:rPr lang="en-US" sz="1800">
                                        <a:effectLst/>
                                        <a:latin typeface="Cambria Math" panose="02040503050406030204" pitchFamily="18" charset="0"/>
                                      </a:rPr>
                                      <m:t>5)</m:t>
                                    </m:r>
                                  </m:e>
                                  <m:sup>
                                    <m:r>
                                      <a:rPr lang="en-US" sz="1800">
                                        <a:effectLst/>
                                        <a:latin typeface="Cambria Math" panose="02040503050406030204" pitchFamily="18" charset="0"/>
                                      </a:rPr>
                                      <m:t>3</m:t>
                                    </m:r>
                                  </m:sup>
                                </m:sSup>
                                <m:r>
                                  <a:rPr lang="en-US" sz="1800">
                                    <a:effectLst/>
                                    <a:latin typeface="Cambria Math" panose="02040503050406030204" pitchFamily="18" charset="0"/>
                                  </a:rPr>
                                  <m:t> = 5 ∙5∙5</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11028402"/>
                      </a:ext>
                    </a:extLst>
                  </a:tr>
                </a:tbl>
              </a:graphicData>
            </a:graphic>
          </p:graphicFrame>
        </mc:Choice>
        <mc:Fallback xmlns="">
          <p:graphicFrame>
            <p:nvGraphicFramePr>
              <p:cNvPr id="3" name="Table 2">
                <a:extLst>
                  <a:ext uri="{FF2B5EF4-FFF2-40B4-BE49-F238E27FC236}">
                    <a16:creationId xmlns:a16="http://schemas.microsoft.com/office/drawing/2014/main" id="{030CFB26-9C24-B246-82A3-68EFFBEE645A}"/>
                  </a:ext>
                </a:extLst>
              </p:cNvPr>
              <p:cNvGraphicFramePr>
                <a:graphicFrameLocks noGrp="1"/>
              </p:cNvGraphicFramePr>
              <p:nvPr>
                <p:extLst>
                  <p:ext uri="{D42A27DB-BD31-4B8C-83A1-F6EECF244321}">
                    <p14:modId xmlns:p14="http://schemas.microsoft.com/office/powerpoint/2010/main" val="1068546474"/>
                  </p:ext>
                </p:extLst>
              </p:nvPr>
            </p:nvGraphicFramePr>
            <p:xfrm>
              <a:off x="3265295" y="1501652"/>
              <a:ext cx="5909060" cy="4705313"/>
            </p:xfrm>
            <a:graphic>
              <a:graphicData uri="http://schemas.openxmlformats.org/drawingml/2006/table">
                <a:tbl>
                  <a:tblPr firstRow="1" firstCol="1" bandRow="1">
                    <a:tableStyleId>{A91F0D33-8C57-4600-99A7-42BC86742BE1}</a:tableStyleId>
                  </a:tblPr>
                  <a:tblGrid>
                    <a:gridCol w="2067839">
                      <a:extLst>
                        <a:ext uri="{9D8B030D-6E8A-4147-A177-3AD203B41FA5}">
                          <a16:colId xmlns:a16="http://schemas.microsoft.com/office/drawing/2014/main" val="1398165146"/>
                        </a:ext>
                      </a:extLst>
                    </a:gridCol>
                    <a:gridCol w="1052946">
                      <a:extLst>
                        <a:ext uri="{9D8B030D-6E8A-4147-A177-3AD203B41FA5}">
                          <a16:colId xmlns:a16="http://schemas.microsoft.com/office/drawing/2014/main" val="1162872403"/>
                        </a:ext>
                      </a:extLst>
                    </a:gridCol>
                    <a:gridCol w="2788275">
                      <a:extLst>
                        <a:ext uri="{9D8B030D-6E8A-4147-A177-3AD203B41FA5}">
                          <a16:colId xmlns:a16="http://schemas.microsoft.com/office/drawing/2014/main" val="3207739063"/>
                        </a:ext>
                      </a:extLst>
                    </a:gridCol>
                  </a:tblGrid>
                  <a:tr h="8545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Equation</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True or False?</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Work</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192456383"/>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3" t="-97368" r="-186503" b="-302632"/>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680377"/>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3" t="-197368" r="-186503" b="-202632"/>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7000763"/>
                      </a:ext>
                    </a:extLst>
                  </a:tr>
                  <a:tr h="963032">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3" t="-297368" r="-186503" b="-102632"/>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852595"/>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3" t="-397368" r="-186503" b="-2632"/>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028402"/>
                      </a:ext>
                    </a:extLst>
                  </a:tr>
                </a:tbl>
              </a:graphicData>
            </a:graphic>
          </p:graphicFrame>
        </mc:Fallback>
      </mc:AlternateContent>
    </p:spTree>
    <p:extLst>
      <p:ext uri="{BB962C8B-B14F-4D97-AF65-F5344CB8AC3E}">
        <p14:creationId xmlns:p14="http://schemas.microsoft.com/office/powerpoint/2010/main" val="213735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87598" y="2766150"/>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7" name="image2.png">
            <a:extLst>
              <a:ext uri="{FF2B5EF4-FFF2-40B4-BE49-F238E27FC236}">
                <a16:creationId xmlns:a16="http://schemas.microsoft.com/office/drawing/2014/main" xmlns="" id="{952E9ABF-4A5A-6047-B98A-B57B5AF0224E}"/>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532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28438" y="68831"/>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7.1.5 Try It: Evaluating Exponential Expressions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731688" y="1307133"/>
                <a:ext cx="11460312" cy="4442626"/>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Evaluate each expression written in exponential form.</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1800" i="1" dirty="0">
                            <a:latin typeface="Cambria Math"/>
                            <a:ea typeface="Verdana" panose="020B0604030504040204" pitchFamily="34" charset="0"/>
                            <a:cs typeface="Verdana" panose="020B0604030504040204" pitchFamily="34" charset="0"/>
                          </a:rPr>
                        </m:ctrlPr>
                      </m:sSupPr>
                      <m:e>
                        <m:d>
                          <m:dPr>
                            <m:ctrlPr>
                              <a:rPr lang="en-US" sz="1800" i="1" dirty="0">
                                <a:latin typeface="Cambria Math"/>
                                <a:ea typeface="Verdana" panose="020B0604030504040204" pitchFamily="34" charset="0"/>
                                <a:cs typeface="Verdana" panose="020B0604030504040204" pitchFamily="34" charset="0"/>
                              </a:rPr>
                            </m:ctrlPr>
                          </m:dPr>
                          <m:e>
                            <m:f>
                              <m:fPr>
                                <m:ctrlPr>
                                  <a:rPr lang="en-US" sz="1800" i="1" dirty="0">
                                    <a:latin typeface="Cambria Math"/>
                                    <a:ea typeface="Verdana" panose="020B0604030504040204" pitchFamily="34" charset="0"/>
                                    <a:cs typeface="Verdana" panose="020B0604030504040204" pitchFamily="34" charset="0"/>
                                  </a:rPr>
                                </m:ctrlPr>
                              </m:fPr>
                              <m:num>
                                <m:r>
                                  <a:rPr lang="es-ES" sz="1800" i="1" dirty="0">
                                    <a:latin typeface="Cambria Math" panose="02040503050406030204" pitchFamily="18" charset="0"/>
                                    <a:ea typeface="Verdana" panose="020B0604030504040204" pitchFamily="34" charset="0"/>
                                    <a:cs typeface="Verdana" panose="020B0604030504040204" pitchFamily="34" charset="0"/>
                                  </a:rPr>
                                  <m:t>2</m:t>
                                </m:r>
                              </m:num>
                              <m:den>
                                <m:r>
                                  <a:rPr lang="es-ES" sz="1800" i="1" dirty="0">
                                    <a:latin typeface="Cambria Math" panose="02040503050406030204" pitchFamily="18" charset="0"/>
                                    <a:ea typeface="Verdana" panose="020B0604030504040204" pitchFamily="34" charset="0"/>
                                    <a:cs typeface="Verdana" panose="020B0604030504040204" pitchFamily="34" charset="0"/>
                                  </a:rPr>
                                  <m:t>5</m:t>
                                </m:r>
                              </m:den>
                            </m:f>
                          </m:e>
                        </m:d>
                      </m:e>
                      <m:sup>
                        <m:r>
                          <a:rPr lang="es-ES" sz="1800" i="1" dirty="0">
                            <a:latin typeface="Cambria Math" panose="02040503050406030204" pitchFamily="18" charset="0"/>
                            <a:ea typeface="Verdana" panose="020B0604030504040204" pitchFamily="34" charset="0"/>
                            <a:cs typeface="Verdana" panose="020B0604030504040204" pitchFamily="34" charset="0"/>
                          </a:rPr>
                          <m:t>2</m:t>
                        </m:r>
                      </m:sup>
                    </m:sSup>
                  </m:oMath>
                </a14:m>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buFont typeface="+mj-lt"/>
                  <a:buAutoNum type="alphaLcPeriod" startAt="2"/>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1800" i="1" dirty="0">
                            <a:latin typeface="Cambria Math"/>
                            <a:ea typeface="Verdana" panose="020B0604030504040204" pitchFamily="34" charset="0"/>
                            <a:cs typeface="Verdana" panose="020B0604030504040204" pitchFamily="34" charset="0"/>
                          </a:rPr>
                        </m:ctrlPr>
                      </m:sSupPr>
                      <m:e>
                        <m:r>
                          <a:rPr lang="es-ES" sz="1800" i="1" dirty="0">
                            <a:latin typeface="Cambria Math" panose="02040503050406030204" pitchFamily="18" charset="0"/>
                            <a:ea typeface="Verdana" panose="020B0604030504040204" pitchFamily="34" charset="0"/>
                            <a:cs typeface="Verdana" panose="020B0604030504040204" pitchFamily="34" charset="0"/>
                          </a:rPr>
                          <m:t>4</m:t>
                        </m:r>
                      </m:e>
                      <m:sup>
                        <m:r>
                          <a:rPr lang="es-ES" sz="18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buFont typeface="+mj-lt"/>
                  <a:buAutoNum type="alphaLcPeriod" startAt="3"/>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1800" i="1" dirty="0">
                            <a:latin typeface="Cambria Math"/>
                            <a:ea typeface="Verdana" panose="020B0604030504040204" pitchFamily="34" charset="0"/>
                            <a:cs typeface="Verdana" panose="020B0604030504040204" pitchFamily="34" charset="0"/>
                          </a:rPr>
                        </m:ctrlPr>
                      </m:sSupPr>
                      <m:e>
                        <m:d>
                          <m:dPr>
                            <m:ctrlPr>
                              <a:rPr lang="en-US" sz="1800" i="1" dirty="0">
                                <a:latin typeface="Cambria Math"/>
                                <a:ea typeface="Verdana" panose="020B0604030504040204" pitchFamily="34" charset="0"/>
                                <a:cs typeface="Verdana" panose="020B0604030504040204" pitchFamily="34" charset="0"/>
                              </a:rPr>
                            </m:ctrlPr>
                          </m:dPr>
                          <m:e>
                            <m:r>
                              <a:rPr lang="es-ES" sz="1800" i="1" dirty="0">
                                <a:latin typeface="Cambria Math" panose="02040503050406030204" pitchFamily="18" charset="0"/>
                                <a:ea typeface="Verdana" panose="020B0604030504040204" pitchFamily="34" charset="0"/>
                                <a:cs typeface="Verdana" panose="020B0604030504040204" pitchFamily="34" charset="0"/>
                              </a:rPr>
                              <m:t>6.2</m:t>
                            </m:r>
                          </m:e>
                        </m:d>
                      </m:e>
                      <m:sup>
                        <m:r>
                          <a:rPr lang="es-ES" sz="1800" i="1" dirty="0">
                            <a:latin typeface="Cambria Math" panose="02040503050406030204" pitchFamily="18" charset="0"/>
                            <a:ea typeface="Verdana" panose="020B0604030504040204" pitchFamily="34" charset="0"/>
                            <a:cs typeface="Verdana" panose="020B0604030504040204" pitchFamily="34" charset="0"/>
                          </a:rPr>
                          <m:t>3</m:t>
                        </m:r>
                      </m:sup>
                    </m:sSup>
                  </m:oMath>
                </a14:m>
                <a:r>
                  <a:rPr lang="en-US" sz="1800" dirty="0">
                    <a:latin typeface="Verdana" panose="020B0604030504040204" pitchFamily="34" charset="0"/>
                    <a:ea typeface="Verdana" panose="020B0604030504040204" pitchFamily="34" charset="0"/>
                    <a:cs typeface="Verdana" panose="020B0604030504040204" pitchFamily="34" charset="0"/>
                  </a:rPr>
                  <a:t>			</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731688" y="1307133"/>
                <a:ext cx="11460312" cy="4442626"/>
              </a:xfrm>
              <a:prstGeom prst="rect">
                <a:avLst/>
              </a:prstGeom>
              <a:blipFill>
                <a:blip r:embed="rId4"/>
                <a:stretch>
                  <a:fillRect l="-332" t="-570"/>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2" name="image2.png">
            <a:extLst>
              <a:ext uri="{FF2B5EF4-FFF2-40B4-BE49-F238E27FC236}">
                <a16:creationId xmlns:a16="http://schemas.microsoft.com/office/drawing/2014/main" xmlns="" id="{CEE695F5-1A7B-4A4D-A390-9746DB691379}"/>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1079925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2210" y="2766150"/>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2286" y="-8555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7.1.6 Your Turn!</a:t>
            </a:r>
          </a:p>
        </p:txBody>
      </p:sp>
      <p:sp>
        <p:nvSpPr>
          <p:cNvPr id="2" name="Rectangle 1">
            <a:extLst>
              <a:ext uri="{FF2B5EF4-FFF2-40B4-BE49-F238E27FC236}">
                <a16:creationId xmlns:a16="http://schemas.microsoft.com/office/drawing/2014/main" xmlns="" id="{B05AB5A2-AF35-B14C-AE54-D2A0628C823C}"/>
              </a:ext>
            </a:extLst>
          </p:cNvPr>
          <p:cNvSpPr/>
          <p:nvPr/>
        </p:nvSpPr>
        <p:spPr>
          <a:xfrm>
            <a:off x="732743" y="1215268"/>
            <a:ext cx="10925857"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For each set of expressions, circle the equivalent expressions.</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xmlns="" id="{00D9959C-BC81-7642-9A75-F49D35524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pic>
        <p:nvPicPr>
          <p:cNvPr id="6" name="Picture 5" descr="Chart, scatter chart&#10;&#10;Description automatically generated">
            <a:extLst>
              <a:ext uri="{FF2B5EF4-FFF2-40B4-BE49-F238E27FC236}">
                <a16:creationId xmlns:a16="http://schemas.microsoft.com/office/drawing/2014/main" xmlns="" id="{94300559-A90A-1346-B8FD-2EF95112505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33367" y="2267937"/>
            <a:ext cx="6725265" cy="2889628"/>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4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8A71DEF1-087D-214F-86DF-C80090F990CE}"/>
              </a:ext>
            </a:extLst>
          </p:cNvPr>
          <p:cNvSpPr/>
          <p:nvPr/>
        </p:nvSpPr>
        <p:spPr>
          <a:xfrm>
            <a:off x="377749" y="591076"/>
            <a:ext cx="11429441"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by rewriting the numeric expression in the form indicated. Then, find the value of each expression.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D52EE04F-FC9F-2143-8D61-F4427DB93ED7}"/>
                  </a:ext>
                </a:extLst>
              </p:cNvPr>
              <p:cNvGraphicFramePr>
                <a:graphicFrameLocks noGrp="1"/>
              </p:cNvGraphicFramePr>
              <p:nvPr>
                <p:extLst>
                  <p:ext uri="{D42A27DB-BD31-4B8C-83A1-F6EECF244321}">
                    <p14:modId xmlns:p14="http://schemas.microsoft.com/office/powerpoint/2010/main" val="1757153600"/>
                  </p:ext>
                </p:extLst>
              </p:nvPr>
            </p:nvGraphicFramePr>
            <p:xfrm>
              <a:off x="2316940" y="1976744"/>
              <a:ext cx="7551058" cy="3733804"/>
            </p:xfrm>
            <a:graphic>
              <a:graphicData uri="http://schemas.openxmlformats.org/drawingml/2006/table">
                <a:tbl>
                  <a:tblPr firstRow="1" firstCol="1" bandRow="1">
                    <a:tableStyleId>{A91F0D33-8C57-4600-99A7-42BC86742BE1}</a:tableStyleId>
                  </a:tblPr>
                  <a:tblGrid>
                    <a:gridCol w="2509264">
                      <a:extLst>
                        <a:ext uri="{9D8B030D-6E8A-4147-A177-3AD203B41FA5}">
                          <a16:colId xmlns:a16="http://schemas.microsoft.com/office/drawing/2014/main" xmlns="" val="969906835"/>
                        </a:ext>
                      </a:extLst>
                    </a:gridCol>
                    <a:gridCol w="2569898">
                      <a:extLst>
                        <a:ext uri="{9D8B030D-6E8A-4147-A177-3AD203B41FA5}">
                          <a16:colId xmlns:a16="http://schemas.microsoft.com/office/drawing/2014/main" xmlns="" val="736832741"/>
                        </a:ext>
                      </a:extLst>
                    </a:gridCol>
                    <a:gridCol w="2471896">
                      <a:extLst>
                        <a:ext uri="{9D8B030D-6E8A-4147-A177-3AD203B41FA5}">
                          <a16:colId xmlns:a16="http://schemas.microsoft.com/office/drawing/2014/main" xmlns="" val="2310100247"/>
                        </a:ext>
                      </a:extLst>
                    </a:gridCol>
                  </a:tblGrid>
                  <a:tr h="50763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Form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Expanded Form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718070138"/>
                      </a:ext>
                    </a:extLst>
                  </a:tr>
                  <a:tr h="761451">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(11)(11)(11)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64881591"/>
                      </a:ext>
                    </a:extLst>
                  </a:tr>
                  <a:tr h="76145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d>
                                      <m:dPr>
                                        <m:ctrlPr>
                                          <a:rPr lang="x-none" sz="2000" i="1">
                                            <a:effectLst/>
                                            <a:latin typeface="Cambria Math"/>
                                          </a:rPr>
                                        </m:ctrlPr>
                                      </m:dPr>
                                      <m:e>
                                        <m:f>
                                          <m:fPr>
                                            <m:ctrlPr>
                                              <a:rPr lang="x-none" sz="2000" i="1">
                                                <a:effectLst/>
                                                <a:latin typeface="Cambria Math"/>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15</m:t>
                                            </m:r>
                                          </m:den>
                                        </m:f>
                                      </m:e>
                                    </m:d>
                                  </m:e>
                                  <m:sup>
                                    <m:r>
                                      <a:rPr lang="en-US" sz="2000">
                                        <a:effectLst/>
                                        <a:latin typeface="Cambria Math" panose="02040503050406030204" pitchFamily="18" charset="0"/>
                                      </a:rPr>
                                      <m:t>3</m:t>
                                    </m:r>
                                  </m:sup>
                                </m:sSup>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27814643"/>
                      </a:ext>
                    </a:extLst>
                  </a:tr>
                  <a:tr h="761451">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d>
                                      <m:dPr>
                                        <m:ctrlPr>
                                          <a:rPr lang="x-none" sz="2000" i="1">
                                            <a:effectLst/>
                                            <a:latin typeface="Cambria Math"/>
                                          </a:rPr>
                                        </m:ctrlPr>
                                      </m:dPr>
                                      <m:e>
                                        <m:r>
                                          <a:rPr lang="en-US" sz="2000">
                                            <a:effectLst/>
                                            <a:latin typeface="Cambria Math" panose="02040503050406030204" pitchFamily="18" charset="0"/>
                                          </a:rPr>
                                          <m:t>5.2</m:t>
                                        </m:r>
                                      </m:e>
                                    </m:d>
                                  </m:e>
                                  <m:sup>
                                    <m:r>
                                      <a:rPr lang="en-US" sz="2000">
                                        <a:effectLst/>
                                        <a:latin typeface="Cambria Math" panose="02040503050406030204" pitchFamily="18" charset="0"/>
                                      </a:rPr>
                                      <m:t>2</m:t>
                                    </m:r>
                                  </m:sup>
                                </m:sSup>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31317049"/>
                      </a:ext>
                    </a:extLst>
                  </a:tr>
                  <a:tr h="761451">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18268808"/>
                      </a:ext>
                    </a:extLst>
                  </a:tr>
                </a:tbl>
              </a:graphicData>
            </a:graphic>
          </p:graphicFrame>
        </mc:Choice>
        <mc:Fallback xmlns="">
          <p:graphicFrame>
            <p:nvGraphicFramePr>
              <p:cNvPr id="2" name="Table 1">
                <a:extLst>
                  <a:ext uri="{FF2B5EF4-FFF2-40B4-BE49-F238E27FC236}">
                    <a16:creationId xmlns:a16="http://schemas.microsoft.com/office/drawing/2014/main" id="{D52EE04F-FC9F-2143-8D61-F4427DB93ED7}"/>
                  </a:ext>
                </a:extLst>
              </p:cNvPr>
              <p:cNvGraphicFramePr>
                <a:graphicFrameLocks noGrp="1"/>
              </p:cNvGraphicFramePr>
              <p:nvPr>
                <p:extLst>
                  <p:ext uri="{D42A27DB-BD31-4B8C-83A1-F6EECF244321}">
                    <p14:modId xmlns:p14="http://schemas.microsoft.com/office/powerpoint/2010/main" val="1757153600"/>
                  </p:ext>
                </p:extLst>
              </p:nvPr>
            </p:nvGraphicFramePr>
            <p:xfrm>
              <a:off x="2316940" y="1976744"/>
              <a:ext cx="7551058" cy="3669184"/>
            </p:xfrm>
            <a:graphic>
              <a:graphicData uri="http://schemas.openxmlformats.org/drawingml/2006/table">
                <a:tbl>
                  <a:tblPr firstRow="1" firstCol="1" bandRow="1">
                    <a:tableStyleId>{A91F0D33-8C57-4600-99A7-42BC86742BE1}</a:tableStyleId>
                  </a:tblPr>
                  <a:tblGrid>
                    <a:gridCol w="2509264">
                      <a:extLst>
                        <a:ext uri="{9D8B030D-6E8A-4147-A177-3AD203B41FA5}">
                          <a16:colId xmlns:a16="http://schemas.microsoft.com/office/drawing/2014/main" val="969906835"/>
                        </a:ext>
                      </a:extLst>
                    </a:gridCol>
                    <a:gridCol w="2569898">
                      <a:extLst>
                        <a:ext uri="{9D8B030D-6E8A-4147-A177-3AD203B41FA5}">
                          <a16:colId xmlns:a16="http://schemas.microsoft.com/office/drawing/2014/main" val="736832741"/>
                        </a:ext>
                      </a:extLst>
                    </a:gridCol>
                    <a:gridCol w="2471896">
                      <a:extLst>
                        <a:ext uri="{9D8B030D-6E8A-4147-A177-3AD203B41FA5}">
                          <a16:colId xmlns:a16="http://schemas.microsoft.com/office/drawing/2014/main" val="2310100247"/>
                        </a:ext>
                      </a:extLst>
                    </a:gridCol>
                  </a:tblGrid>
                  <a:tr h="62338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Form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Expanded Form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718070138"/>
                      </a:ext>
                    </a:extLst>
                  </a:tr>
                  <a:tr h="761451">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8030" t="-93333" r="-96552" b="-303333"/>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4881591"/>
                      </a:ext>
                    </a:extLst>
                  </a:tr>
                  <a:tr h="761451">
                    <a:tc>
                      <a:txBody>
                        <a:bodyPr/>
                        <a:lstStyle/>
                        <a:p>
                          <a:endParaRPr lang="en-US"/>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5" t="-190164" r="-201515" b="-198361"/>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7814643"/>
                      </a:ext>
                    </a:extLst>
                  </a:tr>
                  <a:tr h="761451">
                    <a:tc>
                      <a:txBody>
                        <a:bodyPr/>
                        <a:lstStyle/>
                        <a:p>
                          <a:endParaRPr lang="en-US"/>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5" t="-295000" r="-201515" b="-101667"/>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317049"/>
                      </a:ext>
                    </a:extLst>
                  </a:tr>
                  <a:tr h="761451">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8030" t="-395000" r="-96552" b="-1667"/>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76145" marR="761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268808"/>
                      </a:ext>
                    </a:extLst>
                  </a:tr>
                </a:tbl>
              </a:graphicData>
            </a:graphic>
          </p:graphicFrame>
        </mc:Fallback>
      </mc:AlternateContent>
    </p:spTree>
    <p:extLst>
      <p:ext uri="{BB962C8B-B14F-4D97-AF65-F5344CB8AC3E}">
        <p14:creationId xmlns:p14="http://schemas.microsoft.com/office/powerpoint/2010/main" val="155251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28438"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7.1.7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725128" y="1140258"/>
            <a:ext cx="11093492" cy="163121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Jose and Georgette were asked to each roll a number cube five times and record the number from each roll onto a chart. The number that Jose rolls represents the base of an exponential expression, and Georgette’s roll represents the exponent of the expression. The table below shows the results of rolling the number cubes five times.</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60BB22FA-81FC-D844-AB4E-4EA0172230AA}"/>
                  </a:ext>
                </a:extLst>
              </p:cNvPr>
              <p:cNvGraphicFramePr>
                <a:graphicFrameLocks noGrp="1"/>
              </p:cNvGraphicFramePr>
              <p:nvPr>
                <p:extLst>
                  <p:ext uri="{D42A27DB-BD31-4B8C-83A1-F6EECF244321}">
                    <p14:modId xmlns:p14="http://schemas.microsoft.com/office/powerpoint/2010/main" val="365890640"/>
                  </p:ext>
                </p:extLst>
              </p:nvPr>
            </p:nvGraphicFramePr>
            <p:xfrm>
              <a:off x="2016619" y="3293173"/>
              <a:ext cx="8158761" cy="2385728"/>
            </p:xfrm>
            <a:graphic>
              <a:graphicData uri="http://schemas.openxmlformats.org/drawingml/2006/table">
                <a:tbl>
                  <a:tblPr firstRow="1" firstCol="1" bandRow="1">
                    <a:tableStyleId>{A91F0D33-8C57-4600-99A7-42BC86742BE1}</a:tableStyleId>
                  </a:tblPr>
                  <a:tblGrid>
                    <a:gridCol w="1297209">
                      <a:extLst>
                        <a:ext uri="{9D8B030D-6E8A-4147-A177-3AD203B41FA5}">
                          <a16:colId xmlns:a16="http://schemas.microsoft.com/office/drawing/2014/main" xmlns="" val="3706917516"/>
                        </a:ext>
                      </a:extLst>
                    </a:gridCol>
                    <a:gridCol w="2468490">
                      <a:extLst>
                        <a:ext uri="{9D8B030D-6E8A-4147-A177-3AD203B41FA5}">
                          <a16:colId xmlns:a16="http://schemas.microsoft.com/office/drawing/2014/main" xmlns="" val="270141586"/>
                        </a:ext>
                      </a:extLst>
                    </a:gridCol>
                    <a:gridCol w="2272012">
                      <a:extLst>
                        <a:ext uri="{9D8B030D-6E8A-4147-A177-3AD203B41FA5}">
                          <a16:colId xmlns:a16="http://schemas.microsoft.com/office/drawing/2014/main" xmlns="" val="1381606002"/>
                        </a:ext>
                      </a:extLst>
                    </a:gridCol>
                    <a:gridCol w="2121050">
                      <a:extLst>
                        <a:ext uri="{9D8B030D-6E8A-4147-A177-3AD203B41FA5}">
                          <a16:colId xmlns:a16="http://schemas.microsoft.com/office/drawing/2014/main" xmlns="" val="1378456646"/>
                        </a:ext>
                      </a:extLst>
                    </a:gridCol>
                  </a:tblGrid>
                  <a:tr h="788946">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Roll</a:t>
                          </a:r>
                          <a:endParaRPr lang="x-none"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Jose’s Number Cube</a:t>
                          </a:r>
                          <a:endParaRPr lang="x-none"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Georgette’s Number Cube</a:t>
                          </a:r>
                          <a:endParaRPr lang="x-none"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727762775"/>
                      </a:ext>
                    </a:extLst>
                  </a:tr>
                  <a:tr h="31876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1</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5</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3</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900" i="1">
                                        <a:effectLst/>
                                        <a:latin typeface="Cambria Math"/>
                                      </a:rPr>
                                    </m:ctrlPr>
                                  </m:sSupPr>
                                  <m:e>
                                    <m:r>
                                      <a:rPr lang="en-US" sz="1900">
                                        <a:effectLst/>
                                        <a:latin typeface="Cambria Math" panose="02040503050406030204" pitchFamily="18" charset="0"/>
                                      </a:rPr>
                                      <m:t>5</m:t>
                                    </m:r>
                                  </m:e>
                                  <m:sup>
                                    <m:r>
                                      <a:rPr lang="en-US" sz="1900">
                                        <a:effectLst/>
                                        <a:latin typeface="Cambria Math" panose="02040503050406030204" pitchFamily="18" charset="0"/>
                                      </a:rPr>
                                      <m:t>3</m:t>
                                    </m:r>
                                  </m:sup>
                                </m:sSup>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71298579"/>
                      </a:ext>
                    </a:extLst>
                  </a:tr>
                  <a:tr h="31793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2</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5</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4</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900" i="1">
                                        <a:effectLst/>
                                        <a:latin typeface="Cambria Math"/>
                                      </a:rPr>
                                    </m:ctrlPr>
                                  </m:sSupPr>
                                  <m:e>
                                    <m:r>
                                      <a:rPr lang="en-US" sz="1900">
                                        <a:effectLst/>
                                        <a:latin typeface="Cambria Math" panose="02040503050406030204" pitchFamily="18" charset="0"/>
                                      </a:rPr>
                                      <m:t>5</m:t>
                                    </m:r>
                                  </m:e>
                                  <m:sup>
                                    <m:r>
                                      <a:rPr lang="en-US" sz="1900">
                                        <a:effectLst/>
                                        <a:latin typeface="Cambria Math" panose="02040503050406030204" pitchFamily="18" charset="0"/>
                                      </a:rPr>
                                      <m:t>4</m:t>
                                    </m:r>
                                  </m:sup>
                                </m:sSup>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7397719"/>
                      </a:ext>
                    </a:extLst>
                  </a:tr>
                  <a:tr h="31876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3</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6</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2</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900" i="1">
                                        <a:effectLst/>
                                        <a:latin typeface="Cambria Math"/>
                                      </a:rPr>
                                    </m:ctrlPr>
                                  </m:sSupPr>
                                  <m:e>
                                    <m:r>
                                      <a:rPr lang="en-US" sz="1900">
                                        <a:effectLst/>
                                        <a:latin typeface="Cambria Math" panose="02040503050406030204" pitchFamily="18" charset="0"/>
                                      </a:rPr>
                                      <m:t>6</m:t>
                                    </m:r>
                                  </m:e>
                                  <m:sup>
                                    <m:r>
                                      <a:rPr lang="en-US" sz="1900">
                                        <a:effectLst/>
                                        <a:latin typeface="Cambria Math" panose="02040503050406030204" pitchFamily="18" charset="0"/>
                                      </a:rPr>
                                      <m:t>2</m:t>
                                    </m:r>
                                  </m:sup>
                                </m:sSup>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67835170"/>
                      </a:ext>
                    </a:extLst>
                  </a:tr>
                  <a:tr h="32339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4</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4</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5</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900" i="1">
                                        <a:effectLst/>
                                        <a:latin typeface="Cambria Math"/>
                                      </a:rPr>
                                    </m:ctrlPr>
                                  </m:sSupPr>
                                  <m:e>
                                    <m:r>
                                      <a:rPr lang="en-US" sz="1900">
                                        <a:effectLst/>
                                        <a:latin typeface="Cambria Math" panose="02040503050406030204" pitchFamily="18" charset="0"/>
                                      </a:rPr>
                                      <m:t>4</m:t>
                                    </m:r>
                                  </m:e>
                                  <m:sup>
                                    <m:r>
                                      <a:rPr lang="en-US" sz="1900">
                                        <a:effectLst/>
                                        <a:latin typeface="Cambria Math" panose="02040503050406030204" pitchFamily="18" charset="0"/>
                                      </a:rPr>
                                      <m:t>5</m:t>
                                    </m:r>
                                  </m:sup>
                                </m:sSup>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89695270"/>
                      </a:ext>
                    </a:extLst>
                  </a:tr>
                  <a:tr h="31793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5</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1</m:t>
                                </m:r>
                              </m:oMath>
                            </m:oMathPara>
                          </a14:m>
                          <a:endParaRPr lang="x-none" sz="1300"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900">
                                    <a:effectLst/>
                                    <a:latin typeface="Cambria Math" panose="02040503050406030204" pitchFamily="18" charset="0"/>
                                  </a:rPr>
                                  <m:t>4</m:t>
                                </m:r>
                              </m:oMath>
                            </m:oMathPara>
                          </a14:m>
                          <a:endParaRPr lang="x-none" sz="130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1900" i="1">
                                        <a:effectLst/>
                                        <a:latin typeface="Cambria Math"/>
                                      </a:rPr>
                                    </m:ctrlPr>
                                  </m:sSupPr>
                                  <m:e>
                                    <m:r>
                                      <a:rPr lang="en-US" sz="1900">
                                        <a:effectLst/>
                                        <a:latin typeface="Cambria Math" panose="02040503050406030204" pitchFamily="18" charset="0"/>
                                      </a:rPr>
                                      <m:t>1</m:t>
                                    </m:r>
                                  </m:e>
                                  <m:sup>
                                    <m:r>
                                      <a:rPr lang="en-US" sz="1900">
                                        <a:effectLst/>
                                        <a:latin typeface="Cambria Math" panose="02040503050406030204" pitchFamily="18" charset="0"/>
                                      </a:rPr>
                                      <m:t>4</m:t>
                                    </m:r>
                                  </m:sup>
                                </m:sSup>
                              </m:oMath>
                            </m:oMathPara>
                          </a14:m>
                          <a:endParaRPr lang="x-none" sz="1300"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28153959"/>
                      </a:ext>
                    </a:extLst>
                  </a:tr>
                </a:tbl>
              </a:graphicData>
            </a:graphic>
          </p:graphicFrame>
        </mc:Choice>
        <mc:Fallback xmlns="">
          <p:graphicFrame>
            <p:nvGraphicFramePr>
              <p:cNvPr id="3" name="Table 2">
                <a:extLst>
                  <a:ext uri="{FF2B5EF4-FFF2-40B4-BE49-F238E27FC236}">
                    <a16:creationId xmlns:a16="http://schemas.microsoft.com/office/drawing/2014/main" id="{60BB22FA-81FC-D844-AB4E-4EA0172230AA}"/>
                  </a:ext>
                </a:extLst>
              </p:cNvPr>
              <p:cNvGraphicFramePr>
                <a:graphicFrameLocks noGrp="1"/>
              </p:cNvGraphicFramePr>
              <p:nvPr>
                <p:extLst>
                  <p:ext uri="{D42A27DB-BD31-4B8C-83A1-F6EECF244321}">
                    <p14:modId xmlns:p14="http://schemas.microsoft.com/office/powerpoint/2010/main" val="365890640"/>
                  </p:ext>
                </p:extLst>
              </p:nvPr>
            </p:nvGraphicFramePr>
            <p:xfrm>
              <a:off x="2016619" y="3293173"/>
              <a:ext cx="8158761" cy="2385728"/>
            </p:xfrm>
            <a:graphic>
              <a:graphicData uri="http://schemas.openxmlformats.org/drawingml/2006/table">
                <a:tbl>
                  <a:tblPr firstRow="1" firstCol="1" bandRow="1">
                    <a:tableStyleId>{A91F0D33-8C57-4600-99A7-42BC86742BE1}</a:tableStyleId>
                  </a:tblPr>
                  <a:tblGrid>
                    <a:gridCol w="1297209">
                      <a:extLst>
                        <a:ext uri="{9D8B030D-6E8A-4147-A177-3AD203B41FA5}">
                          <a16:colId xmlns:a16="http://schemas.microsoft.com/office/drawing/2014/main" val="3706917516"/>
                        </a:ext>
                      </a:extLst>
                    </a:gridCol>
                    <a:gridCol w="2468490">
                      <a:extLst>
                        <a:ext uri="{9D8B030D-6E8A-4147-A177-3AD203B41FA5}">
                          <a16:colId xmlns:a16="http://schemas.microsoft.com/office/drawing/2014/main" val="270141586"/>
                        </a:ext>
                      </a:extLst>
                    </a:gridCol>
                    <a:gridCol w="2272012">
                      <a:extLst>
                        <a:ext uri="{9D8B030D-6E8A-4147-A177-3AD203B41FA5}">
                          <a16:colId xmlns:a16="http://schemas.microsoft.com/office/drawing/2014/main" val="1381606002"/>
                        </a:ext>
                      </a:extLst>
                    </a:gridCol>
                    <a:gridCol w="2121050">
                      <a:extLst>
                        <a:ext uri="{9D8B030D-6E8A-4147-A177-3AD203B41FA5}">
                          <a16:colId xmlns:a16="http://schemas.microsoft.com/office/drawing/2014/main" val="1378456646"/>
                        </a:ext>
                      </a:extLst>
                    </a:gridCol>
                  </a:tblGrid>
                  <a:tr h="788946">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Roll</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Jose’s Number Cube</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Georgette’s Number Cube</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9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en-CO" sz="1300" b="1" dirty="0">
                            <a:effectLst/>
                            <a:latin typeface="Verdana" panose="020B0604030504040204" pitchFamily="34" charset="0"/>
                            <a:ea typeface="Verdana" panose="020B0604030504040204" pitchFamily="34" charset="0"/>
                            <a:cs typeface="Verdana" panose="020B0604030504040204" pitchFamily="34" charset="0"/>
                          </a:endParaRPr>
                        </a:p>
                      </a:txBody>
                      <a:tcPr marL="81929" marR="819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727762775"/>
                      </a:ext>
                    </a:extLst>
                  </a:tr>
                  <a:tr h="318764">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0" t="-256000" r="-532353" b="-4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821" t="-256000" r="-178462" b="-4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5556" t="-256000" r="-93333" b="-4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6228" t="-256000" r="-599" b="-408000"/>
                          </a:stretch>
                        </a:blipFill>
                      </a:tcPr>
                    </a:tc>
                    <a:extLst>
                      <a:ext uri="{0D108BD9-81ED-4DB2-BD59-A6C34878D82A}">
                        <a16:rowId xmlns:a16="http://schemas.microsoft.com/office/drawing/2014/main" val="1771298579"/>
                      </a:ext>
                    </a:extLst>
                  </a:tr>
                  <a:tr h="317931">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0" t="-356000" r="-532353" b="-3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821" t="-356000" r="-178462" b="-3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5556" t="-356000" r="-93333" b="-3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6228" t="-356000" r="-599" b="-308000"/>
                          </a:stretch>
                        </a:blipFill>
                      </a:tcPr>
                    </a:tc>
                    <a:extLst>
                      <a:ext uri="{0D108BD9-81ED-4DB2-BD59-A6C34878D82A}">
                        <a16:rowId xmlns:a16="http://schemas.microsoft.com/office/drawing/2014/main" val="67397719"/>
                      </a:ext>
                    </a:extLst>
                  </a:tr>
                  <a:tr h="318764">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0" t="-456000" r="-532353" b="-2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821" t="-456000" r="-178462" b="-2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5556" t="-456000" r="-93333" b="-208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6228" t="-456000" r="-599" b="-208000"/>
                          </a:stretch>
                        </a:blipFill>
                      </a:tcPr>
                    </a:tc>
                    <a:extLst>
                      <a:ext uri="{0D108BD9-81ED-4DB2-BD59-A6C34878D82A}">
                        <a16:rowId xmlns:a16="http://schemas.microsoft.com/office/drawing/2014/main" val="3267835170"/>
                      </a:ext>
                    </a:extLst>
                  </a:tr>
                  <a:tr h="323392">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0" t="-534615" r="-532353" b="-100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821" t="-534615" r="-178462" b="-100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5556" t="-534615" r="-93333" b="-100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6228" t="-534615" r="-599" b="-100000"/>
                          </a:stretch>
                        </a:blipFill>
                      </a:tcPr>
                    </a:tc>
                    <a:extLst>
                      <a:ext uri="{0D108BD9-81ED-4DB2-BD59-A6C34878D82A}">
                        <a16:rowId xmlns:a16="http://schemas.microsoft.com/office/drawing/2014/main" val="2289695270"/>
                      </a:ext>
                    </a:extLst>
                  </a:tr>
                  <a:tr h="317931">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0" t="-660000" r="-532353" b="-4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821" t="-660000" r="-178462" b="-4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5556" t="-660000" r="-93333" b="-4000"/>
                          </a:stretch>
                        </a:blipFill>
                      </a:tcPr>
                    </a:tc>
                    <a:tc>
                      <a:txBody>
                        <a:bodyPr/>
                        <a:lstStyle/>
                        <a:p>
                          <a:endParaRPr lang="en-US"/>
                        </a:p>
                      </a:txBody>
                      <a:tcPr marL="81929" marR="819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6228" t="-660000" r="-599" b="-4000"/>
                          </a:stretch>
                        </a:blipFill>
                      </a:tcPr>
                    </a:tc>
                    <a:extLst>
                      <a:ext uri="{0D108BD9-81ED-4DB2-BD59-A6C34878D82A}">
                        <a16:rowId xmlns:a16="http://schemas.microsoft.com/office/drawing/2014/main" val="4028153959"/>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50A85065-1747-6C4E-8BA4-9C1ED8A185A6}"/>
                  </a:ext>
                </a:extLst>
              </p:cNvPr>
              <p:cNvSpPr/>
              <p:nvPr/>
            </p:nvSpPr>
            <p:spPr>
              <a:xfrm>
                <a:off x="689280" y="3045035"/>
                <a:ext cx="11255069" cy="194251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if either Jose or Georgette were right. If neither are correct, then which exponential expression has the largest value?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if it is possible that Jose’s conjecture or Georgette’s conjecture is always true using the exponential expressions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2</m:t>
                        </m:r>
                      </m:e>
                      <m:sup>
                        <m:r>
                          <a:rPr lang="es-ES" sz="20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5</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Explain your findings.</a:t>
                </a: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689280" y="3045035"/>
                <a:ext cx="11255069" cy="1942519"/>
              </a:xfrm>
              <a:prstGeom prst="rect">
                <a:avLst/>
              </a:prstGeom>
              <a:blipFill>
                <a:blip r:embed="rId4"/>
                <a:stretch>
                  <a:fillRect l="-564" t="-1961" r="-902" b="-4575"/>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5329CE21-C980-ED40-9569-0E6453643281}"/>
              </a:ext>
            </a:extLst>
          </p:cNvPr>
          <p:cNvGraphicFramePr>
            <a:graphicFrameLocks noGrp="1"/>
          </p:cNvGraphicFramePr>
          <p:nvPr>
            <p:extLst>
              <p:ext uri="{D42A27DB-BD31-4B8C-83A1-F6EECF244321}">
                <p14:modId xmlns:p14="http://schemas.microsoft.com/office/powerpoint/2010/main" val="2630116916"/>
              </p:ext>
            </p:extLst>
          </p:nvPr>
        </p:nvGraphicFramePr>
        <p:xfrm>
          <a:off x="2421035" y="560660"/>
          <a:ext cx="7791557" cy="2028508"/>
        </p:xfrm>
        <a:graphic>
          <a:graphicData uri="http://schemas.openxmlformats.org/drawingml/2006/table">
            <a:tbl>
              <a:tblPr firstRow="1" firstCol="1" bandRow="1">
                <a:tableStyleId>{A91F0D33-8C57-4600-99A7-42BC86742BE1}</a:tableStyleId>
              </a:tblPr>
              <a:tblGrid>
                <a:gridCol w="3915422">
                  <a:extLst>
                    <a:ext uri="{9D8B030D-6E8A-4147-A177-3AD203B41FA5}">
                      <a16:colId xmlns:a16="http://schemas.microsoft.com/office/drawing/2014/main" xmlns="" val="3314315246"/>
                    </a:ext>
                  </a:extLst>
                </a:gridCol>
                <a:gridCol w="3876135">
                  <a:extLst>
                    <a:ext uri="{9D8B030D-6E8A-4147-A177-3AD203B41FA5}">
                      <a16:colId xmlns:a16="http://schemas.microsoft.com/office/drawing/2014/main" xmlns="" val="2175888079"/>
                    </a:ext>
                  </a:extLst>
                </a:gridCol>
              </a:tblGrid>
              <a:tr h="0">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Jose conjectures that the value of the exponential expression from Roll 3 is the greatest because the exponential expression that has the largest base is always greater.</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Georgette conjectures that the value of the exponential expression from Roll 4 is the greatest because the exponential expression that has the largest exponent is always greater.</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2692237353"/>
                  </a:ext>
                </a:extLst>
              </a:tr>
            </a:tbl>
          </a:graphicData>
        </a:graphic>
      </p:graphicFrame>
    </p:spTree>
    <p:extLst>
      <p:ext uri="{BB962C8B-B14F-4D97-AF65-F5344CB8AC3E}">
        <p14:creationId xmlns:p14="http://schemas.microsoft.com/office/powerpoint/2010/main" val="95252811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1422</TotalTime>
  <Words>1377</Words>
  <Application>Microsoft Office PowerPoint</Application>
  <PresentationFormat>Custom</PresentationFormat>
  <Paragraphs>268</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Verdana</vt:lpstr>
      <vt:lpstr>Calibri</vt:lpstr>
      <vt:lpstr>Times New Roman</vt:lpstr>
      <vt:lpstr>Century Gothic</vt:lpstr>
      <vt:lpstr>Wingdings</vt:lpstr>
      <vt:lpstr>Cambria Math</vt:lpstr>
      <vt:lpstr>Cambria</vt:lpstr>
      <vt:lpstr>Arial Black</vt:lpstr>
      <vt:lpstr>1_Office Theme</vt:lpstr>
      <vt:lpstr>6th Grade Math  Unit 7, Lesson 1  Exponents  Volume 2, pg. 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24</cp:revision>
  <dcterms:created xsi:type="dcterms:W3CDTF">2015-03-17T18:51:18Z</dcterms:created>
  <dcterms:modified xsi:type="dcterms:W3CDTF">2022-06-05T06:23:28Z</dcterms:modified>
</cp:coreProperties>
</file>