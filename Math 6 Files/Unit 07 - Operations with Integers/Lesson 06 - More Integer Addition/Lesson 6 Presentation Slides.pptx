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5" r:id="rId4"/>
    <p:sldId id="286" r:id="rId5"/>
    <p:sldId id="261" r:id="rId6"/>
    <p:sldId id="287" r:id="rId7"/>
    <p:sldId id="302" r:id="rId8"/>
    <p:sldId id="303" r:id="rId9"/>
    <p:sldId id="340" r:id="rId10"/>
    <p:sldId id="289" r:id="rId11"/>
    <p:sldId id="290" r:id="rId12"/>
    <p:sldId id="336" r:id="rId13"/>
    <p:sldId id="311" r:id="rId14"/>
    <p:sldId id="312" r:id="rId15"/>
    <p:sldId id="333" r:id="rId16"/>
    <p:sldId id="306" r:id="rId17"/>
    <p:sldId id="307" r:id="rId18"/>
    <p:sldId id="341" r:id="rId19"/>
  </p:sldIdLst>
  <p:sldSz cx="12192000" cy="6858000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BAAA"/>
    <a:srgbClr val="26B7D4"/>
    <a:srgbClr val="E24E5F"/>
    <a:srgbClr val="52BDA6"/>
    <a:srgbClr val="276C46"/>
    <a:srgbClr val="C9DF6F"/>
    <a:srgbClr val="417DBF"/>
    <a:srgbClr val="3F2A67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38"/>
    <p:restoredTop sz="94722"/>
  </p:normalViewPr>
  <p:slideViewPr>
    <p:cSldViewPr snapToGrid="0">
      <p:cViewPr varScale="1">
        <p:scale>
          <a:sx n="79" d="100"/>
          <a:sy n="79" d="100"/>
        </p:scale>
        <p:origin x="44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50575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7484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ons.wikimedia.org/wiki/File:SuitClubs.svg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12" Type="http://schemas.openxmlformats.org/officeDocument/2006/relationships/hyperlink" Target="http://www.pngall.com/heart-p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commons.wikimedia.org/wiki/File:Spades.svg" TargetMode="External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0" Type="http://schemas.openxmlformats.org/officeDocument/2006/relationships/hyperlink" Target="http://pixabay.com/en/suit-diamond-card-game-play-poker-48941/" TargetMode="External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635312" y="2145440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More Integer Addition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7048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26B7D4"/>
              </a:solidFill>
            </a:endParaRPr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444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890016" y="1743117"/>
            <a:ext cx="108600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MA.6.NSO.4.1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and extend previous understandings of operations with whole numbers to add and subtract integers with procedural fluency.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06424" y="0"/>
            <a:ext cx="1008888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05256" y="1596390"/>
            <a:ext cx="100888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C0AE969-0A27-9545-AB11-BBE5491801C1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121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6424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103916" y="1693008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add integers with procedural fluency.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E0319DD-E1E2-064E-A3C0-1ADADEA7DC73}"/>
              </a:ext>
            </a:extLst>
          </p:cNvPr>
          <p:cNvSpPr txBox="1"/>
          <p:nvPr/>
        </p:nvSpPr>
        <p:spPr>
          <a:xfrm>
            <a:off x="8987217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06624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6503EB0-E904-7143-BA20-369F935837E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6424" y="0"/>
            <a:ext cx="87233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7.6.1 Warm-Up: True Equations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/>
              <p:nvPr/>
            </p:nvSpPr>
            <p:spPr>
              <a:xfrm>
                <a:off x="905256" y="1700654"/>
                <a:ext cx="1011326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Using integers between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one time each, fill in the blanks to make the equation true.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700654"/>
                <a:ext cx="10113264" cy="830997"/>
              </a:xfrm>
              <a:prstGeom prst="rect">
                <a:avLst/>
              </a:prstGeom>
              <a:blipFill>
                <a:blip r:embed="rId5"/>
                <a:stretch>
                  <a:fillRect l="-1004" t="-4478" b="-16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61CD461-D140-524E-B54C-464A19D2BEEE}"/>
              </a:ext>
            </a:extLst>
          </p:cNvPr>
          <p:cNvSpPr>
            <a:spLocks noChangeAspect="1"/>
          </p:cNvSpPr>
          <p:nvPr/>
        </p:nvSpPr>
        <p:spPr>
          <a:xfrm>
            <a:off x="3575050" y="3429000"/>
            <a:ext cx="914400" cy="89471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E6E2F6-BFE8-6642-8E8F-DEC5A66DE1A5}"/>
              </a:ext>
            </a:extLst>
          </p:cNvPr>
          <p:cNvSpPr>
            <a:spLocks noChangeAspect="1"/>
          </p:cNvSpPr>
          <p:nvPr/>
        </p:nvSpPr>
        <p:spPr>
          <a:xfrm>
            <a:off x="5440680" y="3427095"/>
            <a:ext cx="914400" cy="89471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7BDDFB-6D47-D34D-BC8A-10B82580FF97}"/>
              </a:ext>
            </a:extLst>
          </p:cNvPr>
          <p:cNvSpPr>
            <a:spLocks noChangeAspect="1"/>
          </p:cNvSpPr>
          <p:nvPr/>
        </p:nvSpPr>
        <p:spPr>
          <a:xfrm>
            <a:off x="7213600" y="3426460"/>
            <a:ext cx="914400" cy="89471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B54271-A3AE-7546-82E7-4831327536AB}"/>
                  </a:ext>
                </a:extLst>
              </p:cNvPr>
              <p:cNvSpPr txBox="1"/>
              <p:nvPr/>
            </p:nvSpPr>
            <p:spPr>
              <a:xfrm>
                <a:off x="4716820" y="3594204"/>
                <a:ext cx="4964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none" sz="280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x-none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B54271-A3AE-7546-82E7-483132753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820" y="3594204"/>
                <a:ext cx="49649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EAD33B-2987-0246-BDFE-72D99C48D9D0}"/>
                  </a:ext>
                </a:extLst>
              </p:cNvPr>
              <p:cNvSpPr txBox="1"/>
              <p:nvPr/>
            </p:nvSpPr>
            <p:spPr>
              <a:xfrm>
                <a:off x="6517045" y="3594204"/>
                <a:ext cx="4964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x-none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EAD33B-2987-0246-BDFE-72D99C48D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045" y="3594204"/>
                <a:ext cx="49649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570FC961-D801-0C4E-8D4A-AEC23A74C9C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EF24E652-E25A-3C40-8CE6-85640BA34F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28534" cy="11285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04201096-008D-9E40-8962-B6CD490C930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6424" y="0"/>
            <a:ext cx="8019300" cy="101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7.6.2 Activity: Integer Wars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6A031F-2EC8-DF4C-B3F5-E7AC5B8F3239}"/>
              </a:ext>
            </a:extLst>
          </p:cNvPr>
          <p:cNvSpPr/>
          <p:nvPr/>
        </p:nvSpPr>
        <p:spPr>
          <a:xfrm>
            <a:off x="1421970" y="1305341"/>
            <a:ext cx="889551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7988" indent="-396875">
              <a:buSzPts val="1800"/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Set Up:</a:t>
            </a:r>
          </a:p>
          <a:p>
            <a:pPr marL="407988" indent="-396875">
              <a:buSzPts val="1800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96862" indent="-285750"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Remove all jokers and face cards (Kings, Queens, and Jacks) from the deck.</a:t>
            </a:r>
          </a:p>
          <a:p>
            <a:pPr marL="296862" indent="-285750"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determine who is the dealer. The dealer deals the entire deck of cards to each player, face down.</a:t>
            </a:r>
          </a:p>
          <a:p>
            <a:pPr marL="407988" indent="-396875">
              <a:buSzPts val="1800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07988" indent="-396875">
              <a:buSzPts val="1800"/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Rules:</a:t>
            </a:r>
          </a:p>
          <a:p>
            <a:pPr marL="407988" indent="-396875">
              <a:buSzPts val="1800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07988" indent="-396875"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black cards (Spades    and Clubs   ) represent positive values. </a:t>
            </a:r>
          </a:p>
          <a:p>
            <a:pPr marL="407988" indent="-396875"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red cards (Diamonds     and Hearts   ) represent negative values.</a:t>
            </a:r>
          </a:p>
          <a:p>
            <a:pPr marL="285750" indent="-285750"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Aces represent either 1 or (_^−)1, while the other cards represent the positive or negative value indicated on the card.</a:t>
            </a:r>
          </a:p>
          <a:p>
            <a:pPr marL="407988" indent="-396875">
              <a:buSzPts val="1800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8A626CB-082C-DB4E-B059-328DCC8AD1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2870D5A8-7BB1-AB44-B1C0-CC5E598B5A9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143" cy="7501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6FC21AE-B85A-8A49-AEEA-A0C766C22BF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793143" y="3848422"/>
            <a:ext cx="185491" cy="2096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D8809B4-D75A-F14A-AE4B-77CB02E4344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6247515" y="3856890"/>
            <a:ext cx="208675" cy="216535"/>
          </a:xfrm>
          <a:prstGeom prst="rect">
            <a:avLst/>
          </a:prstGeom>
        </p:spPr>
      </p:pic>
      <p:pic>
        <p:nvPicPr>
          <p:cNvPr id="25" name="Picture 24" descr="Free vector graphic: Suit, Diamond, Card, Game, Play ...">
            <a:extLst>
              <a:ext uri="{FF2B5EF4-FFF2-40B4-BE49-F238E27FC236}">
                <a16:creationId xmlns:a16="http://schemas.microsoft.com/office/drawing/2014/main" id="{B342DC8D-71D0-F34B-A0E6-B00F9111CD54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4882045" y="4131034"/>
            <a:ext cx="238486" cy="236220"/>
          </a:xfrm>
          <a:prstGeom prst="rect">
            <a:avLst/>
          </a:prstGeom>
        </p:spPr>
      </p:pic>
      <p:pic>
        <p:nvPicPr>
          <p:cNvPr id="26" name="Picture 25" descr="Heart PNG Transparent Images | PNG All">
            <a:extLst>
              <a:ext uri="{FF2B5EF4-FFF2-40B4-BE49-F238E27FC236}">
                <a16:creationId xmlns:a16="http://schemas.microsoft.com/office/drawing/2014/main" id="{40805084-5127-8D48-97B8-D02A6B5B33B2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6515271" y="4147544"/>
            <a:ext cx="229211" cy="21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AF1552-9966-3643-BA84-BB4BC68EDBB5}"/>
              </a:ext>
            </a:extLst>
          </p:cNvPr>
          <p:cNvSpPr/>
          <p:nvPr/>
        </p:nvSpPr>
        <p:spPr>
          <a:xfrm>
            <a:off x="905256" y="1056145"/>
            <a:ext cx="971157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1800"/>
            </a:pPr>
            <a:r>
              <a:rPr lang="en-US" sz="2000" b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Play:</a:t>
            </a:r>
          </a:p>
          <a:p>
            <a:pPr lvl="0">
              <a:buSzPts val="1800"/>
            </a:pPr>
            <a:endParaRPr lang="en-US" sz="2000" b="1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begin, each player will flip over one card from their deck and place it in the center.</a:t>
            </a:r>
          </a:p>
          <a:p>
            <a:pPr marL="457200" indent="-457200"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first player to figure out the sum of the two integers keeps both cards and adds them to the bottom of their stack. </a:t>
            </a:r>
          </a:p>
          <a:p>
            <a:pPr marL="895350" indent="-457200"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NOTE: If a player says an incorrect sum, the other player responds for a chance to win the hand before the first player can change their answer.</a:t>
            </a:r>
          </a:p>
          <a:p>
            <a:pPr marL="457200" indent="-457200"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Repeat this process until time is called or until all of the cards have been used.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0662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E80E75D-78AE-A94E-86B4-91D469B7BFAD}"/>
              </a:ext>
            </a:extLst>
          </p:cNvPr>
          <p:cNvSpPr txBox="1"/>
          <p:nvPr/>
        </p:nvSpPr>
        <p:spPr>
          <a:xfrm>
            <a:off x="899415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AEA4B4EA-62E9-1C44-B6F0-74A8572D4D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1972" cy="11519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06424" y="-27923"/>
            <a:ext cx="1020165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7.6.3 Guided Practice: Fluency with Adding Integers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BE9AFC-D858-8947-AE27-3738478587E3}"/>
              </a:ext>
            </a:extLst>
          </p:cNvPr>
          <p:cNvSpPr/>
          <p:nvPr/>
        </p:nvSpPr>
        <p:spPr>
          <a:xfrm>
            <a:off x="905256" y="1331162"/>
            <a:ext cx="85816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each sum.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A11C236F-F6F0-6C44-9CE3-50FB461FC6B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92C8B4-EF86-1C4F-A40E-8180EBC76D7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0625" y="2175521"/>
            <a:ext cx="5790750" cy="337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E7CAFC-319F-CE4F-8B26-ED2749A56CDA}"/>
              </a:ext>
            </a:extLst>
          </p:cNvPr>
          <p:cNvSpPr/>
          <p:nvPr/>
        </p:nvSpPr>
        <p:spPr>
          <a:xfrm>
            <a:off x="905256" y="956050"/>
            <a:ext cx="85496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two tips to share with someone who is just learning how to add integers.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06624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40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2C8C0BED-1AF4-B944-96AA-2CF26F1ABF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6228" cy="1156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6424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7.6.4 Your Turn!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5AB5A2-AF35-B14C-AE54-D2A0628C823C}"/>
              </a:ext>
            </a:extLst>
          </p:cNvPr>
          <p:cNvSpPr/>
          <p:nvPr/>
        </p:nvSpPr>
        <p:spPr>
          <a:xfrm>
            <a:off x="905256" y="1340983"/>
            <a:ext cx="82540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each sum.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85268C17-F7CB-D243-B65D-166A4DD9987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00D9959C-BC81-7642-9A75-F49D355247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2254" cy="752254"/>
          </a:xfrm>
          <a:prstGeom prst="rect">
            <a:avLst/>
          </a:prstGeom>
        </p:spPr>
      </p:pic>
      <p:pic>
        <p:nvPicPr>
          <p:cNvPr id="4" name="Picture 3" descr="Chart&#10;&#10;Description automatically generated with medium confidence">
            <a:extLst>
              <a:ext uri="{FF2B5EF4-FFF2-40B4-BE49-F238E27FC236}">
                <a16:creationId xmlns:a16="http://schemas.microsoft.com/office/drawing/2014/main" id="{8F397DB2-B5D7-B440-9917-BDCCC3F4DA0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4457" y="2290734"/>
            <a:ext cx="6541267" cy="276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3DC8F22-04D2-D04F-BA67-53D9B7F3B29F}"/>
              </a:ext>
            </a:extLst>
          </p:cNvPr>
          <p:cNvSpPr txBox="1"/>
          <p:nvPr/>
        </p:nvSpPr>
        <p:spPr>
          <a:xfrm>
            <a:off x="8994150" y="65374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picture containing text, bird, plant, aquatic bird&#10;&#10;Description automatically generated">
            <a:extLst>
              <a:ext uri="{FF2B5EF4-FFF2-40B4-BE49-F238E27FC236}">
                <a16:creationId xmlns:a16="http://schemas.microsoft.com/office/drawing/2014/main" id="{D5D70FFE-3B3C-7447-B960-CABA2B2133E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7752" y="1068654"/>
            <a:ext cx="5781933" cy="472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0662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BBAE5D4-A013-554B-AF18-FD3C50BA4B0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06424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7.6.5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0A85065-1747-6C4E-8BA4-9C1ED8A185A6}"/>
                  </a:ext>
                </a:extLst>
              </p:cNvPr>
              <p:cNvSpPr/>
              <p:nvPr/>
            </p:nvSpPr>
            <p:spPr>
              <a:xfrm>
                <a:off x="905256" y="1325700"/>
                <a:ext cx="8422610" cy="28007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each sum.</a:t>
                </a:r>
              </a:p>
              <a:p>
                <a:pPr lvl="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808+(−547)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	</a:t>
                </a:r>
              </a:p>
              <a:p>
                <a:pPr lvl="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0A85065-1747-6C4E-8BA4-9C1ED8A185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325700"/>
                <a:ext cx="8422610" cy="2800767"/>
              </a:xfrm>
              <a:prstGeom prst="rect">
                <a:avLst/>
              </a:prstGeom>
              <a:blipFill>
                <a:blip r:embed="rId5"/>
                <a:stretch>
                  <a:fillRect l="-1054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20425D2-BFDA-974E-9037-009E6465CCF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0A85065-1747-6C4E-8BA4-9C1ED8A185A6}"/>
                  </a:ext>
                </a:extLst>
              </p:cNvPr>
              <p:cNvSpPr/>
              <p:nvPr/>
            </p:nvSpPr>
            <p:spPr>
              <a:xfrm>
                <a:off x="905256" y="1140260"/>
                <a:ext cx="8422610" cy="3139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−322+(−65)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−755+707</m:t>
                    </m:r>
                  </m:oMath>
                </a14:m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0A85065-1747-6C4E-8BA4-9C1ED8A185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140260"/>
                <a:ext cx="8422610" cy="3139321"/>
              </a:xfrm>
              <a:prstGeom prst="rect">
                <a:avLst/>
              </a:prstGeom>
              <a:blipFill>
                <a:blip r:embed="rId4"/>
                <a:stretch>
                  <a:fillRect l="-1054" t="-1210" b="-3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20425D2-BFDA-974E-9037-009E6465CCF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252811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526</Words>
  <Application>Microsoft Office PowerPoint</Application>
  <PresentationFormat>Widescreen</PresentationFormat>
  <Paragraphs>95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Verdana</vt:lpstr>
      <vt:lpstr>Century Gothic</vt:lpstr>
      <vt:lpstr>Arial</vt:lpstr>
      <vt:lpstr>Cambria Math</vt:lpstr>
      <vt:lpstr>Wingdings</vt:lpstr>
      <vt:lpstr>Calibri</vt:lpstr>
      <vt:lpstr>Cambria</vt:lpstr>
      <vt:lpstr>Arial Black</vt:lpstr>
      <vt:lpstr>1_Office Theme</vt:lpstr>
      <vt:lpstr>6th Grade Math  Unit 7, Lesson 6  More Integer Addition  Volume 2, pg. 29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22</cp:revision>
  <dcterms:created xsi:type="dcterms:W3CDTF">2015-03-17T18:51:18Z</dcterms:created>
  <dcterms:modified xsi:type="dcterms:W3CDTF">2022-07-09T06:14:41Z</dcterms:modified>
</cp:coreProperties>
</file>