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51" r:id="rId8"/>
    <p:sldId id="302" r:id="rId9"/>
    <p:sldId id="303" r:id="rId10"/>
    <p:sldId id="340" r:id="rId11"/>
    <p:sldId id="348" r:id="rId12"/>
    <p:sldId id="349" r:id="rId13"/>
    <p:sldId id="352" r:id="rId14"/>
    <p:sldId id="345" r:id="rId15"/>
    <p:sldId id="346" r:id="rId16"/>
    <p:sldId id="347" r:id="rId17"/>
    <p:sldId id="311" r:id="rId18"/>
    <p:sldId id="312" r:id="rId19"/>
    <p:sldId id="333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58"/>
    <p:restoredTop sz="94722"/>
  </p:normalViewPr>
  <p:slideViewPr>
    <p:cSldViewPr snapToGrid="0">
      <p:cViewPr varScale="1">
        <p:scale>
          <a:sx n="79" d="100"/>
          <a:sy n="79" d="100"/>
        </p:scale>
        <p:origin x="67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73478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3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45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151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3582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hyperlink" Target="http://www.pngall.com/heart-png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commons.wikimedia.org/wiki/File:Spades.svg" TargetMode="Externa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hyperlink" Target="http://pixabay.com/en/suit-diamond-card-game-play-poker-48941/" TargetMode="External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hyperlink" Target="https://commons.wikimedia.org/wiki/File:SuitClubs.sv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14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and Dividing Integers with Procedural Fluency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444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6021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MA.6.NSO.4.2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and extend previous understandings of operations with whole numbers to multiply and divide integers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424" y="129667"/>
            <a:ext cx="105134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99550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6424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5" y="1547093"/>
            <a:ext cx="9926867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multiply and divide integers with procedural fluency.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44784"/>
            <a:ext cx="9721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7.14.1 Warm-Up: Thinking Algebraically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905256" y="1441144"/>
                <a:ext cx="1025041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number line is shown. The numbers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marked on the line, along with two other numbers, 𝑎 and 𝑏.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441144"/>
                <a:ext cx="10250417" cy="707886"/>
              </a:xfrm>
              <a:prstGeom prst="rect">
                <a:avLst/>
              </a:prstGeom>
              <a:blipFill>
                <a:blip r:embed="rId5"/>
                <a:stretch>
                  <a:fillRect l="-619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AC3E01-CC6D-B244-A16E-C1E6D7D344A8}"/>
              </a:ext>
            </a:extLst>
          </p:cNvPr>
          <p:cNvGrpSpPr/>
          <p:nvPr/>
        </p:nvGrpSpPr>
        <p:grpSpPr>
          <a:xfrm>
            <a:off x="2667000" y="2557237"/>
            <a:ext cx="6858000" cy="632636"/>
            <a:chOff x="0" y="0"/>
            <a:chExt cx="6858000" cy="632636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A8AC1C5-6DEB-A44F-AA04-FE013E2245BB}"/>
                </a:ext>
              </a:extLst>
            </p:cNvPr>
            <p:cNvCxnSpPr/>
            <p:nvPr/>
          </p:nvCxnSpPr>
          <p:spPr>
            <a:xfrm>
              <a:off x="0" y="170504"/>
              <a:ext cx="685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C66D32E-0DF9-9445-9000-E365E498C3A7}"/>
                </a:ext>
              </a:extLst>
            </p:cNvPr>
            <p:cNvCxnSpPr/>
            <p:nvPr/>
          </p:nvCxnSpPr>
          <p:spPr>
            <a:xfrm>
              <a:off x="732547" y="29183"/>
              <a:ext cx="0" cy="321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E1D69-4D2E-5C4D-AD78-0872EA42479B}"/>
                </a:ext>
              </a:extLst>
            </p:cNvPr>
            <p:cNvCxnSpPr/>
            <p:nvPr/>
          </p:nvCxnSpPr>
          <p:spPr>
            <a:xfrm>
              <a:off x="3368743" y="9728"/>
              <a:ext cx="0" cy="321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0E5E0F-D1A8-F743-9541-35804FAC9AAA}"/>
                </a:ext>
              </a:extLst>
            </p:cNvPr>
            <p:cNvCxnSpPr/>
            <p:nvPr/>
          </p:nvCxnSpPr>
          <p:spPr>
            <a:xfrm>
              <a:off x="4419330" y="0"/>
              <a:ext cx="0" cy="321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42C3FA-7AB1-0F46-905B-58DFBB24E1EA}"/>
                </a:ext>
              </a:extLst>
            </p:cNvPr>
            <p:cNvCxnSpPr/>
            <p:nvPr/>
          </p:nvCxnSpPr>
          <p:spPr>
            <a:xfrm>
              <a:off x="5187815" y="0"/>
              <a:ext cx="0" cy="321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3">
                  <a:extLst>
                    <a:ext uri="{FF2B5EF4-FFF2-40B4-BE49-F238E27FC236}">
                      <a16:creationId xmlns:a16="http://schemas.microsoft.com/office/drawing/2014/main" id="{6486150A-DB09-034D-A167-234FD7874A96}"/>
                    </a:ext>
                  </a:extLst>
                </p:cNvPr>
                <p:cNvSpPr txBox="1"/>
                <p:nvPr/>
              </p:nvSpPr>
              <p:spPr>
                <a:xfrm>
                  <a:off x="544749" y="311285"/>
                  <a:ext cx="379378" cy="3213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oMath>
                    </m:oMathPara>
                  </a14:m>
                  <a:endParaRPr lang="x-none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13">
                  <a:extLst>
                    <a:ext uri="{FF2B5EF4-FFF2-40B4-BE49-F238E27FC236}">
                      <a16:creationId xmlns:a16="http://schemas.microsoft.com/office/drawing/2014/main" id="{6486150A-DB09-034D-A167-234FD7874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49" y="311285"/>
                  <a:ext cx="379378" cy="32135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4">
                  <a:extLst>
                    <a:ext uri="{FF2B5EF4-FFF2-40B4-BE49-F238E27FC236}">
                      <a16:creationId xmlns:a16="http://schemas.microsoft.com/office/drawing/2014/main" id="{D1A869E7-F129-D149-ACD1-4E13E710A052}"/>
                    </a:ext>
                  </a:extLst>
                </p:cNvPr>
                <p:cNvSpPr txBox="1"/>
                <p:nvPr/>
              </p:nvSpPr>
              <p:spPr>
                <a:xfrm>
                  <a:off x="3190673" y="282102"/>
                  <a:ext cx="379095" cy="32131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x-none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14">
                  <a:extLst>
                    <a:ext uri="{FF2B5EF4-FFF2-40B4-BE49-F238E27FC236}">
                      <a16:creationId xmlns:a16="http://schemas.microsoft.com/office/drawing/2014/main" id="{D1A869E7-F129-D149-ACD1-4E13E710A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673" y="282102"/>
                  <a:ext cx="379095" cy="3213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6">
                  <a:extLst>
                    <a:ext uri="{FF2B5EF4-FFF2-40B4-BE49-F238E27FC236}">
                      <a16:creationId xmlns:a16="http://schemas.microsoft.com/office/drawing/2014/main" id="{83173A7B-7864-AA4E-8AD9-1D84863C8F0D}"/>
                    </a:ext>
                  </a:extLst>
                </p:cNvPr>
                <p:cNvSpPr txBox="1"/>
                <p:nvPr/>
              </p:nvSpPr>
              <p:spPr>
                <a:xfrm>
                  <a:off x="4241261" y="282103"/>
                  <a:ext cx="379095" cy="32131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x-none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16">
                  <a:extLst>
                    <a:ext uri="{FF2B5EF4-FFF2-40B4-BE49-F238E27FC236}">
                      <a16:creationId xmlns:a16="http://schemas.microsoft.com/office/drawing/2014/main" id="{83173A7B-7864-AA4E-8AD9-1D84863C8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261" y="282103"/>
                  <a:ext cx="379095" cy="3213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0">
                  <a:extLst>
                    <a:ext uri="{FF2B5EF4-FFF2-40B4-BE49-F238E27FC236}">
                      <a16:creationId xmlns:a16="http://schemas.microsoft.com/office/drawing/2014/main" id="{0CB2019E-968C-E24E-A838-306F940C4A0F}"/>
                    </a:ext>
                  </a:extLst>
                </p:cNvPr>
                <p:cNvSpPr txBox="1"/>
                <p:nvPr/>
              </p:nvSpPr>
              <p:spPr>
                <a:xfrm>
                  <a:off x="5000017" y="252920"/>
                  <a:ext cx="379378" cy="3213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oMath>
                    </m:oMathPara>
                  </a14:m>
                  <a:endParaRPr lang="x-none" sz="1600" i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0">
                  <a:extLst>
                    <a:ext uri="{FF2B5EF4-FFF2-40B4-BE49-F238E27FC236}">
                      <a16:creationId xmlns:a16="http://schemas.microsoft.com/office/drawing/2014/main" id="{0CB2019E-968C-E24E-A838-306F940C4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017" y="252920"/>
                  <a:ext cx="379378" cy="32135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4939159-DD57-A048-91A6-5C1B85C7C3CA}"/>
              </a:ext>
            </a:extLst>
          </p:cNvPr>
          <p:cNvSpPr/>
          <p:nvPr/>
        </p:nvSpPr>
        <p:spPr>
          <a:xfrm>
            <a:off x="905256" y="3666496"/>
            <a:ext cx="102504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 one expression from those shown below that will have a negative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F05EEE-0466-924D-B88F-7B9525F7A6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031981"/>
                  </p:ext>
                </p:extLst>
              </p:nvPr>
            </p:nvGraphicFramePr>
            <p:xfrm>
              <a:off x="2862930" y="4657122"/>
              <a:ext cx="6889115" cy="4572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34135">
                      <a:extLst>
                        <a:ext uri="{9D8B030D-6E8A-4147-A177-3AD203B41FA5}">
                          <a16:colId xmlns:a16="http://schemas.microsoft.com/office/drawing/2014/main" val="925674233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325923317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3021854590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4008174848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67907272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2428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F05EEE-0466-924D-B88F-7B9525F7A6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031981"/>
                  </p:ext>
                </p:extLst>
              </p:nvPr>
            </p:nvGraphicFramePr>
            <p:xfrm>
              <a:off x="2862930" y="4657122"/>
              <a:ext cx="6889115" cy="4572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34135">
                      <a:extLst>
                        <a:ext uri="{9D8B030D-6E8A-4147-A177-3AD203B41FA5}">
                          <a16:colId xmlns:a16="http://schemas.microsoft.com/office/drawing/2014/main" val="925674233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325923317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3021854590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4008174848"/>
                        </a:ext>
                      </a:extLst>
                    </a:gridCol>
                    <a:gridCol w="1388745">
                      <a:extLst>
                        <a:ext uri="{9D8B030D-6E8A-4147-A177-3AD203B41FA5}">
                          <a16:colId xmlns:a16="http://schemas.microsoft.com/office/drawing/2014/main" val="67907272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52" t="-2703" r="-418095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96364" t="-2703" r="-299091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98165" t="-2703" r="-201835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95455" t="-2703" r="-100000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99083" t="-2703" r="-917" b="-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4284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568861" y="577102"/>
            <a:ext cx="832257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you know the expression selected will have a negative value based on the number line.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a classmate who chose a different expression that will have a negative value.</a:t>
            </a:r>
          </a:p>
          <a:p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 their expression and explanation for why they chose it in the table. Then, have them initial that you recorded it correctly. </a:t>
            </a:r>
            <a:r>
              <a:rPr lang="en-US" sz="18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162910-3749-7E48-B7B4-4801FD62D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422389"/>
              </p:ext>
            </p:extLst>
          </p:nvPr>
        </p:nvGraphicFramePr>
        <p:xfrm>
          <a:off x="699783" y="3971497"/>
          <a:ext cx="7401534" cy="234960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732869">
                  <a:extLst>
                    <a:ext uri="{9D8B030D-6E8A-4147-A177-3AD203B41FA5}">
                      <a16:colId xmlns:a16="http://schemas.microsoft.com/office/drawing/2014/main" val="618066596"/>
                    </a:ext>
                  </a:extLst>
                </a:gridCol>
                <a:gridCol w="4530020">
                  <a:extLst>
                    <a:ext uri="{9D8B030D-6E8A-4147-A177-3AD203B41FA5}">
                      <a16:colId xmlns:a16="http://schemas.microsoft.com/office/drawing/2014/main" val="1398814243"/>
                    </a:ext>
                  </a:extLst>
                </a:gridCol>
                <a:gridCol w="1138645">
                  <a:extLst>
                    <a:ext uri="{9D8B030D-6E8A-4147-A177-3AD203B41FA5}">
                      <a16:colId xmlns:a16="http://schemas.microsoft.com/office/drawing/2014/main" val="765820855"/>
                    </a:ext>
                  </a:extLst>
                </a:gridCol>
              </a:tblGrid>
              <a:tr h="7919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Classmate’s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Selected Expression</a:t>
                      </a:r>
                      <a:endParaRPr lang="x-none" sz="12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Classmate’s Explanation for Why the Value is Negative</a:t>
                      </a:r>
                      <a:endParaRPr lang="x-none" sz="12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12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5166"/>
                  </a:ext>
                </a:extLst>
              </a:tr>
              <a:tr h="15576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643685"/>
                  </a:ext>
                </a:extLst>
              </a:tr>
            </a:tbl>
          </a:graphicData>
        </a:graphic>
      </p:graphicFrame>
      <p:sp>
        <p:nvSpPr>
          <p:cNvPr id="7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88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10499422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7.14.2 Collaboration: Multiplying Multiple Integers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05256" y="1375713"/>
            <a:ext cx="8526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7988" indent="-396875">
              <a:buSzPts val="1800"/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product of each expression.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:a16="http://schemas.microsoft.com/office/drawing/2014/main" id="{04C19B76-A060-3243-AE2C-88D93DB1A19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98D6D4-469F-B049-BEC4-2356270149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648823"/>
                  </p:ext>
                </p:extLst>
              </p:nvPr>
            </p:nvGraphicFramePr>
            <p:xfrm>
              <a:off x="3129179" y="2045617"/>
              <a:ext cx="5933642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46564">
                      <a:extLst>
                        <a:ext uri="{9D8B030D-6E8A-4147-A177-3AD203B41FA5}">
                          <a16:colId xmlns:a16="http://schemas.microsoft.com/office/drawing/2014/main" val="2959865427"/>
                        </a:ext>
                      </a:extLst>
                    </a:gridCol>
                    <a:gridCol w="1993264">
                      <a:extLst>
                        <a:ext uri="{9D8B030D-6E8A-4147-A177-3AD203B41FA5}">
                          <a16:colId xmlns:a16="http://schemas.microsoft.com/office/drawing/2014/main" val="1257578715"/>
                        </a:ext>
                      </a:extLst>
                    </a:gridCol>
                    <a:gridCol w="1993814">
                      <a:extLst>
                        <a:ext uri="{9D8B030D-6E8A-4147-A177-3AD203B41FA5}">
                          <a16:colId xmlns:a16="http://schemas.microsoft.com/office/drawing/2014/main" val="2008864180"/>
                        </a:ext>
                      </a:extLst>
                    </a:gridCol>
                  </a:tblGrid>
                  <a:tr h="118672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a.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5(−9)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b. 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−6(−4)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c.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0(−3)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2811173"/>
                      </a:ext>
                    </a:extLst>
                  </a:tr>
                  <a:tr h="158230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d.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(−1)(−1)(3)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e.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4∙(−2)∙(5)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f.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−2(−2)(−2)(−2)</m:t>
                              </m:r>
                            </m:oMath>
                          </a14:m>
                          <a:endParaRPr lang="x-none" sz="14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5972888"/>
                      </a:ext>
                    </a:extLst>
                  </a:tr>
                  <a:tr h="1582305">
                    <a:tc gridSpan="3">
                      <a:txBody>
                        <a:bodyPr/>
                        <a:lstStyle/>
                        <a:p>
                          <a:pPr marL="112776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g.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(−1)×(−2)×3×(−2)×(−1)×2</m:t>
                              </m:r>
                            </m:oMath>
                          </a14:m>
                          <a:endParaRPr lang="x-none" sz="14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39040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098D6D4-469F-B049-BEC4-2356270149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648823"/>
                  </p:ext>
                </p:extLst>
              </p:nvPr>
            </p:nvGraphicFramePr>
            <p:xfrm>
              <a:off x="3129179" y="2045617"/>
              <a:ext cx="5933642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46564">
                      <a:extLst>
                        <a:ext uri="{9D8B030D-6E8A-4147-A177-3AD203B41FA5}">
                          <a16:colId xmlns:a16="http://schemas.microsoft.com/office/drawing/2014/main" val="2959865427"/>
                        </a:ext>
                      </a:extLst>
                    </a:gridCol>
                    <a:gridCol w="1993264">
                      <a:extLst>
                        <a:ext uri="{9D8B030D-6E8A-4147-A177-3AD203B41FA5}">
                          <a16:colId xmlns:a16="http://schemas.microsoft.com/office/drawing/2014/main" val="1257578715"/>
                        </a:ext>
                      </a:extLst>
                    </a:gridCol>
                    <a:gridCol w="1993814">
                      <a:extLst>
                        <a:ext uri="{9D8B030D-6E8A-4147-A177-3AD203B41FA5}">
                          <a16:colId xmlns:a16="http://schemas.microsoft.com/office/drawing/2014/main" val="2008864180"/>
                        </a:ext>
                      </a:extLst>
                    </a:gridCol>
                  </a:tblGrid>
                  <a:tr h="1186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49" t="-6383" r="-204545" b="-265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726" t="-6383" r="-100637" b="-265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8726" t="-6383" r="-637" b="-265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811173"/>
                      </a:ext>
                    </a:extLst>
                  </a:tr>
                  <a:tr h="1582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49" t="-80645" r="-204545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726" t="-80645" r="-100637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8726" t="-80645" r="-637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5972888"/>
                      </a:ext>
                    </a:extLst>
                  </a:tr>
                  <a:tr h="1582305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336" marR="5933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4" t="-179200" r="-214" b="-8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39040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05255" y="842784"/>
            <a:ext cx="1077092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expressions d-g, more than two factors are being multiplied.</a:t>
            </a:r>
          </a:p>
          <a:p>
            <a:pPr lvl="0">
              <a:buSzPts val="1800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rules you developed previously for multiplying two integers could be extended for multiplying more than two integers.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450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at least one rule that would apply in this situation.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80F727F-C95F-5D49-B1FC-403D10D16E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38470" cy="1138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753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1051349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7.14.3 Activity: Integer War – Multiplication Edition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973171" y="1228397"/>
                <a:ext cx="9310311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113">
                  <a:buSzPts val="1800"/>
                </a:pP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Set Up:</a:t>
                </a:r>
              </a:p>
              <a:p>
                <a:pPr marL="407988" indent="-396875">
                  <a:buSzPts val="18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Remove all jokers and face cards (Kings, Queens, and Jacks) from the deck.</a:t>
                </a:r>
              </a:p>
              <a:p>
                <a:pPr marL="407988" indent="-396875">
                  <a:buSzPts val="18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determine who is the dealer. The dealer deals the entire deck of cards to each player, face down.</a:t>
                </a: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1113">
                  <a:buSzPts val="1800"/>
                </a:pP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Rules:</a:t>
                </a:r>
              </a:p>
              <a:p>
                <a:pPr marL="407988" indent="-396875">
                  <a:buSzPts val="18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black cards (Spades     and Clubs     ) represent positive values. </a:t>
                </a:r>
              </a:p>
              <a:p>
                <a:pPr marL="407988" indent="-396875">
                  <a:buSzPts val="18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red cards (Diamonds     and Hearts    ) represent negative values.</a:t>
                </a:r>
              </a:p>
              <a:p>
                <a:pPr marL="407988" indent="-396875">
                  <a:buSzPts val="1800"/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Aces represent either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while the other cards represent the positive or negative value indicated on the card.</a:t>
                </a:r>
              </a:p>
              <a:p>
                <a:pPr marL="11113">
                  <a:buSzPts val="18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71" y="1228397"/>
                <a:ext cx="9310311" cy="4401205"/>
              </a:xfrm>
              <a:prstGeom prst="rect">
                <a:avLst/>
              </a:prstGeom>
              <a:blipFill>
                <a:blip r:embed="rId4"/>
                <a:stretch>
                  <a:fillRect l="-545" t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9E6E55B9-528A-2441-BC4C-239F1567757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C6F17-A18F-7844-857D-175E89DEB8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690868" y="3410196"/>
            <a:ext cx="276926" cy="299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7327B9-320F-BA4B-8AA2-F662D9E1AEB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422547" y="3410195"/>
            <a:ext cx="301645" cy="299061"/>
          </a:xfrm>
          <a:prstGeom prst="rect">
            <a:avLst/>
          </a:prstGeom>
        </p:spPr>
      </p:pic>
      <p:pic>
        <p:nvPicPr>
          <p:cNvPr id="11" name="Picture 10" descr="Free vector graphic: Suit, Diamond, Card, Game, Play ...">
            <a:extLst>
              <a:ext uri="{FF2B5EF4-FFF2-40B4-BE49-F238E27FC236}">
                <a16:creationId xmlns:a16="http://schemas.microsoft.com/office/drawing/2014/main" id="{3DCAB5B7-451C-0542-8B20-52885E40C19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766539" y="4009828"/>
            <a:ext cx="316007" cy="299060"/>
          </a:xfrm>
          <a:prstGeom prst="rect">
            <a:avLst/>
          </a:prstGeom>
        </p:spPr>
      </p:pic>
      <p:pic>
        <p:nvPicPr>
          <p:cNvPr id="14" name="Picture 13" descr="Heart PNG Transparent Images | PNG All">
            <a:extLst>
              <a:ext uri="{FF2B5EF4-FFF2-40B4-BE49-F238E27FC236}">
                <a16:creationId xmlns:a16="http://schemas.microsoft.com/office/drawing/2014/main" id="{9A3CEADA-B055-A745-913D-2C457CC3E88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6587972" y="4023476"/>
            <a:ext cx="326542" cy="29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25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6A031F-2EC8-DF4C-B3F5-E7AC5B8F3239}"/>
              </a:ext>
            </a:extLst>
          </p:cNvPr>
          <p:cNvSpPr/>
          <p:nvPr/>
        </p:nvSpPr>
        <p:spPr>
          <a:xfrm>
            <a:off x="905256" y="1211940"/>
            <a:ext cx="1068652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>
              <a:buSzPts val="1800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to Play:</a:t>
            </a:r>
          </a:p>
          <a:p>
            <a:pPr marL="354013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begin, each player will flip over one card from their deck and place it in the center.</a:t>
            </a:r>
          </a:p>
          <a:p>
            <a:pPr marL="354013" indent="-342900">
              <a:buSzPts val="1800"/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first player who figures out the product of the two integers keeps both cards and adds them to the bottom of their stack.</a:t>
            </a:r>
          </a:p>
          <a:p>
            <a:pPr marL="1025525" indent="-215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NOTE: If a player says an incorrect product, the other player responds for a chance to win the hand before the first player can change their answer.</a:t>
            </a:r>
          </a:p>
          <a:p>
            <a:pPr marL="1025525" indent="-215900">
              <a:buSzPts val="1800"/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Repeat this process until time is called or until one player has all of the cards in the deck.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373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AEA4B4EA-62E9-1C44-B6F0-74A8572D4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1972" cy="1151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3" y="-41571"/>
            <a:ext cx="105697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7.14.4 Guided Practice: Finding Products or Quotients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/>
              <p:nvPr/>
            </p:nvSpPr>
            <p:spPr>
              <a:xfrm>
                <a:off x="905256" y="1331161"/>
                <a:ext cx="944856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each product or quotient.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10×(−65)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	b.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−19×99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31161"/>
                <a:ext cx="9448566" cy="1938992"/>
              </a:xfrm>
              <a:prstGeom prst="rect">
                <a:avLst/>
              </a:prstGeom>
              <a:blipFill>
                <a:blip r:embed="rId4"/>
                <a:stretch>
                  <a:fillRect l="-1074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A11C236F-F6F0-6C44-9CE3-50FB461FC6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05256" y="956051"/>
                <a:ext cx="8549640" cy="3299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−812÷(−7)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208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−125÷(−5)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f.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(−21)(−16)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956051"/>
                <a:ext cx="8549640" cy="3299493"/>
              </a:xfrm>
              <a:prstGeom prst="rect">
                <a:avLst/>
              </a:prstGeom>
              <a:blipFill>
                <a:blip r:embed="rId4"/>
                <a:stretch>
                  <a:fillRect l="-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14307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7.14.5 Your Turn!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AB5A2-AF35-B14C-AE54-D2A0628C823C}"/>
              </a:ext>
            </a:extLst>
          </p:cNvPr>
          <p:cNvSpPr/>
          <p:nvPr/>
        </p:nvSpPr>
        <p:spPr>
          <a:xfrm>
            <a:off x="905256" y="1340983"/>
            <a:ext cx="8254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each product or quotient.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A5401A2A-4F30-5E49-8A88-99966EAD2A9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081" y="2336124"/>
            <a:ext cx="4817660" cy="306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B611129C-94EB-714F-8A43-6B339D43D66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675" y="1916219"/>
            <a:ext cx="6849516" cy="321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6423" y="-185441"/>
            <a:ext cx="91732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7.14.6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905256" y="1140259"/>
            <a:ext cx="84226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writing a value in each blank that completes each related equation.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2ADA35C-B414-104B-8685-1FB5AA0DF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2113145"/>
                  </p:ext>
                </p:extLst>
              </p:nvPr>
            </p:nvGraphicFramePr>
            <p:xfrm>
              <a:off x="2094131" y="2236675"/>
              <a:ext cx="6989786" cy="312458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63935">
                      <a:extLst>
                        <a:ext uri="{9D8B030D-6E8A-4147-A177-3AD203B41FA5}">
                          <a16:colId xmlns:a16="http://schemas.microsoft.com/office/drawing/2014/main" val="3163699503"/>
                        </a:ext>
                      </a:extLst>
                    </a:gridCol>
                    <a:gridCol w="1503685">
                      <a:extLst>
                        <a:ext uri="{9D8B030D-6E8A-4147-A177-3AD203B41FA5}">
                          <a16:colId xmlns:a16="http://schemas.microsoft.com/office/drawing/2014/main" val="3432979414"/>
                        </a:ext>
                      </a:extLst>
                    </a:gridCol>
                    <a:gridCol w="2722166">
                      <a:extLst>
                        <a:ext uri="{9D8B030D-6E8A-4147-A177-3AD203B41FA5}">
                          <a16:colId xmlns:a16="http://schemas.microsoft.com/office/drawing/2014/main" val="226049774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Equation</a:t>
                          </a:r>
                          <a:endParaRPr lang="x-none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...related to…</a:t>
                          </a:r>
                          <a:endParaRPr lang="x-none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Equation</a:t>
                          </a:r>
                          <a:endParaRPr lang="x-none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3975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(____)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504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504÷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=−12</m:t>
                              </m:r>
                            </m:oMath>
                          </a14:m>
                          <a:endParaRPr lang="x-none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95098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×18= −126</m:t>
                              </m:r>
                            </m:oMath>
                          </a14:m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−126÷18=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____</a:t>
                          </a:r>
                          <a:endParaRPr lang="x-none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10630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−50∙ 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 = −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650</a:t>
                          </a:r>
                          <a:endParaRPr lang="x-none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650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÷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−50</m:t>
                              </m:r>
                            </m:oMath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75133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2ADA35C-B414-104B-8685-1FB5AA0DF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2113145"/>
                  </p:ext>
                </p:extLst>
              </p:nvPr>
            </p:nvGraphicFramePr>
            <p:xfrm>
              <a:off x="2094131" y="2236675"/>
              <a:ext cx="6989786" cy="312458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63935">
                      <a:extLst>
                        <a:ext uri="{9D8B030D-6E8A-4147-A177-3AD203B41FA5}">
                          <a16:colId xmlns:a16="http://schemas.microsoft.com/office/drawing/2014/main" val="3163699503"/>
                        </a:ext>
                      </a:extLst>
                    </a:gridCol>
                    <a:gridCol w="1503685">
                      <a:extLst>
                        <a:ext uri="{9D8B030D-6E8A-4147-A177-3AD203B41FA5}">
                          <a16:colId xmlns:a16="http://schemas.microsoft.com/office/drawing/2014/main" val="3432979414"/>
                        </a:ext>
                      </a:extLst>
                    </a:gridCol>
                    <a:gridCol w="2722166">
                      <a:extLst>
                        <a:ext uri="{9D8B030D-6E8A-4147-A177-3AD203B41FA5}">
                          <a16:colId xmlns:a16="http://schemas.microsoft.com/office/drawing/2014/main" val="2260497741"/>
                        </a:ext>
                      </a:extLst>
                    </a:gridCol>
                  </a:tblGrid>
                  <a:tr h="561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Equation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...related to…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Equation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397566"/>
                      </a:ext>
                    </a:extLst>
                  </a:tr>
                  <a:tr h="854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75000" r="-15367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744" t="-75000" r="-46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509850"/>
                      </a:ext>
                    </a:extLst>
                  </a:tr>
                  <a:tr h="854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77612" r="-153670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744" t="-177612" r="-465" b="-1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1063018"/>
                      </a:ext>
                    </a:extLst>
                  </a:tr>
                  <a:tr h="854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73529" r="-153670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744" t="-273529" r="-465" b="-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51331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DD6F82-094F-1541-96B6-7D3E0718F675}"/>
              </a:ext>
            </a:extLst>
          </p:cNvPr>
          <p:cNvCxnSpPr/>
          <p:nvPr/>
        </p:nvCxnSpPr>
        <p:spPr>
          <a:xfrm>
            <a:off x="5225273" y="4039988"/>
            <a:ext cx="781050" cy="0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6527DC-6ABB-BF4D-8F48-73A3F2A64002}"/>
              </a:ext>
            </a:extLst>
          </p:cNvPr>
          <p:cNvCxnSpPr/>
          <p:nvPr/>
        </p:nvCxnSpPr>
        <p:spPr>
          <a:xfrm>
            <a:off x="5225273" y="4944839"/>
            <a:ext cx="781050" cy="0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398E8F-D7F8-064B-9364-0D9378100BFA}"/>
              </a:ext>
            </a:extLst>
          </p:cNvPr>
          <p:cNvCxnSpPr/>
          <p:nvPr/>
        </p:nvCxnSpPr>
        <p:spPr>
          <a:xfrm>
            <a:off x="5226861" y="3220838"/>
            <a:ext cx="781050" cy="0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905</Words>
  <Application>Microsoft Office PowerPoint</Application>
  <PresentationFormat>Widescreen</PresentationFormat>
  <Paragraphs>151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6th Grade Math  Unit 7, Lesson 14  Multiplying and Dividing Integers with Procedural Fluency  Volume 2, pg. 64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Activity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2022-07-09T06:43:28Z</dcterms:modified>
</cp:coreProperties>
</file>