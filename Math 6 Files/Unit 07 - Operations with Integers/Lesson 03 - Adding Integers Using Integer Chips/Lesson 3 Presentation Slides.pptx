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0"/>
  </p:notesMasterIdLst>
  <p:sldIdLst>
    <p:sldId id="256" r:id="rId2"/>
    <p:sldId id="257" r:id="rId3"/>
    <p:sldId id="285" r:id="rId4"/>
    <p:sldId id="286" r:id="rId5"/>
    <p:sldId id="261" r:id="rId6"/>
    <p:sldId id="287" r:id="rId7"/>
    <p:sldId id="351" r:id="rId8"/>
    <p:sldId id="358" r:id="rId9"/>
    <p:sldId id="342" r:id="rId10"/>
    <p:sldId id="343" r:id="rId11"/>
    <p:sldId id="344" r:id="rId12"/>
    <p:sldId id="352" r:id="rId13"/>
    <p:sldId id="353" r:id="rId14"/>
    <p:sldId id="354" r:id="rId15"/>
    <p:sldId id="355" r:id="rId16"/>
    <p:sldId id="359" r:id="rId17"/>
    <p:sldId id="302" r:id="rId18"/>
    <p:sldId id="303" r:id="rId19"/>
    <p:sldId id="340" r:id="rId20"/>
    <p:sldId id="345" r:id="rId21"/>
    <p:sldId id="346" r:id="rId22"/>
    <p:sldId id="348" r:id="rId23"/>
    <p:sldId id="349" r:id="rId24"/>
    <p:sldId id="360" r:id="rId25"/>
    <p:sldId id="361" r:id="rId26"/>
    <p:sldId id="362" r:id="rId27"/>
    <p:sldId id="363" r:id="rId28"/>
    <p:sldId id="364" r:id="rId29"/>
    <p:sldId id="365" r:id="rId30"/>
    <p:sldId id="366" r:id="rId31"/>
    <p:sldId id="367" r:id="rId32"/>
    <p:sldId id="311" r:id="rId33"/>
    <p:sldId id="312" r:id="rId34"/>
    <p:sldId id="333" r:id="rId35"/>
    <p:sldId id="368" r:id="rId36"/>
    <p:sldId id="306" r:id="rId37"/>
    <p:sldId id="307" r:id="rId38"/>
    <p:sldId id="341" r:id="rId39"/>
  </p:sldIdLst>
  <p:sldSz cx="12192000" cy="6858000"/>
  <p:notesSz cx="6858000" cy="9144000"/>
  <p:embeddedFontLst>
    <p:embeddedFont>
      <p:font typeface="Verdana" pitchFamily="34" charset="0"/>
      <p:regular r:id="rId41"/>
      <p:bold r:id="rId42"/>
      <p:italic r:id="rId43"/>
      <p:boldItalic r:id="rId44"/>
    </p:embeddedFont>
    <p:embeddedFont>
      <p:font typeface="Calibri" pitchFamily="34" charset="0"/>
      <p:regular r:id="rId45"/>
      <p:bold r:id="rId46"/>
      <p:italic r:id="rId47"/>
      <p:boldItalic r:id="rId48"/>
    </p:embeddedFont>
    <p:embeddedFont>
      <p:font typeface="Century Gothic" pitchFamily="34" charset="0"/>
      <p:regular r:id="rId49"/>
      <p:bold r:id="rId50"/>
      <p:italic r:id="rId51"/>
      <p:boldItalic r:id="rId52"/>
    </p:embeddedFont>
    <p:embeddedFont>
      <p:font typeface="Cutive" charset="0"/>
      <p:regular r:id="rId53"/>
    </p:embeddedFont>
    <p:embeddedFont>
      <p:font typeface="Cambria Math" pitchFamily="18" charset="0"/>
      <p:regular r:id="rId54"/>
    </p:embeddedFont>
    <p:embeddedFont>
      <p:font typeface="Cambria" pitchFamily="18" charset="0"/>
      <p:regular r:id="rId55"/>
      <p:bold r:id="rId56"/>
      <p:italic r:id="rId57"/>
      <p:boldItalic r:id="rId58"/>
    </p:embeddedFont>
    <p:embeddedFont>
      <p:font typeface="Arial Black" pitchFamily="34" charset="0"/>
      <p:bold r:id="rId5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1"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6B7D4"/>
    <a:srgbClr val="14BAAA"/>
    <a:srgbClr val="E24E5F"/>
    <a:srgbClr val="52BDA6"/>
    <a:srgbClr val="276C46"/>
    <a:srgbClr val="C9DF6F"/>
    <a:srgbClr val="417DBF"/>
    <a:srgbClr val="3F2A67"/>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086"/>
    <p:restoredTop sz="94719"/>
  </p:normalViewPr>
  <p:slideViewPr>
    <p:cSldViewPr snapToGrid="0">
      <p:cViewPr varScale="1">
        <p:scale>
          <a:sx n="80" d="100"/>
          <a:sy n="80" d="100"/>
        </p:scale>
        <p:origin x="-293"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55" Type="http://schemas.openxmlformats.org/officeDocument/2006/relationships/font" Target="fonts/font15.fntdata"/><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1.fntdata"/><Relationship Id="rId54" Type="http://schemas.openxmlformats.org/officeDocument/2006/relationships/font" Target="fonts/font14.fntdata"/><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font" Target="fonts/font13.fntdata"/><Relationship Id="rId58" Type="http://schemas.openxmlformats.org/officeDocument/2006/relationships/font" Target="fonts/font1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9.fntdata"/><Relationship Id="rId57" Type="http://schemas.openxmlformats.org/officeDocument/2006/relationships/font" Target="fonts/font17.fntdata"/><Relationship Id="rId61"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font" Target="fonts/font12.fntdata"/><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56" Type="http://schemas.openxmlformats.org/officeDocument/2006/relationships/font" Target="fonts/font16.fntdata"/><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1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59" Type="http://schemas.openxmlformats.org/officeDocument/2006/relationships/font" Target="fonts/font1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5901275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8827350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9253724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2188141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9627584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5368421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5433010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5147452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2700940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7851944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4770190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42202826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40875314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6589136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8827459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0041515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21563059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24674253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37033066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3259198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40159919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23842969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30332174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31</a:t>
            </a:fld>
            <a:endParaRPr/>
          </a:p>
        </p:txBody>
      </p:sp>
    </p:spTree>
    <p:extLst>
      <p:ext uri="{BB962C8B-B14F-4D97-AF65-F5344CB8AC3E}">
        <p14:creationId xmlns:p14="http://schemas.microsoft.com/office/powerpoint/2010/main" val="29220831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33</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34</a:t>
            </a:fld>
            <a:endParaRPr/>
          </a:p>
        </p:txBody>
      </p:sp>
    </p:spTree>
    <p:extLst>
      <p:ext uri="{BB962C8B-B14F-4D97-AF65-F5344CB8AC3E}">
        <p14:creationId xmlns:p14="http://schemas.microsoft.com/office/powerpoint/2010/main" val="51196724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35</a:t>
            </a:fld>
            <a:endParaRPr/>
          </a:p>
        </p:txBody>
      </p:sp>
    </p:spTree>
    <p:extLst>
      <p:ext uri="{BB962C8B-B14F-4D97-AF65-F5344CB8AC3E}">
        <p14:creationId xmlns:p14="http://schemas.microsoft.com/office/powerpoint/2010/main" val="100465677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37</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38</a:t>
            </a:fld>
            <a:endParaRPr/>
          </a:p>
        </p:txBody>
      </p:sp>
    </p:spTree>
    <p:extLst>
      <p:ext uri="{BB962C8B-B14F-4D97-AF65-F5344CB8AC3E}">
        <p14:creationId xmlns:p14="http://schemas.microsoft.com/office/powerpoint/2010/main" val="29074847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3.jpe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30.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10.png"/><Relationship Id="rId7"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35.png"/><Relationship Id="rId5" Type="http://schemas.openxmlformats.org/officeDocument/2006/relationships/image" Target="../media/image340.png"/><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50.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22.png"/><Relationship Id="rId5" Type="http://schemas.openxmlformats.org/officeDocument/2006/relationships/image" Target="../media/image380.png"/><Relationship Id="rId4" Type="http://schemas.openxmlformats.org/officeDocument/2006/relationships/image" Target="../media/image370.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42.png"/><Relationship Id="rId2" Type="http://schemas.openxmlformats.org/officeDocument/2006/relationships/notesSlide" Target="../notesSlides/notesSlide26.xml"/><Relationship Id="rId1" Type="http://schemas.openxmlformats.org/officeDocument/2006/relationships/slideLayout" Target="../slideLayouts/slideLayout8.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0.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6" Type="http://schemas.openxmlformats.org/officeDocument/2006/relationships/image" Target="../media/image43.png"/><Relationship Id="rId5" Type="http://schemas.openxmlformats.org/officeDocument/2006/relationships/image" Target="../media/image35.png"/><Relationship Id="rId4" Type="http://schemas.openxmlformats.org/officeDocument/2006/relationships/image" Target="../media/image410.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420.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8.xml"/><Relationship Id="rId4" Type="http://schemas.openxmlformats.org/officeDocument/2006/relationships/image" Target="../media/image430.png"/></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4.xml"/><Relationship Id="rId1" Type="http://schemas.openxmlformats.org/officeDocument/2006/relationships/slideLayout" Target="../slideLayouts/slideLayout8.xml"/><Relationship Id="rId4" Type="http://schemas.openxmlformats.org/officeDocument/2006/relationships/image" Target="../media/image44.png"/></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6.xml"/><Relationship Id="rId1" Type="http://schemas.openxmlformats.org/officeDocument/2006/relationships/slideLayout" Target="../slideLayouts/slideLayout8.xml"/><Relationship Id="rId4" Type="http://schemas.openxmlformats.org/officeDocument/2006/relationships/image" Target="../media/image45.png"/></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3.png"/><Relationship Id="rId2" Type="http://schemas.openxmlformats.org/officeDocument/2006/relationships/notesSlide" Target="../notesSlides/notesSlide37.xml"/><Relationship Id="rId1" Type="http://schemas.openxmlformats.org/officeDocument/2006/relationships/slideLayout" Target="../slideLayouts/slideLayout8.xml"/><Relationship Id="rId6" Type="http://schemas.openxmlformats.org/officeDocument/2006/relationships/image" Target="../media/image22.png"/><Relationship Id="rId5" Type="http://schemas.openxmlformats.org/officeDocument/2006/relationships/image" Target="../media/image46.png"/><Relationship Id="rId4" Type="http://schemas.openxmlformats.org/officeDocument/2006/relationships/image" Target="../media/image45.png"/></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8.xml"/><Relationship Id="rId1" Type="http://schemas.openxmlformats.org/officeDocument/2006/relationships/slideLayout" Target="../slideLayouts/slideLayout8.xml"/><Relationship Id="rId4"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458748" y="2054275"/>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7, Lesson 3</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Adding Integers Using Integer Chips</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12</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xmlns=""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solidFill>
                <a:srgbClr val="26B7D4"/>
              </a:solidFill>
            </a:endParaRPr>
          </a:p>
        </p:txBody>
      </p:sp>
      <p:sp>
        <p:nvSpPr>
          <p:cNvPr id="279" name="Google Shape;279;g104476d1465_1_17"/>
          <p:cNvSpPr txBox="1">
            <a:spLocks noGrp="1"/>
          </p:cNvSpPr>
          <p:nvPr>
            <p:ph type="title" idx="4294967295"/>
          </p:nvPr>
        </p:nvSpPr>
        <p:spPr>
          <a:xfrm>
            <a:off x="1121850" y="-51387"/>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730265" y="1326150"/>
            <a:ext cx="11145645"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MA.6.NSO.4.1</a:t>
            </a: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Apply and extend previous understandings of operations with whole numbers to add and subtract integers with procedural fluency.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25875" y="0"/>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730265" y="1562524"/>
            <a:ext cx="11021467"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9" name="Google Shape;282;g104476d1465_1_17">
            <a:extLst>
              <a:ext uri="{FF2B5EF4-FFF2-40B4-BE49-F238E27FC236}">
                <a16:creationId xmlns:a16="http://schemas.microsoft.com/office/drawing/2014/main" xmlns="" id="{AC0AE969-0A27-9545-AB11-BBE5491801C1}"/>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158888" y="-88032"/>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730266" y="1237668"/>
            <a:ext cx="11010178" cy="449886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 I can express integer addition using integer chips.</a:t>
            </a:r>
          </a:p>
          <a:p>
            <a:pPr marL="285750" indent="-285750">
              <a:buFont typeface="Wingdings" pitchFamily="2" charset="2"/>
              <a:buChar char="q"/>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 I can add integers using integer chips.</a:t>
            </a:r>
          </a:p>
        </p:txBody>
      </p:sp>
      <p:sp>
        <p:nvSpPr>
          <p:cNvPr id="8" name="Google Shape;282;g104476d1465_1_17">
            <a:extLst>
              <a:ext uri="{FF2B5EF4-FFF2-40B4-BE49-F238E27FC236}">
                <a16:creationId xmlns:a16="http://schemas.microsoft.com/office/drawing/2014/main" xmlns="" id="{AE0319DD-E1E2-064E-A3C0-1ADADEA7DC73}"/>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52928"/>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5846" y="2766150"/>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xmlns="" id="{06503EB0-E904-7143-BA20-369F935837E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37332" y="-91047"/>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7.3.1 Warm-Up: Below Sea Level</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xmlns="" id="{079F083F-A67E-0047-8E64-5125815AF3D8}"/>
                  </a:ext>
                </a:extLst>
              </p:cNvPr>
              <p:cNvSpPr/>
              <p:nvPr/>
            </p:nvSpPr>
            <p:spPr>
              <a:xfrm>
                <a:off x="730266" y="1489863"/>
                <a:ext cx="7123620" cy="2862322"/>
              </a:xfrm>
              <a:prstGeom prst="rect">
                <a:avLst/>
              </a:prstGeom>
            </p:spPr>
            <p:txBody>
              <a:bodyPr wrap="square">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Dr. Ernest Everett Just was a pioneering African American biologist who conducted research at Woods Hole Marine Biological Laboratory in Massachusetts. He published two books and more than 70 scientific papers, most of which focused on the cell. Today, marine biologists use submarines to study marine life. </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r>
                  <a:rPr lang="en-US" sz="2000" dirty="0">
                    <a:latin typeface="Verdana" panose="020B0604030504040204" pitchFamily="34" charset="0"/>
                    <a:ea typeface="Times New Roman" panose="02020603050405020304" pitchFamily="18" charset="0"/>
                    <a:cs typeface="Times New Roman" panose="02020603050405020304" pitchFamily="18" charset="0"/>
                  </a:rPr>
                  <a:t>A submarine explorer begins at sea level and descends at a rate of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150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feet per minute. </a:t>
                </a:r>
              </a:p>
            </p:txBody>
          </p:sp>
        </mc:Choice>
        <mc:Fallback xmlns="">
          <p:sp>
            <p:nvSpPr>
              <p:cNvPr id="3" name="Rectangle 2">
                <a:extLst>
                  <a:ext uri="{FF2B5EF4-FFF2-40B4-BE49-F238E27FC236}">
                    <a16:creationId xmlns:a16="http://schemas.microsoft.com/office/drawing/2014/main" id="{079F083F-A67E-0047-8E64-5125815AF3D8}"/>
                  </a:ext>
                </a:extLst>
              </p:cNvPr>
              <p:cNvSpPr>
                <a:spLocks noRot="1" noChangeAspect="1" noMove="1" noResize="1" noEditPoints="1" noAdjustHandles="1" noChangeArrowheads="1" noChangeShapeType="1" noTextEdit="1"/>
              </p:cNvSpPr>
              <p:nvPr/>
            </p:nvSpPr>
            <p:spPr>
              <a:xfrm>
                <a:off x="730266" y="1489863"/>
                <a:ext cx="7123620" cy="2862322"/>
              </a:xfrm>
              <a:prstGeom prst="rect">
                <a:avLst/>
              </a:prstGeom>
              <a:blipFill>
                <a:blip r:embed="rId5"/>
                <a:stretch>
                  <a:fillRect l="-890" t="-1327" r="-2135" b="-2655"/>
                </a:stretch>
              </a:blipFill>
            </p:spPr>
            <p:txBody>
              <a:bodyPr/>
              <a:lstStyle/>
              <a:p>
                <a:r>
                  <a:rPr lang="en-US">
                    <a:noFill/>
                  </a:rPr>
                  <a:t> </a:t>
                </a:r>
              </a:p>
            </p:txBody>
          </p:sp>
        </mc:Fallback>
      </mc:AlternateContent>
      <p:sp>
        <p:nvSpPr>
          <p:cNvPr id="18" name="Google Shape;282;g104476d1465_1_17">
            <a:extLst>
              <a:ext uri="{FF2B5EF4-FFF2-40B4-BE49-F238E27FC236}">
                <a16:creationId xmlns:a16="http://schemas.microsoft.com/office/drawing/2014/main" xmlns="" id="{570FC961-D801-0C4E-8D4A-AEC23A74C9C3}"/>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a:t>
            </a:r>
            <a:endParaRPr i="1" dirty="0">
              <a:latin typeface="Calibri"/>
              <a:ea typeface="Calibri"/>
              <a:cs typeface="Calibri"/>
              <a:sym typeface="Calibri"/>
            </a:endParaRPr>
          </a:p>
        </p:txBody>
      </p:sp>
      <p:pic>
        <p:nvPicPr>
          <p:cNvPr id="9" name="Picture 8" descr="A picture containing text, person, person, indoor&#10;&#10;Description automatically generated">
            <a:extLst>
              <a:ext uri="{FF2B5EF4-FFF2-40B4-BE49-F238E27FC236}">
                <a16:creationId xmlns:a16="http://schemas.microsoft.com/office/drawing/2014/main" xmlns="" id="{D04FF65F-17FA-AB40-823E-D7AE0190ACD4}"/>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bwMode="auto">
          <a:xfrm>
            <a:off x="8631750" y="1489863"/>
            <a:ext cx="2094865" cy="3365500"/>
          </a:xfrm>
          <a:prstGeom prst="rect">
            <a:avLst/>
          </a:prstGeom>
          <a:noFill/>
          <a:ln>
            <a:noFill/>
          </a:ln>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xmlns="" id="{079F083F-A67E-0047-8E64-5125815AF3D8}"/>
                  </a:ext>
                </a:extLst>
              </p:cNvPr>
              <p:cNvSpPr/>
              <p:nvPr/>
            </p:nvSpPr>
            <p:spPr>
              <a:xfrm>
                <a:off x="588334" y="700996"/>
                <a:ext cx="11231133" cy="3477875"/>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Sketch a picture that shows how far below sea level the submarine will be in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3</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minutes.</a:t>
                </a:r>
              </a:p>
              <a:p>
                <a:pPr marL="457200" indent="-4572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Add a bird that is flying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1,000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feet above sea level to your picture. </a:t>
                </a:r>
              </a:p>
            </p:txBody>
          </p:sp>
        </mc:Choice>
        <mc:Fallback xmlns="">
          <p:sp>
            <p:nvSpPr>
              <p:cNvPr id="3" name="Rectangle 2">
                <a:extLst>
                  <a:ext uri="{FF2B5EF4-FFF2-40B4-BE49-F238E27FC236}">
                    <a16:creationId xmlns:a16="http://schemas.microsoft.com/office/drawing/2014/main" id="{079F083F-A67E-0047-8E64-5125815AF3D8}"/>
                  </a:ext>
                </a:extLst>
              </p:cNvPr>
              <p:cNvSpPr>
                <a:spLocks noRot="1" noChangeAspect="1" noMove="1" noResize="1" noEditPoints="1" noAdjustHandles="1" noChangeArrowheads="1" noChangeShapeType="1" noTextEdit="1"/>
              </p:cNvSpPr>
              <p:nvPr/>
            </p:nvSpPr>
            <p:spPr>
              <a:xfrm>
                <a:off x="588334" y="700996"/>
                <a:ext cx="11231133" cy="3477875"/>
              </a:xfrm>
              <a:prstGeom prst="rect">
                <a:avLst/>
              </a:prstGeom>
              <a:blipFill>
                <a:blip r:embed="rId4"/>
                <a:stretch>
                  <a:fillRect l="-565" t="-1091" b="-2182"/>
                </a:stretch>
              </a:blipFill>
            </p:spPr>
            <p:txBody>
              <a:bodyPr/>
              <a:lstStyle/>
              <a:p>
                <a:r>
                  <a:rPr lang="en-US">
                    <a:noFill/>
                  </a:rPr>
                  <a:t> </a:t>
                </a:r>
              </a:p>
            </p:txBody>
          </p:sp>
        </mc:Fallback>
      </mc:AlternateContent>
      <p:sp>
        <p:nvSpPr>
          <p:cNvPr id="18" name="Google Shape;282;g104476d1465_1_17">
            <a:extLst>
              <a:ext uri="{FF2B5EF4-FFF2-40B4-BE49-F238E27FC236}">
                <a16:creationId xmlns:a16="http://schemas.microsoft.com/office/drawing/2014/main" xmlns="" id="{570FC961-D801-0C4E-8D4A-AEC23A74C9C3}"/>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a:t>
            </a:r>
            <a:endParaRPr i="1" dirty="0">
              <a:latin typeface="Calibri"/>
              <a:ea typeface="Calibri"/>
              <a:cs typeface="Calibri"/>
              <a:sym typeface="Calibri"/>
            </a:endParaRPr>
          </a:p>
        </p:txBody>
      </p:sp>
    </p:spTree>
    <p:extLst>
      <p:ext uri="{BB962C8B-B14F-4D97-AF65-F5344CB8AC3E}">
        <p14:creationId xmlns:p14="http://schemas.microsoft.com/office/powerpoint/2010/main" val="2722882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 name="Rectangle 2">
            <a:extLst>
              <a:ext uri="{FF2B5EF4-FFF2-40B4-BE49-F238E27FC236}">
                <a16:creationId xmlns:a16="http://schemas.microsoft.com/office/drawing/2014/main" xmlns="" id="{079F083F-A67E-0047-8E64-5125815AF3D8}"/>
              </a:ext>
            </a:extLst>
          </p:cNvPr>
          <p:cNvSpPr/>
          <p:nvPr/>
        </p:nvSpPr>
        <p:spPr>
          <a:xfrm>
            <a:off x="498023" y="633264"/>
            <a:ext cx="10578955" cy="4401205"/>
          </a:xfrm>
          <a:prstGeom prst="rect">
            <a:avLst/>
          </a:prstGeom>
        </p:spPr>
        <p:txBody>
          <a:bodyPr wrap="square">
            <a:spAutoFit/>
          </a:bodyPr>
          <a:lstStyle/>
          <a:p>
            <a:pPr marL="457200" indent="-457200">
              <a:buFont typeface="+mj-lt"/>
              <a:buAutoNum type="arabi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What number represents sea level?</a:t>
            </a:r>
          </a:p>
          <a:p>
            <a:pPr marL="457200" indent="-457200">
              <a:buFont typeface="+mj-lt"/>
              <a:buAutoNum type="arabi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statement.</a:t>
            </a:r>
          </a:p>
          <a:p>
            <a:pPr marL="457200" indent="-457200">
              <a:buFont typeface="+mj-lt"/>
              <a:buAutoNum type="arabi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r>
              <a:rPr lang="en-US" sz="2000" dirty="0">
                <a:latin typeface="Verdana" panose="020B0604030504040204" pitchFamily="34" charset="0"/>
                <a:ea typeface="Times New Roman" panose="02020603050405020304" pitchFamily="18" charset="0"/>
                <a:cs typeface="Times New Roman" panose="02020603050405020304" pitchFamily="18" charset="0"/>
              </a:rPr>
              <a:t>The location of the submarine is represented by a</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r>
              <a:rPr lang="en-US" sz="2000" dirty="0">
                <a:latin typeface="Verdana" panose="020B0604030504040204" pitchFamily="34" charset="0"/>
                <a:ea typeface="Times New Roman" panose="02020603050405020304" pitchFamily="18" charset="0"/>
                <a:cs typeface="Times New Roman" panose="02020603050405020304" pitchFamily="18" charset="0"/>
              </a:rPr>
              <a:t>                        while the location of the bird is </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r>
              <a:rPr lang="en-US" sz="2000" dirty="0">
                <a:latin typeface="Verdana" panose="020B0604030504040204" pitchFamily="34" charset="0"/>
                <a:ea typeface="Times New Roman" panose="02020603050405020304" pitchFamily="18" charset="0"/>
                <a:cs typeface="Times New Roman" panose="02020603050405020304" pitchFamily="18" charset="0"/>
              </a:rPr>
              <a:t>represented by a</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p:txBody>
      </p:sp>
      <p:sp>
        <p:nvSpPr>
          <p:cNvPr id="18" name="Google Shape;282;g104476d1465_1_17">
            <a:extLst>
              <a:ext uri="{FF2B5EF4-FFF2-40B4-BE49-F238E27FC236}">
                <a16:creationId xmlns:a16="http://schemas.microsoft.com/office/drawing/2014/main" xmlns="" id="{570FC961-D801-0C4E-8D4A-AEC23A74C9C3}"/>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a:t>
            </a:r>
            <a:endParaRPr i="1" dirty="0">
              <a:latin typeface="Calibri"/>
              <a:ea typeface="Calibri"/>
              <a:cs typeface="Calibri"/>
              <a:sym typeface="Calibri"/>
            </a:endParaRPr>
          </a:p>
        </p:txBody>
      </p:sp>
      <p:pic>
        <p:nvPicPr>
          <p:cNvPr id="4" name="Picture 3" descr="A picture containing text&#10;&#10;Description automatically generated">
            <a:extLst>
              <a:ext uri="{FF2B5EF4-FFF2-40B4-BE49-F238E27FC236}">
                <a16:creationId xmlns:a16="http://schemas.microsoft.com/office/drawing/2014/main" xmlns="" id="{7C6E7724-03B4-B44E-A606-7C55BEB866F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98023" y="3214836"/>
            <a:ext cx="2014567" cy="688523"/>
          </a:xfrm>
          <a:prstGeom prst="rect">
            <a:avLst/>
          </a:prstGeom>
        </p:spPr>
      </p:pic>
      <p:pic>
        <p:nvPicPr>
          <p:cNvPr id="6" name="Picture 5" descr="Text&#10;&#10;Description automatically generated with medium confidence">
            <a:extLst>
              <a:ext uri="{FF2B5EF4-FFF2-40B4-BE49-F238E27FC236}">
                <a16:creationId xmlns:a16="http://schemas.microsoft.com/office/drawing/2014/main" xmlns="" id="{9175E80C-CA26-8B45-9D47-03E3E880AB58}"/>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959758" y="3903359"/>
            <a:ext cx="2014567" cy="663467"/>
          </a:xfrm>
          <a:prstGeom prst="rect">
            <a:avLst/>
          </a:prstGeom>
        </p:spPr>
      </p:pic>
    </p:spTree>
    <p:extLst>
      <p:ext uri="{BB962C8B-B14F-4D97-AF65-F5344CB8AC3E}">
        <p14:creationId xmlns:p14="http://schemas.microsoft.com/office/powerpoint/2010/main" val="32351893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0829" y="2852928"/>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Guided Instruction</a:t>
            </a:r>
            <a:endParaRPr sz="5100" b="1" dirty="0">
              <a:solidFill>
                <a:srgbClr val="26B7D4"/>
              </a:solidFill>
              <a:latin typeface="Verdana"/>
              <a:ea typeface="Verdana"/>
              <a:cs typeface="Verdana"/>
              <a:sym typeface="Verdana"/>
            </a:endParaRPr>
          </a:p>
        </p:txBody>
      </p:sp>
      <p:sp>
        <p:nvSpPr>
          <p:cNvPr id="9" name="Google Shape;282;g104476d1465_1_17">
            <a:extLst>
              <a:ext uri="{FF2B5EF4-FFF2-40B4-BE49-F238E27FC236}">
                <a16:creationId xmlns:a16="http://schemas.microsoft.com/office/drawing/2014/main" xmlns="" id="{AE80E75D-78AE-A94E-86B4-91D469B7BFAD}"/>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a:t>
            </a:r>
            <a:endParaRPr i="1" dirty="0">
              <a:latin typeface="Calibri"/>
              <a:ea typeface="Calibri"/>
              <a:cs typeface="Calibri"/>
              <a:sym typeface="Calibri"/>
            </a:endParaRPr>
          </a:p>
        </p:txBody>
      </p:sp>
      <p:pic>
        <p:nvPicPr>
          <p:cNvPr id="7" name="Picture 6" descr="Icon&#10;&#10;Description automatically generated">
            <a:extLst>
              <a:ext uri="{FF2B5EF4-FFF2-40B4-BE49-F238E27FC236}">
                <a16:creationId xmlns:a16="http://schemas.microsoft.com/office/drawing/2014/main" xmlns="" id="{C031FE84-D423-CC4C-831E-2D526CB9114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56733" cy="1156733"/>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393530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03916" y="-93843"/>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7.3.2 Guided Instruction: Zero Pairs</a:t>
            </a:r>
          </a:p>
        </p:txBody>
      </p:sp>
      <p:sp>
        <p:nvSpPr>
          <p:cNvPr id="2" name="Rectangle 1">
            <a:extLst>
              <a:ext uri="{FF2B5EF4-FFF2-40B4-BE49-F238E27FC236}">
                <a16:creationId xmlns:a16="http://schemas.microsoft.com/office/drawing/2014/main" xmlns="" id="{B2BE9AFC-D858-8947-AE27-3738478587E3}"/>
              </a:ext>
            </a:extLst>
          </p:cNvPr>
          <p:cNvSpPr/>
          <p:nvPr/>
        </p:nvSpPr>
        <p:spPr>
          <a:xfrm>
            <a:off x="672328" y="1243479"/>
            <a:ext cx="10966516" cy="4401205"/>
          </a:xfrm>
          <a:prstGeom prst="rect">
            <a:avLst/>
          </a:prstGeom>
        </p:spPr>
        <p:txBody>
          <a:bodyPr wrap="square">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Positive and negative values are often useful in the contexts of money, banking, and accounting.</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In the context of money,                     numbers </a:t>
            </a:r>
          </a:p>
          <a:p>
            <a:pPr marL="342900" indent="-342900">
              <a:buFont typeface="Arial" panose="020B0604020202020204" pitchFamily="34" charset="0"/>
              <a:buChar char="•"/>
            </a:pPr>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can be used to represent money spent or money</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owed to someone.</a:t>
            </a:r>
          </a:p>
          <a:p>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                   numbers can be used to represent money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earned.</a:t>
            </a:r>
          </a:p>
          <a:p>
            <a:pPr marL="342900" indent="-342900">
              <a:buFont typeface="Arial" panose="020B0604020202020204" pitchFamily="34" charset="0"/>
              <a:buChar char="•"/>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10" name="Google Shape;282;g104476d1465_1_17">
            <a:extLst>
              <a:ext uri="{FF2B5EF4-FFF2-40B4-BE49-F238E27FC236}">
                <a16:creationId xmlns:a16="http://schemas.microsoft.com/office/drawing/2014/main" xmlns="" id="{A0B3F56A-90D4-0546-BD18-061853EE9422}"/>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a:t>
            </a:r>
            <a:endParaRPr i="1" dirty="0">
              <a:latin typeface="Calibri"/>
              <a:ea typeface="Calibri"/>
              <a:cs typeface="Calibri"/>
              <a:sym typeface="Calibri"/>
            </a:endParaRPr>
          </a:p>
        </p:txBody>
      </p:sp>
      <p:sp>
        <p:nvSpPr>
          <p:cNvPr id="11" name="Rectangle 10">
            <a:extLst>
              <a:ext uri="{FF2B5EF4-FFF2-40B4-BE49-F238E27FC236}">
                <a16:creationId xmlns:a16="http://schemas.microsoft.com/office/drawing/2014/main" xmlns="" id="{63FB836D-7BF8-B941-8F1E-1C998C7EDD5F}"/>
              </a:ext>
            </a:extLst>
          </p:cNvPr>
          <p:cNvSpPr/>
          <p:nvPr/>
        </p:nvSpPr>
        <p:spPr>
          <a:xfrm>
            <a:off x="2146200" y="2419359"/>
            <a:ext cx="8333128" cy="1019277"/>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12" name="Picture 11" descr="Icon&#10;&#10;Description automatically generated">
            <a:extLst>
              <a:ext uri="{FF2B5EF4-FFF2-40B4-BE49-F238E27FC236}">
                <a16:creationId xmlns:a16="http://schemas.microsoft.com/office/drawing/2014/main" xmlns="" id="{C6C9C2DF-E989-BB45-9CB6-957F2793000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56616" y="201168"/>
            <a:ext cx="747300" cy="747300"/>
          </a:xfrm>
          <a:prstGeom prst="rect">
            <a:avLst/>
          </a:prstGeom>
        </p:spPr>
      </p:pic>
      <p:pic>
        <p:nvPicPr>
          <p:cNvPr id="4" name="Picture 3" descr="A picture containing shape&#10;&#10;Description automatically generated">
            <a:extLst>
              <a:ext uri="{FF2B5EF4-FFF2-40B4-BE49-F238E27FC236}">
                <a16:creationId xmlns:a16="http://schemas.microsoft.com/office/drawing/2014/main" xmlns="" id="{C10ECC53-9920-A64C-99F1-27CBD8FD60E6}"/>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506092" y="1955002"/>
            <a:ext cx="1440726" cy="759758"/>
          </a:xfrm>
          <a:prstGeom prst="rect">
            <a:avLst/>
          </a:prstGeom>
        </p:spPr>
      </p:pic>
      <p:pic>
        <p:nvPicPr>
          <p:cNvPr id="6" name="Picture 5" descr="A picture containing shape&#10;&#10;Description automatically generated">
            <a:extLst>
              <a:ext uri="{FF2B5EF4-FFF2-40B4-BE49-F238E27FC236}">
                <a16:creationId xmlns:a16="http://schemas.microsoft.com/office/drawing/2014/main" xmlns="" id="{7E4B8E35-0254-D347-823B-8AE07648EA3E}"/>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060072" y="4012704"/>
            <a:ext cx="1582556" cy="788175"/>
          </a:xfrm>
          <a:prstGeom prst="rect">
            <a:avLst/>
          </a:prstGeom>
        </p:spPr>
      </p:pic>
    </p:spTree>
    <p:extLst>
      <p:ext uri="{BB962C8B-B14F-4D97-AF65-F5344CB8AC3E}">
        <p14:creationId xmlns:p14="http://schemas.microsoft.com/office/powerpoint/2010/main" val="41948012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22E7CAFC-319F-CE4F-8B26-ED2749A56CDA}"/>
                  </a:ext>
                </a:extLst>
              </p:cNvPr>
              <p:cNvSpPr/>
              <p:nvPr/>
            </p:nvSpPr>
            <p:spPr>
              <a:xfrm>
                <a:off x="624030" y="491193"/>
                <a:ext cx="11443792" cy="2862322"/>
              </a:xfrm>
              <a:prstGeom prst="rect">
                <a:avLst/>
              </a:prstGeom>
            </p:spPr>
            <p:txBody>
              <a:bodyPr wrap="square">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Money can be used to learn how to add integers.</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Arial" panose="020B0604020202020204" pitchFamily="34" charset="0"/>
                  <a:buChar char="•"/>
                </a:pPr>
                <a:r>
                  <a:rPr lang="en-US" sz="2000" dirty="0">
                    <a:latin typeface="Verdana" panose="020B0604030504040204" pitchFamily="34" charset="0"/>
                    <a:ea typeface="Times New Roman" panose="02020603050405020304" pitchFamily="18" charset="0"/>
                    <a:cs typeface="Times New Roman" panose="02020603050405020304" pitchFamily="18" charset="0"/>
                  </a:rPr>
                  <a:t>A value of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means that you ________________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Arial" panose="020B0604020202020204" pitchFamily="34" charset="0"/>
                  <a:buChar char="•"/>
                </a:pPr>
                <a:r>
                  <a:rPr lang="en-US" sz="2000" dirty="0">
                    <a:latin typeface="Verdana" panose="020B0604030504040204" pitchFamily="34" charset="0"/>
                    <a:ea typeface="Times New Roman" panose="02020603050405020304" pitchFamily="18" charset="0"/>
                    <a:cs typeface="Times New Roman" panose="02020603050405020304" pitchFamily="18" charset="0"/>
                  </a:rPr>
                  <a:t>A value of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means that you ________________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or __________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r>
                  <a:rPr lang="en-US" sz="2000" dirty="0">
                    <a:latin typeface="Verdana" panose="020B0604030504040204" pitchFamily="34" charset="0"/>
                    <a:ea typeface="Times New Roman" panose="02020603050405020304" pitchFamily="18" charset="0"/>
                    <a:cs typeface="Times New Roman" panose="02020603050405020304" pitchFamily="18" charset="0"/>
                  </a:rPr>
                  <a:t>The table below shows a positive integer chip, which represents earning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and a negative integer chip, which represents spending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p>
            </p:txBody>
          </p:sp>
        </mc:Choice>
        <mc:Fallback xmlns="">
          <p:sp>
            <p:nvSpPr>
              <p:cNvPr id="2" name="Rectangle 1">
                <a:extLst>
                  <a:ext uri="{FF2B5EF4-FFF2-40B4-BE49-F238E27FC236}">
                    <a16:creationId xmlns:a16="http://schemas.microsoft.com/office/drawing/2014/main" id="{22E7CAFC-319F-CE4F-8B26-ED2749A56CDA}"/>
                  </a:ext>
                </a:extLst>
              </p:cNvPr>
              <p:cNvSpPr>
                <a:spLocks noRot="1" noChangeAspect="1" noMove="1" noResize="1" noEditPoints="1" noAdjustHandles="1" noChangeArrowheads="1" noChangeShapeType="1" noTextEdit="1"/>
              </p:cNvSpPr>
              <p:nvPr/>
            </p:nvSpPr>
            <p:spPr>
              <a:xfrm>
                <a:off x="624030" y="491193"/>
                <a:ext cx="11443792" cy="2862322"/>
              </a:xfrm>
              <a:prstGeom prst="rect">
                <a:avLst/>
              </a:prstGeom>
              <a:blipFill>
                <a:blip r:embed="rId4"/>
                <a:stretch>
                  <a:fillRect l="-443" t="-885" b="-3097"/>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a:t>
            </a:r>
            <a:endParaRPr i="1" dirty="0">
              <a:latin typeface="Calibri"/>
              <a:ea typeface="Calibri"/>
              <a:cs typeface="Calibri"/>
              <a:sym typeface="Calibri"/>
            </a:endParaRPr>
          </a:p>
        </p:txBody>
      </p:sp>
      <p:graphicFrame>
        <p:nvGraphicFramePr>
          <p:cNvPr id="5" name="Table 4">
            <a:extLst>
              <a:ext uri="{FF2B5EF4-FFF2-40B4-BE49-F238E27FC236}">
                <a16:creationId xmlns:a16="http://schemas.microsoft.com/office/drawing/2014/main" xmlns="" id="{BBDFA915-3327-EE42-9336-E988DBE19FD8}"/>
              </a:ext>
            </a:extLst>
          </p:cNvPr>
          <p:cNvGraphicFramePr>
            <a:graphicFrameLocks noGrp="1"/>
          </p:cNvGraphicFramePr>
          <p:nvPr>
            <p:extLst>
              <p:ext uri="{D42A27DB-BD31-4B8C-83A1-F6EECF244321}">
                <p14:modId xmlns:p14="http://schemas.microsoft.com/office/powerpoint/2010/main" val="4247490574"/>
              </p:ext>
            </p:extLst>
          </p:nvPr>
        </p:nvGraphicFramePr>
        <p:xfrm>
          <a:off x="4321863" y="3780238"/>
          <a:ext cx="4048126" cy="996950"/>
        </p:xfrm>
        <a:graphic>
          <a:graphicData uri="http://schemas.openxmlformats.org/drawingml/2006/table">
            <a:tbl>
              <a:tblPr bandRow="1">
                <a:tableStyleId>{A91F0D33-8C57-4600-99A7-42BC86742BE1}</a:tableStyleId>
              </a:tblPr>
              <a:tblGrid>
                <a:gridCol w="2024063">
                  <a:extLst>
                    <a:ext uri="{9D8B030D-6E8A-4147-A177-3AD203B41FA5}">
                      <a16:colId xmlns:a16="http://schemas.microsoft.com/office/drawing/2014/main" xmlns="" val="1717861969"/>
                    </a:ext>
                  </a:extLst>
                </a:gridCol>
                <a:gridCol w="2024063">
                  <a:extLst>
                    <a:ext uri="{9D8B030D-6E8A-4147-A177-3AD203B41FA5}">
                      <a16:colId xmlns:a16="http://schemas.microsoft.com/office/drawing/2014/main" xmlns="" val="2955661303"/>
                    </a:ext>
                  </a:extLst>
                </a:gridCol>
              </a:tblGrid>
              <a:tr h="279400">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Earn</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Spend</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2875449658"/>
                  </a:ext>
                </a:extLst>
              </a:tr>
              <a:tr h="717550">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358989212"/>
                  </a:ext>
                </a:extLst>
              </a:tr>
            </a:tbl>
          </a:graphicData>
        </a:graphic>
      </p:graphicFrame>
      <p:pic>
        <p:nvPicPr>
          <p:cNvPr id="12" name="image2.png" descr="A close up of a sign&#10;&#10;Description automatically generated">
            <a:extLst>
              <a:ext uri="{FF2B5EF4-FFF2-40B4-BE49-F238E27FC236}">
                <a16:creationId xmlns:a16="http://schemas.microsoft.com/office/drawing/2014/main" xmlns="" id="{F89B664F-3EC6-504C-9314-EC7B3DA54622}"/>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5041225" y="4155391"/>
            <a:ext cx="621665" cy="621665"/>
          </a:xfrm>
          <a:prstGeom prst="rect">
            <a:avLst/>
          </a:prstGeom>
          <a:ln/>
        </p:spPr>
      </p:pic>
      <p:pic>
        <p:nvPicPr>
          <p:cNvPr id="13" name="image1.png" descr="A picture containing clock&#10;&#10;Description automatically generated">
            <a:extLst>
              <a:ext uri="{FF2B5EF4-FFF2-40B4-BE49-F238E27FC236}">
                <a16:creationId xmlns:a16="http://schemas.microsoft.com/office/drawing/2014/main" xmlns="" id="{FE6312DC-53EB-CD48-939E-EC1A0D8793BC}"/>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7003917" y="4155392"/>
            <a:ext cx="621665" cy="621665"/>
          </a:xfrm>
          <a:prstGeom prst="rect">
            <a:avLst/>
          </a:prstGeom>
          <a:ln/>
        </p:spPr>
      </p:pic>
    </p:spTree>
    <p:extLst>
      <p:ext uri="{BB962C8B-B14F-4D97-AF65-F5344CB8AC3E}">
        <p14:creationId xmlns:p14="http://schemas.microsoft.com/office/powerpoint/2010/main" val="21533463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933"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22E7CAFC-319F-CE4F-8B26-ED2749A56CDA}"/>
              </a:ext>
            </a:extLst>
          </p:cNvPr>
          <p:cNvSpPr/>
          <p:nvPr/>
        </p:nvSpPr>
        <p:spPr>
          <a:xfrm>
            <a:off x="600894" y="742274"/>
            <a:ext cx="10575106" cy="461665"/>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Integer chips can also be used to represent integers.</a:t>
            </a:r>
          </a:p>
        </p:txBody>
      </p:sp>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13</a:t>
            </a:r>
            <a:endParaRPr i="1" dirty="0">
              <a:latin typeface="Calibri"/>
              <a:ea typeface="Calibri"/>
              <a:cs typeface="Calibri"/>
              <a:sym typeface="Calibri"/>
            </a:endParaRPr>
          </a:p>
        </p:txBody>
      </p:sp>
      <p:grpSp>
        <p:nvGrpSpPr>
          <p:cNvPr id="6" name="Group 5">
            <a:extLst>
              <a:ext uri="{FF2B5EF4-FFF2-40B4-BE49-F238E27FC236}">
                <a16:creationId xmlns:a16="http://schemas.microsoft.com/office/drawing/2014/main" xmlns="" id="{8C0E5D0F-DAED-9644-B355-471926C6703A}"/>
              </a:ext>
            </a:extLst>
          </p:cNvPr>
          <p:cNvGrpSpPr/>
          <p:nvPr/>
        </p:nvGrpSpPr>
        <p:grpSpPr>
          <a:xfrm>
            <a:off x="2707090" y="2132936"/>
            <a:ext cx="6777819" cy="830997"/>
            <a:chOff x="0" y="0"/>
            <a:chExt cx="6629400" cy="812800"/>
          </a:xfrm>
        </p:grpSpPr>
        <p:sp>
          <p:nvSpPr>
            <p:cNvPr id="7" name="Text Box 37">
              <a:extLst>
                <a:ext uri="{FF2B5EF4-FFF2-40B4-BE49-F238E27FC236}">
                  <a16:creationId xmlns:a16="http://schemas.microsoft.com/office/drawing/2014/main" xmlns="" id="{ACE3E05B-B0C3-4048-862B-1D2957EFC110}"/>
                </a:ext>
              </a:extLst>
            </p:cNvPr>
            <p:cNvSpPr txBox="1"/>
            <p:nvPr/>
          </p:nvSpPr>
          <p:spPr>
            <a:xfrm>
              <a:off x="0" y="0"/>
              <a:ext cx="6629400" cy="812800"/>
            </a:xfrm>
            <a:prstGeom prst="roundRect">
              <a:avLst/>
            </a:prstGeom>
            <a:solidFill>
              <a:srgbClr val="E2EED5"/>
            </a:solidFill>
            <a:ln>
              <a:noFill/>
            </a:ln>
            <a:effectLst>
              <a:outerShdw blurRad="50800" dist="381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628650"/>
              <a:r>
                <a:rPr lang="en-US" sz="1800" b="1" i="1" dirty="0">
                  <a:solidFill>
                    <a:srgbClr val="6C993D"/>
                  </a:solidFill>
                  <a:latin typeface="Verdana" panose="020B0604030504040204" pitchFamily="34" charset="0"/>
                  <a:ea typeface="Verdana" panose="020B0604030504040204" pitchFamily="34" charset="0"/>
                  <a:cs typeface="Verdana" panose="020B0604030504040204" pitchFamily="34" charset="0"/>
                </a:rPr>
                <a:t>Integers</a:t>
              </a:r>
              <a:r>
                <a:rPr lang="en-US" sz="1800" b="1" dirty="0">
                  <a:solidFill>
                    <a:srgbClr val="6C993D"/>
                  </a:solidFill>
                  <a:latin typeface="Verdana" panose="020B0604030504040204" pitchFamily="34" charset="0"/>
                  <a:ea typeface="Verdana" panose="020B0604030504040204" pitchFamily="34" charset="0"/>
                  <a:cs typeface="Verdana" panose="020B0604030504040204" pitchFamily="34" charset="0"/>
                </a:rPr>
                <a:t> </a:t>
              </a:r>
              <a:r>
                <a:rPr lang="en-US" sz="1800" dirty="0">
                  <a:solidFill>
                    <a:srgbClr val="6C993D"/>
                  </a:solidFill>
                  <a:latin typeface="Verdana" panose="020B0604030504040204" pitchFamily="34" charset="0"/>
                  <a:ea typeface="Verdana" panose="020B0604030504040204" pitchFamily="34" charset="0"/>
                  <a:cs typeface="Verdana" panose="020B0604030504040204" pitchFamily="34" charset="0"/>
                </a:rPr>
                <a:t>are whole numbers and their opposites.</a:t>
              </a:r>
              <a:endParaRPr lang="x-none" sz="1200" dirty="0">
                <a:ea typeface="Times New Roman" panose="02020603050405020304" pitchFamily="18" charset="0"/>
                <a:cs typeface="Cambria" panose="02040503050406030204" pitchFamily="18" charset="0"/>
              </a:endParaRPr>
            </a:p>
          </p:txBody>
        </p:sp>
        <p:pic>
          <p:nvPicPr>
            <p:cNvPr id="8" name="Picture 7" descr="Icon&#10;&#10;Description automatically generated">
              <a:extLst>
                <a:ext uri="{FF2B5EF4-FFF2-40B4-BE49-F238E27FC236}">
                  <a16:creationId xmlns:a16="http://schemas.microsoft.com/office/drawing/2014/main" xmlns="" id="{3BB5D47E-2050-B643-83B0-782846E17AC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38545" y="92367"/>
              <a:ext cx="539750" cy="539750"/>
            </a:xfrm>
            <a:prstGeom prst="rect">
              <a:avLst/>
            </a:prstGeom>
            <a:effectLst>
              <a:outerShdw blurRad="50800" dist="38100" dir="2700000" algn="tl" rotWithShape="0">
                <a:prstClr val="black">
                  <a:alpha val="40000"/>
                </a:prstClr>
              </a:outerShdw>
            </a:effectLst>
          </p:spPr>
        </p:pic>
      </p:grpSp>
    </p:spTree>
    <p:extLst>
      <p:ext uri="{BB962C8B-B14F-4D97-AF65-F5344CB8AC3E}">
        <p14:creationId xmlns:p14="http://schemas.microsoft.com/office/powerpoint/2010/main" val="3708168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22E7CAFC-319F-CE4F-8B26-ED2749A56CDA}"/>
                  </a:ext>
                </a:extLst>
              </p:cNvPr>
              <p:cNvSpPr/>
              <p:nvPr/>
            </p:nvSpPr>
            <p:spPr>
              <a:xfrm>
                <a:off x="400332" y="387866"/>
                <a:ext cx="11532024" cy="2868991"/>
              </a:xfrm>
              <a:prstGeom prst="rect">
                <a:avLst/>
              </a:prstGeom>
            </p:spPr>
            <p:txBody>
              <a:bodyPr wrap="square">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A positive number can be written with a positive sign,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or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or it can be written without any sign,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A negative number can be written as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or </a:t>
                </a:r>
                <a14:m>
                  <m:oMath xmlns:m="http://schemas.openxmlformats.org/officeDocument/2006/math">
                    <m:sPre>
                      <m:sPrePr>
                        <m:ctrlPr>
                          <a:rPr lang="en-US" sz="2000" i="1" dirty="0">
                            <a:latin typeface="Cambria Math"/>
                            <a:ea typeface="Times New Roman" panose="02020603050405020304" pitchFamily="18" charset="0"/>
                            <a:cs typeface="Times New Roman" panose="02020603050405020304" pitchFamily="18" charset="0"/>
                          </a:rPr>
                        </m:ctrlPr>
                      </m:sPrePr>
                      <m:sub/>
                      <m:sup>
                        <m:r>
                          <a:rPr lang="es-ES" sz="2000" i="1" dirty="0">
                            <a:latin typeface="Cambria Math" panose="02040503050406030204" pitchFamily="18" charset="0"/>
                            <a:ea typeface="Times New Roman" panose="02020603050405020304" pitchFamily="18" charset="0"/>
                            <a:cs typeface="Times New Roman" panose="02020603050405020304" pitchFamily="18" charset="0"/>
                          </a:rPr>
                          <m:t>−</m:t>
                        </m:r>
                      </m:sup>
                      <m:e>
                        <m:r>
                          <a:rPr lang="es-ES" sz="2000" i="1" dirty="0">
                            <a:latin typeface="Cambria Math" panose="02040503050406030204" pitchFamily="18" charset="0"/>
                            <a:ea typeface="Times New Roman" panose="02020603050405020304" pitchFamily="18" charset="0"/>
                            <a:cs typeface="Times New Roman" panose="02020603050405020304" pitchFamily="18" charset="0"/>
                          </a:rPr>
                          <m:t>1</m:t>
                        </m:r>
                      </m:e>
                    </m:sPre>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table. In the last column, sketch the integer chips that represent the phrase and the integer. Place a + sign in a circle to represent       and place a — sign in a circle to represent     .</a:t>
                </a:r>
              </a:p>
            </p:txBody>
          </p:sp>
        </mc:Choice>
        <mc:Fallback xmlns="">
          <p:sp>
            <p:nvSpPr>
              <p:cNvPr id="2" name="Rectangle 1">
                <a:extLst>
                  <a:ext uri="{FF2B5EF4-FFF2-40B4-BE49-F238E27FC236}">
                    <a16:creationId xmlns:a16="http://schemas.microsoft.com/office/drawing/2014/main" id="{22E7CAFC-319F-CE4F-8B26-ED2749A56CDA}"/>
                  </a:ext>
                </a:extLst>
              </p:cNvPr>
              <p:cNvSpPr>
                <a:spLocks noRot="1" noChangeAspect="1" noMove="1" noResize="1" noEditPoints="1" noAdjustHandles="1" noChangeArrowheads="1" noChangeShapeType="1" noTextEdit="1"/>
              </p:cNvSpPr>
              <p:nvPr/>
            </p:nvSpPr>
            <p:spPr>
              <a:xfrm>
                <a:off x="400332" y="387866"/>
                <a:ext cx="11532024" cy="2868991"/>
              </a:xfrm>
              <a:prstGeom prst="rect">
                <a:avLst/>
              </a:prstGeom>
              <a:blipFill>
                <a:blip r:embed="rId4"/>
                <a:stretch>
                  <a:fillRect l="-550" t="-1322" b="-2643"/>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a:t>
            </a:r>
            <a:endParaRPr i="1" dirty="0">
              <a:latin typeface="Calibri"/>
              <a:ea typeface="Calibri"/>
              <a:cs typeface="Calibri"/>
              <a:sym typeface="Calibri"/>
            </a:endParaRPr>
          </a:p>
        </p:txBody>
      </p:sp>
      <p:pic>
        <p:nvPicPr>
          <p:cNvPr id="14" name="image4.png" descr="A close up of a sign&#10;&#10;Description automatically generated">
            <a:extLst>
              <a:ext uri="{FF2B5EF4-FFF2-40B4-BE49-F238E27FC236}">
                <a16:creationId xmlns:a16="http://schemas.microsoft.com/office/drawing/2014/main" xmlns="" id="{33B41236-9D19-3A4F-9463-1E83019A2539}"/>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8958565" y="2581136"/>
            <a:ext cx="310515" cy="310515"/>
          </a:xfrm>
          <a:prstGeom prst="rect">
            <a:avLst/>
          </a:prstGeom>
          <a:ln/>
        </p:spPr>
      </p:pic>
      <p:pic>
        <p:nvPicPr>
          <p:cNvPr id="15" name="image3.png" descr="A picture containing clock&#10;&#10;Description automatically generated">
            <a:extLst>
              <a:ext uri="{FF2B5EF4-FFF2-40B4-BE49-F238E27FC236}">
                <a16:creationId xmlns:a16="http://schemas.microsoft.com/office/drawing/2014/main" xmlns="" id="{C743D449-6E89-724F-AE6F-9D17DB617B3F}"/>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4524191" y="2888829"/>
            <a:ext cx="310515" cy="310515"/>
          </a:xfrm>
          <a:prstGeom prst="rect">
            <a:avLst/>
          </a:prstGeom>
          <a:ln/>
        </p:spPr>
      </p:pic>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A5231AA1-D4F8-BC47-855E-403961819D68}"/>
                  </a:ext>
                </a:extLst>
              </p:cNvPr>
              <p:cNvGraphicFramePr>
                <a:graphicFrameLocks noGrp="1"/>
              </p:cNvGraphicFramePr>
              <p:nvPr>
                <p:extLst>
                  <p:ext uri="{D42A27DB-BD31-4B8C-83A1-F6EECF244321}">
                    <p14:modId xmlns:p14="http://schemas.microsoft.com/office/powerpoint/2010/main" val="3681004991"/>
                  </p:ext>
                </p:extLst>
              </p:nvPr>
            </p:nvGraphicFramePr>
            <p:xfrm>
              <a:off x="2652713" y="3921527"/>
              <a:ext cx="6886575" cy="1665605"/>
            </p:xfrm>
            <a:graphic>
              <a:graphicData uri="http://schemas.openxmlformats.org/drawingml/2006/table">
                <a:tbl>
                  <a:tblPr bandRow="1">
                    <a:tableStyleId>{A91F0D33-8C57-4600-99A7-42BC86742BE1}</a:tableStyleId>
                  </a:tblPr>
                  <a:tblGrid>
                    <a:gridCol w="1941830">
                      <a:extLst>
                        <a:ext uri="{9D8B030D-6E8A-4147-A177-3AD203B41FA5}">
                          <a16:colId xmlns:a16="http://schemas.microsoft.com/office/drawing/2014/main" xmlns="" val="1784326534"/>
                        </a:ext>
                      </a:extLst>
                    </a:gridCol>
                    <a:gridCol w="2280920">
                      <a:extLst>
                        <a:ext uri="{9D8B030D-6E8A-4147-A177-3AD203B41FA5}">
                          <a16:colId xmlns:a16="http://schemas.microsoft.com/office/drawing/2014/main" xmlns="" val="3452809814"/>
                        </a:ext>
                      </a:extLst>
                    </a:gridCol>
                    <a:gridCol w="2663825">
                      <a:extLst>
                        <a:ext uri="{9D8B030D-6E8A-4147-A177-3AD203B41FA5}">
                          <a16:colId xmlns:a16="http://schemas.microsoft.com/office/drawing/2014/main" xmlns="" val="373728550"/>
                        </a:ext>
                      </a:extLst>
                    </a:gridCol>
                  </a:tblGrid>
                  <a:tr h="294005">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Phrase</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Integer</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Integer Chips</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2122235477"/>
                      </a:ext>
                    </a:extLst>
                  </a:tr>
                  <a:tr h="685800">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Earned </a:t>
                          </a:r>
                          <a14:m>
                            <m:oMath xmlns:m="http://schemas.openxmlformats.org/officeDocument/2006/math">
                              <m:r>
                                <a:rPr lang="en-US" sz="1800">
                                  <a:effectLst/>
                                  <a:latin typeface="Cambria Math" panose="02040503050406030204" pitchFamily="18" charset="0"/>
                                </a:rPr>
                                <m:t>$6</m:t>
                              </m:r>
                            </m:oMath>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(+6)</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14047870"/>
                      </a:ext>
                    </a:extLst>
                  </a:tr>
                  <a:tr h="685800">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Spent </a:t>
                          </a:r>
                          <a14:m>
                            <m:oMath xmlns:m="http://schemas.openxmlformats.org/officeDocument/2006/math">
                              <m:r>
                                <a:rPr lang="en-US" sz="1800">
                                  <a:effectLst/>
                                  <a:latin typeface="Cambria Math" panose="02040503050406030204" pitchFamily="18" charset="0"/>
                                </a:rPr>
                                <m:t>$3</m:t>
                              </m:r>
                            </m:oMath>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−3</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689289281"/>
                      </a:ext>
                    </a:extLst>
                  </a:tr>
                </a:tbl>
              </a:graphicData>
            </a:graphic>
          </p:graphicFrame>
        </mc:Choice>
        <mc:Fallback xmlns="">
          <p:graphicFrame>
            <p:nvGraphicFramePr>
              <p:cNvPr id="3" name="Table 2">
                <a:extLst>
                  <a:ext uri="{FF2B5EF4-FFF2-40B4-BE49-F238E27FC236}">
                    <a16:creationId xmlns:a16="http://schemas.microsoft.com/office/drawing/2014/main" id="{A5231AA1-D4F8-BC47-855E-403961819D68}"/>
                  </a:ext>
                </a:extLst>
              </p:cNvPr>
              <p:cNvGraphicFramePr>
                <a:graphicFrameLocks noGrp="1"/>
              </p:cNvGraphicFramePr>
              <p:nvPr>
                <p:extLst>
                  <p:ext uri="{D42A27DB-BD31-4B8C-83A1-F6EECF244321}">
                    <p14:modId xmlns:p14="http://schemas.microsoft.com/office/powerpoint/2010/main" val="3681004991"/>
                  </p:ext>
                </p:extLst>
              </p:nvPr>
            </p:nvGraphicFramePr>
            <p:xfrm>
              <a:off x="2652713" y="3921527"/>
              <a:ext cx="6886575" cy="1665605"/>
            </p:xfrm>
            <a:graphic>
              <a:graphicData uri="http://schemas.openxmlformats.org/drawingml/2006/table">
                <a:tbl>
                  <a:tblPr bandRow="1">
                    <a:tableStyleId>{A91F0D33-8C57-4600-99A7-42BC86742BE1}</a:tableStyleId>
                  </a:tblPr>
                  <a:tblGrid>
                    <a:gridCol w="1941830">
                      <a:extLst>
                        <a:ext uri="{9D8B030D-6E8A-4147-A177-3AD203B41FA5}">
                          <a16:colId xmlns:a16="http://schemas.microsoft.com/office/drawing/2014/main" val="1784326534"/>
                        </a:ext>
                      </a:extLst>
                    </a:gridCol>
                    <a:gridCol w="2280920">
                      <a:extLst>
                        <a:ext uri="{9D8B030D-6E8A-4147-A177-3AD203B41FA5}">
                          <a16:colId xmlns:a16="http://schemas.microsoft.com/office/drawing/2014/main" val="3452809814"/>
                        </a:ext>
                      </a:extLst>
                    </a:gridCol>
                    <a:gridCol w="2663825">
                      <a:extLst>
                        <a:ext uri="{9D8B030D-6E8A-4147-A177-3AD203B41FA5}">
                          <a16:colId xmlns:a16="http://schemas.microsoft.com/office/drawing/2014/main" val="373728550"/>
                        </a:ext>
                      </a:extLst>
                    </a:gridCol>
                  </a:tblGrid>
                  <a:tr h="294005">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Phrase</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Integer</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Integer Chips</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122235477"/>
                      </a:ext>
                    </a:extLst>
                  </a:tr>
                  <a:tr h="6858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t="-50909" r="-256209" b="-101818"/>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84530" t="-50909" r="-116575" b="-101818"/>
                          </a:stretch>
                        </a:blipFill>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4047870"/>
                      </a:ext>
                    </a:extLst>
                  </a:tr>
                  <a:tr h="6858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t="-153704" r="-256209" b="-3704"/>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84530" t="-153704" r="-116575" b="-3704"/>
                          </a:stretch>
                        </a:blipFill>
                      </a:tcPr>
                    </a:tc>
                    <a:tc>
                      <a:txBody>
                        <a:bodyPr/>
                        <a:lstStyle/>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9289281"/>
                      </a:ext>
                    </a:extLst>
                  </a:tr>
                </a:tbl>
              </a:graphicData>
            </a:graphic>
          </p:graphicFrame>
        </mc:Fallback>
      </mc:AlternateContent>
    </p:spTree>
    <p:extLst>
      <p:ext uri="{BB962C8B-B14F-4D97-AF65-F5344CB8AC3E}">
        <p14:creationId xmlns:p14="http://schemas.microsoft.com/office/powerpoint/2010/main" val="1702720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22E7CAFC-319F-CE4F-8B26-ED2749A56CDA}"/>
              </a:ext>
            </a:extLst>
          </p:cNvPr>
          <p:cNvSpPr/>
          <p:nvPr/>
        </p:nvSpPr>
        <p:spPr>
          <a:xfrm>
            <a:off x="501932" y="436432"/>
            <a:ext cx="10730512" cy="400110"/>
          </a:xfrm>
          <a:prstGeom prst="rect">
            <a:avLst/>
          </a:prstGeom>
        </p:spPr>
        <p:txBody>
          <a:bodyPr wrap="square">
            <a:spAutoFit/>
          </a:bodyPr>
          <a:lstStyle/>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table by sketching integer chips for each phrase.</a:t>
            </a:r>
          </a:p>
        </p:txBody>
      </p:sp>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74559A56-13FE-AD43-9F2A-F26DC4FFBBB5}"/>
                  </a:ext>
                </a:extLst>
              </p:cNvPr>
              <p:cNvGraphicFramePr>
                <a:graphicFrameLocks noGrp="1"/>
              </p:cNvGraphicFramePr>
              <p:nvPr>
                <p:extLst>
                  <p:ext uri="{D42A27DB-BD31-4B8C-83A1-F6EECF244321}">
                    <p14:modId xmlns:p14="http://schemas.microsoft.com/office/powerpoint/2010/main" val="3338329011"/>
                  </p:ext>
                </p:extLst>
              </p:nvPr>
            </p:nvGraphicFramePr>
            <p:xfrm>
              <a:off x="2403012" y="1290117"/>
              <a:ext cx="7385976" cy="981075"/>
            </p:xfrm>
            <a:graphic>
              <a:graphicData uri="http://schemas.openxmlformats.org/drawingml/2006/table">
                <a:tbl>
                  <a:tblPr bandRow="1">
                    <a:tableStyleId>{A91F0D33-8C57-4600-99A7-42BC86742BE1}</a:tableStyleId>
                  </a:tblPr>
                  <a:tblGrid>
                    <a:gridCol w="1847178">
                      <a:extLst>
                        <a:ext uri="{9D8B030D-6E8A-4147-A177-3AD203B41FA5}">
                          <a16:colId xmlns:a16="http://schemas.microsoft.com/office/drawing/2014/main" xmlns="" val="792123177"/>
                        </a:ext>
                      </a:extLst>
                    </a:gridCol>
                    <a:gridCol w="1968910">
                      <a:extLst>
                        <a:ext uri="{9D8B030D-6E8A-4147-A177-3AD203B41FA5}">
                          <a16:colId xmlns:a16="http://schemas.microsoft.com/office/drawing/2014/main" xmlns="" val="3835318135"/>
                        </a:ext>
                      </a:extLst>
                    </a:gridCol>
                    <a:gridCol w="3569888">
                      <a:extLst>
                        <a:ext uri="{9D8B030D-6E8A-4147-A177-3AD203B41FA5}">
                          <a16:colId xmlns:a16="http://schemas.microsoft.com/office/drawing/2014/main" xmlns="" val="2117218121"/>
                        </a:ext>
                      </a:extLst>
                    </a:gridCol>
                  </a:tblGrid>
                  <a:tr h="295275">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Earned </a:t>
                          </a:r>
                          <a14:m>
                            <m:oMath xmlns:m="http://schemas.openxmlformats.org/officeDocument/2006/math">
                              <m:r>
                                <a:rPr lang="en-US" sz="1800" b="1">
                                  <a:effectLst/>
                                  <a:latin typeface="Cambria Math" panose="02040503050406030204" pitchFamily="18" charset="0"/>
                                </a:rPr>
                                <m:t>$</m:t>
                              </m:r>
                              <m:r>
                                <a:rPr lang="en-US" sz="1800" b="1">
                                  <a:effectLst/>
                                  <a:latin typeface="Cambria Math" panose="02040503050406030204" pitchFamily="18" charset="0"/>
                                </a:rPr>
                                <m:t>𝟒</m:t>
                              </m:r>
                            </m:oMath>
                          </a14:m>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Spent </a:t>
                          </a:r>
                          <a14:m>
                            <m:oMath xmlns:m="http://schemas.openxmlformats.org/officeDocument/2006/math">
                              <m:r>
                                <a:rPr lang="en-US" sz="1800" b="1">
                                  <a:effectLst/>
                                  <a:latin typeface="Cambria Math" panose="02040503050406030204" pitchFamily="18" charset="0"/>
                                </a:rPr>
                                <m:t>$</m:t>
                              </m:r>
                              <m:r>
                                <a:rPr lang="en-US" sz="1800" b="1">
                                  <a:effectLst/>
                                  <a:latin typeface="Cambria Math" panose="02040503050406030204" pitchFamily="18" charset="0"/>
                                </a:rPr>
                                <m:t>𝟒</m:t>
                              </m:r>
                            </m:oMath>
                          </a14:m>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Earned </a:t>
                          </a:r>
                          <a14:m>
                            <m:oMath xmlns:m="http://schemas.openxmlformats.org/officeDocument/2006/math">
                              <m:r>
                                <a:rPr lang="en-US" sz="1800" b="1">
                                  <a:effectLst/>
                                  <a:latin typeface="Cambria Math" panose="02040503050406030204" pitchFamily="18" charset="0"/>
                                </a:rPr>
                                <m:t>$</m:t>
                              </m:r>
                              <m:r>
                                <a:rPr lang="en-US" sz="1800" b="1">
                                  <a:effectLst/>
                                  <a:latin typeface="Cambria Math" panose="02040503050406030204" pitchFamily="18" charset="0"/>
                                </a:rPr>
                                <m:t>𝟒</m:t>
                              </m:r>
                            </m:oMath>
                          </a14:m>
                          <a:r>
                            <a:rPr lang="en-US" sz="1800" b="1" dirty="0">
                              <a:effectLst/>
                              <a:latin typeface="Verdana" panose="020B0604030504040204" pitchFamily="34" charset="0"/>
                              <a:ea typeface="Verdana" panose="020B0604030504040204" pitchFamily="34" charset="0"/>
                              <a:cs typeface="Verdana" panose="020B0604030504040204" pitchFamily="34" charset="0"/>
                            </a:rPr>
                            <a:t>, Then Spent </a:t>
                          </a:r>
                          <a14:m>
                            <m:oMath xmlns:m="http://schemas.openxmlformats.org/officeDocument/2006/math">
                              <m:r>
                                <a:rPr lang="en-US" sz="1800" b="1">
                                  <a:effectLst/>
                                  <a:latin typeface="Cambria Math" panose="02040503050406030204" pitchFamily="18" charset="0"/>
                                </a:rPr>
                                <m:t>$</m:t>
                              </m:r>
                              <m:r>
                                <a:rPr lang="en-US" sz="1800" b="1">
                                  <a:effectLst/>
                                  <a:latin typeface="Cambria Math" panose="02040503050406030204" pitchFamily="18" charset="0"/>
                                </a:rPr>
                                <m:t>𝟒</m:t>
                              </m:r>
                            </m:oMath>
                          </a14:m>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2558701351"/>
                      </a:ext>
                    </a:extLst>
                  </a:tr>
                  <a:tr h="685800">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374215228"/>
                      </a:ext>
                    </a:extLst>
                  </a:tr>
                </a:tbl>
              </a:graphicData>
            </a:graphic>
          </p:graphicFrame>
        </mc:Choice>
        <mc:Fallback xmlns="">
          <p:graphicFrame>
            <p:nvGraphicFramePr>
              <p:cNvPr id="3" name="Table 2">
                <a:extLst>
                  <a:ext uri="{FF2B5EF4-FFF2-40B4-BE49-F238E27FC236}">
                    <a16:creationId xmlns:a16="http://schemas.microsoft.com/office/drawing/2014/main" id="{74559A56-13FE-AD43-9F2A-F26DC4FFBBB5}"/>
                  </a:ext>
                </a:extLst>
              </p:cNvPr>
              <p:cNvGraphicFramePr>
                <a:graphicFrameLocks noGrp="1"/>
              </p:cNvGraphicFramePr>
              <p:nvPr>
                <p:extLst>
                  <p:ext uri="{D42A27DB-BD31-4B8C-83A1-F6EECF244321}">
                    <p14:modId xmlns:p14="http://schemas.microsoft.com/office/powerpoint/2010/main" val="3338329011"/>
                  </p:ext>
                </p:extLst>
              </p:nvPr>
            </p:nvGraphicFramePr>
            <p:xfrm>
              <a:off x="2403012" y="1290117"/>
              <a:ext cx="7385976" cy="981075"/>
            </p:xfrm>
            <a:graphic>
              <a:graphicData uri="http://schemas.openxmlformats.org/drawingml/2006/table">
                <a:tbl>
                  <a:tblPr bandRow="1">
                    <a:tableStyleId>{A91F0D33-8C57-4600-99A7-42BC86742BE1}</a:tableStyleId>
                  </a:tblPr>
                  <a:tblGrid>
                    <a:gridCol w="1847178">
                      <a:extLst>
                        <a:ext uri="{9D8B030D-6E8A-4147-A177-3AD203B41FA5}">
                          <a16:colId xmlns:a16="http://schemas.microsoft.com/office/drawing/2014/main" val="792123177"/>
                        </a:ext>
                      </a:extLst>
                    </a:gridCol>
                    <a:gridCol w="1968910">
                      <a:extLst>
                        <a:ext uri="{9D8B030D-6E8A-4147-A177-3AD203B41FA5}">
                          <a16:colId xmlns:a16="http://schemas.microsoft.com/office/drawing/2014/main" val="3835318135"/>
                        </a:ext>
                      </a:extLst>
                    </a:gridCol>
                    <a:gridCol w="3569888">
                      <a:extLst>
                        <a:ext uri="{9D8B030D-6E8A-4147-A177-3AD203B41FA5}">
                          <a16:colId xmlns:a16="http://schemas.microsoft.com/office/drawing/2014/main" val="2117218121"/>
                        </a:ext>
                      </a:extLst>
                    </a:gridCol>
                  </a:tblGrid>
                  <a:tr h="295275">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85" t="-21739" r="-299315" b="-243478"/>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4839" t="-21739" r="-181935" b="-243478"/>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7473" t="-21739" r="-356" b="-243478"/>
                          </a:stretch>
                        </a:blipFill>
                      </a:tcPr>
                    </a:tc>
                    <a:extLst>
                      <a:ext uri="{0D108BD9-81ED-4DB2-BD59-A6C34878D82A}">
                        <a16:rowId xmlns:a16="http://schemas.microsoft.com/office/drawing/2014/main" val="2558701351"/>
                      </a:ext>
                    </a:extLst>
                  </a:tr>
                  <a:tr h="685800">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4215228"/>
                      </a:ext>
                    </a:extLst>
                  </a:tr>
                </a:tbl>
              </a:graphicData>
            </a:graphic>
          </p:graphicFrame>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xmlns="" id="{4BF26CF8-E69F-794E-83E5-130A88B4B5DE}"/>
                  </a:ext>
                </a:extLst>
              </p:cNvPr>
              <p:cNvSpPr/>
              <p:nvPr/>
            </p:nvSpPr>
            <p:spPr>
              <a:xfrm>
                <a:off x="501932" y="2649100"/>
                <a:ext cx="10832112" cy="1938992"/>
              </a:xfrm>
              <a:prstGeom prst="rect">
                <a:avLst/>
              </a:prstGeom>
            </p:spPr>
            <p:txBody>
              <a:bodyPr wrap="square">
                <a:spAutoFit/>
              </a:bodyPr>
              <a:lstStyle/>
              <a:p>
                <a:pPr marL="457200" indent="-457200">
                  <a:buFont typeface="+mj-lt"/>
                  <a:buAutoNum type="arabi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Joleen earned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$4</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then spent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$4</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How much money does she have left?</a:t>
                </a: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r>
                  <a:rPr lang="en-US" sz="2000" dirty="0">
                    <a:latin typeface="Verdana" panose="020B0604030504040204" pitchFamily="34" charset="0"/>
                    <a:ea typeface="Times New Roman" panose="02020603050405020304" pitchFamily="18" charset="0"/>
                    <a:cs typeface="Times New Roman" panose="02020603050405020304" pitchFamily="18" charset="0"/>
                  </a:rPr>
                  <a:t>The last column in the table and problem above both represent a </a:t>
                </a:r>
                <a:r>
                  <a:rPr lang="en-US" sz="2000" b="1" i="1" dirty="0">
                    <a:latin typeface="Verdana" panose="020B0604030504040204" pitchFamily="34" charset="0"/>
                    <a:ea typeface="Times New Roman" panose="02020603050405020304" pitchFamily="18" charset="0"/>
                    <a:cs typeface="Times New Roman" panose="02020603050405020304" pitchFamily="18" charset="0"/>
                  </a:rPr>
                  <a:t>zero pair</a:t>
                </a:r>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p:txBody>
          </p:sp>
        </mc:Choice>
        <mc:Fallback xmlns="">
          <p:sp>
            <p:nvSpPr>
              <p:cNvPr id="11" name="Rectangle 10">
                <a:extLst>
                  <a:ext uri="{FF2B5EF4-FFF2-40B4-BE49-F238E27FC236}">
                    <a16:creationId xmlns:a16="http://schemas.microsoft.com/office/drawing/2014/main" id="{4BF26CF8-E69F-794E-83E5-130A88B4B5DE}"/>
                  </a:ext>
                </a:extLst>
              </p:cNvPr>
              <p:cNvSpPr>
                <a:spLocks noRot="1" noChangeAspect="1" noMove="1" noResize="1" noEditPoints="1" noAdjustHandles="1" noChangeArrowheads="1" noChangeShapeType="1" noTextEdit="1"/>
              </p:cNvSpPr>
              <p:nvPr/>
            </p:nvSpPr>
            <p:spPr>
              <a:xfrm>
                <a:off x="501932" y="2649100"/>
                <a:ext cx="10832112" cy="1938992"/>
              </a:xfrm>
              <a:prstGeom prst="rect">
                <a:avLst/>
              </a:prstGeom>
              <a:blipFill>
                <a:blip r:embed="rId5"/>
                <a:stretch>
                  <a:fillRect l="-585" t="-1948"/>
                </a:stretch>
              </a:blipFill>
            </p:spPr>
            <p:txBody>
              <a:bodyPr/>
              <a:lstStyle/>
              <a:p>
                <a:r>
                  <a:rPr lang="en-US">
                    <a:noFill/>
                  </a:rPr>
                  <a:t> </a:t>
                </a:r>
              </a:p>
            </p:txBody>
          </p:sp>
        </mc:Fallback>
      </mc:AlternateContent>
      <p:sp>
        <p:nvSpPr>
          <p:cNvPr id="12" name="Text Box 14">
            <a:extLst>
              <a:ext uri="{FF2B5EF4-FFF2-40B4-BE49-F238E27FC236}">
                <a16:creationId xmlns:a16="http://schemas.microsoft.com/office/drawing/2014/main" xmlns="" id="{F4E4F430-7E0F-584F-93F5-50AB3430BB2F}"/>
              </a:ext>
            </a:extLst>
          </p:cNvPr>
          <p:cNvSpPr txBox="1"/>
          <p:nvPr/>
        </p:nvSpPr>
        <p:spPr>
          <a:xfrm>
            <a:off x="2891902" y="4767330"/>
            <a:ext cx="6408196" cy="627015"/>
          </a:xfrm>
          <a:prstGeom prst="roundRect">
            <a:avLst/>
          </a:prstGeom>
          <a:solidFill>
            <a:srgbClr val="E2EED5"/>
          </a:solidFill>
          <a:ln>
            <a:noFill/>
          </a:ln>
          <a:effectLst>
            <a:outerShdw blurRad="50800" dist="381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sz="1800" dirty="0">
                <a:solidFill>
                  <a:srgbClr val="6C993D"/>
                </a:solidFill>
                <a:latin typeface="Verdana" panose="020B0604030504040204" pitchFamily="34" charset="0"/>
                <a:ea typeface="Century Gothic" panose="020B0502020202020204" pitchFamily="34" charset="0"/>
                <a:cs typeface="Century Gothic" panose="020B0502020202020204" pitchFamily="34" charset="0"/>
              </a:rPr>
              <a:t>A </a:t>
            </a:r>
            <a:r>
              <a:rPr lang="en-US" sz="1800" b="1" i="1" dirty="0">
                <a:solidFill>
                  <a:srgbClr val="6C993D"/>
                </a:solidFill>
                <a:latin typeface="Verdana" panose="020B0604030504040204" pitchFamily="34" charset="0"/>
                <a:ea typeface="Century Gothic" panose="020B0502020202020204" pitchFamily="34" charset="0"/>
                <a:cs typeface="Century Gothic" panose="020B0502020202020204" pitchFamily="34" charset="0"/>
              </a:rPr>
              <a:t>zero pair</a:t>
            </a:r>
            <a:r>
              <a:rPr lang="en-US" sz="1800" b="1" dirty="0">
                <a:solidFill>
                  <a:srgbClr val="6C993D"/>
                </a:solidFill>
                <a:latin typeface="Verdana" panose="020B0604030504040204" pitchFamily="34" charset="0"/>
                <a:ea typeface="Century Gothic" panose="020B0502020202020204" pitchFamily="34" charset="0"/>
                <a:cs typeface="Century Gothic" panose="020B0502020202020204" pitchFamily="34" charset="0"/>
              </a:rPr>
              <a:t> </a:t>
            </a:r>
            <a:r>
              <a:rPr lang="en-US" sz="1800" dirty="0">
                <a:solidFill>
                  <a:srgbClr val="6C993D"/>
                </a:solidFill>
                <a:latin typeface="Verdana" panose="020B0604030504040204" pitchFamily="34" charset="0"/>
                <a:ea typeface="Century Gothic" panose="020B0502020202020204" pitchFamily="34" charset="0"/>
                <a:cs typeface="Century Gothic" panose="020B0502020202020204" pitchFamily="34" charset="0"/>
              </a:rPr>
              <a:t>is a pair of numbers whose sum is zero.</a:t>
            </a:r>
            <a:endParaRPr lang="x-none" sz="1200" dirty="0">
              <a:ea typeface="Times New Roman" panose="02020603050405020304" pitchFamily="18" charset="0"/>
              <a:cs typeface="Cambria" panose="02040503050406030204" pitchFamily="18" charset="0"/>
            </a:endParaRPr>
          </a:p>
        </p:txBody>
      </p:sp>
    </p:spTree>
    <p:extLst>
      <p:ext uri="{BB962C8B-B14F-4D97-AF65-F5344CB8AC3E}">
        <p14:creationId xmlns:p14="http://schemas.microsoft.com/office/powerpoint/2010/main" val="9220019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22E7CAFC-319F-CE4F-8B26-ED2749A56CDA}"/>
              </a:ext>
            </a:extLst>
          </p:cNvPr>
          <p:cNvSpPr/>
          <p:nvPr/>
        </p:nvSpPr>
        <p:spPr>
          <a:xfrm>
            <a:off x="430494" y="350588"/>
            <a:ext cx="11479284" cy="769441"/>
          </a:xfrm>
          <a:prstGeom prst="rect">
            <a:avLst/>
          </a:prstGeom>
        </p:spPr>
        <p:txBody>
          <a:bodyPr wrap="square">
            <a:spAutoFit/>
          </a:bodyPr>
          <a:lstStyle/>
          <a:p>
            <a:pPr marL="457200" indent="-457200">
              <a:buFont typeface="+mj-lt"/>
              <a:buAutoNum type="arabicPeriod" startAt="4"/>
            </a:pPr>
            <a:r>
              <a:rPr lang="en-US" sz="2200" dirty="0">
                <a:latin typeface="Verdana" panose="020B0604030504040204" pitchFamily="34" charset="0"/>
                <a:ea typeface="Times New Roman" panose="02020603050405020304" pitchFamily="18" charset="0"/>
                <a:cs typeface="Times New Roman" panose="02020603050405020304" pitchFamily="18" charset="0"/>
              </a:rPr>
              <a:t>Complete the table by drawing the negative integer chips that create a zero pair. In the </a:t>
            </a:r>
            <a:r>
              <a:rPr lang="en-US" sz="2200" b="1" i="1" dirty="0">
                <a:latin typeface="Verdana" panose="020B0604030504040204" pitchFamily="34" charset="0"/>
                <a:ea typeface="Times New Roman" panose="02020603050405020304" pitchFamily="18" charset="0"/>
                <a:cs typeface="Times New Roman" panose="02020603050405020304" pitchFamily="18" charset="0"/>
              </a:rPr>
              <a:t>sum</a:t>
            </a:r>
            <a:r>
              <a:rPr lang="en-US" sz="2200" dirty="0">
                <a:latin typeface="Verdana" panose="020B0604030504040204" pitchFamily="34" charset="0"/>
                <a:ea typeface="Times New Roman" panose="02020603050405020304" pitchFamily="18" charset="0"/>
                <a:cs typeface="Times New Roman" panose="02020603050405020304" pitchFamily="18" charset="0"/>
              </a:rPr>
              <a:t> column, draw all of the chips from both columns.</a:t>
            </a:r>
          </a:p>
        </p:txBody>
      </p:sp>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a:t>
            </a:r>
            <a:endParaRPr i="1" dirty="0">
              <a:latin typeface="Calibri"/>
              <a:ea typeface="Calibri"/>
              <a:cs typeface="Calibri"/>
              <a:sym typeface="Calibri"/>
            </a:endParaRPr>
          </a:p>
        </p:txBody>
      </p:sp>
      <p:graphicFrame>
        <p:nvGraphicFramePr>
          <p:cNvPr id="3" name="Table 2">
            <a:extLst>
              <a:ext uri="{FF2B5EF4-FFF2-40B4-BE49-F238E27FC236}">
                <a16:creationId xmlns:a16="http://schemas.microsoft.com/office/drawing/2014/main" xmlns="" id="{658CC54E-EBAB-CF45-9D86-5E2221D1C5B7}"/>
              </a:ext>
            </a:extLst>
          </p:cNvPr>
          <p:cNvGraphicFramePr>
            <a:graphicFrameLocks noGrp="1"/>
          </p:cNvGraphicFramePr>
          <p:nvPr>
            <p:extLst>
              <p:ext uri="{D42A27DB-BD31-4B8C-83A1-F6EECF244321}">
                <p14:modId xmlns:p14="http://schemas.microsoft.com/office/powerpoint/2010/main" val="796713481"/>
              </p:ext>
            </p:extLst>
          </p:nvPr>
        </p:nvGraphicFramePr>
        <p:xfrm>
          <a:off x="2667000" y="1522224"/>
          <a:ext cx="6858000" cy="1221105"/>
        </p:xfrm>
        <a:graphic>
          <a:graphicData uri="http://schemas.openxmlformats.org/drawingml/2006/table">
            <a:tbl>
              <a:tblPr bandRow="1">
                <a:tableStyleId>{A91F0D33-8C57-4600-99A7-42BC86742BE1}</a:tableStyleId>
              </a:tblPr>
              <a:tblGrid>
                <a:gridCol w="2166620">
                  <a:extLst>
                    <a:ext uri="{9D8B030D-6E8A-4147-A177-3AD203B41FA5}">
                      <a16:colId xmlns:a16="http://schemas.microsoft.com/office/drawing/2014/main" xmlns="" val="1490497623"/>
                    </a:ext>
                  </a:extLst>
                </a:gridCol>
                <a:gridCol w="2220595">
                  <a:extLst>
                    <a:ext uri="{9D8B030D-6E8A-4147-A177-3AD203B41FA5}">
                      <a16:colId xmlns:a16="http://schemas.microsoft.com/office/drawing/2014/main" xmlns="" val="708030234"/>
                    </a:ext>
                  </a:extLst>
                </a:gridCol>
                <a:gridCol w="2470785">
                  <a:extLst>
                    <a:ext uri="{9D8B030D-6E8A-4147-A177-3AD203B41FA5}">
                      <a16:colId xmlns:a16="http://schemas.microsoft.com/office/drawing/2014/main" xmlns="" val="2684498221"/>
                    </a:ext>
                  </a:extLst>
                </a:gridCol>
              </a:tblGrid>
              <a:tr h="306705">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Positive</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Negative</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Sum</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2929345759"/>
                  </a:ext>
                </a:extLst>
              </a:tr>
              <a:tr h="914400">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391435322"/>
                  </a:ext>
                </a:extLst>
              </a:tr>
            </a:tbl>
          </a:graphicData>
        </a:graphic>
      </p:graphicFrame>
      <p:pic>
        <p:nvPicPr>
          <p:cNvPr id="12" name="image2.png" descr="A close up of a sign&#10;&#10;Description automatically generated">
            <a:extLst>
              <a:ext uri="{FF2B5EF4-FFF2-40B4-BE49-F238E27FC236}">
                <a16:creationId xmlns:a16="http://schemas.microsoft.com/office/drawing/2014/main" xmlns="" id="{32496004-6340-1A40-898A-CCBC74A8384B}"/>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2753659" y="2026353"/>
            <a:ext cx="621665" cy="621665"/>
          </a:xfrm>
          <a:prstGeom prst="rect">
            <a:avLst/>
          </a:prstGeom>
          <a:ln/>
        </p:spPr>
      </p:pic>
      <p:pic>
        <p:nvPicPr>
          <p:cNvPr id="13" name="image2.png" descr="A close up of a sign&#10;&#10;Description automatically generated">
            <a:extLst>
              <a:ext uri="{FF2B5EF4-FFF2-40B4-BE49-F238E27FC236}">
                <a16:creationId xmlns:a16="http://schemas.microsoft.com/office/drawing/2014/main" xmlns="" id="{F5BD35AB-ACE2-5144-8DFD-4A2BD30794FF}"/>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418654" y="2026353"/>
            <a:ext cx="621665" cy="621665"/>
          </a:xfrm>
          <a:prstGeom prst="rect">
            <a:avLst/>
          </a:prstGeom>
          <a:ln/>
        </p:spPr>
      </p:pic>
      <p:pic>
        <p:nvPicPr>
          <p:cNvPr id="14" name="image2.png" descr="A close up of a sign&#10;&#10;Description automatically generated">
            <a:extLst>
              <a:ext uri="{FF2B5EF4-FFF2-40B4-BE49-F238E27FC236}">
                <a16:creationId xmlns:a16="http://schemas.microsoft.com/office/drawing/2014/main" xmlns="" id="{D25FD8B6-D6C6-8B46-82E3-E215C7951FE2}"/>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4083649" y="2026354"/>
            <a:ext cx="621665" cy="621665"/>
          </a:xfrm>
          <a:prstGeom prst="rect">
            <a:avLst/>
          </a:prstGeom>
          <a:ln/>
        </p:spPr>
      </p:pic>
      <p:sp>
        <p:nvSpPr>
          <p:cNvPr id="15" name="Rectangle 14">
            <a:extLst>
              <a:ext uri="{FF2B5EF4-FFF2-40B4-BE49-F238E27FC236}">
                <a16:creationId xmlns:a16="http://schemas.microsoft.com/office/drawing/2014/main" xmlns="" id="{2369F40E-F48D-9348-A564-5CEB805ED8CC}"/>
              </a:ext>
            </a:extLst>
          </p:cNvPr>
          <p:cNvSpPr/>
          <p:nvPr/>
        </p:nvSpPr>
        <p:spPr>
          <a:xfrm>
            <a:off x="1895316" y="3429000"/>
            <a:ext cx="8549640" cy="1107996"/>
          </a:xfrm>
          <a:prstGeom prst="rect">
            <a:avLst/>
          </a:prstGeom>
        </p:spPr>
        <p:txBody>
          <a:bodyPr wrap="square">
            <a:spAutoFit/>
          </a:bodyPr>
          <a:lstStyle/>
          <a:p>
            <a:r>
              <a:rPr lang="en-US" sz="2200" dirty="0">
                <a:latin typeface="Verdana" panose="020B0604030504040204" pitchFamily="34" charset="0"/>
                <a:ea typeface="Times New Roman" panose="02020603050405020304" pitchFamily="18" charset="0"/>
                <a:cs typeface="Times New Roman" panose="02020603050405020304" pitchFamily="18" charset="0"/>
              </a:rPr>
              <a:t>Each zero pair can be represented by an equation. The box shows two mathematical equations that represent the zero pair of      and     .  </a:t>
            </a:r>
          </a:p>
        </p:txBody>
      </p:sp>
      <p:pic>
        <p:nvPicPr>
          <p:cNvPr id="16" name="image4.png" descr="A close up of a sign&#10;&#10;Description automatically generated">
            <a:extLst>
              <a:ext uri="{FF2B5EF4-FFF2-40B4-BE49-F238E27FC236}">
                <a16:creationId xmlns:a16="http://schemas.microsoft.com/office/drawing/2014/main" xmlns="" id="{817B58FB-F67E-DD42-88A5-9980DB5B3180}"/>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3028167" y="4163815"/>
            <a:ext cx="310515" cy="310515"/>
          </a:xfrm>
          <a:prstGeom prst="rect">
            <a:avLst/>
          </a:prstGeom>
          <a:ln/>
        </p:spPr>
      </p:pic>
      <p:pic>
        <p:nvPicPr>
          <p:cNvPr id="17" name="image3.png" descr="A picture containing clock&#10;&#10;Description automatically generated">
            <a:extLst>
              <a:ext uri="{FF2B5EF4-FFF2-40B4-BE49-F238E27FC236}">
                <a16:creationId xmlns:a16="http://schemas.microsoft.com/office/drawing/2014/main" xmlns="" id="{D0A978D3-E898-AB4F-BE08-0C86CED75343}"/>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4083966" y="4148397"/>
            <a:ext cx="310515" cy="310515"/>
          </a:xfrm>
          <a:prstGeom prst="rect">
            <a:avLst/>
          </a:prstGeom>
          <a:ln/>
        </p:spPr>
      </p:pic>
      <mc:AlternateContent xmlns:mc="http://schemas.openxmlformats.org/markup-compatibility/2006" xmlns:a14="http://schemas.microsoft.com/office/drawing/2010/main">
        <mc:Choice Requires="a14">
          <p:sp>
            <p:nvSpPr>
              <p:cNvPr id="18" name="Text Box 40">
                <a:extLst>
                  <a:ext uri="{FF2B5EF4-FFF2-40B4-BE49-F238E27FC236}">
                    <a16:creationId xmlns:a16="http://schemas.microsoft.com/office/drawing/2014/main" xmlns="" id="{0849E9BB-9388-A140-9341-608F4FE33975}"/>
                  </a:ext>
                </a:extLst>
              </p:cNvPr>
              <p:cNvSpPr txBox="1"/>
              <p:nvPr/>
            </p:nvSpPr>
            <p:spPr>
              <a:xfrm>
                <a:off x="2781300" y="4843625"/>
                <a:ext cx="6629400" cy="1183005"/>
              </a:xfrm>
              <a:prstGeom prst="roundRect">
                <a:avLst/>
              </a:prstGeom>
              <a:solidFill>
                <a:srgbClr val="B8E6F5"/>
              </a:solidFill>
              <a:ln>
                <a:noFill/>
              </a:ln>
              <a:effectLst>
                <a:outerShdw blurRad="50800" dist="381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742950"/>
                <a:r>
                  <a:rPr lang="en-US" sz="1800" b="1" dirty="0">
                    <a:solidFill>
                      <a:srgbClr val="0075BF"/>
                    </a:solidFill>
                    <a:latin typeface="Verdana" panose="020B0604030504040204" pitchFamily="34" charset="0"/>
                    <a:ea typeface="Century Gothic" panose="020B0502020202020204" pitchFamily="34" charset="0"/>
                    <a:cs typeface="Century Gothic" panose="020B0502020202020204" pitchFamily="34" charset="0"/>
                  </a:rPr>
                  <a:t> Zero Pair as a Mathematical Equation </a:t>
                </a:r>
                <a:endParaRPr lang="x-none" sz="1200" dirty="0">
                  <a:ea typeface="Times New Roman" panose="02020603050405020304" pitchFamily="18" charset="0"/>
                  <a:cs typeface="Cambria" panose="02040503050406030204" pitchFamily="18" charset="0"/>
                </a:endParaRPr>
              </a:p>
              <a:p>
                <a:pPr marL="742950"/>
                <a:r>
                  <a:rPr lang="en-US" sz="1800" dirty="0">
                    <a:solidFill>
                      <a:srgbClr val="0075BF"/>
                    </a:solidFill>
                    <a:latin typeface="Verdana" panose="020B0604030504040204" pitchFamily="34" charset="0"/>
                    <a:ea typeface="Century Gothic" panose="020B0502020202020204" pitchFamily="34" charset="0"/>
                    <a:cs typeface="Century Gothic" panose="020B0502020202020204" pitchFamily="34" charset="0"/>
                  </a:rPr>
                  <a:t> </a:t>
                </a:r>
                <a:endParaRPr lang="x-none" sz="1200" dirty="0">
                  <a:ea typeface="Times New Roman" panose="02020603050405020304" pitchFamily="18" charset="0"/>
                  <a:cs typeface="Cambria" panose="02040503050406030204" pitchFamily="18" charset="0"/>
                </a:endParaRPr>
              </a:p>
              <a:p>
                <a:pPr marL="742950"/>
                <a14:m>
                  <m:oMath xmlns:m="http://schemas.openxmlformats.org/officeDocument/2006/math">
                    <m:sPre>
                      <m:sPrePr>
                        <m:ctrlPr>
                          <a:rPr lang="x-none" sz="1800" i="1">
                            <a:solidFill>
                              <a:srgbClr val="0075BF"/>
                            </a:solidFill>
                            <a:latin typeface="Cambria Math"/>
                            <a:ea typeface="Century Gothic" panose="020B0502020202020204" pitchFamily="34" charset="0"/>
                            <a:cs typeface="Century Gothic" panose="020B0502020202020204" pitchFamily="34" charset="0"/>
                          </a:rPr>
                        </m:ctrlPr>
                      </m:sPrePr>
                      <m:sub/>
                      <m:sup>
                        <m:r>
                          <a:rPr lang="en-US" sz="1800" i="1">
                            <a:solidFill>
                              <a:srgbClr val="0075BF"/>
                            </a:solidFill>
                            <a:latin typeface="Cambria Math" panose="02040503050406030204" pitchFamily="18" charset="0"/>
                            <a:ea typeface="Century Gothic" panose="020B0502020202020204" pitchFamily="34" charset="0"/>
                            <a:cs typeface="Century Gothic" panose="020B0502020202020204" pitchFamily="34" charset="0"/>
                          </a:rPr>
                          <m:t>+</m:t>
                        </m:r>
                      </m:sup>
                      <m:e>
                        <m:r>
                          <a:rPr lang="en-US" sz="1800" i="1">
                            <a:solidFill>
                              <a:srgbClr val="0075BF"/>
                            </a:solidFill>
                            <a:latin typeface="Cambria Math" panose="02040503050406030204" pitchFamily="18" charset="0"/>
                            <a:ea typeface="Century Gothic" panose="020B0502020202020204" pitchFamily="34" charset="0"/>
                            <a:cs typeface="Century Gothic" panose="020B0502020202020204" pitchFamily="34" charset="0"/>
                          </a:rPr>
                          <m:t>1+(−1)=0</m:t>
                        </m:r>
                      </m:e>
                    </m:sPre>
                  </m:oMath>
                </a14:m>
                <a:r>
                  <a:rPr lang="en-US" sz="1800" dirty="0">
                    <a:solidFill>
                      <a:srgbClr val="0075BF"/>
                    </a:solidFill>
                    <a:latin typeface="Verdana" panose="020B0604030504040204" pitchFamily="34" charset="0"/>
                    <a:ea typeface="Century Gothic" panose="020B0502020202020204" pitchFamily="34" charset="0"/>
                    <a:cs typeface="Century Gothic" panose="020B0502020202020204" pitchFamily="34" charset="0"/>
                  </a:rPr>
                  <a:t>    or    </a:t>
                </a:r>
                <a14:m>
                  <m:oMath xmlns:m="http://schemas.openxmlformats.org/officeDocument/2006/math">
                    <m:r>
                      <a:rPr lang="en-US" sz="1800" i="1">
                        <a:solidFill>
                          <a:srgbClr val="0075BF"/>
                        </a:solidFill>
                        <a:latin typeface="Cambria Math" panose="02040503050406030204" pitchFamily="18" charset="0"/>
                        <a:ea typeface="Century Gothic" panose="020B0502020202020204" pitchFamily="34" charset="0"/>
                        <a:cs typeface="Century Gothic" panose="020B0502020202020204" pitchFamily="34" charset="0"/>
                      </a:rPr>
                      <m:t>1+</m:t>
                    </m:r>
                    <m:sPre>
                      <m:sPrePr>
                        <m:ctrlPr>
                          <a:rPr lang="x-none" sz="1800" i="1">
                            <a:solidFill>
                              <a:srgbClr val="0075BF"/>
                            </a:solidFill>
                            <a:latin typeface="Cambria Math"/>
                            <a:ea typeface="Century Gothic" panose="020B0502020202020204" pitchFamily="34" charset="0"/>
                            <a:cs typeface="Century Gothic" panose="020B0502020202020204" pitchFamily="34" charset="0"/>
                          </a:rPr>
                        </m:ctrlPr>
                      </m:sPrePr>
                      <m:sub/>
                      <m:sup>
                        <m:r>
                          <a:rPr lang="en-US" sz="1800" i="1">
                            <a:solidFill>
                              <a:srgbClr val="0075BF"/>
                            </a:solidFill>
                            <a:latin typeface="Cambria Math" panose="02040503050406030204" pitchFamily="18" charset="0"/>
                            <a:ea typeface="Century Gothic" panose="020B0502020202020204" pitchFamily="34" charset="0"/>
                            <a:cs typeface="Century Gothic" panose="020B0502020202020204" pitchFamily="34" charset="0"/>
                          </a:rPr>
                          <m:t>−</m:t>
                        </m:r>
                      </m:sup>
                      <m:e>
                        <m:r>
                          <a:rPr lang="en-US" sz="1800" i="1">
                            <a:solidFill>
                              <a:srgbClr val="0075BF"/>
                            </a:solidFill>
                            <a:latin typeface="Cambria Math" panose="02040503050406030204" pitchFamily="18" charset="0"/>
                            <a:ea typeface="Century Gothic" panose="020B0502020202020204" pitchFamily="34" charset="0"/>
                            <a:cs typeface="Century Gothic" panose="020B0502020202020204" pitchFamily="34" charset="0"/>
                          </a:rPr>
                          <m:t>1=0</m:t>
                        </m:r>
                      </m:e>
                    </m:sPre>
                  </m:oMath>
                </a14:m>
                <a:r>
                  <a:rPr lang="es-ES" sz="1200" b="1" dirty="0">
                    <a:solidFill>
                      <a:srgbClr val="000000"/>
                    </a:solidFill>
                    <a:ea typeface="Times New Roman" panose="02020603050405020304" pitchFamily="18" charset="0"/>
                    <a:cs typeface="Cambria" panose="02040503050406030204" pitchFamily="18" charset="0"/>
                  </a:rPr>
                  <a:t> </a:t>
                </a:r>
                <a:endParaRPr lang="x-none" sz="1200" dirty="0">
                  <a:ea typeface="Times New Roman" panose="02020603050405020304" pitchFamily="18" charset="0"/>
                  <a:cs typeface="Cambria" panose="02040503050406030204" pitchFamily="18" charset="0"/>
                </a:endParaRPr>
              </a:p>
            </p:txBody>
          </p:sp>
        </mc:Choice>
        <mc:Fallback xmlns="">
          <p:sp>
            <p:nvSpPr>
              <p:cNvPr id="18" name="Text Box 40">
                <a:extLst>
                  <a:ext uri="{FF2B5EF4-FFF2-40B4-BE49-F238E27FC236}">
                    <a16:creationId xmlns:a16="http://schemas.microsoft.com/office/drawing/2014/main" id="{0849E9BB-9388-A140-9341-608F4FE33975}"/>
                  </a:ext>
                </a:extLst>
              </p:cNvPr>
              <p:cNvSpPr txBox="1">
                <a:spLocks noRot="1" noChangeAspect="1" noMove="1" noResize="1" noEditPoints="1" noAdjustHandles="1" noChangeArrowheads="1" noChangeShapeType="1" noTextEdit="1"/>
              </p:cNvSpPr>
              <p:nvPr/>
            </p:nvSpPr>
            <p:spPr>
              <a:xfrm>
                <a:off x="2781300" y="4843625"/>
                <a:ext cx="6629400" cy="1183005"/>
              </a:xfrm>
              <a:prstGeom prst="roundRect">
                <a:avLst/>
              </a:prstGeom>
              <a:blipFill>
                <a:blip r:embed="rId7"/>
                <a:stretch>
                  <a:fillRect/>
                </a:stretch>
              </a:blipFill>
              <a:ln>
                <a:noFill/>
              </a:ln>
              <a:effectLst>
                <a:outerShdw blurRad="50800" dist="38100" dir="2700000" algn="tl" rotWithShape="0">
                  <a:prstClr val="black">
                    <a:alpha val="40000"/>
                  </a:prstClr>
                </a:outerShdw>
              </a:effectLst>
            </p:spPr>
            <p:txBody>
              <a:bodyPr/>
              <a:lstStyle/>
              <a:p>
                <a:r>
                  <a:rPr lang="en-US">
                    <a:noFill/>
                  </a:rPr>
                  <a:t> </a:t>
                </a:r>
              </a:p>
            </p:txBody>
          </p:sp>
        </mc:Fallback>
      </mc:AlternateContent>
      <p:pic>
        <p:nvPicPr>
          <p:cNvPr id="19" name="Picture 18" descr="Icon&#10;&#10;Description automatically generated">
            <a:extLst>
              <a:ext uri="{FF2B5EF4-FFF2-40B4-BE49-F238E27FC236}">
                <a16:creationId xmlns:a16="http://schemas.microsoft.com/office/drawing/2014/main" xmlns="" id="{D6F0B0FD-95BB-FC41-A5AD-AA70C1FDE0F0}"/>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3014463" y="4962328"/>
            <a:ext cx="539750" cy="53975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5734379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22E7CAFC-319F-CE4F-8B26-ED2749A56CDA}"/>
              </a:ext>
            </a:extLst>
          </p:cNvPr>
          <p:cNvSpPr/>
          <p:nvPr/>
        </p:nvSpPr>
        <p:spPr>
          <a:xfrm>
            <a:off x="651284" y="354387"/>
            <a:ext cx="11156893" cy="1938992"/>
          </a:xfrm>
          <a:prstGeom prst="rect">
            <a:avLst/>
          </a:prstGeom>
        </p:spPr>
        <p:txBody>
          <a:bodyPr wrap="square">
            <a:spAutoFit/>
          </a:bodyPr>
          <a:lstStyle/>
          <a:p>
            <a:pPr marL="457200" indent="-457200">
              <a:buFont typeface="+mj-lt"/>
              <a:buAutoNum type="arabicPeriod" startAt="5"/>
            </a:pPr>
            <a:r>
              <a:rPr lang="en-US" sz="2000" dirty="0">
                <a:latin typeface="Verdana" panose="020B0604030504040204" pitchFamily="34" charset="0"/>
                <a:ea typeface="Times New Roman" panose="02020603050405020304" pitchFamily="18" charset="0"/>
                <a:cs typeface="Times New Roman" panose="02020603050405020304" pitchFamily="18" charset="0"/>
              </a:rPr>
              <a:t>Write an equation that represents the </a:t>
            </a:r>
            <a:r>
              <a:rPr lang="en-US" sz="2000" b="1" dirty="0">
                <a:latin typeface="Verdana" panose="020B0604030504040204" pitchFamily="34" charset="0"/>
                <a:ea typeface="Times New Roman" panose="02020603050405020304" pitchFamily="18" charset="0"/>
                <a:cs typeface="Times New Roman" panose="02020603050405020304" pitchFamily="18" charset="0"/>
              </a:rPr>
              <a:t>sum</a:t>
            </a:r>
            <a:r>
              <a:rPr lang="en-US" sz="2000" dirty="0">
                <a:latin typeface="Verdana" panose="020B0604030504040204" pitchFamily="34" charset="0"/>
                <a:ea typeface="Times New Roman" panose="02020603050405020304" pitchFamily="18" charset="0"/>
                <a:cs typeface="Times New Roman" panose="02020603050405020304" pitchFamily="18" charset="0"/>
              </a:rPr>
              <a:t> column in the previous table.</a:t>
            </a:r>
          </a:p>
          <a:p>
            <a:pPr marL="457200" indent="-457200">
              <a:buFont typeface="+mj-lt"/>
              <a:buAutoNum type="arabicPeriod" startAt="5"/>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5"/>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5"/>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5"/>
            </a:pPr>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table by drawing the positive integer chips that create a zero pair. In the </a:t>
            </a:r>
            <a:r>
              <a:rPr lang="en-US" sz="2000" b="1" dirty="0">
                <a:latin typeface="Verdana" panose="020B0604030504040204" pitchFamily="34" charset="0"/>
                <a:ea typeface="Times New Roman" panose="02020603050405020304" pitchFamily="18" charset="0"/>
                <a:cs typeface="Times New Roman" panose="02020603050405020304" pitchFamily="18" charset="0"/>
              </a:rPr>
              <a:t>sum</a:t>
            </a:r>
            <a:r>
              <a:rPr lang="en-US" sz="2000" dirty="0">
                <a:latin typeface="Verdana" panose="020B0604030504040204" pitchFamily="34" charset="0"/>
                <a:ea typeface="Times New Roman" panose="02020603050405020304" pitchFamily="18" charset="0"/>
                <a:cs typeface="Times New Roman" panose="02020603050405020304" pitchFamily="18" charset="0"/>
              </a:rPr>
              <a:t> column, draw all of the chips from both columns.</a:t>
            </a:r>
          </a:p>
        </p:txBody>
      </p:sp>
      <p:sp>
        <p:nvSpPr>
          <p:cNvPr id="10" name="Google Shape;282;g104476d1465_1_17">
            <a:extLst>
              <a:ext uri="{FF2B5EF4-FFF2-40B4-BE49-F238E27FC236}">
                <a16:creationId xmlns:a16="http://schemas.microsoft.com/office/drawing/2014/main" xmlns="" id="{00881218-B66A-864E-9C8C-BFF0BA43B327}"/>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14</a:t>
            </a:r>
            <a:endParaRPr i="1" dirty="0">
              <a:latin typeface="Calibri"/>
              <a:ea typeface="Calibri"/>
              <a:cs typeface="Calibri"/>
              <a:sym typeface="Calibri"/>
            </a:endParaRPr>
          </a:p>
        </p:txBody>
      </p:sp>
      <p:graphicFrame>
        <p:nvGraphicFramePr>
          <p:cNvPr id="4" name="Table 3">
            <a:extLst>
              <a:ext uri="{FF2B5EF4-FFF2-40B4-BE49-F238E27FC236}">
                <a16:creationId xmlns:a16="http://schemas.microsoft.com/office/drawing/2014/main" xmlns="" id="{89F4587F-0147-134E-88E4-0C939FA76A66}"/>
              </a:ext>
            </a:extLst>
          </p:cNvPr>
          <p:cNvGraphicFramePr>
            <a:graphicFrameLocks noGrp="1"/>
          </p:cNvGraphicFramePr>
          <p:nvPr>
            <p:extLst>
              <p:ext uri="{D42A27DB-BD31-4B8C-83A1-F6EECF244321}">
                <p14:modId xmlns:p14="http://schemas.microsoft.com/office/powerpoint/2010/main" val="1401492873"/>
              </p:ext>
            </p:extLst>
          </p:nvPr>
        </p:nvGraphicFramePr>
        <p:xfrm>
          <a:off x="2652712" y="2778674"/>
          <a:ext cx="6886575" cy="1188720"/>
        </p:xfrm>
        <a:graphic>
          <a:graphicData uri="http://schemas.openxmlformats.org/drawingml/2006/table">
            <a:tbl>
              <a:tblPr bandRow="1">
                <a:tableStyleId>{A91F0D33-8C57-4600-99A7-42BC86742BE1}</a:tableStyleId>
              </a:tblPr>
              <a:tblGrid>
                <a:gridCol w="1583690">
                  <a:extLst>
                    <a:ext uri="{9D8B030D-6E8A-4147-A177-3AD203B41FA5}">
                      <a16:colId xmlns:a16="http://schemas.microsoft.com/office/drawing/2014/main" xmlns="" val="770153951"/>
                    </a:ext>
                  </a:extLst>
                </a:gridCol>
                <a:gridCol w="1865630">
                  <a:extLst>
                    <a:ext uri="{9D8B030D-6E8A-4147-A177-3AD203B41FA5}">
                      <a16:colId xmlns:a16="http://schemas.microsoft.com/office/drawing/2014/main" xmlns="" val="3007636088"/>
                    </a:ext>
                  </a:extLst>
                </a:gridCol>
                <a:gridCol w="3437255">
                  <a:extLst>
                    <a:ext uri="{9D8B030D-6E8A-4147-A177-3AD203B41FA5}">
                      <a16:colId xmlns:a16="http://schemas.microsoft.com/office/drawing/2014/main" xmlns="" val="29642402"/>
                    </a:ext>
                  </a:extLst>
                </a:gridCol>
              </a:tblGrid>
              <a:tr h="254635">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Positive</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Negative</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Sum</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1306221077"/>
                  </a:ext>
                </a:extLst>
              </a:tr>
              <a:tr h="914400">
                <a:tc>
                  <a:txBody>
                    <a:bodyPr/>
                    <a:lstStyle/>
                    <a:p>
                      <a:pPr marL="0" marR="0">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201176224"/>
                  </a:ext>
                </a:extLst>
              </a:tr>
            </a:tbl>
          </a:graphicData>
        </a:graphic>
      </p:graphicFrame>
      <p:pic>
        <p:nvPicPr>
          <p:cNvPr id="20" name="image1.png" descr="A picture containing clock&#10;&#10;Description automatically generated">
            <a:extLst>
              <a:ext uri="{FF2B5EF4-FFF2-40B4-BE49-F238E27FC236}">
                <a16:creationId xmlns:a16="http://schemas.microsoft.com/office/drawing/2014/main" xmlns="" id="{93153106-3571-D541-B5ED-50800BD23056}"/>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4516422" y="3223791"/>
            <a:ext cx="621665" cy="621665"/>
          </a:xfrm>
          <a:prstGeom prst="rect">
            <a:avLst/>
          </a:prstGeom>
          <a:ln/>
        </p:spPr>
      </p:pic>
      <p:pic>
        <p:nvPicPr>
          <p:cNvPr id="21" name="image1.png" descr="A picture containing clock&#10;&#10;Description automatically generated">
            <a:extLst>
              <a:ext uri="{FF2B5EF4-FFF2-40B4-BE49-F238E27FC236}">
                <a16:creationId xmlns:a16="http://schemas.microsoft.com/office/drawing/2014/main" xmlns="" id="{26A633B3-75AB-CA4B-BED9-CCF578E669FF}"/>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5236938" y="3232253"/>
            <a:ext cx="621665" cy="621665"/>
          </a:xfrm>
          <a:prstGeom prst="rect">
            <a:avLst/>
          </a:prstGeom>
          <a:ln/>
        </p:spPr>
      </p:pic>
      <p:sp>
        <p:nvSpPr>
          <p:cNvPr id="22" name="Rectangle 21">
            <a:extLst>
              <a:ext uri="{FF2B5EF4-FFF2-40B4-BE49-F238E27FC236}">
                <a16:creationId xmlns:a16="http://schemas.microsoft.com/office/drawing/2014/main" xmlns="" id="{9FA1CF20-297C-7147-9340-9DABAFFFEE54}"/>
              </a:ext>
            </a:extLst>
          </p:cNvPr>
          <p:cNvSpPr/>
          <p:nvPr/>
        </p:nvSpPr>
        <p:spPr>
          <a:xfrm>
            <a:off x="651284" y="4858591"/>
            <a:ext cx="11382672" cy="400110"/>
          </a:xfrm>
          <a:prstGeom prst="rect">
            <a:avLst/>
          </a:prstGeom>
        </p:spPr>
        <p:txBody>
          <a:bodyPr wrap="square">
            <a:spAutoFit/>
          </a:bodyPr>
          <a:lstStyle/>
          <a:p>
            <a:pPr marL="457200" indent="-457200">
              <a:buFont typeface="+mj-lt"/>
              <a:buAutoNum type="arabicPeriod" startAt="7"/>
            </a:pPr>
            <a:r>
              <a:rPr lang="en-US" sz="2000" dirty="0">
                <a:latin typeface="Verdana" panose="020B0604030504040204" pitchFamily="34" charset="0"/>
                <a:ea typeface="Times New Roman" panose="02020603050405020304" pitchFamily="18" charset="0"/>
                <a:cs typeface="Times New Roman" panose="02020603050405020304" pitchFamily="18" charset="0"/>
              </a:rPr>
              <a:t>Write an equation that represents the </a:t>
            </a:r>
            <a:r>
              <a:rPr lang="en-US" sz="2000" b="1" dirty="0">
                <a:latin typeface="Verdana" panose="020B0604030504040204" pitchFamily="34" charset="0"/>
                <a:ea typeface="Times New Roman" panose="02020603050405020304" pitchFamily="18" charset="0"/>
                <a:cs typeface="Times New Roman" panose="02020603050405020304" pitchFamily="18" charset="0"/>
              </a:rPr>
              <a:t>sum</a:t>
            </a:r>
            <a:r>
              <a:rPr lang="en-US" sz="2000" dirty="0">
                <a:latin typeface="Verdana" panose="020B0604030504040204" pitchFamily="34" charset="0"/>
                <a:ea typeface="Times New Roman" panose="02020603050405020304" pitchFamily="18" charset="0"/>
                <a:cs typeface="Times New Roman" panose="02020603050405020304" pitchFamily="18" charset="0"/>
              </a:rPr>
              <a:t> column in the previous table.</a:t>
            </a:r>
          </a:p>
        </p:txBody>
      </p:sp>
    </p:spTree>
    <p:extLst>
      <p:ext uri="{BB962C8B-B14F-4D97-AF65-F5344CB8AC3E}">
        <p14:creationId xmlns:p14="http://schemas.microsoft.com/office/powerpoint/2010/main" val="24723269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76334" y="2766150"/>
            <a:ext cx="4480750" cy="1325700"/>
          </a:xfrm>
          <a:prstGeom prst="rect">
            <a:avLst/>
          </a:prstGeom>
          <a:noFill/>
          <a:ln>
            <a:noFill/>
          </a:ln>
        </p:spPr>
        <p:txBody>
          <a:bodyPr spcFirstLastPara="1" wrap="square" lIns="91425" tIns="45700" rIns="91425" bIns="45700" anchor="ctr" anchorCtr="0">
            <a:noAutofit/>
          </a:bodyPr>
          <a:lstStyle/>
          <a:p>
            <a:pPr>
              <a:buClr>
                <a:schemeClr val="lt1"/>
              </a:buClr>
              <a:buSzPts val="4800"/>
            </a:pPr>
            <a:r>
              <a:rPr lang="en-US" sz="4400" b="1" dirty="0">
                <a:solidFill>
                  <a:srgbClr val="52BDA6"/>
                </a:solidFill>
                <a:latin typeface="Verdana"/>
                <a:ea typeface="Verdana"/>
                <a:cs typeface="Verdana"/>
                <a:sym typeface="Verdana"/>
              </a:rPr>
              <a:t>Exploration</a:t>
            </a:r>
            <a:endParaRPr sz="4000" b="1" dirty="0">
              <a:solidFill>
                <a:srgbClr val="52BDA6"/>
              </a:solidFill>
              <a:latin typeface="Verdana"/>
              <a:ea typeface="Verdana"/>
              <a:cs typeface="Verdana"/>
              <a:sym typeface="Verdana"/>
            </a:endParaRPr>
          </a:p>
        </p:txBody>
      </p:sp>
      <p:sp>
        <p:nvSpPr>
          <p:cNvPr id="11" name="Google Shape;282;g104476d1465_1_17">
            <a:extLst>
              <a:ext uri="{FF2B5EF4-FFF2-40B4-BE49-F238E27FC236}">
                <a16:creationId xmlns:a16="http://schemas.microsoft.com/office/drawing/2014/main" xmlns="" id="{04201096-008D-9E40-8962-B6CD490C930F}"/>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a:t>
            </a:r>
            <a:endParaRPr i="1" dirty="0">
              <a:latin typeface="Calibri"/>
              <a:ea typeface="Calibri"/>
              <a:cs typeface="Calibri"/>
              <a:sym typeface="Calibri"/>
            </a:endParaRPr>
          </a:p>
        </p:txBody>
      </p:sp>
      <p:pic>
        <p:nvPicPr>
          <p:cNvPr id="8" name="Picture 7" descr="Icon&#10;&#10;Description automatically generated">
            <a:extLst>
              <a:ext uri="{FF2B5EF4-FFF2-40B4-BE49-F238E27FC236}">
                <a16:creationId xmlns:a16="http://schemas.microsoft.com/office/drawing/2014/main" xmlns="" id="{2E1148B9-85D2-674E-8679-7A5EE9FD82A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33502" cy="1133502"/>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7908396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240177" y="153861"/>
            <a:ext cx="8019300" cy="101481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2BDA6"/>
                </a:solidFill>
                <a:latin typeface="Verdana"/>
                <a:ea typeface="Verdana"/>
                <a:cs typeface="Verdana"/>
                <a:sym typeface="Verdana"/>
              </a:rPr>
              <a:t>7.3.3 Exploration: Adding Integers with the Same Sign</a:t>
            </a:r>
          </a:p>
        </p:txBody>
      </p:sp>
      <p:sp>
        <p:nvSpPr>
          <p:cNvPr id="2" name="Rectangle 1">
            <a:extLst>
              <a:ext uri="{FF2B5EF4-FFF2-40B4-BE49-F238E27FC236}">
                <a16:creationId xmlns:a16="http://schemas.microsoft.com/office/drawing/2014/main" xmlns="" id="{A66A031F-2EC8-DF4C-B3F5-E7AC5B8F3239}"/>
              </a:ext>
            </a:extLst>
          </p:cNvPr>
          <p:cNvSpPr/>
          <p:nvPr/>
        </p:nvSpPr>
        <p:spPr>
          <a:xfrm>
            <a:off x="731688" y="1298383"/>
            <a:ext cx="8526780" cy="369332"/>
          </a:xfrm>
          <a:prstGeom prst="rect">
            <a:avLst/>
          </a:prstGeom>
        </p:spPr>
        <p:txBody>
          <a:bodyPr wrap="square">
            <a:spAutoFit/>
          </a:bodyPr>
          <a:lstStyle/>
          <a:p>
            <a:pPr marL="407988" indent="-396875">
              <a:buSzPts val="1800"/>
              <a:buFont typeface="+mj-lt"/>
              <a:buAutoNum type="arabicPeriod"/>
            </a:pPr>
            <a:r>
              <a:rPr lang="en-US" sz="1800" dirty="0">
                <a:latin typeface="Verdana" panose="020B0604030504040204" pitchFamily="34" charset="0"/>
                <a:ea typeface="Verdana" panose="020B0604030504040204" pitchFamily="34" charset="0"/>
                <a:cs typeface="Verdana" panose="020B0604030504040204" pitchFamily="34" charset="0"/>
              </a:rPr>
              <a:t>Work with your partner to complete the table. </a:t>
            </a:r>
          </a:p>
        </p:txBody>
      </p:sp>
      <p:sp>
        <p:nvSpPr>
          <p:cNvPr id="13" name="Google Shape;282;g104476d1465_1_17">
            <a:extLst>
              <a:ext uri="{FF2B5EF4-FFF2-40B4-BE49-F238E27FC236}">
                <a16:creationId xmlns:a16="http://schemas.microsoft.com/office/drawing/2014/main" xmlns="" id="{38A626CB-082C-DB4E-B059-328DCC8AD138}"/>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a:t>
            </a:r>
            <a:endParaRPr i="1" dirty="0">
              <a:latin typeface="Calibri"/>
              <a:ea typeface="Calibri"/>
              <a:cs typeface="Calibri"/>
              <a:sym typeface="Calibri"/>
            </a:endParaRPr>
          </a:p>
        </p:txBody>
      </p:sp>
      <p:pic>
        <p:nvPicPr>
          <p:cNvPr id="10" name="Picture 9" descr="Icon&#10;&#10;Description automatically generated">
            <a:extLst>
              <a:ext uri="{FF2B5EF4-FFF2-40B4-BE49-F238E27FC236}">
                <a16:creationId xmlns:a16="http://schemas.microsoft.com/office/drawing/2014/main" xmlns="" id="{4D9A73C9-2136-0F4C-9CC2-30ADB036FE1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56616" y="201168"/>
            <a:ext cx="750145" cy="750145"/>
          </a:xfrm>
          <a:prstGeom prst="rect">
            <a:avLst/>
          </a:prstGeom>
        </p:spPr>
      </p:pic>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xmlns="" id="{8DC72096-7861-C44F-85CE-36FA11FD672D}"/>
                  </a:ext>
                </a:extLst>
              </p:cNvPr>
              <p:cNvGraphicFramePr>
                <a:graphicFrameLocks noGrp="1"/>
              </p:cNvGraphicFramePr>
              <p:nvPr>
                <p:extLst>
                  <p:ext uri="{D42A27DB-BD31-4B8C-83A1-F6EECF244321}">
                    <p14:modId xmlns:p14="http://schemas.microsoft.com/office/powerpoint/2010/main" val="2979761801"/>
                  </p:ext>
                </p:extLst>
              </p:nvPr>
            </p:nvGraphicFramePr>
            <p:xfrm>
              <a:off x="2426970" y="2050136"/>
              <a:ext cx="7406640" cy="3691137"/>
            </p:xfrm>
            <a:graphic>
              <a:graphicData uri="http://schemas.openxmlformats.org/drawingml/2006/table">
                <a:tbl>
                  <a:tblPr bandRow="1">
                    <a:tableStyleId>{A91F0D33-8C57-4600-99A7-42BC86742BE1}</a:tableStyleId>
                  </a:tblPr>
                  <a:tblGrid>
                    <a:gridCol w="1847211">
                      <a:extLst>
                        <a:ext uri="{9D8B030D-6E8A-4147-A177-3AD203B41FA5}">
                          <a16:colId xmlns:a16="http://schemas.microsoft.com/office/drawing/2014/main" xmlns="" val="1365653540"/>
                        </a:ext>
                      </a:extLst>
                    </a:gridCol>
                    <a:gridCol w="1656336">
                      <a:extLst>
                        <a:ext uri="{9D8B030D-6E8A-4147-A177-3AD203B41FA5}">
                          <a16:colId xmlns:a16="http://schemas.microsoft.com/office/drawing/2014/main" xmlns="" val="1158979506"/>
                        </a:ext>
                      </a:extLst>
                    </a:gridCol>
                    <a:gridCol w="3134789">
                      <a:extLst>
                        <a:ext uri="{9D8B030D-6E8A-4147-A177-3AD203B41FA5}">
                          <a16:colId xmlns:a16="http://schemas.microsoft.com/office/drawing/2014/main" xmlns="" val="3798582828"/>
                        </a:ext>
                      </a:extLst>
                    </a:gridCol>
                    <a:gridCol w="768304">
                      <a:extLst>
                        <a:ext uri="{9D8B030D-6E8A-4147-A177-3AD203B41FA5}">
                          <a16:colId xmlns:a16="http://schemas.microsoft.com/office/drawing/2014/main" xmlns="" val="576186787"/>
                        </a:ext>
                      </a:extLst>
                    </a:gridCol>
                  </a:tblGrid>
                  <a:tr h="466951">
                    <a:tc>
                      <a:txBody>
                        <a:bodyPr/>
                        <a:lstStyle/>
                        <a:p>
                          <a:pPr marL="0" marR="0" algn="ctr">
                            <a:spcBef>
                              <a:spcPts val="0"/>
                            </a:spcBef>
                            <a:spcAft>
                              <a:spcPts val="100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Mathematical</a:t>
                          </a:r>
                          <a:br>
                            <a:rPr lang="en-US" sz="1400" b="1" dirty="0">
                              <a:effectLst/>
                              <a:latin typeface="Verdana" panose="020B0604030504040204" pitchFamily="34" charset="0"/>
                              <a:ea typeface="Verdana" panose="020B0604030504040204" pitchFamily="34" charset="0"/>
                              <a:cs typeface="Verdana" panose="020B0604030504040204" pitchFamily="34" charset="0"/>
                            </a:rPr>
                          </a:br>
                          <a:r>
                            <a:rPr lang="en-US" sz="1400" b="1" dirty="0">
                              <a:effectLst/>
                              <a:latin typeface="Verdana" panose="020B0604030504040204" pitchFamily="34" charset="0"/>
                              <a:ea typeface="Verdana" panose="020B0604030504040204" pitchFamily="34" charset="0"/>
                              <a:cs typeface="Verdana" panose="020B0604030504040204" pitchFamily="34" charset="0"/>
                            </a:rPr>
                            <a:t>Expression</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35021" marR="350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Money Sentence</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35021" marR="350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Integer Chips </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35021" marR="350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Sum</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35021" marR="350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3119843896"/>
                      </a:ext>
                    </a:extLst>
                  </a:tr>
                  <a:tr h="1334146">
                    <a:tc>
                      <a:txBody>
                        <a:bodyPr/>
                        <a:lstStyle/>
                        <a:p>
                          <a:pPr marL="0" marR="0" algn="ctr">
                            <a:spcBef>
                              <a:spcPts val="0"/>
                            </a:spcBef>
                            <a:spcAft>
                              <a:spcPts val="100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35021" marR="350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600">
                              <a:effectLst/>
                              <a:latin typeface="Verdana" panose="020B0604030504040204" pitchFamily="34" charset="0"/>
                              <a:ea typeface="Verdana" panose="020B0604030504040204" pitchFamily="34" charset="0"/>
                              <a:cs typeface="Verdana" panose="020B0604030504040204" pitchFamily="34" charset="0"/>
                            </a:rPr>
                            <a:t>I earn </a:t>
                          </a:r>
                          <a14:m>
                            <m:oMath xmlns:m="http://schemas.openxmlformats.org/officeDocument/2006/math">
                              <m:r>
                                <a:rPr lang="en-US" sz="1600">
                                  <a:effectLst/>
                                  <a:latin typeface="Cambria Math" panose="02040503050406030204" pitchFamily="18" charset="0"/>
                                </a:rPr>
                                <m:t>$5</m:t>
                              </m:r>
                            </m:oMath>
                          </a14:m>
                          <a:r>
                            <a:rPr lang="en-US" sz="1600">
                              <a:effectLst/>
                              <a:latin typeface="Verdana" panose="020B0604030504040204" pitchFamily="34" charset="0"/>
                              <a:ea typeface="Verdana" panose="020B0604030504040204" pitchFamily="34" charset="0"/>
                              <a:cs typeface="Verdana" panose="020B0604030504040204" pitchFamily="34" charset="0"/>
                            </a:rPr>
                            <a:t> babysitting and another </a:t>
                          </a:r>
                          <a14:m>
                            <m:oMath xmlns:m="http://schemas.openxmlformats.org/officeDocument/2006/math">
                              <m:r>
                                <a:rPr lang="en-US" sz="1600">
                                  <a:effectLst/>
                                  <a:latin typeface="Cambria Math" panose="02040503050406030204" pitchFamily="18" charset="0"/>
                                </a:rPr>
                                <m:t>$2</m:t>
                              </m:r>
                            </m:oMath>
                          </a14:m>
                          <a:r>
                            <a:rPr lang="en-US" sz="1600">
                              <a:effectLst/>
                              <a:latin typeface="Verdana" panose="020B0604030504040204" pitchFamily="34" charset="0"/>
                              <a:ea typeface="Verdana" panose="020B0604030504040204" pitchFamily="34" charset="0"/>
                              <a:cs typeface="Verdana" panose="020B0604030504040204" pitchFamily="34" charset="0"/>
                            </a:rPr>
                            <a:t> for cleaning the dishes.</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35021" marR="350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100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10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100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35021" marR="350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35021" marR="350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021634534"/>
                      </a:ext>
                    </a:extLst>
                  </a:tr>
                  <a:tr h="1890040">
                    <a:tc>
                      <a:txBody>
                        <a:bodyPr/>
                        <a:lstStyle/>
                        <a:p>
                          <a:pPr marL="0" marR="0" algn="ctr">
                            <a:spcBef>
                              <a:spcPts val="0"/>
                            </a:spcBef>
                            <a:spcAft>
                              <a:spcPts val="100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x-none" sz="11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x-none" sz="11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1600">
                                    <a:effectLst/>
                                    <a:latin typeface="Cambria Math" panose="02040503050406030204" pitchFamily="18" charset="0"/>
                                  </a:rPr>
                                  <m:t>3+2</m:t>
                                </m:r>
                              </m:oMath>
                            </m:oMathPara>
                          </a14:m>
                          <a:endParaRPr lang="x-none" sz="11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x-none" sz="11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35021" marR="350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x-none" sz="11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x-none" sz="1100" dirty="0">
                            <a:effectLst/>
                            <a:latin typeface="Verdana" panose="020B0604030504040204" pitchFamily="34" charset="0"/>
                            <a:ea typeface="Verdana" panose="020B0604030504040204" pitchFamily="34" charset="0"/>
                            <a:cs typeface="Verdana" panose="020B0604030504040204" pitchFamily="34" charset="0"/>
                          </a:endParaRPr>
                        </a:p>
                      </a:txBody>
                      <a:tcPr marL="35021" marR="350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x-none" sz="1100" dirty="0">
                            <a:effectLst/>
                            <a:latin typeface="Verdana" panose="020B0604030504040204" pitchFamily="34" charset="0"/>
                            <a:ea typeface="Verdana" panose="020B0604030504040204" pitchFamily="34" charset="0"/>
                            <a:cs typeface="Verdana" panose="020B0604030504040204" pitchFamily="34" charset="0"/>
                          </a:endParaRPr>
                        </a:p>
                      </a:txBody>
                      <a:tcPr marL="35021" marR="350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x-none" sz="1100" dirty="0">
                            <a:effectLst/>
                            <a:latin typeface="Verdana" panose="020B0604030504040204" pitchFamily="34" charset="0"/>
                            <a:ea typeface="Verdana" panose="020B0604030504040204" pitchFamily="34" charset="0"/>
                            <a:cs typeface="Verdana" panose="020B0604030504040204" pitchFamily="34" charset="0"/>
                          </a:endParaRPr>
                        </a:p>
                      </a:txBody>
                      <a:tcPr marL="35021" marR="350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086926540"/>
                      </a:ext>
                    </a:extLst>
                  </a:tr>
                </a:tbl>
              </a:graphicData>
            </a:graphic>
          </p:graphicFrame>
        </mc:Choice>
        <mc:Fallback xmlns="">
          <p:graphicFrame>
            <p:nvGraphicFramePr>
              <p:cNvPr id="4" name="Table 3">
                <a:extLst>
                  <a:ext uri="{FF2B5EF4-FFF2-40B4-BE49-F238E27FC236}">
                    <a16:creationId xmlns:a16="http://schemas.microsoft.com/office/drawing/2014/main" id="{8DC72096-7861-C44F-85CE-36FA11FD672D}"/>
                  </a:ext>
                </a:extLst>
              </p:cNvPr>
              <p:cNvGraphicFramePr>
                <a:graphicFrameLocks noGrp="1"/>
              </p:cNvGraphicFramePr>
              <p:nvPr>
                <p:extLst>
                  <p:ext uri="{D42A27DB-BD31-4B8C-83A1-F6EECF244321}">
                    <p14:modId xmlns:p14="http://schemas.microsoft.com/office/powerpoint/2010/main" val="2979761801"/>
                  </p:ext>
                </p:extLst>
              </p:nvPr>
            </p:nvGraphicFramePr>
            <p:xfrm>
              <a:off x="2426970" y="2050136"/>
              <a:ext cx="7406640" cy="3691137"/>
            </p:xfrm>
            <a:graphic>
              <a:graphicData uri="http://schemas.openxmlformats.org/drawingml/2006/table">
                <a:tbl>
                  <a:tblPr bandRow="1">
                    <a:tableStyleId>{A91F0D33-8C57-4600-99A7-42BC86742BE1}</a:tableStyleId>
                  </a:tblPr>
                  <a:tblGrid>
                    <a:gridCol w="1847211">
                      <a:extLst>
                        <a:ext uri="{9D8B030D-6E8A-4147-A177-3AD203B41FA5}">
                          <a16:colId xmlns:a16="http://schemas.microsoft.com/office/drawing/2014/main" val="1365653540"/>
                        </a:ext>
                      </a:extLst>
                    </a:gridCol>
                    <a:gridCol w="1656336">
                      <a:extLst>
                        <a:ext uri="{9D8B030D-6E8A-4147-A177-3AD203B41FA5}">
                          <a16:colId xmlns:a16="http://schemas.microsoft.com/office/drawing/2014/main" val="1158979506"/>
                        </a:ext>
                      </a:extLst>
                    </a:gridCol>
                    <a:gridCol w="3134789">
                      <a:extLst>
                        <a:ext uri="{9D8B030D-6E8A-4147-A177-3AD203B41FA5}">
                          <a16:colId xmlns:a16="http://schemas.microsoft.com/office/drawing/2014/main" val="3798582828"/>
                        </a:ext>
                      </a:extLst>
                    </a:gridCol>
                    <a:gridCol w="768304">
                      <a:extLst>
                        <a:ext uri="{9D8B030D-6E8A-4147-A177-3AD203B41FA5}">
                          <a16:colId xmlns:a16="http://schemas.microsoft.com/office/drawing/2014/main" val="576186787"/>
                        </a:ext>
                      </a:extLst>
                    </a:gridCol>
                  </a:tblGrid>
                  <a:tr h="466951">
                    <a:tc>
                      <a:txBody>
                        <a:bodyPr/>
                        <a:lstStyle/>
                        <a:p>
                          <a:pPr marL="0" marR="0" algn="ctr">
                            <a:spcBef>
                              <a:spcPts val="0"/>
                            </a:spcBef>
                            <a:spcAft>
                              <a:spcPts val="100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Mathematical</a:t>
                          </a:r>
                          <a:br>
                            <a:rPr lang="en-US" sz="1400" b="1" dirty="0">
                              <a:effectLst/>
                              <a:latin typeface="Verdana" panose="020B0604030504040204" pitchFamily="34" charset="0"/>
                              <a:ea typeface="Verdana" panose="020B0604030504040204" pitchFamily="34" charset="0"/>
                              <a:cs typeface="Verdana" panose="020B0604030504040204" pitchFamily="34" charset="0"/>
                            </a:rPr>
                          </a:br>
                          <a:r>
                            <a:rPr lang="en-US" sz="1400" b="1" dirty="0">
                              <a:effectLst/>
                              <a:latin typeface="Verdana" panose="020B0604030504040204" pitchFamily="34" charset="0"/>
                              <a:ea typeface="Verdana" panose="020B0604030504040204" pitchFamily="34" charset="0"/>
                              <a:cs typeface="Verdana" panose="020B0604030504040204" pitchFamily="34" charset="0"/>
                            </a:rPr>
                            <a:t>Expression</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35021" marR="350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Money Sentence</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35021" marR="350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Integer Chips </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35021" marR="350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400" b="1" dirty="0">
                              <a:effectLst/>
                              <a:latin typeface="Verdana" panose="020B0604030504040204" pitchFamily="34" charset="0"/>
                              <a:ea typeface="Verdana" panose="020B0604030504040204" pitchFamily="34" charset="0"/>
                              <a:cs typeface="Verdana" panose="020B0604030504040204" pitchFamily="34" charset="0"/>
                            </a:rPr>
                            <a:t>Sum</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35021" marR="350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119843896"/>
                      </a:ext>
                    </a:extLst>
                  </a:tr>
                  <a:tr h="1334146">
                    <a:tc>
                      <a:txBody>
                        <a:bodyPr/>
                        <a:lstStyle/>
                        <a:p>
                          <a:pPr marL="0" marR="0" algn="ctr">
                            <a:spcBef>
                              <a:spcPts val="0"/>
                            </a:spcBef>
                            <a:spcAft>
                              <a:spcPts val="100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35021" marR="350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35021" marR="350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13077" t="-38095" r="-237692" b="-143810"/>
                          </a:stretch>
                        </a:blipFill>
                      </a:tcPr>
                    </a:tc>
                    <a:tc>
                      <a:txBody>
                        <a:bodyPr/>
                        <a:lstStyle/>
                        <a:p>
                          <a:pPr marL="0" marR="0">
                            <a:spcBef>
                              <a:spcPts val="0"/>
                            </a:spcBef>
                            <a:spcAft>
                              <a:spcPts val="100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100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35021" marR="350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400">
                              <a:effectLst/>
                              <a:latin typeface="Verdana" panose="020B0604030504040204" pitchFamily="34" charset="0"/>
                              <a:ea typeface="Verdana" panose="020B0604030504040204" pitchFamily="34" charset="0"/>
                              <a:cs typeface="Verdana" panose="020B0604030504040204" pitchFamily="34" charset="0"/>
                            </a:rPr>
                            <a:t> </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35021" marR="350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1634534"/>
                      </a:ext>
                    </a:extLst>
                  </a:tr>
                  <a:tr h="1890040">
                    <a:tc>
                      <a:txBody>
                        <a:bodyPr/>
                        <a:lstStyle/>
                        <a:p>
                          <a:endParaRPr lang="en-US"/>
                        </a:p>
                      </a:txBody>
                      <a:tcPr marL="35021" marR="350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685" t="-96667" r="-300685" b="-667"/>
                          </a:stretch>
                        </a:blipFill>
                      </a:tcPr>
                    </a:tc>
                    <a:tc>
                      <a:txBody>
                        <a:bodyPr/>
                        <a:lstStyle/>
                        <a:p>
                          <a:pPr marL="0" marR="0" algn="ctr">
                            <a:spcBef>
                              <a:spcPts val="0"/>
                            </a:spcBef>
                            <a:spcAft>
                              <a:spcPts val="100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35021" marR="350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35021" marR="350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4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35021" marR="3502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6926540"/>
                      </a:ext>
                    </a:extLst>
                  </a:tr>
                </a:tbl>
              </a:graphicData>
            </a:graphic>
          </p:graphicFrame>
        </mc:Fallback>
      </mc:AlternateContent>
      <p:pic>
        <p:nvPicPr>
          <p:cNvPr id="15" name="image2.png" descr="A close up of a sign&#10;&#10;Description automatically generated">
            <a:extLst>
              <a:ext uri="{FF2B5EF4-FFF2-40B4-BE49-F238E27FC236}">
                <a16:creationId xmlns:a16="http://schemas.microsoft.com/office/drawing/2014/main" xmlns="" id="{BED1B066-77F8-3547-9E82-6FF795FFE911}"/>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6015043" y="2624222"/>
            <a:ext cx="548640" cy="548640"/>
          </a:xfrm>
          <a:prstGeom prst="rect">
            <a:avLst/>
          </a:prstGeom>
          <a:ln/>
        </p:spPr>
      </p:pic>
      <p:pic>
        <p:nvPicPr>
          <p:cNvPr id="16" name="image2.png" descr="A close up of a sign&#10;&#10;Description automatically generated">
            <a:extLst>
              <a:ext uri="{FF2B5EF4-FFF2-40B4-BE49-F238E27FC236}">
                <a16:creationId xmlns:a16="http://schemas.microsoft.com/office/drawing/2014/main" xmlns="" id="{D06F9D3B-4529-F049-BE03-9253A954816A}"/>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6561974" y="2624222"/>
            <a:ext cx="548640" cy="548640"/>
          </a:xfrm>
          <a:prstGeom prst="rect">
            <a:avLst/>
          </a:prstGeom>
          <a:ln/>
        </p:spPr>
      </p:pic>
      <p:pic>
        <p:nvPicPr>
          <p:cNvPr id="17" name="image2.png" descr="A close up of a sign&#10;&#10;Description automatically generated">
            <a:extLst>
              <a:ext uri="{FF2B5EF4-FFF2-40B4-BE49-F238E27FC236}">
                <a16:creationId xmlns:a16="http://schemas.microsoft.com/office/drawing/2014/main" xmlns="" id="{FD421D97-4058-A042-BF9F-1D80B86A25D0}"/>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7108905" y="2624222"/>
            <a:ext cx="548640" cy="548640"/>
          </a:xfrm>
          <a:prstGeom prst="rect">
            <a:avLst/>
          </a:prstGeom>
          <a:ln/>
        </p:spPr>
      </p:pic>
      <p:pic>
        <p:nvPicPr>
          <p:cNvPr id="18" name="image2.png" descr="A close up of a sign&#10;&#10;Description automatically generated">
            <a:extLst>
              <a:ext uri="{FF2B5EF4-FFF2-40B4-BE49-F238E27FC236}">
                <a16:creationId xmlns:a16="http://schemas.microsoft.com/office/drawing/2014/main" xmlns="" id="{74F1F0E9-24A8-FB40-9524-69FCA5247788}"/>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7664381" y="2624222"/>
            <a:ext cx="548640" cy="548640"/>
          </a:xfrm>
          <a:prstGeom prst="rect">
            <a:avLst/>
          </a:prstGeom>
          <a:ln/>
        </p:spPr>
      </p:pic>
      <p:pic>
        <p:nvPicPr>
          <p:cNvPr id="19" name="image2.png" descr="A close up of a sign&#10;&#10;Description automatically generated">
            <a:extLst>
              <a:ext uri="{FF2B5EF4-FFF2-40B4-BE49-F238E27FC236}">
                <a16:creationId xmlns:a16="http://schemas.microsoft.com/office/drawing/2014/main" xmlns="" id="{AE65B333-86B5-D34D-8DCD-3EA071698F06}"/>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8228404" y="2624222"/>
            <a:ext cx="548640" cy="548640"/>
          </a:xfrm>
          <a:prstGeom prst="rect">
            <a:avLst/>
          </a:prstGeom>
          <a:ln/>
        </p:spPr>
      </p:pic>
      <p:pic>
        <p:nvPicPr>
          <p:cNvPr id="20" name="image2.png" descr="A close up of a sign&#10;&#10;Description automatically generated">
            <a:extLst>
              <a:ext uri="{FF2B5EF4-FFF2-40B4-BE49-F238E27FC236}">
                <a16:creationId xmlns:a16="http://schemas.microsoft.com/office/drawing/2014/main" xmlns="" id="{E8E2DD04-ADFB-5743-92F2-F50398534828}"/>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6015043" y="3196790"/>
            <a:ext cx="548640" cy="548640"/>
          </a:xfrm>
          <a:prstGeom prst="rect">
            <a:avLst/>
          </a:prstGeom>
          <a:ln/>
        </p:spPr>
      </p:pic>
      <p:pic>
        <p:nvPicPr>
          <p:cNvPr id="21" name="image2.png" descr="A close up of a sign&#10;&#10;Description automatically generated">
            <a:extLst>
              <a:ext uri="{FF2B5EF4-FFF2-40B4-BE49-F238E27FC236}">
                <a16:creationId xmlns:a16="http://schemas.microsoft.com/office/drawing/2014/main" xmlns="" id="{0913660A-2D27-474B-B8A2-31F2A15FA95A}"/>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6561974" y="3196790"/>
            <a:ext cx="548640" cy="548640"/>
          </a:xfrm>
          <a:prstGeom prst="rect">
            <a:avLst/>
          </a:prstGeom>
          <a:ln/>
        </p:spPr>
      </p:pic>
    </p:spTree>
    <p:extLst>
      <p:ext uri="{BB962C8B-B14F-4D97-AF65-F5344CB8AC3E}">
        <p14:creationId xmlns:p14="http://schemas.microsoft.com/office/powerpoint/2010/main" val="31012998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D9AF1552-9966-3643-BA84-BB4BC68EDBB5}"/>
              </a:ext>
            </a:extLst>
          </p:cNvPr>
          <p:cNvSpPr/>
          <p:nvPr/>
        </p:nvSpPr>
        <p:spPr>
          <a:xfrm>
            <a:off x="500662" y="4071289"/>
            <a:ext cx="8772786" cy="1938992"/>
          </a:xfrm>
          <a:prstGeom prst="rect">
            <a:avLst/>
          </a:prstGeom>
        </p:spPr>
        <p:txBody>
          <a:bodyPr wrap="square">
            <a:spAutoFit/>
          </a:bodyPr>
          <a:lstStyle/>
          <a:p>
            <a:pPr marL="457200" indent="-457200">
              <a:buSzPts val="18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With your partner, discuss the patterns you notice about the signs of the sums when adding integers with the same sign.</a:t>
            </a:r>
          </a:p>
          <a:p>
            <a:pPr marL="457200" indent="-457200">
              <a:buSzPts val="18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ts val="1800"/>
              <a:buFont typeface="+mj-lt"/>
              <a:buAutoNum type="arabicPeriod" startAt="2"/>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ts val="18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Were any zero pairs created when adding integers with the same sign? Explain.</a:t>
            </a:r>
          </a:p>
        </p:txBody>
      </p:sp>
      <p:sp>
        <p:nvSpPr>
          <p:cNvPr id="9" name="Google Shape;282;g104476d1465_1_17">
            <a:extLst>
              <a:ext uri="{FF2B5EF4-FFF2-40B4-BE49-F238E27FC236}">
                <a16:creationId xmlns:a16="http://schemas.microsoft.com/office/drawing/2014/main" xmlns="" id="{FCAEDDBD-15FD-B945-9FDE-50793A71AA1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BCD29D7A-3633-D946-98CC-1665562548C0}"/>
                  </a:ext>
                </a:extLst>
              </p:cNvPr>
              <p:cNvGraphicFramePr>
                <a:graphicFrameLocks noGrp="1"/>
              </p:cNvGraphicFramePr>
              <p:nvPr>
                <p:extLst>
                  <p:ext uri="{D42A27DB-BD31-4B8C-83A1-F6EECF244321}">
                    <p14:modId xmlns:p14="http://schemas.microsoft.com/office/powerpoint/2010/main" val="1418129251"/>
                  </p:ext>
                </p:extLst>
              </p:nvPr>
            </p:nvGraphicFramePr>
            <p:xfrm>
              <a:off x="2657476" y="572057"/>
              <a:ext cx="6877049" cy="3051838"/>
            </p:xfrm>
            <a:graphic>
              <a:graphicData uri="http://schemas.openxmlformats.org/drawingml/2006/table">
                <a:tbl>
                  <a:tblPr bandRow="1">
                    <a:tableStyleId>{A91F0D33-8C57-4600-99A7-42BC86742BE1}</a:tableStyleId>
                  </a:tblPr>
                  <a:tblGrid>
                    <a:gridCol w="1715133">
                      <a:extLst>
                        <a:ext uri="{9D8B030D-6E8A-4147-A177-3AD203B41FA5}">
                          <a16:colId xmlns:a16="http://schemas.microsoft.com/office/drawing/2014/main" xmlns="" val="4179615295"/>
                        </a:ext>
                      </a:extLst>
                    </a:gridCol>
                    <a:gridCol w="1537903">
                      <a:extLst>
                        <a:ext uri="{9D8B030D-6E8A-4147-A177-3AD203B41FA5}">
                          <a16:colId xmlns:a16="http://schemas.microsoft.com/office/drawing/2014/main" xmlns="" val="30755260"/>
                        </a:ext>
                      </a:extLst>
                    </a:gridCol>
                    <a:gridCol w="2910645">
                      <a:extLst>
                        <a:ext uri="{9D8B030D-6E8A-4147-A177-3AD203B41FA5}">
                          <a16:colId xmlns:a16="http://schemas.microsoft.com/office/drawing/2014/main" xmlns="" val="3676480822"/>
                        </a:ext>
                      </a:extLst>
                    </a:gridCol>
                    <a:gridCol w="713368">
                      <a:extLst>
                        <a:ext uri="{9D8B030D-6E8A-4147-A177-3AD203B41FA5}">
                          <a16:colId xmlns:a16="http://schemas.microsoft.com/office/drawing/2014/main" xmlns="" val="2434462322"/>
                        </a:ext>
                      </a:extLst>
                    </a:gridCol>
                  </a:tblGrid>
                  <a:tr h="1324638">
                    <a:tc>
                      <a:txBody>
                        <a:bodyPr/>
                        <a:lstStyle/>
                        <a:p>
                          <a:pPr marL="0" marR="0" algn="ctr">
                            <a:spcBef>
                              <a:spcPts val="0"/>
                            </a:spcBef>
                            <a:spcAft>
                              <a:spcPts val="1000"/>
                            </a:spcAft>
                          </a:pPr>
                          <a:r>
                            <a:rPr lang="en-US" sz="1800" dirty="0">
                              <a:effectLst/>
                            </a:rPr>
                            <a:t> </a:t>
                          </a:r>
                          <a:endParaRPr lang="x-none" sz="1200" dirty="0">
                            <a:effectLst/>
                          </a:endParaRPr>
                        </a:p>
                        <a:p>
                          <a:pPr marL="0" marR="0" algn="ctr">
                            <a:spcBef>
                              <a:spcPts val="0"/>
                            </a:spcBef>
                            <a:spcAft>
                              <a:spcPts val="1000"/>
                            </a:spcAft>
                          </a:pPr>
                          <a:r>
                            <a:rPr lang="en-US" sz="1800" dirty="0">
                              <a:effectLst/>
                            </a:rPr>
                            <a:t> </a:t>
                          </a:r>
                          <a14:m>
                            <m:oMath xmlns:m="http://schemas.openxmlformats.org/officeDocument/2006/math">
                              <m:sPre>
                                <m:sPrePr>
                                  <m:ctrlPr>
                                    <a:rPr lang="x-none" sz="1800" i="1">
                                      <a:effectLst/>
                                      <a:latin typeface="Cambria Math"/>
                                    </a:rPr>
                                  </m:ctrlPr>
                                </m:sPrePr>
                                <m:sub/>
                                <m:sup>
                                  <m:r>
                                    <a:rPr lang="en-US" sz="1800">
                                      <a:effectLst/>
                                      <a:latin typeface="Cambria Math" panose="02040503050406030204" pitchFamily="18" charset="0"/>
                                    </a:rPr>
                                    <m:t>−</m:t>
                                  </m:r>
                                </m:sup>
                                <m:e>
                                  <m:r>
                                    <a:rPr lang="en-US" sz="1800">
                                      <a:effectLst/>
                                      <a:latin typeface="Cambria Math" panose="02040503050406030204" pitchFamily="18" charset="0"/>
                                    </a:rPr>
                                    <m:t>4</m:t>
                                  </m:r>
                                </m:e>
                              </m:sPre>
                              <m:r>
                                <a:rPr lang="en-US" sz="1800">
                                  <a:effectLst/>
                                  <a:latin typeface="Cambria Math" panose="02040503050406030204" pitchFamily="18" charset="0"/>
                                </a:rPr>
                                <m:t>+</m:t>
                              </m:r>
                              <m:sPre>
                                <m:sPrePr>
                                  <m:ctrlPr>
                                    <a:rPr lang="x-none" sz="1800" i="1">
                                      <a:effectLst/>
                                      <a:latin typeface="Cambria Math"/>
                                    </a:rPr>
                                  </m:ctrlPr>
                                </m:sPrePr>
                                <m:sub/>
                                <m:sup>
                                  <m:r>
                                    <a:rPr lang="en-US" sz="1800">
                                      <a:effectLst/>
                                      <a:latin typeface="Cambria Math" panose="02040503050406030204" pitchFamily="18" charset="0"/>
                                    </a:rPr>
                                    <m:t>−</m:t>
                                  </m:r>
                                </m:sup>
                                <m:e>
                                  <m:r>
                                    <a:rPr lang="en-US" sz="1800">
                                      <a:effectLst/>
                                      <a:latin typeface="Cambria Math" panose="02040503050406030204" pitchFamily="18" charset="0"/>
                                    </a:rPr>
                                    <m:t>3</m:t>
                                  </m:r>
                                </m:e>
                              </m:sPre>
                            </m:oMath>
                          </a14:m>
                          <a:endParaRPr lang="x-none" sz="1200" dirty="0">
                            <a:effectLst/>
                          </a:endParaRPr>
                        </a:p>
                        <a:p>
                          <a:pPr marL="0" marR="0" algn="ctr">
                            <a:spcBef>
                              <a:spcPts val="0"/>
                            </a:spcBef>
                            <a:spcAft>
                              <a:spcPts val="1000"/>
                            </a:spcAft>
                          </a:pPr>
                          <a:endParaRPr lang="x-none" sz="1200" dirty="0">
                            <a:effectLst/>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600" dirty="0">
                              <a:effectLst/>
                            </a:rPr>
                            <a:t> </a:t>
                          </a:r>
                          <a:endParaRPr lang="x-none" sz="1200" dirty="0">
                            <a:effectLst/>
                          </a:endParaRPr>
                        </a:p>
                        <a:p>
                          <a:pPr marL="0" marR="0" algn="ctr">
                            <a:spcBef>
                              <a:spcPts val="0"/>
                            </a:spcBef>
                            <a:spcAft>
                              <a:spcPts val="1000"/>
                            </a:spcAft>
                          </a:pPr>
                          <a:r>
                            <a:rPr lang="en-US" sz="1600" dirty="0">
                              <a:effectLst/>
                            </a:rPr>
                            <a:t> </a:t>
                          </a: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600" dirty="0">
                              <a:effectLst/>
                            </a:rPr>
                            <a:t> </a:t>
                          </a: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600">
                              <a:effectLst/>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83125879"/>
                      </a:ext>
                    </a:extLst>
                  </a:tr>
                  <a:tr h="547124">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d>
                                  <m:dPr>
                                    <m:ctrlPr>
                                      <a:rPr lang="x-none" sz="1800" i="1">
                                        <a:effectLst/>
                                        <a:latin typeface="Cambria Math"/>
                                      </a:rPr>
                                    </m:ctrlPr>
                                  </m:dPr>
                                  <m:e>
                                    <m:r>
                                      <a:rPr lang="en-US" sz="1800">
                                        <a:effectLst/>
                                        <a:latin typeface="Cambria Math" panose="02040503050406030204" pitchFamily="18" charset="0"/>
                                      </a:rPr>
                                      <m:t>−2</m:t>
                                    </m:r>
                                  </m:e>
                                </m:d>
                                <m:r>
                                  <a:rPr lang="en-US" sz="1800">
                                    <a:effectLst/>
                                    <a:latin typeface="Cambria Math" panose="02040503050406030204" pitchFamily="18" charset="0"/>
                                  </a:rPr>
                                  <m:t>+(−1)</m:t>
                                </m:r>
                              </m:oMath>
                            </m:oMathPara>
                          </a14:m>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600" dirty="0">
                              <a:effectLst/>
                            </a:rPr>
                            <a:t> </a:t>
                          </a: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600" dirty="0">
                              <a:effectLst/>
                            </a:rPr>
                            <a:t> </a:t>
                          </a: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600" dirty="0">
                              <a:effectLst/>
                            </a:rPr>
                            <a:t> </a:t>
                          </a:r>
                          <a:endParaRPr lang="x-none" sz="1200" dirty="0">
                            <a:effectLst/>
                          </a:endParaRPr>
                        </a:p>
                        <a:p>
                          <a:pPr marL="0" marR="0" algn="ctr">
                            <a:spcBef>
                              <a:spcPts val="0"/>
                            </a:spcBef>
                            <a:spcAft>
                              <a:spcPts val="1000"/>
                            </a:spcAft>
                          </a:pPr>
                          <a:r>
                            <a:rPr lang="en-US" sz="1600" dirty="0">
                              <a:effectLst/>
                            </a:rPr>
                            <a:t> </a:t>
                          </a:r>
                          <a:endParaRPr lang="x-none" sz="1200" dirty="0">
                            <a:effectLst/>
                          </a:endParaRPr>
                        </a:p>
                        <a:p>
                          <a:pPr marL="0" marR="0" algn="ctr">
                            <a:spcBef>
                              <a:spcPts val="0"/>
                            </a:spcBef>
                            <a:spcAft>
                              <a:spcPts val="1000"/>
                            </a:spcAft>
                          </a:pPr>
                          <a:r>
                            <a:rPr lang="en-US" sz="1600" dirty="0">
                              <a:effectLst/>
                            </a:rPr>
                            <a:t> </a:t>
                          </a:r>
                          <a:endParaRPr lang="x-none" sz="1200" dirty="0">
                            <a:effectLst/>
                          </a:endParaRPr>
                        </a:p>
                        <a:p>
                          <a:pPr marL="0" marR="0" algn="ctr">
                            <a:spcBef>
                              <a:spcPts val="0"/>
                            </a:spcBef>
                            <a:spcAft>
                              <a:spcPts val="1000"/>
                            </a:spcAft>
                          </a:pPr>
                          <a:r>
                            <a:rPr lang="en-US" sz="1600" dirty="0">
                              <a:effectLst/>
                            </a:rPr>
                            <a:t> </a:t>
                          </a:r>
                          <a:endParaRPr lang="x-none" sz="1200" dirty="0">
                            <a:effectLst/>
                          </a:endParaRPr>
                        </a:p>
                        <a:p>
                          <a:pPr marL="0" marR="0" algn="ctr">
                            <a:spcBef>
                              <a:spcPts val="0"/>
                            </a:spcBef>
                            <a:spcAft>
                              <a:spcPts val="1000"/>
                            </a:spcAft>
                          </a:pPr>
                          <a:r>
                            <a:rPr lang="en-US" sz="1600" dirty="0">
                              <a:effectLst/>
                            </a:rPr>
                            <a:t> </a:t>
                          </a: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336225056"/>
                      </a:ext>
                    </a:extLst>
                  </a:tr>
                </a:tbl>
              </a:graphicData>
            </a:graphic>
          </p:graphicFrame>
        </mc:Choice>
        <mc:Fallback xmlns="">
          <p:graphicFrame>
            <p:nvGraphicFramePr>
              <p:cNvPr id="3" name="Table 2">
                <a:extLst>
                  <a:ext uri="{FF2B5EF4-FFF2-40B4-BE49-F238E27FC236}">
                    <a16:creationId xmlns:a16="http://schemas.microsoft.com/office/drawing/2014/main" id="{BCD29D7A-3633-D946-98CC-1665562548C0}"/>
                  </a:ext>
                </a:extLst>
              </p:cNvPr>
              <p:cNvGraphicFramePr>
                <a:graphicFrameLocks noGrp="1"/>
              </p:cNvGraphicFramePr>
              <p:nvPr>
                <p:extLst>
                  <p:ext uri="{D42A27DB-BD31-4B8C-83A1-F6EECF244321}">
                    <p14:modId xmlns:p14="http://schemas.microsoft.com/office/powerpoint/2010/main" val="1418129251"/>
                  </p:ext>
                </p:extLst>
              </p:nvPr>
            </p:nvGraphicFramePr>
            <p:xfrm>
              <a:off x="2657476" y="572057"/>
              <a:ext cx="6877049" cy="3051838"/>
            </p:xfrm>
            <a:graphic>
              <a:graphicData uri="http://schemas.openxmlformats.org/drawingml/2006/table">
                <a:tbl>
                  <a:tblPr bandRow="1">
                    <a:tableStyleId>{A91F0D33-8C57-4600-99A7-42BC86742BE1}</a:tableStyleId>
                  </a:tblPr>
                  <a:tblGrid>
                    <a:gridCol w="1715133">
                      <a:extLst>
                        <a:ext uri="{9D8B030D-6E8A-4147-A177-3AD203B41FA5}">
                          <a16:colId xmlns:a16="http://schemas.microsoft.com/office/drawing/2014/main" val="4179615295"/>
                        </a:ext>
                      </a:extLst>
                    </a:gridCol>
                    <a:gridCol w="1537903">
                      <a:extLst>
                        <a:ext uri="{9D8B030D-6E8A-4147-A177-3AD203B41FA5}">
                          <a16:colId xmlns:a16="http://schemas.microsoft.com/office/drawing/2014/main" val="30755260"/>
                        </a:ext>
                      </a:extLst>
                    </a:gridCol>
                    <a:gridCol w="2910645">
                      <a:extLst>
                        <a:ext uri="{9D8B030D-6E8A-4147-A177-3AD203B41FA5}">
                          <a16:colId xmlns:a16="http://schemas.microsoft.com/office/drawing/2014/main" val="3676480822"/>
                        </a:ext>
                      </a:extLst>
                    </a:gridCol>
                    <a:gridCol w="713368">
                      <a:extLst>
                        <a:ext uri="{9D8B030D-6E8A-4147-A177-3AD203B41FA5}">
                          <a16:colId xmlns:a16="http://schemas.microsoft.com/office/drawing/2014/main" val="2434462322"/>
                        </a:ext>
                      </a:extLst>
                    </a:gridCol>
                  </a:tblGrid>
                  <a:tr h="1324638">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41" t="-952" r="-302963" b="-130476"/>
                          </a:stretch>
                        </a:blipFill>
                      </a:tcPr>
                    </a:tc>
                    <a:tc>
                      <a:txBody>
                        <a:bodyPr/>
                        <a:lstStyle/>
                        <a:p>
                          <a:pPr marL="0" marR="0" algn="ctr">
                            <a:spcBef>
                              <a:spcPts val="0"/>
                            </a:spcBef>
                            <a:spcAft>
                              <a:spcPts val="1000"/>
                            </a:spcAft>
                          </a:pPr>
                          <a:r>
                            <a:rPr lang="en-US" sz="1600" dirty="0">
                              <a:effectLst/>
                            </a:rPr>
                            <a:t> </a:t>
                          </a:r>
                          <a:endParaRPr lang="en-CO" sz="1200" dirty="0">
                            <a:effectLst/>
                          </a:endParaRPr>
                        </a:p>
                        <a:p>
                          <a:pPr marL="0" marR="0" algn="ctr">
                            <a:spcBef>
                              <a:spcPts val="0"/>
                            </a:spcBef>
                            <a:spcAft>
                              <a:spcPts val="1000"/>
                            </a:spcAft>
                          </a:pPr>
                          <a:r>
                            <a:rPr lang="en-US" sz="1600" dirty="0">
                              <a:effectLst/>
                            </a:rPr>
                            <a:t> </a:t>
                          </a:r>
                          <a:endParaRPr lang="en-CO"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600" dirty="0">
                              <a:effectLst/>
                            </a:rPr>
                            <a:t> </a:t>
                          </a:r>
                          <a:endParaRPr lang="en-CO"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600">
                              <a:effectLst/>
                            </a:rPr>
                            <a:t> </a:t>
                          </a:r>
                          <a:endParaRPr lang="en-CO"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3125879"/>
                      </a:ext>
                    </a:extLst>
                  </a:tr>
                  <a:tr h="17272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41" t="-77941" r="-302963" b="-735"/>
                          </a:stretch>
                        </a:blipFill>
                      </a:tcPr>
                    </a:tc>
                    <a:tc>
                      <a:txBody>
                        <a:bodyPr/>
                        <a:lstStyle/>
                        <a:p>
                          <a:pPr marL="0" marR="0" algn="ctr">
                            <a:spcBef>
                              <a:spcPts val="0"/>
                            </a:spcBef>
                            <a:spcAft>
                              <a:spcPts val="1000"/>
                            </a:spcAft>
                          </a:pPr>
                          <a:r>
                            <a:rPr lang="en-US" sz="1600" dirty="0">
                              <a:effectLst/>
                            </a:rPr>
                            <a:t> </a:t>
                          </a:r>
                          <a:endParaRPr lang="en-CO"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600" dirty="0">
                              <a:effectLst/>
                            </a:rPr>
                            <a:t> </a:t>
                          </a:r>
                          <a:endParaRPr lang="en-CO"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600" dirty="0">
                              <a:effectLst/>
                            </a:rPr>
                            <a:t> </a:t>
                          </a:r>
                          <a:endParaRPr lang="en-CO" sz="1200" dirty="0">
                            <a:effectLst/>
                          </a:endParaRPr>
                        </a:p>
                        <a:p>
                          <a:pPr marL="0" marR="0" algn="ctr">
                            <a:spcBef>
                              <a:spcPts val="0"/>
                            </a:spcBef>
                            <a:spcAft>
                              <a:spcPts val="1000"/>
                            </a:spcAft>
                          </a:pPr>
                          <a:r>
                            <a:rPr lang="en-US" sz="1600" dirty="0">
                              <a:effectLst/>
                            </a:rPr>
                            <a:t> </a:t>
                          </a:r>
                          <a:endParaRPr lang="en-CO" sz="1200" dirty="0">
                            <a:effectLst/>
                          </a:endParaRPr>
                        </a:p>
                        <a:p>
                          <a:pPr marL="0" marR="0" algn="ctr">
                            <a:spcBef>
                              <a:spcPts val="0"/>
                            </a:spcBef>
                            <a:spcAft>
                              <a:spcPts val="1000"/>
                            </a:spcAft>
                          </a:pPr>
                          <a:r>
                            <a:rPr lang="en-US" sz="1600" dirty="0">
                              <a:effectLst/>
                            </a:rPr>
                            <a:t> </a:t>
                          </a:r>
                          <a:endParaRPr lang="en-CO" sz="1200" dirty="0">
                            <a:effectLst/>
                          </a:endParaRPr>
                        </a:p>
                        <a:p>
                          <a:pPr marL="0" marR="0" algn="ctr">
                            <a:spcBef>
                              <a:spcPts val="0"/>
                            </a:spcBef>
                            <a:spcAft>
                              <a:spcPts val="1000"/>
                            </a:spcAft>
                          </a:pPr>
                          <a:r>
                            <a:rPr lang="en-US" sz="1600" dirty="0">
                              <a:effectLst/>
                            </a:rPr>
                            <a:t> </a:t>
                          </a:r>
                          <a:endParaRPr lang="en-CO" sz="1200" dirty="0">
                            <a:effectLst/>
                          </a:endParaRPr>
                        </a:p>
                        <a:p>
                          <a:pPr marL="0" marR="0" algn="ctr">
                            <a:spcBef>
                              <a:spcPts val="0"/>
                            </a:spcBef>
                            <a:spcAft>
                              <a:spcPts val="1000"/>
                            </a:spcAft>
                          </a:pPr>
                          <a:r>
                            <a:rPr lang="en-US" sz="1600" dirty="0">
                              <a:effectLst/>
                            </a:rPr>
                            <a:t> </a:t>
                          </a:r>
                          <a:endParaRPr lang="en-CO"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6225056"/>
                      </a:ext>
                    </a:extLst>
                  </a:tr>
                </a:tbl>
              </a:graphicData>
            </a:graphic>
          </p:graphicFrame>
        </mc:Fallback>
      </mc:AlternateContent>
    </p:spTree>
    <p:extLst>
      <p:ext uri="{BB962C8B-B14F-4D97-AF65-F5344CB8AC3E}">
        <p14:creationId xmlns:p14="http://schemas.microsoft.com/office/powerpoint/2010/main" val="2524357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855625" y="2766064"/>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Bring It Together</a:t>
            </a:r>
            <a:endParaRPr sz="5100" b="1" dirty="0">
              <a:solidFill>
                <a:srgbClr val="26B7D4"/>
              </a:solidFill>
              <a:latin typeface="Verdana"/>
              <a:ea typeface="Verdana"/>
              <a:cs typeface="Verdana"/>
              <a:sym typeface="Verdana"/>
            </a:endParaRPr>
          </a:p>
        </p:txBody>
      </p:sp>
      <p:sp>
        <p:nvSpPr>
          <p:cNvPr id="9" name="Google Shape;282;g104476d1465_1_17">
            <a:extLst>
              <a:ext uri="{FF2B5EF4-FFF2-40B4-BE49-F238E27FC236}">
                <a16:creationId xmlns:a16="http://schemas.microsoft.com/office/drawing/2014/main" xmlns="" id="{AE80E75D-78AE-A94E-86B4-91D469B7BFAD}"/>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a:t>
            </a:r>
            <a:endParaRPr i="1" dirty="0">
              <a:latin typeface="Calibri"/>
              <a:ea typeface="Calibri"/>
              <a:cs typeface="Calibri"/>
              <a:sym typeface="Calibri"/>
            </a:endParaRPr>
          </a:p>
        </p:txBody>
      </p:sp>
      <p:pic>
        <p:nvPicPr>
          <p:cNvPr id="7" name="Picture 6" descr="Icon&#10;&#10;Description automatically generated">
            <a:extLst>
              <a:ext uri="{FF2B5EF4-FFF2-40B4-BE49-F238E27FC236}">
                <a16:creationId xmlns:a16="http://schemas.microsoft.com/office/drawing/2014/main" xmlns="" id="{E1CE3A40-A34F-AF4B-913A-368550A1F37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51972" cy="1151972"/>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1860496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28438" y="-31837"/>
            <a:ext cx="1086036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7.3.4 Bring It Together: Adding Integers with the Same Sign</a:t>
            </a:r>
          </a:p>
        </p:txBody>
      </p:sp>
      <p:sp>
        <p:nvSpPr>
          <p:cNvPr id="2" name="Rectangle 1">
            <a:extLst>
              <a:ext uri="{FF2B5EF4-FFF2-40B4-BE49-F238E27FC236}">
                <a16:creationId xmlns:a16="http://schemas.microsoft.com/office/drawing/2014/main" xmlns="" id="{B2BE9AFC-D858-8947-AE27-3738478587E3}"/>
              </a:ext>
            </a:extLst>
          </p:cNvPr>
          <p:cNvSpPr/>
          <p:nvPr/>
        </p:nvSpPr>
        <p:spPr>
          <a:xfrm>
            <a:off x="730266" y="1293863"/>
            <a:ext cx="11258534" cy="707886"/>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Complete the visual model of the rule of adding two positive integers by drawing the integer chip that represents the </a:t>
            </a:r>
            <a:r>
              <a:rPr lang="en-US" sz="2000" b="1" dirty="0">
                <a:latin typeface="Verdana" panose="020B0604030504040204" pitchFamily="34" charset="0"/>
                <a:ea typeface="Verdana" panose="020B0604030504040204" pitchFamily="34" charset="0"/>
                <a:cs typeface="Verdana" panose="020B0604030504040204" pitchFamily="34" charset="0"/>
              </a:rPr>
              <a:t>sign</a:t>
            </a:r>
            <a:r>
              <a:rPr lang="en-US" sz="2000" dirty="0">
                <a:latin typeface="Verdana" panose="020B0604030504040204" pitchFamily="34" charset="0"/>
                <a:ea typeface="Verdana" panose="020B0604030504040204" pitchFamily="34" charset="0"/>
                <a:cs typeface="Verdana" panose="020B0604030504040204" pitchFamily="34" charset="0"/>
              </a:rPr>
              <a:t> of the sum.</a:t>
            </a:r>
          </a:p>
        </p:txBody>
      </p:sp>
      <p:sp>
        <p:nvSpPr>
          <p:cNvPr id="10" name="Google Shape;282;g104476d1465_1_17">
            <a:extLst>
              <a:ext uri="{FF2B5EF4-FFF2-40B4-BE49-F238E27FC236}">
                <a16:creationId xmlns:a16="http://schemas.microsoft.com/office/drawing/2014/main" xmlns="" id="{A0B3F56A-90D4-0546-BD18-061853EE9422}"/>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a:t>
            </a:r>
            <a:endParaRPr i="1" dirty="0">
              <a:latin typeface="Calibri"/>
              <a:ea typeface="Calibri"/>
              <a:cs typeface="Calibri"/>
              <a:sym typeface="Calibri"/>
            </a:endParaRPr>
          </a:p>
        </p:txBody>
      </p:sp>
      <p:sp>
        <p:nvSpPr>
          <p:cNvPr id="11" name="Rectangle 10">
            <a:extLst>
              <a:ext uri="{FF2B5EF4-FFF2-40B4-BE49-F238E27FC236}">
                <a16:creationId xmlns:a16="http://schemas.microsoft.com/office/drawing/2014/main" xmlns="" id="{63FB836D-7BF8-B941-8F1E-1C998C7EDD5F}"/>
              </a:ext>
            </a:extLst>
          </p:cNvPr>
          <p:cNvSpPr/>
          <p:nvPr/>
        </p:nvSpPr>
        <p:spPr>
          <a:xfrm>
            <a:off x="2146200" y="2419359"/>
            <a:ext cx="8333128" cy="1019277"/>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9" name="Picture 8" descr="Icon&#10;&#10;Description automatically generated">
            <a:extLst>
              <a:ext uri="{FF2B5EF4-FFF2-40B4-BE49-F238E27FC236}">
                <a16:creationId xmlns:a16="http://schemas.microsoft.com/office/drawing/2014/main" xmlns="" id="{D189CB4E-58A3-7B4B-9076-0EE3E568E19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56616" y="201168"/>
            <a:ext cx="747300" cy="747300"/>
          </a:xfrm>
          <a:prstGeom prst="rect">
            <a:avLst/>
          </a:prstGeom>
        </p:spPr>
      </p:pic>
      <p:graphicFrame>
        <p:nvGraphicFramePr>
          <p:cNvPr id="3" name="Table 2">
            <a:extLst>
              <a:ext uri="{FF2B5EF4-FFF2-40B4-BE49-F238E27FC236}">
                <a16:creationId xmlns:a16="http://schemas.microsoft.com/office/drawing/2014/main" xmlns="" id="{4956FE4E-0234-E946-923D-91257AAE0A0D}"/>
              </a:ext>
            </a:extLst>
          </p:cNvPr>
          <p:cNvGraphicFramePr>
            <a:graphicFrameLocks noGrp="1"/>
          </p:cNvGraphicFramePr>
          <p:nvPr>
            <p:extLst>
              <p:ext uri="{D42A27DB-BD31-4B8C-83A1-F6EECF244321}">
                <p14:modId xmlns:p14="http://schemas.microsoft.com/office/powerpoint/2010/main" val="25559211"/>
              </p:ext>
            </p:extLst>
          </p:nvPr>
        </p:nvGraphicFramePr>
        <p:xfrm>
          <a:off x="3739330" y="2453298"/>
          <a:ext cx="5017990" cy="1263650"/>
        </p:xfrm>
        <a:graphic>
          <a:graphicData uri="http://schemas.openxmlformats.org/drawingml/2006/table">
            <a:tbl>
              <a:tblPr firstRow="1" firstCol="1" bandRow="1">
                <a:tableStyleId>{A91F0D33-8C57-4600-99A7-42BC86742BE1}</a:tableStyleId>
              </a:tblPr>
              <a:tblGrid>
                <a:gridCol w="2508995">
                  <a:extLst>
                    <a:ext uri="{9D8B030D-6E8A-4147-A177-3AD203B41FA5}">
                      <a16:colId xmlns:a16="http://schemas.microsoft.com/office/drawing/2014/main" xmlns="" val="2892438092"/>
                    </a:ext>
                  </a:extLst>
                </a:gridCol>
                <a:gridCol w="2508995">
                  <a:extLst>
                    <a:ext uri="{9D8B030D-6E8A-4147-A177-3AD203B41FA5}">
                      <a16:colId xmlns:a16="http://schemas.microsoft.com/office/drawing/2014/main" xmlns="" val="3962873322"/>
                    </a:ext>
                  </a:extLst>
                </a:gridCol>
              </a:tblGrid>
              <a:tr h="532130">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Visual Model of Addition</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Sign of Sum</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2523414283"/>
                  </a:ext>
                </a:extLst>
              </a:tr>
              <a:tr h="453859">
                <a:tc>
                  <a:txBody>
                    <a:bodyPr/>
                    <a:lstStyle/>
                    <a:p>
                      <a:pPr marL="0" marR="0" algn="ctr">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x-none" sz="11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x-none" sz="11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x-none"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x-none"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158708141"/>
                  </a:ext>
                </a:extLst>
              </a:tr>
            </a:tbl>
          </a:graphicData>
        </a:graphic>
      </p:graphicFrame>
      <p:sp>
        <p:nvSpPr>
          <p:cNvPr id="13" name="Rectangle 12">
            <a:extLst>
              <a:ext uri="{FF2B5EF4-FFF2-40B4-BE49-F238E27FC236}">
                <a16:creationId xmlns:a16="http://schemas.microsoft.com/office/drawing/2014/main" xmlns="" id="{29F1B68D-A88A-D34C-9E99-DA59A078363D}"/>
              </a:ext>
            </a:extLst>
          </p:cNvPr>
          <p:cNvSpPr/>
          <p:nvPr/>
        </p:nvSpPr>
        <p:spPr>
          <a:xfrm>
            <a:off x="730266" y="4005125"/>
            <a:ext cx="11360134" cy="707886"/>
          </a:xfrm>
          <a:prstGeom prst="rect">
            <a:avLst/>
          </a:prstGeom>
        </p:spPr>
        <p:txBody>
          <a:bodyPr wrap="square">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Complete the visual model of the rule of adding two negative integers by drawing the integer chip that represent the </a:t>
            </a:r>
            <a:r>
              <a:rPr lang="en-US" sz="2000" b="1" dirty="0">
                <a:latin typeface="Verdana" panose="020B0604030504040204" pitchFamily="34" charset="0"/>
                <a:ea typeface="Verdana" panose="020B0604030504040204" pitchFamily="34" charset="0"/>
                <a:cs typeface="Verdana" panose="020B0604030504040204" pitchFamily="34" charset="0"/>
              </a:rPr>
              <a:t>sign</a:t>
            </a:r>
            <a:r>
              <a:rPr lang="en-US" sz="2000" dirty="0">
                <a:latin typeface="Verdana" panose="020B0604030504040204" pitchFamily="34" charset="0"/>
                <a:ea typeface="Verdana" panose="020B0604030504040204" pitchFamily="34" charset="0"/>
                <a:cs typeface="Verdana" panose="020B0604030504040204" pitchFamily="34" charset="0"/>
              </a:rPr>
              <a:t> of the sum.</a:t>
            </a:r>
          </a:p>
        </p:txBody>
      </p:sp>
      <p:graphicFrame>
        <p:nvGraphicFramePr>
          <p:cNvPr id="15" name="Table 14">
            <a:extLst>
              <a:ext uri="{FF2B5EF4-FFF2-40B4-BE49-F238E27FC236}">
                <a16:creationId xmlns:a16="http://schemas.microsoft.com/office/drawing/2014/main" xmlns="" id="{A24AECB2-A7DC-7B49-A543-76E0C513EE6B}"/>
              </a:ext>
            </a:extLst>
          </p:cNvPr>
          <p:cNvGraphicFramePr>
            <a:graphicFrameLocks noGrp="1"/>
          </p:cNvGraphicFramePr>
          <p:nvPr>
            <p:extLst>
              <p:ext uri="{D42A27DB-BD31-4B8C-83A1-F6EECF244321}">
                <p14:modId xmlns:p14="http://schemas.microsoft.com/office/powerpoint/2010/main" val="3215232817"/>
              </p:ext>
            </p:extLst>
          </p:nvPr>
        </p:nvGraphicFramePr>
        <p:xfrm>
          <a:off x="3739330" y="5158407"/>
          <a:ext cx="5017990" cy="1263650"/>
        </p:xfrm>
        <a:graphic>
          <a:graphicData uri="http://schemas.openxmlformats.org/drawingml/2006/table">
            <a:tbl>
              <a:tblPr firstRow="1" firstCol="1" bandRow="1">
                <a:tableStyleId>{A91F0D33-8C57-4600-99A7-42BC86742BE1}</a:tableStyleId>
              </a:tblPr>
              <a:tblGrid>
                <a:gridCol w="2508995">
                  <a:extLst>
                    <a:ext uri="{9D8B030D-6E8A-4147-A177-3AD203B41FA5}">
                      <a16:colId xmlns:a16="http://schemas.microsoft.com/office/drawing/2014/main" xmlns="" val="2892438092"/>
                    </a:ext>
                  </a:extLst>
                </a:gridCol>
                <a:gridCol w="2508995">
                  <a:extLst>
                    <a:ext uri="{9D8B030D-6E8A-4147-A177-3AD203B41FA5}">
                      <a16:colId xmlns:a16="http://schemas.microsoft.com/office/drawing/2014/main" xmlns="" val="3962873322"/>
                    </a:ext>
                  </a:extLst>
                </a:gridCol>
              </a:tblGrid>
              <a:tr h="532130">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Visual Model of Addition</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Sign of Sum</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2523414283"/>
                  </a:ext>
                </a:extLst>
              </a:tr>
              <a:tr h="453859">
                <a:tc>
                  <a:txBody>
                    <a:bodyPr/>
                    <a:lstStyle/>
                    <a:p>
                      <a:pPr marL="0" marR="0" algn="ctr">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x-none" sz="11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x-none" sz="11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x-none" sz="11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158708141"/>
                  </a:ext>
                </a:extLst>
              </a:tr>
            </a:tbl>
          </a:graphicData>
        </a:graphic>
      </p:graphicFrame>
      <p:pic>
        <p:nvPicPr>
          <p:cNvPr id="16" name="image2.png" descr="A close up of a sign&#10;&#10;Description automatically generated">
            <a:extLst>
              <a:ext uri="{FF2B5EF4-FFF2-40B4-BE49-F238E27FC236}">
                <a16:creationId xmlns:a16="http://schemas.microsoft.com/office/drawing/2014/main" xmlns="" id="{8F5114D1-B47A-D94B-9BED-61E54C44F9F7}"/>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3985840" y="3058208"/>
            <a:ext cx="621665" cy="621665"/>
          </a:xfrm>
          <a:prstGeom prst="rect">
            <a:avLst/>
          </a:prstGeom>
          <a:ln/>
        </p:spPr>
      </p:pic>
      <p:pic>
        <p:nvPicPr>
          <p:cNvPr id="17" name="image2.png" descr="A close up of a sign&#10;&#10;Description automatically generated">
            <a:extLst>
              <a:ext uri="{FF2B5EF4-FFF2-40B4-BE49-F238E27FC236}">
                <a16:creationId xmlns:a16="http://schemas.microsoft.com/office/drawing/2014/main" xmlns="" id="{ADE5A637-620D-4841-B38D-17E5FD454247}"/>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5304974" y="3058208"/>
            <a:ext cx="621665" cy="621665"/>
          </a:xfrm>
          <a:prstGeom prst="rect">
            <a:avLst/>
          </a:prstGeom>
          <a:ln/>
        </p:spPr>
      </p:pic>
      <p:pic>
        <p:nvPicPr>
          <p:cNvPr id="18" name="image1.png" descr="A picture containing clock&#10;&#10;Description automatically generated">
            <a:extLst>
              <a:ext uri="{FF2B5EF4-FFF2-40B4-BE49-F238E27FC236}">
                <a16:creationId xmlns:a16="http://schemas.microsoft.com/office/drawing/2014/main" xmlns="" id="{81B32962-771E-2546-878A-0736B4EB1D1F}"/>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3985839" y="5745263"/>
            <a:ext cx="621665" cy="621665"/>
          </a:xfrm>
          <a:prstGeom prst="rect">
            <a:avLst/>
          </a:prstGeom>
          <a:ln/>
        </p:spPr>
      </p:pic>
      <p:pic>
        <p:nvPicPr>
          <p:cNvPr id="19" name="image1.png" descr="A picture containing clock&#10;&#10;Description automatically generated">
            <a:extLst>
              <a:ext uri="{FF2B5EF4-FFF2-40B4-BE49-F238E27FC236}">
                <a16:creationId xmlns:a16="http://schemas.microsoft.com/office/drawing/2014/main" xmlns="" id="{DBB771B7-299E-924F-9B82-1CB05AE00223}"/>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5309475" y="5745263"/>
            <a:ext cx="621665" cy="621665"/>
          </a:xfrm>
          <a:prstGeom prst="rect">
            <a:avLst/>
          </a:prstGeom>
          <a:ln/>
        </p:spPr>
      </p:pic>
      <p:sp>
        <p:nvSpPr>
          <p:cNvPr id="20" name="Plus 19">
            <a:extLst>
              <a:ext uri="{FF2B5EF4-FFF2-40B4-BE49-F238E27FC236}">
                <a16:creationId xmlns:a16="http://schemas.microsoft.com/office/drawing/2014/main" xmlns="" id="{933F9F84-3D8E-954A-BCBC-4A43C7ADE55F}"/>
              </a:ext>
            </a:extLst>
          </p:cNvPr>
          <p:cNvSpPr/>
          <p:nvPr/>
        </p:nvSpPr>
        <p:spPr>
          <a:xfrm>
            <a:off x="4807400" y="3238540"/>
            <a:ext cx="255905" cy="255905"/>
          </a:xfrm>
          <a:prstGeom prst="mathPlus">
            <a:avLst>
              <a:gd name="adj1" fmla="val 23520"/>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r>
              <a:rPr lang="en-US" sz="1200">
                <a:latin typeface="Cambria" panose="02040503050406030204" pitchFamily="18" charset="0"/>
                <a:ea typeface="Times New Roman" panose="02020603050405020304" pitchFamily="18" charset="0"/>
                <a:cs typeface="Cambria" panose="02040503050406030204" pitchFamily="18" charset="0"/>
              </a:rPr>
              <a:t> </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sp>
        <p:nvSpPr>
          <p:cNvPr id="21" name="Plus 20">
            <a:extLst>
              <a:ext uri="{FF2B5EF4-FFF2-40B4-BE49-F238E27FC236}">
                <a16:creationId xmlns:a16="http://schemas.microsoft.com/office/drawing/2014/main" xmlns="" id="{B3A93F73-58D2-B74C-B244-D8638A051515}"/>
              </a:ext>
            </a:extLst>
          </p:cNvPr>
          <p:cNvSpPr/>
          <p:nvPr/>
        </p:nvSpPr>
        <p:spPr>
          <a:xfrm>
            <a:off x="4807400" y="5928142"/>
            <a:ext cx="255905" cy="255905"/>
          </a:xfrm>
          <a:prstGeom prst="mathPlus">
            <a:avLst>
              <a:gd name="adj1" fmla="val 23520"/>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r>
              <a:rPr lang="en-US" sz="1200" dirty="0">
                <a:latin typeface="Cambria" panose="02040503050406030204" pitchFamily="18" charset="0"/>
                <a:ea typeface="Times New Roman" panose="02020603050405020304" pitchFamily="18" charset="0"/>
                <a:cs typeface="Cambria" panose="02040503050406030204" pitchFamily="18" charset="0"/>
              </a:rPr>
              <a:t> </a:t>
            </a:r>
            <a:endParaRPr lang="x-none" sz="1200" dirty="0">
              <a:latin typeface="Cambria" panose="02040503050406030204" pitchFamily="18" charset="0"/>
              <a:ea typeface="Times New Roman" panose="02020603050405020304" pitchFamily="18" charset="0"/>
              <a:cs typeface="Cambria" panose="02040503050406030204" pitchFamily="18" charset="0"/>
            </a:endParaRPr>
          </a:p>
        </p:txBody>
      </p:sp>
    </p:spTree>
    <p:extLst>
      <p:ext uri="{BB962C8B-B14F-4D97-AF65-F5344CB8AC3E}">
        <p14:creationId xmlns:p14="http://schemas.microsoft.com/office/powerpoint/2010/main" val="5927290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282;g104476d1465_1_17">
            <a:extLst>
              <a:ext uri="{FF2B5EF4-FFF2-40B4-BE49-F238E27FC236}">
                <a16:creationId xmlns:a16="http://schemas.microsoft.com/office/drawing/2014/main" xmlns="" id="{04201096-008D-9E40-8962-B6CD490C930F}"/>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a:t>
            </a:r>
            <a:endParaRPr i="1" dirty="0">
              <a:latin typeface="Calibri"/>
              <a:ea typeface="Calibri"/>
              <a:cs typeface="Calibri"/>
              <a:sym typeface="Calibri"/>
            </a:endParaRPr>
          </a:p>
        </p:txBody>
      </p:sp>
      <p:sp>
        <p:nvSpPr>
          <p:cNvPr id="8" name="Google Shape;313;g104476d1465_1_39">
            <a:extLst>
              <a:ext uri="{FF2B5EF4-FFF2-40B4-BE49-F238E27FC236}">
                <a16:creationId xmlns:a16="http://schemas.microsoft.com/office/drawing/2014/main" xmlns="" id="{9BC32510-3516-CE43-8A4C-FA583EED0537}"/>
              </a:ext>
            </a:extLst>
          </p:cNvPr>
          <p:cNvSpPr txBox="1">
            <a:spLocks/>
          </p:cNvSpPr>
          <p:nvPr/>
        </p:nvSpPr>
        <p:spPr>
          <a:xfrm>
            <a:off x="4321489" y="2766150"/>
            <a:ext cx="448075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chemeClr val="lt1"/>
              </a:buClr>
              <a:buSzPts val="4800"/>
              <a:buFont typeface="Cutive"/>
              <a:buNone/>
            </a:pPr>
            <a:r>
              <a:rPr lang="en-US" sz="4400" b="1" dirty="0">
                <a:solidFill>
                  <a:srgbClr val="52BDA6"/>
                </a:solidFill>
                <a:latin typeface="Verdana"/>
                <a:ea typeface="Verdana"/>
                <a:cs typeface="Verdana"/>
                <a:sym typeface="Verdana"/>
              </a:rPr>
              <a:t>Exploration</a:t>
            </a:r>
            <a:endParaRPr lang="en-US" sz="4000" b="1" dirty="0">
              <a:solidFill>
                <a:srgbClr val="52BDA6"/>
              </a:solidFill>
              <a:latin typeface="Verdana"/>
              <a:ea typeface="Verdana"/>
              <a:cs typeface="Verdana"/>
              <a:sym typeface="Verdana"/>
            </a:endParaRPr>
          </a:p>
        </p:txBody>
      </p:sp>
      <p:pic>
        <p:nvPicPr>
          <p:cNvPr id="9" name="Picture 8" descr="Icon&#10;&#10;Description automatically generated">
            <a:extLst>
              <a:ext uri="{FF2B5EF4-FFF2-40B4-BE49-F238E27FC236}">
                <a16:creationId xmlns:a16="http://schemas.microsoft.com/office/drawing/2014/main" xmlns="" id="{92DE8413-ADC3-AE40-BCC4-1D8007DCB00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33502" cy="1133502"/>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8675328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240177" y="68831"/>
            <a:ext cx="10782490" cy="101481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2BDA6"/>
                </a:solidFill>
                <a:latin typeface="Verdana"/>
                <a:ea typeface="Verdana"/>
                <a:cs typeface="Verdana"/>
                <a:sym typeface="Verdana"/>
              </a:rPr>
              <a:t>7.3.5 Exploration: Using Zero Pairs to Add Integers with Opposite Signs</a:t>
            </a:r>
          </a:p>
        </p:txBody>
      </p:sp>
      <p:sp>
        <p:nvSpPr>
          <p:cNvPr id="2" name="Rectangle 1">
            <a:extLst>
              <a:ext uri="{FF2B5EF4-FFF2-40B4-BE49-F238E27FC236}">
                <a16:creationId xmlns:a16="http://schemas.microsoft.com/office/drawing/2014/main" xmlns="" id="{A66A031F-2EC8-DF4C-B3F5-E7AC5B8F3239}"/>
              </a:ext>
            </a:extLst>
          </p:cNvPr>
          <p:cNvSpPr/>
          <p:nvPr/>
        </p:nvSpPr>
        <p:spPr>
          <a:xfrm>
            <a:off x="731688" y="1703132"/>
            <a:ext cx="11031334" cy="1569660"/>
          </a:xfrm>
          <a:prstGeom prst="rect">
            <a:avLst/>
          </a:prstGeom>
        </p:spPr>
        <p:txBody>
          <a:bodyPr wrap="square">
            <a:spAutoFit/>
          </a:bodyPr>
          <a:lstStyle/>
          <a:p>
            <a:pPr marL="11113">
              <a:buSzPts val="1800"/>
            </a:pPr>
            <a:r>
              <a:rPr lang="en-US" sz="2400" dirty="0">
                <a:latin typeface="Verdana" panose="020B0604030504040204" pitchFamily="34" charset="0"/>
                <a:ea typeface="Verdana" panose="020B0604030504040204" pitchFamily="34" charset="0"/>
                <a:cs typeface="Verdana" panose="020B0604030504040204" pitchFamily="34" charset="0"/>
              </a:rPr>
              <a:t>It is possible to add a positive number and a negative number. To find the answer using integer chips, combine a     and     to create a zero pair. Make as many zero pairs as possible. Then, determine the number of chips that are left over. </a:t>
            </a:r>
          </a:p>
        </p:txBody>
      </p:sp>
      <p:sp>
        <p:nvSpPr>
          <p:cNvPr id="13" name="Google Shape;282;g104476d1465_1_17">
            <a:extLst>
              <a:ext uri="{FF2B5EF4-FFF2-40B4-BE49-F238E27FC236}">
                <a16:creationId xmlns:a16="http://schemas.microsoft.com/office/drawing/2014/main" xmlns="" id="{38A626CB-082C-DB4E-B059-328DCC8AD138}"/>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a:t>
            </a:r>
            <a:endParaRPr i="1" dirty="0">
              <a:latin typeface="Calibri"/>
              <a:ea typeface="Calibri"/>
              <a:cs typeface="Calibri"/>
              <a:sym typeface="Calibri"/>
            </a:endParaRPr>
          </a:p>
        </p:txBody>
      </p:sp>
      <p:pic>
        <p:nvPicPr>
          <p:cNvPr id="8" name="Picture 7" descr="Icon&#10;&#10;Description automatically generated">
            <a:extLst>
              <a:ext uri="{FF2B5EF4-FFF2-40B4-BE49-F238E27FC236}">
                <a16:creationId xmlns:a16="http://schemas.microsoft.com/office/drawing/2014/main" xmlns="" id="{1C09EC1D-8EBE-7E48-BDE5-426A81FCDDB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56616" y="201168"/>
            <a:ext cx="750145" cy="750145"/>
          </a:xfrm>
          <a:prstGeom prst="rect">
            <a:avLst/>
          </a:prstGeom>
        </p:spPr>
      </p:pic>
      <p:pic>
        <p:nvPicPr>
          <p:cNvPr id="9" name="image4.png" descr="A close up of a sign&#10;&#10;Description automatically generated">
            <a:extLst>
              <a:ext uri="{FF2B5EF4-FFF2-40B4-BE49-F238E27FC236}">
                <a16:creationId xmlns:a16="http://schemas.microsoft.com/office/drawing/2014/main" xmlns="" id="{95B00F6C-2BD2-FC46-BFFF-7BB77285F305}"/>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8176362" y="2216514"/>
            <a:ext cx="274320" cy="274320"/>
          </a:xfrm>
          <a:prstGeom prst="rect">
            <a:avLst/>
          </a:prstGeom>
          <a:ln/>
        </p:spPr>
      </p:pic>
      <p:pic>
        <p:nvPicPr>
          <p:cNvPr id="10" name="image3.png" descr="A picture containing clock&#10;&#10;Description automatically generated">
            <a:extLst>
              <a:ext uri="{FF2B5EF4-FFF2-40B4-BE49-F238E27FC236}">
                <a16:creationId xmlns:a16="http://schemas.microsoft.com/office/drawing/2014/main" xmlns="" id="{C0A746E2-0449-3B42-851A-67FC7951DDB6}"/>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9262214" y="2202512"/>
            <a:ext cx="274320" cy="274320"/>
          </a:xfrm>
          <a:prstGeom prst="rect">
            <a:avLst/>
          </a:prstGeom>
          <a:ln/>
        </p:spPr>
      </p:pic>
    </p:spTree>
    <p:extLst>
      <p:ext uri="{BB962C8B-B14F-4D97-AF65-F5344CB8AC3E}">
        <p14:creationId xmlns:p14="http://schemas.microsoft.com/office/powerpoint/2010/main" val="10799258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A66A031F-2EC8-DF4C-B3F5-E7AC5B8F3239}"/>
                  </a:ext>
                </a:extLst>
              </p:cNvPr>
              <p:cNvSpPr/>
              <p:nvPr/>
            </p:nvSpPr>
            <p:spPr>
              <a:xfrm>
                <a:off x="590275" y="474937"/>
                <a:ext cx="11172747" cy="707886"/>
              </a:xfrm>
              <a:prstGeom prst="rect">
                <a:avLst/>
              </a:prstGeom>
            </p:spPr>
            <p:txBody>
              <a:bodyPr wrap="square">
                <a:spAutoFit/>
              </a:bodyPr>
              <a:lstStyle/>
              <a:p>
                <a:pPr marL="468313" indent="-457200">
                  <a:buSzPts val="18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Complete the table to show how the sum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5+</m:t>
                    </m:r>
                    <m:d>
                      <m:dPr>
                        <m:ctrlPr>
                          <a:rPr lang="en-US" sz="2000" i="1" dirty="0">
                            <a:latin typeface="Cambria Math"/>
                            <a:ea typeface="Verdana" panose="020B0604030504040204" pitchFamily="34" charset="0"/>
                            <a:cs typeface="Verdana" panose="020B0604030504040204" pitchFamily="34" charset="0"/>
                          </a:rPr>
                        </m:ctrlPr>
                      </m:dPr>
                      <m:e>
                        <m:sPre>
                          <m:sPrePr>
                            <m:ctrlPr>
                              <a:rPr lang="en-US" sz="2000" i="1" dirty="0">
                                <a:latin typeface="Cambria Math"/>
                                <a:ea typeface="Verdana" panose="020B0604030504040204" pitchFamily="34" charset="0"/>
                                <a:cs typeface="Verdana" panose="020B0604030504040204" pitchFamily="34" charset="0"/>
                              </a:rPr>
                            </m:ctrlPr>
                          </m:sPrePr>
                          <m:sub/>
                          <m:sup>
                            <m:r>
                              <a:rPr lang="es-ES" sz="2000" i="1" dirty="0">
                                <a:latin typeface="Cambria Math" panose="02040503050406030204" pitchFamily="18" charset="0"/>
                                <a:ea typeface="Verdana" panose="020B0604030504040204" pitchFamily="34" charset="0"/>
                                <a:cs typeface="Verdana" panose="020B0604030504040204" pitchFamily="34" charset="0"/>
                              </a:rPr>
                              <m:t>−</m:t>
                            </m:r>
                          </m:sup>
                          <m:e>
                            <m:r>
                              <a:rPr lang="es-ES" sz="2000" i="1" dirty="0">
                                <a:latin typeface="Cambria Math" panose="02040503050406030204" pitchFamily="18" charset="0"/>
                                <a:ea typeface="Verdana" panose="020B0604030504040204" pitchFamily="34" charset="0"/>
                                <a:cs typeface="Verdana" panose="020B0604030504040204" pitchFamily="34" charset="0"/>
                              </a:rPr>
                              <m:t>4</m:t>
                            </m:r>
                          </m:e>
                        </m:sPre>
                      </m:e>
                    </m:d>
                  </m:oMath>
                </a14:m>
                <a:r>
                  <a:rPr lang="en-US" sz="2000" dirty="0">
                    <a:latin typeface="Verdana" panose="020B0604030504040204" pitchFamily="34" charset="0"/>
                    <a:ea typeface="Verdana" panose="020B0604030504040204" pitchFamily="34" charset="0"/>
                    <a:cs typeface="Verdana" panose="020B0604030504040204" pitchFamily="34" charset="0"/>
                  </a:rPr>
                  <a:t> can be represented using integer chips.</a:t>
                </a:r>
              </a:p>
            </p:txBody>
          </p:sp>
        </mc:Choice>
        <mc:Fallback xmlns="">
          <p:sp>
            <p:nvSpPr>
              <p:cNvPr id="2" name="Rectangle 1">
                <a:extLst>
                  <a:ext uri="{FF2B5EF4-FFF2-40B4-BE49-F238E27FC236}">
                    <a16:creationId xmlns:a16="http://schemas.microsoft.com/office/drawing/2014/main" id="{A66A031F-2EC8-DF4C-B3F5-E7AC5B8F3239}"/>
                  </a:ext>
                </a:extLst>
              </p:cNvPr>
              <p:cNvSpPr>
                <a:spLocks noRot="1" noChangeAspect="1" noMove="1" noResize="1" noEditPoints="1" noAdjustHandles="1" noChangeArrowheads="1" noChangeShapeType="1" noTextEdit="1"/>
              </p:cNvSpPr>
              <p:nvPr/>
            </p:nvSpPr>
            <p:spPr>
              <a:xfrm>
                <a:off x="590275" y="474937"/>
                <a:ext cx="11172747" cy="707886"/>
              </a:xfrm>
              <a:prstGeom prst="rect">
                <a:avLst/>
              </a:prstGeom>
              <a:blipFill>
                <a:blip r:embed="rId4"/>
                <a:stretch>
                  <a:fillRect l="-341" t="-7018" b="-14035"/>
                </a:stretch>
              </a:blipFill>
            </p:spPr>
            <p:txBody>
              <a:bodyPr/>
              <a:lstStyle/>
              <a:p>
                <a:r>
                  <a:rPr lang="en-US">
                    <a:noFill/>
                  </a:rPr>
                  <a:t> </a:t>
                </a:r>
              </a:p>
            </p:txBody>
          </p:sp>
        </mc:Fallback>
      </mc:AlternateContent>
      <p:sp>
        <p:nvSpPr>
          <p:cNvPr id="13" name="Google Shape;282;g104476d1465_1_17">
            <a:extLst>
              <a:ext uri="{FF2B5EF4-FFF2-40B4-BE49-F238E27FC236}">
                <a16:creationId xmlns:a16="http://schemas.microsoft.com/office/drawing/2014/main" xmlns="" id="{38A626CB-082C-DB4E-B059-328DCC8AD138}"/>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3F4B3D20-36A9-AD49-8002-A67DB288FE4F}"/>
                  </a:ext>
                </a:extLst>
              </p:cNvPr>
              <p:cNvGraphicFramePr>
                <a:graphicFrameLocks noGrp="1"/>
              </p:cNvGraphicFramePr>
              <p:nvPr>
                <p:extLst>
                  <p:ext uri="{D42A27DB-BD31-4B8C-83A1-F6EECF244321}">
                    <p14:modId xmlns:p14="http://schemas.microsoft.com/office/powerpoint/2010/main" val="2070069113"/>
                  </p:ext>
                </p:extLst>
              </p:nvPr>
            </p:nvGraphicFramePr>
            <p:xfrm>
              <a:off x="2513351" y="1454048"/>
              <a:ext cx="7539625" cy="4527027"/>
            </p:xfrm>
            <a:graphic>
              <a:graphicData uri="http://schemas.openxmlformats.org/drawingml/2006/table">
                <a:tbl>
                  <a:tblPr bandRow="1">
                    <a:tableStyleId>{A91F0D33-8C57-4600-99A7-42BC86742BE1}</a:tableStyleId>
                  </a:tblPr>
                  <a:tblGrid>
                    <a:gridCol w="3441322">
                      <a:extLst>
                        <a:ext uri="{9D8B030D-6E8A-4147-A177-3AD203B41FA5}">
                          <a16:colId xmlns:a16="http://schemas.microsoft.com/office/drawing/2014/main" xmlns="" val="377820996"/>
                        </a:ext>
                      </a:extLst>
                    </a:gridCol>
                    <a:gridCol w="4098303">
                      <a:extLst>
                        <a:ext uri="{9D8B030D-6E8A-4147-A177-3AD203B41FA5}">
                          <a16:colId xmlns:a16="http://schemas.microsoft.com/office/drawing/2014/main" xmlns="" val="1111940503"/>
                        </a:ext>
                      </a:extLst>
                    </a:gridCol>
                  </a:tblGrid>
                  <a:tr h="261175">
                    <a:tc>
                      <a:txBody>
                        <a:bodyPr/>
                        <a:lstStyle/>
                        <a:p>
                          <a:pPr marL="0" marR="0" algn="ctr">
                            <a:spcBef>
                              <a:spcPts val="0"/>
                            </a:spcBef>
                            <a:spcAft>
                              <a:spcPts val="100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Step</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Response</a:t>
                          </a:r>
                          <a:endParaRPr lang="x-none" sz="1100" b="1" dirty="0">
                            <a:effectLst/>
                            <a:latin typeface="Verdana" panose="020B0604030504040204" pitchFamily="34" charset="0"/>
                            <a:ea typeface="Verdana" panose="020B0604030504040204" pitchFamily="34" charset="0"/>
                            <a:cs typeface="Verdana" panose="020B0604030504040204" pitchFamily="34" charset="0"/>
                          </a:endParaRP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2383412859"/>
                      </a:ext>
                    </a:extLst>
                  </a:tr>
                  <a:tr h="870582">
                    <a:tc>
                      <a:txBody>
                        <a:bodyPr/>
                        <a:lstStyle/>
                        <a:p>
                          <a:pPr marL="0" marR="0">
                            <a:spcBef>
                              <a:spcPts val="0"/>
                            </a:spcBef>
                            <a:spcAft>
                              <a:spcPts val="1000"/>
                            </a:spcAft>
                          </a:pPr>
                          <a:r>
                            <a:rPr lang="en-US" sz="1600">
                              <a:effectLst/>
                              <a:latin typeface="Verdana" panose="020B0604030504040204" pitchFamily="34" charset="0"/>
                              <a:ea typeface="Verdana" panose="020B0604030504040204" pitchFamily="34" charset="0"/>
                              <a:cs typeface="Verdana" panose="020B0604030504040204" pitchFamily="34" charset="0"/>
                            </a:rPr>
                            <a:t>Represent the first addend with integer chips.</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1000"/>
                            </a:spcAft>
                          </a:pPr>
                          <a:endParaRPr lang="en-US" sz="1600">
                            <a:effectLst/>
                            <a:latin typeface="Verdana" panose="020B0604030504040204" pitchFamily="34" charset="0"/>
                            <a:ea typeface="Verdana" panose="020B0604030504040204" pitchFamily="34" charset="0"/>
                            <a:cs typeface="Verdana" panose="020B0604030504040204" pitchFamily="34" charset="0"/>
                          </a:endParaRP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710674604"/>
                      </a:ext>
                    </a:extLst>
                  </a:tr>
                  <a:tr h="870582">
                    <a:tc>
                      <a:txBody>
                        <a:bodyPr/>
                        <a:lstStyle/>
                        <a:p>
                          <a:pPr marL="0" marR="0">
                            <a:spcBef>
                              <a:spcPts val="0"/>
                            </a:spcBef>
                            <a:spcAft>
                              <a:spcPts val="1000"/>
                            </a:spcAft>
                          </a:pPr>
                          <a:r>
                            <a:rPr lang="en-US" sz="1600">
                              <a:effectLst/>
                              <a:latin typeface="Verdana" panose="020B0604030504040204" pitchFamily="34" charset="0"/>
                              <a:ea typeface="Verdana" panose="020B0604030504040204" pitchFamily="34" charset="0"/>
                              <a:cs typeface="Verdana" panose="020B0604030504040204" pitchFamily="34" charset="0"/>
                            </a:rPr>
                            <a:t>Represent the second addend with integer chips.</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1000"/>
                            </a:spcAft>
                          </a:pP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408651552"/>
                      </a:ext>
                    </a:extLst>
                  </a:tr>
                  <a:tr h="870582">
                    <a:tc>
                      <a:txBody>
                        <a:bodyPr/>
                        <a:lstStyle/>
                        <a:p>
                          <a:pPr marL="0" marR="0">
                            <a:spcBef>
                              <a:spcPts val="0"/>
                            </a:spcBef>
                            <a:spcAft>
                              <a:spcPts val="1000"/>
                            </a:spcAft>
                          </a:pPr>
                          <a:r>
                            <a:rPr lang="en-US" sz="1600">
                              <a:effectLst/>
                              <a:latin typeface="Verdana" panose="020B0604030504040204" pitchFamily="34" charset="0"/>
                              <a:ea typeface="Verdana" panose="020B0604030504040204" pitchFamily="34" charset="0"/>
                              <a:cs typeface="Verdana" panose="020B0604030504040204" pitchFamily="34" charset="0"/>
                            </a:rPr>
                            <a:t>Determine the number of zero pairs created, if any.</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x-none" sz="1100" dirty="0">
                            <a:effectLst/>
                            <a:latin typeface="Verdana" panose="020B0604030504040204" pitchFamily="34" charset="0"/>
                            <a:ea typeface="Verdana" panose="020B0604030504040204" pitchFamily="34" charset="0"/>
                            <a:cs typeface="Verdana" panose="020B0604030504040204" pitchFamily="34" charset="0"/>
                          </a:endParaRP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23240644"/>
                      </a:ext>
                    </a:extLst>
                  </a:tr>
                  <a:tr h="870582">
                    <a:tc gridSpan="2">
                      <a:txBody>
                        <a:bodyPr/>
                        <a:lstStyle/>
                        <a:p>
                          <a:pPr marL="0" marR="0">
                            <a:spcBef>
                              <a:spcPts val="0"/>
                            </a:spcBef>
                            <a:spcAft>
                              <a:spcPts val="1000"/>
                            </a:spcAft>
                          </a:pPr>
                          <a:r>
                            <a:rPr lang="en-US" sz="1600">
                              <a:effectLst/>
                              <a:latin typeface="Verdana" panose="020B0604030504040204" pitchFamily="34" charset="0"/>
                              <a:ea typeface="Verdana" panose="020B0604030504040204" pitchFamily="34" charset="0"/>
                              <a:cs typeface="Verdana" panose="020B0604030504040204" pitchFamily="34" charset="0"/>
                            </a:rPr>
                            <a:t>Cross out the integer chips that represent zero pairs to indicate they are eliminated from the model.</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x-none"/>
                        </a:p>
                      </a:txBody>
                      <a:tcPr/>
                    </a:tc>
                    <a:extLst>
                      <a:ext uri="{0D108BD9-81ED-4DB2-BD59-A6C34878D82A}">
                        <a16:rowId xmlns:a16="http://schemas.microsoft.com/office/drawing/2014/main" xmlns="" val="3443780391"/>
                      </a:ext>
                    </a:extLst>
                  </a:tr>
                  <a:tr h="783524">
                    <a:tc>
                      <a:txBody>
                        <a:bodyPr/>
                        <a:lstStyle/>
                        <a:p>
                          <a:pPr marL="0" marR="0">
                            <a:spcBef>
                              <a:spcPts val="0"/>
                            </a:spcBef>
                            <a:spcAft>
                              <a:spcPts val="1000"/>
                            </a:spcAft>
                          </a:pPr>
                          <a:r>
                            <a:rPr lang="en-US" sz="1600">
                              <a:effectLst/>
                              <a:latin typeface="Verdana" panose="020B0604030504040204" pitchFamily="34" charset="0"/>
                              <a:ea typeface="Verdana" panose="020B0604030504040204" pitchFamily="34" charset="0"/>
                              <a:cs typeface="Verdana" panose="020B0604030504040204" pitchFamily="34" charset="0"/>
                            </a:rPr>
                            <a:t>Determine the sum using the number of integer chips remaining.</a:t>
                          </a:r>
                          <a:endParaRPr lang="x-none" sz="1100">
                            <a:effectLst/>
                            <a:latin typeface="Verdana" panose="020B0604030504040204" pitchFamily="34" charset="0"/>
                            <a:ea typeface="Verdana" panose="020B0604030504040204" pitchFamily="34" charset="0"/>
                            <a:cs typeface="Verdana" panose="020B0604030504040204" pitchFamily="34" charset="0"/>
                          </a:endParaRP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1600">
                                    <a:effectLst/>
                                    <a:latin typeface="Cambria Math" panose="02040503050406030204" pitchFamily="18" charset="0"/>
                                  </a:rPr>
                                  <m:t>5+(</m:t>
                                </m:r>
                                <m:sPre>
                                  <m:sPrePr>
                                    <m:ctrlPr>
                                      <a:rPr lang="x-none" sz="1600" i="1">
                                        <a:effectLst/>
                                        <a:latin typeface="Cambria Math"/>
                                      </a:rPr>
                                    </m:ctrlPr>
                                  </m:sPrePr>
                                  <m:sub/>
                                  <m:sup>
                                    <m:r>
                                      <a:rPr lang="en-US" sz="1600">
                                        <a:effectLst/>
                                        <a:latin typeface="Cambria Math" panose="02040503050406030204" pitchFamily="18" charset="0"/>
                                      </a:rPr>
                                      <m:t>−</m:t>
                                    </m:r>
                                  </m:sup>
                                  <m:e>
                                    <m:r>
                                      <a:rPr lang="en-US" sz="1600">
                                        <a:effectLst/>
                                        <a:latin typeface="Cambria Math" panose="02040503050406030204" pitchFamily="18" charset="0"/>
                                      </a:rPr>
                                      <m:t>4)</m:t>
                                    </m:r>
                                  </m:e>
                                </m:sPre>
                                <m:r>
                                  <a:rPr lang="en-US" sz="1600">
                                    <a:effectLst/>
                                    <a:latin typeface="Cambria Math" panose="02040503050406030204" pitchFamily="18" charset="0"/>
                                  </a:rPr>
                                  <m:t>=_______</m:t>
                                </m:r>
                              </m:oMath>
                            </m:oMathPara>
                          </a14:m>
                          <a:endParaRPr lang="x-none" sz="1100" dirty="0">
                            <a:effectLst/>
                            <a:latin typeface="Verdana" panose="020B0604030504040204" pitchFamily="34" charset="0"/>
                            <a:ea typeface="Verdana" panose="020B0604030504040204" pitchFamily="34" charset="0"/>
                            <a:cs typeface="Verdana" panose="020B0604030504040204" pitchFamily="34" charset="0"/>
                          </a:endParaRP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734218789"/>
                      </a:ext>
                    </a:extLst>
                  </a:tr>
                </a:tbl>
              </a:graphicData>
            </a:graphic>
          </p:graphicFrame>
        </mc:Choice>
        <mc:Fallback xmlns="">
          <p:graphicFrame>
            <p:nvGraphicFramePr>
              <p:cNvPr id="3" name="Table 2">
                <a:extLst>
                  <a:ext uri="{FF2B5EF4-FFF2-40B4-BE49-F238E27FC236}">
                    <a16:creationId xmlns:a16="http://schemas.microsoft.com/office/drawing/2014/main" id="{3F4B3D20-36A9-AD49-8002-A67DB288FE4F}"/>
                  </a:ext>
                </a:extLst>
              </p:cNvPr>
              <p:cNvGraphicFramePr>
                <a:graphicFrameLocks noGrp="1"/>
              </p:cNvGraphicFramePr>
              <p:nvPr>
                <p:extLst>
                  <p:ext uri="{D42A27DB-BD31-4B8C-83A1-F6EECF244321}">
                    <p14:modId xmlns:p14="http://schemas.microsoft.com/office/powerpoint/2010/main" val="2070069113"/>
                  </p:ext>
                </p:extLst>
              </p:nvPr>
            </p:nvGraphicFramePr>
            <p:xfrm>
              <a:off x="2513351" y="1454048"/>
              <a:ext cx="7539625" cy="4527027"/>
            </p:xfrm>
            <a:graphic>
              <a:graphicData uri="http://schemas.openxmlformats.org/drawingml/2006/table">
                <a:tbl>
                  <a:tblPr bandRow="1">
                    <a:tableStyleId>{A91F0D33-8C57-4600-99A7-42BC86742BE1}</a:tableStyleId>
                  </a:tblPr>
                  <a:tblGrid>
                    <a:gridCol w="3441322">
                      <a:extLst>
                        <a:ext uri="{9D8B030D-6E8A-4147-A177-3AD203B41FA5}">
                          <a16:colId xmlns:a16="http://schemas.microsoft.com/office/drawing/2014/main" val="377820996"/>
                        </a:ext>
                      </a:extLst>
                    </a:gridCol>
                    <a:gridCol w="4098303">
                      <a:extLst>
                        <a:ext uri="{9D8B030D-6E8A-4147-A177-3AD203B41FA5}">
                          <a16:colId xmlns:a16="http://schemas.microsoft.com/office/drawing/2014/main" val="1111940503"/>
                        </a:ext>
                      </a:extLst>
                    </a:gridCol>
                  </a:tblGrid>
                  <a:tr h="261175">
                    <a:tc>
                      <a:txBody>
                        <a:bodyPr/>
                        <a:lstStyle/>
                        <a:p>
                          <a:pPr marL="0" marR="0" algn="ctr">
                            <a:spcBef>
                              <a:spcPts val="0"/>
                            </a:spcBef>
                            <a:spcAft>
                              <a:spcPts val="100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Step</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Response</a:t>
                          </a:r>
                          <a:endParaRPr lang="en-CO" sz="1100" b="1" dirty="0">
                            <a:effectLst/>
                            <a:latin typeface="Verdana" panose="020B0604030504040204" pitchFamily="34" charset="0"/>
                            <a:ea typeface="Verdana" panose="020B0604030504040204" pitchFamily="34" charset="0"/>
                            <a:cs typeface="Verdana" panose="020B0604030504040204" pitchFamily="34" charset="0"/>
                          </a:endParaRP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383412859"/>
                      </a:ext>
                    </a:extLst>
                  </a:tr>
                  <a:tr h="870582">
                    <a:tc>
                      <a:txBody>
                        <a:bodyPr/>
                        <a:lstStyle/>
                        <a:p>
                          <a:pPr marL="0" marR="0">
                            <a:spcBef>
                              <a:spcPts val="0"/>
                            </a:spcBef>
                            <a:spcAft>
                              <a:spcPts val="1000"/>
                            </a:spcAft>
                          </a:pPr>
                          <a:r>
                            <a:rPr lang="en-US" sz="1600">
                              <a:effectLst/>
                              <a:latin typeface="Verdana" panose="020B0604030504040204" pitchFamily="34" charset="0"/>
                              <a:ea typeface="Verdana" panose="020B0604030504040204" pitchFamily="34" charset="0"/>
                              <a:cs typeface="Verdana" panose="020B0604030504040204" pitchFamily="34" charset="0"/>
                            </a:rPr>
                            <a:t>Represent the first addend with integer chips.</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1000"/>
                            </a:spcAft>
                          </a:pPr>
                          <a:endParaRPr lang="en-US" sz="1600">
                            <a:effectLst/>
                            <a:latin typeface="Verdana" panose="020B0604030504040204" pitchFamily="34" charset="0"/>
                            <a:ea typeface="Verdana" panose="020B0604030504040204" pitchFamily="34" charset="0"/>
                            <a:cs typeface="Verdana" panose="020B0604030504040204" pitchFamily="34" charset="0"/>
                          </a:endParaRP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0674604"/>
                      </a:ext>
                    </a:extLst>
                  </a:tr>
                  <a:tr h="870582">
                    <a:tc>
                      <a:txBody>
                        <a:bodyPr/>
                        <a:lstStyle/>
                        <a:p>
                          <a:pPr marL="0" marR="0">
                            <a:spcBef>
                              <a:spcPts val="0"/>
                            </a:spcBef>
                            <a:spcAft>
                              <a:spcPts val="1000"/>
                            </a:spcAft>
                          </a:pPr>
                          <a:r>
                            <a:rPr lang="en-US" sz="1600">
                              <a:effectLst/>
                              <a:latin typeface="Verdana" panose="020B0604030504040204" pitchFamily="34" charset="0"/>
                              <a:ea typeface="Verdana" panose="020B0604030504040204" pitchFamily="34" charset="0"/>
                              <a:cs typeface="Verdana" panose="020B0604030504040204" pitchFamily="34" charset="0"/>
                            </a:rPr>
                            <a:t>Represent the second addend with integer chips.</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1000"/>
                            </a:spcAft>
                          </a:pP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8651552"/>
                      </a:ext>
                    </a:extLst>
                  </a:tr>
                  <a:tr h="870582">
                    <a:tc>
                      <a:txBody>
                        <a:bodyPr/>
                        <a:lstStyle/>
                        <a:p>
                          <a:pPr marL="0" marR="0">
                            <a:spcBef>
                              <a:spcPts val="0"/>
                            </a:spcBef>
                            <a:spcAft>
                              <a:spcPts val="1000"/>
                            </a:spcAft>
                          </a:pPr>
                          <a:r>
                            <a:rPr lang="en-US" sz="1600">
                              <a:effectLst/>
                              <a:latin typeface="Verdana" panose="020B0604030504040204" pitchFamily="34" charset="0"/>
                              <a:ea typeface="Verdana" panose="020B0604030504040204" pitchFamily="34" charset="0"/>
                              <a:cs typeface="Verdana" panose="020B0604030504040204" pitchFamily="34" charset="0"/>
                            </a:rPr>
                            <a:t>Determine the number of zero pairs created, if any.</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CO" sz="1100" dirty="0">
                            <a:effectLst/>
                            <a:latin typeface="Verdana" panose="020B0604030504040204" pitchFamily="34" charset="0"/>
                            <a:ea typeface="Verdana" panose="020B0604030504040204" pitchFamily="34" charset="0"/>
                            <a:cs typeface="Verdana" panose="020B0604030504040204" pitchFamily="34" charset="0"/>
                          </a:endParaRP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240644"/>
                      </a:ext>
                    </a:extLst>
                  </a:tr>
                  <a:tr h="870582">
                    <a:tc gridSpan="2">
                      <a:txBody>
                        <a:bodyPr/>
                        <a:lstStyle/>
                        <a:p>
                          <a:pPr marL="0" marR="0">
                            <a:spcBef>
                              <a:spcPts val="0"/>
                            </a:spcBef>
                            <a:spcAft>
                              <a:spcPts val="1000"/>
                            </a:spcAft>
                          </a:pPr>
                          <a:r>
                            <a:rPr lang="en-US" sz="1600">
                              <a:effectLst/>
                              <a:latin typeface="Verdana" panose="020B0604030504040204" pitchFamily="34" charset="0"/>
                              <a:ea typeface="Verdana" panose="020B0604030504040204" pitchFamily="34" charset="0"/>
                              <a:cs typeface="Verdana" panose="020B0604030504040204" pitchFamily="34" charset="0"/>
                            </a:rPr>
                            <a:t>Cross out the integer chips that represent zero pairs to indicate they are eliminated from the model.</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CO"/>
                        </a:p>
                      </a:txBody>
                      <a:tcPr/>
                    </a:tc>
                    <a:extLst>
                      <a:ext uri="{0D108BD9-81ED-4DB2-BD59-A6C34878D82A}">
                        <a16:rowId xmlns:a16="http://schemas.microsoft.com/office/drawing/2014/main" val="3443780391"/>
                      </a:ext>
                    </a:extLst>
                  </a:tr>
                  <a:tr h="783524">
                    <a:tc>
                      <a:txBody>
                        <a:bodyPr/>
                        <a:lstStyle/>
                        <a:p>
                          <a:pPr marL="0" marR="0">
                            <a:spcBef>
                              <a:spcPts val="0"/>
                            </a:spcBef>
                            <a:spcAft>
                              <a:spcPts val="1000"/>
                            </a:spcAft>
                          </a:pPr>
                          <a:r>
                            <a:rPr lang="en-US" sz="1600">
                              <a:effectLst/>
                              <a:latin typeface="Verdana" panose="020B0604030504040204" pitchFamily="34" charset="0"/>
                              <a:ea typeface="Verdana" panose="020B0604030504040204" pitchFamily="34" charset="0"/>
                              <a:cs typeface="Verdana" panose="020B0604030504040204" pitchFamily="34" charset="0"/>
                            </a:rPr>
                            <a:t>Determine the sum using the number of integer chips remaining.</a:t>
                          </a:r>
                          <a:endParaRPr lang="en-CO" sz="1100">
                            <a:effectLst/>
                            <a:latin typeface="Verdana" panose="020B0604030504040204" pitchFamily="34" charset="0"/>
                            <a:ea typeface="Verdana" panose="020B0604030504040204" pitchFamily="34" charset="0"/>
                            <a:cs typeface="Verdana" panose="020B0604030504040204" pitchFamily="34" charset="0"/>
                          </a:endParaRPr>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2760" marR="6276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4211" t="-482258" r="-310" b="-12903"/>
                          </a:stretch>
                        </a:blipFill>
                      </a:tcPr>
                    </a:tc>
                    <a:extLst>
                      <a:ext uri="{0D108BD9-81ED-4DB2-BD59-A6C34878D82A}">
                        <a16:rowId xmlns:a16="http://schemas.microsoft.com/office/drawing/2014/main" val="2734218789"/>
                      </a:ext>
                    </a:extLst>
                  </a:tr>
                </a:tbl>
              </a:graphicData>
            </a:graphic>
          </p:graphicFrame>
        </mc:Fallback>
      </mc:AlternateContent>
      <p:pic>
        <p:nvPicPr>
          <p:cNvPr id="20" name="image2.png" descr="A close up of a sign&#10;&#10;Description automatically generated">
            <a:extLst>
              <a:ext uri="{FF2B5EF4-FFF2-40B4-BE49-F238E27FC236}">
                <a16:creationId xmlns:a16="http://schemas.microsoft.com/office/drawing/2014/main" xmlns="" id="{3AE6060E-700A-7349-AAF3-700604AB341C}"/>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6096001" y="1814024"/>
            <a:ext cx="621665" cy="621665"/>
          </a:xfrm>
          <a:prstGeom prst="rect">
            <a:avLst/>
          </a:prstGeom>
          <a:ln/>
        </p:spPr>
      </p:pic>
      <p:pic>
        <p:nvPicPr>
          <p:cNvPr id="21" name="image2.png" descr="A close up of a sign&#10;&#10;Description automatically generated">
            <a:extLst>
              <a:ext uri="{FF2B5EF4-FFF2-40B4-BE49-F238E27FC236}">
                <a16:creationId xmlns:a16="http://schemas.microsoft.com/office/drawing/2014/main" xmlns="" id="{3FF67E91-43FA-8048-A829-B80072BE8DF7}"/>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6740578" y="1814024"/>
            <a:ext cx="621665" cy="621665"/>
          </a:xfrm>
          <a:prstGeom prst="rect">
            <a:avLst/>
          </a:prstGeom>
          <a:ln/>
        </p:spPr>
      </p:pic>
      <p:pic>
        <p:nvPicPr>
          <p:cNvPr id="22" name="image2.png" descr="A close up of a sign&#10;&#10;Description automatically generated">
            <a:extLst>
              <a:ext uri="{FF2B5EF4-FFF2-40B4-BE49-F238E27FC236}">
                <a16:creationId xmlns:a16="http://schemas.microsoft.com/office/drawing/2014/main" xmlns="" id="{9A9A59BE-72CE-3244-81F3-93DFDCAE3C19}"/>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7400146" y="1814024"/>
            <a:ext cx="621665" cy="621665"/>
          </a:xfrm>
          <a:prstGeom prst="rect">
            <a:avLst/>
          </a:prstGeom>
          <a:ln/>
        </p:spPr>
      </p:pic>
      <p:pic>
        <p:nvPicPr>
          <p:cNvPr id="23" name="image2.png" descr="A close up of a sign&#10;&#10;Description automatically generated">
            <a:extLst>
              <a:ext uri="{FF2B5EF4-FFF2-40B4-BE49-F238E27FC236}">
                <a16:creationId xmlns:a16="http://schemas.microsoft.com/office/drawing/2014/main" xmlns="" id="{4EA8F0C3-D889-6841-8ACE-75C884B6FBFC}"/>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8059713" y="1814024"/>
            <a:ext cx="621665" cy="621665"/>
          </a:xfrm>
          <a:prstGeom prst="rect">
            <a:avLst/>
          </a:prstGeom>
          <a:ln/>
        </p:spPr>
      </p:pic>
      <p:pic>
        <p:nvPicPr>
          <p:cNvPr id="24" name="image2.png" descr="A close up of a sign&#10;&#10;Description automatically generated">
            <a:extLst>
              <a:ext uri="{FF2B5EF4-FFF2-40B4-BE49-F238E27FC236}">
                <a16:creationId xmlns:a16="http://schemas.microsoft.com/office/drawing/2014/main" xmlns="" id="{60AA92B5-D3F7-3044-B909-2730B577383D}"/>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8704290" y="1814024"/>
            <a:ext cx="621665" cy="621665"/>
          </a:xfrm>
          <a:prstGeom prst="rect">
            <a:avLst/>
          </a:prstGeom>
          <a:ln/>
        </p:spPr>
      </p:pic>
      <p:pic>
        <p:nvPicPr>
          <p:cNvPr id="25" name="image1.png" descr="A picture containing clock&#10;&#10;Description automatically generated">
            <a:extLst>
              <a:ext uri="{FF2B5EF4-FFF2-40B4-BE49-F238E27FC236}">
                <a16:creationId xmlns:a16="http://schemas.microsoft.com/office/drawing/2014/main" xmlns="" id="{2684F8A6-69DE-BF4B-82C3-0F4EFFFD37D8}"/>
              </a:ext>
            </a:extLst>
          </p:cNvPr>
          <p:cNvPicPr/>
          <p:nvPr/>
        </p:nvPicPr>
        <p:blipFill>
          <a:blip r:embed="rId7" cstate="screen">
            <a:extLst>
              <a:ext uri="{28A0092B-C50C-407E-A947-70E740481C1C}">
                <a14:useLocalDpi xmlns:a14="http://schemas.microsoft.com/office/drawing/2010/main"/>
              </a:ext>
            </a:extLst>
          </a:blip>
          <a:srcRect/>
          <a:stretch>
            <a:fillRect/>
          </a:stretch>
        </p:blipFill>
        <p:spPr>
          <a:xfrm>
            <a:off x="6096001" y="2704384"/>
            <a:ext cx="621665" cy="621665"/>
          </a:xfrm>
          <a:prstGeom prst="rect">
            <a:avLst/>
          </a:prstGeom>
          <a:ln/>
        </p:spPr>
      </p:pic>
      <p:pic>
        <p:nvPicPr>
          <p:cNvPr id="26" name="image1.png" descr="A picture containing clock&#10;&#10;Description automatically generated">
            <a:extLst>
              <a:ext uri="{FF2B5EF4-FFF2-40B4-BE49-F238E27FC236}">
                <a16:creationId xmlns:a16="http://schemas.microsoft.com/office/drawing/2014/main" xmlns="" id="{B0F2A0E8-6295-DA43-897D-F5E8A674F264}"/>
              </a:ext>
            </a:extLst>
          </p:cNvPr>
          <p:cNvPicPr/>
          <p:nvPr/>
        </p:nvPicPr>
        <p:blipFill>
          <a:blip r:embed="rId7" cstate="screen">
            <a:extLst>
              <a:ext uri="{28A0092B-C50C-407E-A947-70E740481C1C}">
                <a14:useLocalDpi xmlns:a14="http://schemas.microsoft.com/office/drawing/2010/main"/>
              </a:ext>
            </a:extLst>
          </a:blip>
          <a:srcRect/>
          <a:stretch>
            <a:fillRect/>
          </a:stretch>
        </p:blipFill>
        <p:spPr>
          <a:xfrm>
            <a:off x="6725588" y="2704384"/>
            <a:ext cx="621665" cy="621665"/>
          </a:xfrm>
          <a:prstGeom prst="rect">
            <a:avLst/>
          </a:prstGeom>
          <a:ln/>
        </p:spPr>
      </p:pic>
      <p:pic>
        <p:nvPicPr>
          <p:cNvPr id="27" name="image1.png" descr="A picture containing clock&#10;&#10;Description automatically generated">
            <a:extLst>
              <a:ext uri="{FF2B5EF4-FFF2-40B4-BE49-F238E27FC236}">
                <a16:creationId xmlns:a16="http://schemas.microsoft.com/office/drawing/2014/main" xmlns="" id="{95F20EA8-31CF-9D4E-9F90-E9CDBC050D9D}"/>
              </a:ext>
            </a:extLst>
          </p:cNvPr>
          <p:cNvPicPr/>
          <p:nvPr/>
        </p:nvPicPr>
        <p:blipFill>
          <a:blip r:embed="rId7" cstate="screen">
            <a:extLst>
              <a:ext uri="{28A0092B-C50C-407E-A947-70E740481C1C}">
                <a14:useLocalDpi xmlns:a14="http://schemas.microsoft.com/office/drawing/2010/main"/>
              </a:ext>
            </a:extLst>
          </a:blip>
          <a:srcRect/>
          <a:stretch>
            <a:fillRect/>
          </a:stretch>
        </p:blipFill>
        <p:spPr>
          <a:xfrm>
            <a:off x="7355175" y="2704384"/>
            <a:ext cx="621665" cy="621665"/>
          </a:xfrm>
          <a:prstGeom prst="rect">
            <a:avLst/>
          </a:prstGeom>
          <a:ln/>
        </p:spPr>
      </p:pic>
      <p:pic>
        <p:nvPicPr>
          <p:cNvPr id="28" name="image1.png" descr="A picture containing clock&#10;&#10;Description automatically generated">
            <a:extLst>
              <a:ext uri="{FF2B5EF4-FFF2-40B4-BE49-F238E27FC236}">
                <a16:creationId xmlns:a16="http://schemas.microsoft.com/office/drawing/2014/main" xmlns="" id="{DF8610CD-72DA-E242-B3E9-804B83AC65CF}"/>
              </a:ext>
            </a:extLst>
          </p:cNvPr>
          <p:cNvPicPr/>
          <p:nvPr/>
        </p:nvPicPr>
        <p:blipFill>
          <a:blip r:embed="rId7" cstate="screen">
            <a:extLst>
              <a:ext uri="{28A0092B-C50C-407E-A947-70E740481C1C}">
                <a14:useLocalDpi xmlns:a14="http://schemas.microsoft.com/office/drawing/2010/main"/>
              </a:ext>
            </a:extLst>
          </a:blip>
          <a:srcRect/>
          <a:stretch>
            <a:fillRect/>
          </a:stretch>
        </p:blipFill>
        <p:spPr>
          <a:xfrm>
            <a:off x="7999752" y="2704384"/>
            <a:ext cx="621665" cy="621665"/>
          </a:xfrm>
          <a:prstGeom prst="rect">
            <a:avLst/>
          </a:prstGeom>
          <a:ln/>
        </p:spPr>
      </p:pic>
    </p:spTree>
    <p:extLst>
      <p:ext uri="{BB962C8B-B14F-4D97-AF65-F5344CB8AC3E}">
        <p14:creationId xmlns:p14="http://schemas.microsoft.com/office/powerpoint/2010/main" val="11920541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A66A031F-2EC8-DF4C-B3F5-E7AC5B8F3239}"/>
              </a:ext>
            </a:extLst>
          </p:cNvPr>
          <p:cNvSpPr/>
          <p:nvPr/>
        </p:nvSpPr>
        <p:spPr>
          <a:xfrm>
            <a:off x="397501" y="894488"/>
            <a:ext cx="11275210" cy="830997"/>
          </a:xfrm>
          <a:prstGeom prst="rect">
            <a:avLst/>
          </a:prstGeom>
        </p:spPr>
        <p:txBody>
          <a:bodyPr wrap="square">
            <a:spAutoFit/>
          </a:bodyPr>
          <a:lstStyle/>
          <a:p>
            <a:pPr marL="468313" indent="-457200">
              <a:buSzPts val="18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What do you notice about the remaining integer chips and the sign of the sum? </a:t>
            </a:r>
          </a:p>
        </p:txBody>
      </p:sp>
      <p:sp>
        <p:nvSpPr>
          <p:cNvPr id="13" name="Google Shape;282;g104476d1465_1_17">
            <a:extLst>
              <a:ext uri="{FF2B5EF4-FFF2-40B4-BE49-F238E27FC236}">
                <a16:creationId xmlns:a16="http://schemas.microsoft.com/office/drawing/2014/main" xmlns="" id="{38A626CB-082C-DB4E-B059-328DCC8AD138}"/>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a:t>
            </a:r>
            <a:endParaRPr i="1" dirty="0">
              <a:latin typeface="Calibri"/>
              <a:ea typeface="Calibri"/>
              <a:cs typeface="Calibri"/>
              <a:sym typeface="Calibri"/>
            </a:endParaRPr>
          </a:p>
        </p:txBody>
      </p:sp>
    </p:spTree>
    <p:extLst>
      <p:ext uri="{BB962C8B-B14F-4D97-AF65-F5344CB8AC3E}">
        <p14:creationId xmlns:p14="http://schemas.microsoft.com/office/powerpoint/2010/main" val="10348459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A66A031F-2EC8-DF4C-B3F5-E7AC5B8F3239}"/>
                  </a:ext>
                </a:extLst>
              </p:cNvPr>
              <p:cNvSpPr/>
              <p:nvPr/>
            </p:nvSpPr>
            <p:spPr>
              <a:xfrm>
                <a:off x="546965" y="448462"/>
                <a:ext cx="11374102" cy="707886"/>
              </a:xfrm>
              <a:prstGeom prst="rect">
                <a:avLst/>
              </a:prstGeom>
            </p:spPr>
            <p:txBody>
              <a:bodyPr wrap="square">
                <a:spAutoFit/>
              </a:bodyPr>
              <a:lstStyle/>
              <a:p>
                <a:pPr marL="468313" indent="-457200">
                  <a:buSzPts val="18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Complete the table independently to show how the sum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4+(−7)</m:t>
                    </m:r>
                  </m:oMath>
                </a14:m>
                <a:r>
                  <a:rPr lang="en-US" sz="2000" dirty="0">
                    <a:latin typeface="Verdana" panose="020B0604030504040204" pitchFamily="34" charset="0"/>
                    <a:ea typeface="Verdana" panose="020B0604030504040204" pitchFamily="34" charset="0"/>
                    <a:cs typeface="Verdana" panose="020B0604030504040204" pitchFamily="34" charset="0"/>
                  </a:rPr>
                  <a:t> can be represented using integer chips. Check your work with your partner.</a:t>
                </a:r>
              </a:p>
            </p:txBody>
          </p:sp>
        </mc:Choice>
        <mc:Fallback xmlns="">
          <p:sp>
            <p:nvSpPr>
              <p:cNvPr id="2" name="Rectangle 1">
                <a:extLst>
                  <a:ext uri="{FF2B5EF4-FFF2-40B4-BE49-F238E27FC236}">
                    <a16:creationId xmlns:a16="http://schemas.microsoft.com/office/drawing/2014/main" id="{A66A031F-2EC8-DF4C-B3F5-E7AC5B8F3239}"/>
                  </a:ext>
                </a:extLst>
              </p:cNvPr>
              <p:cNvSpPr>
                <a:spLocks noRot="1" noChangeAspect="1" noMove="1" noResize="1" noEditPoints="1" noAdjustHandles="1" noChangeArrowheads="1" noChangeShapeType="1" noTextEdit="1"/>
              </p:cNvSpPr>
              <p:nvPr/>
            </p:nvSpPr>
            <p:spPr>
              <a:xfrm>
                <a:off x="546965" y="448462"/>
                <a:ext cx="11374102" cy="707886"/>
              </a:xfrm>
              <a:prstGeom prst="rect">
                <a:avLst/>
              </a:prstGeom>
              <a:blipFill>
                <a:blip r:embed="rId4"/>
                <a:stretch>
                  <a:fillRect l="-446" t="-5263" b="-14035"/>
                </a:stretch>
              </a:blipFill>
            </p:spPr>
            <p:txBody>
              <a:bodyPr/>
              <a:lstStyle/>
              <a:p>
                <a:r>
                  <a:rPr lang="en-US">
                    <a:noFill/>
                  </a:rPr>
                  <a:t> </a:t>
                </a:r>
              </a:p>
            </p:txBody>
          </p:sp>
        </mc:Fallback>
      </mc:AlternateContent>
      <p:sp>
        <p:nvSpPr>
          <p:cNvPr id="13" name="Google Shape;282;g104476d1465_1_17">
            <a:extLst>
              <a:ext uri="{FF2B5EF4-FFF2-40B4-BE49-F238E27FC236}">
                <a16:creationId xmlns:a16="http://schemas.microsoft.com/office/drawing/2014/main" xmlns="" id="{38A626CB-082C-DB4E-B059-328DCC8AD138}"/>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F87E65EF-7248-1146-A63A-7E63675E3818}"/>
                  </a:ext>
                </a:extLst>
              </p:cNvPr>
              <p:cNvGraphicFramePr>
                <a:graphicFrameLocks noGrp="1"/>
              </p:cNvGraphicFramePr>
              <p:nvPr>
                <p:extLst>
                  <p:ext uri="{D42A27DB-BD31-4B8C-83A1-F6EECF244321}">
                    <p14:modId xmlns:p14="http://schemas.microsoft.com/office/powerpoint/2010/main" val="759291278"/>
                  </p:ext>
                </p:extLst>
              </p:nvPr>
            </p:nvGraphicFramePr>
            <p:xfrm>
              <a:off x="2483370" y="1636398"/>
              <a:ext cx="7465380" cy="4476733"/>
            </p:xfrm>
            <a:graphic>
              <a:graphicData uri="http://schemas.openxmlformats.org/drawingml/2006/table">
                <a:tbl>
                  <a:tblPr bandRow="1">
                    <a:tableStyleId>{A91F0D33-8C57-4600-99A7-42BC86742BE1}</a:tableStyleId>
                  </a:tblPr>
                  <a:tblGrid>
                    <a:gridCol w="3438813">
                      <a:extLst>
                        <a:ext uri="{9D8B030D-6E8A-4147-A177-3AD203B41FA5}">
                          <a16:colId xmlns:a16="http://schemas.microsoft.com/office/drawing/2014/main" xmlns="" val="3945534167"/>
                        </a:ext>
                      </a:extLst>
                    </a:gridCol>
                    <a:gridCol w="4026567">
                      <a:extLst>
                        <a:ext uri="{9D8B030D-6E8A-4147-A177-3AD203B41FA5}">
                          <a16:colId xmlns:a16="http://schemas.microsoft.com/office/drawing/2014/main" xmlns="" val="1401939559"/>
                        </a:ext>
                      </a:extLst>
                    </a:gridCol>
                  </a:tblGrid>
                  <a:tr h="280342">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Step</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6753" marR="667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Response</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6753" marR="667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384055547"/>
                      </a:ext>
                    </a:extLst>
                  </a:tr>
                  <a:tr h="838841">
                    <a:tc>
                      <a:txBody>
                        <a:bodyPr/>
                        <a:lstStyle/>
                        <a:p>
                          <a:pPr marL="0" marR="0">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Represent the first addend with integer chips.</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6753" marR="667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100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66753" marR="667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78375404"/>
                      </a:ext>
                    </a:extLst>
                  </a:tr>
                  <a:tr h="838841">
                    <a:tc>
                      <a:txBody>
                        <a:bodyPr/>
                        <a:lstStyle/>
                        <a:p>
                          <a:pPr marL="0" marR="0">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Represent the second addend with integer chips.</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6753" marR="667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1000"/>
                            </a:spcAft>
                          </a:pP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6753" marR="667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555662276"/>
                      </a:ext>
                    </a:extLst>
                  </a:tr>
                  <a:tr h="838841">
                    <a:tc>
                      <a:txBody>
                        <a:bodyPr/>
                        <a:lstStyle/>
                        <a:p>
                          <a:pPr marL="0" marR="0">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Determine the number of zero pairs created, if any.</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6753" marR="667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6753" marR="667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74625084"/>
                      </a:ext>
                    </a:extLst>
                  </a:tr>
                  <a:tr h="838841">
                    <a:tc gridSpan="2">
                      <a:txBody>
                        <a:bodyPr/>
                        <a:lstStyle/>
                        <a:p>
                          <a:pPr marL="0" marR="0">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Cross out the integer chips that represent zero pairs to indicate they are eliminated from the model.</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6753" marR="667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x-none"/>
                        </a:p>
                      </a:txBody>
                      <a:tcPr/>
                    </a:tc>
                    <a:extLst>
                      <a:ext uri="{0D108BD9-81ED-4DB2-BD59-A6C34878D82A}">
                        <a16:rowId xmlns:a16="http://schemas.microsoft.com/office/drawing/2014/main" xmlns="" val="1561161087"/>
                      </a:ext>
                    </a:extLst>
                  </a:tr>
                  <a:tr h="841027">
                    <a:tc>
                      <a:txBody>
                        <a:bodyPr/>
                        <a:lstStyle/>
                        <a:p>
                          <a:pPr marL="0" marR="0">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Determine the sum using the number of integer chips remaining.</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6753" marR="667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4+(−7)=_______</m:t>
                                </m:r>
                              </m:oMath>
                            </m:oMathPara>
                          </a14:m>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6753" marR="667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029644687"/>
                      </a:ext>
                    </a:extLst>
                  </a:tr>
                </a:tbl>
              </a:graphicData>
            </a:graphic>
          </p:graphicFrame>
        </mc:Choice>
        <mc:Fallback xmlns="">
          <p:graphicFrame>
            <p:nvGraphicFramePr>
              <p:cNvPr id="3" name="Table 2">
                <a:extLst>
                  <a:ext uri="{FF2B5EF4-FFF2-40B4-BE49-F238E27FC236}">
                    <a16:creationId xmlns:a16="http://schemas.microsoft.com/office/drawing/2014/main" id="{F87E65EF-7248-1146-A63A-7E63675E3818}"/>
                  </a:ext>
                </a:extLst>
              </p:cNvPr>
              <p:cNvGraphicFramePr>
                <a:graphicFrameLocks noGrp="1"/>
              </p:cNvGraphicFramePr>
              <p:nvPr>
                <p:extLst>
                  <p:ext uri="{D42A27DB-BD31-4B8C-83A1-F6EECF244321}">
                    <p14:modId xmlns:p14="http://schemas.microsoft.com/office/powerpoint/2010/main" val="759291278"/>
                  </p:ext>
                </p:extLst>
              </p:nvPr>
            </p:nvGraphicFramePr>
            <p:xfrm>
              <a:off x="2483370" y="1636398"/>
              <a:ext cx="7465380" cy="4476733"/>
            </p:xfrm>
            <a:graphic>
              <a:graphicData uri="http://schemas.openxmlformats.org/drawingml/2006/table">
                <a:tbl>
                  <a:tblPr bandRow="1">
                    <a:tableStyleId>{A91F0D33-8C57-4600-99A7-42BC86742BE1}</a:tableStyleId>
                  </a:tblPr>
                  <a:tblGrid>
                    <a:gridCol w="3438813">
                      <a:extLst>
                        <a:ext uri="{9D8B030D-6E8A-4147-A177-3AD203B41FA5}">
                          <a16:colId xmlns:a16="http://schemas.microsoft.com/office/drawing/2014/main" val="3945534167"/>
                        </a:ext>
                      </a:extLst>
                    </a:gridCol>
                    <a:gridCol w="4026567">
                      <a:extLst>
                        <a:ext uri="{9D8B030D-6E8A-4147-A177-3AD203B41FA5}">
                          <a16:colId xmlns:a16="http://schemas.microsoft.com/office/drawing/2014/main" val="1401939559"/>
                        </a:ext>
                      </a:extLst>
                    </a:gridCol>
                  </a:tblGrid>
                  <a:tr h="280342">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Step</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6753" marR="667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Response</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6753" marR="667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84055547"/>
                      </a:ext>
                    </a:extLst>
                  </a:tr>
                  <a:tr h="838841">
                    <a:tc>
                      <a:txBody>
                        <a:bodyPr/>
                        <a:lstStyle/>
                        <a:p>
                          <a:pPr marL="0" marR="0">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Represent the first addend with integer chips.</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6753" marR="667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1000"/>
                            </a:spcAft>
                          </a:pPr>
                          <a:endParaRPr lang="en-US" sz="1800" dirty="0">
                            <a:effectLst/>
                            <a:latin typeface="Verdana" panose="020B0604030504040204" pitchFamily="34" charset="0"/>
                            <a:ea typeface="Verdana" panose="020B0604030504040204" pitchFamily="34" charset="0"/>
                            <a:cs typeface="Verdana" panose="020B0604030504040204" pitchFamily="34" charset="0"/>
                          </a:endParaRPr>
                        </a:p>
                      </a:txBody>
                      <a:tcPr marL="66753" marR="667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8375404"/>
                      </a:ext>
                    </a:extLst>
                  </a:tr>
                  <a:tr h="838841">
                    <a:tc>
                      <a:txBody>
                        <a:bodyPr/>
                        <a:lstStyle/>
                        <a:p>
                          <a:pPr marL="0" marR="0">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Represent the second addend with integer chips.</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6753" marR="667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1000"/>
                            </a:spcAft>
                          </a:pP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6753" marR="667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5662276"/>
                      </a:ext>
                    </a:extLst>
                  </a:tr>
                  <a:tr h="838841">
                    <a:tc>
                      <a:txBody>
                        <a:bodyPr/>
                        <a:lstStyle/>
                        <a:p>
                          <a:pPr marL="0" marR="0">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Determine the number of zero pairs created, if any.</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6753" marR="667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6753" marR="667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625084"/>
                      </a:ext>
                    </a:extLst>
                  </a:tr>
                  <a:tr h="838841">
                    <a:tc gridSpan="2">
                      <a:txBody>
                        <a:bodyPr/>
                        <a:lstStyle/>
                        <a:p>
                          <a:pPr marL="0" marR="0">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Cross out the integer chips that represent zero pairs to indicate they are eliminated from the model.</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6753" marR="667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CO"/>
                        </a:p>
                      </a:txBody>
                      <a:tcPr/>
                    </a:tc>
                    <a:extLst>
                      <a:ext uri="{0D108BD9-81ED-4DB2-BD59-A6C34878D82A}">
                        <a16:rowId xmlns:a16="http://schemas.microsoft.com/office/drawing/2014/main" val="1561161087"/>
                      </a:ext>
                    </a:extLst>
                  </a:tr>
                  <a:tr h="841027">
                    <a:tc>
                      <a:txBody>
                        <a:bodyPr/>
                        <a:lstStyle/>
                        <a:p>
                          <a:pPr marL="0" marR="0">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Determine the sum using the number of integer chips remaining.</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6753" marR="667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6753" marR="667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5535" t="-435821" r="-314" b="-16418"/>
                          </a:stretch>
                        </a:blipFill>
                      </a:tcPr>
                    </a:tc>
                    <a:extLst>
                      <a:ext uri="{0D108BD9-81ED-4DB2-BD59-A6C34878D82A}">
                        <a16:rowId xmlns:a16="http://schemas.microsoft.com/office/drawing/2014/main" val="3029644687"/>
                      </a:ext>
                    </a:extLst>
                  </a:tr>
                </a:tbl>
              </a:graphicData>
            </a:graphic>
          </p:graphicFrame>
        </mc:Fallback>
      </mc:AlternateContent>
      <p:pic>
        <p:nvPicPr>
          <p:cNvPr id="18" name="image2.png" descr="A close up of a sign&#10;&#10;Description automatically generated">
            <a:extLst>
              <a:ext uri="{FF2B5EF4-FFF2-40B4-BE49-F238E27FC236}">
                <a16:creationId xmlns:a16="http://schemas.microsoft.com/office/drawing/2014/main" xmlns="" id="{0D4FD83D-3CF1-1D48-84E9-F0BF8210950B}"/>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6096000" y="2083258"/>
            <a:ext cx="502920" cy="502920"/>
          </a:xfrm>
          <a:prstGeom prst="rect">
            <a:avLst/>
          </a:prstGeom>
          <a:ln/>
        </p:spPr>
      </p:pic>
      <p:pic>
        <p:nvPicPr>
          <p:cNvPr id="19" name="image2.png" descr="A close up of a sign&#10;&#10;Description automatically generated">
            <a:extLst>
              <a:ext uri="{FF2B5EF4-FFF2-40B4-BE49-F238E27FC236}">
                <a16:creationId xmlns:a16="http://schemas.microsoft.com/office/drawing/2014/main" xmlns="" id="{622B9356-7AD8-7749-927A-EA72615CBAFE}"/>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6650636" y="2083258"/>
            <a:ext cx="502920" cy="502920"/>
          </a:xfrm>
          <a:prstGeom prst="rect">
            <a:avLst/>
          </a:prstGeom>
          <a:ln/>
        </p:spPr>
      </p:pic>
      <p:pic>
        <p:nvPicPr>
          <p:cNvPr id="20" name="image2.png" descr="A close up of a sign&#10;&#10;Description automatically generated">
            <a:extLst>
              <a:ext uri="{FF2B5EF4-FFF2-40B4-BE49-F238E27FC236}">
                <a16:creationId xmlns:a16="http://schemas.microsoft.com/office/drawing/2014/main" xmlns="" id="{F6D104DC-EFD4-6E44-AE2D-7F8A3FF4AF59}"/>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7205272" y="2083258"/>
            <a:ext cx="502920" cy="502920"/>
          </a:xfrm>
          <a:prstGeom prst="rect">
            <a:avLst/>
          </a:prstGeom>
          <a:ln/>
        </p:spPr>
      </p:pic>
      <p:pic>
        <p:nvPicPr>
          <p:cNvPr id="21" name="image2.png" descr="A close up of a sign&#10;&#10;Description automatically generated">
            <a:extLst>
              <a:ext uri="{FF2B5EF4-FFF2-40B4-BE49-F238E27FC236}">
                <a16:creationId xmlns:a16="http://schemas.microsoft.com/office/drawing/2014/main" xmlns="" id="{E09E9E0C-2371-AF4A-8B18-B911714DEA63}"/>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7774898" y="2083258"/>
            <a:ext cx="502920" cy="502920"/>
          </a:xfrm>
          <a:prstGeom prst="rect">
            <a:avLst/>
          </a:prstGeom>
          <a:ln/>
        </p:spPr>
      </p:pic>
      <p:pic>
        <p:nvPicPr>
          <p:cNvPr id="22" name="image1.png" descr="A picture containing clock&#10;&#10;Description automatically generated">
            <a:extLst>
              <a:ext uri="{FF2B5EF4-FFF2-40B4-BE49-F238E27FC236}">
                <a16:creationId xmlns:a16="http://schemas.microsoft.com/office/drawing/2014/main" xmlns="" id="{7404AB6E-CD3F-E64F-BD1A-76D359F95B08}"/>
              </a:ext>
            </a:extLst>
          </p:cNvPr>
          <p:cNvPicPr>
            <a:picLocks noChangeAspect="1"/>
          </p:cNvPicPr>
          <p:nvPr/>
        </p:nvPicPr>
        <p:blipFill>
          <a:blip r:embed="rId7" cstate="screen">
            <a:extLst>
              <a:ext uri="{28A0092B-C50C-407E-A947-70E740481C1C}">
                <a14:useLocalDpi xmlns:a14="http://schemas.microsoft.com/office/drawing/2010/main"/>
              </a:ext>
            </a:extLst>
          </a:blip>
          <a:srcRect/>
          <a:stretch>
            <a:fillRect/>
          </a:stretch>
        </p:blipFill>
        <p:spPr>
          <a:xfrm>
            <a:off x="6025094" y="2930723"/>
            <a:ext cx="502920" cy="502920"/>
          </a:xfrm>
          <a:prstGeom prst="rect">
            <a:avLst/>
          </a:prstGeom>
          <a:ln/>
        </p:spPr>
      </p:pic>
      <p:pic>
        <p:nvPicPr>
          <p:cNvPr id="23" name="image1.png" descr="A picture containing clock&#10;&#10;Description automatically generated">
            <a:extLst>
              <a:ext uri="{FF2B5EF4-FFF2-40B4-BE49-F238E27FC236}">
                <a16:creationId xmlns:a16="http://schemas.microsoft.com/office/drawing/2014/main" xmlns="" id="{25E590D0-C1F3-B447-B15E-10724D3947BD}"/>
              </a:ext>
            </a:extLst>
          </p:cNvPr>
          <p:cNvPicPr>
            <a:picLocks noChangeAspect="1"/>
          </p:cNvPicPr>
          <p:nvPr/>
        </p:nvPicPr>
        <p:blipFill>
          <a:blip r:embed="rId7" cstate="screen">
            <a:extLst>
              <a:ext uri="{28A0092B-C50C-407E-A947-70E740481C1C}">
                <a14:useLocalDpi xmlns:a14="http://schemas.microsoft.com/office/drawing/2010/main"/>
              </a:ext>
            </a:extLst>
          </a:blip>
          <a:srcRect/>
          <a:stretch>
            <a:fillRect/>
          </a:stretch>
        </p:blipFill>
        <p:spPr>
          <a:xfrm>
            <a:off x="6526026" y="2930723"/>
            <a:ext cx="502920" cy="502920"/>
          </a:xfrm>
          <a:prstGeom prst="rect">
            <a:avLst/>
          </a:prstGeom>
          <a:ln/>
        </p:spPr>
      </p:pic>
      <p:pic>
        <p:nvPicPr>
          <p:cNvPr id="24" name="image1.png" descr="A picture containing clock&#10;&#10;Description automatically generated">
            <a:extLst>
              <a:ext uri="{FF2B5EF4-FFF2-40B4-BE49-F238E27FC236}">
                <a16:creationId xmlns:a16="http://schemas.microsoft.com/office/drawing/2014/main" xmlns="" id="{7455B53A-6FB8-C44E-B050-11A7B8C1BCE4}"/>
              </a:ext>
            </a:extLst>
          </p:cNvPr>
          <p:cNvPicPr>
            <a:picLocks noChangeAspect="1"/>
          </p:cNvPicPr>
          <p:nvPr/>
        </p:nvPicPr>
        <p:blipFill>
          <a:blip r:embed="rId7" cstate="screen">
            <a:extLst>
              <a:ext uri="{28A0092B-C50C-407E-A947-70E740481C1C}">
                <a14:useLocalDpi xmlns:a14="http://schemas.microsoft.com/office/drawing/2010/main"/>
              </a:ext>
            </a:extLst>
          </a:blip>
          <a:srcRect/>
          <a:stretch>
            <a:fillRect/>
          </a:stretch>
        </p:blipFill>
        <p:spPr>
          <a:xfrm>
            <a:off x="7026958" y="2930723"/>
            <a:ext cx="502920" cy="502920"/>
          </a:xfrm>
          <a:prstGeom prst="rect">
            <a:avLst/>
          </a:prstGeom>
          <a:ln/>
        </p:spPr>
      </p:pic>
      <p:pic>
        <p:nvPicPr>
          <p:cNvPr id="26" name="image1.png" descr="A picture containing clock&#10;&#10;Description automatically generated">
            <a:extLst>
              <a:ext uri="{FF2B5EF4-FFF2-40B4-BE49-F238E27FC236}">
                <a16:creationId xmlns:a16="http://schemas.microsoft.com/office/drawing/2014/main" xmlns="" id="{0EFC058B-2EFF-D64F-9887-A9CB29C4DB8D}"/>
              </a:ext>
            </a:extLst>
          </p:cNvPr>
          <p:cNvPicPr>
            <a:picLocks noChangeAspect="1"/>
          </p:cNvPicPr>
          <p:nvPr/>
        </p:nvPicPr>
        <p:blipFill>
          <a:blip r:embed="rId7" cstate="screen">
            <a:extLst>
              <a:ext uri="{28A0092B-C50C-407E-A947-70E740481C1C}">
                <a14:useLocalDpi xmlns:a14="http://schemas.microsoft.com/office/drawing/2010/main"/>
              </a:ext>
            </a:extLst>
          </a:blip>
          <a:srcRect/>
          <a:stretch>
            <a:fillRect/>
          </a:stretch>
        </p:blipFill>
        <p:spPr>
          <a:xfrm>
            <a:off x="7527890" y="2930723"/>
            <a:ext cx="502920" cy="502920"/>
          </a:xfrm>
          <a:prstGeom prst="rect">
            <a:avLst/>
          </a:prstGeom>
          <a:ln/>
        </p:spPr>
      </p:pic>
      <p:pic>
        <p:nvPicPr>
          <p:cNvPr id="27" name="image1.png" descr="A picture containing clock&#10;&#10;Description automatically generated">
            <a:extLst>
              <a:ext uri="{FF2B5EF4-FFF2-40B4-BE49-F238E27FC236}">
                <a16:creationId xmlns:a16="http://schemas.microsoft.com/office/drawing/2014/main" xmlns="" id="{5498877D-A6AD-DB43-B9B7-14B6F16037E4}"/>
              </a:ext>
            </a:extLst>
          </p:cNvPr>
          <p:cNvPicPr>
            <a:picLocks noChangeAspect="1"/>
          </p:cNvPicPr>
          <p:nvPr/>
        </p:nvPicPr>
        <p:blipFill>
          <a:blip r:embed="rId7" cstate="screen">
            <a:extLst>
              <a:ext uri="{28A0092B-C50C-407E-A947-70E740481C1C}">
                <a14:useLocalDpi xmlns:a14="http://schemas.microsoft.com/office/drawing/2010/main"/>
              </a:ext>
            </a:extLst>
          </a:blip>
          <a:srcRect/>
          <a:stretch>
            <a:fillRect/>
          </a:stretch>
        </p:blipFill>
        <p:spPr>
          <a:xfrm>
            <a:off x="8028822" y="2930723"/>
            <a:ext cx="502920" cy="502920"/>
          </a:xfrm>
          <a:prstGeom prst="rect">
            <a:avLst/>
          </a:prstGeom>
          <a:ln/>
        </p:spPr>
      </p:pic>
      <p:pic>
        <p:nvPicPr>
          <p:cNvPr id="28" name="image1.png" descr="A picture containing clock&#10;&#10;Description automatically generated">
            <a:extLst>
              <a:ext uri="{FF2B5EF4-FFF2-40B4-BE49-F238E27FC236}">
                <a16:creationId xmlns:a16="http://schemas.microsoft.com/office/drawing/2014/main" xmlns="" id="{716C203B-2B64-3F41-8608-35C7C8C49EFF}"/>
              </a:ext>
            </a:extLst>
          </p:cNvPr>
          <p:cNvPicPr>
            <a:picLocks noChangeAspect="1"/>
          </p:cNvPicPr>
          <p:nvPr/>
        </p:nvPicPr>
        <p:blipFill>
          <a:blip r:embed="rId7" cstate="screen">
            <a:extLst>
              <a:ext uri="{28A0092B-C50C-407E-A947-70E740481C1C}">
                <a14:useLocalDpi xmlns:a14="http://schemas.microsoft.com/office/drawing/2010/main"/>
              </a:ext>
            </a:extLst>
          </a:blip>
          <a:srcRect/>
          <a:stretch>
            <a:fillRect/>
          </a:stretch>
        </p:blipFill>
        <p:spPr>
          <a:xfrm>
            <a:off x="8529754" y="2930723"/>
            <a:ext cx="502920" cy="502920"/>
          </a:xfrm>
          <a:prstGeom prst="rect">
            <a:avLst/>
          </a:prstGeom>
          <a:ln/>
        </p:spPr>
      </p:pic>
      <p:pic>
        <p:nvPicPr>
          <p:cNvPr id="29" name="image1.png" descr="A picture containing clock&#10;&#10;Description automatically generated">
            <a:extLst>
              <a:ext uri="{FF2B5EF4-FFF2-40B4-BE49-F238E27FC236}">
                <a16:creationId xmlns:a16="http://schemas.microsoft.com/office/drawing/2014/main" xmlns="" id="{C880E47C-10F9-6246-8BB8-346AC31F71D2}"/>
              </a:ext>
            </a:extLst>
          </p:cNvPr>
          <p:cNvPicPr>
            <a:picLocks noChangeAspect="1"/>
          </p:cNvPicPr>
          <p:nvPr/>
        </p:nvPicPr>
        <p:blipFill>
          <a:blip r:embed="rId7" cstate="screen">
            <a:extLst>
              <a:ext uri="{28A0092B-C50C-407E-A947-70E740481C1C}">
                <a14:useLocalDpi xmlns:a14="http://schemas.microsoft.com/office/drawing/2010/main"/>
              </a:ext>
            </a:extLst>
          </a:blip>
          <a:srcRect/>
          <a:stretch>
            <a:fillRect/>
          </a:stretch>
        </p:blipFill>
        <p:spPr>
          <a:xfrm>
            <a:off x="9030686" y="2930723"/>
            <a:ext cx="502920" cy="502920"/>
          </a:xfrm>
          <a:prstGeom prst="rect">
            <a:avLst/>
          </a:prstGeom>
          <a:ln/>
        </p:spPr>
      </p:pic>
    </p:spTree>
    <p:extLst>
      <p:ext uri="{BB962C8B-B14F-4D97-AF65-F5344CB8AC3E}">
        <p14:creationId xmlns:p14="http://schemas.microsoft.com/office/powerpoint/2010/main" val="25143633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A66A031F-2EC8-DF4C-B3F5-E7AC5B8F3239}"/>
              </a:ext>
            </a:extLst>
          </p:cNvPr>
          <p:cNvSpPr/>
          <p:nvPr/>
        </p:nvSpPr>
        <p:spPr>
          <a:xfrm>
            <a:off x="397501" y="883199"/>
            <a:ext cx="11354232" cy="830997"/>
          </a:xfrm>
          <a:prstGeom prst="rect">
            <a:avLst/>
          </a:prstGeom>
        </p:spPr>
        <p:txBody>
          <a:bodyPr wrap="square">
            <a:spAutoFit/>
          </a:bodyPr>
          <a:lstStyle/>
          <a:p>
            <a:pPr marL="468313" indent="-457200">
              <a:buSzPts val="18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What do you notice about the remaining integer chips and the sign of the sum? </a:t>
            </a:r>
          </a:p>
        </p:txBody>
      </p:sp>
      <p:sp>
        <p:nvSpPr>
          <p:cNvPr id="13" name="Google Shape;282;g104476d1465_1_17">
            <a:extLst>
              <a:ext uri="{FF2B5EF4-FFF2-40B4-BE49-F238E27FC236}">
                <a16:creationId xmlns:a16="http://schemas.microsoft.com/office/drawing/2014/main" xmlns="" id="{38A626CB-082C-DB4E-B059-328DCC8AD138}"/>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a:t>
            </a:r>
            <a:endParaRPr i="1" dirty="0">
              <a:latin typeface="Calibri"/>
              <a:ea typeface="Calibri"/>
              <a:cs typeface="Calibri"/>
              <a:sym typeface="Calibri"/>
            </a:endParaRPr>
          </a:p>
        </p:txBody>
      </p:sp>
    </p:spTree>
    <p:extLst>
      <p:ext uri="{BB962C8B-B14F-4D97-AF65-F5344CB8AC3E}">
        <p14:creationId xmlns:p14="http://schemas.microsoft.com/office/powerpoint/2010/main" val="25305813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A66A031F-2EC8-DF4C-B3F5-E7AC5B8F3239}"/>
              </a:ext>
            </a:extLst>
          </p:cNvPr>
          <p:cNvSpPr/>
          <p:nvPr/>
        </p:nvSpPr>
        <p:spPr>
          <a:xfrm>
            <a:off x="488742" y="391976"/>
            <a:ext cx="11116236" cy="400110"/>
          </a:xfrm>
          <a:prstGeom prst="rect">
            <a:avLst/>
          </a:prstGeom>
        </p:spPr>
        <p:txBody>
          <a:bodyPr wrap="square">
            <a:spAutoFit/>
          </a:bodyPr>
          <a:lstStyle/>
          <a:p>
            <a:pPr marL="468313" indent="-457200">
              <a:buSzPts val="1800"/>
              <a:buFont typeface="+mj-lt"/>
              <a:buAutoNum type="arabicPeriod" startAt="5"/>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to complete the table. The first row is completed.</a:t>
            </a:r>
          </a:p>
        </p:txBody>
      </p:sp>
      <p:sp>
        <p:nvSpPr>
          <p:cNvPr id="13" name="Google Shape;282;g104476d1465_1_17">
            <a:extLst>
              <a:ext uri="{FF2B5EF4-FFF2-40B4-BE49-F238E27FC236}">
                <a16:creationId xmlns:a16="http://schemas.microsoft.com/office/drawing/2014/main" xmlns="" id="{38A626CB-082C-DB4E-B059-328DCC8AD138}"/>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xmlns="" id="{150D6D38-78D1-0C4E-9F25-639EAF7EE967}"/>
                  </a:ext>
                </a:extLst>
              </p:cNvPr>
              <p:cNvGraphicFramePr>
                <a:graphicFrameLocks noGrp="1"/>
              </p:cNvGraphicFramePr>
              <p:nvPr>
                <p:extLst>
                  <p:ext uri="{D42A27DB-BD31-4B8C-83A1-F6EECF244321}">
                    <p14:modId xmlns:p14="http://schemas.microsoft.com/office/powerpoint/2010/main" val="2239961341"/>
                  </p:ext>
                </p:extLst>
              </p:nvPr>
            </p:nvGraphicFramePr>
            <p:xfrm>
              <a:off x="2309827" y="1249157"/>
              <a:ext cx="7572344" cy="4351337"/>
            </p:xfrm>
            <a:graphic>
              <a:graphicData uri="http://schemas.openxmlformats.org/drawingml/2006/table">
                <a:tbl>
                  <a:tblPr bandRow="1">
                    <a:tableStyleId>{A91F0D33-8C57-4600-99A7-42BC86742BE1}</a:tableStyleId>
                  </a:tblPr>
                  <a:tblGrid>
                    <a:gridCol w="1889063">
                      <a:extLst>
                        <a:ext uri="{9D8B030D-6E8A-4147-A177-3AD203B41FA5}">
                          <a16:colId xmlns:a16="http://schemas.microsoft.com/office/drawing/2014/main" xmlns="" val="2577586364"/>
                        </a:ext>
                      </a:extLst>
                    </a:gridCol>
                    <a:gridCol w="1365023">
                      <a:extLst>
                        <a:ext uri="{9D8B030D-6E8A-4147-A177-3AD203B41FA5}">
                          <a16:colId xmlns:a16="http://schemas.microsoft.com/office/drawing/2014/main" xmlns="" val="2761940946"/>
                        </a:ext>
                      </a:extLst>
                    </a:gridCol>
                    <a:gridCol w="2566326">
                      <a:extLst>
                        <a:ext uri="{9D8B030D-6E8A-4147-A177-3AD203B41FA5}">
                          <a16:colId xmlns:a16="http://schemas.microsoft.com/office/drawing/2014/main" xmlns="" val="2416380281"/>
                        </a:ext>
                      </a:extLst>
                    </a:gridCol>
                    <a:gridCol w="1001204">
                      <a:extLst>
                        <a:ext uri="{9D8B030D-6E8A-4147-A177-3AD203B41FA5}">
                          <a16:colId xmlns:a16="http://schemas.microsoft.com/office/drawing/2014/main" xmlns="" val="2450153338"/>
                        </a:ext>
                      </a:extLst>
                    </a:gridCol>
                    <a:gridCol w="750728">
                      <a:extLst>
                        <a:ext uri="{9D8B030D-6E8A-4147-A177-3AD203B41FA5}">
                          <a16:colId xmlns:a16="http://schemas.microsoft.com/office/drawing/2014/main" xmlns="" val="4253228688"/>
                        </a:ext>
                      </a:extLst>
                    </a:gridCol>
                  </a:tblGrid>
                  <a:tr h="708883">
                    <a:tc>
                      <a:txBody>
                        <a:bodyPr/>
                        <a:lstStyle/>
                        <a:p>
                          <a:pPr marL="0" marR="0" algn="ctr">
                            <a:spcBef>
                              <a:spcPts val="0"/>
                            </a:spcBef>
                            <a:spcAft>
                              <a:spcPts val="100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Mathematical</a:t>
                          </a:r>
                          <a:br>
                            <a:rPr lang="en-US" sz="1600" b="1" dirty="0">
                              <a:effectLst/>
                              <a:latin typeface="Verdana" panose="020B0604030504040204" pitchFamily="34" charset="0"/>
                              <a:ea typeface="Verdana" panose="020B0604030504040204" pitchFamily="34" charset="0"/>
                              <a:cs typeface="Verdana" panose="020B0604030504040204" pitchFamily="34" charset="0"/>
                            </a:rPr>
                          </a:br>
                          <a:r>
                            <a:rPr lang="en-US" sz="1600" b="1" dirty="0">
                              <a:effectLst/>
                              <a:latin typeface="Verdana" panose="020B0604030504040204" pitchFamily="34" charset="0"/>
                              <a:ea typeface="Verdana" panose="020B0604030504040204" pitchFamily="34" charset="0"/>
                              <a:cs typeface="Verdana" panose="020B0604030504040204" pitchFamily="34" charset="0"/>
                            </a:rPr>
                            <a:t>Expression</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2651" marR="6265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Money Sentence</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2651" marR="6265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Integer Chips</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2651" marR="6265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Sign of Sum</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2651" marR="6265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Sum</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2651" marR="6265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3022898012"/>
                      </a:ext>
                    </a:extLst>
                  </a:tr>
                  <a:tr h="1731021">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4+(−2)</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2651" marR="6265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I earn </a:t>
                          </a:r>
                          <a14:m>
                            <m:oMath xmlns:m="http://schemas.openxmlformats.org/officeDocument/2006/math">
                              <m:r>
                                <a:rPr lang="en-US" sz="1800">
                                  <a:effectLst/>
                                  <a:latin typeface="Cambria Math" panose="02040503050406030204" pitchFamily="18" charset="0"/>
                                </a:rPr>
                                <m:t>$4</m:t>
                              </m:r>
                            </m:oMath>
                          </a14:m>
                          <a:r>
                            <a:rPr lang="en-US" sz="1800">
                              <a:effectLst/>
                              <a:latin typeface="Verdana" panose="020B0604030504040204" pitchFamily="34" charset="0"/>
                              <a:ea typeface="Verdana" panose="020B0604030504040204" pitchFamily="34" charset="0"/>
                              <a:cs typeface="Verdana" panose="020B0604030504040204" pitchFamily="34" charset="0"/>
                            </a:rPr>
                            <a:t> and spend </a:t>
                          </a:r>
                          <a14:m>
                            <m:oMath xmlns:m="http://schemas.openxmlformats.org/officeDocument/2006/math">
                              <m:r>
                                <a:rPr lang="en-US" sz="1800">
                                  <a:effectLst/>
                                  <a:latin typeface="Cambria Math" panose="02040503050406030204" pitchFamily="18" charset="0"/>
                                </a:rPr>
                                <m:t>$2</m:t>
                              </m:r>
                            </m:oMath>
                          </a14:m>
                          <a:r>
                            <a:rPr lang="en-US" sz="1800">
                              <a:effectLst/>
                              <a:latin typeface="Verdana" panose="020B0604030504040204" pitchFamily="34" charset="0"/>
                              <a:ea typeface="Verdana" panose="020B0604030504040204" pitchFamily="34" charset="0"/>
                              <a:cs typeface="Verdana" panose="020B0604030504040204" pitchFamily="34" charset="0"/>
                            </a:rPr>
                            <a:t>.</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2651" marR="6265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1000"/>
                            </a:spcAft>
                          </a:pPr>
                          <a:endParaRPr lang="en-US" sz="1600" dirty="0">
                            <a:effectLst/>
                            <a:latin typeface="Verdana" panose="020B0604030504040204" pitchFamily="34" charset="0"/>
                            <a:ea typeface="Verdana" panose="020B0604030504040204" pitchFamily="34" charset="0"/>
                            <a:cs typeface="Verdana" panose="020B0604030504040204" pitchFamily="34" charset="0"/>
                          </a:endParaRPr>
                        </a:p>
                      </a:txBody>
                      <a:tcPr marL="62651" marR="6265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2651" marR="6265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2651" marR="6265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199205325"/>
                      </a:ext>
                    </a:extLst>
                  </a:tr>
                  <a:tr h="1911433">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3+(−6)</m:t>
                                </m:r>
                              </m:oMath>
                            </m:oMathPara>
                          </a14:m>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2651" marR="6265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2651" marR="6265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2651" marR="6265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2651" marR="6265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2651" marR="6265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146856516"/>
                      </a:ext>
                    </a:extLst>
                  </a:tr>
                </a:tbl>
              </a:graphicData>
            </a:graphic>
          </p:graphicFrame>
        </mc:Choice>
        <mc:Fallback xmlns="">
          <p:graphicFrame>
            <p:nvGraphicFramePr>
              <p:cNvPr id="3" name="Table 2">
                <a:extLst>
                  <a:ext uri="{FF2B5EF4-FFF2-40B4-BE49-F238E27FC236}">
                    <a16:creationId xmlns:a16="http://schemas.microsoft.com/office/drawing/2014/main" id="{150D6D38-78D1-0C4E-9F25-639EAF7EE967}"/>
                  </a:ext>
                </a:extLst>
              </p:cNvPr>
              <p:cNvGraphicFramePr>
                <a:graphicFrameLocks noGrp="1"/>
              </p:cNvGraphicFramePr>
              <p:nvPr>
                <p:extLst>
                  <p:ext uri="{D42A27DB-BD31-4B8C-83A1-F6EECF244321}">
                    <p14:modId xmlns:p14="http://schemas.microsoft.com/office/powerpoint/2010/main" val="2239961341"/>
                  </p:ext>
                </p:extLst>
              </p:nvPr>
            </p:nvGraphicFramePr>
            <p:xfrm>
              <a:off x="2309827" y="1249157"/>
              <a:ext cx="7572344" cy="4351337"/>
            </p:xfrm>
            <a:graphic>
              <a:graphicData uri="http://schemas.openxmlformats.org/drawingml/2006/table">
                <a:tbl>
                  <a:tblPr bandRow="1">
                    <a:tableStyleId>{A91F0D33-8C57-4600-99A7-42BC86742BE1}</a:tableStyleId>
                  </a:tblPr>
                  <a:tblGrid>
                    <a:gridCol w="1889063">
                      <a:extLst>
                        <a:ext uri="{9D8B030D-6E8A-4147-A177-3AD203B41FA5}">
                          <a16:colId xmlns:a16="http://schemas.microsoft.com/office/drawing/2014/main" val="2577586364"/>
                        </a:ext>
                      </a:extLst>
                    </a:gridCol>
                    <a:gridCol w="1365023">
                      <a:extLst>
                        <a:ext uri="{9D8B030D-6E8A-4147-A177-3AD203B41FA5}">
                          <a16:colId xmlns:a16="http://schemas.microsoft.com/office/drawing/2014/main" val="2761940946"/>
                        </a:ext>
                      </a:extLst>
                    </a:gridCol>
                    <a:gridCol w="2566326">
                      <a:extLst>
                        <a:ext uri="{9D8B030D-6E8A-4147-A177-3AD203B41FA5}">
                          <a16:colId xmlns:a16="http://schemas.microsoft.com/office/drawing/2014/main" val="2416380281"/>
                        </a:ext>
                      </a:extLst>
                    </a:gridCol>
                    <a:gridCol w="1001204">
                      <a:extLst>
                        <a:ext uri="{9D8B030D-6E8A-4147-A177-3AD203B41FA5}">
                          <a16:colId xmlns:a16="http://schemas.microsoft.com/office/drawing/2014/main" val="2450153338"/>
                        </a:ext>
                      </a:extLst>
                    </a:gridCol>
                    <a:gridCol w="750728">
                      <a:extLst>
                        <a:ext uri="{9D8B030D-6E8A-4147-A177-3AD203B41FA5}">
                          <a16:colId xmlns:a16="http://schemas.microsoft.com/office/drawing/2014/main" val="4253228688"/>
                        </a:ext>
                      </a:extLst>
                    </a:gridCol>
                  </a:tblGrid>
                  <a:tr h="708883">
                    <a:tc>
                      <a:txBody>
                        <a:bodyPr/>
                        <a:lstStyle/>
                        <a:p>
                          <a:pPr marL="0" marR="0" algn="ctr">
                            <a:spcBef>
                              <a:spcPts val="0"/>
                            </a:spcBef>
                            <a:spcAft>
                              <a:spcPts val="100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Mathematical</a:t>
                          </a:r>
                          <a:br>
                            <a:rPr lang="en-US" sz="1600" b="1" dirty="0">
                              <a:effectLst/>
                              <a:latin typeface="Verdana" panose="020B0604030504040204" pitchFamily="34" charset="0"/>
                              <a:ea typeface="Verdana" panose="020B0604030504040204" pitchFamily="34" charset="0"/>
                              <a:cs typeface="Verdana" panose="020B0604030504040204" pitchFamily="34" charset="0"/>
                            </a:rPr>
                          </a:br>
                          <a:r>
                            <a:rPr lang="en-US" sz="1600" b="1" dirty="0">
                              <a:effectLst/>
                              <a:latin typeface="Verdana" panose="020B0604030504040204" pitchFamily="34" charset="0"/>
                              <a:ea typeface="Verdana" panose="020B0604030504040204" pitchFamily="34" charset="0"/>
                              <a:cs typeface="Verdana" panose="020B0604030504040204" pitchFamily="34" charset="0"/>
                            </a:rPr>
                            <a:t>Expression</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2651" marR="6265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Money Sentence</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2651" marR="6265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Integer Chips</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2651" marR="6265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Sign of Sum</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2651" marR="6265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600" b="1" dirty="0">
                              <a:effectLst/>
                              <a:latin typeface="Verdana" panose="020B0604030504040204" pitchFamily="34" charset="0"/>
                              <a:ea typeface="Verdana" panose="020B0604030504040204" pitchFamily="34" charset="0"/>
                              <a:cs typeface="Verdana" panose="020B0604030504040204" pitchFamily="34" charset="0"/>
                            </a:rPr>
                            <a:t>Sum</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2651" marR="6265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022898012"/>
                      </a:ext>
                    </a:extLst>
                  </a:tr>
                  <a:tr h="1731021">
                    <a:tc>
                      <a:txBody>
                        <a:bodyPr/>
                        <a:lstStyle/>
                        <a:p>
                          <a:endParaRPr lang="en-US"/>
                        </a:p>
                      </a:txBody>
                      <a:tcPr marL="62651" marR="6265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71" t="-41912" r="-302013" b="-112500"/>
                          </a:stretch>
                        </a:blipFill>
                      </a:tcPr>
                    </a:tc>
                    <a:tc>
                      <a:txBody>
                        <a:bodyPr/>
                        <a:lstStyle/>
                        <a:p>
                          <a:endParaRPr lang="en-US"/>
                        </a:p>
                      </a:txBody>
                      <a:tcPr marL="62651" marR="6265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38889" t="-41912" r="-316667" b="-112500"/>
                          </a:stretch>
                        </a:blipFill>
                      </a:tcPr>
                    </a:tc>
                    <a:tc>
                      <a:txBody>
                        <a:bodyPr/>
                        <a:lstStyle/>
                        <a:p>
                          <a:pPr marL="0" marR="0">
                            <a:spcBef>
                              <a:spcPts val="0"/>
                            </a:spcBef>
                            <a:spcAft>
                              <a:spcPts val="1000"/>
                            </a:spcAft>
                          </a:pPr>
                          <a:endParaRPr lang="en-US" sz="1600" dirty="0">
                            <a:effectLst/>
                            <a:latin typeface="Verdana" panose="020B0604030504040204" pitchFamily="34" charset="0"/>
                            <a:ea typeface="Verdana" panose="020B0604030504040204" pitchFamily="34" charset="0"/>
                            <a:cs typeface="Verdana" panose="020B0604030504040204" pitchFamily="34" charset="0"/>
                          </a:endParaRPr>
                        </a:p>
                      </a:txBody>
                      <a:tcPr marL="62651" marR="6265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2651" marR="6265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83544" t="-41912" r="-75949" b="-112500"/>
                          </a:stretch>
                        </a:blipFill>
                      </a:tcPr>
                    </a:tc>
                    <a:tc>
                      <a:txBody>
                        <a:bodyPr/>
                        <a:lstStyle/>
                        <a:p>
                          <a:endParaRPr lang="en-US"/>
                        </a:p>
                      </a:txBody>
                      <a:tcPr marL="62651" marR="6265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915254" t="-41912" r="-1695" b="-112500"/>
                          </a:stretch>
                        </a:blipFill>
                      </a:tcPr>
                    </a:tc>
                    <a:extLst>
                      <a:ext uri="{0D108BD9-81ED-4DB2-BD59-A6C34878D82A}">
                        <a16:rowId xmlns:a16="http://schemas.microsoft.com/office/drawing/2014/main" val="4199205325"/>
                      </a:ext>
                    </a:extLst>
                  </a:tr>
                  <a:tr h="1911433">
                    <a:tc>
                      <a:txBody>
                        <a:bodyPr/>
                        <a:lstStyle/>
                        <a:p>
                          <a:endParaRPr lang="en-US"/>
                        </a:p>
                      </a:txBody>
                      <a:tcPr marL="62651" marR="6265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71" t="-127815" r="-302013" b="-1325"/>
                          </a:stretch>
                        </a:blipFill>
                      </a:tcPr>
                    </a:tc>
                    <a:tc>
                      <a:txBody>
                        <a:bodyPr/>
                        <a:lstStyle/>
                        <a:p>
                          <a:pPr marL="0" marR="0" algn="ctr">
                            <a:spcBef>
                              <a:spcPts val="0"/>
                            </a:spcBef>
                            <a:spcAft>
                              <a:spcPts val="100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2651" marR="6265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2651" marR="6265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6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2651" marR="6265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2651" marR="6265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6856516"/>
                      </a:ext>
                    </a:extLst>
                  </a:tr>
                </a:tbl>
              </a:graphicData>
            </a:graphic>
          </p:graphicFrame>
        </mc:Fallback>
      </mc:AlternateContent>
      <p:pic>
        <p:nvPicPr>
          <p:cNvPr id="14" name="image2.png" descr="A close up of a sign&#10;&#10;Description automatically generated">
            <a:extLst>
              <a:ext uri="{FF2B5EF4-FFF2-40B4-BE49-F238E27FC236}">
                <a16:creationId xmlns:a16="http://schemas.microsoft.com/office/drawing/2014/main" xmlns="" id="{4F1F0720-7CA8-0743-9AFA-F5ADCB341B64}"/>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5759687" y="1976811"/>
            <a:ext cx="548640" cy="548640"/>
          </a:xfrm>
          <a:prstGeom prst="rect">
            <a:avLst/>
          </a:prstGeom>
          <a:ln/>
        </p:spPr>
      </p:pic>
      <p:pic>
        <p:nvPicPr>
          <p:cNvPr id="15" name="image1.png" descr="A picture containing clock&#10;&#10;Description automatically generated">
            <a:extLst>
              <a:ext uri="{FF2B5EF4-FFF2-40B4-BE49-F238E27FC236}">
                <a16:creationId xmlns:a16="http://schemas.microsoft.com/office/drawing/2014/main" xmlns="" id="{F3B64C47-A204-744A-BCE1-F0A9BDB873B8}"/>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5759687" y="3123687"/>
            <a:ext cx="548640" cy="548640"/>
          </a:xfrm>
          <a:prstGeom prst="rect">
            <a:avLst/>
          </a:prstGeom>
          <a:ln/>
        </p:spPr>
      </p:pic>
      <p:pic>
        <p:nvPicPr>
          <p:cNvPr id="16" name="image2.png" descr="A close up of a sign&#10;&#10;Description automatically generated">
            <a:extLst>
              <a:ext uri="{FF2B5EF4-FFF2-40B4-BE49-F238E27FC236}">
                <a16:creationId xmlns:a16="http://schemas.microsoft.com/office/drawing/2014/main" xmlns="" id="{C4D7BD29-5232-5B44-B336-BB38A2DB6999}"/>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6317626" y="1976811"/>
            <a:ext cx="548640" cy="548640"/>
          </a:xfrm>
          <a:prstGeom prst="rect">
            <a:avLst/>
          </a:prstGeom>
          <a:ln/>
        </p:spPr>
      </p:pic>
      <p:pic>
        <p:nvPicPr>
          <p:cNvPr id="17" name="image2.png" descr="A close up of a sign&#10;&#10;Description automatically generated">
            <a:extLst>
              <a:ext uri="{FF2B5EF4-FFF2-40B4-BE49-F238E27FC236}">
                <a16:creationId xmlns:a16="http://schemas.microsoft.com/office/drawing/2014/main" xmlns="" id="{1A1DC648-DFD6-5440-9B1C-97AAF9F5F0B9}"/>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6891063" y="1976811"/>
            <a:ext cx="548640" cy="548640"/>
          </a:xfrm>
          <a:prstGeom prst="rect">
            <a:avLst/>
          </a:prstGeom>
          <a:ln/>
        </p:spPr>
      </p:pic>
      <p:pic>
        <p:nvPicPr>
          <p:cNvPr id="18" name="image2.png" descr="A close up of a sign&#10;&#10;Description automatically generated">
            <a:extLst>
              <a:ext uri="{FF2B5EF4-FFF2-40B4-BE49-F238E27FC236}">
                <a16:creationId xmlns:a16="http://schemas.microsoft.com/office/drawing/2014/main" xmlns="" id="{EE0693DB-3019-0443-99F0-25C96F795029}"/>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5759687" y="2550249"/>
            <a:ext cx="548640" cy="548640"/>
          </a:xfrm>
          <a:prstGeom prst="rect">
            <a:avLst/>
          </a:prstGeom>
          <a:ln/>
        </p:spPr>
      </p:pic>
      <p:pic>
        <p:nvPicPr>
          <p:cNvPr id="19" name="image1.png" descr="A picture containing clock&#10;&#10;Description automatically generated">
            <a:extLst>
              <a:ext uri="{FF2B5EF4-FFF2-40B4-BE49-F238E27FC236}">
                <a16:creationId xmlns:a16="http://schemas.microsoft.com/office/drawing/2014/main" xmlns="" id="{C0F1BB4C-3A9B-D540-8996-27D82178605C}"/>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6302128" y="3123687"/>
            <a:ext cx="548640" cy="548640"/>
          </a:xfrm>
          <a:prstGeom prst="rect">
            <a:avLst/>
          </a:prstGeom>
          <a:ln/>
        </p:spPr>
      </p:pic>
    </p:spTree>
    <p:extLst>
      <p:ext uri="{BB962C8B-B14F-4D97-AF65-F5344CB8AC3E}">
        <p14:creationId xmlns:p14="http://schemas.microsoft.com/office/powerpoint/2010/main" val="32553024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282;g104476d1465_1_17">
            <a:extLst>
              <a:ext uri="{FF2B5EF4-FFF2-40B4-BE49-F238E27FC236}">
                <a16:creationId xmlns:a16="http://schemas.microsoft.com/office/drawing/2014/main" xmlns="" id="{38A626CB-082C-DB4E-B059-328DCC8AD138}"/>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xmlns="" id="{A48FE8E5-1661-9847-8161-358F8C3FEA78}"/>
                  </a:ext>
                </a:extLst>
              </p:cNvPr>
              <p:cNvGraphicFramePr>
                <a:graphicFrameLocks noGrp="1"/>
              </p:cNvGraphicFramePr>
              <p:nvPr>
                <p:extLst>
                  <p:ext uri="{D42A27DB-BD31-4B8C-83A1-F6EECF244321}">
                    <p14:modId xmlns:p14="http://schemas.microsoft.com/office/powerpoint/2010/main" val="1211757887"/>
                  </p:ext>
                </p:extLst>
              </p:nvPr>
            </p:nvGraphicFramePr>
            <p:xfrm>
              <a:off x="2450363" y="1444020"/>
              <a:ext cx="7291275" cy="4184650"/>
            </p:xfrm>
            <a:graphic>
              <a:graphicData uri="http://schemas.openxmlformats.org/drawingml/2006/table">
                <a:tbl>
                  <a:tblPr bandRow="1">
                    <a:tableStyleId>{A91F0D33-8C57-4600-99A7-42BC86742BE1}</a:tableStyleId>
                  </a:tblPr>
                  <a:tblGrid>
                    <a:gridCol w="1818945">
                      <a:extLst>
                        <a:ext uri="{9D8B030D-6E8A-4147-A177-3AD203B41FA5}">
                          <a16:colId xmlns:a16="http://schemas.microsoft.com/office/drawing/2014/main" xmlns="" val="2591559880"/>
                        </a:ext>
                      </a:extLst>
                    </a:gridCol>
                    <a:gridCol w="1314356">
                      <a:extLst>
                        <a:ext uri="{9D8B030D-6E8A-4147-A177-3AD203B41FA5}">
                          <a16:colId xmlns:a16="http://schemas.microsoft.com/office/drawing/2014/main" xmlns="" val="346393653"/>
                        </a:ext>
                      </a:extLst>
                    </a:gridCol>
                    <a:gridCol w="2471070">
                      <a:extLst>
                        <a:ext uri="{9D8B030D-6E8A-4147-A177-3AD203B41FA5}">
                          <a16:colId xmlns:a16="http://schemas.microsoft.com/office/drawing/2014/main" xmlns="" val="3188189187"/>
                        </a:ext>
                      </a:extLst>
                    </a:gridCol>
                    <a:gridCol w="964041">
                      <a:extLst>
                        <a:ext uri="{9D8B030D-6E8A-4147-A177-3AD203B41FA5}">
                          <a16:colId xmlns:a16="http://schemas.microsoft.com/office/drawing/2014/main" xmlns="" val="2279780809"/>
                        </a:ext>
                      </a:extLst>
                    </a:gridCol>
                    <a:gridCol w="722863">
                      <a:extLst>
                        <a:ext uri="{9D8B030D-6E8A-4147-A177-3AD203B41FA5}">
                          <a16:colId xmlns:a16="http://schemas.microsoft.com/office/drawing/2014/main" xmlns="" val="2555276663"/>
                        </a:ext>
                      </a:extLst>
                    </a:gridCol>
                  </a:tblGrid>
                  <a:tr h="2092325">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sPre>
                                  <m:sPrePr>
                                    <m:ctrlPr>
                                      <a:rPr lang="x-none" sz="1800" i="1">
                                        <a:effectLst/>
                                        <a:latin typeface="Cambria Math"/>
                                      </a:rPr>
                                    </m:ctrlPr>
                                  </m:sPrePr>
                                  <m:sub/>
                                  <m:sup>
                                    <m:r>
                                      <a:rPr lang="en-US" sz="1800">
                                        <a:effectLst/>
                                        <a:latin typeface="Cambria Math" panose="02040503050406030204" pitchFamily="18" charset="0"/>
                                      </a:rPr>
                                      <m:t>−</m:t>
                                    </m:r>
                                  </m:sup>
                                  <m:e>
                                    <m:r>
                                      <a:rPr lang="en-US" sz="1800">
                                        <a:effectLst/>
                                        <a:latin typeface="Cambria Math" panose="02040503050406030204" pitchFamily="18" charset="0"/>
                                      </a:rPr>
                                      <m:t>7</m:t>
                                    </m:r>
                                  </m:e>
                                </m:sPre>
                                <m:r>
                                  <a:rPr lang="en-US" sz="1800">
                                    <a:effectLst/>
                                    <a:latin typeface="Cambria Math" panose="02040503050406030204" pitchFamily="18" charset="0"/>
                                  </a:rPr>
                                  <m:t>+5</m:t>
                                </m:r>
                              </m:oMath>
                            </m:oMathPara>
                          </a14:m>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600">
                              <a:effectLst/>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600">
                              <a:effectLst/>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600">
                              <a:effectLst/>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600">
                              <a:effectLst/>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495845670"/>
                      </a:ext>
                    </a:extLst>
                  </a:tr>
                  <a:tr h="2092325">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d>
                                  <m:dPr>
                                    <m:ctrlPr>
                                      <a:rPr lang="x-none" sz="1800" i="1">
                                        <a:effectLst/>
                                        <a:latin typeface="Cambria Math"/>
                                      </a:rPr>
                                    </m:ctrlPr>
                                  </m:dPr>
                                  <m:e>
                                    <m:r>
                                      <a:rPr lang="en-US" sz="1800">
                                        <a:effectLst/>
                                        <a:latin typeface="Cambria Math" panose="02040503050406030204" pitchFamily="18" charset="0"/>
                                      </a:rPr>
                                      <m:t>−1</m:t>
                                    </m:r>
                                  </m:e>
                                </m:d>
                                <m:r>
                                  <a:rPr lang="en-US" sz="1800">
                                    <a:effectLst/>
                                    <a:latin typeface="Cambria Math" panose="02040503050406030204" pitchFamily="18" charset="0"/>
                                  </a:rPr>
                                  <m:t>+8</m:t>
                                </m:r>
                              </m:oMath>
                            </m:oMathPara>
                          </a14:m>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600">
                              <a:effectLst/>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600">
                              <a:effectLst/>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600">
                              <a:effectLst/>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600" dirty="0">
                              <a:effectLst/>
                            </a:rPr>
                            <a:t> </a:t>
                          </a: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427000694"/>
                      </a:ext>
                    </a:extLst>
                  </a:tr>
                </a:tbl>
              </a:graphicData>
            </a:graphic>
          </p:graphicFrame>
        </mc:Choice>
        <mc:Fallback xmlns="">
          <p:graphicFrame>
            <p:nvGraphicFramePr>
              <p:cNvPr id="4" name="Table 3">
                <a:extLst>
                  <a:ext uri="{FF2B5EF4-FFF2-40B4-BE49-F238E27FC236}">
                    <a16:creationId xmlns:a16="http://schemas.microsoft.com/office/drawing/2014/main" id="{A48FE8E5-1661-9847-8161-358F8C3FEA78}"/>
                  </a:ext>
                </a:extLst>
              </p:cNvPr>
              <p:cNvGraphicFramePr>
                <a:graphicFrameLocks noGrp="1"/>
              </p:cNvGraphicFramePr>
              <p:nvPr>
                <p:extLst>
                  <p:ext uri="{D42A27DB-BD31-4B8C-83A1-F6EECF244321}">
                    <p14:modId xmlns:p14="http://schemas.microsoft.com/office/powerpoint/2010/main" val="1211757887"/>
                  </p:ext>
                </p:extLst>
              </p:nvPr>
            </p:nvGraphicFramePr>
            <p:xfrm>
              <a:off x="2450363" y="1444020"/>
              <a:ext cx="7291275" cy="4184650"/>
            </p:xfrm>
            <a:graphic>
              <a:graphicData uri="http://schemas.openxmlformats.org/drawingml/2006/table">
                <a:tbl>
                  <a:tblPr bandRow="1">
                    <a:tableStyleId>{A91F0D33-8C57-4600-99A7-42BC86742BE1}</a:tableStyleId>
                  </a:tblPr>
                  <a:tblGrid>
                    <a:gridCol w="1818945">
                      <a:extLst>
                        <a:ext uri="{9D8B030D-6E8A-4147-A177-3AD203B41FA5}">
                          <a16:colId xmlns:a16="http://schemas.microsoft.com/office/drawing/2014/main" val="2591559880"/>
                        </a:ext>
                      </a:extLst>
                    </a:gridCol>
                    <a:gridCol w="1314356">
                      <a:extLst>
                        <a:ext uri="{9D8B030D-6E8A-4147-A177-3AD203B41FA5}">
                          <a16:colId xmlns:a16="http://schemas.microsoft.com/office/drawing/2014/main" val="346393653"/>
                        </a:ext>
                      </a:extLst>
                    </a:gridCol>
                    <a:gridCol w="2471070">
                      <a:extLst>
                        <a:ext uri="{9D8B030D-6E8A-4147-A177-3AD203B41FA5}">
                          <a16:colId xmlns:a16="http://schemas.microsoft.com/office/drawing/2014/main" val="3188189187"/>
                        </a:ext>
                      </a:extLst>
                    </a:gridCol>
                    <a:gridCol w="964041">
                      <a:extLst>
                        <a:ext uri="{9D8B030D-6E8A-4147-A177-3AD203B41FA5}">
                          <a16:colId xmlns:a16="http://schemas.microsoft.com/office/drawing/2014/main" val="2279780809"/>
                        </a:ext>
                      </a:extLst>
                    </a:gridCol>
                    <a:gridCol w="722863">
                      <a:extLst>
                        <a:ext uri="{9D8B030D-6E8A-4147-A177-3AD203B41FA5}">
                          <a16:colId xmlns:a16="http://schemas.microsoft.com/office/drawing/2014/main" val="2555276663"/>
                        </a:ext>
                      </a:extLst>
                    </a:gridCol>
                  </a:tblGrid>
                  <a:tr h="2092325">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602" r="-300694" b="-100000"/>
                          </a:stretch>
                        </a:blipFill>
                      </a:tcPr>
                    </a:tc>
                    <a:tc>
                      <a:txBody>
                        <a:bodyPr/>
                        <a:lstStyle/>
                        <a:p>
                          <a:pPr marL="0" marR="0" algn="ctr">
                            <a:spcBef>
                              <a:spcPts val="0"/>
                            </a:spcBef>
                            <a:spcAft>
                              <a:spcPts val="1000"/>
                            </a:spcAft>
                          </a:pPr>
                          <a:r>
                            <a:rPr lang="en-US" sz="1600">
                              <a:effectLst/>
                            </a:rPr>
                            <a:t> </a:t>
                          </a:r>
                          <a:endParaRPr lang="en-CO"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600">
                              <a:effectLst/>
                            </a:rPr>
                            <a:t> </a:t>
                          </a:r>
                          <a:endParaRPr lang="en-CO"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600">
                              <a:effectLst/>
                            </a:rPr>
                            <a:t> </a:t>
                          </a:r>
                          <a:endParaRPr lang="en-CO"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600">
                              <a:effectLst/>
                            </a:rPr>
                            <a:t> </a:t>
                          </a:r>
                          <a:endParaRPr lang="en-CO"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5845670"/>
                      </a:ext>
                    </a:extLst>
                  </a:tr>
                  <a:tr h="2092325">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t="-101212" r="-300694" b="-606"/>
                          </a:stretch>
                        </a:blipFill>
                      </a:tcPr>
                    </a:tc>
                    <a:tc>
                      <a:txBody>
                        <a:bodyPr/>
                        <a:lstStyle/>
                        <a:p>
                          <a:pPr marL="0" marR="0" algn="ctr">
                            <a:spcBef>
                              <a:spcPts val="0"/>
                            </a:spcBef>
                            <a:spcAft>
                              <a:spcPts val="1000"/>
                            </a:spcAft>
                          </a:pPr>
                          <a:r>
                            <a:rPr lang="en-US" sz="1600">
                              <a:effectLst/>
                            </a:rPr>
                            <a:t> </a:t>
                          </a:r>
                          <a:endParaRPr lang="en-CO"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600">
                              <a:effectLst/>
                            </a:rPr>
                            <a:t> </a:t>
                          </a:r>
                          <a:endParaRPr lang="en-CO"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600">
                              <a:effectLst/>
                            </a:rPr>
                            <a:t> </a:t>
                          </a:r>
                          <a:endParaRPr lang="en-CO"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600" dirty="0">
                              <a:effectLst/>
                            </a:rPr>
                            <a:t> </a:t>
                          </a:r>
                          <a:endParaRPr lang="en-CO"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7000694"/>
                      </a:ext>
                    </a:extLst>
                  </a:tr>
                </a:tbl>
              </a:graphicData>
            </a:graphic>
          </p:graphicFrame>
        </mc:Fallback>
      </mc:AlternateContent>
    </p:spTree>
    <p:extLst>
      <p:ext uri="{BB962C8B-B14F-4D97-AF65-F5344CB8AC3E}">
        <p14:creationId xmlns:p14="http://schemas.microsoft.com/office/powerpoint/2010/main" val="15217229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933"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282;g104476d1465_1_17">
            <a:extLst>
              <a:ext uri="{FF2B5EF4-FFF2-40B4-BE49-F238E27FC236}">
                <a16:creationId xmlns:a16="http://schemas.microsoft.com/office/drawing/2014/main" xmlns="" id="{38A626CB-082C-DB4E-B059-328DCC8AD138}"/>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a:t>
            </a:r>
            <a:endParaRPr i="1" dirty="0">
              <a:latin typeface="Calibri"/>
              <a:ea typeface="Calibri"/>
              <a:cs typeface="Calibri"/>
              <a:sym typeface="Calibri"/>
            </a:endParaRPr>
          </a:p>
        </p:txBody>
      </p:sp>
      <p:sp>
        <p:nvSpPr>
          <p:cNvPr id="6" name="Rectangle 5">
            <a:extLst>
              <a:ext uri="{FF2B5EF4-FFF2-40B4-BE49-F238E27FC236}">
                <a16:creationId xmlns:a16="http://schemas.microsoft.com/office/drawing/2014/main" xmlns="" id="{0F12E9E0-8D62-0D42-9798-907C5489E0A0}"/>
              </a:ext>
            </a:extLst>
          </p:cNvPr>
          <p:cNvSpPr/>
          <p:nvPr/>
        </p:nvSpPr>
        <p:spPr>
          <a:xfrm>
            <a:off x="511320" y="432736"/>
            <a:ext cx="10687258" cy="400110"/>
          </a:xfrm>
          <a:prstGeom prst="rect">
            <a:avLst/>
          </a:prstGeom>
        </p:spPr>
        <p:txBody>
          <a:bodyPr wrap="square">
            <a:spAutoFit/>
          </a:bodyPr>
          <a:lstStyle/>
          <a:p>
            <a:pPr marL="468313" indent="-457200">
              <a:buSzPts val="1800"/>
              <a:buFont typeface="+mj-lt"/>
              <a:buAutoNum type="arabicPeriod" startAt="6"/>
            </a:pPr>
            <a:r>
              <a:rPr lang="en-US" sz="2000" dirty="0">
                <a:latin typeface="Verdana" panose="020B0604030504040204" pitchFamily="34" charset="0"/>
                <a:ea typeface="Verdana" panose="020B0604030504040204" pitchFamily="34" charset="0"/>
                <a:cs typeface="Verdana" panose="020B0604030504040204" pitchFamily="34" charset="0"/>
              </a:rPr>
              <a:t>Complete the table below independently. Check your work with your partner.</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1D24B04F-1CC9-9249-9ABA-2A57D3C4BCAC}"/>
                  </a:ext>
                </a:extLst>
              </p:cNvPr>
              <p:cNvGraphicFramePr>
                <a:graphicFrameLocks noGrp="1"/>
              </p:cNvGraphicFramePr>
              <p:nvPr>
                <p:extLst>
                  <p:ext uri="{D42A27DB-BD31-4B8C-83A1-F6EECF244321}">
                    <p14:modId xmlns:p14="http://schemas.microsoft.com/office/powerpoint/2010/main" val="3452692915"/>
                  </p:ext>
                </p:extLst>
              </p:nvPr>
            </p:nvGraphicFramePr>
            <p:xfrm>
              <a:off x="2767013" y="1366043"/>
              <a:ext cx="6892418" cy="4351335"/>
            </p:xfrm>
            <a:graphic>
              <a:graphicData uri="http://schemas.openxmlformats.org/drawingml/2006/table">
                <a:tbl>
                  <a:tblPr bandRow="1">
                    <a:tableStyleId>{A91F0D33-8C57-4600-99A7-42BC86742BE1}</a:tableStyleId>
                  </a:tblPr>
                  <a:tblGrid>
                    <a:gridCol w="1893276">
                      <a:extLst>
                        <a:ext uri="{9D8B030D-6E8A-4147-A177-3AD203B41FA5}">
                          <a16:colId xmlns:a16="http://schemas.microsoft.com/office/drawing/2014/main" xmlns="" val="3263184948"/>
                        </a:ext>
                      </a:extLst>
                    </a:gridCol>
                    <a:gridCol w="1700436">
                      <a:extLst>
                        <a:ext uri="{9D8B030D-6E8A-4147-A177-3AD203B41FA5}">
                          <a16:colId xmlns:a16="http://schemas.microsoft.com/office/drawing/2014/main" xmlns="" val="3149408802"/>
                        </a:ext>
                      </a:extLst>
                    </a:gridCol>
                    <a:gridCol w="1649353">
                      <a:extLst>
                        <a:ext uri="{9D8B030D-6E8A-4147-A177-3AD203B41FA5}">
                          <a16:colId xmlns:a16="http://schemas.microsoft.com/office/drawing/2014/main" xmlns="" val="660311357"/>
                        </a:ext>
                      </a:extLst>
                    </a:gridCol>
                    <a:gridCol w="1649353">
                      <a:extLst>
                        <a:ext uri="{9D8B030D-6E8A-4147-A177-3AD203B41FA5}">
                          <a16:colId xmlns:a16="http://schemas.microsoft.com/office/drawing/2014/main" xmlns="" val="845444683"/>
                        </a:ext>
                      </a:extLst>
                    </a:gridCol>
                  </a:tblGrid>
                  <a:tr h="815181">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Mathematical Expression</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Number of Zero Pairs</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Sign of Sum </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Sum</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xmlns="" val="1865285918"/>
                      </a:ext>
                    </a:extLst>
                  </a:tr>
                  <a:tr h="597799">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d>
                                  <m:dPr>
                                    <m:ctrlPr>
                                      <a:rPr lang="x-none" sz="1800" i="1">
                                        <a:effectLst/>
                                        <a:latin typeface="Cambria Math"/>
                                      </a:rPr>
                                    </m:ctrlPr>
                                  </m:dPr>
                                  <m:e>
                                    <m:r>
                                      <a:rPr lang="en-US" sz="1800">
                                        <a:effectLst/>
                                        <a:latin typeface="Cambria Math" panose="02040503050406030204" pitchFamily="18" charset="0"/>
                                      </a:rPr>
                                      <m:t>−10</m:t>
                                    </m:r>
                                  </m:e>
                                </m:d>
                                <m:r>
                                  <a:rPr lang="en-US" sz="1800">
                                    <a:effectLst/>
                                    <a:latin typeface="Cambria Math" panose="02040503050406030204" pitchFamily="18" charset="0"/>
                                  </a:rPr>
                                  <m:t>+12</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10</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90188325"/>
                      </a:ext>
                    </a:extLst>
                  </a:tr>
                  <a:tr h="572479">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12+−7</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662755068"/>
                      </a:ext>
                    </a:extLst>
                  </a:tr>
                  <a:tr h="597799">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d>
                                  <m:dPr>
                                    <m:ctrlPr>
                                      <a:rPr lang="x-none" sz="1800" i="1">
                                        <a:effectLst/>
                                        <a:latin typeface="Cambria Math"/>
                                      </a:rPr>
                                    </m:ctrlPr>
                                  </m:dPr>
                                  <m:e>
                                    <m:r>
                                      <a:rPr lang="en-US" sz="1800">
                                        <a:effectLst/>
                                        <a:latin typeface="Cambria Math" panose="02040503050406030204" pitchFamily="18" charset="0"/>
                                      </a:rPr>
                                      <m:t>−11</m:t>
                                    </m:r>
                                  </m:e>
                                </m:d>
                                <m:r>
                                  <a:rPr lang="en-US" sz="1800">
                                    <a:effectLst/>
                                    <a:latin typeface="Cambria Math" panose="02040503050406030204" pitchFamily="18" charset="0"/>
                                  </a:rPr>
                                  <m:t>+4</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551650036"/>
                      </a:ext>
                    </a:extLst>
                  </a:tr>
                  <a:tr h="597799">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8+</m:t>
                                </m:r>
                                <m:sPre>
                                  <m:sPrePr>
                                    <m:ctrlPr>
                                      <a:rPr lang="x-none" sz="1800" i="1">
                                        <a:effectLst/>
                                        <a:latin typeface="Cambria Math"/>
                                      </a:rPr>
                                    </m:ctrlPr>
                                  </m:sPrePr>
                                  <m:sub/>
                                  <m:sup>
                                    <m:r>
                                      <a:rPr lang="en-US" sz="1800">
                                        <a:effectLst/>
                                        <a:latin typeface="Cambria Math" panose="02040503050406030204" pitchFamily="18" charset="0"/>
                                      </a:rPr>
                                      <m:t>−</m:t>
                                    </m:r>
                                  </m:sup>
                                  <m:e>
                                    <m:r>
                                      <a:rPr lang="en-US" sz="1800">
                                        <a:effectLst/>
                                        <a:latin typeface="Cambria Math" panose="02040503050406030204" pitchFamily="18" charset="0"/>
                                      </a:rPr>
                                      <m:t>8</m:t>
                                    </m:r>
                                  </m:e>
                                </m:sPre>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69769330"/>
                      </a:ext>
                    </a:extLst>
                  </a:tr>
                  <a:tr h="572479">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sPre>
                                  <m:sPrePr>
                                    <m:ctrlPr>
                                      <a:rPr lang="x-none" sz="1800" i="1">
                                        <a:effectLst/>
                                        <a:latin typeface="Cambria Math"/>
                                      </a:rPr>
                                    </m:ctrlPr>
                                  </m:sPrePr>
                                  <m:sub/>
                                  <m:sup>
                                    <m:r>
                                      <a:rPr lang="en-US" sz="1800">
                                        <a:effectLst/>
                                        <a:latin typeface="Cambria Math" panose="02040503050406030204" pitchFamily="18" charset="0"/>
                                      </a:rPr>
                                      <m:t>−</m:t>
                                    </m:r>
                                  </m:sup>
                                  <m:e>
                                    <m:r>
                                      <a:rPr lang="en-US" sz="1800">
                                        <a:effectLst/>
                                        <a:latin typeface="Cambria Math" panose="02040503050406030204" pitchFamily="18" charset="0"/>
                                      </a:rPr>
                                      <m:t>10</m:t>
                                    </m:r>
                                  </m:e>
                                </m:sPre>
                                <m:r>
                                  <a:rPr lang="en-US" sz="1800">
                                    <a:effectLst/>
                                    <a:latin typeface="Cambria Math" panose="02040503050406030204" pitchFamily="18" charset="0"/>
                                  </a:rPr>
                                  <m:t>+3</m:t>
                                </m:r>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269174518"/>
                      </a:ext>
                    </a:extLst>
                  </a:tr>
                  <a:tr h="597799">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9+</m:t>
                                </m:r>
                                <m:d>
                                  <m:dPr>
                                    <m:ctrlPr>
                                      <a:rPr lang="x-none" sz="1800" i="1">
                                        <a:effectLst/>
                                        <a:latin typeface="Cambria Math"/>
                                      </a:rPr>
                                    </m:ctrlPr>
                                  </m:dPr>
                                  <m:e>
                                    <m:r>
                                      <a:rPr lang="en-US" sz="1800">
                                        <a:effectLst/>
                                        <a:latin typeface="Cambria Math" panose="02040503050406030204" pitchFamily="18" charset="0"/>
                                      </a:rPr>
                                      <m:t>−2</m:t>
                                    </m:r>
                                  </m:e>
                                </m:d>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643890673"/>
                      </a:ext>
                    </a:extLst>
                  </a:tr>
                </a:tbl>
              </a:graphicData>
            </a:graphic>
          </p:graphicFrame>
        </mc:Choice>
        <mc:Fallback xmlns="">
          <p:graphicFrame>
            <p:nvGraphicFramePr>
              <p:cNvPr id="2" name="Table 1">
                <a:extLst>
                  <a:ext uri="{FF2B5EF4-FFF2-40B4-BE49-F238E27FC236}">
                    <a16:creationId xmlns:a16="http://schemas.microsoft.com/office/drawing/2014/main" id="{1D24B04F-1CC9-9249-9ABA-2A57D3C4BCAC}"/>
                  </a:ext>
                </a:extLst>
              </p:cNvPr>
              <p:cNvGraphicFramePr>
                <a:graphicFrameLocks noGrp="1"/>
              </p:cNvGraphicFramePr>
              <p:nvPr>
                <p:extLst>
                  <p:ext uri="{D42A27DB-BD31-4B8C-83A1-F6EECF244321}">
                    <p14:modId xmlns:p14="http://schemas.microsoft.com/office/powerpoint/2010/main" val="3452692915"/>
                  </p:ext>
                </p:extLst>
              </p:nvPr>
            </p:nvGraphicFramePr>
            <p:xfrm>
              <a:off x="2767013" y="1366043"/>
              <a:ext cx="6892418" cy="4351335"/>
            </p:xfrm>
            <a:graphic>
              <a:graphicData uri="http://schemas.openxmlformats.org/drawingml/2006/table">
                <a:tbl>
                  <a:tblPr bandRow="1">
                    <a:tableStyleId>{A91F0D33-8C57-4600-99A7-42BC86742BE1}</a:tableStyleId>
                  </a:tblPr>
                  <a:tblGrid>
                    <a:gridCol w="1893276">
                      <a:extLst>
                        <a:ext uri="{9D8B030D-6E8A-4147-A177-3AD203B41FA5}">
                          <a16:colId xmlns:a16="http://schemas.microsoft.com/office/drawing/2014/main" val="3263184948"/>
                        </a:ext>
                      </a:extLst>
                    </a:gridCol>
                    <a:gridCol w="1700436">
                      <a:extLst>
                        <a:ext uri="{9D8B030D-6E8A-4147-A177-3AD203B41FA5}">
                          <a16:colId xmlns:a16="http://schemas.microsoft.com/office/drawing/2014/main" val="3149408802"/>
                        </a:ext>
                      </a:extLst>
                    </a:gridCol>
                    <a:gridCol w="1649353">
                      <a:extLst>
                        <a:ext uri="{9D8B030D-6E8A-4147-A177-3AD203B41FA5}">
                          <a16:colId xmlns:a16="http://schemas.microsoft.com/office/drawing/2014/main" val="660311357"/>
                        </a:ext>
                      </a:extLst>
                    </a:gridCol>
                    <a:gridCol w="1649353">
                      <a:extLst>
                        <a:ext uri="{9D8B030D-6E8A-4147-A177-3AD203B41FA5}">
                          <a16:colId xmlns:a16="http://schemas.microsoft.com/office/drawing/2014/main" val="845444683"/>
                        </a:ext>
                      </a:extLst>
                    </a:gridCol>
                  </a:tblGrid>
                  <a:tr h="815181">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Mathematical Expression</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Number of Zero Pairs</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Sign of Sum </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Sum</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1865285918"/>
                      </a:ext>
                    </a:extLst>
                  </a:tr>
                  <a:tr h="597799">
                    <a:tc>
                      <a:txBody>
                        <a:bodyPr/>
                        <a:lstStyle/>
                        <a:p>
                          <a:endParaRPr lang="en-US"/>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71" t="-133333" r="-265772" b="-485417"/>
                          </a:stretch>
                        </a:blipFill>
                      </a:tcPr>
                    </a:tc>
                    <a:tc>
                      <a:txBody>
                        <a:bodyPr/>
                        <a:lstStyle/>
                        <a:p>
                          <a:endParaRPr lang="en-US"/>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11111" t="-133333" r="-193333" b="-485417"/>
                          </a:stretch>
                        </a:blipFill>
                      </a:tcPr>
                    </a:tc>
                    <a:tc>
                      <a:txBody>
                        <a:bodyPr/>
                        <a:lstStyle/>
                        <a:p>
                          <a:endParaRPr lang="en-US"/>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19231" t="-133333" r="-100769" b="-485417"/>
                          </a:stretch>
                        </a:blipFill>
                      </a:tcPr>
                    </a:tc>
                    <a:tc>
                      <a:txBody>
                        <a:bodyPr/>
                        <a:lstStyle/>
                        <a:p>
                          <a:endParaRPr lang="en-US"/>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19231" t="-133333" r="-769" b="-485417"/>
                          </a:stretch>
                        </a:blipFill>
                      </a:tcPr>
                    </a:tc>
                    <a:extLst>
                      <a:ext uri="{0D108BD9-81ED-4DB2-BD59-A6C34878D82A}">
                        <a16:rowId xmlns:a16="http://schemas.microsoft.com/office/drawing/2014/main" val="290188325"/>
                      </a:ext>
                    </a:extLst>
                  </a:tr>
                  <a:tr h="572479">
                    <a:tc>
                      <a:txBody>
                        <a:bodyPr/>
                        <a:lstStyle/>
                        <a:p>
                          <a:endParaRPr lang="en-US"/>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71" t="-248889" r="-265772" b="-417778"/>
                          </a:stretch>
                        </a:blipFill>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2755068"/>
                      </a:ext>
                    </a:extLst>
                  </a:tr>
                  <a:tr h="597799">
                    <a:tc>
                      <a:txBody>
                        <a:bodyPr/>
                        <a:lstStyle/>
                        <a:p>
                          <a:endParaRPr lang="en-US"/>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71" t="-334043" r="-265772" b="-300000"/>
                          </a:stretch>
                        </a:blipFill>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1650036"/>
                      </a:ext>
                    </a:extLst>
                  </a:tr>
                  <a:tr h="597799">
                    <a:tc>
                      <a:txBody>
                        <a:bodyPr/>
                        <a:lstStyle/>
                        <a:p>
                          <a:endParaRPr lang="en-US"/>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71" t="-434043" r="-265772" b="-200000"/>
                          </a:stretch>
                        </a:blipFill>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9769330"/>
                      </a:ext>
                    </a:extLst>
                  </a:tr>
                  <a:tr h="572479">
                    <a:tc>
                      <a:txBody>
                        <a:bodyPr/>
                        <a:lstStyle/>
                        <a:p>
                          <a:endParaRPr lang="en-US"/>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71" t="-545652" r="-265772" b="-104348"/>
                          </a:stretch>
                        </a:blipFill>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9174518"/>
                      </a:ext>
                    </a:extLst>
                  </a:tr>
                  <a:tr h="597799">
                    <a:tc>
                      <a:txBody>
                        <a:bodyPr/>
                        <a:lstStyle/>
                        <a:p>
                          <a:endParaRPr lang="en-US"/>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671" t="-631915" r="-265772" b="-2128"/>
                          </a:stretch>
                        </a:blipFill>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6697" marR="6669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3890673"/>
                      </a:ext>
                    </a:extLst>
                  </a:tr>
                </a:tbl>
              </a:graphicData>
            </a:graphic>
          </p:graphicFrame>
        </mc:Fallback>
      </mc:AlternateContent>
    </p:spTree>
    <p:extLst>
      <p:ext uri="{BB962C8B-B14F-4D97-AF65-F5344CB8AC3E}">
        <p14:creationId xmlns:p14="http://schemas.microsoft.com/office/powerpoint/2010/main" val="7033374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282;g104476d1465_1_17">
            <a:extLst>
              <a:ext uri="{FF2B5EF4-FFF2-40B4-BE49-F238E27FC236}">
                <a16:creationId xmlns:a16="http://schemas.microsoft.com/office/drawing/2014/main" xmlns="" id="{38A626CB-082C-DB4E-B059-328DCC8AD138}"/>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17</a:t>
            </a:r>
            <a:endParaRPr i="1" dirty="0">
              <a:latin typeface="Calibri"/>
              <a:ea typeface="Calibri"/>
              <a:cs typeface="Calibri"/>
              <a:sym typeface="Calibri"/>
            </a:endParaRPr>
          </a:p>
        </p:txBody>
      </p:sp>
      <p:sp>
        <p:nvSpPr>
          <p:cNvPr id="6" name="Rectangle 5">
            <a:extLst>
              <a:ext uri="{FF2B5EF4-FFF2-40B4-BE49-F238E27FC236}">
                <a16:creationId xmlns:a16="http://schemas.microsoft.com/office/drawing/2014/main" xmlns="" id="{0F12E9E0-8D62-0D42-9798-907C5489E0A0}"/>
              </a:ext>
            </a:extLst>
          </p:cNvPr>
          <p:cNvSpPr/>
          <p:nvPr/>
        </p:nvSpPr>
        <p:spPr>
          <a:xfrm>
            <a:off x="545188" y="616357"/>
            <a:ext cx="10901745" cy="3170099"/>
          </a:xfrm>
          <a:prstGeom prst="rect">
            <a:avLst/>
          </a:prstGeom>
        </p:spPr>
        <p:txBody>
          <a:bodyPr wrap="square">
            <a:spAutoFit/>
          </a:bodyPr>
          <a:lstStyle/>
          <a:p>
            <a:pPr marL="468313" indent="-457200">
              <a:buSzPts val="1800"/>
              <a:buFont typeface="+mj-lt"/>
              <a:buAutoNum type="arabicPeriod" startAt="7"/>
            </a:pPr>
            <a:r>
              <a:rPr lang="en-US" sz="2000" dirty="0">
                <a:latin typeface="Verdana" panose="020B0604030504040204" pitchFamily="34" charset="0"/>
                <a:ea typeface="Verdana" panose="020B0604030504040204" pitchFamily="34" charset="0"/>
                <a:cs typeface="Verdana" panose="020B0604030504040204" pitchFamily="34" charset="0"/>
              </a:rPr>
              <a:t>What do you notice about expressions where the sum is a positive number?</a:t>
            </a:r>
          </a:p>
          <a:p>
            <a:pPr marL="468313" indent="-457200">
              <a:buSzPts val="1800"/>
              <a:buFont typeface="+mj-lt"/>
              <a:buAutoNum type="arabicPeriod" startAt="7"/>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8313" indent="-457200">
              <a:buSzPts val="1800"/>
              <a:buFont typeface="+mj-lt"/>
              <a:buAutoNum type="arabicPeriod" startAt="7"/>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8313" indent="-457200">
              <a:buSzPts val="1800"/>
              <a:buFont typeface="+mj-lt"/>
              <a:buAutoNum type="arabicPeriod" startAt="7"/>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8313" indent="-457200">
              <a:buSzPts val="1800"/>
              <a:buFont typeface="+mj-lt"/>
              <a:buAutoNum type="arabicPeriod" startAt="7"/>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8313" indent="-457200">
              <a:buSzPts val="1800"/>
              <a:buFont typeface="+mj-lt"/>
              <a:buAutoNum type="arabicPeriod" startAt="7"/>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8313" indent="-457200">
              <a:buSzPts val="1800"/>
              <a:buFont typeface="+mj-lt"/>
              <a:buAutoNum type="arabicPeriod" startAt="7"/>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8313" indent="-457200">
              <a:buSzPts val="1800"/>
              <a:buFont typeface="+mj-lt"/>
              <a:buAutoNum type="arabicPeriod" startAt="7"/>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8313" indent="-457200">
              <a:buSzPts val="1800"/>
              <a:buFont typeface="+mj-lt"/>
              <a:buAutoNum type="arabicPeriod" startAt="7"/>
            </a:pPr>
            <a:r>
              <a:rPr lang="en-US" sz="2000" dirty="0">
                <a:latin typeface="Verdana" panose="020B0604030504040204" pitchFamily="34" charset="0"/>
                <a:ea typeface="Verdana" panose="020B0604030504040204" pitchFamily="34" charset="0"/>
                <a:cs typeface="Verdana" panose="020B0604030504040204" pitchFamily="34" charset="0"/>
              </a:rPr>
              <a:t>What do you notice about expressions where the sum is a negative number?</a:t>
            </a:r>
          </a:p>
          <a:p>
            <a:pPr marL="11113">
              <a:buSzPts val="1800"/>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7612204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a:t>
            </a:r>
            <a:endParaRPr i="1" dirty="0">
              <a:latin typeface="Calibri"/>
              <a:ea typeface="Calibri"/>
              <a:cs typeface="Calibri"/>
              <a:sym typeface="Calibri"/>
            </a:endParaRPr>
          </a:p>
        </p:txBody>
      </p:sp>
      <p:sp>
        <p:nvSpPr>
          <p:cNvPr id="8" name="Google Shape;313;g104476d1465_1_39">
            <a:extLst>
              <a:ext uri="{FF2B5EF4-FFF2-40B4-BE49-F238E27FC236}">
                <a16:creationId xmlns:a16="http://schemas.microsoft.com/office/drawing/2014/main" xmlns="" id="{E7159111-4E9F-8042-A9C5-9F693E9E8BDA}"/>
              </a:ext>
            </a:extLst>
          </p:cNvPr>
          <p:cNvSpPr txBox="1">
            <a:spLocks/>
          </p:cNvSpPr>
          <p:nvPr/>
        </p:nvSpPr>
        <p:spPr>
          <a:xfrm>
            <a:off x="3734467" y="2852928"/>
            <a:ext cx="4480750" cy="1325700"/>
          </a:xfrm>
          <a:prstGeom prst="rect">
            <a:avLst/>
          </a:prstGeom>
          <a:noFill/>
          <a:ln>
            <a:noFill/>
          </a:ln>
        </p:spPr>
        <p:txBody>
          <a:bodyPr spcFirstLastPara="1" wrap="square" lIns="91425" tIns="45700" rIns="91425" bIns="45700" anchor="ctr" anchorCtr="0">
            <a:normAutofit fontScale="90000"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buFont typeface="Cutive"/>
              <a:buNone/>
            </a:pPr>
            <a:r>
              <a:rPr lang="en-US" sz="5500" b="1">
                <a:solidFill>
                  <a:srgbClr val="26B7D4"/>
                </a:solidFill>
                <a:latin typeface="Verdana"/>
                <a:ea typeface="Verdana"/>
                <a:cs typeface="Verdana"/>
                <a:sym typeface="Verdana"/>
              </a:rPr>
              <a:t>Bring It Together</a:t>
            </a:r>
            <a:endParaRPr lang="en-US" sz="5100" b="1" dirty="0">
              <a:solidFill>
                <a:srgbClr val="26B7D4"/>
              </a:solidFill>
              <a:latin typeface="Verdana"/>
              <a:ea typeface="Verdana"/>
              <a:cs typeface="Verdana"/>
              <a:sym typeface="Verdana"/>
            </a:endParaRPr>
          </a:p>
        </p:txBody>
      </p:sp>
      <p:pic>
        <p:nvPicPr>
          <p:cNvPr id="10" name="Picture 9" descr="Icon&#10;&#10;Description automatically generated">
            <a:extLst>
              <a:ext uri="{FF2B5EF4-FFF2-40B4-BE49-F238E27FC236}">
                <a16:creationId xmlns:a16="http://schemas.microsoft.com/office/drawing/2014/main" xmlns="" id="{5C33A9C9-B512-754C-A3B1-DB53D413C3C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51972" cy="1151972"/>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1969715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03916"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26B7D4"/>
                </a:solidFill>
                <a:latin typeface="Verdana"/>
                <a:ea typeface="Verdana"/>
                <a:cs typeface="Verdana"/>
                <a:sym typeface="Verdana"/>
              </a:rPr>
              <a:t>7.3.6 Bring It Together: Adding Integers with Opposite Signs</a:t>
            </a:r>
          </a:p>
        </p:txBody>
      </p:sp>
      <p:sp>
        <p:nvSpPr>
          <p:cNvPr id="2" name="Rectangle 1">
            <a:extLst>
              <a:ext uri="{FF2B5EF4-FFF2-40B4-BE49-F238E27FC236}">
                <a16:creationId xmlns:a16="http://schemas.microsoft.com/office/drawing/2014/main" xmlns="" id="{B05AB5A2-AF35-B14C-AE54-D2A0628C823C}"/>
              </a:ext>
            </a:extLst>
          </p:cNvPr>
          <p:cNvSpPr/>
          <p:nvPr/>
        </p:nvSpPr>
        <p:spPr>
          <a:xfrm>
            <a:off x="730265" y="1537197"/>
            <a:ext cx="11247245" cy="1200329"/>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The table below shows visual models of rules for adding integers with opposite signs. In each visual model, the larger circle symbolizes the integer represented by the most integer chips. </a:t>
            </a:r>
          </a:p>
        </p:txBody>
      </p:sp>
      <p:sp>
        <p:nvSpPr>
          <p:cNvPr id="11" name="Google Shape;282;g104476d1465_1_17">
            <a:extLst>
              <a:ext uri="{FF2B5EF4-FFF2-40B4-BE49-F238E27FC236}">
                <a16:creationId xmlns:a16="http://schemas.microsoft.com/office/drawing/2014/main" xmlns="" id="{85268C17-F7CB-D243-B65D-166A4DD9987F}"/>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a:t>
            </a:r>
            <a:endParaRPr i="1" dirty="0">
              <a:latin typeface="Calibri"/>
              <a:ea typeface="Calibri"/>
              <a:cs typeface="Calibri"/>
              <a:sym typeface="Calibri"/>
            </a:endParaRPr>
          </a:p>
        </p:txBody>
      </p:sp>
      <p:pic>
        <p:nvPicPr>
          <p:cNvPr id="9" name="Picture 8" descr="Icon&#10;&#10;Description automatically generated">
            <a:extLst>
              <a:ext uri="{FF2B5EF4-FFF2-40B4-BE49-F238E27FC236}">
                <a16:creationId xmlns:a16="http://schemas.microsoft.com/office/drawing/2014/main" xmlns="" id="{1772325D-EEF6-EC41-8E51-91839ADFD74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56616" y="201168"/>
            <a:ext cx="747300" cy="747300"/>
          </a:xfrm>
          <a:prstGeom prst="rect">
            <a:avLst/>
          </a:prstGeom>
        </p:spPr>
      </p:pic>
    </p:spTree>
    <p:extLst>
      <p:ext uri="{BB962C8B-B14F-4D97-AF65-F5344CB8AC3E}">
        <p14:creationId xmlns:p14="http://schemas.microsoft.com/office/powerpoint/2010/main" val="22352480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xmlns="" id="{E3DC8F22-04D2-D04F-BA67-53D9B7F3B29F}"/>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a:t>
            </a:r>
            <a:endParaRPr i="1" dirty="0">
              <a:latin typeface="Calibri"/>
              <a:ea typeface="Calibri"/>
              <a:cs typeface="Calibri"/>
              <a:sym typeface="Calibri"/>
            </a:endParaRPr>
          </a:p>
        </p:txBody>
      </p:sp>
      <p:sp>
        <p:nvSpPr>
          <p:cNvPr id="6" name="Rectangle 5">
            <a:extLst>
              <a:ext uri="{FF2B5EF4-FFF2-40B4-BE49-F238E27FC236}">
                <a16:creationId xmlns:a16="http://schemas.microsoft.com/office/drawing/2014/main" xmlns="" id="{8A71DEF1-087D-214F-86DF-C80090F990CE}"/>
              </a:ext>
            </a:extLst>
          </p:cNvPr>
          <p:cNvSpPr/>
          <p:nvPr/>
        </p:nvSpPr>
        <p:spPr>
          <a:xfrm>
            <a:off x="377749" y="441333"/>
            <a:ext cx="11633629" cy="461665"/>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Write an example of the rule. The first row has been completed.</a:t>
            </a:r>
          </a:p>
        </p:txBody>
      </p:sp>
      <p:pic>
        <p:nvPicPr>
          <p:cNvPr id="5" name="Picture 4">
            <a:extLst>
              <a:ext uri="{FF2B5EF4-FFF2-40B4-BE49-F238E27FC236}">
                <a16:creationId xmlns:a16="http://schemas.microsoft.com/office/drawing/2014/main" xmlns="" id="{225B521E-6B09-2143-B980-E0FEEB09850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862645" y="1427894"/>
            <a:ext cx="6466709" cy="4874217"/>
          </a:xfrm>
          <a:prstGeom prst="rect">
            <a:avLst/>
          </a:prstGeom>
        </p:spPr>
      </p:pic>
    </p:spTree>
    <p:extLst>
      <p:ext uri="{BB962C8B-B14F-4D97-AF65-F5344CB8AC3E}">
        <p14:creationId xmlns:p14="http://schemas.microsoft.com/office/powerpoint/2010/main" val="1552515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xmlns="" id="{E3DC8F22-04D2-D04F-BA67-53D9B7F3B29F}"/>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a:t>
            </a:r>
            <a:endParaRPr i="1" dirty="0">
              <a:latin typeface="Calibri"/>
              <a:ea typeface="Calibri"/>
              <a:cs typeface="Calibri"/>
              <a:sym typeface="Calibri"/>
            </a:endParaRPr>
          </a:p>
        </p:txBody>
      </p:sp>
      <p:sp>
        <p:nvSpPr>
          <p:cNvPr id="6" name="Rectangle 5">
            <a:extLst>
              <a:ext uri="{FF2B5EF4-FFF2-40B4-BE49-F238E27FC236}">
                <a16:creationId xmlns:a16="http://schemas.microsoft.com/office/drawing/2014/main" xmlns="" id="{8A71DEF1-087D-214F-86DF-C80090F990CE}"/>
              </a:ext>
            </a:extLst>
          </p:cNvPr>
          <p:cNvSpPr/>
          <p:nvPr/>
        </p:nvSpPr>
        <p:spPr>
          <a:xfrm>
            <a:off x="500457" y="680121"/>
            <a:ext cx="11183543" cy="830997"/>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Give two observations about the rules for adding integers with opposite signs. </a:t>
            </a:r>
          </a:p>
        </p:txBody>
      </p:sp>
    </p:spTree>
    <p:extLst>
      <p:ext uri="{BB962C8B-B14F-4D97-AF65-F5344CB8AC3E}">
        <p14:creationId xmlns:p14="http://schemas.microsoft.com/office/powerpoint/2010/main" val="21982953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648857" y="2698334"/>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3054096" y="2852928"/>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xmlns="" id="{ABBAE5D4-A013-554B-AF18-FD3C50BA4B0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103916" y="-6278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F2A67"/>
                </a:solidFill>
                <a:latin typeface="Verdana"/>
                <a:ea typeface="Verdana"/>
                <a:cs typeface="Verdana"/>
                <a:sym typeface="Verdana"/>
              </a:rPr>
              <a:t>7.3.7 Wrap-Up: Ticket Out the Door</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xmlns="" id="{50A85065-1747-6C4E-8BA4-9C1ED8A185A6}"/>
                  </a:ext>
                </a:extLst>
              </p:cNvPr>
              <p:cNvSpPr/>
              <p:nvPr/>
            </p:nvSpPr>
            <p:spPr>
              <a:xfrm>
                <a:off x="730265" y="1187785"/>
                <a:ext cx="10987601" cy="430887"/>
              </a:xfrm>
              <a:prstGeom prst="rect">
                <a:avLst/>
              </a:prstGeom>
            </p:spPr>
            <p:txBody>
              <a:bodyPr wrap="square">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Simone created the sketch below to represent the expression </a:t>
                </a:r>
                <a14:m>
                  <m:oMath xmlns:m="http://schemas.openxmlformats.org/officeDocument/2006/math">
                    <m:r>
                      <a:rPr lang="en-US" sz="2200" i="1" dirty="0">
                        <a:latin typeface="Cambria Math" panose="02040503050406030204" pitchFamily="18" charset="0"/>
                        <a:ea typeface="Verdana" panose="020B0604030504040204" pitchFamily="34" charset="0"/>
                        <a:cs typeface="Verdana" panose="020B0604030504040204" pitchFamily="34" charset="0"/>
                      </a:rPr>
                      <m:t>4+(−3)</m:t>
                    </m:r>
                  </m:oMath>
                </a14:m>
                <a:r>
                  <a:rPr lang="en-US" sz="22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2" name="Rectangle 1">
                <a:extLst>
                  <a:ext uri="{FF2B5EF4-FFF2-40B4-BE49-F238E27FC236}">
                    <a16:creationId xmlns:a16="http://schemas.microsoft.com/office/drawing/2014/main" id="{50A85065-1747-6C4E-8BA4-9C1ED8A185A6}"/>
                  </a:ext>
                </a:extLst>
              </p:cNvPr>
              <p:cNvSpPr>
                <a:spLocks noRot="1" noChangeAspect="1" noMove="1" noResize="1" noEditPoints="1" noAdjustHandles="1" noChangeArrowheads="1" noChangeShapeType="1" noTextEdit="1"/>
              </p:cNvSpPr>
              <p:nvPr/>
            </p:nvSpPr>
            <p:spPr>
              <a:xfrm>
                <a:off x="730265" y="1187785"/>
                <a:ext cx="10987601" cy="430887"/>
              </a:xfrm>
              <a:prstGeom prst="rect">
                <a:avLst/>
              </a:prstGeom>
              <a:blipFill>
                <a:blip r:embed="rId5"/>
                <a:stretch>
                  <a:fillRect l="-808" t="-8571" b="-28571"/>
                </a:stretch>
              </a:blipFill>
            </p:spPr>
            <p:txBody>
              <a:bodyPr/>
              <a:lstStyle/>
              <a:p>
                <a:r>
                  <a:rPr lang="en-US">
                    <a:noFill/>
                  </a:rPr>
                  <a:t> </a:t>
                </a:r>
              </a:p>
            </p:txBody>
          </p:sp>
        </mc:Fallback>
      </mc:AlternateContent>
      <p:sp>
        <p:nvSpPr>
          <p:cNvPr id="11" name="Google Shape;282;g104476d1465_1_17">
            <a:extLst>
              <a:ext uri="{FF2B5EF4-FFF2-40B4-BE49-F238E27FC236}">
                <a16:creationId xmlns:a16="http://schemas.microsoft.com/office/drawing/2014/main" xmlns="" id="{D20425D2-BFDA-974E-9037-009E6465CCF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a:t>
            </a:r>
            <a:endParaRPr i="1" dirty="0">
              <a:latin typeface="Calibri"/>
              <a:ea typeface="Calibri"/>
              <a:cs typeface="Calibri"/>
              <a:sym typeface="Calibri"/>
            </a:endParaRPr>
          </a:p>
        </p:txBody>
      </p:sp>
      <p:pic>
        <p:nvPicPr>
          <p:cNvPr id="10" name="image2.png" descr="A close up of a sign&#10;&#10;Description automatically generated">
            <a:extLst>
              <a:ext uri="{FF2B5EF4-FFF2-40B4-BE49-F238E27FC236}">
                <a16:creationId xmlns:a16="http://schemas.microsoft.com/office/drawing/2014/main" xmlns="" id="{406126A6-1735-C84F-9D5D-E9B61F5F7086}"/>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4968687" y="2085507"/>
            <a:ext cx="621665" cy="621665"/>
          </a:xfrm>
          <a:prstGeom prst="rect">
            <a:avLst/>
          </a:prstGeom>
          <a:ln/>
        </p:spPr>
      </p:pic>
      <p:pic>
        <p:nvPicPr>
          <p:cNvPr id="12" name="image1.png" descr="A picture containing clock&#10;&#10;Description automatically generated">
            <a:extLst>
              <a:ext uri="{FF2B5EF4-FFF2-40B4-BE49-F238E27FC236}">
                <a16:creationId xmlns:a16="http://schemas.microsoft.com/office/drawing/2014/main" xmlns="" id="{5B7FF68F-0D32-CE4F-A1AC-40A92F99B2B8}"/>
              </a:ext>
            </a:extLst>
          </p:cNvPr>
          <p:cNvPicPr/>
          <p:nvPr/>
        </p:nvPicPr>
        <p:blipFill>
          <a:blip r:embed="rId7" cstate="screen">
            <a:extLst>
              <a:ext uri="{28A0092B-C50C-407E-A947-70E740481C1C}">
                <a14:useLocalDpi xmlns:a14="http://schemas.microsoft.com/office/drawing/2010/main"/>
              </a:ext>
            </a:extLst>
          </a:blip>
          <a:srcRect/>
          <a:stretch>
            <a:fillRect/>
          </a:stretch>
        </p:blipFill>
        <p:spPr>
          <a:xfrm>
            <a:off x="4968687" y="2754262"/>
            <a:ext cx="621665" cy="621665"/>
          </a:xfrm>
          <a:prstGeom prst="rect">
            <a:avLst/>
          </a:prstGeom>
          <a:ln/>
        </p:spPr>
      </p:pic>
      <p:pic>
        <p:nvPicPr>
          <p:cNvPr id="13" name="image2.png" descr="A close up of a sign&#10;&#10;Description automatically generated">
            <a:extLst>
              <a:ext uri="{FF2B5EF4-FFF2-40B4-BE49-F238E27FC236}">
                <a16:creationId xmlns:a16="http://schemas.microsoft.com/office/drawing/2014/main" xmlns="" id="{DB947668-7290-264A-9280-466B00AFC4C1}"/>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5647097" y="2098169"/>
            <a:ext cx="621665" cy="621665"/>
          </a:xfrm>
          <a:prstGeom prst="rect">
            <a:avLst/>
          </a:prstGeom>
          <a:ln/>
        </p:spPr>
      </p:pic>
      <p:pic>
        <p:nvPicPr>
          <p:cNvPr id="14" name="image2.png" descr="A close up of a sign&#10;&#10;Description automatically generated">
            <a:extLst>
              <a:ext uri="{FF2B5EF4-FFF2-40B4-BE49-F238E27FC236}">
                <a16:creationId xmlns:a16="http://schemas.microsoft.com/office/drawing/2014/main" xmlns="" id="{3D5E1144-74E1-C042-8001-9EE50AC2BD25}"/>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6325507" y="2098169"/>
            <a:ext cx="621665" cy="621665"/>
          </a:xfrm>
          <a:prstGeom prst="rect">
            <a:avLst/>
          </a:prstGeom>
          <a:ln/>
        </p:spPr>
      </p:pic>
      <p:pic>
        <p:nvPicPr>
          <p:cNvPr id="15" name="image1.png" descr="A picture containing clock&#10;&#10;Description automatically generated">
            <a:extLst>
              <a:ext uri="{FF2B5EF4-FFF2-40B4-BE49-F238E27FC236}">
                <a16:creationId xmlns:a16="http://schemas.microsoft.com/office/drawing/2014/main" xmlns="" id="{D064A8A3-EFBD-1040-A819-82AB0B8C256F}"/>
              </a:ext>
            </a:extLst>
          </p:cNvPr>
          <p:cNvPicPr/>
          <p:nvPr/>
        </p:nvPicPr>
        <p:blipFill>
          <a:blip r:embed="rId7" cstate="screen">
            <a:extLst>
              <a:ext uri="{28A0092B-C50C-407E-A947-70E740481C1C}">
                <a14:useLocalDpi xmlns:a14="http://schemas.microsoft.com/office/drawing/2010/main"/>
              </a:ext>
            </a:extLst>
          </a:blip>
          <a:srcRect/>
          <a:stretch>
            <a:fillRect/>
          </a:stretch>
        </p:blipFill>
        <p:spPr>
          <a:xfrm>
            <a:off x="5647097" y="2754262"/>
            <a:ext cx="621665" cy="621665"/>
          </a:xfrm>
          <a:prstGeom prst="rect">
            <a:avLst/>
          </a:prstGeom>
          <a:ln/>
        </p:spPr>
      </p:pic>
      <p:pic>
        <p:nvPicPr>
          <p:cNvPr id="16" name="image1.png" descr="A picture containing clock&#10;&#10;Description automatically generated">
            <a:extLst>
              <a:ext uri="{FF2B5EF4-FFF2-40B4-BE49-F238E27FC236}">
                <a16:creationId xmlns:a16="http://schemas.microsoft.com/office/drawing/2014/main" xmlns="" id="{C8D307D0-4127-7242-BCE0-88901080D2EB}"/>
              </a:ext>
            </a:extLst>
          </p:cNvPr>
          <p:cNvPicPr/>
          <p:nvPr/>
        </p:nvPicPr>
        <p:blipFill>
          <a:blip r:embed="rId7" cstate="screen">
            <a:extLst>
              <a:ext uri="{28A0092B-C50C-407E-A947-70E740481C1C}">
                <a14:useLocalDpi xmlns:a14="http://schemas.microsoft.com/office/drawing/2010/main"/>
              </a:ext>
            </a:extLst>
          </a:blip>
          <a:srcRect/>
          <a:stretch>
            <a:fillRect/>
          </a:stretch>
        </p:blipFill>
        <p:spPr>
          <a:xfrm>
            <a:off x="6325507" y="2754262"/>
            <a:ext cx="621665" cy="621665"/>
          </a:xfrm>
          <a:prstGeom prst="rect">
            <a:avLst/>
          </a:prstGeom>
          <a:ln/>
        </p:spPr>
      </p:pic>
      <p:pic>
        <p:nvPicPr>
          <p:cNvPr id="17" name="image1.png" descr="A picture containing clock&#10;&#10;Description automatically generated">
            <a:extLst>
              <a:ext uri="{FF2B5EF4-FFF2-40B4-BE49-F238E27FC236}">
                <a16:creationId xmlns:a16="http://schemas.microsoft.com/office/drawing/2014/main" xmlns="" id="{F0AE13A9-C951-0543-ACFC-79365E63A02A}"/>
              </a:ext>
            </a:extLst>
          </p:cNvPr>
          <p:cNvPicPr/>
          <p:nvPr/>
        </p:nvPicPr>
        <p:blipFill>
          <a:blip r:embed="rId7" cstate="screen">
            <a:extLst>
              <a:ext uri="{28A0092B-C50C-407E-A947-70E740481C1C}">
                <a14:useLocalDpi xmlns:a14="http://schemas.microsoft.com/office/drawing/2010/main"/>
              </a:ext>
            </a:extLst>
          </a:blip>
          <a:srcRect/>
          <a:stretch>
            <a:fillRect/>
          </a:stretch>
        </p:blipFill>
        <p:spPr>
          <a:xfrm>
            <a:off x="7003917" y="2754262"/>
            <a:ext cx="621665" cy="621665"/>
          </a:xfrm>
          <a:prstGeom prst="rect">
            <a:avLst/>
          </a:prstGeom>
          <a:ln/>
        </p:spPr>
      </p:pic>
      <p:sp>
        <p:nvSpPr>
          <p:cNvPr id="18" name="Rectangle 17">
            <a:extLst>
              <a:ext uri="{FF2B5EF4-FFF2-40B4-BE49-F238E27FC236}">
                <a16:creationId xmlns:a16="http://schemas.microsoft.com/office/drawing/2014/main" xmlns="" id="{40B0F512-22D2-5446-ACFB-C5EE55C49B59}"/>
              </a:ext>
            </a:extLst>
          </p:cNvPr>
          <p:cNvSpPr/>
          <p:nvPr/>
        </p:nvSpPr>
        <p:spPr>
          <a:xfrm>
            <a:off x="1103915" y="3805239"/>
            <a:ext cx="10309151" cy="769441"/>
          </a:xfrm>
          <a:prstGeom prst="rect">
            <a:avLst/>
          </a:prstGeom>
        </p:spPr>
        <p:txBody>
          <a:bodyPr wrap="square">
            <a:spAutoFit/>
          </a:bodyPr>
          <a:lstStyle/>
          <a:p>
            <a:pPr lvl="0"/>
            <a:r>
              <a:rPr lang="en-US" sz="2200" dirty="0">
                <a:latin typeface="Verdana" panose="020B0604030504040204" pitchFamily="34" charset="0"/>
                <a:ea typeface="Verdana" panose="020B0604030504040204" pitchFamily="34" charset="0"/>
                <a:cs typeface="Verdana" panose="020B0604030504040204" pitchFamily="34" charset="0"/>
              </a:rPr>
              <a:t>Her sketch is incorrect. Explain why and create a new sketch to find the sum. </a:t>
            </a:r>
          </a:p>
        </p:txBody>
      </p:sp>
    </p:spTree>
    <p:extLst>
      <p:ext uri="{BB962C8B-B14F-4D97-AF65-F5344CB8AC3E}">
        <p14:creationId xmlns:p14="http://schemas.microsoft.com/office/powerpoint/2010/main" val="5539956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xmlns="" id="{50A85065-1747-6C4E-8BA4-9C1ED8A185A6}"/>
              </a:ext>
            </a:extLst>
          </p:cNvPr>
          <p:cNvSpPr/>
          <p:nvPr/>
        </p:nvSpPr>
        <p:spPr>
          <a:xfrm>
            <a:off x="512469" y="523969"/>
            <a:ext cx="8422610" cy="400110"/>
          </a:xfrm>
          <a:prstGeom prst="rect">
            <a:avLst/>
          </a:prstGeom>
        </p:spPr>
        <p:txBody>
          <a:bodyPr wrap="square">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Complete the table for the expression below. </a:t>
            </a:r>
          </a:p>
        </p:txBody>
      </p:sp>
      <p:sp>
        <p:nvSpPr>
          <p:cNvPr id="11" name="Google Shape;282;g104476d1465_1_17">
            <a:extLst>
              <a:ext uri="{FF2B5EF4-FFF2-40B4-BE49-F238E27FC236}">
                <a16:creationId xmlns:a16="http://schemas.microsoft.com/office/drawing/2014/main" xmlns="" id="{D20425D2-BFDA-974E-9037-009E6465CCF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xmlns="" id="{AB2B6737-BA8A-EA47-AB3D-5F862C3C2DFA}"/>
                  </a:ext>
                </a:extLst>
              </p:cNvPr>
              <p:cNvGraphicFramePr>
                <a:graphicFrameLocks noGrp="1"/>
              </p:cNvGraphicFramePr>
              <p:nvPr>
                <p:extLst>
                  <p:ext uri="{D42A27DB-BD31-4B8C-83A1-F6EECF244321}">
                    <p14:modId xmlns:p14="http://schemas.microsoft.com/office/powerpoint/2010/main" val="1952467153"/>
                  </p:ext>
                </p:extLst>
              </p:nvPr>
            </p:nvGraphicFramePr>
            <p:xfrm>
              <a:off x="2798131" y="1159593"/>
              <a:ext cx="6650930" cy="4856480"/>
            </p:xfrm>
            <a:graphic>
              <a:graphicData uri="http://schemas.openxmlformats.org/drawingml/2006/table">
                <a:tbl>
                  <a:tblPr bandRow="1">
                    <a:tableStyleId>{A91F0D33-8C57-4600-99A7-42BC86742BE1}</a:tableStyleId>
                  </a:tblPr>
                  <a:tblGrid>
                    <a:gridCol w="1616026">
                      <a:extLst>
                        <a:ext uri="{9D8B030D-6E8A-4147-A177-3AD203B41FA5}">
                          <a16:colId xmlns:a16="http://schemas.microsoft.com/office/drawing/2014/main" xmlns="" val="1829522339"/>
                        </a:ext>
                      </a:extLst>
                    </a:gridCol>
                    <a:gridCol w="5034904">
                      <a:extLst>
                        <a:ext uri="{9D8B030D-6E8A-4147-A177-3AD203B41FA5}">
                          <a16:colId xmlns:a16="http://schemas.microsoft.com/office/drawing/2014/main" xmlns="" val="4126095376"/>
                        </a:ext>
                      </a:extLst>
                    </a:gridCol>
                  </a:tblGrid>
                  <a:tr h="357985">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Expression</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0269" marR="602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3+</m:t>
                                </m:r>
                                <m:sPre>
                                  <m:sPrePr>
                                    <m:ctrlPr>
                                      <a:rPr lang="x-none" sz="1800" i="1">
                                        <a:effectLst/>
                                        <a:latin typeface="Cambria Math"/>
                                      </a:rPr>
                                    </m:ctrlPr>
                                  </m:sPrePr>
                                  <m:sub/>
                                  <m:sup>
                                    <m:r>
                                      <a:rPr lang="en-US" sz="1800">
                                        <a:effectLst/>
                                        <a:latin typeface="Cambria Math" panose="02040503050406030204" pitchFamily="18" charset="0"/>
                                      </a:rPr>
                                      <m:t>−</m:t>
                                    </m:r>
                                  </m:sup>
                                  <m:e>
                                    <m:r>
                                      <a:rPr lang="en-US" sz="1800">
                                        <a:effectLst/>
                                        <a:latin typeface="Cambria Math" panose="02040503050406030204" pitchFamily="18" charset="0"/>
                                      </a:rPr>
                                      <m:t>5</m:t>
                                    </m:r>
                                  </m:e>
                                </m:sPre>
                              </m:oMath>
                            </m:oMathPara>
                          </a14:m>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0269" marR="602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71615251"/>
                      </a:ext>
                    </a:extLst>
                  </a:tr>
                  <a:tr h="2357172">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Integer Chips</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0269" marR="602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0269" marR="602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126904345"/>
                      </a:ext>
                    </a:extLst>
                  </a:tr>
                  <a:tr h="521212">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Money Sentence</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0269" marR="602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0269" marR="602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548787"/>
                      </a:ext>
                    </a:extLst>
                  </a:tr>
                  <a:tr h="521212">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Sign of the Sum</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0269" marR="602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200">
                            <a:effectLst/>
                            <a:latin typeface="Verdana" panose="020B0604030504040204" pitchFamily="34" charset="0"/>
                            <a:ea typeface="Verdana" panose="020B0604030504040204" pitchFamily="34" charset="0"/>
                            <a:cs typeface="Verdana" panose="020B0604030504040204" pitchFamily="34" charset="0"/>
                          </a:endParaRPr>
                        </a:p>
                      </a:txBody>
                      <a:tcPr marL="60269" marR="602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373837935"/>
                      </a:ext>
                    </a:extLst>
                  </a:tr>
                  <a:tr h="593757">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Sum</a:t>
                          </a:r>
                          <a:endParaRPr lang="x-none" sz="1200" b="1" dirty="0">
                            <a:effectLst/>
                            <a:latin typeface="Verdana" panose="020B0604030504040204" pitchFamily="34" charset="0"/>
                            <a:ea typeface="Verdana" panose="020B0604030504040204" pitchFamily="34" charset="0"/>
                            <a:cs typeface="Verdana" panose="020B0604030504040204" pitchFamily="34" charset="0"/>
                          </a:endParaRPr>
                        </a:p>
                      </a:txBody>
                      <a:tcPr marL="60269" marR="602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200" dirty="0">
                            <a:effectLst/>
                            <a:latin typeface="Verdana" panose="020B0604030504040204" pitchFamily="34" charset="0"/>
                            <a:ea typeface="Verdana" panose="020B0604030504040204" pitchFamily="34" charset="0"/>
                            <a:cs typeface="Verdana" panose="020B0604030504040204" pitchFamily="34" charset="0"/>
                          </a:endParaRPr>
                        </a:p>
                      </a:txBody>
                      <a:tcPr marL="60269" marR="602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23418948"/>
                      </a:ext>
                    </a:extLst>
                  </a:tr>
                </a:tbl>
              </a:graphicData>
            </a:graphic>
          </p:graphicFrame>
        </mc:Choice>
        <mc:Fallback xmlns="">
          <p:graphicFrame>
            <p:nvGraphicFramePr>
              <p:cNvPr id="4" name="Table 3">
                <a:extLst>
                  <a:ext uri="{FF2B5EF4-FFF2-40B4-BE49-F238E27FC236}">
                    <a16:creationId xmlns:a16="http://schemas.microsoft.com/office/drawing/2014/main" id="{AB2B6737-BA8A-EA47-AB3D-5F862C3C2DFA}"/>
                  </a:ext>
                </a:extLst>
              </p:cNvPr>
              <p:cNvGraphicFramePr>
                <a:graphicFrameLocks noGrp="1"/>
              </p:cNvGraphicFramePr>
              <p:nvPr>
                <p:extLst>
                  <p:ext uri="{D42A27DB-BD31-4B8C-83A1-F6EECF244321}">
                    <p14:modId xmlns:p14="http://schemas.microsoft.com/office/powerpoint/2010/main" val="1952467153"/>
                  </p:ext>
                </p:extLst>
              </p:nvPr>
            </p:nvGraphicFramePr>
            <p:xfrm>
              <a:off x="2798131" y="1159593"/>
              <a:ext cx="6650930" cy="4862513"/>
            </p:xfrm>
            <a:graphic>
              <a:graphicData uri="http://schemas.openxmlformats.org/drawingml/2006/table">
                <a:tbl>
                  <a:tblPr bandRow="1">
                    <a:tableStyleId>{A91F0D33-8C57-4600-99A7-42BC86742BE1}</a:tableStyleId>
                  </a:tblPr>
                  <a:tblGrid>
                    <a:gridCol w="1616026">
                      <a:extLst>
                        <a:ext uri="{9D8B030D-6E8A-4147-A177-3AD203B41FA5}">
                          <a16:colId xmlns:a16="http://schemas.microsoft.com/office/drawing/2014/main" val="1829522339"/>
                        </a:ext>
                      </a:extLst>
                    </a:gridCol>
                    <a:gridCol w="5034904">
                      <a:extLst>
                        <a:ext uri="{9D8B030D-6E8A-4147-A177-3AD203B41FA5}">
                          <a16:colId xmlns:a16="http://schemas.microsoft.com/office/drawing/2014/main" val="4126095376"/>
                        </a:ext>
                      </a:extLst>
                    </a:gridCol>
                  </a:tblGrid>
                  <a:tr h="407353">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Expression</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0269" marR="602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endParaRPr lang="en-US"/>
                        </a:p>
                      </a:txBody>
                      <a:tcPr marL="60269" marR="602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2494" t="-3125" r="-252" b="-1103125"/>
                          </a:stretch>
                        </a:blipFill>
                      </a:tcPr>
                    </a:tc>
                    <a:extLst>
                      <a:ext uri="{0D108BD9-81ED-4DB2-BD59-A6C34878D82A}">
                        <a16:rowId xmlns:a16="http://schemas.microsoft.com/office/drawing/2014/main" val="271615251"/>
                      </a:ext>
                    </a:extLst>
                  </a:tr>
                  <a:tr h="2682240">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Integer Chips</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0269" marR="602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0269" marR="602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6904345"/>
                      </a:ext>
                    </a:extLst>
                  </a:tr>
                  <a:tr h="548640">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Money Sentence</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0269" marR="602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0269" marR="602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48787"/>
                      </a:ext>
                    </a:extLst>
                  </a:tr>
                  <a:tr h="548640">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Sign of the Sum</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0269" marR="602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200">
                            <a:effectLst/>
                            <a:latin typeface="Verdana" panose="020B0604030504040204" pitchFamily="34" charset="0"/>
                            <a:ea typeface="Verdana" panose="020B0604030504040204" pitchFamily="34" charset="0"/>
                            <a:cs typeface="Verdana" panose="020B0604030504040204" pitchFamily="34" charset="0"/>
                          </a:endParaRPr>
                        </a:p>
                      </a:txBody>
                      <a:tcPr marL="60269" marR="602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3837935"/>
                      </a:ext>
                    </a:extLst>
                  </a:tr>
                  <a:tr h="675640">
                    <a:tc>
                      <a:txBody>
                        <a:bodyPr/>
                        <a:lstStyle/>
                        <a:p>
                          <a:pPr marL="0" marR="0" algn="ctr">
                            <a:spcBef>
                              <a:spcPts val="0"/>
                            </a:spcBef>
                            <a:spcAft>
                              <a:spcPts val="100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Sum</a:t>
                          </a:r>
                          <a:endParaRPr lang="en-CO" sz="1200" b="1" dirty="0">
                            <a:effectLst/>
                            <a:latin typeface="Verdana" panose="020B0604030504040204" pitchFamily="34" charset="0"/>
                            <a:ea typeface="Verdana" panose="020B0604030504040204" pitchFamily="34" charset="0"/>
                            <a:cs typeface="Verdana" panose="020B0604030504040204" pitchFamily="34" charset="0"/>
                          </a:endParaRPr>
                        </a:p>
                      </a:txBody>
                      <a:tcPr marL="60269" marR="602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100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200" dirty="0">
                            <a:effectLst/>
                            <a:latin typeface="Verdana" panose="020B0604030504040204" pitchFamily="34" charset="0"/>
                            <a:ea typeface="Verdana" panose="020B0604030504040204" pitchFamily="34" charset="0"/>
                            <a:cs typeface="Verdana" panose="020B0604030504040204" pitchFamily="34" charset="0"/>
                          </a:endParaRPr>
                        </a:p>
                      </a:txBody>
                      <a:tcPr marL="60269" marR="6026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418948"/>
                      </a:ext>
                    </a:extLst>
                  </a:tr>
                </a:tbl>
              </a:graphicData>
            </a:graphic>
          </p:graphicFrame>
        </mc:Fallback>
      </mc:AlternateContent>
    </p:spTree>
    <p:extLst>
      <p:ext uri="{BB962C8B-B14F-4D97-AF65-F5344CB8AC3E}">
        <p14:creationId xmlns:p14="http://schemas.microsoft.com/office/powerpoint/2010/main" val="952528111"/>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1488</TotalTime>
  <Words>1492</Words>
  <Application>Microsoft Office PowerPoint</Application>
  <PresentationFormat>Custom</PresentationFormat>
  <Paragraphs>375</Paragraphs>
  <Slides>38</Slides>
  <Notes>38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38</vt:i4>
      </vt:variant>
    </vt:vector>
  </HeadingPairs>
  <TitlesOfParts>
    <vt:vector size="49" baseType="lpstr">
      <vt:lpstr>Arial</vt:lpstr>
      <vt:lpstr>Verdana</vt:lpstr>
      <vt:lpstr>Calibri</vt:lpstr>
      <vt:lpstr>Times New Roman</vt:lpstr>
      <vt:lpstr>Century Gothic</vt:lpstr>
      <vt:lpstr>Cutive</vt:lpstr>
      <vt:lpstr>Wingdings</vt:lpstr>
      <vt:lpstr>Cambria Math</vt:lpstr>
      <vt:lpstr>Cambria</vt:lpstr>
      <vt:lpstr>Arial Black</vt:lpstr>
      <vt:lpstr>1_Office Theme</vt:lpstr>
      <vt:lpstr>6th Grade Math  Unit 7, Lesson 3  Adding Integers Using Integer Chips  Volume 2, pg. 12  </vt:lpstr>
      <vt:lpstr>Benchmark</vt:lpstr>
      <vt:lpstr>PowerPoint Presentation</vt:lpstr>
      <vt:lpstr>PowerPoint Presentation</vt:lpstr>
      <vt:lpstr>Warm-Up</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Exploration</vt:lpstr>
      <vt:lpstr>PowerPoint Presentation</vt:lpstr>
      <vt:lpstr>PowerPoint Presentation</vt:lpstr>
      <vt:lpstr>Bring It Together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John Patrick</cp:lastModifiedBy>
  <cp:revision>26</cp:revision>
  <dcterms:created xsi:type="dcterms:W3CDTF">2015-03-17T18:51:18Z</dcterms:created>
  <dcterms:modified xsi:type="dcterms:W3CDTF">2022-06-05T06:29:17Z</dcterms:modified>
</cp:coreProperties>
</file>