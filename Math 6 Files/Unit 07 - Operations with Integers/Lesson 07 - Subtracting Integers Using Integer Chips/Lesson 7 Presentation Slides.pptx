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85" r:id="rId4"/>
    <p:sldId id="286" r:id="rId5"/>
    <p:sldId id="261" r:id="rId6"/>
    <p:sldId id="287" r:id="rId7"/>
    <p:sldId id="351" r:id="rId8"/>
    <p:sldId id="302" r:id="rId9"/>
    <p:sldId id="303" r:id="rId10"/>
    <p:sldId id="340" r:id="rId11"/>
    <p:sldId id="356" r:id="rId12"/>
    <p:sldId id="357" r:id="rId13"/>
    <p:sldId id="342" r:id="rId14"/>
    <p:sldId id="343" r:id="rId15"/>
    <p:sldId id="344" r:id="rId16"/>
    <p:sldId id="352" r:id="rId17"/>
    <p:sldId id="353" r:id="rId18"/>
    <p:sldId id="354" r:id="rId19"/>
    <p:sldId id="345" r:id="rId20"/>
    <p:sldId id="346" r:id="rId21"/>
    <p:sldId id="347" r:id="rId22"/>
    <p:sldId id="311" r:id="rId23"/>
    <p:sldId id="312" r:id="rId24"/>
    <p:sldId id="306" r:id="rId25"/>
    <p:sldId id="307" r:id="rId26"/>
    <p:sldId id="341" r:id="rId27"/>
  </p:sldIdLst>
  <p:sldSz cx="12192000" cy="6858000"/>
  <p:notesSz cx="6858000" cy="9144000"/>
  <p:embeddedFontLst>
    <p:embeddedFont>
      <p:font typeface="Arial Black" panose="020B0A04020102020204" pitchFamily="34" charset="0"/>
      <p:bold r:id="rId29"/>
    </p:embeddedFont>
    <p:embeddedFont>
      <p:font typeface="Calibri" panose="020F0502020204030204" pitchFamily="34" charset="0"/>
      <p:regular r:id="rId30"/>
      <p:bold r:id="rId31"/>
      <p:italic r:id="rId32"/>
      <p:boldItalic r:id="rId33"/>
    </p:embeddedFont>
    <p:embeddedFont>
      <p:font typeface="Cambria" panose="02040503050406030204" pitchFamily="18" charset="0"/>
      <p:regular r:id="rId34"/>
      <p:bold r:id="rId35"/>
      <p:italic r:id="rId36"/>
      <p:boldItalic r:id="rId37"/>
    </p:embeddedFont>
    <p:embeddedFont>
      <p:font typeface="Cambria Math" panose="02040503050406030204" pitchFamily="18" charset="0"/>
      <p:regular r:id="rId38"/>
    </p:embeddedFont>
    <p:embeddedFont>
      <p:font typeface="Century Gothic" panose="020B0502020202020204" pitchFamily="34" charset="0"/>
      <p:regular r:id="rId39"/>
      <p:bold r:id="rId40"/>
      <p:italic r:id="rId41"/>
      <p:boldItalic r:id="rId42"/>
    </p:embeddedFont>
    <p:embeddedFont>
      <p:font typeface="Verdana" panose="020B0604030504040204" pitchFamily="3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BAAA"/>
    <a:srgbClr val="26B7D4"/>
    <a:srgbClr val="E24E5F"/>
    <a:srgbClr val="52BDA6"/>
    <a:srgbClr val="276C46"/>
    <a:srgbClr val="C9DF6F"/>
    <a:srgbClr val="417DBF"/>
    <a:srgbClr val="3F2A67"/>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451"/>
    <p:restoredTop sz="94722"/>
  </p:normalViewPr>
  <p:slideViewPr>
    <p:cSldViewPr snapToGrid="0">
      <p:cViewPr varScale="1">
        <p:scale>
          <a:sx n="79" d="100"/>
          <a:sy n="79" d="100"/>
        </p:scale>
        <p:origin x="322"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8178781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882735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126847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7926217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188141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9627584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5368421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5433010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5147452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2700940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0875314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6589136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5234236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9074847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9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7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10.png"/><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7, Lesson 7</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Subtracting Integers Using Integer Chips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7048"/>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solidFill>
                <a:srgbClr val="26B7D4"/>
              </a:solidFill>
            </a:endParaRPr>
          </a:p>
        </p:txBody>
      </p:sp>
      <p:sp>
        <p:nvSpPr>
          <p:cNvPr id="279" name="Google Shape;279;g104476d1465_1_17"/>
          <p:cNvSpPr txBox="1">
            <a:spLocks noGrp="1"/>
          </p:cNvSpPr>
          <p:nvPr>
            <p:ph type="title" idx="4294967295"/>
          </p:nvPr>
        </p:nvSpPr>
        <p:spPr>
          <a:xfrm>
            <a:off x="1234440" y="-9144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05255" y="1600200"/>
            <a:ext cx="11040001"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MA.6.NSO.4.1</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Apply and extend previous understandings of operations with whole numbers to add and subtract integers with procedural fluency.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06424" y="0"/>
            <a:ext cx="951040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05256" y="1596390"/>
            <a:ext cx="1045943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a:extLst>
              <a:ext uri="{FF2B5EF4-FFF2-40B4-BE49-F238E27FC236}">
                <a16:creationId xmlns:a16="http://schemas.microsoft.com/office/drawing/2014/main" id="{AC0AE969-0A27-9545-AB11-BBE5491801C1}"/>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06424"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05256" y="1547093"/>
            <a:ext cx="8229600" cy="449886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use integer chips to subtract integers.</a:t>
            </a:r>
          </a:p>
        </p:txBody>
      </p:sp>
      <p:sp>
        <p:nvSpPr>
          <p:cNvPr id="8" name="Google Shape;282;g104476d1465_1_17">
            <a:extLst>
              <a:ext uri="{FF2B5EF4-FFF2-40B4-BE49-F238E27FC236}">
                <a16:creationId xmlns:a16="http://schemas.microsoft.com/office/drawing/2014/main" id="{AE0319DD-E1E2-064E-A3C0-1ADADEA7DC7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215384" y="2770632"/>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06503EB0-E904-7143-BA20-369F935837E3}"/>
              </a:ext>
            </a:extLst>
          </p:cNvPr>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06424"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7.7.1 Warm-Up: When Will I Use This?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id="{079F083F-A67E-0047-8E64-5125815AF3D8}"/>
              </a:ext>
            </a:extLst>
          </p:cNvPr>
          <p:cNvSpPr/>
          <p:nvPr/>
        </p:nvSpPr>
        <p:spPr>
          <a:xfrm>
            <a:off x="905256" y="1344460"/>
            <a:ext cx="9711570" cy="1938992"/>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The speaker states, “It’s not about what you learn, it’s about what methods, tools, and tactics you have to develop in order to solve the problem that you may never see again for the rest of your life …” What does he mean by “methods, tools, and tactics”?</a:t>
            </a:r>
          </a:p>
        </p:txBody>
      </p:sp>
      <p:sp>
        <p:nvSpPr>
          <p:cNvPr id="18" name="Google Shape;282;g104476d1465_1_17">
            <a:extLst>
              <a:ext uri="{FF2B5EF4-FFF2-40B4-BE49-F238E27FC236}">
                <a16:creationId xmlns:a16="http://schemas.microsoft.com/office/drawing/2014/main" id="{570FC961-D801-0C4E-8D4A-AEC23A74C9C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a:t>
            </a:r>
            <a:endParaRPr i="1" dirty="0">
              <a:latin typeface="Calibri"/>
              <a:ea typeface="Calibri"/>
              <a:cs typeface="Calibri"/>
              <a:sym typeface="Calibri"/>
            </a:endParaRPr>
          </a:p>
        </p:txBody>
      </p:sp>
      <p:pic>
        <p:nvPicPr>
          <p:cNvPr id="6" name="Picture 5">
            <a:extLst>
              <a:ext uri="{FF2B5EF4-FFF2-40B4-BE49-F238E27FC236}">
                <a16:creationId xmlns:a16="http://schemas.microsoft.com/office/drawing/2014/main" id="{EFD62245-4D13-E074-DF20-47E5C59429EA}"/>
              </a:ext>
            </a:extLst>
          </p:cNvPr>
          <p:cNvPicPr>
            <a:picLocks noChangeAspect="1"/>
          </p:cNvPicPr>
          <p:nvPr/>
        </p:nvPicPr>
        <p:blipFill>
          <a:blip r:embed="rId5"/>
          <a:stretch>
            <a:fillRect/>
          </a:stretch>
        </p:blipFill>
        <p:spPr>
          <a:xfrm>
            <a:off x="10008948" y="130715"/>
            <a:ext cx="2016109" cy="2031499"/>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 name="Rectangle 2">
            <a:extLst>
              <a:ext uri="{FF2B5EF4-FFF2-40B4-BE49-F238E27FC236}">
                <a16:creationId xmlns:a16="http://schemas.microsoft.com/office/drawing/2014/main" id="{079F083F-A67E-0047-8E64-5125815AF3D8}"/>
              </a:ext>
            </a:extLst>
          </p:cNvPr>
          <p:cNvSpPr/>
          <p:nvPr/>
        </p:nvSpPr>
        <p:spPr>
          <a:xfrm>
            <a:off x="905256" y="845187"/>
            <a:ext cx="9965944" cy="1569660"/>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The quote continues to say, “… but you will see other problems where these methods and tools will become immensely valuable to you.” Where might these methods, tools, and tactics help you in everyday life?</a:t>
            </a:r>
          </a:p>
        </p:txBody>
      </p:sp>
      <p:sp>
        <p:nvSpPr>
          <p:cNvPr id="18" name="Google Shape;282;g104476d1465_1_17">
            <a:extLst>
              <a:ext uri="{FF2B5EF4-FFF2-40B4-BE49-F238E27FC236}">
                <a16:creationId xmlns:a16="http://schemas.microsoft.com/office/drawing/2014/main" id="{570FC961-D801-0C4E-8D4A-AEC23A74C9C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a:t>
            </a:r>
            <a:endParaRPr i="1" dirty="0">
              <a:latin typeface="Calibri"/>
              <a:ea typeface="Calibri"/>
              <a:cs typeface="Calibri"/>
              <a:sym typeface="Calibri"/>
            </a:endParaRPr>
          </a:p>
        </p:txBody>
      </p:sp>
    </p:spTree>
    <p:extLst>
      <p:ext uri="{BB962C8B-B14F-4D97-AF65-F5344CB8AC3E}">
        <p14:creationId xmlns:p14="http://schemas.microsoft.com/office/powerpoint/2010/main" val="2722882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70632"/>
            <a:ext cx="4480750" cy="1325700"/>
          </a:xfrm>
          <a:prstGeom prst="rect">
            <a:avLst/>
          </a:prstGeom>
          <a:noFill/>
          <a:ln>
            <a:noFill/>
          </a:ln>
        </p:spPr>
        <p:txBody>
          <a:bodyPr spcFirstLastPara="1" wrap="square" lIns="91425" tIns="45700" rIns="91425" bIns="45700" anchor="ctr" anchorCtr="0">
            <a:noAutofit/>
          </a:bodyPr>
          <a:lstStyle/>
          <a:p>
            <a:pPr>
              <a:buClr>
                <a:schemeClr val="lt1"/>
              </a:buClr>
              <a:buSzPts val="4800"/>
            </a:pPr>
            <a:r>
              <a:rPr lang="en-US" sz="4800" b="1" dirty="0">
                <a:solidFill>
                  <a:srgbClr val="52BDA6"/>
                </a:solidFill>
                <a:latin typeface="Verdana"/>
                <a:ea typeface="Verdana"/>
                <a:cs typeface="Verdana"/>
                <a:sym typeface="Verdana"/>
              </a:rPr>
              <a:t>Exploration</a:t>
            </a:r>
            <a:endParaRPr sz="44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a16="http://schemas.microsoft.com/office/drawing/2014/main" id="{04201096-008D-9E40-8962-B6CD490C930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a16="http://schemas.microsoft.com/office/drawing/2014/main" id="{E7BB5419-4120-4E4D-AB3A-AB7B3D807E6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28534" cy="112853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90839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106423" y="0"/>
            <a:ext cx="9938947"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2BDA6"/>
                </a:solidFill>
                <a:latin typeface="Verdana"/>
                <a:ea typeface="Verdana"/>
                <a:cs typeface="Verdana"/>
                <a:sym typeface="Verdana"/>
              </a:rPr>
              <a:t>7.7.2 Exploration: Subtracting Integers</a:t>
            </a:r>
          </a:p>
        </p:txBody>
      </p:sp>
      <p:sp>
        <p:nvSpPr>
          <p:cNvPr id="2" name="Rectangle 1">
            <a:extLst>
              <a:ext uri="{FF2B5EF4-FFF2-40B4-BE49-F238E27FC236}">
                <a16:creationId xmlns:a16="http://schemas.microsoft.com/office/drawing/2014/main" id="{A66A031F-2EC8-DF4C-B3F5-E7AC5B8F3239}"/>
              </a:ext>
            </a:extLst>
          </p:cNvPr>
          <p:cNvSpPr/>
          <p:nvPr/>
        </p:nvSpPr>
        <p:spPr>
          <a:xfrm>
            <a:off x="905255" y="1375713"/>
            <a:ext cx="9938947" cy="3416320"/>
          </a:xfrm>
          <a:prstGeom prst="rect">
            <a:avLst/>
          </a:prstGeom>
        </p:spPr>
        <p:txBody>
          <a:bodyPr wrap="square">
            <a:spAutoFit/>
          </a:bodyPr>
          <a:lstStyle/>
          <a:p>
            <a:pPr marL="407988" indent="-396875">
              <a:buSzPts val="18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In the first column, a larger circle represents a number that has a larger absolute value than that of the smaller circle. Without discussing it with your partner, enter a numeric example for each visual model. Then, in the “</a:t>
            </a:r>
            <a:r>
              <a:rPr lang="en-US" sz="2400" b="1" dirty="0">
                <a:latin typeface="Verdana" panose="020B0604030504040204" pitchFamily="34" charset="0"/>
                <a:ea typeface="Verdana" panose="020B0604030504040204" pitchFamily="34" charset="0"/>
                <a:cs typeface="Verdana" panose="020B0604030504040204" pitchFamily="34" charset="0"/>
              </a:rPr>
              <a:t>My Guess: Answer Will be</a:t>
            </a:r>
            <a:r>
              <a:rPr lang="en-US" sz="2400" dirty="0">
                <a:latin typeface="Verdana" panose="020B0604030504040204" pitchFamily="34" charset="0"/>
                <a:ea typeface="Verdana" panose="020B0604030504040204" pitchFamily="34" charset="0"/>
                <a:cs typeface="Verdana" panose="020B0604030504040204" pitchFamily="34" charset="0"/>
              </a:rPr>
              <a:t> + </a:t>
            </a:r>
            <a:r>
              <a:rPr lang="en-US" sz="2400" b="1" dirty="0">
                <a:latin typeface="Verdana" panose="020B0604030504040204" pitchFamily="34" charset="0"/>
                <a:ea typeface="Verdana" panose="020B0604030504040204" pitchFamily="34" charset="0"/>
                <a:cs typeface="Verdana" panose="020B0604030504040204" pitchFamily="34" charset="0"/>
              </a:rPr>
              <a:t>or</a:t>
            </a:r>
            <a:r>
              <a:rPr lang="en-US" sz="2400" dirty="0">
                <a:latin typeface="Verdana" panose="020B0604030504040204" pitchFamily="34" charset="0"/>
                <a:ea typeface="Verdana" panose="020B0604030504040204" pitchFamily="34" charset="0"/>
                <a:cs typeface="Verdana" panose="020B0604030504040204" pitchFamily="34" charset="0"/>
              </a:rPr>
              <a:t> −” column, enter whether you think the result will be positive (+) or negative (−). </a:t>
            </a:r>
          </a:p>
          <a:p>
            <a:pPr marL="11113">
              <a:buSzPts val="1800"/>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00050">
              <a:buSzPts val="1800"/>
            </a:pPr>
            <a:r>
              <a:rPr lang="en-US" sz="2400" dirty="0">
                <a:latin typeface="Verdana" panose="020B0604030504040204" pitchFamily="34" charset="0"/>
                <a:ea typeface="Verdana" panose="020B0604030504040204" pitchFamily="34" charset="0"/>
                <a:cs typeface="Verdana" panose="020B0604030504040204" pitchFamily="34" charset="0"/>
              </a:rPr>
              <a:t>After completing all of your own examples and guesses, record your partner’s examples and guesses.</a:t>
            </a:r>
          </a:p>
        </p:txBody>
      </p:sp>
      <p:sp>
        <p:nvSpPr>
          <p:cNvPr id="13" name="Google Shape;282;g104476d1465_1_17">
            <a:extLst>
              <a:ext uri="{FF2B5EF4-FFF2-40B4-BE49-F238E27FC236}">
                <a16:creationId xmlns:a16="http://schemas.microsoft.com/office/drawing/2014/main"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a16="http://schemas.microsoft.com/office/drawing/2014/main" id="{09F3E14C-E747-8940-9CC9-4D8505A2E5C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55178" cy="755178"/>
          </a:xfrm>
          <a:prstGeom prst="rect">
            <a:avLst/>
          </a:prstGeom>
        </p:spPr>
      </p:pic>
    </p:spTree>
    <p:extLst>
      <p:ext uri="{BB962C8B-B14F-4D97-AF65-F5344CB8AC3E}">
        <p14:creationId xmlns:p14="http://schemas.microsoft.com/office/powerpoint/2010/main" val="3101299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a:t>
            </a:r>
            <a:endParaRPr i="1" dirty="0">
              <a:latin typeface="Calibri"/>
              <a:ea typeface="Calibri"/>
              <a:cs typeface="Calibri"/>
              <a:sym typeface="Calibri"/>
            </a:endParaRPr>
          </a:p>
        </p:txBody>
      </p:sp>
      <p:pic>
        <p:nvPicPr>
          <p:cNvPr id="4" name="Picture 3" descr="A picture containing table&#10;&#10;Description automatically generated">
            <a:extLst>
              <a:ext uri="{FF2B5EF4-FFF2-40B4-BE49-F238E27FC236}">
                <a16:creationId xmlns:a16="http://schemas.microsoft.com/office/drawing/2014/main" id="{315BB8E6-FAD5-B942-A6D4-C66996D624E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131756" y="364986"/>
            <a:ext cx="5928488" cy="6092688"/>
          </a:xfrm>
          <a:prstGeom prst="rect">
            <a:avLst/>
          </a:prstGeom>
        </p:spPr>
      </p:pic>
    </p:spTree>
    <p:extLst>
      <p:ext uri="{BB962C8B-B14F-4D97-AF65-F5344CB8AC3E}">
        <p14:creationId xmlns:p14="http://schemas.microsoft.com/office/powerpoint/2010/main" val="252435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D9AF1552-9966-3643-BA84-BB4BC68EDBB5}"/>
              </a:ext>
            </a:extLst>
          </p:cNvPr>
          <p:cNvSpPr/>
          <p:nvPr/>
        </p:nvSpPr>
        <p:spPr>
          <a:xfrm>
            <a:off x="905256" y="925912"/>
            <a:ext cx="10778744" cy="1200329"/>
          </a:xfrm>
          <a:prstGeom prst="rect">
            <a:avLst/>
          </a:prstGeom>
        </p:spPr>
        <p:txBody>
          <a:bodyPr wrap="square">
            <a:spAutoFit/>
          </a:bodyPr>
          <a:lstStyle/>
          <a:p>
            <a:pPr marL="457200" indent="-457200">
              <a:buSzPts val="18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Now, form a group of four by joining another pair of classmates. Discuss your guesses. Do all four of you agree on all of the problems? If not, list which problems you disagree on.</a:t>
            </a:r>
          </a:p>
        </p:txBody>
      </p:sp>
      <p:sp>
        <p:nvSpPr>
          <p:cNvPr id="9" name="Google Shape;282;g104476d1465_1_17">
            <a:extLst>
              <a:ext uri="{FF2B5EF4-FFF2-40B4-BE49-F238E27FC236}">
                <a16:creationId xmlns:a16="http://schemas.microsoft.com/office/drawing/2014/main"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a:t>
            </a:r>
            <a:endParaRPr i="1" dirty="0">
              <a:latin typeface="Calibri"/>
              <a:ea typeface="Calibri"/>
              <a:cs typeface="Calibri"/>
              <a:sym typeface="Calibri"/>
            </a:endParaRPr>
          </a:p>
        </p:txBody>
      </p:sp>
    </p:spTree>
    <p:extLst>
      <p:ext uri="{BB962C8B-B14F-4D97-AF65-F5344CB8AC3E}">
        <p14:creationId xmlns:p14="http://schemas.microsoft.com/office/powerpoint/2010/main" val="2676669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r>
              <a:rPr lang="en-US" dirty="0"/>
              <a:t>0</a:t>
            </a:r>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D9AF1552-9966-3643-BA84-BB4BC68EDBB5}"/>
              </a:ext>
            </a:extLst>
          </p:cNvPr>
          <p:cNvSpPr/>
          <p:nvPr/>
        </p:nvSpPr>
        <p:spPr>
          <a:xfrm>
            <a:off x="905255" y="385584"/>
            <a:ext cx="10241715" cy="1323439"/>
          </a:xfrm>
          <a:prstGeom prst="rect">
            <a:avLst/>
          </a:prstGeom>
        </p:spPr>
        <p:txBody>
          <a:bodyPr wrap="square">
            <a:spAutoFit/>
          </a:bodyPr>
          <a:lstStyle/>
          <a:p>
            <a:pPr marL="457200" indent="-457200">
              <a:buSzPct val="1000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Tell your teacher when you are ready to test out the guesses with a calculator. Use the calculator to find the answer for one problem from each visual model. When each of you are in agreement with the rule, check the box in the column that represents the answer.</a:t>
            </a:r>
          </a:p>
        </p:txBody>
      </p:sp>
      <p:sp>
        <p:nvSpPr>
          <p:cNvPr id="9" name="Google Shape;282;g104476d1465_1_17">
            <a:extLst>
              <a:ext uri="{FF2B5EF4-FFF2-40B4-BE49-F238E27FC236}">
                <a16:creationId xmlns:a16="http://schemas.microsoft.com/office/drawing/2014/main"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a:t>
            </a:r>
            <a:endParaRPr i="1" dirty="0">
              <a:latin typeface="Calibri"/>
              <a:ea typeface="Calibri"/>
              <a:cs typeface="Calibri"/>
              <a:sym typeface="Calibri"/>
            </a:endParaRPr>
          </a:p>
        </p:txBody>
      </p:sp>
      <p:pic>
        <p:nvPicPr>
          <p:cNvPr id="5" name="Picture 4" descr="Chart, bubble chart&#10;&#10;Description automatically generated">
            <a:extLst>
              <a:ext uri="{FF2B5EF4-FFF2-40B4-BE49-F238E27FC236}">
                <a16:creationId xmlns:a16="http://schemas.microsoft.com/office/drawing/2014/main" id="{AC3710ED-E7A2-0E4F-A43B-CA145C53C84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838788" y="1976174"/>
            <a:ext cx="4514424" cy="4553064"/>
          </a:xfrm>
          <a:prstGeom prst="rect">
            <a:avLst/>
          </a:prstGeom>
        </p:spPr>
      </p:pic>
    </p:spTree>
    <p:extLst>
      <p:ext uri="{BB962C8B-B14F-4D97-AF65-F5344CB8AC3E}">
        <p14:creationId xmlns:p14="http://schemas.microsoft.com/office/powerpoint/2010/main" val="2137350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70632"/>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Instruction</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id="{AE80E75D-78AE-A94E-86B4-91D469B7BFAD}"/>
              </a:ext>
            </a:extLst>
          </p:cNvPr>
          <p:cNvSpPr txBox="1"/>
          <p:nvPr/>
        </p:nvSpPr>
        <p:spPr>
          <a:xfrm>
            <a:off x="9075457"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id="{C031FE84-D423-CC4C-831E-2D526CB9114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6733" cy="115673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39353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06423" y="0"/>
            <a:ext cx="973574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7.7.3 Guided Instruction: Using Integer Chips to Show Subtraction</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2BE9AFC-D858-8947-AE27-3738478587E3}"/>
                  </a:ext>
                </a:extLst>
              </p:cNvPr>
              <p:cNvSpPr/>
              <p:nvPr/>
            </p:nvSpPr>
            <p:spPr>
              <a:xfrm>
                <a:off x="905256" y="1331161"/>
                <a:ext cx="8581650" cy="1631216"/>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Integer chips can also be used to model subtraction.  </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To find the difference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(−5)−2</m:t>
                    </m:r>
                  </m:oMath>
                </a14:m>
                <a:r>
                  <a:rPr lang="en-US" sz="2000" dirty="0">
                    <a:latin typeface="Verdana" panose="020B0604030504040204" pitchFamily="34" charset="0"/>
                    <a:ea typeface="Verdana" panose="020B0604030504040204" pitchFamily="34" charset="0"/>
                    <a:cs typeface="Verdana" panose="020B0604030504040204" pitchFamily="34" charset="0"/>
                  </a:rPr>
                  <a:t> using integer chips, begin by first arranging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negative integer chips on your desk, as shown below.</a:t>
                </a:r>
              </a:p>
            </p:txBody>
          </p:sp>
        </mc:Choice>
        <mc:Fallback xmlns="">
          <p:sp>
            <p:nvSpPr>
              <p:cNvPr id="2" name="Rectangle 1">
                <a:extLst>
                  <a:ext uri="{FF2B5EF4-FFF2-40B4-BE49-F238E27FC236}">
                    <a16:creationId xmlns:a16="http://schemas.microsoft.com/office/drawing/2014/main" id="{B2BE9AFC-D858-8947-AE27-3738478587E3}"/>
                  </a:ext>
                </a:extLst>
              </p:cNvPr>
              <p:cNvSpPr>
                <a:spLocks noRot="1" noChangeAspect="1" noMove="1" noResize="1" noEditPoints="1" noAdjustHandles="1" noChangeArrowheads="1" noChangeShapeType="1" noTextEdit="1"/>
              </p:cNvSpPr>
              <p:nvPr/>
            </p:nvSpPr>
            <p:spPr>
              <a:xfrm>
                <a:off x="905256" y="1331161"/>
                <a:ext cx="8581650" cy="1631216"/>
              </a:xfrm>
              <a:prstGeom prst="rect">
                <a:avLst/>
              </a:prstGeom>
              <a:blipFill>
                <a:blip r:embed="rId4"/>
                <a:stretch>
                  <a:fillRect l="-740" t="-1538" b="-5385"/>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A0B3F56A-90D4-0546-BD18-061853EE942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a:t>
            </a:r>
            <a:endParaRPr i="1" dirty="0">
              <a:latin typeface="Calibri"/>
              <a:ea typeface="Calibri"/>
              <a:cs typeface="Calibri"/>
              <a:sym typeface="Calibri"/>
            </a:endParaRPr>
          </a:p>
        </p:txBody>
      </p:sp>
      <p:pic>
        <p:nvPicPr>
          <p:cNvPr id="12" name="Picture 11" descr="Icon&#10;&#10;Description automatically generated">
            <a:extLst>
              <a:ext uri="{FF2B5EF4-FFF2-40B4-BE49-F238E27FC236}">
                <a16:creationId xmlns:a16="http://schemas.microsoft.com/office/drawing/2014/main" id="{C6C9C2DF-E989-BB45-9CB6-957F2793000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47300" cy="747300"/>
          </a:xfrm>
          <a:prstGeom prst="rect">
            <a:avLst/>
          </a:prstGeom>
        </p:spPr>
      </p:pic>
      <p:pic>
        <p:nvPicPr>
          <p:cNvPr id="9" name="image1.png" descr="A picture containing clock&#10;&#10;Description automatically generated">
            <a:extLst>
              <a:ext uri="{FF2B5EF4-FFF2-40B4-BE49-F238E27FC236}">
                <a16:creationId xmlns:a16="http://schemas.microsoft.com/office/drawing/2014/main" id="{47340900-E67F-134C-A63E-386D2A6974CF}"/>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3227953" y="2962377"/>
            <a:ext cx="621665" cy="621665"/>
          </a:xfrm>
          <a:prstGeom prst="rect">
            <a:avLst/>
          </a:prstGeom>
          <a:ln/>
        </p:spPr>
      </p:pic>
      <p:pic>
        <p:nvPicPr>
          <p:cNvPr id="13" name="image1.png" descr="A picture containing clock&#10;&#10;Description automatically generated">
            <a:extLst>
              <a:ext uri="{FF2B5EF4-FFF2-40B4-BE49-F238E27FC236}">
                <a16:creationId xmlns:a16="http://schemas.microsoft.com/office/drawing/2014/main" id="{9242CA5B-E527-124C-9211-04891BE7F92D}"/>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3865262" y="2962377"/>
            <a:ext cx="621665" cy="621665"/>
          </a:xfrm>
          <a:prstGeom prst="rect">
            <a:avLst/>
          </a:prstGeom>
          <a:ln/>
        </p:spPr>
      </p:pic>
      <p:pic>
        <p:nvPicPr>
          <p:cNvPr id="15" name="image1.png" descr="A picture containing clock&#10;&#10;Description automatically generated">
            <a:extLst>
              <a:ext uri="{FF2B5EF4-FFF2-40B4-BE49-F238E27FC236}">
                <a16:creationId xmlns:a16="http://schemas.microsoft.com/office/drawing/2014/main" id="{018F3F81-C8D0-0E4E-8AE1-05078F1C30AB}"/>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4516421" y="2962377"/>
            <a:ext cx="621665" cy="621665"/>
          </a:xfrm>
          <a:prstGeom prst="rect">
            <a:avLst/>
          </a:prstGeom>
          <a:ln/>
        </p:spPr>
      </p:pic>
      <p:pic>
        <p:nvPicPr>
          <p:cNvPr id="16" name="image1.png" descr="A picture containing clock&#10;&#10;Description automatically generated">
            <a:extLst>
              <a:ext uri="{FF2B5EF4-FFF2-40B4-BE49-F238E27FC236}">
                <a16:creationId xmlns:a16="http://schemas.microsoft.com/office/drawing/2014/main" id="{ADBE435F-2DDB-544F-8346-B51B3B36F550}"/>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5167585" y="2962377"/>
            <a:ext cx="621665" cy="621665"/>
          </a:xfrm>
          <a:prstGeom prst="rect">
            <a:avLst/>
          </a:prstGeom>
          <a:ln/>
        </p:spPr>
      </p:pic>
      <p:pic>
        <p:nvPicPr>
          <p:cNvPr id="17" name="image1.png" descr="A picture containing clock&#10;&#10;Description automatically generated">
            <a:extLst>
              <a:ext uri="{FF2B5EF4-FFF2-40B4-BE49-F238E27FC236}">
                <a16:creationId xmlns:a16="http://schemas.microsoft.com/office/drawing/2014/main" id="{E1EED501-2DF1-EE45-BE0C-7BC8F9A55F73}"/>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5804891" y="2962377"/>
            <a:ext cx="621665" cy="621665"/>
          </a:xfrm>
          <a:prstGeom prst="rect">
            <a:avLst/>
          </a:prstGeom>
          <a:ln/>
        </p:spPr>
      </p:pic>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E47DAC1C-0898-4148-94E4-10F0E46E1934}"/>
                  </a:ext>
                </a:extLst>
              </p:cNvPr>
              <p:cNvSpPr/>
              <p:nvPr/>
            </p:nvSpPr>
            <p:spPr>
              <a:xfrm>
                <a:off x="905256" y="4032797"/>
                <a:ext cx="8581650" cy="1938992"/>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Draw a picture of how you think integer chips can be used to represent subtracting positive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from the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negative integer chips that are already on your desk.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4025"/>
                <a:r>
                  <a:rPr lang="en-US" sz="2000" dirty="0">
                    <a:latin typeface="Verdana" panose="020B0604030504040204" pitchFamily="34" charset="0"/>
                    <a:ea typeface="Verdana" panose="020B0604030504040204" pitchFamily="34" charset="0"/>
                    <a:cs typeface="Verdana" panose="020B0604030504040204" pitchFamily="34" charset="0"/>
                  </a:rPr>
                  <a:t>Consider using zero pairs. It is okay if you do not know; just try your best.</a:t>
                </a:r>
              </a:p>
            </p:txBody>
          </p:sp>
        </mc:Choice>
        <mc:Fallback xmlns="">
          <p:sp>
            <p:nvSpPr>
              <p:cNvPr id="18" name="Rectangle 17">
                <a:extLst>
                  <a:ext uri="{FF2B5EF4-FFF2-40B4-BE49-F238E27FC236}">
                    <a16:creationId xmlns:a16="http://schemas.microsoft.com/office/drawing/2014/main" id="{E47DAC1C-0898-4148-94E4-10F0E46E1934}"/>
                  </a:ext>
                </a:extLst>
              </p:cNvPr>
              <p:cNvSpPr>
                <a:spLocks noRot="1" noChangeAspect="1" noMove="1" noResize="1" noEditPoints="1" noAdjustHandles="1" noChangeArrowheads="1" noChangeShapeType="1" noTextEdit="1"/>
              </p:cNvSpPr>
              <p:nvPr/>
            </p:nvSpPr>
            <p:spPr>
              <a:xfrm>
                <a:off x="905256" y="4032797"/>
                <a:ext cx="8581650" cy="1938992"/>
              </a:xfrm>
              <a:prstGeom prst="rect">
                <a:avLst/>
              </a:prstGeom>
              <a:blipFill>
                <a:blip r:embed="rId7"/>
                <a:stretch>
                  <a:fillRect l="-740" t="-1948" r="-148" b="-4545"/>
                </a:stretch>
              </a:blipFill>
            </p:spPr>
            <p:txBody>
              <a:bodyPr/>
              <a:lstStyle/>
              <a:p>
                <a:r>
                  <a:rPr lang="en-US">
                    <a:noFill/>
                  </a:rPr>
                  <a:t> </a:t>
                </a:r>
              </a:p>
            </p:txBody>
          </p:sp>
        </mc:Fallback>
      </mc:AlternateContent>
    </p:spTree>
    <p:extLst>
      <p:ext uri="{BB962C8B-B14F-4D97-AF65-F5344CB8AC3E}">
        <p14:creationId xmlns:p14="http://schemas.microsoft.com/office/powerpoint/2010/main" val="4194801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22E7CAFC-319F-CE4F-8B26-ED2749A56CDA}"/>
                  </a:ext>
                </a:extLst>
              </p:cNvPr>
              <p:cNvSpPr/>
              <p:nvPr/>
            </p:nvSpPr>
            <p:spPr>
              <a:xfrm>
                <a:off x="905256" y="2385048"/>
                <a:ext cx="10386858" cy="1015663"/>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When adding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to a value, the value of the expression does not change. In a model, adding zero pairs represents adding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The value of the model does not change, but the integer chips that are available do.</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905256" y="2385048"/>
                <a:ext cx="10386858" cy="1015663"/>
              </a:xfrm>
              <a:prstGeom prst="rect">
                <a:avLst/>
              </a:prstGeom>
              <a:blipFill>
                <a:blip r:embed="rId4"/>
                <a:stretch>
                  <a:fillRect l="-611" t="-2469" r="-489" b="-9877"/>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a:t>
            </a:r>
            <a:endParaRPr i="1" dirty="0">
              <a:latin typeface="Calibri"/>
              <a:ea typeface="Calibri"/>
              <a:cs typeface="Calibri"/>
              <a:sym typeface="Calibri"/>
            </a:endParaRPr>
          </a:p>
        </p:txBody>
      </p:sp>
      <p:grpSp>
        <p:nvGrpSpPr>
          <p:cNvPr id="8" name="Group 7">
            <a:extLst>
              <a:ext uri="{FF2B5EF4-FFF2-40B4-BE49-F238E27FC236}">
                <a16:creationId xmlns:a16="http://schemas.microsoft.com/office/drawing/2014/main" id="{4D00BA5C-059C-E34E-8DA5-E7435AE34742}"/>
              </a:ext>
            </a:extLst>
          </p:cNvPr>
          <p:cNvGrpSpPr/>
          <p:nvPr/>
        </p:nvGrpSpPr>
        <p:grpSpPr>
          <a:xfrm>
            <a:off x="2779776" y="642531"/>
            <a:ext cx="6630924" cy="3127170"/>
            <a:chOff x="-1524" y="-2316732"/>
            <a:chExt cx="6630924" cy="3129532"/>
          </a:xfrm>
        </p:grpSpPr>
        <p:sp>
          <p:nvSpPr>
            <p:cNvPr id="9" name="Rectangle 8">
              <a:extLst>
                <a:ext uri="{FF2B5EF4-FFF2-40B4-BE49-F238E27FC236}">
                  <a16:creationId xmlns:a16="http://schemas.microsoft.com/office/drawing/2014/main" id="{04660D5B-0C7A-0C4F-A287-015ADA0BE86D}"/>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Times New Roman" panose="02020603050405020304" pitchFamily="18" charset="0"/>
                  <a:cs typeface="Times New Roman" panose="02020603050405020304" pitchFamily="18" charset="0"/>
                </a:rPr>
                <a:t> </a:t>
              </a:r>
              <a:endParaRPr lang="x-none" sz="1600" i="1">
                <a:latin typeface="Cambria Math"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Rounded Rectangle 10">
                  <a:extLst>
                    <a:ext uri="{FF2B5EF4-FFF2-40B4-BE49-F238E27FC236}">
                      <a16:creationId xmlns:a16="http://schemas.microsoft.com/office/drawing/2014/main" id="{223A0742-EF52-D841-9133-B998819DB80A}"/>
                    </a:ext>
                  </a:extLst>
                </p:cNvPr>
                <p:cNvSpPr/>
                <p:nvPr/>
              </p:nvSpPr>
              <p:spPr>
                <a:xfrm>
                  <a:off x="-1524" y="-2316732"/>
                  <a:ext cx="6629400" cy="1115551"/>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lnSpc>
                      <a:spcPct val="107000"/>
                    </a:lnSpc>
                    <a:spcAft>
                      <a:spcPts val="800"/>
                    </a:spcAft>
                  </a:pPr>
                  <a:r>
                    <a:rPr lang="en-US" sz="1800" b="1" i="1" dirty="0">
                      <a:solidFill>
                        <a:srgbClr val="6C993D"/>
                      </a:solidFill>
                      <a:latin typeface="Verdana" panose="020B0604030504040204" pitchFamily="34" charset="0"/>
                      <a:ea typeface="Verdana" panose="020B0604030504040204" pitchFamily="34" charset="0"/>
                      <a:cs typeface="Verdana" panose="020B0604030504040204" pitchFamily="34" charset="0"/>
                    </a:rPr>
                    <a:t>Additive Identity Property of Zero</a:t>
                  </a:r>
                  <a:endParaRPr lang="x-none" sz="1600" i="1" dirty="0">
                    <a:latin typeface="Cambria Math" panose="02040503050406030204" pitchFamily="18" charset="0"/>
                    <a:ea typeface="Times New Roman" panose="02020603050405020304" pitchFamily="18" charset="0"/>
                    <a:cs typeface="Times New Roman" panose="02020603050405020304" pitchFamily="18" charset="0"/>
                  </a:endParaRPr>
                </a:p>
                <a:p>
                  <a:pPr marL="742950">
                    <a:lnSpc>
                      <a:spcPct val="107000"/>
                    </a:lnSpc>
                    <a:spcAft>
                      <a:spcPts val="800"/>
                    </a:spcAft>
                  </a:pPr>
                  <a14:m>
                    <m:oMath xmlns:m="http://schemas.openxmlformats.org/officeDocument/2006/math">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+0=</m:t>
                      </m:r>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oMath>
                  </a14:m>
                  <a:r>
                    <a:rPr lang="en-US" sz="1800" i="1" dirty="0">
                      <a:solidFill>
                        <a:srgbClr val="6C993D"/>
                      </a:solidFill>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0+</m:t>
                      </m:r>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m:t>
                      </m:r>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oMath>
                  </a14:m>
                  <a:endParaRPr lang="x-none" sz="1600" i="1" dirty="0">
                    <a:latin typeface="Cambria Math"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1" name="Rounded Rectangle 10">
                  <a:extLst>
                    <a:ext uri="{FF2B5EF4-FFF2-40B4-BE49-F238E27FC236}">
                      <a16:creationId xmlns:a16="http://schemas.microsoft.com/office/drawing/2014/main" id="{223A0742-EF52-D841-9133-B998819DB80A}"/>
                    </a:ext>
                  </a:extLst>
                </p:cNvPr>
                <p:cNvSpPr>
                  <a:spLocks noRot="1" noChangeAspect="1" noMove="1" noResize="1" noEditPoints="1" noAdjustHandles="1" noChangeArrowheads="1" noChangeShapeType="1" noTextEdit="1"/>
                </p:cNvSpPr>
                <p:nvPr/>
              </p:nvSpPr>
              <p:spPr>
                <a:xfrm>
                  <a:off x="-1524" y="-2316732"/>
                  <a:ext cx="6629400" cy="1115551"/>
                </a:xfrm>
                <a:prstGeom prst="roundRect">
                  <a:avLst>
                    <a:gd name="adj" fmla="val 16667"/>
                  </a:avLst>
                </a:prstGeom>
                <a:blipFill>
                  <a:blip r:embed="rId5"/>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12" name="Shape 7" descr="Icon&#10;&#10;Description automatically generated">
              <a:extLst>
                <a:ext uri="{FF2B5EF4-FFF2-40B4-BE49-F238E27FC236}">
                  <a16:creationId xmlns:a16="http://schemas.microsoft.com/office/drawing/2014/main" id="{939296AE-439F-524F-911D-3CFB8DCF7FEE}"/>
                </a:ext>
              </a:extLst>
            </p:cNvPr>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212239" y="-2160581"/>
              <a:ext cx="539750" cy="539750"/>
            </a:xfrm>
            <a:prstGeom prst="rect">
              <a:avLst/>
            </a:prstGeom>
            <a:noFill/>
            <a:ln>
              <a:no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2153346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22E7CAFC-319F-CE4F-8B26-ED2749A56CDA}"/>
                  </a:ext>
                </a:extLst>
              </p:cNvPr>
              <p:cNvSpPr/>
              <p:nvPr/>
            </p:nvSpPr>
            <p:spPr>
              <a:xfrm>
                <a:off x="905256" y="320720"/>
                <a:ext cx="8549640" cy="707886"/>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table to show how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can be represented using integer chips.</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905256" y="320720"/>
                <a:ext cx="8549640" cy="707886"/>
              </a:xfrm>
              <a:prstGeom prst="rect">
                <a:avLst/>
              </a:prstGeom>
              <a:blipFill>
                <a:blip r:embed="rId4"/>
                <a:stretch>
                  <a:fillRect l="-742" t="-5263" b="-14035"/>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E4B4D8B4-D9E0-6D45-A5C3-817FE06B7A2B}"/>
                  </a:ext>
                </a:extLst>
              </p:cNvPr>
              <p:cNvGraphicFramePr>
                <a:graphicFrameLocks noGrp="1"/>
              </p:cNvGraphicFramePr>
              <p:nvPr>
                <p:extLst>
                  <p:ext uri="{D42A27DB-BD31-4B8C-83A1-F6EECF244321}">
                    <p14:modId xmlns:p14="http://schemas.microsoft.com/office/powerpoint/2010/main" val="611827938"/>
                  </p:ext>
                </p:extLst>
              </p:nvPr>
            </p:nvGraphicFramePr>
            <p:xfrm>
              <a:off x="2168697" y="1238548"/>
              <a:ext cx="8106066" cy="4752110"/>
            </p:xfrm>
            <a:graphic>
              <a:graphicData uri="http://schemas.openxmlformats.org/drawingml/2006/table">
                <a:tbl>
                  <a:tblPr firstRow="1" firstCol="1" bandRow="1">
                    <a:tableStyleId>{A91F0D33-8C57-4600-99A7-42BC86742BE1}</a:tableStyleId>
                  </a:tblPr>
                  <a:tblGrid>
                    <a:gridCol w="2423517">
                      <a:extLst>
                        <a:ext uri="{9D8B030D-6E8A-4147-A177-3AD203B41FA5}">
                          <a16:colId xmlns:a16="http://schemas.microsoft.com/office/drawing/2014/main" val="232219795"/>
                        </a:ext>
                      </a:extLst>
                    </a:gridCol>
                    <a:gridCol w="5682549">
                      <a:extLst>
                        <a:ext uri="{9D8B030D-6E8A-4147-A177-3AD203B41FA5}">
                          <a16:colId xmlns:a16="http://schemas.microsoft.com/office/drawing/2014/main" val="1030408368"/>
                        </a:ext>
                      </a:extLst>
                    </a:gridCol>
                  </a:tblGrid>
                  <a:tr h="863100">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Begin by representing the first integer, </a:t>
                          </a:r>
                          <a14:m>
                            <m:oMath xmlns:m="http://schemas.openxmlformats.org/officeDocument/2006/math">
                              <m:r>
                                <a:rPr lang="en-US" sz="1400">
                                  <a:effectLst/>
                                  <a:latin typeface="Cambria Math" panose="02040503050406030204" pitchFamily="18" charset="0"/>
                                </a:rPr>
                                <m:t>−3</m:t>
                              </m:r>
                            </m:oMath>
                          </a14:m>
                          <a:r>
                            <a:rPr lang="en-US" sz="1400">
                              <a:effectLst/>
                              <a:latin typeface="Verdana" panose="020B0604030504040204" pitchFamily="34" charset="0"/>
                              <a:ea typeface="Verdana" panose="020B0604030504040204" pitchFamily="34" charset="0"/>
                              <a:cs typeface="Verdana" panose="020B0604030504040204" pitchFamily="34" charset="0"/>
                            </a:rPr>
                            <a:t>, with integer chips.</a:t>
                          </a:r>
                          <a:endParaRPr lang="x-none" sz="1200" i="1">
                            <a:effectLst/>
                            <a:latin typeface="Verdana" panose="020B0604030504040204" pitchFamily="34" charset="0"/>
                            <a:ea typeface="Verdana" panose="020B0604030504040204" pitchFamily="34" charset="0"/>
                            <a:cs typeface="Verdana" panose="020B0604030504040204" pitchFamily="34" charset="0"/>
                          </a:endParaRPr>
                        </a:p>
                      </a:txBody>
                      <a:tcPr marL="37062" marR="370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i="1">
                            <a:effectLst/>
                            <a:latin typeface="Verdana" panose="020B0604030504040204" pitchFamily="34" charset="0"/>
                            <a:ea typeface="Verdana" panose="020B0604030504040204" pitchFamily="34" charset="0"/>
                            <a:cs typeface="Verdana" panose="020B0604030504040204" pitchFamily="34" charset="0"/>
                          </a:endParaRPr>
                        </a:p>
                      </a:txBody>
                      <a:tcPr marL="37062" marR="370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6036888"/>
                      </a:ext>
                    </a:extLst>
                  </a:tr>
                  <a:tr h="806135">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Determine what should be subtracted from the model.</a:t>
                          </a:r>
                          <a:endParaRPr lang="x-none" sz="1200" i="1">
                            <a:effectLst/>
                            <a:latin typeface="Verdana" panose="020B0604030504040204" pitchFamily="34" charset="0"/>
                            <a:ea typeface="Verdana" panose="020B0604030504040204" pitchFamily="34" charset="0"/>
                            <a:cs typeface="Verdana" panose="020B0604030504040204" pitchFamily="34" charset="0"/>
                          </a:endParaRPr>
                        </a:p>
                      </a:txBody>
                      <a:tcPr marL="37062" marR="370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14:m>
                            <m:oMath xmlns:m="http://schemas.openxmlformats.org/officeDocument/2006/math">
                              <m:r>
                                <a:rPr lang="en-US" sz="1400">
                                  <a:effectLst/>
                                  <a:latin typeface="Cambria Math" panose="02040503050406030204" pitchFamily="18" charset="0"/>
                                </a:rPr>
                                <m:t>6</m:t>
                              </m:r>
                            </m:oMath>
                          </a14:m>
                          <a:r>
                            <a:rPr lang="en-US" sz="1400" dirty="0">
                              <a:effectLst/>
                              <a:latin typeface="Verdana" panose="020B0604030504040204" pitchFamily="34" charset="0"/>
                              <a:ea typeface="Verdana" panose="020B0604030504040204" pitchFamily="34" charset="0"/>
                              <a:cs typeface="Verdana" panose="020B0604030504040204" pitchFamily="34" charset="0"/>
                            </a:rPr>
                            <a:t>                    integer chips need to be</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subtracted from the model</a:t>
                          </a:r>
                          <a:endParaRPr lang="x-none" sz="1200" i="1" dirty="0">
                            <a:effectLst/>
                            <a:latin typeface="Verdana" panose="020B0604030504040204" pitchFamily="34" charset="0"/>
                            <a:ea typeface="Verdana" panose="020B0604030504040204" pitchFamily="34" charset="0"/>
                            <a:cs typeface="Verdana" panose="020B0604030504040204" pitchFamily="34" charset="0"/>
                          </a:endParaRPr>
                        </a:p>
                      </a:txBody>
                      <a:tcPr marL="37062" marR="370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1631919"/>
                      </a:ext>
                    </a:extLst>
                  </a:tr>
                  <a:tr h="1568421">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If the chips that need to be removed from the model are not available, add the number of zero pairs needed to be able to do so.</a:t>
                          </a:r>
                          <a:endParaRPr lang="x-none" sz="1200" i="1">
                            <a:effectLst/>
                            <a:latin typeface="Verdana" panose="020B0604030504040204" pitchFamily="34" charset="0"/>
                            <a:ea typeface="Verdana" panose="020B0604030504040204" pitchFamily="34" charset="0"/>
                            <a:cs typeface="Verdana" panose="020B0604030504040204" pitchFamily="34" charset="0"/>
                          </a:endParaRPr>
                        </a:p>
                      </a:txBody>
                      <a:tcPr marL="37062" marR="370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i="1">
                            <a:effectLst/>
                            <a:latin typeface="Verdana" panose="020B0604030504040204" pitchFamily="34" charset="0"/>
                            <a:ea typeface="Verdana" panose="020B0604030504040204" pitchFamily="34" charset="0"/>
                            <a:cs typeface="Verdana" panose="020B0604030504040204" pitchFamily="34" charset="0"/>
                          </a:endParaRPr>
                        </a:p>
                      </a:txBody>
                      <a:tcPr marL="37062" marR="370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7914781"/>
                      </a:ext>
                    </a:extLst>
                  </a:tr>
                  <a:tr h="431738">
                    <a:tc gridSpan="2">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Cross out the integer chips from the model drawn above to represent the subtraction.</a:t>
                          </a:r>
                          <a:endParaRPr lang="x-none" sz="1200" i="1">
                            <a:effectLst/>
                            <a:latin typeface="Verdana" panose="020B0604030504040204" pitchFamily="34" charset="0"/>
                            <a:ea typeface="Verdana" panose="020B0604030504040204" pitchFamily="34" charset="0"/>
                            <a:cs typeface="Verdana" panose="020B0604030504040204" pitchFamily="34" charset="0"/>
                          </a:endParaRPr>
                        </a:p>
                      </a:txBody>
                      <a:tcPr marL="37062" marR="370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val="548017841"/>
                      </a:ext>
                    </a:extLst>
                  </a:tr>
                  <a:tr h="1082716">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Find the value of the expression based on the integer chips remaining.</a:t>
                          </a:r>
                          <a:endParaRPr lang="x-none" sz="1200" i="1">
                            <a:effectLst/>
                            <a:latin typeface="Verdana" panose="020B0604030504040204" pitchFamily="34" charset="0"/>
                            <a:ea typeface="Verdana" panose="020B0604030504040204" pitchFamily="34" charset="0"/>
                            <a:cs typeface="Verdana" panose="020B0604030504040204" pitchFamily="34" charset="0"/>
                          </a:endParaRPr>
                        </a:p>
                      </a:txBody>
                      <a:tcPr marL="37062" marR="370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−3 − 6 = ______</m:t>
                                </m:r>
                              </m:oMath>
                            </m:oMathPara>
                          </a14:m>
                          <a:endParaRPr lang="x-none" sz="1200" i="1" dirty="0">
                            <a:effectLst/>
                            <a:latin typeface="Verdana" panose="020B0604030504040204" pitchFamily="34" charset="0"/>
                            <a:ea typeface="Verdana" panose="020B0604030504040204" pitchFamily="34" charset="0"/>
                            <a:cs typeface="Verdana" panose="020B0604030504040204" pitchFamily="34" charset="0"/>
                          </a:endParaRPr>
                        </a:p>
                      </a:txBody>
                      <a:tcPr marL="37062" marR="370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9557189"/>
                      </a:ext>
                    </a:extLst>
                  </a:tr>
                </a:tbl>
              </a:graphicData>
            </a:graphic>
          </p:graphicFrame>
        </mc:Choice>
        <mc:Fallback xmlns="">
          <p:graphicFrame>
            <p:nvGraphicFramePr>
              <p:cNvPr id="3" name="Table 2">
                <a:extLst>
                  <a:ext uri="{FF2B5EF4-FFF2-40B4-BE49-F238E27FC236}">
                    <a16:creationId xmlns:a16="http://schemas.microsoft.com/office/drawing/2014/main" id="{E4B4D8B4-D9E0-6D45-A5C3-817FE06B7A2B}"/>
                  </a:ext>
                </a:extLst>
              </p:cNvPr>
              <p:cNvGraphicFramePr>
                <a:graphicFrameLocks noGrp="1"/>
              </p:cNvGraphicFramePr>
              <p:nvPr>
                <p:extLst>
                  <p:ext uri="{D42A27DB-BD31-4B8C-83A1-F6EECF244321}">
                    <p14:modId xmlns:p14="http://schemas.microsoft.com/office/powerpoint/2010/main" val="611827938"/>
                  </p:ext>
                </p:extLst>
              </p:nvPr>
            </p:nvGraphicFramePr>
            <p:xfrm>
              <a:off x="2168697" y="1238548"/>
              <a:ext cx="8106066" cy="4752110"/>
            </p:xfrm>
            <a:graphic>
              <a:graphicData uri="http://schemas.openxmlformats.org/drawingml/2006/table">
                <a:tbl>
                  <a:tblPr firstRow="1" firstCol="1" bandRow="1">
                    <a:tableStyleId>{A91F0D33-8C57-4600-99A7-42BC86742BE1}</a:tableStyleId>
                  </a:tblPr>
                  <a:tblGrid>
                    <a:gridCol w="2423517">
                      <a:extLst>
                        <a:ext uri="{9D8B030D-6E8A-4147-A177-3AD203B41FA5}">
                          <a16:colId xmlns:a16="http://schemas.microsoft.com/office/drawing/2014/main" val="232219795"/>
                        </a:ext>
                      </a:extLst>
                    </a:gridCol>
                    <a:gridCol w="5682549">
                      <a:extLst>
                        <a:ext uri="{9D8B030D-6E8A-4147-A177-3AD203B41FA5}">
                          <a16:colId xmlns:a16="http://schemas.microsoft.com/office/drawing/2014/main" val="1030408368"/>
                        </a:ext>
                      </a:extLst>
                    </a:gridCol>
                  </a:tblGrid>
                  <a:tr h="863100">
                    <a:tc>
                      <a:txBody>
                        <a:bodyPr/>
                        <a:lstStyle/>
                        <a:p>
                          <a:endParaRPr lang="en-US"/>
                        </a:p>
                      </a:txBody>
                      <a:tcPr marL="37062" marR="370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24" t="-1471" r="-235602" b="-452941"/>
                          </a:stretch>
                        </a:blipFill>
                      </a:tcPr>
                    </a:tc>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37062" marR="370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6036888"/>
                      </a:ext>
                    </a:extLst>
                  </a:tr>
                  <a:tr h="806135">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Determine what should be subtracted from the model.</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37062" marR="370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37062" marR="370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2762" t="-107813" r="-223" b="-381250"/>
                          </a:stretch>
                        </a:blipFill>
                      </a:tcPr>
                    </a:tc>
                    <a:extLst>
                      <a:ext uri="{0D108BD9-81ED-4DB2-BD59-A6C34878D82A}">
                        <a16:rowId xmlns:a16="http://schemas.microsoft.com/office/drawing/2014/main" val="2311631919"/>
                      </a:ext>
                    </a:extLst>
                  </a:tr>
                  <a:tr h="1568421">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If the chips that need to be removed from the model are not available, add the number of zero pairs needed to be able to do so.</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37062" marR="370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37062" marR="3706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7914781"/>
                      </a:ext>
                    </a:extLst>
                  </a:tr>
                  <a:tr h="431738">
                    <a:tc gridSpan="2">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Cross out the integer chips from the model drawn above to represent the subtraction.</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37062" marR="370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O"/>
                        </a:p>
                      </a:txBody>
                      <a:tcPr/>
                    </a:tc>
                    <a:extLst>
                      <a:ext uri="{0D108BD9-81ED-4DB2-BD59-A6C34878D82A}">
                        <a16:rowId xmlns:a16="http://schemas.microsoft.com/office/drawing/2014/main" val="548017841"/>
                      </a:ext>
                    </a:extLst>
                  </a:tr>
                  <a:tr h="1082716">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Find the value of the expression based on the integer chips remaining.</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37062" marR="370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37062" marR="3706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2762" t="-342353" r="-223" b="-1176"/>
                          </a:stretch>
                        </a:blipFill>
                      </a:tcPr>
                    </a:tc>
                    <a:extLst>
                      <a:ext uri="{0D108BD9-81ED-4DB2-BD59-A6C34878D82A}">
                        <a16:rowId xmlns:a16="http://schemas.microsoft.com/office/drawing/2014/main" val="2649557189"/>
                      </a:ext>
                    </a:extLst>
                  </a:tr>
                </a:tbl>
              </a:graphicData>
            </a:graphic>
          </p:graphicFrame>
        </mc:Fallback>
      </mc:AlternateContent>
      <p:pic>
        <p:nvPicPr>
          <p:cNvPr id="7" name="image1.png" descr="A picture containing clock&#10;&#10;Description automatically generated">
            <a:extLst>
              <a:ext uri="{FF2B5EF4-FFF2-40B4-BE49-F238E27FC236}">
                <a16:creationId xmlns:a16="http://schemas.microsoft.com/office/drawing/2014/main" id="{99310B32-72F0-2D4B-B162-4DE877461284}"/>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4732223" y="1358641"/>
            <a:ext cx="621665" cy="621665"/>
          </a:xfrm>
          <a:prstGeom prst="rect">
            <a:avLst/>
          </a:prstGeom>
          <a:ln/>
        </p:spPr>
      </p:pic>
      <p:pic>
        <p:nvPicPr>
          <p:cNvPr id="8" name="image1.png" descr="A picture containing clock&#10;&#10;Description automatically generated">
            <a:extLst>
              <a:ext uri="{FF2B5EF4-FFF2-40B4-BE49-F238E27FC236}">
                <a16:creationId xmlns:a16="http://schemas.microsoft.com/office/drawing/2014/main" id="{D0ADDD38-9F63-5349-B36B-20AE058BB0A5}"/>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5341823" y="1358641"/>
            <a:ext cx="621665" cy="621665"/>
          </a:xfrm>
          <a:prstGeom prst="rect">
            <a:avLst/>
          </a:prstGeom>
          <a:ln/>
        </p:spPr>
      </p:pic>
      <p:pic>
        <p:nvPicPr>
          <p:cNvPr id="9" name="image1.png" descr="A picture containing clock&#10;&#10;Description automatically generated">
            <a:extLst>
              <a:ext uri="{FF2B5EF4-FFF2-40B4-BE49-F238E27FC236}">
                <a16:creationId xmlns:a16="http://schemas.microsoft.com/office/drawing/2014/main" id="{46D753B8-2531-1A4F-8E30-6C1EBE098610}"/>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5951423" y="1358641"/>
            <a:ext cx="621665" cy="621665"/>
          </a:xfrm>
          <a:prstGeom prst="rect">
            <a:avLst/>
          </a:prstGeom>
          <a:ln/>
        </p:spPr>
      </p:pic>
      <p:pic>
        <p:nvPicPr>
          <p:cNvPr id="11" name="image1.png" descr="A picture containing clock&#10;&#10;Description automatically generated">
            <a:extLst>
              <a:ext uri="{FF2B5EF4-FFF2-40B4-BE49-F238E27FC236}">
                <a16:creationId xmlns:a16="http://schemas.microsoft.com/office/drawing/2014/main" id="{4E5711D3-DF8D-4C45-8B69-66738E5C7CE2}"/>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4732223" y="3076604"/>
            <a:ext cx="621665" cy="621665"/>
          </a:xfrm>
          <a:prstGeom prst="rect">
            <a:avLst/>
          </a:prstGeom>
          <a:ln/>
        </p:spPr>
      </p:pic>
      <p:pic>
        <p:nvPicPr>
          <p:cNvPr id="12" name="image1.png" descr="A picture containing clock&#10;&#10;Description automatically generated">
            <a:extLst>
              <a:ext uri="{FF2B5EF4-FFF2-40B4-BE49-F238E27FC236}">
                <a16:creationId xmlns:a16="http://schemas.microsoft.com/office/drawing/2014/main" id="{7D699021-D64A-D744-A9D2-EAA8558740D9}"/>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5341823" y="3076604"/>
            <a:ext cx="621665" cy="621665"/>
          </a:xfrm>
          <a:prstGeom prst="rect">
            <a:avLst/>
          </a:prstGeom>
          <a:ln/>
        </p:spPr>
      </p:pic>
      <p:pic>
        <p:nvPicPr>
          <p:cNvPr id="13" name="image1.png" descr="A picture containing clock&#10;&#10;Description automatically generated">
            <a:extLst>
              <a:ext uri="{FF2B5EF4-FFF2-40B4-BE49-F238E27FC236}">
                <a16:creationId xmlns:a16="http://schemas.microsoft.com/office/drawing/2014/main" id="{96CDCE8B-D1CF-8945-9EF8-02576FBA11EA}"/>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5951423" y="3076604"/>
            <a:ext cx="621665" cy="621665"/>
          </a:xfrm>
          <a:prstGeom prst="rect">
            <a:avLst/>
          </a:prstGeom>
          <a:ln/>
        </p:spPr>
      </p:pic>
      <p:pic>
        <p:nvPicPr>
          <p:cNvPr id="5" name="Picture 4" descr="A picture containing text&#10;&#10;Description automatically generated">
            <a:extLst>
              <a:ext uri="{FF2B5EF4-FFF2-40B4-BE49-F238E27FC236}">
                <a16:creationId xmlns:a16="http://schemas.microsoft.com/office/drawing/2014/main" id="{CED0F009-7DA5-D54B-8193-FD666167B13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879875" y="2124905"/>
            <a:ext cx="966744" cy="502589"/>
          </a:xfrm>
          <a:prstGeom prst="rect">
            <a:avLst/>
          </a:prstGeom>
        </p:spPr>
      </p:pic>
    </p:spTree>
    <p:extLst>
      <p:ext uri="{BB962C8B-B14F-4D97-AF65-F5344CB8AC3E}">
        <p14:creationId xmlns:p14="http://schemas.microsoft.com/office/powerpoint/2010/main" val="370816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22E7CAFC-319F-CE4F-8B26-ED2749A56CDA}"/>
                  </a:ext>
                </a:extLst>
              </p:cNvPr>
              <p:cNvSpPr/>
              <p:nvPr/>
            </p:nvSpPr>
            <p:spPr>
              <a:xfrm>
                <a:off x="905255" y="999593"/>
                <a:ext cx="10140115" cy="2308324"/>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Look at your guess for representing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Using the directions in the table for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determine if your guess was correct. If your guess was correct, explain how you decided you should add two zero pairs to the model. If your guess was not correct, explain what confused you about the zero pairs.</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905255" y="999593"/>
                <a:ext cx="10140115" cy="2308324"/>
              </a:xfrm>
              <a:prstGeom prst="rect">
                <a:avLst/>
              </a:prstGeom>
              <a:blipFill>
                <a:blip r:embed="rId4"/>
                <a:stretch>
                  <a:fillRect l="-1001" t="-2186" b="-5464"/>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35</a:t>
            </a:r>
            <a:endParaRPr i="1" dirty="0">
              <a:latin typeface="Calibri"/>
              <a:ea typeface="Calibri"/>
              <a:cs typeface="Calibri"/>
              <a:sym typeface="Calibri"/>
            </a:endParaRPr>
          </a:p>
        </p:txBody>
      </p:sp>
    </p:spTree>
    <p:extLst>
      <p:ext uri="{BB962C8B-B14F-4D97-AF65-F5344CB8AC3E}">
        <p14:creationId xmlns:p14="http://schemas.microsoft.com/office/powerpoint/2010/main" val="1702720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22E7CAFC-319F-CE4F-8B26-ED2749A56CDA}"/>
                  </a:ext>
                </a:extLst>
              </p:cNvPr>
              <p:cNvSpPr/>
              <p:nvPr/>
            </p:nvSpPr>
            <p:spPr>
              <a:xfrm>
                <a:off x="905256" y="389993"/>
                <a:ext cx="8549640" cy="707886"/>
              </a:xfrm>
              <a:prstGeom prst="rect">
                <a:avLst/>
              </a:prstGeom>
            </p:spPr>
            <p:txBody>
              <a:bodyPr wrap="square">
                <a:spAutoFit/>
              </a:bodyPr>
              <a:lstStyle/>
              <a:p>
                <a:pPr marL="457200" indent="-457200">
                  <a:buFont typeface="+mj-lt"/>
                  <a:buAutoNum type="arabi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table to show how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can be represented using integer chips.	</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905256" y="389993"/>
                <a:ext cx="8549640" cy="707886"/>
              </a:xfrm>
              <a:prstGeom prst="rect">
                <a:avLst/>
              </a:prstGeom>
              <a:blipFill>
                <a:blip r:embed="rId4"/>
                <a:stretch>
                  <a:fillRect l="-742" t="-5263" b="-14035"/>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9CA779F6-EA43-054B-8CA4-E4DDC44D3134}"/>
                  </a:ext>
                </a:extLst>
              </p:cNvPr>
              <p:cNvGraphicFramePr>
                <a:graphicFrameLocks noGrp="1"/>
              </p:cNvGraphicFramePr>
              <p:nvPr>
                <p:extLst>
                  <p:ext uri="{D42A27DB-BD31-4B8C-83A1-F6EECF244321}">
                    <p14:modId xmlns:p14="http://schemas.microsoft.com/office/powerpoint/2010/main" val="3734635462"/>
                  </p:ext>
                </p:extLst>
              </p:nvPr>
            </p:nvGraphicFramePr>
            <p:xfrm>
              <a:off x="2647257" y="1473570"/>
              <a:ext cx="7148946" cy="4727030"/>
            </p:xfrm>
            <a:graphic>
              <a:graphicData uri="http://schemas.openxmlformats.org/drawingml/2006/table">
                <a:tbl>
                  <a:tblPr firstRow="1" firstCol="1" bandRow="1">
                    <a:tableStyleId>{A91F0D33-8C57-4600-99A7-42BC86742BE1}</a:tableStyleId>
                  </a:tblPr>
                  <a:tblGrid>
                    <a:gridCol w="2549661">
                      <a:extLst>
                        <a:ext uri="{9D8B030D-6E8A-4147-A177-3AD203B41FA5}">
                          <a16:colId xmlns:a16="http://schemas.microsoft.com/office/drawing/2014/main" val="924192448"/>
                        </a:ext>
                      </a:extLst>
                    </a:gridCol>
                    <a:gridCol w="4599285">
                      <a:extLst>
                        <a:ext uri="{9D8B030D-6E8A-4147-A177-3AD203B41FA5}">
                          <a16:colId xmlns:a16="http://schemas.microsoft.com/office/drawing/2014/main" val="3436294377"/>
                        </a:ext>
                      </a:extLst>
                    </a:gridCol>
                  </a:tblGrid>
                  <a:tr h="785433">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Begin by representing the first integer with integer chips.</a:t>
                          </a:r>
                          <a:endParaRPr lang="x-none" sz="1100" i="1">
                            <a:effectLst/>
                            <a:latin typeface="Verdana" panose="020B0604030504040204" pitchFamily="34" charset="0"/>
                            <a:ea typeface="Verdana" panose="020B0604030504040204" pitchFamily="34" charset="0"/>
                            <a:cs typeface="Verdana" panose="020B0604030504040204" pitchFamily="34" charset="0"/>
                          </a:endParaRPr>
                        </a:p>
                      </a:txBody>
                      <a:tcPr marL="42584" marR="42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100" i="1">
                            <a:effectLst/>
                            <a:latin typeface="Verdana" panose="020B0604030504040204" pitchFamily="34" charset="0"/>
                            <a:ea typeface="Verdana" panose="020B0604030504040204" pitchFamily="34" charset="0"/>
                            <a:cs typeface="Verdana" panose="020B0604030504040204" pitchFamily="34" charset="0"/>
                          </a:endParaRPr>
                        </a:p>
                      </a:txBody>
                      <a:tcPr marL="42584" marR="42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1744787"/>
                      </a:ext>
                    </a:extLst>
                  </a:tr>
                  <a:tr h="954819">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Determine what should be subtracted from the model.</a:t>
                          </a:r>
                          <a:endParaRPr lang="x-none" sz="1100" i="1">
                            <a:effectLst/>
                            <a:latin typeface="Verdana" panose="020B0604030504040204" pitchFamily="34" charset="0"/>
                            <a:ea typeface="Verdana" panose="020B0604030504040204" pitchFamily="34" charset="0"/>
                            <a:cs typeface="Verdana" panose="020B0604030504040204" pitchFamily="34" charset="0"/>
                          </a:endParaRPr>
                        </a:p>
                      </a:txBody>
                      <a:tcPr marL="42584" marR="42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14:m>
                            <m:oMath xmlns:m="http://schemas.openxmlformats.org/officeDocument/2006/math">
                              <m:r>
                                <a:rPr lang="en-US" sz="1400">
                                  <a:effectLst/>
                                  <a:latin typeface="Cambria Math" panose="02040503050406030204" pitchFamily="18" charset="0"/>
                                </a:rPr>
                                <m:t>____</m:t>
                              </m:r>
                            </m:oMath>
                          </a14:m>
                          <a:r>
                            <a:rPr lang="en-US" sz="1400" dirty="0">
                              <a:effectLst/>
                              <a:latin typeface="Verdana" panose="020B0604030504040204" pitchFamily="34" charset="0"/>
                              <a:ea typeface="Verdana" panose="020B0604030504040204" pitchFamily="34" charset="0"/>
                              <a:cs typeface="Verdana" panose="020B0604030504040204" pitchFamily="34" charset="0"/>
                            </a:rPr>
                            <a:t>                      integer chips need </a:t>
                          </a:r>
                          <a:endParaRPr lang="x-none" sz="110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to be subtracted from the model</a:t>
                          </a:r>
                          <a:endParaRPr lang="x-none" sz="1100" i="1">
                            <a:effectLst/>
                            <a:latin typeface="Verdana" panose="020B0604030504040204" pitchFamily="34" charset="0"/>
                            <a:ea typeface="Verdana" panose="020B0604030504040204" pitchFamily="34" charset="0"/>
                            <a:cs typeface="Verdana" panose="020B0604030504040204" pitchFamily="34" charset="0"/>
                          </a:endParaRPr>
                        </a:p>
                      </a:txBody>
                      <a:tcPr marL="42584" marR="42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9850410"/>
                      </a:ext>
                    </a:extLst>
                  </a:tr>
                  <a:tr h="1548774">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If the chips that need to be removed from the model are not available, add the number of zero pairs needed to be able to do so.</a:t>
                          </a:r>
                          <a:endParaRPr lang="x-none" sz="1100" i="1">
                            <a:effectLst/>
                            <a:latin typeface="Verdana" panose="020B0604030504040204" pitchFamily="34" charset="0"/>
                            <a:ea typeface="Verdana" panose="020B0604030504040204" pitchFamily="34" charset="0"/>
                            <a:cs typeface="Verdana" panose="020B0604030504040204" pitchFamily="34" charset="0"/>
                          </a:endParaRPr>
                        </a:p>
                      </a:txBody>
                      <a:tcPr marL="42584" marR="42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100" i="1">
                            <a:effectLst/>
                            <a:latin typeface="Verdana" panose="020B0604030504040204" pitchFamily="34" charset="0"/>
                            <a:ea typeface="Verdana" panose="020B0604030504040204" pitchFamily="34" charset="0"/>
                            <a:cs typeface="Verdana" panose="020B0604030504040204" pitchFamily="34" charset="0"/>
                          </a:endParaRPr>
                        </a:p>
                      </a:txBody>
                      <a:tcPr marL="42584" marR="4258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1706128"/>
                      </a:ext>
                    </a:extLst>
                  </a:tr>
                  <a:tr h="466648">
                    <a:tc gridSpan="2">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Cross out the integer chips from the model drawn above to represent the subtraction.</a:t>
                          </a:r>
                          <a:endParaRPr lang="x-none" sz="1100" i="1">
                            <a:effectLst/>
                            <a:latin typeface="Verdana" panose="020B0604030504040204" pitchFamily="34" charset="0"/>
                            <a:ea typeface="Verdana" panose="020B0604030504040204" pitchFamily="34" charset="0"/>
                            <a:cs typeface="Verdana" panose="020B0604030504040204" pitchFamily="34" charset="0"/>
                          </a:endParaRPr>
                        </a:p>
                      </a:txBody>
                      <a:tcPr marL="42584" marR="42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val="3156954356"/>
                      </a:ext>
                    </a:extLst>
                  </a:tr>
                  <a:tr h="971356">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Find the value of the expression based on the integer chips remaining.</a:t>
                          </a:r>
                          <a:endParaRPr lang="x-none" sz="1100" i="1">
                            <a:effectLst/>
                            <a:latin typeface="Verdana" panose="020B0604030504040204" pitchFamily="34" charset="0"/>
                            <a:ea typeface="Verdana" panose="020B0604030504040204" pitchFamily="34" charset="0"/>
                            <a:cs typeface="Verdana" panose="020B0604030504040204" pitchFamily="34" charset="0"/>
                          </a:endParaRPr>
                        </a:p>
                      </a:txBody>
                      <a:tcPr marL="42584" marR="42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a:effectLst/>
                                    <a:latin typeface="Cambria Math" panose="02040503050406030204" pitchFamily="18" charset="0"/>
                                  </a:rPr>
                                  <m:t>4 − 6 = ______</m:t>
                                </m:r>
                              </m:oMath>
                            </m:oMathPara>
                          </a14:m>
                          <a:endParaRPr lang="x-none" sz="1100" i="1" dirty="0">
                            <a:effectLst/>
                            <a:latin typeface="Verdana" panose="020B0604030504040204" pitchFamily="34" charset="0"/>
                            <a:ea typeface="Verdana" panose="020B0604030504040204" pitchFamily="34" charset="0"/>
                            <a:cs typeface="Verdana" panose="020B0604030504040204" pitchFamily="34" charset="0"/>
                          </a:endParaRPr>
                        </a:p>
                      </a:txBody>
                      <a:tcPr marL="42584" marR="42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316846"/>
                      </a:ext>
                    </a:extLst>
                  </a:tr>
                </a:tbl>
              </a:graphicData>
            </a:graphic>
          </p:graphicFrame>
        </mc:Choice>
        <mc:Fallback xmlns="">
          <p:graphicFrame>
            <p:nvGraphicFramePr>
              <p:cNvPr id="3" name="Table 2">
                <a:extLst>
                  <a:ext uri="{FF2B5EF4-FFF2-40B4-BE49-F238E27FC236}">
                    <a16:creationId xmlns:a16="http://schemas.microsoft.com/office/drawing/2014/main" id="{9CA779F6-EA43-054B-8CA4-E4DDC44D3134}"/>
                  </a:ext>
                </a:extLst>
              </p:cNvPr>
              <p:cNvGraphicFramePr>
                <a:graphicFrameLocks noGrp="1"/>
              </p:cNvGraphicFramePr>
              <p:nvPr>
                <p:extLst>
                  <p:ext uri="{D42A27DB-BD31-4B8C-83A1-F6EECF244321}">
                    <p14:modId xmlns:p14="http://schemas.microsoft.com/office/powerpoint/2010/main" val="3734635462"/>
                  </p:ext>
                </p:extLst>
              </p:nvPr>
            </p:nvGraphicFramePr>
            <p:xfrm>
              <a:off x="2647257" y="1473570"/>
              <a:ext cx="7148946" cy="4727030"/>
            </p:xfrm>
            <a:graphic>
              <a:graphicData uri="http://schemas.openxmlformats.org/drawingml/2006/table">
                <a:tbl>
                  <a:tblPr firstRow="1" firstCol="1" bandRow="1">
                    <a:tableStyleId>{A91F0D33-8C57-4600-99A7-42BC86742BE1}</a:tableStyleId>
                  </a:tblPr>
                  <a:tblGrid>
                    <a:gridCol w="2549661">
                      <a:extLst>
                        <a:ext uri="{9D8B030D-6E8A-4147-A177-3AD203B41FA5}">
                          <a16:colId xmlns:a16="http://schemas.microsoft.com/office/drawing/2014/main" val="924192448"/>
                        </a:ext>
                      </a:extLst>
                    </a:gridCol>
                    <a:gridCol w="4599285">
                      <a:extLst>
                        <a:ext uri="{9D8B030D-6E8A-4147-A177-3AD203B41FA5}">
                          <a16:colId xmlns:a16="http://schemas.microsoft.com/office/drawing/2014/main" val="3436294377"/>
                        </a:ext>
                      </a:extLst>
                    </a:gridCol>
                  </a:tblGrid>
                  <a:tr h="785433">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Begin by representing the first integer with integer chips.</a:t>
                          </a:r>
                          <a:endParaRPr lang="en-CO" sz="1100" i="1">
                            <a:effectLst/>
                            <a:latin typeface="Verdana" panose="020B0604030504040204" pitchFamily="34" charset="0"/>
                            <a:ea typeface="Verdana" panose="020B0604030504040204" pitchFamily="34" charset="0"/>
                            <a:cs typeface="Verdana" panose="020B0604030504040204" pitchFamily="34" charset="0"/>
                          </a:endParaRPr>
                        </a:p>
                      </a:txBody>
                      <a:tcPr marL="42584" marR="42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100" i="1">
                            <a:effectLst/>
                            <a:latin typeface="Verdana" panose="020B0604030504040204" pitchFamily="34" charset="0"/>
                            <a:ea typeface="Verdana" panose="020B0604030504040204" pitchFamily="34" charset="0"/>
                            <a:cs typeface="Verdana" panose="020B0604030504040204" pitchFamily="34" charset="0"/>
                          </a:endParaRPr>
                        </a:p>
                      </a:txBody>
                      <a:tcPr marL="42584" marR="42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1744787"/>
                      </a:ext>
                    </a:extLst>
                  </a:tr>
                  <a:tr h="954819">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Determine what should be subtracted from the model.</a:t>
                          </a:r>
                          <a:endParaRPr lang="en-CO" sz="1100" i="1">
                            <a:effectLst/>
                            <a:latin typeface="Verdana" panose="020B0604030504040204" pitchFamily="34" charset="0"/>
                            <a:ea typeface="Verdana" panose="020B0604030504040204" pitchFamily="34" charset="0"/>
                            <a:cs typeface="Verdana" panose="020B0604030504040204" pitchFamily="34" charset="0"/>
                          </a:endParaRPr>
                        </a:p>
                      </a:txBody>
                      <a:tcPr marL="42584" marR="42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42584" marR="42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5647" t="-84000" r="-275" b="-316000"/>
                          </a:stretch>
                        </a:blipFill>
                      </a:tcPr>
                    </a:tc>
                    <a:extLst>
                      <a:ext uri="{0D108BD9-81ED-4DB2-BD59-A6C34878D82A}">
                        <a16:rowId xmlns:a16="http://schemas.microsoft.com/office/drawing/2014/main" val="1879850410"/>
                      </a:ext>
                    </a:extLst>
                  </a:tr>
                  <a:tr h="1548774">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If the chips that need to be removed from the model are not available, add the number of zero pairs needed to be able to do so.</a:t>
                          </a:r>
                          <a:endParaRPr lang="en-CO" sz="1100" i="1">
                            <a:effectLst/>
                            <a:latin typeface="Verdana" panose="020B0604030504040204" pitchFamily="34" charset="0"/>
                            <a:ea typeface="Verdana" panose="020B0604030504040204" pitchFamily="34" charset="0"/>
                            <a:cs typeface="Verdana" panose="020B0604030504040204" pitchFamily="34" charset="0"/>
                          </a:endParaRPr>
                        </a:p>
                      </a:txBody>
                      <a:tcPr marL="42584" marR="42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100" i="1">
                            <a:effectLst/>
                            <a:latin typeface="Verdana" panose="020B0604030504040204" pitchFamily="34" charset="0"/>
                            <a:ea typeface="Verdana" panose="020B0604030504040204" pitchFamily="34" charset="0"/>
                            <a:cs typeface="Verdana" panose="020B0604030504040204" pitchFamily="34" charset="0"/>
                          </a:endParaRPr>
                        </a:p>
                      </a:txBody>
                      <a:tcPr marL="42584" marR="4258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1706128"/>
                      </a:ext>
                    </a:extLst>
                  </a:tr>
                  <a:tr h="466648">
                    <a:tc gridSpan="2">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Cross out the integer chips from the model drawn above to represent the subtraction.</a:t>
                          </a:r>
                          <a:endParaRPr lang="en-CO" sz="1100" i="1">
                            <a:effectLst/>
                            <a:latin typeface="Verdana" panose="020B0604030504040204" pitchFamily="34" charset="0"/>
                            <a:ea typeface="Verdana" panose="020B0604030504040204" pitchFamily="34" charset="0"/>
                            <a:cs typeface="Verdana" panose="020B0604030504040204" pitchFamily="34" charset="0"/>
                          </a:endParaRPr>
                        </a:p>
                      </a:txBody>
                      <a:tcPr marL="42584" marR="42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O"/>
                        </a:p>
                      </a:txBody>
                      <a:tcPr/>
                    </a:tc>
                    <a:extLst>
                      <a:ext uri="{0D108BD9-81ED-4DB2-BD59-A6C34878D82A}">
                        <a16:rowId xmlns:a16="http://schemas.microsoft.com/office/drawing/2014/main" val="3156954356"/>
                      </a:ext>
                    </a:extLst>
                  </a:tr>
                  <a:tr h="971356">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Find the value of the expression based on the integer chips remaining.</a:t>
                          </a:r>
                          <a:endParaRPr lang="en-CO" sz="1100" i="1">
                            <a:effectLst/>
                            <a:latin typeface="Verdana" panose="020B0604030504040204" pitchFamily="34" charset="0"/>
                            <a:ea typeface="Verdana" panose="020B0604030504040204" pitchFamily="34" charset="0"/>
                            <a:cs typeface="Verdana" panose="020B0604030504040204" pitchFamily="34" charset="0"/>
                          </a:endParaRPr>
                        </a:p>
                      </a:txBody>
                      <a:tcPr marL="42584" marR="42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42584" marR="42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5647" t="-385714" r="-275" b="-1299"/>
                          </a:stretch>
                        </a:blipFill>
                      </a:tcPr>
                    </a:tc>
                    <a:extLst>
                      <a:ext uri="{0D108BD9-81ED-4DB2-BD59-A6C34878D82A}">
                        <a16:rowId xmlns:a16="http://schemas.microsoft.com/office/drawing/2014/main" val="2821316846"/>
                      </a:ext>
                    </a:extLst>
                  </a:tr>
                </a:tbl>
              </a:graphicData>
            </a:graphic>
          </p:graphicFrame>
        </mc:Fallback>
      </mc:AlternateContent>
      <p:pic>
        <p:nvPicPr>
          <p:cNvPr id="11" name="Picture 10" descr="A picture containing text&#10;&#10;Description automatically generated">
            <a:extLst>
              <a:ext uri="{FF2B5EF4-FFF2-40B4-BE49-F238E27FC236}">
                <a16:creationId xmlns:a16="http://schemas.microsoft.com/office/drawing/2014/main" id="{E9334608-BD3E-7B4D-B11E-DBBBC867D8A3}"/>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738358" y="2277305"/>
            <a:ext cx="966744" cy="502589"/>
          </a:xfrm>
          <a:prstGeom prst="rect">
            <a:avLst/>
          </a:prstGeom>
        </p:spPr>
      </p:pic>
    </p:spTree>
    <p:extLst>
      <p:ext uri="{BB962C8B-B14F-4D97-AF65-F5344CB8AC3E}">
        <p14:creationId xmlns:p14="http://schemas.microsoft.com/office/powerpoint/2010/main" val="922001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06624"/>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Practice</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id="{AE80E75D-78AE-A94E-86B4-91D469B7BFAD}"/>
              </a:ext>
            </a:extLst>
          </p:cNvPr>
          <p:cNvSpPr txBox="1"/>
          <p:nvPr/>
        </p:nvSpPr>
        <p:spPr>
          <a:xfrm>
            <a:off x="8994150" y="65292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36</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a16="http://schemas.microsoft.com/office/drawing/2014/main" id="{AEA4B4EA-62E9-1C44-B6F0-74A8572D4D1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1972" cy="115197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860496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06423" y="0"/>
            <a:ext cx="1012763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7.7.4 Guided Practice: Subtraction with Integer Chips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2BE9AFC-D858-8947-AE27-3738478587E3}"/>
                  </a:ext>
                </a:extLst>
              </p:cNvPr>
              <p:cNvSpPr/>
              <p:nvPr/>
            </p:nvSpPr>
            <p:spPr>
              <a:xfrm>
                <a:off x="905256" y="1261887"/>
                <a:ext cx="8581650" cy="646331"/>
              </a:xfrm>
              <a:prstGeom prst="rect">
                <a:avLst/>
              </a:prstGeom>
            </p:spPr>
            <p:txBody>
              <a:bodyPr wrap="square">
                <a:spAutoFit/>
              </a:bodyPr>
              <a:lstStyle/>
              <a:p>
                <a:pPr marL="457200" indent="-457200">
                  <a:buFont typeface="+mj-lt"/>
                  <a:buAutoNum type="arabicPeriod"/>
                </a:pPr>
                <a:r>
                  <a:rPr lang="en-US" sz="1800" dirty="0">
                    <a:latin typeface="Verdana" panose="020B0604030504040204" pitchFamily="34" charset="0"/>
                    <a:ea typeface="Verdana" panose="020B0604030504040204" pitchFamily="34" charset="0"/>
                    <a:cs typeface="Verdana" panose="020B0604030504040204" pitchFamily="34" charset="0"/>
                  </a:rPr>
                  <a:t>Complete the table to show how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(−2)−(−5)</m:t>
                    </m:r>
                  </m:oMath>
                </a14:m>
                <a:r>
                  <a:rPr lang="en-US" sz="1800" dirty="0">
                    <a:latin typeface="Verdana" panose="020B0604030504040204" pitchFamily="34" charset="0"/>
                    <a:ea typeface="Verdana" panose="020B0604030504040204" pitchFamily="34" charset="0"/>
                    <a:cs typeface="Verdana" panose="020B0604030504040204" pitchFamily="34" charset="0"/>
                  </a:rPr>
                  <a:t> can be represented using integer chips.</a:t>
                </a:r>
              </a:p>
            </p:txBody>
          </p:sp>
        </mc:Choice>
        <mc:Fallback xmlns="">
          <p:sp>
            <p:nvSpPr>
              <p:cNvPr id="2" name="Rectangle 1">
                <a:extLst>
                  <a:ext uri="{FF2B5EF4-FFF2-40B4-BE49-F238E27FC236}">
                    <a16:creationId xmlns:a16="http://schemas.microsoft.com/office/drawing/2014/main" id="{B2BE9AFC-D858-8947-AE27-3738478587E3}"/>
                  </a:ext>
                </a:extLst>
              </p:cNvPr>
              <p:cNvSpPr>
                <a:spLocks noRot="1" noChangeAspect="1" noMove="1" noResize="1" noEditPoints="1" noAdjustHandles="1" noChangeArrowheads="1" noChangeShapeType="1" noTextEdit="1"/>
              </p:cNvSpPr>
              <p:nvPr/>
            </p:nvSpPr>
            <p:spPr>
              <a:xfrm>
                <a:off x="905256" y="1261887"/>
                <a:ext cx="8581650" cy="646331"/>
              </a:xfrm>
              <a:prstGeom prst="rect">
                <a:avLst/>
              </a:prstGeom>
              <a:blipFill>
                <a:blip r:embed="rId4"/>
                <a:stretch>
                  <a:fillRect l="-592" t="-3846" b="-13462"/>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A0B3F56A-90D4-0546-BD18-061853EE942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36</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id="{63FB836D-7BF8-B941-8F1E-1C998C7EDD5F}"/>
              </a:ext>
            </a:extLst>
          </p:cNvPr>
          <p:cNvSpPr/>
          <p:nvPr/>
        </p:nvSpPr>
        <p:spPr>
          <a:xfrm>
            <a:off x="2146200" y="2419359"/>
            <a:ext cx="8333128" cy="1019277"/>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4" name="Picture 13" descr="Icon&#10;&#10;Description automatically generated">
            <a:extLst>
              <a:ext uri="{FF2B5EF4-FFF2-40B4-BE49-F238E27FC236}">
                <a16:creationId xmlns:a16="http://schemas.microsoft.com/office/drawing/2014/main" id="{A11C236F-F6F0-6C44-9CE3-50FB461FC6B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47300" cy="747300"/>
          </a:xfrm>
          <a:prstGeom prst="rect">
            <a:avLst/>
          </a:prstGeom>
        </p:spPr>
      </p:pic>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04D0CB7B-717C-4542-96AC-21BF9C982A7F}"/>
                  </a:ext>
                </a:extLst>
              </p:cNvPr>
              <p:cNvGraphicFramePr>
                <a:graphicFrameLocks noGrp="1"/>
              </p:cNvGraphicFramePr>
              <p:nvPr>
                <p:extLst>
                  <p:ext uri="{D42A27DB-BD31-4B8C-83A1-F6EECF244321}">
                    <p14:modId xmlns:p14="http://schemas.microsoft.com/office/powerpoint/2010/main" val="1145802346"/>
                  </p:ext>
                </p:extLst>
              </p:nvPr>
            </p:nvGraphicFramePr>
            <p:xfrm>
              <a:off x="2087091" y="2112723"/>
              <a:ext cx="7690459" cy="4087877"/>
            </p:xfrm>
            <a:graphic>
              <a:graphicData uri="http://schemas.openxmlformats.org/drawingml/2006/table">
                <a:tbl>
                  <a:tblPr firstRow="1" firstCol="1" bandRow="1">
                    <a:tableStyleId>{A91F0D33-8C57-4600-99A7-42BC86742BE1}</a:tableStyleId>
                  </a:tblPr>
                  <a:tblGrid>
                    <a:gridCol w="3241965">
                      <a:extLst>
                        <a:ext uri="{9D8B030D-6E8A-4147-A177-3AD203B41FA5}">
                          <a16:colId xmlns:a16="http://schemas.microsoft.com/office/drawing/2014/main" val="3311725119"/>
                        </a:ext>
                      </a:extLst>
                    </a:gridCol>
                    <a:gridCol w="4448494">
                      <a:extLst>
                        <a:ext uri="{9D8B030D-6E8A-4147-A177-3AD203B41FA5}">
                          <a16:colId xmlns:a16="http://schemas.microsoft.com/office/drawing/2014/main" val="4022594450"/>
                        </a:ext>
                      </a:extLst>
                    </a:gridCol>
                  </a:tblGrid>
                  <a:tr h="612996">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Begin by representing the first integer with integer chips.</a:t>
                          </a:r>
                          <a:endParaRPr lang="x-none" sz="1200" i="1">
                            <a:effectLst/>
                            <a:latin typeface="Verdana" panose="020B0604030504040204" pitchFamily="34" charset="0"/>
                            <a:ea typeface="Verdana" panose="020B0604030504040204" pitchFamily="34" charset="0"/>
                            <a:cs typeface="Verdana" panose="020B0604030504040204" pitchFamily="34" charset="0"/>
                          </a:endParaRPr>
                        </a:p>
                      </a:txBody>
                      <a:tcPr marL="39091" marR="390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200" i="1">
                            <a:effectLst/>
                            <a:latin typeface="Verdana" panose="020B0604030504040204" pitchFamily="34" charset="0"/>
                            <a:ea typeface="Verdana" panose="020B0604030504040204" pitchFamily="34" charset="0"/>
                            <a:cs typeface="Verdana" panose="020B0604030504040204" pitchFamily="34" charset="0"/>
                          </a:endParaRPr>
                        </a:p>
                      </a:txBody>
                      <a:tcPr marL="39091" marR="390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375386"/>
                      </a:ext>
                    </a:extLst>
                  </a:tr>
                  <a:tr h="725598">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Determine what should be subtracted from the model.</a:t>
                          </a:r>
                          <a:endParaRPr lang="x-none" sz="1200" i="1">
                            <a:effectLst/>
                            <a:latin typeface="Verdana" panose="020B0604030504040204" pitchFamily="34" charset="0"/>
                            <a:ea typeface="Verdana" panose="020B0604030504040204" pitchFamily="34" charset="0"/>
                            <a:cs typeface="Verdana" panose="020B0604030504040204" pitchFamily="34" charset="0"/>
                          </a:endParaRPr>
                        </a:p>
                      </a:txBody>
                      <a:tcPr marL="39091" marR="390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14:m>
                            <m:oMath xmlns:m="http://schemas.openxmlformats.org/officeDocument/2006/math">
                              <m:r>
                                <a:rPr lang="en-US" sz="1400" smtClean="0">
                                  <a:effectLst/>
                                  <a:latin typeface="Cambria Math" panose="02040503050406030204" pitchFamily="18" charset="0"/>
                                </a:rPr>
                                <m:t>____</m:t>
                              </m:r>
                            </m:oMath>
                          </a14:m>
                          <a:r>
                            <a:rPr lang="en-US" sz="1400" dirty="0">
                              <a:effectLst/>
                              <a:latin typeface="Verdana" panose="020B0604030504040204" pitchFamily="34" charset="0"/>
                              <a:ea typeface="Verdana" panose="020B0604030504040204" pitchFamily="34" charset="0"/>
                              <a:cs typeface="Verdana" panose="020B0604030504040204" pitchFamily="34" charset="0"/>
                            </a:rPr>
                            <a:t>                    integer chips need to</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be subtracted from the model</a:t>
                          </a:r>
                          <a:endParaRPr lang="x-none" sz="1200" i="1" dirty="0">
                            <a:effectLst/>
                            <a:latin typeface="Verdana" panose="020B0604030504040204" pitchFamily="34" charset="0"/>
                            <a:ea typeface="Verdana" panose="020B0604030504040204" pitchFamily="34" charset="0"/>
                            <a:cs typeface="Verdana" panose="020B0604030504040204" pitchFamily="34" charset="0"/>
                          </a:endParaRPr>
                        </a:p>
                      </a:txBody>
                      <a:tcPr marL="39091" marR="390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5716819"/>
                      </a:ext>
                    </a:extLst>
                  </a:tr>
                  <a:tr h="1389320">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If the chips that need to be removed from the model are not available, add the number of zero pairs needed to be able to do so.</a:t>
                          </a:r>
                          <a:endParaRPr lang="x-none" sz="1200" i="1">
                            <a:effectLst/>
                            <a:latin typeface="Verdana" panose="020B0604030504040204" pitchFamily="34" charset="0"/>
                            <a:ea typeface="Verdana" panose="020B0604030504040204" pitchFamily="34" charset="0"/>
                            <a:cs typeface="Verdana" panose="020B0604030504040204" pitchFamily="34" charset="0"/>
                          </a:endParaRPr>
                        </a:p>
                      </a:txBody>
                      <a:tcPr marL="39091" marR="390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200" i="1" dirty="0">
                            <a:effectLst/>
                            <a:latin typeface="Verdana" panose="020B0604030504040204" pitchFamily="34" charset="0"/>
                            <a:ea typeface="Verdana" panose="020B0604030504040204" pitchFamily="34" charset="0"/>
                            <a:cs typeface="Verdana" panose="020B0604030504040204" pitchFamily="34" charset="0"/>
                          </a:endParaRPr>
                        </a:p>
                      </a:txBody>
                      <a:tcPr marL="39091" marR="3909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2823111"/>
                      </a:ext>
                    </a:extLst>
                  </a:tr>
                  <a:tr h="386986">
                    <a:tc gridSpan="2">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Cross out the integer chips from the model drawn above to represent the subtraction.</a:t>
                          </a:r>
                          <a:endParaRPr lang="x-none" sz="1200" i="1">
                            <a:effectLst/>
                            <a:latin typeface="Verdana" panose="020B0604030504040204" pitchFamily="34" charset="0"/>
                            <a:ea typeface="Verdana" panose="020B0604030504040204" pitchFamily="34" charset="0"/>
                            <a:cs typeface="Verdana" panose="020B0604030504040204" pitchFamily="34" charset="0"/>
                          </a:endParaRPr>
                        </a:p>
                      </a:txBody>
                      <a:tcPr marL="39091" marR="390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algn="l">
                            <a:lnSpc>
                              <a:spcPct val="107000"/>
                            </a:lnSpc>
                            <a:spcBef>
                              <a:spcPts val="0"/>
                            </a:spcBef>
                            <a:spcAft>
                              <a:spcPts val="0"/>
                            </a:spcAft>
                          </a:pPr>
                          <a:endParaRPr lang="x-none" sz="900" i="1">
                            <a:effectLst/>
                            <a:latin typeface="Cambria Math" panose="02040503050406030204" pitchFamily="18" charset="0"/>
                            <a:ea typeface="Times New Roman" panose="02020603050405020304" pitchFamily="18" charset="0"/>
                            <a:cs typeface="Times New Roman" panose="02020603050405020304" pitchFamily="18" charset="0"/>
                          </a:endParaRPr>
                        </a:p>
                      </a:txBody>
                      <a:tcPr marL="39091" marR="39091" marT="0" marB="0" anchor="ctr"/>
                    </a:tc>
                    <a:extLst>
                      <a:ext uri="{0D108BD9-81ED-4DB2-BD59-A6C34878D82A}">
                        <a16:rowId xmlns:a16="http://schemas.microsoft.com/office/drawing/2014/main" val="1703130145"/>
                      </a:ext>
                    </a:extLst>
                  </a:tr>
                  <a:tr h="923527">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Find the value of the expression based on the integer chips remaining.</a:t>
                          </a:r>
                          <a:endParaRPr lang="x-none" sz="1200" i="1">
                            <a:effectLst/>
                            <a:latin typeface="Verdana" panose="020B0604030504040204" pitchFamily="34" charset="0"/>
                            <a:ea typeface="Verdana" panose="020B0604030504040204" pitchFamily="34" charset="0"/>
                            <a:cs typeface="Verdana" panose="020B0604030504040204" pitchFamily="34" charset="0"/>
                          </a:endParaRPr>
                        </a:p>
                      </a:txBody>
                      <a:tcPr marL="39091" marR="390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smtClean="0">
                                    <a:effectLst/>
                                    <a:latin typeface="Cambria Math" panose="02040503050406030204" pitchFamily="18" charset="0"/>
                                  </a:rPr>
                                  <m:t>−2 − (−5) = ______</m:t>
                                </m:r>
                              </m:oMath>
                            </m:oMathPara>
                          </a14:m>
                          <a:endParaRPr lang="x-none" sz="1200" i="1" dirty="0">
                            <a:effectLst/>
                            <a:latin typeface="Verdana" panose="020B0604030504040204" pitchFamily="34" charset="0"/>
                            <a:ea typeface="Verdana" panose="020B0604030504040204" pitchFamily="34" charset="0"/>
                            <a:cs typeface="Verdana" panose="020B0604030504040204" pitchFamily="34" charset="0"/>
                          </a:endParaRPr>
                        </a:p>
                      </a:txBody>
                      <a:tcPr marL="39091" marR="390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5364528"/>
                      </a:ext>
                    </a:extLst>
                  </a:tr>
                </a:tbl>
              </a:graphicData>
            </a:graphic>
          </p:graphicFrame>
        </mc:Choice>
        <mc:Fallback xmlns="">
          <p:graphicFrame>
            <p:nvGraphicFramePr>
              <p:cNvPr id="5" name="Table 4">
                <a:extLst>
                  <a:ext uri="{FF2B5EF4-FFF2-40B4-BE49-F238E27FC236}">
                    <a16:creationId xmlns:a16="http://schemas.microsoft.com/office/drawing/2014/main" id="{04D0CB7B-717C-4542-96AC-21BF9C982A7F}"/>
                  </a:ext>
                </a:extLst>
              </p:cNvPr>
              <p:cNvGraphicFramePr>
                <a:graphicFrameLocks noGrp="1"/>
              </p:cNvGraphicFramePr>
              <p:nvPr>
                <p:extLst>
                  <p:ext uri="{D42A27DB-BD31-4B8C-83A1-F6EECF244321}">
                    <p14:modId xmlns:p14="http://schemas.microsoft.com/office/powerpoint/2010/main" val="1145802346"/>
                  </p:ext>
                </p:extLst>
              </p:nvPr>
            </p:nvGraphicFramePr>
            <p:xfrm>
              <a:off x="2087091" y="2112723"/>
              <a:ext cx="7690459" cy="4087877"/>
            </p:xfrm>
            <a:graphic>
              <a:graphicData uri="http://schemas.openxmlformats.org/drawingml/2006/table">
                <a:tbl>
                  <a:tblPr firstRow="1" firstCol="1" bandRow="1">
                    <a:tableStyleId>{A91F0D33-8C57-4600-99A7-42BC86742BE1}</a:tableStyleId>
                  </a:tblPr>
                  <a:tblGrid>
                    <a:gridCol w="3241965">
                      <a:extLst>
                        <a:ext uri="{9D8B030D-6E8A-4147-A177-3AD203B41FA5}">
                          <a16:colId xmlns:a16="http://schemas.microsoft.com/office/drawing/2014/main" val="3311725119"/>
                        </a:ext>
                      </a:extLst>
                    </a:gridCol>
                    <a:gridCol w="4448494">
                      <a:extLst>
                        <a:ext uri="{9D8B030D-6E8A-4147-A177-3AD203B41FA5}">
                          <a16:colId xmlns:a16="http://schemas.microsoft.com/office/drawing/2014/main" val="4022594450"/>
                        </a:ext>
                      </a:extLst>
                    </a:gridCol>
                  </a:tblGrid>
                  <a:tr h="612996">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Begin by representing the first integer with integer chips.</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39091" marR="390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39091" marR="390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375386"/>
                      </a:ext>
                    </a:extLst>
                  </a:tr>
                  <a:tr h="725598">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Determine what should be subtracted from the model.</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39091" marR="390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39091" marR="390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72934" t="-84483" r="-570" b="-375862"/>
                          </a:stretch>
                        </a:blipFill>
                      </a:tcPr>
                    </a:tc>
                    <a:extLst>
                      <a:ext uri="{0D108BD9-81ED-4DB2-BD59-A6C34878D82A}">
                        <a16:rowId xmlns:a16="http://schemas.microsoft.com/office/drawing/2014/main" val="2805716819"/>
                      </a:ext>
                    </a:extLst>
                  </a:tr>
                  <a:tr h="1389320">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If the chips that need to be removed from the model are not available, add the number of zero pairs needed to be able to do so.</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39091" marR="390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gn="l">
                            <a:lnSpc>
                              <a:spcPct val="107000"/>
                            </a:lnSpc>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200" i="1" dirty="0">
                            <a:effectLst/>
                            <a:latin typeface="Verdana" panose="020B0604030504040204" pitchFamily="34" charset="0"/>
                            <a:ea typeface="Verdana" panose="020B0604030504040204" pitchFamily="34" charset="0"/>
                            <a:cs typeface="Verdana" panose="020B0604030504040204" pitchFamily="34" charset="0"/>
                          </a:endParaRPr>
                        </a:p>
                      </a:txBody>
                      <a:tcPr marL="39091" marR="3909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2823111"/>
                      </a:ext>
                    </a:extLst>
                  </a:tr>
                  <a:tr h="436436">
                    <a:tc gridSpan="2">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Cross out the integer chips from the model drawn above to represent the subtraction.</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39091" marR="390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algn="l">
                            <a:lnSpc>
                              <a:spcPct val="107000"/>
                            </a:lnSpc>
                            <a:spcBef>
                              <a:spcPts val="0"/>
                            </a:spcBef>
                            <a:spcAft>
                              <a:spcPts val="0"/>
                            </a:spcAft>
                          </a:pPr>
                          <a:endParaRPr lang="en-CO" sz="900" i="1">
                            <a:effectLst/>
                            <a:latin typeface="Cambria Math" panose="02040503050406030204" pitchFamily="18" charset="0"/>
                            <a:ea typeface="Times New Roman" panose="02020603050405020304" pitchFamily="18" charset="0"/>
                            <a:cs typeface="Times New Roman" panose="02020603050405020304" pitchFamily="18" charset="0"/>
                          </a:endParaRPr>
                        </a:p>
                      </a:txBody>
                      <a:tcPr marL="39091" marR="39091" marT="0" marB="0" anchor="ctr"/>
                    </a:tc>
                    <a:extLst>
                      <a:ext uri="{0D108BD9-81ED-4DB2-BD59-A6C34878D82A}">
                        <a16:rowId xmlns:a16="http://schemas.microsoft.com/office/drawing/2014/main" val="1703130145"/>
                      </a:ext>
                    </a:extLst>
                  </a:tr>
                  <a:tr h="923527">
                    <a:tc>
                      <a:txBody>
                        <a:bodyPr/>
                        <a:lstStyle/>
                        <a:p>
                          <a:pPr marL="0" marR="0" algn="l">
                            <a:lnSpc>
                              <a:spcPct val="107000"/>
                            </a:lnSpc>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Find the value of the expression based on the integer chips remaining.</a:t>
                          </a:r>
                          <a:endParaRPr lang="en-CO" sz="1200" i="1">
                            <a:effectLst/>
                            <a:latin typeface="Verdana" panose="020B0604030504040204" pitchFamily="34" charset="0"/>
                            <a:ea typeface="Verdana" panose="020B0604030504040204" pitchFamily="34" charset="0"/>
                            <a:cs typeface="Verdana" panose="020B0604030504040204" pitchFamily="34" charset="0"/>
                          </a:endParaRPr>
                        </a:p>
                      </a:txBody>
                      <a:tcPr marL="39091" marR="390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39091" marR="3909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72934" t="-343836" r="-570" b="-1370"/>
                          </a:stretch>
                        </a:blipFill>
                      </a:tcPr>
                    </a:tc>
                    <a:extLst>
                      <a:ext uri="{0D108BD9-81ED-4DB2-BD59-A6C34878D82A}">
                        <a16:rowId xmlns:a16="http://schemas.microsoft.com/office/drawing/2014/main" val="2915364528"/>
                      </a:ext>
                    </a:extLst>
                  </a:tr>
                </a:tbl>
              </a:graphicData>
            </a:graphic>
          </p:graphicFrame>
        </mc:Fallback>
      </mc:AlternateContent>
      <p:pic>
        <p:nvPicPr>
          <p:cNvPr id="12" name="Picture 11" descr="A picture containing text&#10;&#10;Description automatically generated">
            <a:extLst>
              <a:ext uri="{FF2B5EF4-FFF2-40B4-BE49-F238E27FC236}">
                <a16:creationId xmlns:a16="http://schemas.microsoft.com/office/drawing/2014/main" id="{4876C2DD-6BD2-AA47-8E7F-5F5E7304F48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932321" y="2786611"/>
            <a:ext cx="966744" cy="502589"/>
          </a:xfrm>
          <a:prstGeom prst="rect">
            <a:avLst/>
          </a:prstGeom>
        </p:spPr>
      </p:pic>
    </p:spTree>
    <p:extLst>
      <p:ext uri="{BB962C8B-B14F-4D97-AF65-F5344CB8AC3E}">
        <p14:creationId xmlns:p14="http://schemas.microsoft.com/office/powerpoint/2010/main" val="5927290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22E7CAFC-319F-CE4F-8B26-ED2749A56CDA}"/>
                  </a:ext>
                </a:extLst>
              </p:cNvPr>
              <p:cNvSpPr/>
              <p:nvPr/>
            </p:nvSpPr>
            <p:spPr>
              <a:xfrm>
                <a:off x="905255" y="360304"/>
                <a:ext cx="10314287" cy="5638980"/>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Use integer chips to represent how </a:t>
                </a:r>
                <a14:m>
                  <m:oMath xmlns:m="http://schemas.openxmlformats.org/officeDocument/2006/math">
                    <m:sPre>
                      <m:sPrePr>
                        <m:ctrlPr>
                          <a:rPr lang="en-US" sz="2000" i="1" dirty="0">
                            <a:latin typeface="Cambria Math" panose="02040503050406030204" pitchFamily="18" charset="0"/>
                            <a:ea typeface="Times New Roman" panose="02020603050405020304" pitchFamily="18" charset="0"/>
                            <a:cs typeface="Times New Roman" panose="02020603050405020304" pitchFamily="18" charset="0"/>
                          </a:rPr>
                        </m:ctrlPr>
                      </m:sPrePr>
                      <m:sub/>
                      <m:sup>
                        <m:r>
                          <a:rPr lang="es-ES" sz="2000" i="1" dirty="0">
                            <a:latin typeface="Cambria Math" panose="02040503050406030204" pitchFamily="18" charset="0"/>
                            <a:ea typeface="Times New Roman" panose="02020603050405020304" pitchFamily="18" charset="0"/>
                            <a:cs typeface="Times New Roman" panose="02020603050405020304" pitchFamily="18" charset="0"/>
                          </a:rPr>
                          <m:t>−</m:t>
                        </m:r>
                      </m:sup>
                      <m:e>
                        <m:r>
                          <a:rPr lang="es-ES" sz="2000" i="1" dirty="0">
                            <a:latin typeface="Cambria Math" panose="02040503050406030204" pitchFamily="18" charset="0"/>
                            <a:ea typeface="Times New Roman" panose="02020603050405020304" pitchFamily="18" charset="0"/>
                            <a:cs typeface="Times New Roman" panose="02020603050405020304" pitchFamily="18" charset="0"/>
                          </a:rPr>
                          <m:t>4</m:t>
                        </m:r>
                      </m:e>
                    </m:sPre>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sPre>
                      <m:sPrePr>
                        <m:ctrlPr>
                          <a:rPr lang="en-US" sz="2000" i="1" dirty="0">
                            <a:latin typeface="Cambria Math" panose="02040503050406030204" pitchFamily="18" charset="0"/>
                            <a:ea typeface="Times New Roman" panose="02020603050405020304" pitchFamily="18" charset="0"/>
                            <a:cs typeface="Times New Roman" panose="02020603050405020304" pitchFamily="18" charset="0"/>
                          </a:rPr>
                        </m:ctrlPr>
                      </m:sPrePr>
                      <m:sub/>
                      <m:sup>
                        <m:r>
                          <a:rPr lang="es-ES" sz="2000" i="1" dirty="0">
                            <a:latin typeface="Cambria Math" panose="02040503050406030204" pitchFamily="18" charset="0"/>
                            <a:ea typeface="Times New Roman" panose="02020603050405020304" pitchFamily="18" charset="0"/>
                            <a:cs typeface="Times New Roman" panose="02020603050405020304" pitchFamily="18" charset="0"/>
                          </a:rPr>
                          <m:t>−</m:t>
                        </m:r>
                      </m:sup>
                      <m:e>
                        <m:r>
                          <a:rPr lang="es-ES" sz="2000" i="1" dirty="0">
                            <a:latin typeface="Cambria Math" panose="02040503050406030204" pitchFamily="18" charset="0"/>
                            <a:ea typeface="Times New Roman" panose="02020603050405020304" pitchFamily="18" charset="0"/>
                            <a:cs typeface="Times New Roman" panose="02020603050405020304" pitchFamily="18" charset="0"/>
                          </a:rPr>
                          <m:t>4</m:t>
                        </m:r>
                      </m:e>
                    </m:sPre>
                    <m:r>
                      <a:rPr lang="en-US" sz="2000" i="1" dirty="0">
                        <a:latin typeface="Cambria Math" panose="02040503050406030204" pitchFamily="18" charset="0"/>
                        <a:ea typeface="Times New Roman" panose="02020603050405020304" pitchFamily="18" charset="0"/>
                        <a:cs typeface="Times New Roman" panose="02020603050405020304" pitchFamily="18" charset="0"/>
                      </a:rPr>
                      <m:t>=0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Jennifer borrowed money from Amber twice. The first time, it was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for a bottle of water. The second time, it was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for ice cream. Jennifer owes Amber a total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Later, Amber told Jennifer not to worry about paying her back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of the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The amount that Jennifer still owes Amber can be represented by the expression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−6−(−2)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Draw integer chips to represent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−6−(−2)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the value of the expression. </a:t>
                </a: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Determine the amount that Jennifer still owes Amber.</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905255" y="360304"/>
                <a:ext cx="10314287" cy="5638980"/>
              </a:xfrm>
              <a:prstGeom prst="rect">
                <a:avLst/>
              </a:prstGeom>
              <a:blipFill>
                <a:blip r:embed="rId4"/>
                <a:stretch>
                  <a:fillRect l="-615" t="-899"/>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36</a:t>
            </a:r>
            <a:endParaRPr i="1" dirty="0">
              <a:latin typeface="Calibri"/>
              <a:ea typeface="Calibri"/>
              <a:cs typeface="Calibri"/>
              <a:sym typeface="Calibri"/>
            </a:endParaRPr>
          </a:p>
        </p:txBody>
      </p:sp>
    </p:spTree>
    <p:extLst>
      <p:ext uri="{BB962C8B-B14F-4D97-AF65-F5344CB8AC3E}">
        <p14:creationId xmlns:p14="http://schemas.microsoft.com/office/powerpoint/2010/main" val="3891239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06624"/>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E24E5F"/>
                </a:solidFill>
                <a:latin typeface="Verdana"/>
                <a:ea typeface="Verdana"/>
                <a:cs typeface="Verdana"/>
                <a:sym typeface="Verdana"/>
              </a:rPr>
              <a:t>Your Turn</a:t>
            </a:r>
            <a:endParaRPr sz="4000" b="1" dirty="0">
              <a:solidFill>
                <a:srgbClr val="E24E5F"/>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37</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2C8C0BED-1AF4-B944-96AA-2CF26F1ABF6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6228" cy="115622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06424"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E24E5F"/>
                </a:solidFill>
                <a:latin typeface="Verdana"/>
                <a:ea typeface="Verdana"/>
                <a:cs typeface="Verdana"/>
                <a:sym typeface="Verdana"/>
              </a:rPr>
              <a:t>7.7.5 Your Turn!</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05AB5A2-AF35-B14C-AE54-D2A0628C823C}"/>
                  </a:ext>
                </a:extLst>
              </p:cNvPr>
              <p:cNvSpPr/>
              <p:nvPr/>
            </p:nvSpPr>
            <p:spPr>
              <a:xfrm>
                <a:off x="905256" y="1340983"/>
                <a:ext cx="8254001" cy="4524315"/>
              </a:xfrm>
              <a:prstGeom prst="rect">
                <a:avLst/>
              </a:prstGeom>
            </p:spPr>
            <p:txBody>
              <a:bodyPr wrap="square">
                <a:spAutoFit/>
              </a:bodyPr>
              <a:lstStyle/>
              <a:p>
                <a:pPr marL="457200" indent="-457200">
                  <a:buFont typeface="+mj-lt"/>
                  <a:buAutoNum type="arabicPeriod"/>
                </a:pPr>
                <a:r>
                  <a:rPr lang="en-US" sz="1800" dirty="0">
                    <a:latin typeface="Verdana" panose="020B0604030504040204" pitchFamily="34" charset="0"/>
                    <a:ea typeface="Times New Roman" panose="02020603050405020304" pitchFamily="18" charset="0"/>
                    <a:cs typeface="Times New Roman" panose="02020603050405020304" pitchFamily="18" charset="0"/>
                  </a:rPr>
                  <a:t>Use integer chips to find the value of each expression.</a:t>
                </a:r>
              </a:p>
              <a:p>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r>
                  <a:rPr lang="en-US" sz="18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lphaLcPeriod"/>
                </a:pPr>
                <a:r>
                  <a:rPr lang="en-US" sz="18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1800" i="1" dirty="0">
                        <a:latin typeface="Cambria Math" panose="02040503050406030204" pitchFamily="18" charset="0"/>
                        <a:ea typeface="Times New Roman" panose="02020603050405020304" pitchFamily="18" charset="0"/>
                        <a:cs typeface="Times New Roman" panose="02020603050405020304" pitchFamily="18" charset="0"/>
                      </a:rPr>
                      <m:t>−11−6</m:t>
                    </m:r>
                  </m:oMath>
                </a14:m>
                <a:r>
                  <a:rPr lang="en-US" sz="1800" dirty="0">
                    <a:latin typeface="Verdana" panose="020B0604030504040204" pitchFamily="34" charset="0"/>
                    <a:ea typeface="Times New Roman" panose="02020603050405020304" pitchFamily="18" charset="0"/>
                    <a:cs typeface="Times New Roman" panose="02020603050405020304" pitchFamily="18" charset="0"/>
                  </a:rPr>
                  <a:t>				b.   </a:t>
                </a:r>
                <a14:m>
                  <m:oMath xmlns:m="http://schemas.openxmlformats.org/officeDocument/2006/math">
                    <m:r>
                      <a:rPr lang="en-US" sz="1800" i="1" dirty="0">
                        <a:latin typeface="Cambria Math" panose="02040503050406030204" pitchFamily="18" charset="0"/>
                        <a:ea typeface="Times New Roman" panose="02020603050405020304" pitchFamily="18" charset="0"/>
                        <a:cs typeface="Times New Roman" panose="02020603050405020304" pitchFamily="18" charset="0"/>
                      </a:rPr>
                      <m:t>−4−(−7)</m:t>
                    </m:r>
                  </m:oMath>
                </a14:m>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r>
                  <a:rPr lang="en-US" sz="1800" dirty="0">
                    <a:latin typeface="Verdana" panose="020B0604030504040204" pitchFamily="34" charset="0"/>
                    <a:ea typeface="Times New Roman" panose="02020603050405020304" pitchFamily="18" charset="0"/>
                    <a:cs typeface="Times New Roman" panose="02020603050405020304" pitchFamily="18" charset="0"/>
                  </a:rPr>
                  <a:t>c.   </a:t>
                </a:r>
                <a14:m>
                  <m:oMath xmlns:m="http://schemas.openxmlformats.org/officeDocument/2006/math">
                    <m:r>
                      <a:rPr lang="en-US" sz="1800" i="1" dirty="0">
                        <a:latin typeface="Cambria Math" panose="02040503050406030204" pitchFamily="18" charset="0"/>
                        <a:ea typeface="Times New Roman" panose="02020603050405020304" pitchFamily="18" charset="0"/>
                        <a:cs typeface="Times New Roman" panose="02020603050405020304" pitchFamily="18" charset="0"/>
                      </a:rPr>
                      <m:t>5−(−8)</m:t>
                    </m:r>
                  </m:oMath>
                </a14:m>
                <a:r>
                  <a:rPr lang="en-US" sz="1800" dirty="0">
                    <a:latin typeface="Verdana" panose="020B0604030504040204" pitchFamily="34" charset="0"/>
                    <a:ea typeface="Times New Roman" panose="02020603050405020304" pitchFamily="18" charset="0"/>
                    <a:cs typeface="Times New Roman" panose="02020603050405020304" pitchFamily="18" charset="0"/>
                  </a:rPr>
                  <a:t>				d.  </a:t>
                </a:r>
                <a14:m>
                  <m:oMath xmlns:m="http://schemas.openxmlformats.org/officeDocument/2006/math">
                    <m:r>
                      <a:rPr lang="en-US" sz="1800" i="1" dirty="0">
                        <a:latin typeface="Cambria Math" panose="02040503050406030204" pitchFamily="18" charset="0"/>
                        <a:ea typeface="Times New Roman" panose="02020603050405020304" pitchFamily="18" charset="0"/>
                        <a:cs typeface="Times New Roman" panose="02020603050405020304" pitchFamily="18" charset="0"/>
                      </a:rPr>
                      <m:t>9−(−3)</m:t>
                    </m:r>
                  </m:oMath>
                </a14:m>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r>
                  <a:rPr lang="en-US" sz="1800" dirty="0">
                    <a:latin typeface="Verdana" panose="020B0604030504040204" pitchFamily="34" charset="0"/>
                    <a:ea typeface="Times New Roman" panose="02020603050405020304" pitchFamily="18" charset="0"/>
                    <a:cs typeface="Times New Roman" panose="02020603050405020304" pitchFamily="18" charset="0"/>
                  </a:rPr>
                  <a:t>e.   </a:t>
                </a:r>
                <a14:m>
                  <m:oMath xmlns:m="http://schemas.openxmlformats.org/officeDocument/2006/math">
                    <m:r>
                      <a:rPr lang="en-US" sz="1800" i="1" dirty="0">
                        <a:latin typeface="Cambria Math" panose="02040503050406030204" pitchFamily="18" charset="0"/>
                        <a:ea typeface="Times New Roman" panose="02020603050405020304" pitchFamily="18" charset="0"/>
                        <a:cs typeface="Times New Roman" panose="02020603050405020304" pitchFamily="18" charset="0"/>
                      </a:rPr>
                      <m:t>−1−2</m:t>
                    </m:r>
                  </m:oMath>
                </a14:m>
                <a:r>
                  <a:rPr lang="en-US" sz="1800" dirty="0">
                    <a:latin typeface="Verdana" panose="020B0604030504040204" pitchFamily="34" charset="0"/>
                    <a:ea typeface="Times New Roman" panose="02020603050405020304" pitchFamily="18" charset="0"/>
                    <a:cs typeface="Times New Roman" panose="02020603050405020304" pitchFamily="18" charset="0"/>
                  </a:rPr>
                  <a:t>				f.  </a:t>
                </a:r>
                <a14:m>
                  <m:oMath xmlns:m="http://schemas.openxmlformats.org/officeDocument/2006/math">
                    <m:r>
                      <a:rPr lang="en-US" sz="1800" i="1" dirty="0">
                        <a:latin typeface="Cambria Math" panose="02040503050406030204" pitchFamily="18" charset="0"/>
                        <a:ea typeface="Times New Roman" panose="02020603050405020304" pitchFamily="18" charset="0"/>
                        <a:cs typeface="Times New Roman" panose="02020603050405020304" pitchFamily="18" charset="0"/>
                      </a:rPr>
                      <m:t>−12−4</m:t>
                    </m:r>
                  </m:oMath>
                </a14:m>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r>
                  <a:rPr lang="en-US" sz="18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2" name="Rectangle 1">
                <a:extLst>
                  <a:ext uri="{FF2B5EF4-FFF2-40B4-BE49-F238E27FC236}">
                    <a16:creationId xmlns:a16="http://schemas.microsoft.com/office/drawing/2014/main" id="{B05AB5A2-AF35-B14C-AE54-D2A0628C823C}"/>
                  </a:ext>
                </a:extLst>
              </p:cNvPr>
              <p:cNvSpPr>
                <a:spLocks noRot="1" noChangeAspect="1" noMove="1" noResize="1" noEditPoints="1" noAdjustHandles="1" noChangeArrowheads="1" noChangeShapeType="1" noTextEdit="1"/>
              </p:cNvSpPr>
              <p:nvPr/>
            </p:nvSpPr>
            <p:spPr>
              <a:xfrm>
                <a:off x="905256" y="1340983"/>
                <a:ext cx="8254001" cy="4524315"/>
              </a:xfrm>
              <a:prstGeom prst="rect">
                <a:avLst/>
              </a:prstGeom>
              <a:blipFill>
                <a:blip r:embed="rId4"/>
                <a:stretch>
                  <a:fillRect l="-614" t="-560"/>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85268C17-F7CB-D243-B65D-166A4DD9987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37</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a16="http://schemas.microsoft.com/office/drawing/2014/main" id="{00D9959C-BC81-7642-9A75-F49D3552473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52254" cy="752254"/>
          </a:xfrm>
          <a:prstGeom prst="rect">
            <a:avLst/>
          </a:prstGeom>
        </p:spPr>
      </p:pic>
    </p:spTree>
    <p:extLst>
      <p:ext uri="{BB962C8B-B14F-4D97-AF65-F5344CB8AC3E}">
        <p14:creationId xmlns:p14="http://schemas.microsoft.com/office/powerpoint/2010/main" val="22352480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961"/>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70632"/>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ABBAE5D4-A013-554B-AF18-FD3C50BA4B04}"/>
              </a:ext>
            </a:extLst>
          </p:cNvPr>
          <p:cNvSpPr txBox="1"/>
          <p:nvPr/>
        </p:nvSpPr>
        <p:spPr>
          <a:xfrm>
            <a:off x="9075457" y="65375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37</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06424"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7.7.6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50A85065-1747-6C4E-8BA4-9C1ED8A185A6}"/>
              </a:ext>
            </a:extLst>
          </p:cNvPr>
          <p:cNvSpPr/>
          <p:nvPr/>
        </p:nvSpPr>
        <p:spPr>
          <a:xfrm>
            <a:off x="905255" y="1140260"/>
            <a:ext cx="6032573" cy="3139321"/>
          </a:xfrm>
          <a:prstGeom prst="rect">
            <a:avLst/>
          </a:prstGeom>
        </p:spPr>
        <p:txBody>
          <a:bodyPr wrap="square">
            <a:spAutoFit/>
          </a:bodyPr>
          <a:lstStyle/>
          <a:p>
            <a:pPr marL="457200" indent="-457200">
              <a:buFont typeface="+mj-lt"/>
              <a:buAutoNum type="arabicPeriod"/>
            </a:pPr>
            <a:r>
              <a:rPr lang="en-US" sz="1800" dirty="0">
                <a:latin typeface="Verdana" panose="020B0604030504040204" pitchFamily="34" charset="0"/>
                <a:ea typeface="Verdana" panose="020B0604030504040204" pitchFamily="34" charset="0"/>
                <a:cs typeface="Verdana" panose="020B0604030504040204" pitchFamily="34" charset="0"/>
              </a:rPr>
              <a:t>Choose two of the visual models of subtraction that you are sure will result in a positive answer. </a:t>
            </a:r>
          </a:p>
          <a:p>
            <a:pPr lvl="0"/>
            <a:endParaRPr lang="en-US" sz="1800" dirty="0">
              <a:latin typeface="Verdana" panose="020B0604030504040204" pitchFamily="34" charset="0"/>
              <a:ea typeface="Verdana" panose="020B0604030504040204" pitchFamily="34" charset="0"/>
              <a:cs typeface="Verdana" panose="020B0604030504040204" pitchFamily="34" charset="0"/>
            </a:endParaRPr>
          </a:p>
          <a:p>
            <a:pPr lvl="0"/>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Draw an asterisk (*) next to both in the table. </a:t>
            </a:r>
          </a:p>
          <a:p>
            <a:pPr marL="457200" indent="-457200">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Give an example of them below.</a:t>
            </a:r>
          </a:p>
        </p:txBody>
      </p:sp>
      <p:sp>
        <p:nvSpPr>
          <p:cNvPr id="11" name="Google Shape;282;g104476d1465_1_17">
            <a:extLst>
              <a:ext uri="{FF2B5EF4-FFF2-40B4-BE49-F238E27FC236}">
                <a16:creationId xmlns:a16="http://schemas.microsoft.com/office/drawing/2014/main" id="{D20425D2-BFDA-974E-9037-009E6465CCF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37</a:t>
            </a:r>
            <a:endParaRPr i="1" dirty="0">
              <a:latin typeface="Calibri"/>
              <a:ea typeface="Calibri"/>
              <a:cs typeface="Calibri"/>
              <a:sym typeface="Calibri"/>
            </a:endParaRPr>
          </a:p>
        </p:txBody>
      </p:sp>
      <p:pic>
        <p:nvPicPr>
          <p:cNvPr id="5" name="Picture 4">
            <a:extLst>
              <a:ext uri="{FF2B5EF4-FFF2-40B4-BE49-F238E27FC236}">
                <a16:creationId xmlns:a16="http://schemas.microsoft.com/office/drawing/2014/main" id="{E6BAF4C1-40E9-BB4B-B379-52A605A0050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619883" y="948468"/>
            <a:ext cx="1515576" cy="5167745"/>
          </a:xfrm>
          <a:prstGeom prst="rect">
            <a:avLst/>
          </a:prstGeom>
        </p:spPr>
      </p:pic>
    </p:spTree>
    <p:extLst>
      <p:ext uri="{BB962C8B-B14F-4D97-AF65-F5344CB8AC3E}">
        <p14:creationId xmlns:p14="http://schemas.microsoft.com/office/powerpoint/2010/main" val="553995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id="{D20425D2-BFDA-974E-9037-009E6465CCF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37</a:t>
            </a:r>
            <a:endParaRPr i="1" dirty="0">
              <a:latin typeface="Calibri"/>
              <a:ea typeface="Calibri"/>
              <a:cs typeface="Calibri"/>
              <a:sym typeface="Calibri"/>
            </a:endParaRPr>
          </a:p>
        </p:txBody>
      </p:sp>
      <p:sp>
        <p:nvSpPr>
          <p:cNvPr id="7" name="Rectangle 6">
            <a:extLst>
              <a:ext uri="{FF2B5EF4-FFF2-40B4-BE49-F238E27FC236}">
                <a16:creationId xmlns:a16="http://schemas.microsoft.com/office/drawing/2014/main" id="{F545E6D0-4AE8-0245-BCA9-84318CD0046C}"/>
              </a:ext>
            </a:extLst>
          </p:cNvPr>
          <p:cNvSpPr/>
          <p:nvPr/>
        </p:nvSpPr>
        <p:spPr>
          <a:xfrm>
            <a:off x="905256" y="1116501"/>
            <a:ext cx="9147720" cy="2677656"/>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Choose one visual model that is a challenge for you. </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Draw an exclamation point (!) next to it in the table. </a:t>
            </a: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Explain using an example why it is a challenge. </a:t>
            </a:r>
          </a:p>
        </p:txBody>
      </p:sp>
    </p:spTree>
    <p:extLst>
      <p:ext uri="{BB962C8B-B14F-4D97-AF65-F5344CB8AC3E}">
        <p14:creationId xmlns:p14="http://schemas.microsoft.com/office/powerpoint/2010/main" val="952528111"/>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1462</TotalTime>
  <Words>1448</Words>
  <Application>Microsoft Office PowerPoint</Application>
  <PresentationFormat>Widescreen</PresentationFormat>
  <Paragraphs>181</Paragraphs>
  <Slides>26</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Verdana</vt:lpstr>
      <vt:lpstr>Century Gothic</vt:lpstr>
      <vt:lpstr>Arial</vt:lpstr>
      <vt:lpstr>Cambria Math</vt:lpstr>
      <vt:lpstr>Wingdings</vt:lpstr>
      <vt:lpstr>Calibri</vt:lpstr>
      <vt:lpstr>Cambria</vt:lpstr>
      <vt:lpstr>Arial Black</vt:lpstr>
      <vt:lpstr>1_Office Theme</vt:lpstr>
      <vt:lpstr>6th Grade Math  Unit 7, Lesson 7  Subtracting Integers Using Integer Chips  Volume 2, pg. 32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Your Turn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26</cp:revision>
  <dcterms:created xsi:type="dcterms:W3CDTF">2015-03-17T18:51:18Z</dcterms:created>
  <dcterms:modified xsi:type="dcterms:W3CDTF">2022-07-09T06:24:35Z</dcterms:modified>
</cp:coreProperties>
</file>