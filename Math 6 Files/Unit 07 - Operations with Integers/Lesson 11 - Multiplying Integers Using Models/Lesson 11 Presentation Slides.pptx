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36" r:id="rId10"/>
    <p:sldId id="345" r:id="rId11"/>
    <p:sldId id="342" r:id="rId12"/>
    <p:sldId id="343" r:id="rId13"/>
    <p:sldId id="344" r:id="rId14"/>
    <p:sldId id="311" r:id="rId15"/>
    <p:sldId id="312" r:id="rId16"/>
    <p:sldId id="333" r:id="rId17"/>
    <p:sldId id="306" r:id="rId18"/>
    <p:sldId id="307" r:id="rId19"/>
  </p:sldIdLst>
  <p:sldSz cx="12192000" cy="6858000"/>
  <p:notesSz cx="6858000" cy="9144000"/>
  <p:embeddedFontLst>
    <p:embeddedFont>
      <p:font typeface="Verdana" pitchFamily="34" charset="0"/>
      <p:regular r:id="rId21"/>
      <p:bold r:id="rId22"/>
      <p:italic r:id="rId23"/>
      <p:boldItalic r:id="rId24"/>
    </p:embeddedFont>
    <p:embeddedFont>
      <p:font typeface="Calibri" pitchFamily="34" charset="0"/>
      <p:regular r:id="rId25"/>
      <p:bold r:id="rId26"/>
      <p:italic r:id="rId27"/>
      <p:boldItalic r:id="rId28"/>
    </p:embeddedFont>
    <p:embeddedFont>
      <p:font typeface="Century Gothic" pitchFamily="34" charset="0"/>
      <p:regular r:id="rId29"/>
      <p:bold r:id="rId30"/>
      <p:italic r:id="rId31"/>
      <p:boldItalic r:id="rId32"/>
    </p:embeddedFont>
    <p:embeddedFont>
      <p:font typeface="Cambria Math" pitchFamily="18" charset="0"/>
      <p:regular r:id="rId33"/>
    </p:embeddedFont>
    <p:embeddedFont>
      <p:font typeface="Cambria" pitchFamily="18" charset="0"/>
      <p:regular r:id="rId34"/>
      <p:bold r:id="rId35"/>
      <p:italic r:id="rId36"/>
      <p:boldItalic r:id="rId37"/>
    </p:embeddedFont>
    <p:embeddedFont>
      <p:font typeface="Arial Black" pitchFamily="34" charset="0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AAA"/>
    <a:srgbClr val="26B7D4"/>
    <a:srgbClr val="E24E5F"/>
    <a:srgbClr val="52BDA6"/>
    <a:srgbClr val="276C46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0"/>
    <p:restoredTop sz="94722"/>
  </p:normalViewPr>
  <p:slideViewPr>
    <p:cSldViewPr snapToGrid="0">
      <p:cViewPr varScale="1">
        <p:scale>
          <a:sx n="80" d="100"/>
          <a:sy n="80" d="100"/>
        </p:scale>
        <p:origin x="-509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8324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5905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718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1166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4913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iff"/><Relationship Id="rId3" Type="http://schemas.openxmlformats.org/officeDocument/2006/relationships/image" Target="../media/image10.png"/><Relationship Id="rId7" Type="http://schemas.openxmlformats.org/officeDocument/2006/relationships/image" Target="../media/image1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tiff"/><Relationship Id="rId5" Type="http://schemas.openxmlformats.org/officeDocument/2006/relationships/image" Target="../media/image13.tif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tiff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tiff"/><Relationship Id="rId4" Type="http://schemas.openxmlformats.org/officeDocument/2006/relationships/image" Target="../media/image2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11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Integers Using Models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52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444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81313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MA.6.NSO.4.2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and extend previous understandings of operations with whole numbers to multiply and divide integers with procedural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6423" y="0"/>
            <a:ext cx="103868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6" y="1596390"/>
            <a:ext cx="996907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6" y="1547093"/>
            <a:ext cx="96033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multiply integers using integer chips, number lines, and patterns.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06503EB0-E904-7143-BA20-369F935837E3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91440"/>
            <a:ext cx="107289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7.11.1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905256" y="1700654"/>
            <a:ext cx="8322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number lines modeling addition are shown.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AAD66BA1-003E-324B-B311-CF87AC375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42579"/>
              </p:ext>
            </p:extLst>
          </p:nvPr>
        </p:nvGraphicFramePr>
        <p:xfrm>
          <a:off x="1669026" y="2575149"/>
          <a:ext cx="7236735" cy="241617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20078">
                  <a:extLst>
                    <a:ext uri="{9D8B030D-6E8A-4147-A177-3AD203B41FA5}">
                      <a16:colId xmlns:a16="http://schemas.microsoft.com/office/drawing/2014/main" xmlns="" val="1286203005"/>
                    </a:ext>
                  </a:extLst>
                </a:gridCol>
                <a:gridCol w="3616657">
                  <a:extLst>
                    <a:ext uri="{9D8B030D-6E8A-4147-A177-3AD203B41FA5}">
                      <a16:colId xmlns:a16="http://schemas.microsoft.com/office/drawing/2014/main" xmlns="" val="2310793328"/>
                    </a:ext>
                  </a:extLst>
                </a:gridCol>
              </a:tblGrid>
              <a:tr h="1308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endParaRPr lang="x-none" sz="16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  <a:endParaRPr lang="x-none" sz="16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806599937"/>
                  </a:ext>
                </a:extLst>
              </a:tr>
              <a:tr h="11080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endParaRPr lang="x-none" sz="16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  <a:endParaRPr lang="x-none" sz="16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843074801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029B8EAC-7B13-064F-A6AE-5F29EF024F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243" b="35895"/>
          <a:stretch/>
        </p:blipFill>
        <p:spPr bwMode="auto">
          <a:xfrm>
            <a:off x="1924930" y="2834683"/>
            <a:ext cx="3200400" cy="7048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054DF56A-81FB-0D43-8397-AC083DA1D8F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247" b="35431"/>
          <a:stretch/>
        </p:blipFill>
        <p:spPr bwMode="auto">
          <a:xfrm>
            <a:off x="5705360" y="2825159"/>
            <a:ext cx="3200400" cy="714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B64E37B6-7832-5448-B1EB-EDCDCEB925A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50" b="35197"/>
          <a:stretch/>
        </p:blipFill>
        <p:spPr bwMode="auto">
          <a:xfrm>
            <a:off x="1924930" y="3915113"/>
            <a:ext cx="3200400" cy="7048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2957E620-7911-4142-8490-50912E14AFC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84" b="37302"/>
          <a:stretch/>
        </p:blipFill>
        <p:spPr bwMode="auto">
          <a:xfrm>
            <a:off x="5705360" y="3953213"/>
            <a:ext cx="3200400" cy="628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9406AA4B-C516-4E46-8A6B-E945533C57A7}"/>
              </a:ext>
            </a:extLst>
          </p:cNvPr>
          <p:cNvSpPr/>
          <p:nvPr/>
        </p:nvSpPr>
        <p:spPr>
          <a:xfrm>
            <a:off x="905256" y="5397967"/>
            <a:ext cx="8322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which one doesn’t belong.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xmlns="" id="{0A4407DC-EE59-A24F-B637-722F36973B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5837" cy="11558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4" y="-27432"/>
            <a:ext cx="107289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7.11.2 Guided Instruction: Multiplying Integers Using the Number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905256" y="1331161"/>
                <a:ext cx="1041923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Recall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(2)(4)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groups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 in each group. The product is the total number of objects.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can be represented on the number line as shown.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31161"/>
                <a:ext cx="10419236" cy="1569660"/>
              </a:xfrm>
              <a:prstGeom prst="rect">
                <a:avLst/>
              </a:prstGeom>
              <a:blipFill>
                <a:blip r:embed="rId4"/>
                <a:stretch>
                  <a:fillRect l="-974" t="-32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xmlns="" id="{61B5AD03-7A09-8749-92B5-C0F43CCA4CB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  <p:pic>
        <p:nvPicPr>
          <p:cNvPr id="13" name="Picture 12" descr="A picture containing clock&#10;&#10;Description automatically generated">
            <a:extLst>
              <a:ext uri="{FF2B5EF4-FFF2-40B4-BE49-F238E27FC236}">
                <a16:creationId xmlns:a16="http://schemas.microsoft.com/office/drawing/2014/main" xmlns="" id="{BDB329F4-E324-DA4C-BB81-24BFD38E057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5890" y="3399552"/>
            <a:ext cx="4300220" cy="1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E7CAFC-319F-CE4F-8B26-ED2749A56CDA}"/>
              </a:ext>
            </a:extLst>
          </p:cNvPr>
          <p:cNvSpPr/>
          <p:nvPr/>
        </p:nvSpPr>
        <p:spPr>
          <a:xfrm>
            <a:off x="905256" y="401414"/>
            <a:ext cx="8549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 each multiplication expression on the number line. Then, use it to complete the equation.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8B2C033B-BD26-C648-B6D8-43067B46F4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716703"/>
                  </p:ext>
                </p:extLst>
              </p:nvPr>
            </p:nvGraphicFramePr>
            <p:xfrm>
              <a:off x="2223493" y="1598653"/>
              <a:ext cx="6310111" cy="436966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310111">
                      <a:extLst>
                        <a:ext uri="{9D8B030D-6E8A-4147-A177-3AD203B41FA5}">
                          <a16:colId xmlns:a16="http://schemas.microsoft.com/office/drawing/2014/main" xmlns="" val="865115398"/>
                        </a:ext>
                      </a:extLst>
                    </a:gridCol>
                  </a:tblGrid>
                  <a:tr h="150805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700">
                                  <a:effectLst/>
                                  <a:latin typeface="Cambria Math" panose="02040503050406030204" pitchFamily="18" charset="0"/>
                                </a:rPr>
                                <m:t>(2)(−4)</m:t>
                              </m:r>
                            </m:oMath>
                          </a14:m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 panose="02040503050406030204" pitchFamily="18" charset="0"/>
                                  </a:rPr>
                                  <m:t>(2)(−4) = ________</m:t>
                                </m:r>
                              </m:oMath>
                            </m:oMathPara>
                          </a14:m>
                          <a:endParaRPr lang="x-none" sz="15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054" marR="63054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90126614"/>
                      </a:ext>
                    </a:extLst>
                  </a:tr>
                  <a:tr h="150805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700">
                                  <a:effectLst/>
                                  <a:latin typeface="Cambria Math" panose="02040503050406030204" pitchFamily="18" charset="0"/>
                                </a:rPr>
                                <m:t>(−2)(4)</m:t>
                              </m:r>
                            </m:oMath>
                          </a14:m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 panose="02040503050406030204" pitchFamily="18" charset="0"/>
                                  </a:rPr>
                                  <m:t>(−2)(4) = ________</m:t>
                                </m:r>
                              </m:oMath>
                            </m:oMathPara>
                          </a14:m>
                          <a:endParaRPr lang="x-none" sz="15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054" marR="63054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35289519"/>
                      </a:ext>
                    </a:extLst>
                  </a:tr>
                  <a:tr h="133523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700">
                                  <a:effectLst/>
                                  <a:latin typeface="Cambria Math" panose="02040503050406030204" pitchFamily="18" charset="0"/>
                                </a:rPr>
                                <m:t>(−2)(−4)</m:t>
                              </m:r>
                            </m:oMath>
                          </a14:m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 panose="02040503050406030204" pitchFamily="18" charset="0"/>
                                  </a:rPr>
                                  <m:t>(−2)(−4) = ________</m:t>
                                </m:r>
                              </m:oMath>
                            </m:oMathPara>
                          </a14:m>
                          <a:endParaRPr lang="x-none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054" marR="63054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95323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B2C033B-BD26-C648-B6D8-43067B46F4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716703"/>
                  </p:ext>
                </p:extLst>
              </p:nvPr>
            </p:nvGraphicFramePr>
            <p:xfrm>
              <a:off x="2223493" y="1598653"/>
              <a:ext cx="6310111" cy="436966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310111">
                      <a:extLst>
                        <a:ext uri="{9D8B030D-6E8A-4147-A177-3AD203B41FA5}">
                          <a16:colId xmlns:a16="http://schemas.microsoft.com/office/drawing/2014/main" val="865115398"/>
                        </a:ext>
                      </a:extLst>
                    </a:gridCol>
                  </a:tblGrid>
                  <a:tr h="1508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54" marR="63054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1" r="-201" b="-196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0126614"/>
                      </a:ext>
                    </a:extLst>
                  </a:tr>
                  <a:tr h="1508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54" marR="63054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1" t="-100000" r="-201" b="-96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289519"/>
                      </a:ext>
                    </a:extLst>
                  </a:tr>
                  <a:tr h="13535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54" marR="63054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1" t="-222430" r="-201" b="-74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3230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6068CE6-DC7E-8B4D-A128-25E0B8ECE9B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9" t="59260" r="8793" b="22223"/>
          <a:stretch/>
        </p:blipFill>
        <p:spPr bwMode="auto">
          <a:xfrm>
            <a:off x="2430966" y="2160097"/>
            <a:ext cx="5895163" cy="5421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7C874FE-EE23-6740-A1F6-0D9D51BBCE3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9" t="59260" r="8793" b="22223"/>
          <a:stretch/>
        </p:blipFill>
        <p:spPr bwMode="auto">
          <a:xfrm>
            <a:off x="2430966" y="3659114"/>
            <a:ext cx="5895163" cy="5421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220CD36-C504-524B-B9A9-513113FE4BC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9" t="59260" r="8793" b="22223"/>
          <a:stretch/>
        </p:blipFill>
        <p:spPr bwMode="auto">
          <a:xfrm>
            <a:off x="2430966" y="5158131"/>
            <a:ext cx="5895163" cy="5421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E7CAFC-319F-CE4F-8B26-ED2749A56CDA}"/>
              </a:ext>
            </a:extLst>
          </p:cNvPr>
          <p:cNvSpPr/>
          <p:nvPr/>
        </p:nvSpPr>
        <p:spPr>
          <a:xfrm>
            <a:off x="905256" y="956050"/>
            <a:ext cx="10925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that the rules for multiplication you created using the integer chips match the results of multiplying with the number line. Make revisions to your rules if needed.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48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xmlns="" id="{AEA4B4EA-62E9-1C44-B6F0-74A8572D4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1972" cy="1151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6510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3" y="-27923"/>
            <a:ext cx="98945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7.11.3 Guided Practice: Multiplying Integers Using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905255" y="1331162"/>
                <a:ext cx="10405169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integer chips to model and evaluate each expression.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(3)(−5)=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×−2=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1331162"/>
                <a:ext cx="10405169" cy="4154984"/>
              </a:xfrm>
              <a:prstGeom prst="rect">
                <a:avLst/>
              </a:prstGeom>
              <a:blipFill>
                <a:blip r:embed="rId4"/>
                <a:stretch>
                  <a:fillRect l="-976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xmlns="" id="{A11C236F-F6F0-6C44-9CE3-50FB461FC6B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15BA8018-E554-F141-B39F-94CD86D7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69270"/>
              </p:ext>
            </p:extLst>
          </p:nvPr>
        </p:nvGraphicFramePr>
        <p:xfrm>
          <a:off x="2667000" y="2795484"/>
          <a:ext cx="6858000" cy="12263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xmlns="" val="3268875613"/>
                    </a:ext>
                  </a:extLst>
                </a:gridCol>
              </a:tblGrid>
              <a:tr h="12263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600" i="1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553253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5D484773-BBD1-C54B-AB6E-0262EEC67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826224"/>
              </p:ext>
            </p:extLst>
          </p:nvPr>
        </p:nvGraphicFramePr>
        <p:xfrm>
          <a:off x="2667000" y="4981012"/>
          <a:ext cx="6858000" cy="12263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xmlns="" val="3268875613"/>
                    </a:ext>
                  </a:extLst>
                </a:gridCol>
              </a:tblGrid>
              <a:tr h="12263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600" i="1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553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278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05256" y="341455"/>
                <a:ext cx="9711570" cy="5324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a number line model to evaluate each expression.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(8)(−1)=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(−4)(−4)=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model for multiplication of integers do you prefer: multiplication chips or the number line?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41455"/>
                <a:ext cx="9711570" cy="5324535"/>
              </a:xfrm>
              <a:prstGeom prst="rect">
                <a:avLst/>
              </a:prstGeom>
              <a:blipFill>
                <a:blip r:embed="rId4"/>
                <a:stretch>
                  <a:fillRect l="-653" t="-476" r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xmlns="" id="{C4062876-9A87-0A47-8141-3255D600ACF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90" t="59260" r="7413" b="22223"/>
          <a:stretch/>
        </p:blipFill>
        <p:spPr bwMode="auto">
          <a:xfrm>
            <a:off x="2667000" y="1653259"/>
            <a:ext cx="6858000" cy="6134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xmlns="" id="{863630B4-513B-D44D-B672-53D935254B0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90" t="59260" r="7413" b="22223"/>
          <a:stretch/>
        </p:blipFill>
        <p:spPr bwMode="auto">
          <a:xfrm>
            <a:off x="2667000" y="3182255"/>
            <a:ext cx="6858000" cy="6134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58014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30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7.11.4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905256" y="1340983"/>
                <a:ext cx="8254001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value of each expression using your preferred method.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76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 ×−8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	b.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−6∙(−3)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c.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(−7)(−6)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40983"/>
                <a:ext cx="8254001" cy="2554545"/>
              </a:xfrm>
              <a:prstGeom prst="rect">
                <a:avLst/>
              </a:prstGeom>
              <a:blipFill>
                <a:blip r:embed="rId4"/>
                <a:stretch>
                  <a:fillRect l="-768" t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19EDEC50-5588-4349-BD51-33D2477E99D5}"/>
                  </a:ext>
                </a:extLst>
              </p:cNvPr>
              <p:cNvSpPr/>
              <p:nvPr/>
            </p:nvSpPr>
            <p:spPr>
              <a:xfrm>
                <a:off x="905256" y="1400944"/>
                <a:ext cx="825400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5(−3)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e.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 ×−4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f.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7∙5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9EDEC50-5588-4349-BD51-33D2477E99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400944"/>
                <a:ext cx="8254001" cy="400110"/>
              </a:xfrm>
              <a:prstGeom prst="rect">
                <a:avLst/>
              </a:prstGeom>
              <a:blipFill>
                <a:blip r:embed="rId4"/>
                <a:stretch>
                  <a:fillRect l="-768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6424" y="-182880"/>
            <a:ext cx="84226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7.11.5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0A85065-1747-6C4E-8BA4-9C1ED8A185A6}"/>
              </a:ext>
            </a:extLst>
          </p:cNvPr>
          <p:cNvSpPr/>
          <p:nvPr/>
        </p:nvSpPr>
        <p:spPr>
          <a:xfrm>
            <a:off x="905256" y="1140259"/>
            <a:ext cx="84226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expression using your preferred method.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58AEA9CE-E316-0B47-8A41-D6532ED203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665752"/>
                  </p:ext>
                </p:extLst>
              </p:nvPr>
            </p:nvGraphicFramePr>
            <p:xfrm>
              <a:off x="2027015" y="2154851"/>
              <a:ext cx="7180289" cy="39961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56338">
                      <a:extLst>
                        <a:ext uri="{9D8B030D-6E8A-4147-A177-3AD203B41FA5}">
                          <a16:colId xmlns:a16="http://schemas.microsoft.com/office/drawing/2014/main" xmlns="" val="2499408109"/>
                        </a:ext>
                      </a:extLst>
                    </a:gridCol>
                    <a:gridCol w="4025746">
                      <a:extLst>
                        <a:ext uri="{9D8B030D-6E8A-4147-A177-3AD203B41FA5}">
                          <a16:colId xmlns:a16="http://schemas.microsoft.com/office/drawing/2014/main" xmlns="" val="468960677"/>
                        </a:ext>
                      </a:extLst>
                    </a:gridCol>
                    <a:gridCol w="1598205">
                      <a:extLst>
                        <a:ext uri="{9D8B030D-6E8A-4147-A177-3AD203B41FA5}">
                          <a16:colId xmlns:a16="http://schemas.microsoft.com/office/drawing/2014/main" xmlns="" val="993514508"/>
                        </a:ext>
                      </a:extLst>
                    </a:gridCol>
                  </a:tblGrid>
                  <a:tr h="3207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4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Model</a:t>
                          </a:r>
                          <a:endParaRPr lang="x-none" sz="14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14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14179537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sPre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Pre>
                                  <m:sPre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36437738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2×4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91677168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18465823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434194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AEA9CE-E316-0B47-8A41-D6532ED203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665752"/>
                  </p:ext>
                </p:extLst>
              </p:nvPr>
            </p:nvGraphicFramePr>
            <p:xfrm>
              <a:off x="2027015" y="2154851"/>
              <a:ext cx="7180289" cy="39961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56338">
                      <a:extLst>
                        <a:ext uri="{9D8B030D-6E8A-4147-A177-3AD203B41FA5}">
                          <a16:colId xmlns:a16="http://schemas.microsoft.com/office/drawing/2014/main" val="2499408109"/>
                        </a:ext>
                      </a:extLst>
                    </a:gridCol>
                    <a:gridCol w="4025746">
                      <a:extLst>
                        <a:ext uri="{9D8B030D-6E8A-4147-A177-3AD203B41FA5}">
                          <a16:colId xmlns:a16="http://schemas.microsoft.com/office/drawing/2014/main" val="468960677"/>
                        </a:ext>
                      </a:extLst>
                    </a:gridCol>
                    <a:gridCol w="1598205">
                      <a:extLst>
                        <a:ext uri="{9D8B030D-6E8A-4147-A177-3AD203B41FA5}">
                          <a16:colId xmlns:a16="http://schemas.microsoft.com/office/drawing/2014/main" val="993514508"/>
                        </a:ext>
                      </a:extLst>
                    </a:gridCol>
                  </a:tblGrid>
                  <a:tr h="3207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en-CO" sz="14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Model</a:t>
                          </a:r>
                          <a:endParaRPr lang="en-CO" sz="14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en-CO" sz="14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4179537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13" t="-39726" r="-36178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6437738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13" t="-139726" r="-36178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1677168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13" t="-243056" r="-361789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8465823"/>
                      </a:ext>
                    </a:extLst>
                  </a:tr>
                  <a:tr h="9188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13" t="-338356" r="-361789" b="-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98" marR="4189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34194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436</Words>
  <Application>Microsoft Office PowerPoint</Application>
  <PresentationFormat>Custom</PresentationFormat>
  <Paragraphs>132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Verdana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1_Office Theme</vt:lpstr>
      <vt:lpstr>6th Grade Math  Unit 7, Lesson 11  Multiplying Integers Using Models  Volume 2, pg. 52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22</cp:revision>
  <dcterms:created xsi:type="dcterms:W3CDTF">2015-03-17T18:51:18Z</dcterms:created>
  <dcterms:modified xsi:type="dcterms:W3CDTF">2022-06-05T07:25:57Z</dcterms:modified>
</cp:coreProperties>
</file>