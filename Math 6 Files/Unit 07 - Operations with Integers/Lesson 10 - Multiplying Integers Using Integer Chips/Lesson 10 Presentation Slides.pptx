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3"/>
  </p:notesMasterIdLst>
  <p:sldIdLst>
    <p:sldId id="256" r:id="rId5"/>
    <p:sldId id="257" r:id="rId6"/>
    <p:sldId id="285" r:id="rId7"/>
    <p:sldId id="286" r:id="rId8"/>
    <p:sldId id="261" r:id="rId9"/>
    <p:sldId id="287" r:id="rId10"/>
    <p:sldId id="302" r:id="rId11"/>
    <p:sldId id="303" r:id="rId12"/>
    <p:sldId id="340" r:id="rId13"/>
    <p:sldId id="356" r:id="rId14"/>
    <p:sldId id="357" r:id="rId15"/>
    <p:sldId id="358" r:id="rId16"/>
    <p:sldId id="359" r:id="rId17"/>
    <p:sldId id="360" r:id="rId18"/>
    <p:sldId id="363" r:id="rId19"/>
    <p:sldId id="364" r:id="rId20"/>
    <p:sldId id="365" r:id="rId21"/>
    <p:sldId id="348" r:id="rId22"/>
    <p:sldId id="349" r:id="rId23"/>
    <p:sldId id="375" r:id="rId24"/>
    <p:sldId id="368" r:id="rId25"/>
    <p:sldId id="369" r:id="rId26"/>
    <p:sldId id="370" r:id="rId27"/>
    <p:sldId id="373" r:id="rId28"/>
    <p:sldId id="374" r:id="rId29"/>
    <p:sldId id="376" r:id="rId30"/>
    <p:sldId id="306" r:id="rId31"/>
    <p:sldId id="307" r:id="rId32"/>
  </p:sldIdLst>
  <p:sldSz cx="12192000" cy="6858000"/>
  <p:notesSz cx="6858000" cy="9144000"/>
  <p:embeddedFontLst>
    <p:embeddedFont>
      <p:font typeface="Cambria Math" pitchFamily="18" charset="0"/>
      <p:regular r:id="rId34"/>
    </p:embeddedFont>
    <p:embeddedFont>
      <p:font typeface="Arial Black" pitchFamily="34" charset="0"/>
      <p:bold r:id="rId35"/>
    </p:embeddedFont>
    <p:embeddedFont>
      <p:font typeface="Verdana" pitchFamily="34" charset="0"/>
      <p:regular r:id="rId36"/>
      <p:bold r:id="rId37"/>
      <p:italic r:id="rId38"/>
      <p:boldItalic r:id="rId39"/>
    </p:embeddedFont>
    <p:embeddedFont>
      <p:font typeface="Cutive" charset="0"/>
      <p:regular r:id="rId40"/>
    </p:embeddedFont>
    <p:embeddedFont>
      <p:font typeface="Calibri" pitchFamily="34" charset="0"/>
      <p:regular r:id="rId41"/>
      <p:bold r:id="rId42"/>
      <p:italic r:id="rId43"/>
      <p:boldItalic r:id="rId44"/>
    </p:embeddedFont>
    <p:embeddedFont>
      <p:font typeface="Century Gothic" pitchFamily="34" charset="0"/>
      <p:regular r:id="rId45"/>
      <p:bold r:id="rId46"/>
      <p:italic r:id="rId47"/>
      <p:boldItalic r:id="rId4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4BAAA"/>
    <a:srgbClr val="26B7D4"/>
    <a:srgbClr val="E24E5F"/>
    <a:srgbClr val="52BDA6"/>
    <a:srgbClr val="276C46"/>
    <a:srgbClr val="C9DF6F"/>
    <a:srgbClr val="417DBF"/>
    <a:srgbClr val="3F2A67"/>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242"/>
    <p:restoredTop sz="94722"/>
  </p:normalViewPr>
  <p:slideViewPr>
    <p:cSldViewPr snapToGrid="0">
      <p:cViewPr>
        <p:scale>
          <a:sx n="115" d="100"/>
          <a:sy n="115" d="100"/>
        </p:scale>
        <p:origin x="-102" y="-9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6.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1.fntdata"/><Relationship Id="rId42" Type="http://schemas.openxmlformats.org/officeDocument/2006/relationships/font" Target="fonts/font9.fntdata"/><Relationship Id="rId47"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notesMaster" Target="notesMasters/notesMaster1.xml"/><Relationship Id="rId38" Type="http://schemas.openxmlformats.org/officeDocument/2006/relationships/font" Target="fonts/font5.fntdata"/><Relationship Id="rId46" Type="http://schemas.openxmlformats.org/officeDocument/2006/relationships/font" Target="fonts/font13.fntdata"/><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font" Target="fonts/font8.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font" Target="fonts/font4.fntdata"/><Relationship Id="rId40" Type="http://schemas.openxmlformats.org/officeDocument/2006/relationships/font" Target="fonts/font7.fntdata"/><Relationship Id="rId45"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font" Target="fonts/font3.fntdata"/><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font" Target="fonts/font11.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font" Target="fonts/font2.fntdata"/><Relationship Id="rId43" Type="http://schemas.openxmlformats.org/officeDocument/2006/relationships/font" Target="fonts/font10.fntdata"/><Relationship Id="rId48" Type="http://schemas.openxmlformats.org/officeDocument/2006/relationships/font" Target="fonts/font15.fntdata"/><Relationship Id="rId56" Type="http://schemas.openxmlformats.org/officeDocument/2006/relationships/presProps" Target="presProps.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06488625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422028263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26847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27926217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extLst>
      <p:ext uri="{BB962C8B-B14F-4D97-AF65-F5344CB8AC3E}">
        <p14:creationId xmlns:p14="http://schemas.microsoft.com/office/powerpoint/2010/main" val="28998037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39105116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54745705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399615190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96799071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19414986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8827459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100415156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30782502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370036405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66338674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0711927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24</a:t>
            </a:fld>
            <a:endParaRPr/>
          </a:p>
        </p:txBody>
      </p:sp>
    </p:spTree>
    <p:extLst>
      <p:ext uri="{BB962C8B-B14F-4D97-AF65-F5344CB8AC3E}">
        <p14:creationId xmlns:p14="http://schemas.microsoft.com/office/powerpoint/2010/main" val="97431277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25</a:t>
            </a:fld>
            <a:endParaRPr/>
          </a:p>
        </p:txBody>
      </p:sp>
    </p:spTree>
    <p:extLst>
      <p:ext uri="{BB962C8B-B14F-4D97-AF65-F5344CB8AC3E}">
        <p14:creationId xmlns:p14="http://schemas.microsoft.com/office/powerpoint/2010/main" val="389120414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21616137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0.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27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310.png"/><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33.png"/><Relationship Id="rId4" Type="http://schemas.openxmlformats.org/officeDocument/2006/relationships/image" Target="../media/image32.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5.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5" Type="http://schemas.openxmlformats.org/officeDocument/2006/relationships/image" Target="../media/image36.png"/><Relationship Id="rId4" Type="http://schemas.openxmlformats.org/officeDocument/2006/relationships/image" Target="../media/image31.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4" Type="http://schemas.openxmlformats.org/officeDocument/2006/relationships/image" Target="../media/image37.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8.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7, Lesson 10</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Multiplying Integers Using Integer Chips</a:t>
            </a: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
            </a: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47</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sp>
        <p:nvSpPr>
          <p:cNvPr id="20" name="Google Shape;309;g104476d1465_1_39">
            <a:extLst>
              <a:ext uri="{FF2B5EF4-FFF2-40B4-BE49-F238E27FC236}">
                <a16:creationId xmlns="" xmlns:a16="http://schemas.microsoft.com/office/drawing/2014/main" id="{566F1422-A32C-7745-9E85-5AF7B9DBC697}"/>
              </a:ext>
            </a:extLst>
          </p:cNvPr>
          <p:cNvSpPr/>
          <p:nvPr/>
        </p:nvSpPr>
        <p:spPr>
          <a:xfrm>
            <a:off x="0" y="0"/>
            <a:ext cx="4094106"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480" y="15225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solidFill>
                <a:srgbClr val="26B7D4"/>
              </a:solidFill>
            </a:endParaRPr>
          </a:p>
        </p:txBody>
      </p:sp>
      <p:sp>
        <p:nvSpPr>
          <p:cNvPr id="279" name="Google Shape;279;g104476d1465_1_17"/>
          <p:cNvSpPr txBox="1">
            <a:spLocks noGrp="1"/>
          </p:cNvSpPr>
          <p:nvPr>
            <p:ph type="title" idx="4294967295"/>
          </p:nvPr>
        </p:nvSpPr>
        <p:spPr>
          <a:xfrm>
            <a:off x="1234440" y="-91440"/>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47</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 xmlns:a16="http://schemas.microsoft.com/office/drawing/2014/main" id="{527A9F9F-07B8-ED47-B967-E5507C67DBC5}"/>
              </a:ext>
            </a:extLst>
          </p:cNvPr>
          <p:cNvSpPr txBox="1">
            <a:spLocks/>
          </p:cNvSpPr>
          <p:nvPr/>
        </p:nvSpPr>
        <p:spPr>
          <a:xfrm>
            <a:off x="905255" y="1600200"/>
            <a:ext cx="9924109"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MA.6.NSO.4.2</a:t>
            </a:r>
          </a:p>
          <a:p>
            <a:pPr indent="0">
              <a:buNone/>
            </a:pPr>
            <a:r>
              <a:rPr lang="en-US" sz="2400" dirty="0">
                <a:latin typeface="Verdana" panose="020B0604030504040204" pitchFamily="34" charset="0"/>
                <a:ea typeface="Verdana" panose="020B0604030504040204" pitchFamily="34" charset="0"/>
                <a:cs typeface="Verdana" panose="020B0604030504040204" pitchFamily="34" charset="0"/>
              </a:rPr>
              <a:t>Apply and extend previous understandings of operations with whole numbers to multiply and divide integers with procedural fluency.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56616" y="201168"/>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 xmlns:a16="http://schemas.microsoft.com/office/drawing/2014/main" id="{08B3C7FF-E6D0-2145-9A84-003D15672764}"/>
              </a:ext>
            </a:extLst>
          </p:cNvPr>
          <p:cNvSpPr txBox="1">
            <a:spLocks/>
          </p:cNvSpPr>
          <p:nvPr/>
        </p:nvSpPr>
        <p:spPr>
          <a:xfrm>
            <a:off x="1106424" y="0"/>
            <a:ext cx="95104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 xmlns:a16="http://schemas.microsoft.com/office/drawing/2014/main" id="{A6E18E39-B007-D647-9935-55A748533A45}"/>
              </a:ext>
            </a:extLst>
          </p:cNvPr>
          <p:cNvSpPr txBox="1">
            <a:spLocks/>
          </p:cNvSpPr>
          <p:nvPr/>
        </p:nvSpPr>
        <p:spPr>
          <a:xfrm>
            <a:off x="905256" y="1596390"/>
            <a:ext cx="1006754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a:extLst>
              <a:ext uri="{FF2B5EF4-FFF2-40B4-BE49-F238E27FC236}">
                <a16:creationId xmlns="" xmlns:a16="http://schemas.microsoft.com/office/drawing/2014/main" id="{AC0AE969-0A27-9545-AB11-BBE5491801C1}"/>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47</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 xmlns:a16="http://schemas.microsoft.com/office/drawing/2014/main" id="{5771FBFA-7311-BB45-8AFF-04B380531EE6}"/>
              </a:ext>
            </a:extLst>
          </p:cNvPr>
          <p:cNvSpPr txBox="1">
            <a:spLocks/>
          </p:cNvSpPr>
          <p:nvPr/>
        </p:nvSpPr>
        <p:spPr>
          <a:xfrm>
            <a:off x="1106424" y="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 xmlns:a16="http://schemas.microsoft.com/office/drawing/2014/main" id="{81DC7EB0-4FED-FC45-BAEC-D699ED5C2169}"/>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 xmlns:a16="http://schemas.microsoft.com/office/drawing/2014/main" id="{9B7C98EC-F13C-9146-B728-D7044DB4247D}"/>
              </a:ext>
            </a:extLst>
          </p:cNvPr>
          <p:cNvSpPr txBox="1">
            <a:spLocks/>
          </p:cNvSpPr>
          <p:nvPr/>
        </p:nvSpPr>
        <p:spPr>
          <a:xfrm>
            <a:off x="905256" y="1547093"/>
            <a:ext cx="9278650" cy="4498865"/>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285750" indent="-285750">
              <a:buFont typeface="Wingdings" pitchFamily="2" charset="2"/>
              <a:buChar char="q"/>
            </a:pPr>
            <a:r>
              <a:rPr lang="en-US" sz="2400" dirty="0">
                <a:latin typeface="Verdana" panose="020B0604030504040204" pitchFamily="34" charset="0"/>
                <a:ea typeface="Verdana" panose="020B0604030504040204" pitchFamily="34" charset="0"/>
                <a:cs typeface="Verdana" panose="020B0604030504040204" pitchFamily="34" charset="0"/>
              </a:rPr>
              <a:t> I can use integer chips to multiply integers.</a:t>
            </a:r>
          </a:p>
        </p:txBody>
      </p:sp>
      <p:sp>
        <p:nvSpPr>
          <p:cNvPr id="8" name="Google Shape;282;g104476d1465_1_17">
            <a:extLst>
              <a:ext uri="{FF2B5EF4-FFF2-40B4-BE49-F238E27FC236}">
                <a16:creationId xmlns="" xmlns:a16="http://schemas.microsoft.com/office/drawing/2014/main" id="{AE0319DD-E1E2-064E-A3C0-1ADADEA7DC7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47</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3054096" y="2852928"/>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215384" y="2706624"/>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a:extLst>
              <a:ext uri="{FF2B5EF4-FFF2-40B4-BE49-F238E27FC236}">
                <a16:creationId xmlns="" xmlns:a16="http://schemas.microsoft.com/office/drawing/2014/main" id="{06503EB0-E904-7143-BA20-369F935837E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47</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 xmlns:a16="http://schemas.microsoft.com/office/drawing/2014/main" id="{DB5796CA-12EB-BB4C-8338-B127D750A026}"/>
              </a:ext>
            </a:extLst>
          </p:cNvPr>
          <p:cNvSpPr txBox="1">
            <a:spLocks/>
          </p:cNvSpPr>
          <p:nvPr/>
        </p:nvSpPr>
        <p:spPr>
          <a:xfrm>
            <a:off x="1106423" y="0"/>
            <a:ext cx="10081529"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F2A67"/>
                </a:solidFill>
                <a:latin typeface="Verdana"/>
                <a:ea typeface="Verdana"/>
                <a:cs typeface="Verdana"/>
                <a:sym typeface="Verdana"/>
              </a:rPr>
              <a:t>7.10.1 Warm-Up: Adding and Subtracting</a:t>
            </a:r>
          </a:p>
        </p:txBody>
      </p:sp>
      <p:pic>
        <p:nvPicPr>
          <p:cNvPr id="13" name="Google Shape;326;g103996e1364_0_25">
            <a:extLst>
              <a:ext uri="{FF2B5EF4-FFF2-40B4-BE49-F238E27FC236}">
                <a16:creationId xmlns="" xmlns:a16="http://schemas.microsoft.com/office/drawing/2014/main" id="{0B25478F-1F7B-DF44-A9BD-898178E878B3}"/>
              </a:ext>
            </a:extLst>
          </p:cNvPr>
          <p:cNvPicPr preferRelativeResize="0"/>
          <p:nvPr/>
        </p:nvPicPr>
        <p:blipFill>
          <a:blip r:embed="rId4">
            <a:alphaModFix/>
          </a:blip>
          <a:stretch>
            <a:fill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3" name="Rectangle 2">
            <a:extLst>
              <a:ext uri="{FF2B5EF4-FFF2-40B4-BE49-F238E27FC236}">
                <a16:creationId xmlns="" xmlns:a16="http://schemas.microsoft.com/office/drawing/2014/main" id="{079F083F-A67E-0047-8E64-5125815AF3D8}"/>
              </a:ext>
            </a:extLst>
          </p:cNvPr>
          <p:cNvSpPr/>
          <p:nvPr/>
        </p:nvSpPr>
        <p:spPr>
          <a:xfrm>
            <a:off x="905256" y="1386026"/>
            <a:ext cx="10533709" cy="1015663"/>
          </a:xfrm>
          <a:prstGeom prst="rect">
            <a:avLst/>
          </a:prstGeom>
        </p:spPr>
        <p:txBody>
          <a:bodyPr wrap="square">
            <a:spAutoFit/>
          </a:bodyPr>
          <a:lstStyle/>
          <a:p>
            <a:pPr marL="457200" indent="-4572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Place a digit in each blue box so that the expressions in the first row have the same value and the expression in the second row has the largest value. Use only digits 1 to 6, at most one time each. </a:t>
            </a:r>
          </a:p>
        </p:txBody>
      </p:sp>
      <p:sp>
        <p:nvSpPr>
          <p:cNvPr id="18" name="Google Shape;282;g104476d1465_1_17">
            <a:extLst>
              <a:ext uri="{FF2B5EF4-FFF2-40B4-BE49-F238E27FC236}">
                <a16:creationId xmlns="" xmlns:a16="http://schemas.microsoft.com/office/drawing/2014/main" id="{570FC961-D801-0C4E-8D4A-AEC23A74C9C3}"/>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47</a:t>
            </a:r>
            <a:endParaRPr i="1" dirty="0">
              <a:latin typeface="Calibri"/>
              <a:ea typeface="Calibri"/>
              <a:cs typeface="Calibri"/>
              <a:sym typeface="Calibri"/>
            </a:endParaRPr>
          </a:p>
        </p:txBody>
      </p:sp>
      <p:pic>
        <p:nvPicPr>
          <p:cNvPr id="4" name="Picture 3" descr="Shape, square&#10;&#10;Description automatically generated">
            <a:extLst>
              <a:ext uri="{FF2B5EF4-FFF2-40B4-BE49-F238E27FC236}">
                <a16:creationId xmlns="" xmlns:a16="http://schemas.microsoft.com/office/drawing/2014/main" id="{B6F39B4E-CD09-4646-92F2-4C6B4894205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050694" y="2557793"/>
            <a:ext cx="6090612" cy="3689056"/>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Exploration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 xmlns:a16="http://schemas.microsoft.com/office/drawing/2014/main"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48</a:t>
            </a:r>
            <a:endParaRPr i="1" dirty="0">
              <a:latin typeface="Calibri"/>
              <a:ea typeface="Calibri"/>
              <a:cs typeface="Calibri"/>
              <a:sym typeface="Calibri"/>
            </a:endParaRPr>
          </a:p>
        </p:txBody>
      </p:sp>
      <p:pic>
        <p:nvPicPr>
          <p:cNvPr id="8" name="Picture 7" descr="Icon&#10;&#10;Description automatically generated">
            <a:extLst>
              <a:ext uri="{FF2B5EF4-FFF2-40B4-BE49-F238E27FC236}">
                <a16:creationId xmlns="" xmlns:a16="http://schemas.microsoft.com/office/drawing/2014/main" id="{5B805AD0-C34C-1042-B205-CF33639EAD3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28534" cy="112853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17908396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06424" y="0"/>
            <a:ext cx="1072896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7.10.2 Exploration: Using Integer Chips to Represent Multiplication</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 xmlns:a16="http://schemas.microsoft.com/office/drawing/2014/main" id="{A66A031F-2EC8-DF4C-B3F5-E7AC5B8F3239}"/>
                  </a:ext>
                </a:extLst>
              </p:cNvPr>
              <p:cNvSpPr/>
              <p:nvPr/>
            </p:nvSpPr>
            <p:spPr>
              <a:xfrm>
                <a:off x="905255" y="1375714"/>
                <a:ext cx="9995011" cy="4524315"/>
              </a:xfrm>
              <a:prstGeom prst="rect">
                <a:avLst/>
              </a:prstGeom>
            </p:spPr>
            <p:txBody>
              <a:bodyPr wrap="square">
                <a:spAutoFit/>
              </a:bodyPr>
              <a:lstStyle/>
              <a:p>
                <a:pPr marL="407988" indent="-396875">
                  <a:buSzPts val="18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The addition expression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7+7+7</m:t>
                    </m:r>
                  </m:oMath>
                </a14:m>
                <a:r>
                  <a:rPr lang="en-US" sz="1800" dirty="0">
                    <a:latin typeface="Verdana" panose="020B0604030504040204" pitchFamily="34" charset="0"/>
                    <a:ea typeface="Verdana" panose="020B0604030504040204" pitchFamily="34" charset="0"/>
                    <a:cs typeface="Verdana" panose="020B0604030504040204" pitchFamily="34" charset="0"/>
                  </a:rPr>
                  <a:t> can be written as ______</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∙7</m:t>
                    </m:r>
                  </m:oMath>
                </a14:m>
                <a:r>
                  <a:rPr lang="en-US" sz="18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9575">
                  <a:buSzPts val="1800"/>
                </a:pPr>
                <a:r>
                  <a:rPr lang="en-US" sz="1800" dirty="0">
                    <a:latin typeface="Verdana" panose="020B0604030504040204" pitchFamily="34" charset="0"/>
                    <a:ea typeface="Verdana" panose="020B0604030504040204" pitchFamily="34" charset="0"/>
                    <a:cs typeface="Verdana" panose="020B0604030504040204" pitchFamily="34" charset="0"/>
                  </a:rPr>
                  <a:t>This is because repeated addition of integers can be expressed as  </a:t>
                </a:r>
              </a:p>
              <a:p>
                <a:pPr marL="409575">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9575">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9575">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9575">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9575">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9575">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342900" indent="-342900">
                  <a:lnSpc>
                    <a:spcPct val="150000"/>
                  </a:lnSpc>
                  <a:buSzPts val="1800"/>
                  <a:buFont typeface="+mj-lt"/>
                  <a:buAutoNum type="arabicPeriod" startAt="2"/>
                </a:pPr>
                <a:r>
                  <a:rPr lang="en-US" sz="1800" dirty="0">
                    <a:latin typeface="Verdana" panose="020B0604030504040204" pitchFamily="34" charset="0"/>
                    <a:ea typeface="Verdana" panose="020B0604030504040204" pitchFamily="34" charset="0"/>
                    <a:cs typeface="Verdana" panose="020B0604030504040204" pitchFamily="34" charset="0"/>
                  </a:rPr>
                  <a:t>The expression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5×2</m:t>
                    </m:r>
                  </m:oMath>
                </a14:m>
                <a:r>
                  <a:rPr lang="en-US" sz="1800" dirty="0">
                    <a:latin typeface="Verdana" panose="020B0604030504040204" pitchFamily="34" charset="0"/>
                    <a:ea typeface="Verdana" panose="020B0604030504040204" pitchFamily="34" charset="0"/>
                    <a:cs typeface="Verdana" panose="020B0604030504040204" pitchFamily="34" charset="0"/>
                  </a:rPr>
                  <a:t> can be interpreted as adding _____ groups of _____ or adding _____ groups of _____.</a:t>
                </a:r>
              </a:p>
              <a:p>
                <a:pPr marL="53975" indent="-53975">
                  <a:buSzPts val="1800"/>
                </a:pPr>
                <a:r>
                  <a:rPr lang="en-US" sz="1800" dirty="0">
                    <a:latin typeface="Verdana" panose="020B0604030504040204" pitchFamily="34" charset="0"/>
                    <a:ea typeface="Verdana" panose="020B0604030504040204" pitchFamily="34" charset="0"/>
                    <a:cs typeface="Verdana" panose="020B0604030504040204" pitchFamily="34" charset="0"/>
                  </a:rPr>
                  <a:t>                         </a:t>
                </a:r>
              </a:p>
              <a:p>
                <a:pPr marL="409575">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9575">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9575">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905255" y="1375714"/>
                <a:ext cx="9995011" cy="4524315"/>
              </a:xfrm>
              <a:prstGeom prst="rect">
                <a:avLst/>
              </a:prstGeom>
              <a:blipFill>
                <a:blip r:embed="rId4"/>
                <a:stretch>
                  <a:fillRect l="-508" t="-560"/>
                </a:stretch>
              </a:blipFill>
            </p:spPr>
            <p:txBody>
              <a:bodyPr/>
              <a:lstStyle/>
              <a:p>
                <a:r>
                  <a:rPr lang="en-US">
                    <a:noFill/>
                  </a:rPr>
                  <a:t> </a:t>
                </a:r>
              </a:p>
            </p:txBody>
          </p:sp>
        </mc:Fallback>
      </mc:AlternateContent>
      <p:sp>
        <p:nvSpPr>
          <p:cNvPr id="13" name="Google Shape;282;g104476d1465_1_17">
            <a:extLst>
              <a:ext uri="{FF2B5EF4-FFF2-40B4-BE49-F238E27FC236}">
                <a16:creationId xmlns=""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48</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 xmlns:a16="http://schemas.microsoft.com/office/drawing/2014/main" id="{B567779A-4409-E543-A82C-C3F72F666498}"/>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0145" cy="750145"/>
          </a:xfrm>
          <a:prstGeom prst="rect">
            <a:avLst/>
          </a:prstGeom>
        </p:spPr>
      </p:pic>
      <p:pic>
        <p:nvPicPr>
          <p:cNvPr id="5" name="Picture 4" descr="Text&#10;&#10;Description automatically generated with medium confidence">
            <a:extLst>
              <a:ext uri="{FF2B5EF4-FFF2-40B4-BE49-F238E27FC236}">
                <a16:creationId xmlns="" xmlns:a16="http://schemas.microsoft.com/office/drawing/2014/main" id="{736A56B7-103B-EC49-A126-4737491B850F}"/>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291733" y="2447889"/>
            <a:ext cx="2058077" cy="981111"/>
          </a:xfrm>
          <a:prstGeom prst="rect">
            <a:avLst/>
          </a:prstGeom>
        </p:spPr>
      </p:pic>
    </p:spTree>
    <p:extLst>
      <p:ext uri="{BB962C8B-B14F-4D97-AF65-F5344CB8AC3E}">
        <p14:creationId xmlns:p14="http://schemas.microsoft.com/office/powerpoint/2010/main" val="310129987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 xmlns:a16="http://schemas.microsoft.com/office/drawing/2014/main" id="{D9AF1552-9966-3643-BA84-BB4BC68EDBB5}"/>
                  </a:ext>
                </a:extLst>
              </p:cNvPr>
              <p:cNvSpPr/>
              <p:nvPr/>
            </p:nvSpPr>
            <p:spPr>
              <a:xfrm>
                <a:off x="914759" y="1075866"/>
                <a:ext cx="8772786" cy="3785652"/>
              </a:xfrm>
              <a:prstGeom prst="rect">
                <a:avLst/>
              </a:prstGeom>
            </p:spPr>
            <p:txBody>
              <a:bodyPr wrap="square">
                <a:spAutoFit/>
              </a:bodyPr>
              <a:lstStyle/>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3.  Use integer chips to represent one of these interpretations.  </a:t>
                </a: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49263">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Recall that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 −1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and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 +1</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pPr marL="449263">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49263">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Draw a picture of your representation.</a:t>
                </a:r>
              </a:p>
              <a:p>
                <a:pPr marL="449263">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49263">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49263">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49263">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69900" indent="-457200">
                  <a:buSzPct val="1000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Describe how the integer chips represent the value of the expression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pPr marL="449263">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14759" y="1075866"/>
                <a:ext cx="8772786" cy="3785652"/>
              </a:xfrm>
              <a:prstGeom prst="rect">
                <a:avLst/>
              </a:prstGeom>
              <a:blipFill>
                <a:blip r:embed="rId4"/>
                <a:stretch>
                  <a:fillRect l="-724" t="-669"/>
                </a:stretch>
              </a:blipFill>
            </p:spPr>
            <p:txBody>
              <a:bodyPr/>
              <a:lstStyle/>
              <a:p>
                <a:r>
                  <a:rPr lang="en-US">
                    <a:noFill/>
                  </a:rPr>
                  <a:t> </a:t>
                </a:r>
              </a:p>
            </p:txBody>
          </p:sp>
        </mc:Fallback>
      </mc:AlternateContent>
      <p:sp>
        <p:nvSpPr>
          <p:cNvPr id="9" name="Google Shape;282;g104476d1465_1_17">
            <a:extLst>
              <a:ext uri="{FF2B5EF4-FFF2-40B4-BE49-F238E27FC236}">
                <a16:creationId xmlns=""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48</a:t>
            </a:r>
            <a:endParaRPr i="1" dirty="0">
              <a:latin typeface="Calibri"/>
              <a:ea typeface="Calibri"/>
              <a:cs typeface="Calibri"/>
              <a:sym typeface="Calibri"/>
            </a:endParaRPr>
          </a:p>
        </p:txBody>
      </p:sp>
      <p:pic>
        <p:nvPicPr>
          <p:cNvPr id="6" name="image1.png" descr="A picture containing clock&#10;&#10;Description automatically generated">
            <a:extLst>
              <a:ext uri="{FF2B5EF4-FFF2-40B4-BE49-F238E27FC236}">
                <a16:creationId xmlns="" xmlns:a16="http://schemas.microsoft.com/office/drawing/2014/main" id="{E9843DA7-DB3A-974E-86DD-5341F73E9BF2}"/>
              </a:ext>
            </a:extLst>
          </p:cNvPr>
          <p:cNvPicPr/>
          <p:nvPr/>
        </p:nvPicPr>
        <p:blipFill>
          <a:blip r:embed="rId5" cstate="screen">
            <a:extLst>
              <a:ext uri="{28A0092B-C50C-407E-A947-70E740481C1C}">
                <a14:useLocalDpi xmlns:a14="http://schemas.microsoft.com/office/drawing/2010/main"/>
              </a:ext>
            </a:extLst>
          </a:blip>
          <a:srcRect/>
          <a:stretch>
            <a:fillRect/>
          </a:stretch>
        </p:blipFill>
        <p:spPr>
          <a:xfrm>
            <a:off x="2916464" y="1705821"/>
            <a:ext cx="365760" cy="365760"/>
          </a:xfrm>
          <a:prstGeom prst="rect">
            <a:avLst/>
          </a:prstGeom>
          <a:ln/>
        </p:spPr>
      </p:pic>
      <p:pic>
        <p:nvPicPr>
          <p:cNvPr id="7" name="image2.png" descr="A close up of a sign&#10;&#10;Description automatically generated">
            <a:extLst>
              <a:ext uri="{FF2B5EF4-FFF2-40B4-BE49-F238E27FC236}">
                <a16:creationId xmlns="" xmlns:a16="http://schemas.microsoft.com/office/drawing/2014/main" id="{4E3AFA5C-BE1F-5840-B6C5-2B517A317DF8}"/>
              </a:ext>
            </a:extLst>
          </p:cNvPr>
          <p:cNvPicPr/>
          <p:nvPr/>
        </p:nvPicPr>
        <p:blipFill>
          <a:blip r:embed="rId6" cstate="screen">
            <a:extLst>
              <a:ext uri="{28A0092B-C50C-407E-A947-70E740481C1C}">
                <a14:useLocalDpi xmlns:a14="http://schemas.microsoft.com/office/drawing/2010/main"/>
              </a:ext>
            </a:extLst>
          </a:blip>
          <a:srcRect/>
          <a:stretch>
            <a:fillRect/>
          </a:stretch>
        </p:blipFill>
        <p:spPr>
          <a:xfrm>
            <a:off x="4714915" y="1705821"/>
            <a:ext cx="365760" cy="365760"/>
          </a:xfrm>
          <a:prstGeom prst="rect">
            <a:avLst/>
          </a:prstGeom>
          <a:ln/>
        </p:spPr>
      </p:pic>
    </p:spTree>
    <p:extLst>
      <p:ext uri="{BB962C8B-B14F-4D97-AF65-F5344CB8AC3E}">
        <p14:creationId xmlns:p14="http://schemas.microsoft.com/office/powerpoint/2010/main" val="2524357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 xmlns:a16="http://schemas.microsoft.com/office/drawing/2014/main" id="{D9AF1552-9966-3643-BA84-BB4BC68EDBB5}"/>
                  </a:ext>
                </a:extLst>
              </p:cNvPr>
              <p:cNvSpPr/>
              <p:nvPr/>
            </p:nvSpPr>
            <p:spPr>
              <a:xfrm>
                <a:off x="905256" y="385585"/>
                <a:ext cx="10730932" cy="5324535"/>
              </a:xfrm>
              <a:prstGeom prst="rect">
                <a:avLst/>
              </a:prstGeom>
            </p:spPr>
            <p:txBody>
              <a:bodyPr wrap="square">
                <a:spAutoFit/>
              </a:bodyPr>
              <a:lstStyle/>
              <a:p>
                <a:pPr marL="457200" indent="-457200">
                  <a:lnSpc>
                    <a:spcPct val="150000"/>
                  </a:lnSpc>
                  <a:buSzPct val="1000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The expression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(−2) </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can be interpreted as adding _____ groups of _____ or adding _____ groups of _____.</a:t>
                </a: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Explain which interpretation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you think would be easier to represent using integer chips.</a:t>
                </a:r>
              </a:p>
              <a:p>
                <a:pPr marL="457200" indent="-457200">
                  <a:buSzPts val="18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5"/>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5"/>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your choice with your partner. Then, work together to use integer chips to represent one of the interpretations. Draw a picture of the representation.</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05256" y="385585"/>
                <a:ext cx="10730932" cy="5324535"/>
              </a:xfrm>
              <a:prstGeom prst="rect">
                <a:avLst/>
              </a:prstGeom>
              <a:blipFill>
                <a:blip r:embed="rId4"/>
                <a:stretch>
                  <a:fillRect l="-591" r="-473" b="-1190"/>
                </a:stretch>
              </a:blipFill>
            </p:spPr>
            <p:txBody>
              <a:bodyPr/>
              <a:lstStyle/>
              <a:p>
                <a:r>
                  <a:rPr lang="en-US">
                    <a:noFill/>
                  </a:rPr>
                  <a:t> </a:t>
                </a:r>
              </a:p>
            </p:txBody>
          </p:sp>
        </mc:Fallback>
      </mc:AlternateContent>
      <p:sp>
        <p:nvSpPr>
          <p:cNvPr id="9" name="Google Shape;282;g104476d1465_1_17">
            <a:extLst>
              <a:ext uri="{FF2B5EF4-FFF2-40B4-BE49-F238E27FC236}">
                <a16:creationId xmlns=""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48</a:t>
            </a:r>
            <a:endParaRPr i="1" dirty="0">
              <a:latin typeface="Calibri"/>
              <a:ea typeface="Calibri"/>
              <a:cs typeface="Calibri"/>
              <a:sym typeface="Calibri"/>
            </a:endParaRPr>
          </a:p>
        </p:txBody>
      </p:sp>
    </p:spTree>
    <p:extLst>
      <p:ext uri="{BB962C8B-B14F-4D97-AF65-F5344CB8AC3E}">
        <p14:creationId xmlns:p14="http://schemas.microsoft.com/office/powerpoint/2010/main" val="267666903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 xmlns:a16="http://schemas.microsoft.com/office/drawing/2014/main" id="{D9AF1552-9966-3643-BA84-BB4BC68EDBB5}"/>
                  </a:ext>
                </a:extLst>
              </p:cNvPr>
              <p:cNvSpPr/>
              <p:nvPr/>
            </p:nvSpPr>
            <p:spPr>
              <a:xfrm>
                <a:off x="905256" y="385584"/>
                <a:ext cx="8772786" cy="1938992"/>
              </a:xfrm>
              <a:prstGeom prst="rect">
                <a:avLst/>
              </a:prstGeom>
            </p:spPr>
            <p:txBody>
              <a:bodyPr wrap="square">
                <a:spAutoFit/>
              </a:bodyPr>
              <a:lstStyle/>
              <a:p>
                <a:pPr marL="457200" indent="-457200">
                  <a:buSzPct val="100000"/>
                  <a:buFont typeface="+mj-lt"/>
                  <a:buAutoNum type="arabicPeriod" startAt="8"/>
                </a:pPr>
                <a:r>
                  <a:rPr lang="en-US" sz="2000" dirty="0">
                    <a:latin typeface="Verdana" panose="020B0604030504040204" pitchFamily="34" charset="0"/>
                    <a:ea typeface="Times New Roman" panose="02020603050405020304" pitchFamily="18" charset="0"/>
                    <a:cs typeface="Times New Roman" panose="02020603050405020304" pitchFamily="18" charset="0"/>
                  </a:rPr>
                  <a:t>Describe how the integer chips represent the value of the expression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pPr marL="457200" indent="-457200">
                  <a:buSzPct val="100000"/>
                  <a:buFont typeface="+mj-lt"/>
                  <a:buAutoNum type="arabicPeriod" startAt="8"/>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8"/>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8"/>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8"/>
                </a:pPr>
                <a:r>
                  <a:rPr lang="en-US" sz="2000" dirty="0">
                    <a:latin typeface="Verdana" panose="020B0604030504040204" pitchFamily="34" charset="0"/>
                    <a:ea typeface="Times New Roman" panose="02020603050405020304" pitchFamily="18" charset="0"/>
                    <a:cs typeface="Times New Roman" panose="02020603050405020304" pitchFamily="18" charset="0"/>
                  </a:rPr>
                  <a:t>What is the value of the expression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05256" y="385584"/>
                <a:ext cx="8772786" cy="1938992"/>
              </a:xfrm>
              <a:prstGeom prst="rect">
                <a:avLst/>
              </a:prstGeom>
              <a:blipFill>
                <a:blip r:embed="rId4"/>
                <a:stretch>
                  <a:fillRect l="-723" t="-1961" b="-5229"/>
                </a:stretch>
              </a:blipFill>
            </p:spPr>
            <p:txBody>
              <a:bodyPr/>
              <a:lstStyle/>
              <a:p>
                <a:r>
                  <a:rPr lang="en-US">
                    <a:noFill/>
                  </a:rPr>
                  <a:t> </a:t>
                </a:r>
              </a:p>
            </p:txBody>
          </p:sp>
        </mc:Fallback>
      </mc:AlternateContent>
      <p:sp>
        <p:nvSpPr>
          <p:cNvPr id="9" name="Google Shape;282;g104476d1465_1_17">
            <a:extLst>
              <a:ext uri="{FF2B5EF4-FFF2-40B4-BE49-F238E27FC236}">
                <a16:creationId xmlns=""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48</a:t>
            </a:r>
            <a:endParaRPr i="1" dirty="0">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8" name="Rectangle: Rounded Corners 51">
                <a:extLst>
                  <a:ext uri="{FF2B5EF4-FFF2-40B4-BE49-F238E27FC236}">
                    <a16:creationId xmlns="" xmlns:a16="http://schemas.microsoft.com/office/drawing/2014/main" id="{09CF9967-A374-554D-BC51-9D6E0E61B1BC}"/>
                  </a:ext>
                </a:extLst>
              </p:cNvPr>
              <p:cNvSpPr/>
              <p:nvPr/>
            </p:nvSpPr>
            <p:spPr>
              <a:xfrm>
                <a:off x="2009277" y="2708288"/>
                <a:ext cx="6622473" cy="909611"/>
              </a:xfrm>
              <a:prstGeom prst="roundRect">
                <a:avLst/>
              </a:prstGeom>
              <a:solidFill>
                <a:srgbClr val="E3EFD5"/>
              </a:solidFill>
              <a:ln>
                <a:solidFill>
                  <a:srgbClr val="E3EFD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t" anchorCtr="0" forceAA="0" compatLnSpc="1">
                <a:prstTxWarp prst="textNoShape">
                  <a:avLst/>
                </a:prstTxWarp>
                <a:noAutofit/>
              </a:bodyPr>
              <a:lstStyle/>
              <a:p>
                <a:pPr marL="685800">
                  <a:lnSpc>
                    <a:spcPct val="107000"/>
                  </a:lnSpc>
                  <a:spcAft>
                    <a:spcPts val="800"/>
                  </a:spcAft>
                </a:pPr>
                <a:r>
                  <a:rPr lang="en-US" sz="1800" b="1" i="1" dirty="0">
                    <a:solidFill>
                      <a:srgbClr val="6C993C"/>
                    </a:solidFill>
                    <a:latin typeface="Verdana" panose="020B0604030504040204" pitchFamily="34" charset="0"/>
                    <a:ea typeface="Verdana" panose="020B0604030504040204" pitchFamily="34" charset="0"/>
                    <a:cs typeface="Verdana" panose="020B0604030504040204" pitchFamily="34" charset="0"/>
                  </a:rPr>
                  <a:t>Commutative Property of Multiplication</a:t>
                </a:r>
                <a:endParaRPr lang="x-none" sz="1600" i="1" dirty="0">
                  <a:latin typeface="Cambria Math" panose="02040503050406030204" pitchFamily="18" charset="0"/>
                  <a:ea typeface="Verdana" panose="020B0604030504040204" pitchFamily="34" charset="0"/>
                  <a:cs typeface="Times New Roman" panose="02020603050405020304" pitchFamily="18" charset="0"/>
                </a:endParaRPr>
              </a:p>
              <a:p>
                <a:pPr marL="685800">
                  <a:lnSpc>
                    <a:spcPct val="107000"/>
                  </a:lnSpc>
                  <a:spcAft>
                    <a:spcPts val="800"/>
                  </a:spcAft>
                </a:pPr>
                <a14:m>
                  <m:oMathPara xmlns:m="http://schemas.openxmlformats.org/officeDocument/2006/math">
                    <m:oMathParaPr>
                      <m:jc m:val="left"/>
                    </m:oMathParaPr>
                    <m:oMath xmlns:m="http://schemas.openxmlformats.org/officeDocument/2006/math">
                      <m:r>
                        <a:rPr lang="en-US" sz="1800" i="1">
                          <a:solidFill>
                            <a:srgbClr val="6C993C"/>
                          </a:solidFill>
                          <a:latin typeface="Cambria Math" panose="02040503050406030204" pitchFamily="18" charset="0"/>
                          <a:ea typeface="Verdana" panose="020B0604030504040204" pitchFamily="34" charset="0"/>
                          <a:cs typeface="Verdana" panose="020B0604030504040204" pitchFamily="34" charset="0"/>
                        </a:rPr>
                        <m:t>𝑎</m:t>
                      </m:r>
                      <m:r>
                        <a:rPr lang="en-US" sz="1800" i="1">
                          <a:solidFill>
                            <a:srgbClr val="6C993C"/>
                          </a:solidFill>
                          <a:latin typeface="Cambria Math" panose="02040503050406030204" pitchFamily="18" charset="0"/>
                          <a:ea typeface="Verdana" panose="020B0604030504040204" pitchFamily="34" charset="0"/>
                          <a:cs typeface="Verdana" panose="020B0604030504040204" pitchFamily="34" charset="0"/>
                        </a:rPr>
                        <m:t>×</m:t>
                      </m:r>
                      <m:r>
                        <a:rPr lang="en-US" sz="1800" i="1">
                          <a:solidFill>
                            <a:srgbClr val="6C993C"/>
                          </a:solidFill>
                          <a:latin typeface="Cambria Math" panose="02040503050406030204" pitchFamily="18" charset="0"/>
                          <a:ea typeface="Verdana" panose="020B0604030504040204" pitchFamily="34" charset="0"/>
                          <a:cs typeface="Verdana" panose="020B0604030504040204" pitchFamily="34" charset="0"/>
                        </a:rPr>
                        <m:t>𝑏</m:t>
                      </m:r>
                      <m:r>
                        <a:rPr lang="en-US" sz="1800" i="1">
                          <a:solidFill>
                            <a:srgbClr val="6C993C"/>
                          </a:solidFill>
                          <a:latin typeface="Cambria Math" panose="02040503050406030204" pitchFamily="18" charset="0"/>
                          <a:ea typeface="Verdana" panose="020B0604030504040204" pitchFamily="34" charset="0"/>
                          <a:cs typeface="Verdana" panose="020B0604030504040204" pitchFamily="34" charset="0"/>
                        </a:rPr>
                        <m:t>=</m:t>
                      </m:r>
                      <m:r>
                        <a:rPr lang="en-US" sz="1800" i="1">
                          <a:solidFill>
                            <a:srgbClr val="6C993C"/>
                          </a:solidFill>
                          <a:latin typeface="Cambria Math" panose="02040503050406030204" pitchFamily="18" charset="0"/>
                          <a:ea typeface="Verdana" panose="020B0604030504040204" pitchFamily="34" charset="0"/>
                          <a:cs typeface="Verdana" panose="020B0604030504040204" pitchFamily="34" charset="0"/>
                        </a:rPr>
                        <m:t>𝑏</m:t>
                      </m:r>
                      <m:r>
                        <a:rPr lang="en-US" sz="1800" i="1">
                          <a:solidFill>
                            <a:srgbClr val="6C993C"/>
                          </a:solidFill>
                          <a:latin typeface="Cambria Math" panose="02040503050406030204" pitchFamily="18" charset="0"/>
                          <a:ea typeface="Verdana" panose="020B0604030504040204" pitchFamily="34" charset="0"/>
                          <a:cs typeface="Verdana" panose="020B0604030504040204" pitchFamily="34" charset="0"/>
                        </a:rPr>
                        <m:t>×</m:t>
                      </m:r>
                      <m:r>
                        <a:rPr lang="en-US" sz="1800" i="1">
                          <a:solidFill>
                            <a:srgbClr val="6C993C"/>
                          </a:solidFill>
                          <a:latin typeface="Cambria Math" panose="02040503050406030204" pitchFamily="18" charset="0"/>
                          <a:ea typeface="Verdana" panose="020B0604030504040204" pitchFamily="34" charset="0"/>
                          <a:cs typeface="Verdana" panose="020B0604030504040204" pitchFamily="34" charset="0"/>
                        </a:rPr>
                        <m:t>𝑎</m:t>
                      </m:r>
                    </m:oMath>
                  </m:oMathPara>
                </a14:m>
                <a:endParaRPr lang="x-none" sz="1600" i="1" dirty="0">
                  <a:latin typeface="Cambria Math" panose="02040503050406030204" pitchFamily="18" charset="0"/>
                  <a:ea typeface="Times New Roman" panose="02020603050405020304" pitchFamily="18" charset="0"/>
                  <a:cs typeface="Times New Roman" panose="02020603050405020304" pitchFamily="18" charset="0"/>
                </a:endParaRPr>
              </a:p>
            </p:txBody>
          </p:sp>
        </mc:Choice>
        <mc:Fallback xmlns="">
          <p:sp>
            <p:nvSpPr>
              <p:cNvPr id="8" name="Rectangle: Rounded Corners 51">
                <a:extLst>
                  <a:ext uri="{FF2B5EF4-FFF2-40B4-BE49-F238E27FC236}">
                    <a16:creationId xmlns:a16="http://schemas.microsoft.com/office/drawing/2014/main" id="{09CF9967-A374-554D-BC51-9D6E0E61B1BC}"/>
                  </a:ext>
                </a:extLst>
              </p:cNvPr>
              <p:cNvSpPr>
                <a:spLocks noRot="1" noChangeAspect="1" noMove="1" noResize="1" noEditPoints="1" noAdjustHandles="1" noChangeArrowheads="1" noChangeShapeType="1" noTextEdit="1"/>
              </p:cNvSpPr>
              <p:nvPr/>
            </p:nvSpPr>
            <p:spPr>
              <a:xfrm>
                <a:off x="2009277" y="2708288"/>
                <a:ext cx="6622473" cy="909611"/>
              </a:xfrm>
              <a:prstGeom prst="roundRect">
                <a:avLst/>
              </a:prstGeom>
              <a:blipFill>
                <a:blip r:embed="rId5"/>
                <a:stretch>
                  <a:fillRect/>
                </a:stretch>
              </a:blipFill>
              <a:ln>
                <a:solidFill>
                  <a:srgbClr val="E3EFD5"/>
                </a:solid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1" name="Shape 7" descr="Icon&#10;&#10;Description automatically generated">
            <a:extLst>
              <a:ext uri="{FF2B5EF4-FFF2-40B4-BE49-F238E27FC236}">
                <a16:creationId xmlns="" xmlns:a16="http://schemas.microsoft.com/office/drawing/2014/main" id="{40E1D351-E473-8A4C-9C9D-0F90F3593470}"/>
              </a:ext>
            </a:extLst>
          </p:cNvPr>
          <p:cNvPicPr/>
          <p:nvPr/>
        </p:nvPicPr>
        <p:blipFill rotWithShape="1">
          <a:blip r:embed="rId6" cstate="screen">
            <a:alphaModFix/>
            <a:extLst>
              <a:ext uri="{28A0092B-C50C-407E-A947-70E740481C1C}">
                <a14:useLocalDpi xmlns:a14="http://schemas.microsoft.com/office/drawing/2010/main"/>
              </a:ext>
            </a:extLst>
          </a:blip>
          <a:srcRect/>
          <a:stretch/>
        </p:blipFill>
        <p:spPr>
          <a:xfrm>
            <a:off x="2196919" y="2792621"/>
            <a:ext cx="539115" cy="53848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Rectangle 11">
                <a:extLst>
                  <a:ext uri="{FF2B5EF4-FFF2-40B4-BE49-F238E27FC236}">
                    <a16:creationId xmlns="" xmlns:a16="http://schemas.microsoft.com/office/drawing/2014/main" id="{BA165790-377F-A04D-8B78-A08E97563E23}"/>
                  </a:ext>
                </a:extLst>
              </p:cNvPr>
              <p:cNvSpPr/>
              <p:nvPr/>
            </p:nvSpPr>
            <p:spPr>
              <a:xfrm>
                <a:off x="905256" y="4001611"/>
                <a:ext cx="8772786" cy="1961050"/>
              </a:xfrm>
              <a:prstGeom prst="rect">
                <a:avLst/>
              </a:prstGeom>
            </p:spPr>
            <p:txBody>
              <a:bodyPr wrap="square">
                <a:spAutoFit/>
              </a:bodyPr>
              <a:lstStyle/>
              <a:p>
                <a:pPr lvl="0">
                  <a:buSzPct val="100000"/>
                </a:pPr>
                <a:r>
                  <a:rPr lang="en-US" sz="2000" dirty="0">
                    <a:latin typeface="Verdana" panose="020B0604030504040204" pitchFamily="34" charset="0"/>
                    <a:ea typeface="Times New Roman" panose="02020603050405020304" pitchFamily="18" charset="0"/>
                    <a:cs typeface="Times New Roman" panose="02020603050405020304" pitchFamily="18" charset="0"/>
                  </a:rPr>
                  <a:t>The </a:t>
                </a:r>
                <a:r>
                  <a:rPr lang="en-US" sz="2000" b="1" dirty="0">
                    <a:latin typeface="Verdana" panose="020B0604030504040204" pitchFamily="34" charset="0"/>
                    <a:ea typeface="Times New Roman" panose="02020603050405020304" pitchFamily="18" charset="0"/>
                    <a:cs typeface="Times New Roman" panose="02020603050405020304" pitchFamily="18" charset="0"/>
                  </a:rPr>
                  <a:t>commutative property of multiplication </a:t>
                </a:r>
                <a:r>
                  <a:rPr lang="en-US" sz="2000" dirty="0">
                    <a:latin typeface="Verdana" panose="020B0604030504040204" pitchFamily="34" charset="0"/>
                    <a:ea typeface="Times New Roman" panose="02020603050405020304" pitchFamily="18" charset="0"/>
                    <a:cs typeface="Times New Roman" panose="02020603050405020304" pitchFamily="18" charset="0"/>
                  </a:rPr>
                  <a:t>states that the order in which multiplication is performed does not change the value of the expression.</a:t>
                </a:r>
              </a:p>
              <a:p>
                <a:pPr marL="457200" indent="-457200">
                  <a:buSzPct val="100000"/>
                  <a:buFont typeface="+mj-lt"/>
                  <a:buAutoNum type="arabicPeriod" startAt="8"/>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startAt="10"/>
                </a:pPr>
                <a:r>
                  <a:rPr lang="en-US" sz="2000" dirty="0">
                    <a:latin typeface="Verdana" panose="020B0604030504040204" pitchFamily="34" charset="0"/>
                    <a:ea typeface="Times New Roman" panose="02020603050405020304" pitchFamily="18" charset="0"/>
                    <a:cs typeface="Times New Roman" panose="02020603050405020304" pitchFamily="18" charset="0"/>
                  </a:rPr>
                  <a:t>Using the commutative property of multiplication, what is the value of the expression </a:t>
                </a:r>
                <a14:m>
                  <m:oMath xmlns:m="http://schemas.openxmlformats.org/officeDocument/2006/math">
                    <m:sPre>
                      <m:sPrePr>
                        <m:ctrlPr>
                          <a:rPr lang="en-US" sz="2000" i="1" dirty="0">
                            <a:latin typeface="Cambria Math"/>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2</m:t>
                        </m:r>
                      </m:e>
                    </m:sPre>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a:t>
                </a:r>
              </a:p>
            </p:txBody>
          </p:sp>
        </mc:Choice>
        <mc:Fallback xmlns="">
          <p:sp>
            <p:nvSpPr>
              <p:cNvPr id="12" name="Rectangle 11">
                <a:extLst>
                  <a:ext uri="{FF2B5EF4-FFF2-40B4-BE49-F238E27FC236}">
                    <a16:creationId xmlns:a16="http://schemas.microsoft.com/office/drawing/2014/main" id="{BA165790-377F-A04D-8B78-A08E97563E23}"/>
                  </a:ext>
                </a:extLst>
              </p:cNvPr>
              <p:cNvSpPr>
                <a:spLocks noRot="1" noChangeAspect="1" noMove="1" noResize="1" noEditPoints="1" noAdjustHandles="1" noChangeArrowheads="1" noChangeShapeType="1" noTextEdit="1"/>
              </p:cNvSpPr>
              <p:nvPr/>
            </p:nvSpPr>
            <p:spPr>
              <a:xfrm>
                <a:off x="905256" y="4001611"/>
                <a:ext cx="8772786" cy="1961050"/>
              </a:xfrm>
              <a:prstGeom prst="rect">
                <a:avLst/>
              </a:prstGeom>
              <a:blipFill>
                <a:blip r:embed="rId7"/>
                <a:stretch>
                  <a:fillRect l="-723" t="-1282" b="-2564"/>
                </a:stretch>
              </a:blipFill>
            </p:spPr>
            <p:txBody>
              <a:bodyPr/>
              <a:lstStyle/>
              <a:p>
                <a:r>
                  <a:rPr lang="en-US">
                    <a:noFill/>
                  </a:rPr>
                  <a:t> </a:t>
                </a:r>
              </a:p>
            </p:txBody>
          </p:sp>
        </mc:Fallback>
      </mc:AlternateContent>
    </p:spTree>
    <p:extLst>
      <p:ext uri="{BB962C8B-B14F-4D97-AF65-F5344CB8AC3E}">
        <p14:creationId xmlns:p14="http://schemas.microsoft.com/office/powerpoint/2010/main" val="2137350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Autofit/>
          </a:bodyPr>
          <a:lstStyle/>
          <a:p>
            <a:pPr>
              <a:buClr>
                <a:schemeClr val="lt1"/>
              </a:buClr>
              <a:buSzPts val="4800"/>
            </a:pPr>
            <a:r>
              <a:rPr lang="en-US" sz="4400" b="1" dirty="0">
                <a:solidFill>
                  <a:srgbClr val="52BDA6"/>
                </a:solidFill>
                <a:latin typeface="Verdana"/>
                <a:ea typeface="Verdana"/>
                <a:cs typeface="Verdana"/>
                <a:sym typeface="Verdana"/>
              </a:rPr>
              <a:t>Collaboration</a:t>
            </a:r>
            <a:endParaRPr sz="40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 xmlns:a16="http://schemas.microsoft.com/office/drawing/2014/main"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p:pic>
        <p:nvPicPr>
          <p:cNvPr id="7" name="image5.png">
            <a:extLst>
              <a:ext uri="{FF2B5EF4-FFF2-40B4-BE49-F238E27FC236}">
                <a16:creationId xmlns="" xmlns:a16="http://schemas.microsoft.com/office/drawing/2014/main" id="{60100B06-3A93-D54C-A964-96E4C2C2EEA7}"/>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28534" cy="1128534"/>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9270514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06424" y="91440"/>
            <a:ext cx="1072896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7.10.3 Collaboration: Are Zero Pairs Necessary for Multiplication?</a:t>
            </a:r>
          </a:p>
        </p:txBody>
      </p:sp>
      <mc:AlternateContent xmlns:mc="http://schemas.openxmlformats.org/markup-compatibility/2006">
        <mc:Choice xmlns:a14="http://schemas.microsoft.com/office/drawing/2010/main" Requires="a14">
          <p:sp>
            <p:nvSpPr>
              <p:cNvPr id="2" name="Rectangle 1">
                <a:extLst>
                  <a:ext uri="{FF2B5EF4-FFF2-40B4-BE49-F238E27FC236}">
                    <a16:creationId xmlns="" xmlns:a16="http://schemas.microsoft.com/office/drawing/2014/main" id="{A66A031F-2EC8-DF4C-B3F5-E7AC5B8F3239}"/>
                  </a:ext>
                </a:extLst>
              </p:cNvPr>
              <p:cNvSpPr/>
              <p:nvPr/>
            </p:nvSpPr>
            <p:spPr>
              <a:xfrm>
                <a:off x="905255" y="1375713"/>
                <a:ext cx="10728959" cy="3190104"/>
              </a:xfrm>
              <a:prstGeom prst="rect">
                <a:avLst/>
              </a:prstGeom>
            </p:spPr>
            <p:txBody>
              <a:bodyPr wrap="square">
                <a:spAutoFit/>
              </a:bodyPr>
              <a:lstStyle/>
              <a:p>
                <a:pPr marL="11113">
                  <a:buSzPts val="1800"/>
                </a:pPr>
                <a:r>
                  <a:rPr lang="en-US" sz="2000" dirty="0">
                    <a:latin typeface="Verdana" panose="020B0604030504040204" pitchFamily="34" charset="0"/>
                    <a:ea typeface="Verdana" panose="020B0604030504040204" pitchFamily="34" charset="0"/>
                    <a:cs typeface="Verdana" panose="020B0604030504040204" pitchFamily="34" charset="0"/>
                  </a:rPr>
                  <a:t>Rashaad and Sebastián were discussing how to represent </a:t>
                </a:r>
                <a14:m>
                  <m:oMath xmlns:m="http://schemas.openxmlformats.org/officeDocument/2006/math">
                    <m:sPre>
                      <m:sPrePr>
                        <m:ctrlPr>
                          <a:rPr lang="en-US" sz="2000" i="1" dirty="0">
                            <a:latin typeface="Cambria Math"/>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2</m:t>
                        </m:r>
                      </m:e>
                    </m:sPre>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5 </m:t>
                    </m:r>
                  </m:oMath>
                </a14:m>
                <a:r>
                  <a:rPr lang="en-US" sz="2000" dirty="0">
                    <a:latin typeface="Verdana" panose="020B0604030504040204" pitchFamily="34" charset="0"/>
                    <a:ea typeface="Verdana" panose="020B0604030504040204" pitchFamily="34" charset="0"/>
                    <a:cs typeface="Verdana" panose="020B0604030504040204" pitchFamily="34" charset="0"/>
                  </a:rPr>
                  <a:t>using integer chips.  </a:t>
                </a:r>
              </a:p>
              <a:p>
                <a:pPr marL="11113">
                  <a:buSzPts val="1800"/>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1113">
                  <a:buSzPts val="1800"/>
                </a:pPr>
                <a:r>
                  <a:rPr lang="en-US" sz="2000" dirty="0">
                    <a:latin typeface="Verdana" panose="020B0604030504040204" pitchFamily="34" charset="0"/>
                    <a:ea typeface="Verdana" panose="020B0604030504040204" pitchFamily="34" charset="0"/>
                    <a:cs typeface="Verdana" panose="020B0604030504040204" pitchFamily="34" charset="0"/>
                  </a:rPr>
                  <a:t>Sebastián said, “I don’t know how you can have negative 2 groups.”  </a:t>
                </a:r>
              </a:p>
              <a:p>
                <a:pPr marL="11113">
                  <a:buSzPts val="1800"/>
                </a:pPr>
                <a:r>
                  <a:rPr lang="en-US" sz="20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r>
                  <a:rPr lang="en-US" sz="2000" dirty="0">
                    <a:latin typeface="Verdana" panose="020B0604030504040204" pitchFamily="34" charset="0"/>
                    <a:ea typeface="Verdana" panose="020B0604030504040204" pitchFamily="34" charset="0"/>
                    <a:cs typeface="Verdana" panose="020B0604030504040204" pitchFamily="34" charset="0"/>
                  </a:rPr>
                  <a:t>Rashaad said, “I agree. We were able to represent </a:t>
                </a:r>
                <a14:m>
                  <m:oMath xmlns:m="http://schemas.openxmlformats.org/officeDocument/2006/math">
                    <m:r>
                      <a:rPr lang="es-ES" sz="2000" dirty="0">
                        <a:latin typeface="Cambria Math" panose="02040503050406030204" pitchFamily="18" charset="0"/>
                        <a:ea typeface="Times New Roman" panose="02020603050405020304" pitchFamily="18" charset="0"/>
                        <a:cs typeface="Times New Roman" panose="02020603050405020304" pitchFamily="18" charset="0"/>
                      </a:rPr>
                      <m:t>5</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sPre>
                      <m:sPrePr>
                        <m:ctrlPr>
                          <a:rPr lang="en-US" sz="2000" i="1" dirty="0">
                            <a:latin typeface="Cambria Math"/>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2</m:t>
                        </m:r>
                      </m:e>
                    </m:sPre>
                  </m:oMath>
                </a14:m>
                <a:r>
                  <a:rPr lang="en-US" sz="2000" dirty="0">
                    <a:latin typeface="Verdana" panose="020B0604030504040204" pitchFamily="34" charset="0"/>
                    <a:ea typeface="Verdana" panose="020B0604030504040204" pitchFamily="34" charset="0"/>
                    <a:cs typeface="Verdana" panose="020B0604030504040204" pitchFamily="34" charset="0"/>
                  </a:rPr>
                  <a:t>.  Why can’t we figure out </a:t>
                </a:r>
                <a:r>
                  <a:rPr lang="en-US" sz="2000" dirty="0" smtClean="0">
                    <a:latin typeface="Verdana" panose="020B0604030504040204" pitchFamily="34" charset="0"/>
                    <a:ea typeface="Verdana" panose="020B0604030504040204" pitchFamily="34" charset="0"/>
                    <a:cs typeface="Verdana" panose="020B0604030504040204" pitchFamily="34" charset="0"/>
                  </a:rPr>
                  <a:t>how to </a:t>
                </a:r>
                <a:r>
                  <a:rPr lang="en-US" sz="2000" dirty="0">
                    <a:latin typeface="Verdana" panose="020B0604030504040204" pitchFamily="34" charset="0"/>
                    <a:ea typeface="Verdana" panose="020B0604030504040204" pitchFamily="34" charset="0"/>
                    <a:cs typeface="Verdana" panose="020B0604030504040204" pitchFamily="34" charset="0"/>
                  </a:rPr>
                  <a:t>represent the equivalent expression </a:t>
                </a:r>
                <a14:m>
                  <m:oMath xmlns:m="http://schemas.openxmlformats.org/officeDocument/2006/math">
                    <m:sPre>
                      <m:sPrePr>
                        <m:ctrlPr>
                          <a:rPr lang="en-US" sz="2000" i="1" dirty="0">
                            <a:latin typeface="Cambria Math"/>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2 </m:t>
                        </m:r>
                      </m:e>
                    </m:sPre>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11113">
                  <a:buSzPts val="1800"/>
                </a:pPr>
                <a:r>
                  <a:rPr lang="en-US" sz="2000" dirty="0">
                    <a:latin typeface="Verdana" panose="020B0604030504040204" pitchFamily="34" charset="0"/>
                    <a:ea typeface="Verdana" panose="020B0604030504040204" pitchFamily="34" charset="0"/>
                    <a:cs typeface="Verdana" panose="020B0604030504040204" pitchFamily="34" charset="0"/>
                  </a:rPr>
                  <a:t>Sebastián then asked, “When we added and subtracted using integer chips, we used zero pairs. Do you think using zero pairs would help?”</a:t>
                </a:r>
              </a:p>
            </p:txBody>
          </p:sp>
        </mc:Choice>
        <mc:Fallback>
          <p:sp>
            <p:nvSpPr>
              <p:cNvPr id="2" name="Rectangle 1">
                <a:extLst>
                  <a:ext uri="{FF2B5EF4-FFF2-40B4-BE49-F238E27FC236}">
                    <a16:creationId xmlns="" xmlns:a16="http://schemas.microsoft.com/office/drawing/2014/main" xmlns:a14="http://schemas.microsoft.com/office/drawing/2010/main" id="{A66A031F-2EC8-DF4C-B3F5-E7AC5B8F3239}"/>
                  </a:ext>
                </a:extLst>
              </p:cNvPr>
              <p:cNvSpPr>
                <a:spLocks noRot="1" noChangeAspect="1" noMove="1" noResize="1" noEditPoints="1" noAdjustHandles="1" noChangeArrowheads="1" noChangeShapeType="1" noTextEdit="1"/>
              </p:cNvSpPr>
              <p:nvPr/>
            </p:nvSpPr>
            <p:spPr>
              <a:xfrm>
                <a:off x="905255" y="1375713"/>
                <a:ext cx="10728959" cy="3190104"/>
              </a:xfrm>
              <a:prstGeom prst="rect">
                <a:avLst/>
              </a:prstGeom>
              <a:blipFill rotWithShape="1">
                <a:blip r:embed="rId4"/>
                <a:stretch>
                  <a:fillRect l="-455" t="-956" b="-1912"/>
                </a:stretch>
              </a:blipFill>
            </p:spPr>
            <p:txBody>
              <a:bodyPr/>
              <a:lstStyle/>
              <a:p>
                <a:r>
                  <a:rPr lang="en-PH">
                    <a:noFill/>
                  </a:rPr>
                  <a:t> </a:t>
                </a:r>
              </a:p>
            </p:txBody>
          </p:sp>
        </mc:Fallback>
      </mc:AlternateContent>
      <p:sp>
        <p:nvSpPr>
          <p:cNvPr id="13" name="Google Shape;282;g104476d1465_1_17">
            <a:extLst>
              <a:ext uri="{FF2B5EF4-FFF2-40B4-BE49-F238E27FC236}">
                <a16:creationId xmlns=""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p:pic>
        <p:nvPicPr>
          <p:cNvPr id="12" name="image5.png">
            <a:extLst>
              <a:ext uri="{FF2B5EF4-FFF2-40B4-BE49-F238E27FC236}">
                <a16:creationId xmlns="" xmlns:a16="http://schemas.microsoft.com/office/drawing/2014/main" id="{04C19B76-A060-3243-AE2C-88D93DB1A19F}"/>
              </a:ext>
            </a:extLst>
          </p:cNvPr>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p:spTree>
    <p:extLst>
      <p:ext uri="{BB962C8B-B14F-4D97-AF65-F5344CB8AC3E}">
        <p14:creationId xmlns:p14="http://schemas.microsoft.com/office/powerpoint/2010/main" val="392880838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 xmlns:a16="http://schemas.microsoft.com/office/drawing/2014/main" id="{D9AF1552-9966-3643-BA84-BB4BC68EDBB5}"/>
              </a:ext>
            </a:extLst>
          </p:cNvPr>
          <p:cNvSpPr/>
          <p:nvPr/>
        </p:nvSpPr>
        <p:spPr>
          <a:xfrm>
            <a:off x="905255" y="648821"/>
            <a:ext cx="9475873" cy="3477875"/>
          </a:xfrm>
          <a:prstGeom prst="rect">
            <a:avLst/>
          </a:prstGeom>
        </p:spPr>
        <p:txBody>
          <a:bodyPr wrap="square">
            <a:spAutoFit/>
          </a:bodyPr>
          <a:lstStyle/>
          <a:p>
            <a:pPr marL="457200" indent="-457200">
              <a:buSzPct val="1000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Discuss with your partner Sebastián’s question, “Do you think using zero pairs would help?”</a:t>
            </a:r>
          </a:p>
          <a:p>
            <a:pPr marL="457200" indent="-457200">
              <a:buSzPct val="1000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ct val="100000"/>
              <a:buFont typeface="+mj-lt"/>
              <a:buAutoNum type="arabicPeriod"/>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a:pPr>
            <a:r>
              <a:rPr lang="en-US" sz="2000" dirty="0">
                <a:latin typeface="Verdana" panose="020B0604030504040204" pitchFamily="34" charset="0"/>
                <a:ea typeface="Times New Roman" panose="02020603050405020304" pitchFamily="18" charset="0"/>
                <a:cs typeface="Times New Roman" panose="02020603050405020304" pitchFamily="18" charset="0"/>
              </a:rPr>
              <a:t>Briefly explain your answer to his question. Draw integer chips as part of your explanation if that is helpful.   </a:t>
            </a:r>
          </a:p>
        </p:txBody>
      </p:sp>
      <p:sp>
        <p:nvSpPr>
          <p:cNvPr id="9" name="Google Shape;282;g104476d1465_1_17">
            <a:extLst>
              <a:ext uri="{FF2B5EF4-FFF2-40B4-BE49-F238E27FC236}">
                <a16:creationId xmlns=""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p:spTree>
    <p:extLst>
      <p:ext uri="{BB962C8B-B14F-4D97-AF65-F5344CB8AC3E}">
        <p14:creationId xmlns:p14="http://schemas.microsoft.com/office/powerpoint/2010/main" val="3539470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 xmlns:a16="http://schemas.microsoft.com/office/drawing/2014/main"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p:sp>
        <p:nvSpPr>
          <p:cNvPr id="8" name="Google Shape;313;g104476d1465_1_39">
            <a:extLst>
              <a:ext uri="{FF2B5EF4-FFF2-40B4-BE49-F238E27FC236}">
                <a16:creationId xmlns="" xmlns:a16="http://schemas.microsoft.com/office/drawing/2014/main" id="{8DB9BA4C-65EF-FD4E-909D-9A2215F8711E}"/>
              </a:ext>
            </a:extLst>
          </p:cNvPr>
          <p:cNvSpPr txBox="1">
            <a:spLocks/>
          </p:cNvSpPr>
          <p:nvPr/>
        </p:nvSpPr>
        <p:spPr>
          <a:xfrm>
            <a:off x="4215384" y="2766145"/>
            <a:ext cx="44807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chemeClr val="lt1"/>
              </a:buClr>
              <a:buSzPts val="4800"/>
              <a:buFont typeface="Cutive"/>
              <a:buNone/>
            </a:pPr>
            <a:r>
              <a:rPr lang="en-US" sz="4400" b="1" dirty="0">
                <a:solidFill>
                  <a:srgbClr val="52BDA6"/>
                </a:solidFill>
                <a:latin typeface="Verdana"/>
                <a:ea typeface="Verdana"/>
                <a:cs typeface="Verdana"/>
                <a:sym typeface="Verdana"/>
              </a:rPr>
              <a:t>Exploration</a:t>
            </a:r>
            <a:endParaRPr lang="en-US" sz="4000" b="1" dirty="0">
              <a:solidFill>
                <a:srgbClr val="52BDA6"/>
              </a:solidFill>
              <a:latin typeface="Verdana"/>
              <a:ea typeface="Verdana"/>
              <a:cs typeface="Verdana"/>
              <a:sym typeface="Verdana"/>
            </a:endParaRPr>
          </a:p>
        </p:txBody>
      </p:sp>
      <p:pic>
        <p:nvPicPr>
          <p:cNvPr id="9" name="Picture 8" descr="Icon&#10;&#10;Description automatically generated">
            <a:extLst>
              <a:ext uri="{FF2B5EF4-FFF2-40B4-BE49-F238E27FC236}">
                <a16:creationId xmlns="" xmlns:a16="http://schemas.microsoft.com/office/drawing/2014/main" id="{3EFA4F5D-B41F-0B48-816F-07028AD17BC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28534" cy="112853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5711012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06424" y="91440"/>
            <a:ext cx="1072896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2BDA6"/>
                </a:solidFill>
                <a:latin typeface="Verdana"/>
                <a:ea typeface="Verdana"/>
                <a:cs typeface="Verdana"/>
                <a:sym typeface="Verdana"/>
              </a:rPr>
              <a:t>7.10.4 Exploration: Using Integer Chips to Represent Multiplication with Negative Groups</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 xmlns:a16="http://schemas.microsoft.com/office/drawing/2014/main" id="{A66A031F-2EC8-DF4C-B3F5-E7AC5B8F3239}"/>
                  </a:ext>
                </a:extLst>
              </p:cNvPr>
              <p:cNvSpPr/>
              <p:nvPr/>
            </p:nvSpPr>
            <p:spPr>
              <a:xfrm>
                <a:off x="905256" y="1375714"/>
                <a:ext cx="10930128" cy="2043508"/>
              </a:xfrm>
              <a:prstGeom prst="rect">
                <a:avLst/>
              </a:prstGeom>
            </p:spPr>
            <p:txBody>
              <a:bodyPr wrap="square">
                <a:spAutoFit/>
              </a:bodyPr>
              <a:lstStyle/>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In the subtraction problem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5−2</m:t>
                    </m:r>
                  </m:oMath>
                </a14:m>
                <a:r>
                  <a:rPr lang="en-US" sz="1800" dirty="0">
                    <a:latin typeface="Verdana" panose="020B0604030504040204" pitchFamily="34" charset="0"/>
                    <a:ea typeface="Verdana" panose="020B0604030504040204" pitchFamily="34" charset="0"/>
                    <a:cs typeface="Verdana" panose="020B0604030504040204" pitchFamily="34" charset="0"/>
                  </a:rPr>
                  <a:t>, the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 implies that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 should be taken away from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m:t>
                    </m:r>
                  </m:oMath>
                </a14:m>
                <a:r>
                  <a:rPr lang="en-US" sz="1800" dirty="0">
                    <a:latin typeface="Verdana" panose="020B0604030504040204" pitchFamily="34" charset="0"/>
                    <a:ea typeface="Verdana" panose="020B0604030504040204" pitchFamily="34" charset="0"/>
                    <a:cs typeface="Verdana" panose="020B0604030504040204" pitchFamily="34" charset="0"/>
                  </a:rPr>
                  <a:t>. In the expression </a:t>
                </a:r>
                <a14:m>
                  <m:oMath xmlns:m="http://schemas.openxmlformats.org/officeDocument/2006/math">
                    <m:sPre>
                      <m:sPrePr>
                        <m:ctrlPr>
                          <a:rPr lang="en-US" sz="1800" i="1" dirty="0">
                            <a:latin typeface="Cambria Math"/>
                            <a:ea typeface="Times New Roman" panose="02020603050405020304" pitchFamily="18" charset="0"/>
                            <a:cs typeface="Times New Roman" panose="02020603050405020304" pitchFamily="18" charset="0"/>
                          </a:rPr>
                        </m:ctrlPr>
                      </m:sPrePr>
                      <m:sub/>
                      <m:sup>
                        <m:r>
                          <a:rPr lang="es-ES" sz="18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1800" i="1" dirty="0">
                            <a:latin typeface="Cambria Math" panose="02040503050406030204" pitchFamily="18" charset="0"/>
                            <a:ea typeface="Times New Roman" panose="02020603050405020304" pitchFamily="18" charset="0"/>
                            <a:cs typeface="Times New Roman" panose="02020603050405020304" pitchFamily="18" charset="0"/>
                          </a:rPr>
                          <m:t>2</m:t>
                        </m:r>
                      </m:e>
                    </m:sPre>
                    <m:r>
                      <a:rPr lang="es-ES" sz="18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1800" i="1" dirty="0">
                        <a:latin typeface="Cambria Math" panose="02040503050406030204" pitchFamily="18" charset="0"/>
                        <a:ea typeface="Times New Roman" panose="02020603050405020304" pitchFamily="18" charset="0"/>
                        <a:cs typeface="Times New Roman" panose="02020603050405020304" pitchFamily="18" charset="0"/>
                      </a:rPr>
                      <m:t>×</m:t>
                    </m:r>
                    <m:r>
                      <a:rPr lang="es-ES" sz="18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1800" i="1" dirty="0">
                        <a:latin typeface="Cambria Math" panose="02040503050406030204" pitchFamily="18" charset="0"/>
                        <a:ea typeface="Times New Roman" panose="02020603050405020304" pitchFamily="18" charset="0"/>
                        <a:cs typeface="Times New Roman" panose="02020603050405020304" pitchFamily="18" charset="0"/>
                      </a:rPr>
                      <m:t>5 </m:t>
                    </m:r>
                  </m:oMath>
                </a14:m>
                <a:r>
                  <a:rPr lang="en-US" sz="1800" dirty="0">
                    <a:latin typeface="Verdana" panose="020B0604030504040204" pitchFamily="34" charset="0"/>
                    <a:ea typeface="Verdana" panose="020B0604030504040204" pitchFamily="34" charset="0"/>
                    <a:cs typeface="Verdana" panose="020B0604030504040204" pitchFamily="34" charset="0"/>
                  </a:rPr>
                  <a:t>, the </a:t>
                </a:r>
                <a14:m>
                  <m:oMath xmlns:m="http://schemas.openxmlformats.org/officeDocument/2006/math">
                    <m:sPre>
                      <m:sPrePr>
                        <m:ctrlPr>
                          <a:rPr lang="en-US" sz="1800" i="1" dirty="0">
                            <a:latin typeface="Cambria Math"/>
                            <a:ea typeface="Times New Roman" panose="02020603050405020304" pitchFamily="18" charset="0"/>
                            <a:cs typeface="Times New Roman" panose="02020603050405020304" pitchFamily="18" charset="0"/>
                          </a:rPr>
                        </m:ctrlPr>
                      </m:sPrePr>
                      <m:sub/>
                      <m:sup>
                        <m:r>
                          <a:rPr lang="es-ES" sz="18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1800" i="1" dirty="0">
                            <a:latin typeface="Cambria Math" panose="02040503050406030204" pitchFamily="18" charset="0"/>
                            <a:ea typeface="Times New Roman" panose="02020603050405020304" pitchFamily="18" charset="0"/>
                            <a:cs typeface="Times New Roman" panose="02020603050405020304" pitchFamily="18" charset="0"/>
                          </a:rPr>
                          <m:t>2</m:t>
                        </m:r>
                      </m:e>
                    </m:sPre>
                  </m:oMath>
                </a14:m>
                <a:r>
                  <a:rPr lang="en-US" sz="1800" dirty="0">
                    <a:latin typeface="Verdana" panose="020B0604030504040204" pitchFamily="34" charset="0"/>
                    <a:ea typeface="Verdana" panose="020B0604030504040204" pitchFamily="34" charset="0"/>
                    <a:cs typeface="Verdana" panose="020B0604030504040204" pitchFamily="34" charset="0"/>
                  </a:rPr>
                  <a:t> can be interpreted as removing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 groups of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m:t>
                    </m:r>
                  </m:oMath>
                </a14:m>
                <a:r>
                  <a:rPr lang="en-US" sz="18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11113">
                  <a:buSzPts val="1800"/>
                </a:pPr>
                <a:r>
                  <a:rPr lang="en-US" sz="1800" dirty="0">
                    <a:latin typeface="Verdana" panose="020B0604030504040204" pitchFamily="34" charset="0"/>
                    <a:ea typeface="Verdana" panose="020B0604030504040204" pitchFamily="34" charset="0"/>
                    <a:cs typeface="Verdana" panose="020B0604030504040204" pitchFamily="34" charset="0"/>
                  </a:rPr>
                  <a:t>Use the steps below to discover how to represent </a:t>
                </a:r>
                <a14:m>
                  <m:oMath xmlns:m="http://schemas.openxmlformats.org/officeDocument/2006/math">
                    <m:sPre>
                      <m:sPrePr>
                        <m:ctrlPr>
                          <a:rPr lang="en-US" sz="1800" i="1" dirty="0">
                            <a:latin typeface="Cambria Math"/>
                            <a:ea typeface="Times New Roman" panose="02020603050405020304" pitchFamily="18" charset="0"/>
                            <a:cs typeface="Times New Roman" panose="02020603050405020304" pitchFamily="18" charset="0"/>
                          </a:rPr>
                        </m:ctrlPr>
                      </m:sPrePr>
                      <m:sub/>
                      <m:sup>
                        <m:r>
                          <a:rPr lang="es-ES" sz="18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1800" i="1" dirty="0">
                            <a:latin typeface="Cambria Math" panose="02040503050406030204" pitchFamily="18" charset="0"/>
                            <a:ea typeface="Times New Roman" panose="02020603050405020304" pitchFamily="18" charset="0"/>
                            <a:cs typeface="Times New Roman" panose="02020603050405020304" pitchFamily="18" charset="0"/>
                          </a:rPr>
                          <m:t>2</m:t>
                        </m:r>
                      </m:e>
                    </m:sPre>
                    <m:r>
                      <a:rPr lang="es-ES" sz="18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1800" i="1" dirty="0">
                        <a:latin typeface="Cambria Math" panose="02040503050406030204" pitchFamily="18" charset="0"/>
                        <a:ea typeface="Times New Roman" panose="02020603050405020304" pitchFamily="18" charset="0"/>
                        <a:cs typeface="Times New Roman" panose="02020603050405020304" pitchFamily="18" charset="0"/>
                      </a:rPr>
                      <m:t>×</m:t>
                    </m:r>
                    <m:r>
                      <a:rPr lang="es-ES" sz="18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18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1800" dirty="0">
                    <a:latin typeface="Verdana" panose="020B0604030504040204" pitchFamily="34" charset="0"/>
                    <a:ea typeface="Verdana" panose="020B0604030504040204" pitchFamily="34" charset="0"/>
                    <a:cs typeface="Verdana" panose="020B0604030504040204" pitchFamily="34" charset="0"/>
                  </a:rPr>
                  <a:t> using integer chips. </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11113">
                  <a:buSzPts val="1800"/>
                </a:pPr>
                <a:r>
                  <a:rPr lang="en-US" sz="1800" b="1" dirty="0">
                    <a:latin typeface="Verdana" panose="020B0604030504040204" pitchFamily="34" charset="0"/>
                    <a:ea typeface="Verdana" panose="020B0604030504040204" pitchFamily="34" charset="0"/>
                    <a:cs typeface="Verdana" panose="020B0604030504040204" pitchFamily="34" charset="0"/>
                  </a:rPr>
                  <a:t>Step 1: </a:t>
                </a:r>
                <a:r>
                  <a:rPr lang="en-US" sz="1800" dirty="0">
                    <a:latin typeface="Verdana" panose="020B0604030504040204" pitchFamily="34" charset="0"/>
                    <a:ea typeface="Verdana" panose="020B0604030504040204" pitchFamily="34" charset="0"/>
                    <a:cs typeface="Verdana" panose="020B0604030504040204" pitchFamily="34" charset="0"/>
                  </a:rPr>
                  <a:t>First, use your integer chips to create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 groups of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m:t>
                    </m:r>
                  </m:oMath>
                </a14:m>
                <a:r>
                  <a:rPr lang="en-US" sz="1800" dirty="0">
                    <a:latin typeface="Verdana" panose="020B0604030504040204" pitchFamily="34" charset="0"/>
                    <a:ea typeface="Verdana" panose="020B0604030504040204" pitchFamily="34" charset="0"/>
                    <a:cs typeface="Verdana" panose="020B0604030504040204" pitchFamily="34" charset="0"/>
                  </a:rPr>
                  <a:t> zero pairs. Draw the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2</m:t>
                    </m:r>
                  </m:oMath>
                </a14:m>
                <a:r>
                  <a:rPr lang="en-US" sz="1800" dirty="0">
                    <a:latin typeface="Verdana" panose="020B0604030504040204" pitchFamily="34" charset="0"/>
                    <a:ea typeface="Verdana" panose="020B0604030504040204" pitchFamily="34" charset="0"/>
                    <a:cs typeface="Verdana" panose="020B0604030504040204" pitchFamily="34" charset="0"/>
                  </a:rPr>
                  <a:t> groups of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m:t>
                    </m:r>
                  </m:oMath>
                </a14:m>
                <a:r>
                  <a:rPr lang="en-US" sz="1800" dirty="0">
                    <a:latin typeface="Verdana" panose="020B0604030504040204" pitchFamily="34" charset="0"/>
                    <a:ea typeface="Verdana" panose="020B0604030504040204" pitchFamily="34" charset="0"/>
                    <a:cs typeface="Verdana" panose="020B0604030504040204" pitchFamily="34" charset="0"/>
                  </a:rPr>
                  <a:t> zero pairs in the box below.</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905256" y="1375714"/>
                <a:ext cx="10930128" cy="2043508"/>
              </a:xfrm>
              <a:prstGeom prst="rect">
                <a:avLst/>
              </a:prstGeom>
              <a:blipFill>
                <a:blip r:embed="rId4"/>
                <a:stretch>
                  <a:fillRect l="-348" t="-1235" r="-812" b="-3704"/>
                </a:stretch>
              </a:blipFill>
            </p:spPr>
            <p:txBody>
              <a:bodyPr/>
              <a:lstStyle/>
              <a:p>
                <a:r>
                  <a:rPr lang="en-US">
                    <a:noFill/>
                  </a:rPr>
                  <a:t> </a:t>
                </a:r>
              </a:p>
            </p:txBody>
          </p:sp>
        </mc:Fallback>
      </mc:AlternateContent>
      <p:sp>
        <p:nvSpPr>
          <p:cNvPr id="13" name="Google Shape;282;g104476d1465_1_17">
            <a:extLst>
              <a:ext uri="{FF2B5EF4-FFF2-40B4-BE49-F238E27FC236}">
                <a16:creationId xmlns=""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 xmlns:a16="http://schemas.microsoft.com/office/drawing/2014/main" id="{356AD9F4-E7CF-834D-9759-2341CCA136F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0145" cy="750145"/>
          </a:xfrm>
          <a:prstGeom prst="rect">
            <a:avLst/>
          </a:prstGeom>
        </p:spPr>
      </p:pic>
      <p:sp>
        <p:nvSpPr>
          <p:cNvPr id="11" name="Rectangle 10">
            <a:extLst>
              <a:ext uri="{FF2B5EF4-FFF2-40B4-BE49-F238E27FC236}">
                <a16:creationId xmlns="" xmlns:a16="http://schemas.microsoft.com/office/drawing/2014/main" id="{ECDDBC44-E468-3F40-B51E-56BA3FAB795C}"/>
              </a:ext>
            </a:extLst>
          </p:cNvPr>
          <p:cNvSpPr/>
          <p:nvPr/>
        </p:nvSpPr>
        <p:spPr>
          <a:xfrm>
            <a:off x="2714308" y="4213667"/>
            <a:ext cx="6763385" cy="2028825"/>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5240576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 xmlns:a16="http://schemas.microsoft.com/office/drawing/2014/main" id="{D9AF1552-9966-3643-BA84-BB4BC68EDBB5}"/>
                  </a:ext>
                </a:extLst>
              </p:cNvPr>
              <p:cNvSpPr/>
              <p:nvPr/>
            </p:nvSpPr>
            <p:spPr>
              <a:xfrm>
                <a:off x="905255" y="565693"/>
                <a:ext cx="10461991" cy="3812326"/>
              </a:xfrm>
              <a:prstGeom prst="rect">
                <a:avLst/>
              </a:prstGeom>
            </p:spPr>
            <p:txBody>
              <a:bodyPr wrap="square">
                <a:spAutoFit/>
              </a:bodyPr>
              <a:lstStyle/>
              <a:p>
                <a:pPr lvl="0">
                  <a:buSzPts val="1800"/>
                </a:pPr>
                <a:r>
                  <a:rPr lang="en-US" sz="2000" b="1" dirty="0">
                    <a:latin typeface="Verdana" panose="020B0604030504040204" pitchFamily="34" charset="0"/>
                    <a:ea typeface="Times New Roman" panose="02020603050405020304" pitchFamily="18" charset="0"/>
                    <a:cs typeface="Times New Roman" panose="02020603050405020304" pitchFamily="18" charset="0"/>
                  </a:rPr>
                  <a:t>Step 2: </a:t>
                </a:r>
                <a:r>
                  <a:rPr lang="en-US" sz="2000" dirty="0">
                    <a:latin typeface="Verdana" panose="020B0604030504040204" pitchFamily="34" charset="0"/>
                    <a:ea typeface="Times New Roman" panose="02020603050405020304" pitchFamily="18" charset="0"/>
                    <a:cs typeface="Times New Roman" panose="02020603050405020304" pitchFamily="18" charset="0"/>
                  </a:rPr>
                  <a:t>Recall that the expression </a:t>
                </a:r>
                <a14:m>
                  <m:oMath xmlns:m="http://schemas.openxmlformats.org/officeDocument/2006/math">
                    <m:sPre>
                      <m:sPrePr>
                        <m:ctrlPr>
                          <a:rPr lang="en-US" sz="2000" i="1" dirty="0">
                            <a:latin typeface="Cambria Math"/>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2</m:t>
                        </m:r>
                      </m:e>
                    </m:sPre>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is interpreted as removing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groups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From your integer chips, remove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groups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positive integer chips. In the box above, show removing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groups of positive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integer chips by crossing them out.</a:t>
                </a: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The value of the expression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−10</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Due to the commutative property of multiplication, </a:t>
                </a:r>
                <a14:m>
                  <m:oMath xmlns:m="http://schemas.openxmlformats.org/officeDocument/2006/math">
                    <m:sPre>
                      <m:sPrePr>
                        <m:ctrlPr>
                          <a:rPr lang="en-US" sz="2000" i="1" dirty="0">
                            <a:latin typeface="Cambria Math"/>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2</m:t>
                        </m:r>
                      </m:e>
                    </m:sPre>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expected to have the same value.</a:t>
                </a:r>
              </a:p>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Does the number of chips that remain match the expected value of </a:t>
                </a:r>
                <a14:m>
                  <m:oMath xmlns:m="http://schemas.openxmlformats.org/officeDocument/2006/math">
                    <m:sPre>
                      <m:sPrePr>
                        <m:ctrlPr>
                          <a:rPr lang="en-US" sz="2000" i="1" dirty="0">
                            <a:latin typeface="Cambria Math"/>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2</m:t>
                        </m:r>
                      </m:e>
                    </m:sPre>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Verdana" panose="020B0604030504040204" pitchFamily="34" charset="0"/>
                    <a:cs typeface="Verdana" panose="020B0604030504040204" pitchFamily="34" charset="0"/>
                  </a:rPr>
                  <a:t> </a:t>
                </a:r>
                <a:r>
                  <a:rPr lang="en-US" sz="2000" dirty="0">
                    <a:latin typeface="Verdana" panose="020B0604030504040204" pitchFamily="34" charset="0"/>
                    <a:ea typeface="Times New Roman" panose="02020603050405020304" pitchFamily="18" charset="0"/>
                    <a:cs typeface="Times New Roman" panose="02020603050405020304" pitchFamily="18" charset="0"/>
                  </a:rPr>
                  <a:t>?</a:t>
                </a: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the value of </a:t>
                </a:r>
                <a14:m>
                  <m:oMath xmlns:m="http://schemas.openxmlformats.org/officeDocument/2006/math">
                    <m:sPre>
                      <m:sPrePr>
                        <m:ctrlPr>
                          <a:rPr lang="en-US" sz="2000" i="1" dirty="0">
                            <a:latin typeface="Cambria Math"/>
                            <a:ea typeface="Times New Roman" panose="02020603050405020304" pitchFamily="18" charset="0"/>
                            <a:cs typeface="Times New Roman" panose="02020603050405020304" pitchFamily="18" charset="0"/>
                          </a:rPr>
                        </m:ctrlPr>
                      </m:sPrePr>
                      <m:sub/>
                      <m:sup>
                        <m:r>
                          <a:rPr lang="es-ES" sz="2000" i="1" dirty="0">
                            <a:latin typeface="Cambria Math" panose="02040503050406030204" pitchFamily="18" charset="0"/>
                            <a:ea typeface="Times New Roman" panose="02020603050405020304" pitchFamily="18" charset="0"/>
                            <a:cs typeface="Times New Roman" panose="02020603050405020304" pitchFamily="18" charset="0"/>
                          </a:rPr>
                          <m:t>−</m:t>
                        </m:r>
                      </m:sup>
                      <m:e>
                        <m:r>
                          <a:rPr lang="es-ES" sz="2000" i="1" dirty="0">
                            <a:latin typeface="Cambria Math" panose="02040503050406030204" pitchFamily="18" charset="0"/>
                            <a:ea typeface="Times New Roman" panose="02020603050405020304" pitchFamily="18" charset="0"/>
                            <a:cs typeface="Times New Roman" panose="02020603050405020304" pitchFamily="18" charset="0"/>
                          </a:rPr>
                          <m:t>2</m:t>
                        </m:r>
                      </m:e>
                    </m:sPre>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m:t>
                    </m:r>
                    <m:r>
                      <a:rPr lang="es-ES" sz="2000" i="1" dirty="0">
                        <a:latin typeface="Cambria Math" panose="02040503050406030204" pitchFamily="18" charset="0"/>
                        <a:ea typeface="Times New Roman" panose="02020603050405020304" pitchFamily="18" charset="0"/>
                        <a:cs typeface="Times New Roman" panose="02020603050405020304" pitchFamily="18" charset="0"/>
                      </a:rPr>
                      <m:t> </m:t>
                    </m:r>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____ according to the model.</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05255" y="565693"/>
                <a:ext cx="10461991" cy="3812326"/>
              </a:xfrm>
              <a:prstGeom prst="rect">
                <a:avLst/>
              </a:prstGeom>
              <a:blipFill>
                <a:blip r:embed="rId4"/>
                <a:stretch>
                  <a:fillRect l="-606" t="-1329" r="-970" b="-1661"/>
                </a:stretch>
              </a:blipFill>
            </p:spPr>
            <p:txBody>
              <a:bodyPr/>
              <a:lstStyle/>
              <a:p>
                <a:r>
                  <a:rPr lang="en-US">
                    <a:noFill/>
                  </a:rPr>
                  <a:t> </a:t>
                </a:r>
              </a:p>
            </p:txBody>
          </p:sp>
        </mc:Fallback>
      </mc:AlternateContent>
      <p:sp>
        <p:nvSpPr>
          <p:cNvPr id="9" name="Google Shape;282;g104476d1465_1_17">
            <a:extLst>
              <a:ext uri="{FF2B5EF4-FFF2-40B4-BE49-F238E27FC236}">
                <a16:creationId xmlns=""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49</a:t>
            </a:r>
            <a:endParaRPr i="1" dirty="0">
              <a:latin typeface="Calibri"/>
              <a:ea typeface="Calibri"/>
              <a:cs typeface="Calibri"/>
              <a:sym typeface="Calibri"/>
            </a:endParaRPr>
          </a:p>
        </p:txBody>
      </p:sp>
      <p:pic>
        <p:nvPicPr>
          <p:cNvPr id="4" name="Picture 3" descr="Shape&#10;&#10;Description automatically generated with low confidence">
            <a:extLst>
              <a:ext uri="{FF2B5EF4-FFF2-40B4-BE49-F238E27FC236}">
                <a16:creationId xmlns="" xmlns:a16="http://schemas.microsoft.com/office/drawing/2014/main" id="{3B6BC6E3-E24F-3E4E-A3B7-09B33C424ED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215770" y="3452074"/>
            <a:ext cx="1081210" cy="925945"/>
          </a:xfrm>
          <a:prstGeom prst="rect">
            <a:avLst/>
          </a:prstGeom>
        </p:spPr>
      </p:pic>
    </p:spTree>
    <p:extLst>
      <p:ext uri="{BB962C8B-B14F-4D97-AF65-F5344CB8AC3E}">
        <p14:creationId xmlns:p14="http://schemas.microsoft.com/office/powerpoint/2010/main" val="6784754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52BDA6"/>
                </a:solidFill>
                <a:latin typeface="Verdana"/>
                <a:ea typeface="Verdana"/>
                <a:cs typeface="Verdana"/>
                <a:sym typeface="Verdana"/>
              </a:rPr>
              <a:t>Try It</a:t>
            </a:r>
            <a:endParaRPr sz="51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 xmlns:a16="http://schemas.microsoft.com/office/drawing/2014/main"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pic>
        <p:nvPicPr>
          <p:cNvPr id="7" name="image2.png">
            <a:extLst>
              <a:ext uri="{FF2B5EF4-FFF2-40B4-BE49-F238E27FC236}">
                <a16:creationId xmlns="" xmlns:a16="http://schemas.microsoft.com/office/drawing/2014/main" id="{952E9ABF-4A5A-6047-B98A-B57B5AF0224E}"/>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33502" cy="1133502"/>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38675328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06423" y="91440"/>
            <a:ext cx="10440117"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7.10.5 Try It: Multiplying Integers with Opposite Signs</a:t>
            </a:r>
          </a:p>
        </p:txBody>
      </p:sp>
      <p:sp>
        <p:nvSpPr>
          <p:cNvPr id="2" name="Rectangle 1">
            <a:extLst>
              <a:ext uri="{FF2B5EF4-FFF2-40B4-BE49-F238E27FC236}">
                <a16:creationId xmlns="" xmlns:a16="http://schemas.microsoft.com/office/drawing/2014/main" id="{A66A031F-2EC8-DF4C-B3F5-E7AC5B8F3239}"/>
              </a:ext>
            </a:extLst>
          </p:cNvPr>
          <p:cNvSpPr/>
          <p:nvPr/>
        </p:nvSpPr>
        <p:spPr>
          <a:xfrm>
            <a:off x="905256" y="1375713"/>
            <a:ext cx="8526780" cy="369332"/>
          </a:xfrm>
          <a:prstGeom prst="rect">
            <a:avLst/>
          </a:prstGeom>
        </p:spPr>
        <p:txBody>
          <a:bodyPr wrap="square">
            <a:spAutoFit/>
          </a:bodyPr>
          <a:lstStyle/>
          <a:p>
            <a:pPr marL="407988" indent="-396875">
              <a:buSzPts val="18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Complete the table.</a:t>
            </a:r>
          </a:p>
        </p:txBody>
      </p:sp>
      <p:sp>
        <p:nvSpPr>
          <p:cNvPr id="13" name="Google Shape;282;g104476d1465_1_17">
            <a:extLst>
              <a:ext uri="{FF2B5EF4-FFF2-40B4-BE49-F238E27FC236}">
                <a16:creationId xmlns=""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pic>
        <p:nvPicPr>
          <p:cNvPr id="12" name="image2.png">
            <a:extLst>
              <a:ext uri="{FF2B5EF4-FFF2-40B4-BE49-F238E27FC236}">
                <a16:creationId xmlns="" xmlns:a16="http://schemas.microsoft.com/office/drawing/2014/main" id="{CEE695F5-1A7B-4A4D-A390-9746DB691379}"/>
              </a:ext>
            </a:extLst>
          </p:cNvPr>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910994B7-0670-DF4D-B14F-9439987C947E}"/>
                  </a:ext>
                </a:extLst>
              </p:cNvPr>
              <p:cNvGraphicFramePr>
                <a:graphicFrameLocks noGrp="1"/>
              </p:cNvGraphicFramePr>
              <p:nvPr>
                <p:extLst>
                  <p:ext uri="{D42A27DB-BD31-4B8C-83A1-F6EECF244321}">
                    <p14:modId xmlns:p14="http://schemas.microsoft.com/office/powerpoint/2010/main" val="2311419899"/>
                  </p:ext>
                </p:extLst>
              </p:nvPr>
            </p:nvGraphicFramePr>
            <p:xfrm>
              <a:off x="1519991" y="2169446"/>
              <a:ext cx="7297309" cy="3578879"/>
            </p:xfrm>
            <a:graphic>
              <a:graphicData uri="http://schemas.openxmlformats.org/drawingml/2006/table">
                <a:tbl>
                  <a:tblPr firstRow="1" firstCol="1" bandRow="1">
                    <a:tableStyleId>{A91F0D33-8C57-4600-99A7-42BC86742BE1}</a:tableStyleId>
                  </a:tblPr>
                  <a:tblGrid>
                    <a:gridCol w="1575288">
                      <a:extLst>
                        <a:ext uri="{9D8B030D-6E8A-4147-A177-3AD203B41FA5}">
                          <a16:colId xmlns="" xmlns:a16="http://schemas.microsoft.com/office/drawing/2014/main" val="1595764861"/>
                        </a:ext>
                      </a:extLst>
                    </a:gridCol>
                    <a:gridCol w="4478337">
                      <a:extLst>
                        <a:ext uri="{9D8B030D-6E8A-4147-A177-3AD203B41FA5}">
                          <a16:colId xmlns="" xmlns:a16="http://schemas.microsoft.com/office/drawing/2014/main" val="273684120"/>
                        </a:ext>
                      </a:extLst>
                    </a:gridCol>
                    <a:gridCol w="1243684">
                      <a:extLst>
                        <a:ext uri="{9D8B030D-6E8A-4147-A177-3AD203B41FA5}">
                          <a16:colId xmlns="" xmlns:a16="http://schemas.microsoft.com/office/drawing/2014/main" val="824734678"/>
                        </a:ext>
                      </a:extLst>
                    </a:gridCol>
                  </a:tblGrid>
                  <a:tr h="440947">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Visual Model Using Integer Chips</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Product</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 xmlns:a16="http://schemas.microsoft.com/office/drawing/2014/main" val="59701052"/>
                      </a:ext>
                    </a:extLst>
                  </a:tr>
                  <a:tr h="156896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6×</m:t>
                                </m:r>
                                <m:d>
                                  <m:dPr>
                                    <m:ctrlPr>
                                      <a:rPr lang="x-none" sz="1800" i="1">
                                        <a:effectLst/>
                                        <a:latin typeface="Cambria Math"/>
                                      </a:rPr>
                                    </m:ctrlPr>
                                  </m:dPr>
                                  <m:e>
                                    <m:r>
                                      <a:rPr lang="en-US" sz="1800">
                                        <a:effectLst/>
                                        <a:latin typeface="Cambria Math" panose="02040503050406030204" pitchFamily="18" charset="0"/>
                                      </a:rPr>
                                      <m:t>−2</m:t>
                                    </m:r>
                                  </m:e>
                                </m:d>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2899250119"/>
                      </a:ext>
                    </a:extLst>
                  </a:tr>
                  <a:tr h="1568966">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d>
                                  <m:dPr>
                                    <m:ctrlPr>
                                      <a:rPr lang="x-none" sz="1800" i="1">
                                        <a:effectLst/>
                                        <a:latin typeface="Cambria Math"/>
                                      </a:rPr>
                                    </m:ctrlPr>
                                  </m:dPr>
                                  <m:e>
                                    <m:r>
                                      <a:rPr lang="en-US" sz="1800">
                                        <a:effectLst/>
                                        <a:latin typeface="Cambria Math" panose="02040503050406030204" pitchFamily="18" charset="0"/>
                                      </a:rPr>
                                      <m:t>4</m:t>
                                    </m:r>
                                  </m:e>
                                </m:d>
                                <m:d>
                                  <m:dPr>
                                    <m:ctrlPr>
                                      <a:rPr lang="x-none" sz="1800" i="1">
                                        <a:effectLst/>
                                        <a:latin typeface="Cambria Math"/>
                                      </a:rPr>
                                    </m:ctrlPr>
                                  </m:dPr>
                                  <m:e>
                                    <m:sPre>
                                      <m:sPrePr>
                                        <m:ctrlPr>
                                          <a:rPr lang="x-none" sz="1800" i="1">
                                            <a:effectLst/>
                                            <a:latin typeface="Cambria Math"/>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1</m:t>
                                        </m:r>
                                      </m:e>
                                    </m:sPre>
                                  </m:e>
                                </m:d>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3262309719"/>
                      </a:ext>
                    </a:extLst>
                  </a:tr>
                </a:tbl>
              </a:graphicData>
            </a:graphic>
          </p:graphicFrame>
        </mc:Choice>
        <mc:Fallback xmlns="">
          <p:graphicFrame>
            <p:nvGraphicFramePr>
              <p:cNvPr id="3" name="Table 2">
                <a:extLst>
                  <a:ext uri="{FF2B5EF4-FFF2-40B4-BE49-F238E27FC236}">
                    <a16:creationId xmlns:a16="http://schemas.microsoft.com/office/drawing/2014/main" id="{910994B7-0670-DF4D-B14F-9439987C947E}"/>
                  </a:ext>
                </a:extLst>
              </p:cNvPr>
              <p:cNvGraphicFramePr>
                <a:graphicFrameLocks noGrp="1"/>
              </p:cNvGraphicFramePr>
              <p:nvPr>
                <p:extLst>
                  <p:ext uri="{D42A27DB-BD31-4B8C-83A1-F6EECF244321}">
                    <p14:modId xmlns:p14="http://schemas.microsoft.com/office/powerpoint/2010/main" val="2311419899"/>
                  </p:ext>
                </p:extLst>
              </p:nvPr>
            </p:nvGraphicFramePr>
            <p:xfrm>
              <a:off x="1519991" y="2169446"/>
              <a:ext cx="7297309" cy="3578879"/>
            </p:xfrm>
            <a:graphic>
              <a:graphicData uri="http://schemas.openxmlformats.org/drawingml/2006/table">
                <a:tbl>
                  <a:tblPr firstRow="1" firstCol="1" bandRow="1">
                    <a:tableStyleId>{A91F0D33-8C57-4600-99A7-42BC86742BE1}</a:tableStyleId>
                  </a:tblPr>
                  <a:tblGrid>
                    <a:gridCol w="1575288">
                      <a:extLst>
                        <a:ext uri="{9D8B030D-6E8A-4147-A177-3AD203B41FA5}">
                          <a16:colId xmlns:a16="http://schemas.microsoft.com/office/drawing/2014/main" val="1595764861"/>
                        </a:ext>
                      </a:extLst>
                    </a:gridCol>
                    <a:gridCol w="4478337">
                      <a:extLst>
                        <a:ext uri="{9D8B030D-6E8A-4147-A177-3AD203B41FA5}">
                          <a16:colId xmlns:a16="http://schemas.microsoft.com/office/drawing/2014/main" val="273684120"/>
                        </a:ext>
                      </a:extLst>
                    </a:gridCol>
                    <a:gridCol w="1243684">
                      <a:extLst>
                        <a:ext uri="{9D8B030D-6E8A-4147-A177-3AD203B41FA5}">
                          <a16:colId xmlns:a16="http://schemas.microsoft.com/office/drawing/2014/main" val="824734678"/>
                        </a:ext>
                      </a:extLst>
                    </a:gridCol>
                  </a:tblGrid>
                  <a:tr h="440947">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Visual Model Using Integer Chips</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Product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59701052"/>
                      </a:ext>
                    </a:extLst>
                  </a:tr>
                  <a:tr h="156896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29032" r="-365323" b="-101613"/>
                          </a:stretch>
                        </a:blipFill>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899250119"/>
                      </a:ext>
                    </a:extLst>
                  </a:tr>
                  <a:tr h="1568966">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t="-129032" r="-365323" b="-1613"/>
                          </a:stretch>
                        </a:blipFill>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62309719"/>
                      </a:ext>
                    </a:extLst>
                  </a:tr>
                </a:tbl>
              </a:graphicData>
            </a:graphic>
          </p:graphicFrame>
        </mc:Fallback>
      </mc:AlternateContent>
    </p:spTree>
    <p:extLst>
      <p:ext uri="{BB962C8B-B14F-4D97-AF65-F5344CB8AC3E}">
        <p14:creationId xmlns:p14="http://schemas.microsoft.com/office/powerpoint/2010/main" val="10799258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 xmlns:a16="http://schemas.microsoft.com/office/drawing/2014/main" id="{A66A031F-2EC8-DF4C-B3F5-E7AC5B8F3239}"/>
              </a:ext>
            </a:extLst>
          </p:cNvPr>
          <p:cNvSpPr/>
          <p:nvPr/>
        </p:nvSpPr>
        <p:spPr>
          <a:xfrm>
            <a:off x="905256" y="599860"/>
            <a:ext cx="8526780" cy="1015663"/>
          </a:xfrm>
          <a:prstGeom prst="rect">
            <a:avLst/>
          </a:prstGeom>
        </p:spPr>
        <p:txBody>
          <a:bodyPr wrap="square">
            <a:spAutoFit/>
          </a:bodyPr>
          <a:lstStyle/>
          <a:p>
            <a:pPr marL="468313" indent="-457200">
              <a:buSzPct val="1000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Use the pattern of the multiplication in the table to complete the rule by drawing the sign of the product as an integer chip.</a:t>
            </a:r>
          </a:p>
        </p:txBody>
      </p:sp>
      <p:sp>
        <p:nvSpPr>
          <p:cNvPr id="13" name="Google Shape;282;g104476d1465_1_17">
            <a:extLst>
              <a:ext uri="{FF2B5EF4-FFF2-40B4-BE49-F238E27FC236}">
                <a16:creationId xmlns=""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pic>
        <p:nvPicPr>
          <p:cNvPr id="5" name="Picture 4" descr="Shape&#10;&#10;Description automatically generated with medium confidence">
            <a:extLst>
              <a:ext uri="{FF2B5EF4-FFF2-40B4-BE49-F238E27FC236}">
                <a16:creationId xmlns="" xmlns:a16="http://schemas.microsoft.com/office/drawing/2014/main" id="{32607943-A799-2B46-AF7C-1183498B25E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003698" y="1615521"/>
            <a:ext cx="4268780" cy="1657905"/>
          </a:xfrm>
          <a:prstGeom prst="rect">
            <a:avLst/>
          </a:prstGeom>
        </p:spPr>
      </p:pic>
      <p:sp>
        <p:nvSpPr>
          <p:cNvPr id="11" name="Rectangle 10">
            <a:extLst>
              <a:ext uri="{FF2B5EF4-FFF2-40B4-BE49-F238E27FC236}">
                <a16:creationId xmlns="" xmlns:a16="http://schemas.microsoft.com/office/drawing/2014/main" id="{02249E4D-22E3-9A43-A913-D0244ACA9885}"/>
              </a:ext>
            </a:extLst>
          </p:cNvPr>
          <p:cNvSpPr/>
          <p:nvPr/>
        </p:nvSpPr>
        <p:spPr>
          <a:xfrm>
            <a:off x="905256" y="3836543"/>
            <a:ext cx="8526780" cy="400110"/>
          </a:xfrm>
          <a:prstGeom prst="rect">
            <a:avLst/>
          </a:prstGeom>
        </p:spPr>
        <p:txBody>
          <a:bodyPr wrap="square">
            <a:spAutoFit/>
          </a:bodyPr>
          <a:lstStyle/>
          <a:p>
            <a:pPr marL="468313" indent="-457200">
              <a:buSzPct val="1000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Multiplication is commutative, so …  </a:t>
            </a:r>
          </a:p>
        </p:txBody>
      </p:sp>
      <p:pic>
        <p:nvPicPr>
          <p:cNvPr id="8" name="Picture 7" descr="Shape&#10;&#10;Description automatically generated">
            <a:extLst>
              <a:ext uri="{FF2B5EF4-FFF2-40B4-BE49-F238E27FC236}">
                <a16:creationId xmlns="" xmlns:a16="http://schemas.microsoft.com/office/drawing/2014/main" id="{827B794D-6436-174F-A0BC-694F263A4DEF}"/>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614088" y="4701304"/>
            <a:ext cx="3048000" cy="645859"/>
          </a:xfrm>
          <a:prstGeom prst="rect">
            <a:avLst/>
          </a:prstGeom>
        </p:spPr>
      </p:pic>
    </p:spTree>
    <p:extLst>
      <p:ext uri="{BB962C8B-B14F-4D97-AF65-F5344CB8AC3E}">
        <p14:creationId xmlns:p14="http://schemas.microsoft.com/office/powerpoint/2010/main" val="14154760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200600"/>
            <a:ext cx="563850" cy="657276"/>
          </a:xfrm>
          <a:prstGeom prst="rect">
            <a:avLst/>
          </a:prstGeom>
          <a:noFill/>
          <a:ln>
            <a:noFill/>
          </a:ln>
          <a:effectLst>
            <a:outerShdw blurRad="57150" dist="19050" dir="5400000" algn="bl" rotWithShape="0">
              <a:srgbClr val="000000">
                <a:alpha val="50000"/>
              </a:srgbClr>
            </a:outerShdw>
          </a:effectLst>
        </p:spPr>
      </p:pic>
      <p:sp>
        <p:nvSpPr>
          <p:cNvPr id="11" name="Google Shape;282;g104476d1465_1_17">
            <a:extLst>
              <a:ext uri="{FF2B5EF4-FFF2-40B4-BE49-F238E27FC236}">
                <a16:creationId xmlns="" xmlns:a16="http://schemas.microsoft.com/office/drawing/2014/main"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sp>
        <p:nvSpPr>
          <p:cNvPr id="8" name="Google Shape;313;g104476d1465_1_39">
            <a:extLst>
              <a:ext uri="{FF2B5EF4-FFF2-40B4-BE49-F238E27FC236}">
                <a16:creationId xmlns="" xmlns:a16="http://schemas.microsoft.com/office/drawing/2014/main" id="{270B8B3D-CEDA-9646-A6F6-73CE5012BDDB}"/>
              </a:ext>
            </a:extLst>
          </p:cNvPr>
          <p:cNvSpPr txBox="1">
            <a:spLocks/>
          </p:cNvSpPr>
          <p:nvPr/>
        </p:nvSpPr>
        <p:spPr>
          <a:xfrm>
            <a:off x="4215384" y="2770632"/>
            <a:ext cx="448075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pPr>
              <a:buClr>
                <a:schemeClr val="lt1"/>
              </a:buClr>
              <a:buSzPts val="4800"/>
              <a:buFont typeface="Cutive"/>
              <a:buNone/>
            </a:pPr>
            <a:r>
              <a:rPr lang="en-US" sz="4400" b="1" dirty="0">
                <a:solidFill>
                  <a:srgbClr val="52BDA6"/>
                </a:solidFill>
                <a:latin typeface="Verdana"/>
                <a:ea typeface="Verdana"/>
                <a:cs typeface="Verdana"/>
                <a:sym typeface="Verdana"/>
              </a:rPr>
              <a:t>Exploration</a:t>
            </a:r>
            <a:endParaRPr lang="en-US" sz="4000" b="1" dirty="0">
              <a:solidFill>
                <a:srgbClr val="52BDA6"/>
              </a:solidFill>
              <a:latin typeface="Verdana"/>
              <a:ea typeface="Verdana"/>
              <a:cs typeface="Verdana"/>
              <a:sym typeface="Verdana"/>
            </a:endParaRPr>
          </a:p>
        </p:txBody>
      </p:sp>
      <p:pic>
        <p:nvPicPr>
          <p:cNvPr id="9" name="Picture 8" descr="Icon&#10;&#10;Description automatically generated">
            <a:extLst>
              <a:ext uri="{FF2B5EF4-FFF2-40B4-BE49-F238E27FC236}">
                <a16:creationId xmlns="" xmlns:a16="http://schemas.microsoft.com/office/drawing/2014/main" id="{565F9C0E-12AE-C146-B2E2-C1BEEB1E675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28534" cy="1128534"/>
          </a:xfrm>
          <a:prstGeom prst="rect">
            <a:avLst/>
          </a:prstGeom>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8525575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06424" y="91440"/>
            <a:ext cx="1072896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400" b="1" dirty="0">
                <a:solidFill>
                  <a:srgbClr val="52BDA6"/>
                </a:solidFill>
                <a:latin typeface="Verdana"/>
                <a:ea typeface="Verdana"/>
                <a:cs typeface="Verdana"/>
                <a:sym typeface="Verdana"/>
              </a:rPr>
              <a:t>7.10.6 Exploration: Multiplying a Negative Integer by a Negative Integer</a:t>
            </a:r>
          </a:p>
        </p:txBody>
      </p:sp>
      <mc:AlternateContent xmlns:mc="http://schemas.openxmlformats.org/markup-compatibility/2006" xmlns:a14="http://schemas.microsoft.com/office/drawing/2010/main">
        <mc:Choice Requires="a14">
          <p:sp>
            <p:nvSpPr>
              <p:cNvPr id="2" name="Rectangle 1">
                <a:extLst>
                  <a:ext uri="{FF2B5EF4-FFF2-40B4-BE49-F238E27FC236}">
                    <a16:creationId xmlns="" xmlns:a16="http://schemas.microsoft.com/office/drawing/2014/main" id="{A66A031F-2EC8-DF4C-B3F5-E7AC5B8F3239}"/>
                  </a:ext>
                </a:extLst>
              </p:cNvPr>
              <p:cNvSpPr/>
              <p:nvPr/>
            </p:nvSpPr>
            <p:spPr>
              <a:xfrm>
                <a:off x="905256" y="1375713"/>
                <a:ext cx="10246838" cy="2862322"/>
              </a:xfrm>
              <a:prstGeom prst="rect">
                <a:avLst/>
              </a:prstGeom>
              <a:ln>
                <a:noFill/>
              </a:ln>
            </p:spPr>
            <p:txBody>
              <a:bodyPr wrap="square">
                <a:spAutoFit/>
              </a:bodyPr>
              <a:lstStyle/>
              <a:p>
                <a:pPr marL="407988" indent="-396875">
                  <a:buSzPts val="1800"/>
                  <a:buFont typeface="+mj-lt"/>
                  <a:buAutoNum type="arabicPeriod"/>
                </a:pPr>
                <a:r>
                  <a:rPr lang="en-US" sz="1800" dirty="0">
                    <a:latin typeface="Verdana" panose="020B0604030504040204" pitchFamily="34" charset="0"/>
                    <a:ea typeface="Verdana" panose="020B0604030504040204" pitchFamily="34" charset="0"/>
                    <a:cs typeface="Verdana" panose="020B0604030504040204" pitchFamily="34" charset="0"/>
                  </a:rPr>
                  <a:t>Complete the statement.</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11113">
                  <a:lnSpc>
                    <a:spcPct val="150000"/>
                  </a:lnSpc>
                  <a:buSzPts val="1800"/>
                </a:pPr>
                <a:r>
                  <a:rPr lang="en-US" sz="1800" dirty="0">
                    <a:latin typeface="Verdana" panose="020B0604030504040204" pitchFamily="34" charset="0"/>
                    <a:ea typeface="Verdana" panose="020B0604030504040204" pitchFamily="34" charset="0"/>
                    <a:cs typeface="Verdana" panose="020B0604030504040204" pitchFamily="34" charset="0"/>
                  </a:rPr>
                  <a:t>The expression,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m:t>
                    </m:r>
                    <m:r>
                      <a:rPr lang="en-US" sz="1800" i="1" dirty="0">
                        <a:solidFill>
                          <a:srgbClr val="92D050"/>
                        </a:solidFill>
                        <a:latin typeface="Cambria Math" panose="02040503050406030204" pitchFamily="18" charset="0"/>
                        <a:ea typeface="Verdana" panose="020B0604030504040204" pitchFamily="34" charset="0"/>
                        <a:cs typeface="Verdana" panose="020B0604030504040204" pitchFamily="34" charset="0"/>
                      </a:rPr>
                      <m:t>−5 </m:t>
                    </m:r>
                    <m:r>
                      <a:rPr lang="en-US" sz="1800" i="1" dirty="0">
                        <a:latin typeface="Cambria Math" panose="02040503050406030204" pitchFamily="18" charset="0"/>
                        <a:ea typeface="Verdana" panose="020B0604030504040204" pitchFamily="34" charset="0"/>
                        <a:cs typeface="Verdana" panose="020B0604030504040204" pitchFamily="34" charset="0"/>
                      </a:rPr>
                      <m:t>)(</m:t>
                    </m:r>
                    <m:r>
                      <a:rPr lang="en-US" sz="1800" i="1" dirty="0">
                        <a:solidFill>
                          <a:srgbClr val="FFC000"/>
                        </a:solidFill>
                        <a:latin typeface="Cambria Math" panose="02040503050406030204" pitchFamily="18" charset="0"/>
                        <a:ea typeface="Verdana" panose="020B0604030504040204" pitchFamily="34" charset="0"/>
                        <a:cs typeface="Verdana" panose="020B0604030504040204" pitchFamily="34" charset="0"/>
                      </a:rPr>
                      <m:t>−2</m:t>
                    </m:r>
                    <m:r>
                      <a:rPr lang="en-US" sz="1800" i="1" dirty="0">
                        <a:latin typeface="Cambria Math" panose="02040503050406030204" pitchFamily="18" charset="0"/>
                        <a:ea typeface="Verdana" panose="020B0604030504040204" pitchFamily="34" charset="0"/>
                        <a:cs typeface="Verdana" panose="020B0604030504040204" pitchFamily="34" charset="0"/>
                      </a:rPr>
                      <m:t>)</m:t>
                    </m:r>
                  </m:oMath>
                </a14:m>
                <a:r>
                  <a:rPr lang="en-US" sz="1800" dirty="0">
                    <a:latin typeface="Verdana" panose="020B0604030504040204" pitchFamily="34" charset="0"/>
                    <a:ea typeface="Verdana" panose="020B0604030504040204" pitchFamily="34" charset="0"/>
                    <a:cs typeface="Verdana" panose="020B0604030504040204" pitchFamily="34" charset="0"/>
                  </a:rPr>
                  <a:t>, indicates that </a:t>
                </a:r>
                <a:r>
                  <a:rPr lang="en-US" sz="1800" dirty="0">
                    <a:solidFill>
                      <a:srgbClr val="92D050"/>
                    </a:solidFill>
                    <a:latin typeface="Verdana" panose="020B0604030504040204" pitchFamily="34" charset="0"/>
                    <a:ea typeface="Verdana" panose="020B0604030504040204" pitchFamily="34" charset="0"/>
                    <a:cs typeface="Verdana" panose="020B0604030504040204" pitchFamily="34" charset="0"/>
                  </a:rPr>
                  <a:t>________</a:t>
                </a:r>
                <a:r>
                  <a:rPr lang="en-US" sz="1800" dirty="0">
                    <a:latin typeface="Verdana" panose="020B0604030504040204" pitchFamily="34" charset="0"/>
                    <a:ea typeface="Verdana" panose="020B0604030504040204" pitchFamily="34" charset="0"/>
                    <a:cs typeface="Verdana" panose="020B0604030504040204" pitchFamily="34" charset="0"/>
                  </a:rPr>
                  <a:t> groups  of </a:t>
                </a:r>
                <a:r>
                  <a:rPr lang="en-US" sz="1800" dirty="0">
                    <a:solidFill>
                      <a:srgbClr val="FFC000"/>
                    </a:solidFill>
                    <a:latin typeface="Verdana" panose="020B0604030504040204" pitchFamily="34" charset="0"/>
                    <a:ea typeface="Verdana" panose="020B0604030504040204" pitchFamily="34" charset="0"/>
                    <a:cs typeface="Verdana" panose="020B0604030504040204" pitchFamily="34" charset="0"/>
                  </a:rPr>
                  <a:t>________</a:t>
                </a:r>
                <a:r>
                  <a:rPr lang="en-US" sz="1800" dirty="0">
                    <a:latin typeface="Verdana" panose="020B0604030504040204" pitchFamily="34" charset="0"/>
                    <a:ea typeface="Verdana" panose="020B0604030504040204" pitchFamily="34" charset="0"/>
                    <a:cs typeface="Verdana" panose="020B0604030504040204" pitchFamily="34" charset="0"/>
                  </a:rPr>
                  <a:t> should be </a:t>
                </a:r>
                <a:r>
                  <a:rPr lang="en-US" sz="1800" dirty="0">
                    <a:solidFill>
                      <a:srgbClr val="92D050"/>
                    </a:solidFill>
                    <a:latin typeface="Verdana" panose="020B0604030504040204" pitchFamily="34" charset="0"/>
                    <a:ea typeface="Verdana" panose="020B0604030504040204" pitchFamily="34" charset="0"/>
                    <a:cs typeface="Verdana" panose="020B0604030504040204" pitchFamily="34" charset="0"/>
                  </a:rPr>
                  <a:t>removed</a:t>
                </a:r>
                <a:r>
                  <a:rPr lang="en-US" sz="1800" dirty="0">
                    <a:latin typeface="Verdana" panose="020B0604030504040204" pitchFamily="34" charset="0"/>
                    <a:ea typeface="Verdana" panose="020B0604030504040204" pitchFamily="34" charset="0"/>
                    <a:cs typeface="Verdana" panose="020B0604030504040204" pitchFamily="34" charset="0"/>
                  </a:rPr>
                  <a:t>. </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407988" indent="-396875">
                  <a:buSzPts val="1800"/>
                  <a:buFont typeface="+mj-lt"/>
                  <a:buAutoNum type="arabicPeriod" startAt="2"/>
                </a:pPr>
                <a:r>
                  <a:rPr lang="en-US" sz="1800" dirty="0">
                    <a:latin typeface="Verdana" panose="020B0604030504040204" pitchFamily="34" charset="0"/>
                    <a:ea typeface="Verdana" panose="020B0604030504040204" pitchFamily="34" charset="0"/>
                    <a:cs typeface="Verdana" panose="020B0604030504040204" pitchFamily="34" charset="0"/>
                  </a:rPr>
                  <a:t>Use the steps below to discover how to represent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(−5)(−2)</m:t>
                    </m:r>
                  </m:oMath>
                </a14:m>
                <a:r>
                  <a:rPr lang="en-US" sz="1800" dirty="0">
                    <a:latin typeface="Verdana" panose="020B0604030504040204" pitchFamily="34" charset="0"/>
                    <a:ea typeface="Verdana" panose="020B0604030504040204" pitchFamily="34" charset="0"/>
                    <a:cs typeface="Verdana" panose="020B0604030504040204" pitchFamily="34" charset="0"/>
                  </a:rPr>
                  <a:t> using integer chips. </a:t>
                </a:r>
              </a:p>
              <a:p>
                <a:pPr marL="11113">
                  <a:buSzPts val="1800"/>
                </a:pPr>
                <a:endParaRPr lang="en-US" sz="1800" dirty="0">
                  <a:latin typeface="Verdana" panose="020B0604030504040204" pitchFamily="34" charset="0"/>
                  <a:ea typeface="Verdana" panose="020B0604030504040204" pitchFamily="34" charset="0"/>
                  <a:cs typeface="Verdana" panose="020B0604030504040204" pitchFamily="34" charset="0"/>
                </a:endParaRPr>
              </a:p>
              <a:p>
                <a:pPr marL="11113">
                  <a:buSzPts val="1800"/>
                </a:pPr>
                <a:r>
                  <a:rPr lang="en-US" sz="1800" b="1" dirty="0">
                    <a:latin typeface="Verdana" panose="020B0604030504040204" pitchFamily="34" charset="0"/>
                    <a:ea typeface="Verdana" panose="020B0604030504040204" pitchFamily="34" charset="0"/>
                    <a:cs typeface="Verdana" panose="020B0604030504040204" pitchFamily="34" charset="0"/>
                  </a:rPr>
                  <a:t>Step 1: </a:t>
                </a:r>
                <a:r>
                  <a:rPr lang="en-US" sz="1800" dirty="0">
                    <a:latin typeface="Verdana" panose="020B0604030504040204" pitchFamily="34" charset="0"/>
                    <a:ea typeface="Verdana" panose="020B0604030504040204" pitchFamily="34" charset="0"/>
                    <a:cs typeface="Verdana" panose="020B0604030504040204" pitchFamily="34" charset="0"/>
                  </a:rPr>
                  <a:t>First, use your integer chips to create the set of zero pairs that will be needed to find </a:t>
                </a:r>
                <a14:m>
                  <m:oMath xmlns:m="http://schemas.openxmlformats.org/officeDocument/2006/math">
                    <m:r>
                      <a:rPr lang="en-US" sz="1800" i="1" dirty="0">
                        <a:latin typeface="Cambria Math" panose="02040503050406030204" pitchFamily="18" charset="0"/>
                        <a:ea typeface="Verdana" panose="020B0604030504040204" pitchFamily="34" charset="0"/>
                        <a:cs typeface="Verdana" panose="020B0604030504040204" pitchFamily="34" charset="0"/>
                      </a:rPr>
                      <m:t>(−5 )(−2)</m:t>
                    </m:r>
                  </m:oMath>
                </a14:m>
                <a:r>
                  <a:rPr lang="en-US" sz="1800" dirty="0">
                    <a:latin typeface="Verdana" panose="020B0604030504040204" pitchFamily="34" charset="0"/>
                    <a:ea typeface="Verdana" panose="020B0604030504040204" pitchFamily="34" charset="0"/>
                    <a:cs typeface="Verdana" panose="020B0604030504040204" pitchFamily="34" charset="0"/>
                  </a:rPr>
                  <a:t>. Draw the groups of zero pairs in the box below.</a:t>
                </a:r>
              </a:p>
            </p:txBody>
          </p:sp>
        </mc:Choice>
        <mc:Fallback xmlns="">
          <p:sp>
            <p:nvSpPr>
              <p:cNvPr id="2" name="Rectangle 1">
                <a:extLst>
                  <a:ext uri="{FF2B5EF4-FFF2-40B4-BE49-F238E27FC236}">
                    <a16:creationId xmlns:a16="http://schemas.microsoft.com/office/drawing/2014/main" id="{A66A031F-2EC8-DF4C-B3F5-E7AC5B8F3239}"/>
                  </a:ext>
                </a:extLst>
              </p:cNvPr>
              <p:cNvSpPr>
                <a:spLocks noRot="1" noChangeAspect="1" noMove="1" noResize="1" noEditPoints="1" noAdjustHandles="1" noChangeArrowheads="1" noChangeShapeType="1" noTextEdit="1"/>
              </p:cNvSpPr>
              <p:nvPr/>
            </p:nvSpPr>
            <p:spPr>
              <a:xfrm>
                <a:off x="905256" y="1375713"/>
                <a:ext cx="10246838" cy="2862322"/>
              </a:xfrm>
              <a:prstGeom prst="rect">
                <a:avLst/>
              </a:prstGeom>
              <a:blipFill>
                <a:blip r:embed="rId4"/>
                <a:stretch>
                  <a:fillRect l="-372" t="-885" r="-743" b="-2655"/>
                </a:stretch>
              </a:blipFill>
              <a:ln>
                <a:noFill/>
              </a:ln>
            </p:spPr>
            <p:txBody>
              <a:bodyPr/>
              <a:lstStyle/>
              <a:p>
                <a:r>
                  <a:rPr lang="en-US">
                    <a:noFill/>
                  </a:rPr>
                  <a:t> </a:t>
                </a:r>
              </a:p>
            </p:txBody>
          </p:sp>
        </mc:Fallback>
      </mc:AlternateContent>
      <p:sp>
        <p:nvSpPr>
          <p:cNvPr id="13" name="Google Shape;282;g104476d1465_1_17">
            <a:extLst>
              <a:ext uri="{FF2B5EF4-FFF2-40B4-BE49-F238E27FC236}">
                <a16:creationId xmlns=""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pic>
        <p:nvPicPr>
          <p:cNvPr id="10" name="Picture 9" descr="Icon&#10;&#10;Description automatically generated">
            <a:extLst>
              <a:ext uri="{FF2B5EF4-FFF2-40B4-BE49-F238E27FC236}">
                <a16:creationId xmlns="" xmlns:a16="http://schemas.microsoft.com/office/drawing/2014/main" id="{C012D816-0031-D04D-979C-9CD18B01AA84}"/>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56616" y="201168"/>
            <a:ext cx="750145" cy="750145"/>
          </a:xfrm>
          <a:prstGeom prst="rect">
            <a:avLst/>
          </a:prstGeom>
        </p:spPr>
      </p:pic>
      <p:sp>
        <p:nvSpPr>
          <p:cNvPr id="11" name="Rectangle 10">
            <a:extLst>
              <a:ext uri="{FF2B5EF4-FFF2-40B4-BE49-F238E27FC236}">
                <a16:creationId xmlns="" xmlns:a16="http://schemas.microsoft.com/office/drawing/2014/main" id="{75241B16-2F93-CB4A-8CC4-B257C57A4392}"/>
              </a:ext>
            </a:extLst>
          </p:cNvPr>
          <p:cNvSpPr/>
          <p:nvPr/>
        </p:nvSpPr>
        <p:spPr>
          <a:xfrm>
            <a:off x="2634458" y="4940015"/>
            <a:ext cx="6474460" cy="1516207"/>
          </a:xfrm>
          <a:prstGeom prst="rect">
            <a:avLst/>
          </a:prstGeom>
          <a:noFill/>
          <a:ln w="571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endParaRPr lang="en-US"/>
          </a:p>
        </p:txBody>
      </p:sp>
    </p:spTree>
    <p:extLst>
      <p:ext uri="{BB962C8B-B14F-4D97-AF65-F5344CB8AC3E}">
        <p14:creationId xmlns:p14="http://schemas.microsoft.com/office/powerpoint/2010/main" val="6356960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2" name="Rectangle 1">
                <a:extLst>
                  <a:ext uri="{FF2B5EF4-FFF2-40B4-BE49-F238E27FC236}">
                    <a16:creationId xmlns="" xmlns:a16="http://schemas.microsoft.com/office/drawing/2014/main" id="{D9AF1552-9966-3643-BA84-BB4BC68EDBB5}"/>
                  </a:ext>
                </a:extLst>
              </p:cNvPr>
              <p:cNvSpPr/>
              <p:nvPr/>
            </p:nvSpPr>
            <p:spPr>
              <a:xfrm>
                <a:off x="905255" y="842785"/>
                <a:ext cx="10766791" cy="4093428"/>
              </a:xfrm>
              <a:prstGeom prst="rect">
                <a:avLst/>
              </a:prstGeom>
            </p:spPr>
            <p:txBody>
              <a:bodyPr wrap="square">
                <a:spAutoFit/>
              </a:bodyPr>
              <a:lstStyle/>
              <a:p>
                <a:pPr lvl="0">
                  <a:buSzPts val="1800"/>
                </a:pPr>
                <a:r>
                  <a:rPr lang="en-US" sz="2000" b="1" dirty="0">
                    <a:latin typeface="Verdana" panose="020B0604030504040204" pitchFamily="34" charset="0"/>
                    <a:ea typeface="Times New Roman" panose="02020603050405020304" pitchFamily="18" charset="0"/>
                    <a:cs typeface="Times New Roman" panose="02020603050405020304" pitchFamily="18" charset="0"/>
                  </a:rPr>
                  <a:t>Step 2: </a:t>
                </a:r>
                <a:r>
                  <a:rPr lang="en-US" sz="2000" dirty="0">
                    <a:latin typeface="Verdana" panose="020B0604030504040204" pitchFamily="34" charset="0"/>
                    <a:ea typeface="Times New Roman" panose="02020603050405020304" pitchFamily="18" charset="0"/>
                    <a:cs typeface="Times New Roman" panose="02020603050405020304" pitchFamily="18" charset="0"/>
                  </a:rPr>
                  <a:t>Remove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groups of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negative integer chips.</a:t>
                </a: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buSzPts val="1800"/>
                </a:pPr>
                <a:r>
                  <a:rPr lang="en-US" sz="2000" b="1" dirty="0">
                    <a:latin typeface="Verdana" panose="020B0604030504040204" pitchFamily="34" charset="0"/>
                    <a:ea typeface="Times New Roman" panose="02020603050405020304" pitchFamily="18" charset="0"/>
                    <a:cs typeface="Times New Roman" panose="02020603050405020304" pitchFamily="18" charset="0"/>
                  </a:rPr>
                  <a:t>Step 3: </a:t>
                </a:r>
                <a:r>
                  <a:rPr lang="en-US" sz="2000" dirty="0">
                    <a:latin typeface="Verdana" panose="020B0604030504040204" pitchFamily="34" charset="0"/>
                    <a:ea typeface="Times New Roman" panose="02020603050405020304" pitchFamily="18" charset="0"/>
                    <a:cs typeface="Times New Roman" panose="02020603050405020304" pitchFamily="18" charset="0"/>
                  </a:rPr>
                  <a:t>Remove any remaining zero pairs, if needed.</a:t>
                </a: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p>
              <a:p>
                <a:pPr marL="457200" indent="-457200">
                  <a:buSzPts val="1800"/>
                  <a:buFont typeface="+mj-lt"/>
                  <a:buAutoNum type="arabicPeriod" startAt="3"/>
                </a:pPr>
                <a:r>
                  <a:rPr lang="en-US" sz="2000" dirty="0">
                    <a:latin typeface="Verdana" panose="020B0604030504040204" pitchFamily="34" charset="0"/>
                    <a:ea typeface="Times New Roman" panose="02020603050405020304" pitchFamily="18" charset="0"/>
                    <a:cs typeface="Times New Roman" panose="02020603050405020304" pitchFamily="18" charset="0"/>
                  </a:rPr>
                  <a:t>Complete the statement.</a:t>
                </a: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90538" indent="-41275">
                  <a:buSzPts val="1800"/>
                </a:pPr>
                <a:r>
                  <a:rPr lang="en-US" sz="2000" dirty="0">
                    <a:latin typeface="Verdana" panose="020B0604030504040204" pitchFamily="34" charset="0"/>
                    <a:ea typeface="Times New Roman" panose="02020603050405020304" pitchFamily="18" charset="0"/>
                    <a:cs typeface="Times New Roman" panose="02020603050405020304" pitchFamily="18" charset="0"/>
                  </a:rPr>
                  <a:t>The value of expression </a:t>
                </a:r>
                <a14:m>
                  <m:oMath xmlns:m="http://schemas.openxmlformats.org/officeDocument/2006/math">
                    <m:r>
                      <a:rPr lang="en-US" sz="2000" i="1" dirty="0">
                        <a:latin typeface="Cambria Math" panose="02040503050406030204" pitchFamily="18" charset="0"/>
                        <a:ea typeface="Times New Roman" panose="02020603050405020304" pitchFamily="18" charset="0"/>
                        <a:cs typeface="Times New Roman" panose="02020603050405020304" pitchFamily="18" charset="0"/>
                      </a:rPr>
                      <m:t>(−5 )(−2)</m:t>
                    </m:r>
                  </m:oMath>
                </a14:m>
                <a:r>
                  <a:rPr lang="en-US" sz="2000" dirty="0">
                    <a:latin typeface="Verdana" panose="020B0604030504040204" pitchFamily="34" charset="0"/>
                    <a:ea typeface="Times New Roman" panose="02020603050405020304" pitchFamily="18" charset="0"/>
                    <a:cs typeface="Times New Roman" panose="02020603050405020304" pitchFamily="18" charset="0"/>
                  </a:rPr>
                  <a:t> is _______. </a:t>
                </a: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lvl="0">
                  <a:buSzPts val="1800"/>
                </a:pPr>
                <a:endParaRPr lang="en-US" sz="2000" dirty="0">
                  <a:latin typeface="Verdana" panose="020B0604030504040204" pitchFamily="34" charset="0"/>
                  <a:ea typeface="Times New Roman" panose="02020603050405020304" pitchFamily="18" charset="0"/>
                  <a:cs typeface="Times New Roman" panose="02020603050405020304" pitchFamily="18" charset="0"/>
                </a:endParaRPr>
              </a:p>
              <a:p>
                <a:pPr marL="457200" indent="-457200">
                  <a:buSzPts val="1800"/>
                  <a:buFont typeface="+mj-lt"/>
                  <a:buAutoNum type="arabicPeriod" startAt="4"/>
                </a:pPr>
                <a:r>
                  <a:rPr lang="en-US" sz="2000" dirty="0">
                    <a:latin typeface="Verdana" panose="020B0604030504040204" pitchFamily="34" charset="0"/>
                    <a:ea typeface="Times New Roman" panose="02020603050405020304" pitchFamily="18" charset="0"/>
                    <a:cs typeface="Times New Roman" panose="02020603050405020304" pitchFamily="18" charset="0"/>
                  </a:rPr>
                  <a:t>With your partner, discuss whether or not you think the product when multiplying two negative values will always be positive. Explain your thinking.</a:t>
                </a:r>
              </a:p>
            </p:txBody>
          </p:sp>
        </mc:Choice>
        <mc:Fallback xmlns="">
          <p:sp>
            <p:nvSpPr>
              <p:cNvPr id="2" name="Rectangle 1">
                <a:extLst>
                  <a:ext uri="{FF2B5EF4-FFF2-40B4-BE49-F238E27FC236}">
                    <a16:creationId xmlns:a16="http://schemas.microsoft.com/office/drawing/2014/main" id="{D9AF1552-9966-3643-BA84-BB4BC68EDBB5}"/>
                  </a:ext>
                </a:extLst>
              </p:cNvPr>
              <p:cNvSpPr>
                <a:spLocks noRot="1" noChangeAspect="1" noMove="1" noResize="1" noEditPoints="1" noAdjustHandles="1" noChangeArrowheads="1" noChangeShapeType="1" noTextEdit="1"/>
              </p:cNvSpPr>
              <p:nvPr/>
            </p:nvSpPr>
            <p:spPr>
              <a:xfrm>
                <a:off x="905255" y="842785"/>
                <a:ext cx="10766791" cy="4093428"/>
              </a:xfrm>
              <a:prstGeom prst="rect">
                <a:avLst/>
              </a:prstGeom>
              <a:blipFill>
                <a:blip r:embed="rId4"/>
                <a:stretch>
                  <a:fillRect l="-589" t="-929" b="-1858"/>
                </a:stretch>
              </a:blipFill>
            </p:spPr>
            <p:txBody>
              <a:bodyPr/>
              <a:lstStyle/>
              <a:p>
                <a:r>
                  <a:rPr lang="en-US">
                    <a:noFill/>
                  </a:rPr>
                  <a:t> </a:t>
                </a:r>
              </a:p>
            </p:txBody>
          </p:sp>
        </mc:Fallback>
      </mc:AlternateContent>
      <p:sp>
        <p:nvSpPr>
          <p:cNvPr id="9" name="Google Shape;282;g104476d1465_1_17">
            <a:extLst>
              <a:ext uri="{FF2B5EF4-FFF2-40B4-BE49-F238E27FC236}">
                <a16:creationId xmlns="" xmlns:a16="http://schemas.microsoft.com/office/drawing/2014/main" id="{FCAEDDBD-15FD-B945-9FDE-50793A71AA1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50</a:t>
            </a:r>
            <a:endParaRPr i="1" dirty="0">
              <a:latin typeface="Calibri"/>
              <a:ea typeface="Calibri"/>
              <a:cs typeface="Calibri"/>
              <a:sym typeface="Calibri"/>
            </a:endParaRPr>
          </a:p>
        </p:txBody>
      </p:sp>
    </p:spTree>
    <p:extLst>
      <p:ext uri="{BB962C8B-B14F-4D97-AF65-F5344CB8AC3E}">
        <p14:creationId xmlns:p14="http://schemas.microsoft.com/office/powerpoint/2010/main" val="37122908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rmAutofit/>
          </a:bodyPr>
          <a:lstStyle/>
          <a:p>
            <a:pPr>
              <a:buClr>
                <a:schemeClr val="lt1"/>
              </a:buClr>
              <a:buSzPts val="4800"/>
            </a:pPr>
            <a:r>
              <a:rPr lang="en-US" sz="5500" b="1" dirty="0">
                <a:solidFill>
                  <a:srgbClr val="52BDA6"/>
                </a:solidFill>
                <a:latin typeface="Verdana"/>
                <a:ea typeface="Verdana"/>
                <a:cs typeface="Verdana"/>
                <a:sym typeface="Verdana"/>
              </a:rPr>
              <a:t>Try It</a:t>
            </a:r>
            <a:endParaRPr sz="5100" b="1" dirty="0">
              <a:solidFill>
                <a:srgbClr val="52BDA6"/>
              </a:solidFill>
              <a:latin typeface="Verdana"/>
              <a:ea typeface="Verdana"/>
              <a:cs typeface="Verdana"/>
              <a:sym typeface="Verdana"/>
            </a:endParaRPr>
          </a:p>
        </p:txBody>
      </p:sp>
      <p:sp>
        <p:nvSpPr>
          <p:cNvPr id="11" name="Google Shape;282;g104476d1465_1_17">
            <a:extLst>
              <a:ext uri="{FF2B5EF4-FFF2-40B4-BE49-F238E27FC236}">
                <a16:creationId xmlns="" xmlns:a16="http://schemas.microsoft.com/office/drawing/2014/main" id="{04201096-008D-9E40-8962-B6CD490C930F}"/>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51</a:t>
            </a:r>
            <a:endParaRPr i="1" dirty="0">
              <a:latin typeface="Calibri"/>
              <a:ea typeface="Calibri"/>
              <a:cs typeface="Calibri"/>
              <a:sym typeface="Calibri"/>
            </a:endParaRPr>
          </a:p>
        </p:txBody>
      </p:sp>
      <p:pic>
        <p:nvPicPr>
          <p:cNvPr id="7" name="image2.png">
            <a:extLst>
              <a:ext uri="{FF2B5EF4-FFF2-40B4-BE49-F238E27FC236}">
                <a16:creationId xmlns="" xmlns:a16="http://schemas.microsoft.com/office/drawing/2014/main" id="{952E9ABF-4A5A-6047-B98A-B57B5AF0224E}"/>
              </a:ext>
            </a:extLst>
          </p:cNvPr>
          <p:cNvPicPr/>
          <p:nvPr/>
        </p:nvPicPr>
        <p:blipFill>
          <a:blip r:embed="rId4" cstate="print">
            <a:extLst>
              <a:ext uri="{28A0092B-C50C-407E-A947-70E740481C1C}">
                <a14:useLocalDpi xmlns:a14="http://schemas.microsoft.com/office/drawing/2010/main"/>
              </a:ext>
            </a:extLst>
          </a:blip>
          <a:stretch>
            <a:fillRect/>
          </a:stretch>
        </p:blipFill>
        <p:spPr>
          <a:xfrm>
            <a:off x="3054096" y="2852928"/>
            <a:ext cx="1133502" cy="1133502"/>
          </a:xfrm>
          <a:prstGeom prst="rect">
            <a:avLst/>
          </a:prstGeom>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227254346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 xmlns:a16="http://schemas.microsoft.com/office/drawing/2014/main" id="{07112538-C7A8-8B4A-B739-C3032B04086A}"/>
              </a:ext>
            </a:extLst>
          </p:cNvPr>
          <p:cNvSpPr txBox="1">
            <a:spLocks/>
          </p:cNvSpPr>
          <p:nvPr/>
        </p:nvSpPr>
        <p:spPr>
          <a:xfrm>
            <a:off x="1106424" y="91440"/>
            <a:ext cx="10728960" cy="1014817"/>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52BDA6"/>
                </a:solidFill>
                <a:latin typeface="Verdana"/>
                <a:ea typeface="Verdana"/>
                <a:cs typeface="Verdana"/>
                <a:sym typeface="Verdana"/>
              </a:rPr>
              <a:t>7.10.7 Try It: Multiplying a Negative Integer by a Negative Integer</a:t>
            </a:r>
          </a:p>
        </p:txBody>
      </p:sp>
      <p:sp>
        <p:nvSpPr>
          <p:cNvPr id="2" name="Rectangle 1">
            <a:extLst>
              <a:ext uri="{FF2B5EF4-FFF2-40B4-BE49-F238E27FC236}">
                <a16:creationId xmlns="" xmlns:a16="http://schemas.microsoft.com/office/drawing/2014/main" id="{A66A031F-2EC8-DF4C-B3F5-E7AC5B8F3239}"/>
              </a:ext>
            </a:extLst>
          </p:cNvPr>
          <p:cNvSpPr/>
          <p:nvPr/>
        </p:nvSpPr>
        <p:spPr>
          <a:xfrm>
            <a:off x="905256" y="1375714"/>
            <a:ext cx="8526780" cy="461665"/>
          </a:xfrm>
          <a:prstGeom prst="rect">
            <a:avLst/>
          </a:prstGeom>
        </p:spPr>
        <p:txBody>
          <a:bodyPr wrap="square">
            <a:spAutoFit/>
          </a:bodyPr>
          <a:lstStyle/>
          <a:p>
            <a:pPr marL="407988" indent="-396875">
              <a:buSzPts val="18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the table.</a:t>
            </a:r>
          </a:p>
        </p:txBody>
      </p:sp>
      <p:sp>
        <p:nvSpPr>
          <p:cNvPr id="13" name="Google Shape;282;g104476d1465_1_17">
            <a:extLst>
              <a:ext uri="{FF2B5EF4-FFF2-40B4-BE49-F238E27FC236}">
                <a16:creationId xmlns=""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51</a:t>
            </a:r>
            <a:endParaRPr i="1" dirty="0">
              <a:latin typeface="Calibri"/>
              <a:ea typeface="Calibri"/>
              <a:cs typeface="Calibri"/>
              <a:sym typeface="Calibri"/>
            </a:endParaRPr>
          </a:p>
        </p:txBody>
      </p:sp>
      <p:pic>
        <p:nvPicPr>
          <p:cNvPr id="12" name="image2.png">
            <a:extLst>
              <a:ext uri="{FF2B5EF4-FFF2-40B4-BE49-F238E27FC236}">
                <a16:creationId xmlns="" xmlns:a16="http://schemas.microsoft.com/office/drawing/2014/main" id="{CEE695F5-1A7B-4A4D-A390-9746DB691379}"/>
              </a:ext>
            </a:extLst>
          </p:cNvPr>
          <p:cNvPicPr/>
          <p:nvPr/>
        </p:nvPicPr>
        <p:blipFill>
          <a:blip r:embed="rId4" cstate="screen">
            <a:extLst>
              <a:ext uri="{28A0092B-C50C-407E-A947-70E740481C1C}">
                <a14:useLocalDpi xmlns:a14="http://schemas.microsoft.com/office/drawing/2010/main"/>
              </a:ext>
            </a:extLst>
          </a:blip>
          <a:stretch>
            <a:fillRect/>
          </a:stretch>
        </p:blipFill>
        <p:spPr>
          <a:xfrm>
            <a:off x="356616" y="201168"/>
            <a:ext cx="750144" cy="750144"/>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 xmlns:a16="http://schemas.microsoft.com/office/drawing/2014/main" id="{6DCC1D49-C415-774E-A017-0C518690AF49}"/>
                  </a:ext>
                </a:extLst>
              </p:cNvPr>
              <p:cNvGraphicFramePr>
                <a:graphicFrameLocks noGrp="1"/>
              </p:cNvGraphicFramePr>
              <p:nvPr>
                <p:extLst>
                  <p:ext uri="{D42A27DB-BD31-4B8C-83A1-F6EECF244321}">
                    <p14:modId xmlns:p14="http://schemas.microsoft.com/office/powerpoint/2010/main" val="670887977"/>
                  </p:ext>
                </p:extLst>
              </p:nvPr>
            </p:nvGraphicFramePr>
            <p:xfrm>
              <a:off x="2481636" y="2195814"/>
              <a:ext cx="7297308" cy="3646351"/>
            </p:xfrm>
            <a:graphic>
              <a:graphicData uri="http://schemas.openxmlformats.org/drawingml/2006/table">
                <a:tbl>
                  <a:tblPr firstRow="1" firstCol="1" bandRow="1">
                    <a:tableStyleId>{A91F0D33-8C57-4600-99A7-42BC86742BE1}</a:tableStyleId>
                  </a:tblPr>
                  <a:tblGrid>
                    <a:gridCol w="1575288">
                      <a:extLst>
                        <a:ext uri="{9D8B030D-6E8A-4147-A177-3AD203B41FA5}">
                          <a16:colId xmlns="" xmlns:a16="http://schemas.microsoft.com/office/drawing/2014/main" val="1422293677"/>
                        </a:ext>
                      </a:extLst>
                    </a:gridCol>
                    <a:gridCol w="4478336">
                      <a:extLst>
                        <a:ext uri="{9D8B030D-6E8A-4147-A177-3AD203B41FA5}">
                          <a16:colId xmlns="" xmlns:a16="http://schemas.microsoft.com/office/drawing/2014/main" val="3347369500"/>
                        </a:ext>
                      </a:extLst>
                    </a:gridCol>
                    <a:gridCol w="1243684">
                      <a:extLst>
                        <a:ext uri="{9D8B030D-6E8A-4147-A177-3AD203B41FA5}">
                          <a16:colId xmlns="" xmlns:a16="http://schemas.microsoft.com/office/drawing/2014/main" val="813793737"/>
                        </a:ext>
                      </a:extLst>
                    </a:gridCol>
                  </a:tblGrid>
                  <a:tr h="454801">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Visual Model Using Integer Chips</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Product</a:t>
                          </a:r>
                          <a:endParaRPr lang="x-none"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 xmlns:a16="http://schemas.microsoft.com/office/drawing/2014/main" val="1205352957"/>
                      </a:ext>
                    </a:extLst>
                  </a:tr>
                  <a:tr h="159577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Pre>
                                  <m:sPrePr>
                                    <m:ctrlPr>
                                      <a:rPr lang="x-none" sz="1800" i="1">
                                        <a:effectLst/>
                                        <a:latin typeface="Cambria Math"/>
                                      </a:rPr>
                                    </m:ctrlPr>
                                  </m:sPrePr>
                                  <m:sub/>
                                  <m:sup>
                                    <m:r>
                                      <a:rPr lang="en-US" sz="1800">
                                        <a:effectLst/>
                                        <a:latin typeface="Cambria Math" panose="02040503050406030204" pitchFamily="18" charset="0"/>
                                      </a:rPr>
                                      <m:t>−</m:t>
                                    </m:r>
                                  </m:sup>
                                  <m:e>
                                    <m:r>
                                      <a:rPr lang="en-US" sz="1800">
                                        <a:effectLst/>
                                        <a:latin typeface="Cambria Math" panose="02040503050406030204" pitchFamily="18" charset="0"/>
                                      </a:rPr>
                                      <m:t>3</m:t>
                                    </m:r>
                                  </m:e>
                                </m:sPre>
                                <m:r>
                                  <a:rPr lang="en-US" sz="1800">
                                    <a:effectLst/>
                                    <a:latin typeface="Cambria Math" panose="02040503050406030204" pitchFamily="18" charset="0"/>
                                  </a:rPr>
                                  <m:t>×</m:t>
                                </m:r>
                                <m:d>
                                  <m:dPr>
                                    <m:ctrlPr>
                                      <a:rPr lang="x-none" sz="1800" i="1">
                                        <a:effectLst/>
                                        <a:latin typeface="Cambria Math"/>
                                      </a:rPr>
                                    </m:ctrlPr>
                                  </m:dPr>
                                  <m:e>
                                    <m:r>
                                      <a:rPr lang="en-US" sz="1800">
                                        <a:effectLst/>
                                        <a:latin typeface="Cambria Math" panose="02040503050406030204" pitchFamily="18" charset="0"/>
                                      </a:rPr>
                                      <m:t>−2</m:t>
                                    </m:r>
                                  </m:e>
                                </m:d>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441508921"/>
                      </a:ext>
                    </a:extLst>
                  </a:tr>
                  <a:tr h="159577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1800">
                                    <a:effectLst/>
                                    <a:latin typeface="Cambria Math" panose="02040503050406030204" pitchFamily="18" charset="0"/>
                                  </a:rPr>
                                  <m:t>−1∙−6</m:t>
                                </m:r>
                              </m:oMath>
                            </m:oMathPara>
                          </a14:m>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x-none"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x-none"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 xmlns:a16="http://schemas.microsoft.com/office/drawing/2014/main" val="1888013911"/>
                      </a:ext>
                    </a:extLst>
                  </a:tr>
                </a:tbl>
              </a:graphicData>
            </a:graphic>
          </p:graphicFrame>
        </mc:Choice>
        <mc:Fallback xmlns="">
          <p:graphicFrame>
            <p:nvGraphicFramePr>
              <p:cNvPr id="3" name="Table 2">
                <a:extLst>
                  <a:ext uri="{FF2B5EF4-FFF2-40B4-BE49-F238E27FC236}">
                    <a16:creationId xmlns:a16="http://schemas.microsoft.com/office/drawing/2014/main" id="{6DCC1D49-C415-774E-A017-0C518690AF49}"/>
                  </a:ext>
                </a:extLst>
              </p:cNvPr>
              <p:cNvGraphicFramePr>
                <a:graphicFrameLocks noGrp="1"/>
              </p:cNvGraphicFramePr>
              <p:nvPr>
                <p:extLst>
                  <p:ext uri="{D42A27DB-BD31-4B8C-83A1-F6EECF244321}">
                    <p14:modId xmlns:p14="http://schemas.microsoft.com/office/powerpoint/2010/main" val="670887977"/>
                  </p:ext>
                </p:extLst>
              </p:nvPr>
            </p:nvGraphicFramePr>
            <p:xfrm>
              <a:off x="2481636" y="2195814"/>
              <a:ext cx="7297308" cy="3646351"/>
            </p:xfrm>
            <a:graphic>
              <a:graphicData uri="http://schemas.openxmlformats.org/drawingml/2006/table">
                <a:tbl>
                  <a:tblPr firstRow="1" firstCol="1" bandRow="1">
                    <a:tableStyleId>{A91F0D33-8C57-4600-99A7-42BC86742BE1}</a:tableStyleId>
                  </a:tblPr>
                  <a:tblGrid>
                    <a:gridCol w="1575288">
                      <a:extLst>
                        <a:ext uri="{9D8B030D-6E8A-4147-A177-3AD203B41FA5}">
                          <a16:colId xmlns:a16="http://schemas.microsoft.com/office/drawing/2014/main" val="1422293677"/>
                        </a:ext>
                      </a:extLst>
                    </a:gridCol>
                    <a:gridCol w="4478336">
                      <a:extLst>
                        <a:ext uri="{9D8B030D-6E8A-4147-A177-3AD203B41FA5}">
                          <a16:colId xmlns:a16="http://schemas.microsoft.com/office/drawing/2014/main" val="3347369500"/>
                        </a:ext>
                      </a:extLst>
                    </a:gridCol>
                    <a:gridCol w="1243684">
                      <a:extLst>
                        <a:ext uri="{9D8B030D-6E8A-4147-A177-3AD203B41FA5}">
                          <a16:colId xmlns:a16="http://schemas.microsoft.com/office/drawing/2014/main" val="813793737"/>
                        </a:ext>
                      </a:extLst>
                    </a:gridCol>
                  </a:tblGrid>
                  <a:tr h="454801">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Expression</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Visual Model Using Integer Chips</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tc>
                      <a:txBody>
                        <a:bodyPr/>
                        <a:lstStyle/>
                        <a:p>
                          <a:pPr marL="0" marR="0" algn="ctr">
                            <a:lnSpc>
                              <a:spcPct val="107000"/>
                            </a:lnSpc>
                            <a:spcBef>
                              <a:spcPts val="0"/>
                            </a:spcBef>
                            <a:spcAft>
                              <a:spcPts val="0"/>
                            </a:spcAft>
                          </a:pPr>
                          <a:r>
                            <a:rPr lang="en-US" sz="1800" b="1" dirty="0">
                              <a:effectLst/>
                              <a:latin typeface="Verdana" panose="020B0604030504040204" pitchFamily="34" charset="0"/>
                              <a:ea typeface="Verdana" panose="020B0604030504040204" pitchFamily="34" charset="0"/>
                              <a:cs typeface="Verdana" panose="020B0604030504040204" pitchFamily="34" charset="0"/>
                            </a:rPr>
                            <a:t>Product</a:t>
                          </a:r>
                          <a:endParaRPr lang="en-CO" sz="1600" b="1"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90000"/>
                          </a:schemeClr>
                        </a:solidFill>
                      </a:tcPr>
                    </a:tc>
                    <a:extLst>
                      <a:ext uri="{0D108BD9-81ED-4DB2-BD59-A6C34878D82A}">
                        <a16:rowId xmlns:a16="http://schemas.microsoft.com/office/drawing/2014/main" val="1205352957"/>
                      </a:ext>
                    </a:extLst>
                  </a:tr>
                  <a:tr h="159577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6" t="-28346" r="-365323" b="-100000"/>
                          </a:stretch>
                        </a:blip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41508921"/>
                      </a:ext>
                    </a:extLst>
                  </a:tr>
                  <a:tr h="159577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806" t="-129365" r="-365323" b="-794"/>
                          </a:stretch>
                        </a:blipFill>
                      </a:tcPr>
                    </a:tc>
                    <a:tc>
                      <a:txBody>
                        <a:bodyPr/>
                        <a:lstStyle/>
                        <a:p>
                          <a:pPr marL="0" marR="0" algn="ctr">
                            <a:lnSpc>
                              <a:spcPct val="107000"/>
                            </a:lnSpc>
                            <a:spcBef>
                              <a:spcPts val="0"/>
                            </a:spcBef>
                            <a:spcAft>
                              <a:spcPts val="0"/>
                            </a:spcAft>
                          </a:pPr>
                          <a:r>
                            <a:rPr lang="en-US" sz="1800">
                              <a:effectLst/>
                              <a:latin typeface="Verdana" panose="020B0604030504040204" pitchFamily="34" charset="0"/>
                              <a:ea typeface="Verdana" panose="020B0604030504040204" pitchFamily="34" charset="0"/>
                              <a:cs typeface="Verdana" panose="020B0604030504040204" pitchFamily="34" charset="0"/>
                            </a:rPr>
                            <a:t> </a:t>
                          </a:r>
                          <a:endParaRPr lang="en-CO" sz="1600" i="1">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latin typeface="Verdana" panose="020B0604030504040204" pitchFamily="34" charset="0"/>
                              <a:ea typeface="Verdana" panose="020B0604030504040204" pitchFamily="34" charset="0"/>
                              <a:cs typeface="Verdana" panose="020B0604030504040204" pitchFamily="34" charset="0"/>
                            </a:rPr>
                            <a:t> </a:t>
                          </a:r>
                          <a:endParaRPr lang="en-CO" sz="1600" i="1" dirty="0">
                            <a:effectLst/>
                            <a:latin typeface="Verdana" panose="020B0604030504040204" pitchFamily="34" charset="0"/>
                            <a:ea typeface="Verdana" panose="020B0604030504040204" pitchFamily="34" charset="0"/>
                            <a:cs typeface="Verdana" panose="020B0604030504040204" pitchFamily="34"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888013911"/>
                      </a:ext>
                    </a:extLst>
                  </a:tr>
                </a:tbl>
              </a:graphicData>
            </a:graphic>
          </p:graphicFrame>
        </mc:Fallback>
      </mc:AlternateContent>
    </p:spTree>
    <p:extLst>
      <p:ext uri="{BB962C8B-B14F-4D97-AF65-F5344CB8AC3E}">
        <p14:creationId xmlns:p14="http://schemas.microsoft.com/office/powerpoint/2010/main" val="30912846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2" name="Rectangle 1">
            <a:extLst>
              <a:ext uri="{FF2B5EF4-FFF2-40B4-BE49-F238E27FC236}">
                <a16:creationId xmlns="" xmlns:a16="http://schemas.microsoft.com/office/drawing/2014/main" id="{A66A031F-2EC8-DF4C-B3F5-E7AC5B8F3239}"/>
              </a:ext>
            </a:extLst>
          </p:cNvPr>
          <p:cNvSpPr/>
          <p:nvPr/>
        </p:nvSpPr>
        <p:spPr>
          <a:xfrm>
            <a:off x="905256" y="909547"/>
            <a:ext cx="8526780" cy="830997"/>
          </a:xfrm>
          <a:prstGeom prst="rect">
            <a:avLst/>
          </a:prstGeom>
        </p:spPr>
        <p:txBody>
          <a:bodyPr wrap="square">
            <a:spAutoFit/>
          </a:bodyPr>
          <a:lstStyle/>
          <a:p>
            <a:pPr marL="468313" indent="-457200">
              <a:buSzPct val="1000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Complete each rule by drawing the sign of the product as an integer chip.</a:t>
            </a:r>
          </a:p>
        </p:txBody>
      </p:sp>
      <p:sp>
        <p:nvSpPr>
          <p:cNvPr id="13" name="Google Shape;282;g104476d1465_1_17">
            <a:extLst>
              <a:ext uri="{FF2B5EF4-FFF2-40B4-BE49-F238E27FC236}">
                <a16:creationId xmlns="" xmlns:a16="http://schemas.microsoft.com/office/drawing/2014/main" id="{38A626CB-082C-DB4E-B059-328DCC8AD138}"/>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51</a:t>
            </a:r>
            <a:endParaRPr i="1" dirty="0">
              <a:latin typeface="Calibri"/>
              <a:ea typeface="Calibri"/>
              <a:cs typeface="Calibri"/>
              <a:sym typeface="Calibri"/>
            </a:endParaRPr>
          </a:p>
        </p:txBody>
      </p:sp>
      <p:pic>
        <p:nvPicPr>
          <p:cNvPr id="5" name="Picture 4" descr="Shape&#10;&#10;Description automatically generated">
            <a:extLst>
              <a:ext uri="{FF2B5EF4-FFF2-40B4-BE49-F238E27FC236}">
                <a16:creationId xmlns="" xmlns:a16="http://schemas.microsoft.com/office/drawing/2014/main" id="{E167B336-7519-3D44-ADFE-0D6675118A0C}"/>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3920664" y="2332592"/>
            <a:ext cx="4350673" cy="2702039"/>
          </a:xfrm>
          <a:prstGeom prst="rect">
            <a:avLst/>
          </a:prstGeom>
        </p:spPr>
      </p:pic>
    </p:spTree>
    <p:extLst>
      <p:ext uri="{BB962C8B-B14F-4D97-AF65-F5344CB8AC3E}">
        <p14:creationId xmlns:p14="http://schemas.microsoft.com/office/powerpoint/2010/main" val="264513146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4215384" y="2770632"/>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 xmlns:a16="http://schemas.microsoft.com/office/drawing/2014/main" id="{DE95225C-59B5-E847-AFA2-B83DCFFA10D8}"/>
              </a:ext>
            </a:extLst>
          </p:cNvPr>
          <p:cNvPicPr preferRelativeResize="0"/>
          <p:nvPr/>
        </p:nvPicPr>
        <p:blipFill rotWithShape="1">
          <a:blip r:embed="rId4">
            <a:alphaModFix/>
          </a:blip>
          <a:srcRect/>
          <a:stretch/>
        </p:blipFill>
        <p:spPr>
          <a:xfrm>
            <a:off x="3054096" y="285292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 xmlns:a16="http://schemas.microsoft.com/office/drawing/2014/main" id="{ABBAE5D4-A013-554B-AF18-FD3C50BA4B04}"/>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51</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14BAAA"/>
          </a:solidFill>
          <a:ln w="9525" cap="flat" cmpd="sng">
            <a:solidFill>
              <a:srgbClr val="14BAAA"/>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0584" y="6199632"/>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 xmlns:a16="http://schemas.microsoft.com/office/drawing/2014/main" id="{68C03D65-F0BF-3F41-B52A-024F47388982}"/>
              </a:ext>
            </a:extLst>
          </p:cNvPr>
          <p:cNvSpPr txBox="1">
            <a:spLocks/>
          </p:cNvSpPr>
          <p:nvPr/>
        </p:nvSpPr>
        <p:spPr>
          <a:xfrm>
            <a:off x="1106424" y="91440"/>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2800" b="1" dirty="0">
                <a:solidFill>
                  <a:srgbClr val="3F2A67"/>
                </a:solidFill>
                <a:latin typeface="Verdana"/>
                <a:ea typeface="Verdana"/>
                <a:cs typeface="Verdana"/>
                <a:sym typeface="Verdana"/>
              </a:rPr>
              <a:t>7.10.8 Wrap-Up: Cool Down</a:t>
            </a:r>
          </a:p>
        </p:txBody>
      </p:sp>
      <p:pic>
        <p:nvPicPr>
          <p:cNvPr id="9" name="Google Shape;458;g103996e1364_0_463">
            <a:extLst>
              <a:ext uri="{FF2B5EF4-FFF2-40B4-BE49-F238E27FC236}">
                <a16:creationId xmlns="" xmlns:a16="http://schemas.microsoft.com/office/drawing/2014/main" id="{EEA44D6C-2366-AC41-B1B5-EDDC34786A66}"/>
              </a:ext>
            </a:extLst>
          </p:cNvPr>
          <p:cNvPicPr preferRelativeResize="0"/>
          <p:nvPr/>
        </p:nvPicPr>
        <p:blipFill rotWithShape="1">
          <a:blip r:embed="rId4">
            <a:alphaModFix/>
          </a:blip>
          <a:srcRect/>
          <a:stretch/>
        </p:blipFill>
        <p:spPr>
          <a:xfrm>
            <a:off x="356616" y="201168"/>
            <a:ext cx="747300" cy="747300"/>
          </a:xfrm>
          <a:prstGeom prst="rect">
            <a:avLst/>
          </a:prstGeom>
          <a:noFill/>
          <a:ln>
            <a:noFill/>
          </a:ln>
          <a:effectLst>
            <a:outerShdw blurRad="50800" dist="38100" dir="2700000" algn="tl" rotWithShape="0">
              <a:prstClr val="black">
                <a:alpha val="40000"/>
              </a:prstClr>
            </a:outerShdw>
          </a:effectLst>
        </p:spPr>
      </p:pic>
      <p:sp>
        <p:nvSpPr>
          <p:cNvPr id="2" name="Rectangle 1">
            <a:extLst>
              <a:ext uri="{FF2B5EF4-FFF2-40B4-BE49-F238E27FC236}">
                <a16:creationId xmlns="" xmlns:a16="http://schemas.microsoft.com/office/drawing/2014/main" id="{50A85065-1747-6C4E-8BA4-9C1ED8A185A6}"/>
              </a:ext>
            </a:extLst>
          </p:cNvPr>
          <p:cNvSpPr/>
          <p:nvPr/>
        </p:nvSpPr>
        <p:spPr>
          <a:xfrm>
            <a:off x="905256" y="1140260"/>
            <a:ext cx="8422610" cy="830997"/>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Complete each rule by drawing the sign of the product as an integer chip.</a:t>
            </a:r>
          </a:p>
        </p:txBody>
      </p:sp>
      <p:sp>
        <p:nvSpPr>
          <p:cNvPr id="11" name="Google Shape;282;g104476d1465_1_17">
            <a:extLst>
              <a:ext uri="{FF2B5EF4-FFF2-40B4-BE49-F238E27FC236}">
                <a16:creationId xmlns="" xmlns:a16="http://schemas.microsoft.com/office/drawing/2014/main" id="{D20425D2-BFDA-974E-9037-009E6465CCF0}"/>
              </a:ext>
            </a:extLst>
          </p:cNvPr>
          <p:cNvSpPr txBox="1"/>
          <p:nvPr/>
        </p:nvSpPr>
        <p:spPr>
          <a:xfrm>
            <a:off x="8897112"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51</a:t>
            </a:r>
            <a:endParaRPr i="1" dirty="0">
              <a:latin typeface="Calibri"/>
              <a:ea typeface="Calibri"/>
              <a:cs typeface="Calibri"/>
              <a:sym typeface="Calibri"/>
            </a:endParaRPr>
          </a:p>
        </p:txBody>
      </p:sp>
      <p:pic>
        <p:nvPicPr>
          <p:cNvPr id="5" name="Picture 4" descr="Shape, polygon&#10;&#10;Description automatically generated">
            <a:extLst>
              <a:ext uri="{FF2B5EF4-FFF2-40B4-BE49-F238E27FC236}">
                <a16:creationId xmlns="" xmlns:a16="http://schemas.microsoft.com/office/drawing/2014/main" id="{47F46266-7C20-AD41-B5B1-0BB7485AD92C}"/>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127550" y="2183367"/>
            <a:ext cx="3936900" cy="4215198"/>
          </a:xfrm>
          <a:prstGeom prst="rect">
            <a:avLst/>
          </a:prstGeom>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20F1AB6-7E1E-44BA-97B2-C8336E9F3F9B}">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2.xml><?xml version="1.0" encoding="utf-8"?>
<ds:datastoreItem xmlns:ds="http://schemas.openxmlformats.org/officeDocument/2006/customXml" ds:itemID="{DD927666-506F-47CC-BCAC-672E03B41D23}">
  <ds:schemaRefs>
    <ds:schemaRef ds:uri="http://schemas.microsoft.com/sharepoint/v3/contenttype/forms"/>
  </ds:schemaRefs>
</ds:datastoreItem>
</file>

<file path=customXml/itemProps3.xml><?xml version="1.0" encoding="utf-8"?>
<ds:datastoreItem xmlns:ds="http://schemas.openxmlformats.org/officeDocument/2006/customXml" ds:itemID="{AB6C2BE2-9912-402A-8C93-997C093160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1451</TotalTime>
  <Words>1007</Words>
  <Application>Microsoft Office PowerPoint</Application>
  <PresentationFormat>Custom</PresentationFormat>
  <Paragraphs>199</Paragraphs>
  <Slides>28</Slides>
  <Notes>28</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28</vt:i4>
      </vt:variant>
    </vt:vector>
  </HeadingPairs>
  <TitlesOfParts>
    <vt:vector size="38" baseType="lpstr">
      <vt:lpstr>Arial</vt:lpstr>
      <vt:lpstr>Wingdings</vt:lpstr>
      <vt:lpstr>Cambria Math</vt:lpstr>
      <vt:lpstr>Arial Black</vt:lpstr>
      <vt:lpstr>Verdana</vt:lpstr>
      <vt:lpstr>Cutive</vt:lpstr>
      <vt:lpstr>Calibri</vt:lpstr>
      <vt:lpstr>Times New Roman</vt:lpstr>
      <vt:lpstr>Century Gothic</vt:lpstr>
      <vt:lpstr>1_Office Theme</vt:lpstr>
      <vt:lpstr>6th Grade Math  Unit 7, Lesson 10  Multiplying Integers Using Integer Chips  Volume 2, pg. 47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PowerPoint Presentation</vt:lpstr>
      <vt:lpstr>Collaboration</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PowerPoint Presentation</vt:lpstr>
      <vt:lpstr>PowerPoint Presentation</vt:lpstr>
      <vt:lpstr>PowerPoint Presentation</vt:lpstr>
      <vt:lpstr>Try It</vt:lpstr>
      <vt:lpstr>PowerPoint Presentation</vt:lpstr>
      <vt:lpstr>PowerPoint Presentation</vt:lpstr>
      <vt:lpstr>Wrap-Up</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Sensei</cp:lastModifiedBy>
  <cp:revision>28</cp:revision>
  <dcterms:created xsi:type="dcterms:W3CDTF">2015-03-17T18:51:18Z</dcterms:created>
  <dcterms:modified xsi:type="dcterms:W3CDTF">2023-07-06T08:26:48Z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