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7"/>
  </p:notesMasterIdLst>
  <p:sldIdLst>
    <p:sldId id="256" r:id="rId5"/>
    <p:sldId id="257" r:id="rId6"/>
    <p:sldId id="285" r:id="rId7"/>
    <p:sldId id="286" r:id="rId8"/>
    <p:sldId id="261" r:id="rId9"/>
    <p:sldId id="287" r:id="rId10"/>
    <p:sldId id="342" r:id="rId11"/>
    <p:sldId id="343" r:id="rId12"/>
    <p:sldId id="344" r:id="rId13"/>
    <p:sldId id="352" r:id="rId14"/>
    <p:sldId id="353" r:id="rId15"/>
    <p:sldId id="302" r:id="rId16"/>
    <p:sldId id="303" r:id="rId17"/>
    <p:sldId id="340" r:id="rId18"/>
    <p:sldId id="356" r:id="rId19"/>
    <p:sldId id="357" r:id="rId20"/>
    <p:sldId id="358" r:id="rId21"/>
    <p:sldId id="359" r:id="rId22"/>
    <p:sldId id="311" r:id="rId23"/>
    <p:sldId id="312" r:id="rId24"/>
    <p:sldId id="306" r:id="rId25"/>
    <p:sldId id="307" r:id="rId26"/>
  </p:sldIdLst>
  <p:sldSz cx="12192000" cy="6858000"/>
  <p:notesSz cx="6858000" cy="9144000"/>
  <p:embeddedFontLst>
    <p:embeddedFont>
      <p:font typeface="Cambria Math" pitchFamily="18" charset="0"/>
      <p:regular r:id="rId28"/>
    </p:embeddedFont>
    <p:embeddedFont>
      <p:font typeface="Cambria" pitchFamily="18" charset="0"/>
      <p:regular r:id="rId29"/>
      <p:bold r:id="rId30"/>
      <p:italic r:id="rId31"/>
      <p:boldItalic r:id="rId32"/>
    </p:embeddedFont>
    <p:embeddedFont>
      <p:font typeface="Arial Black" pitchFamily="34" charset="0"/>
      <p:bold r:id="rId33"/>
    </p:embeddedFont>
    <p:embeddedFont>
      <p:font typeface="Verdana" pitchFamily="34" charset="0"/>
      <p:regular r:id="rId34"/>
      <p:bold r:id="rId35"/>
      <p:italic r:id="rId36"/>
      <p:boldItalic r:id="rId37"/>
    </p:embeddedFont>
    <p:embeddedFont>
      <p:font typeface="Calibri" pitchFamily="34" charset="0"/>
      <p:regular r:id="rId38"/>
      <p:bold r:id="rId39"/>
      <p:italic r:id="rId40"/>
      <p:boldItalic r:id="rId41"/>
    </p:embeddedFont>
    <p:embeddedFont>
      <p:font typeface="Century Gothic"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BAAA"/>
    <a:srgbClr val="26B7D4"/>
    <a:srgbClr val="E24E5F"/>
    <a:srgbClr val="52BDA6"/>
    <a:srgbClr val="276C46"/>
    <a:srgbClr val="C9DF6F"/>
    <a:srgbClr val="417DBF"/>
    <a:srgbClr val="3F2A67"/>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62"/>
    <p:restoredTop sz="94722"/>
  </p:normalViewPr>
  <p:slideViewPr>
    <p:cSldViewPr snapToGrid="0">
      <p:cViewPr>
        <p:scale>
          <a:sx n="117" d="100"/>
          <a:sy n="117" d="100"/>
        </p:scale>
        <p:origin x="-11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2.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7.fntdata"/><Relationship Id="rId42"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6.fntdata"/><Relationship Id="rId38" Type="http://schemas.openxmlformats.org/officeDocument/2006/relationships/font" Target="fonts/font11.fntdata"/><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41" Type="http://schemas.openxmlformats.org/officeDocument/2006/relationships/font" Target="fonts/font1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5271598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18814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962758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36842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43301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514745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12684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7926217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3826245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80196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tiff"/><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tiff"/></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50.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6.tiff"/><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7.tiff"/><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0.png"/><Relationship Id="rId7" Type="http://schemas.openxmlformats.org/officeDocument/2006/relationships/image" Target="../media/image33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8</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Subtracting Integers Using Number Lines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solidFill>
                <a:srgbClr val="26B7D4"/>
              </a:solidFill>
            </a:endParaRPr>
          </a:p>
        </p:txBody>
      </p:sp>
      <p:sp>
        <p:nvSpPr>
          <p:cNvPr id="279" name="Google Shape;279;g104476d1465_1_17"/>
          <p:cNvSpPr txBox="1">
            <a:spLocks noGrp="1"/>
          </p:cNvSpPr>
          <p:nvPr>
            <p:ph type="title" idx="4294967295"/>
          </p:nvPr>
        </p:nvSpPr>
        <p:spPr>
          <a:xfrm>
            <a:off x="123444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905256" y="1600200"/>
            <a:ext cx="11055927"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MA.6.NSO.4.1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Apply and extend previous understandings of operations with whole numbers to add and subtract integers with procedural fluency.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06423" y="0"/>
            <a:ext cx="1050368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905255" y="1596390"/>
            <a:ext cx="1081568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
        <p:nvSpPr>
          <p:cNvPr id="9" name="Google Shape;282;g104476d1465_1_17">
            <a:extLst>
              <a:ext uri="{FF2B5EF4-FFF2-40B4-BE49-F238E27FC236}">
                <a16:creationId xmlns:a16="http://schemas.microsoft.com/office/drawing/2014/main" xmlns="" id="{AC0AE969-0A27-9545-AB11-BBE5491801C1}"/>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38</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6424"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905256" y="1642255"/>
            <a:ext cx="10413908" cy="388570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subtract integers using a number line.</a:t>
            </a:r>
          </a:p>
          <a:p>
            <a:pPr marL="285750" indent="-28575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use number lines to understand how the rules for adding integers are related to the rules for subtracting integers.</a:t>
            </a:r>
          </a:p>
        </p:txBody>
      </p:sp>
      <p:sp>
        <p:nvSpPr>
          <p:cNvPr id="8" name="Google Shape;282;g104476d1465_1_17">
            <a:extLst>
              <a:ext uri="{FF2B5EF4-FFF2-40B4-BE49-F238E27FC236}">
                <a16:creationId xmlns:a16="http://schemas.microsoft.com/office/drawing/2014/main" xmlns="" id="{AE0319DD-E1E2-064E-A3C0-1ADADEA7DC7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38</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70632"/>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06503EB0-E904-7143-BA20-369F935837E3}"/>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38</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642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7.8.1 Warm-Up: Bell Work</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079F083F-A67E-0047-8E64-5125815AF3D8}"/>
                  </a:ext>
                </a:extLst>
              </p:cNvPr>
              <p:cNvSpPr/>
              <p:nvPr/>
            </p:nvSpPr>
            <p:spPr>
              <a:xfrm>
                <a:off x="905256" y="1700653"/>
                <a:ext cx="10413908" cy="156966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Draw integer chips that represent the expression below and evaluate.</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7−(−3)</m:t>
                      </m:r>
                    </m:oMath>
                  </m:oMathPara>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3" name="Rectangle 2">
                <a:extLst>
                  <a:ext uri="{FF2B5EF4-FFF2-40B4-BE49-F238E27FC236}">
                    <a16:creationId xmlns:a16="http://schemas.microsoft.com/office/drawing/2014/main" id="{079F083F-A67E-0047-8E64-5125815AF3D8}"/>
                  </a:ext>
                </a:extLst>
              </p:cNvPr>
              <p:cNvSpPr>
                <a:spLocks noRot="1" noChangeAspect="1" noMove="1" noResize="1" noEditPoints="1" noAdjustHandles="1" noChangeArrowheads="1" noChangeShapeType="1" noTextEdit="1"/>
              </p:cNvSpPr>
              <p:nvPr/>
            </p:nvSpPr>
            <p:spPr>
              <a:xfrm>
                <a:off x="905256" y="1700653"/>
                <a:ext cx="10413908" cy="1569660"/>
              </a:xfrm>
              <a:prstGeom prst="rect">
                <a:avLst/>
              </a:prstGeom>
              <a:blipFill>
                <a:blip r:embed="rId5"/>
                <a:stretch>
                  <a:fillRect l="-974" t="-2400" b="-4800"/>
                </a:stretch>
              </a:blipFill>
            </p:spPr>
            <p:txBody>
              <a:bodyPr/>
              <a:lstStyle/>
              <a:p>
                <a:r>
                  <a:rPr lang="en-US">
                    <a:noFill/>
                  </a:rPr>
                  <a:t> </a:t>
                </a:r>
              </a:p>
            </p:txBody>
          </p:sp>
        </mc:Fallback>
      </mc:AlternateContent>
      <p:sp>
        <p:nvSpPr>
          <p:cNvPr id="18" name="Google Shape;282;g104476d1465_1_17">
            <a:extLst>
              <a:ext uri="{FF2B5EF4-FFF2-40B4-BE49-F238E27FC236}">
                <a16:creationId xmlns:a16="http://schemas.microsoft.com/office/drawing/2014/main" xmlns="" id="{570FC961-D801-0C4E-8D4A-AEC23A74C9C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38</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39</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xmlns="" id="{C031FE84-D423-CC4C-831E-2D526CB9114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733" cy="115673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39353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06424" y="0"/>
            <a:ext cx="1042055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7.8.2 Guided Instruction: Subtracting Integers Using a Number Line</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B2BE9AFC-D858-8947-AE27-3738478587E3}"/>
                  </a:ext>
                </a:extLst>
              </p:cNvPr>
              <p:cNvSpPr/>
              <p:nvPr/>
            </p:nvSpPr>
            <p:spPr>
              <a:xfrm>
                <a:off x="905256" y="1331162"/>
                <a:ext cx="8581650" cy="646331"/>
              </a:xfrm>
              <a:prstGeom prst="rect">
                <a:avLst/>
              </a:prstGeom>
            </p:spPr>
            <p:txBody>
              <a:bodyPr wrap="square">
                <a:spAutoFit/>
              </a:bodyPr>
              <a:lstStyle/>
              <a:p>
                <a:pPr marL="457200" indent="-4572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The temperature in degrees Fahrenheit (℉) of a city in Alaska was </a:t>
                </a:r>
                <a14:m>
                  <m:oMath xmlns:m="http://schemas.openxmlformats.org/officeDocument/2006/math">
                    <m:sPre>
                      <m:sPrePr>
                        <m:ctrlPr>
                          <a:rPr lang="en-US" sz="1800" i="1" dirty="0">
                            <a:latin typeface="Cambria Math"/>
                            <a:ea typeface="Verdana" panose="020B0604030504040204" pitchFamily="34" charset="0"/>
                            <a:cs typeface="Verdana" panose="020B0604030504040204" pitchFamily="34" charset="0"/>
                          </a:rPr>
                        </m:ctrlPr>
                      </m:sPrePr>
                      <m:sub/>
                      <m:sup>
                        <m:r>
                          <a:rPr lang="es-ES" sz="1800" i="1" dirty="0">
                            <a:latin typeface="Cambria Math" panose="02040503050406030204" pitchFamily="18" charset="0"/>
                            <a:ea typeface="Verdana" panose="020B0604030504040204" pitchFamily="34" charset="0"/>
                            <a:cs typeface="Verdana" panose="020B0604030504040204" pitchFamily="34" charset="0"/>
                          </a:rPr>
                          <m:t>−</m:t>
                        </m:r>
                      </m:sup>
                      <m:e>
                        <m:r>
                          <a:rPr lang="es-ES" sz="1800" i="1" dirty="0">
                            <a:latin typeface="Cambria Math" panose="02040503050406030204" pitchFamily="18" charset="0"/>
                            <a:ea typeface="Verdana" panose="020B0604030504040204" pitchFamily="34" charset="0"/>
                            <a:cs typeface="Verdana" panose="020B0604030504040204" pitchFamily="34" charset="0"/>
                          </a:rPr>
                          <m:t>4</m:t>
                        </m:r>
                      </m:e>
                    </m:sPre>
                    <m:r>
                      <a:rPr lang="en-US" sz="1800" i="1" dirty="0">
                        <a:latin typeface="Cambria Math" panose="02040503050406030204" pitchFamily="18" charset="0"/>
                        <a:ea typeface="Verdana" panose="020B0604030504040204" pitchFamily="34" charset="0"/>
                        <a:cs typeface="Verdana" panose="020B0604030504040204" pitchFamily="34" charset="0"/>
                      </a:rPr>
                      <m:t>℉</m:t>
                    </m:r>
                  </m:oMath>
                </a14:m>
                <a:r>
                  <a:rPr lang="en-US" sz="1800" dirty="0">
                    <a:latin typeface="Verdana" panose="020B0604030504040204" pitchFamily="34" charset="0"/>
                    <a:ea typeface="Verdana" panose="020B0604030504040204" pitchFamily="34" charset="0"/>
                    <a:cs typeface="Verdana" panose="020B0604030504040204" pitchFamily="34" charset="0"/>
                  </a:rPr>
                  <a:t>. After sunset, the temperature dropped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6℉</m:t>
                    </m:r>
                  </m:oMath>
                </a14:m>
                <a:r>
                  <a:rPr lang="en-US" sz="18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 name="Rectangle 1">
                <a:extLst>
                  <a:ext uri="{FF2B5EF4-FFF2-40B4-BE49-F238E27FC236}">
                    <a16:creationId xmlns:a16="http://schemas.microsoft.com/office/drawing/2014/main" id="{B2BE9AFC-D858-8947-AE27-3738478587E3}"/>
                  </a:ext>
                </a:extLst>
              </p:cNvPr>
              <p:cNvSpPr>
                <a:spLocks noRot="1" noChangeAspect="1" noMove="1" noResize="1" noEditPoints="1" noAdjustHandles="1" noChangeArrowheads="1" noChangeShapeType="1" noTextEdit="1"/>
              </p:cNvSpPr>
              <p:nvPr/>
            </p:nvSpPr>
            <p:spPr>
              <a:xfrm>
                <a:off x="905256" y="1331162"/>
                <a:ext cx="8581650" cy="646331"/>
              </a:xfrm>
              <a:prstGeom prst="rect">
                <a:avLst/>
              </a:prstGeom>
              <a:blipFill>
                <a:blip r:embed="rId4"/>
                <a:stretch>
                  <a:fillRect l="-592" t="-5769" b="-13462"/>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39</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xmlns=""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2" name="Picture 11" descr="Icon&#10;&#10;Description automatically generated">
            <a:extLst>
              <a:ext uri="{FF2B5EF4-FFF2-40B4-BE49-F238E27FC236}">
                <a16:creationId xmlns:a16="http://schemas.microsoft.com/office/drawing/2014/main" xmlns="" id="{C6C9C2DF-E989-BB45-9CB6-957F2793000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sp>
        <p:nvSpPr>
          <p:cNvPr id="9" name="Rectangle 8">
            <a:extLst>
              <a:ext uri="{FF2B5EF4-FFF2-40B4-BE49-F238E27FC236}">
                <a16:creationId xmlns:a16="http://schemas.microsoft.com/office/drawing/2014/main" xmlns="" id="{B6783B34-3D09-8246-99A3-6B0D50852952}"/>
              </a:ext>
            </a:extLst>
          </p:cNvPr>
          <p:cNvSpPr/>
          <p:nvPr/>
        </p:nvSpPr>
        <p:spPr>
          <a:xfrm>
            <a:off x="2083968" y="2360187"/>
            <a:ext cx="4407441" cy="3416320"/>
          </a:xfrm>
          <a:prstGeom prst="rect">
            <a:avLst/>
          </a:prstGeom>
        </p:spPr>
        <p:txBody>
          <a:bodyPr wrap="square">
            <a:spAutoFit/>
          </a:bodyPr>
          <a:lstStyle/>
          <a:p>
            <a:pPr marL="457200" indent="-4572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Represent the change in temperature on the number line.</a:t>
            </a:r>
          </a:p>
          <a:p>
            <a:pPr marL="457200" indent="-4572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Write the subtraction number sentence that is represented from the context and on the number line.  </a:t>
            </a:r>
          </a:p>
          <a:p>
            <a:pPr marL="457200" indent="-4572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After the decrease in temperature, what was the temperature?</a:t>
            </a:r>
          </a:p>
        </p:txBody>
      </p:sp>
      <p:pic>
        <p:nvPicPr>
          <p:cNvPr id="13" name="Picture 12" descr="Table&#10;&#10;Description automatically generated">
            <a:extLst>
              <a:ext uri="{FF2B5EF4-FFF2-40B4-BE49-F238E27FC236}">
                <a16:creationId xmlns:a16="http://schemas.microsoft.com/office/drawing/2014/main" xmlns="" id="{E1108599-80EB-7549-87A3-64C9290AFFD4}"/>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47848" t="1454" r="33676" b="-1454"/>
          <a:stretch/>
        </p:blipFill>
        <p:spPr bwMode="auto">
          <a:xfrm>
            <a:off x="7068842" y="2121921"/>
            <a:ext cx="1283335" cy="44456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94801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905256" y="389994"/>
                <a:ext cx="8549640" cy="4708981"/>
              </a:xfrm>
              <a:prstGeom prst="rect">
                <a:avLst/>
              </a:prstGeom>
            </p:spPr>
            <p:txBody>
              <a:bodyPr wrap="square">
                <a:spAutoFit/>
              </a:bodyPr>
              <a:lstStyle/>
              <a:p>
                <a:pPr marL="457200" indent="-457200">
                  <a:buFont typeface="+mj-lt"/>
                  <a:buAutoNum type="alphaL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Represent the temperature change using integer chips to verify the solution.</a:t>
                </a:r>
              </a:p>
              <a:p>
                <a:pPr marL="457200" indent="-457200">
                  <a:buFont typeface="+mj-lt"/>
                  <a:buAutoNum type="alphaL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statements to explain how to represent subtraction on a horizontal number line.</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To find the difference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−9−(−30)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start by plotting </a:t>
                </a: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on the number line first.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05256" y="389994"/>
                <a:ext cx="8549640" cy="4708981"/>
              </a:xfrm>
              <a:prstGeom prst="rect">
                <a:avLst/>
              </a:prstGeom>
              <a:blipFill>
                <a:blip r:embed="rId4"/>
                <a:stretch>
                  <a:fillRect l="-742" t="-806"/>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39</a:t>
            </a:r>
            <a:endParaRPr i="1" dirty="0">
              <a:latin typeface="Calibri"/>
              <a:ea typeface="Calibri"/>
              <a:cs typeface="Calibri"/>
              <a:sym typeface="Calibri"/>
            </a:endParaRPr>
          </a:p>
        </p:txBody>
      </p:sp>
      <p:pic>
        <p:nvPicPr>
          <p:cNvPr id="5" name="Picture 4" descr="Shape&#10;&#10;Description automatically generated with low confidence">
            <a:extLst>
              <a:ext uri="{FF2B5EF4-FFF2-40B4-BE49-F238E27FC236}">
                <a16:creationId xmlns:a16="http://schemas.microsoft.com/office/drawing/2014/main" xmlns="" id="{31A67E9F-9E23-2C46-B4B3-4AFEA75DB5E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45462" y="3905758"/>
            <a:ext cx="1008868" cy="1522880"/>
          </a:xfrm>
          <a:prstGeom prst="rect">
            <a:avLst/>
          </a:prstGeom>
        </p:spPr>
      </p:pic>
    </p:spTree>
    <p:extLst>
      <p:ext uri="{BB962C8B-B14F-4D97-AF65-F5344CB8AC3E}">
        <p14:creationId xmlns:p14="http://schemas.microsoft.com/office/powerpoint/2010/main" val="2153346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905255" y="389994"/>
                <a:ext cx="10358489" cy="6001643"/>
              </a:xfrm>
              <a:prstGeom prst="rect">
                <a:avLst/>
              </a:prstGeom>
            </p:spPr>
            <p:txBody>
              <a:bodyPr wrap="square">
                <a:spAutoFit/>
              </a:bodyPr>
              <a:lstStyle/>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The subtraction sign indicates moving to the </a:t>
                </a: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on the number line, but it is followed by a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negative sign with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which requires moving in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the opposite direction.</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12700" indent="-127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 Therefore, the answer will be found by moving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units to the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on the number</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line.</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05255" y="389994"/>
                <a:ext cx="10358489" cy="6001643"/>
              </a:xfrm>
              <a:prstGeom prst="rect">
                <a:avLst/>
              </a:prstGeom>
              <a:blipFill>
                <a:blip r:embed="rId4"/>
                <a:stretch>
                  <a:fillRect l="-979" t="-844"/>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39</a:t>
            </a:r>
            <a:endParaRPr i="1" dirty="0">
              <a:latin typeface="Calibri"/>
              <a:ea typeface="Calibri"/>
              <a:cs typeface="Calibri"/>
              <a:sym typeface="Calibri"/>
            </a:endParaRPr>
          </a:p>
        </p:txBody>
      </p:sp>
      <p:pic>
        <p:nvPicPr>
          <p:cNvPr id="4" name="Picture 3" descr="A picture containing shape&#10;&#10;Description automatically generated">
            <a:extLst>
              <a:ext uri="{FF2B5EF4-FFF2-40B4-BE49-F238E27FC236}">
                <a16:creationId xmlns:a16="http://schemas.microsoft.com/office/drawing/2014/main" xmlns="" id="{AD6DFE40-C201-264E-B866-C60BDFFDD6A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4618" y="875372"/>
            <a:ext cx="1329885" cy="951379"/>
          </a:xfrm>
          <a:prstGeom prst="rect">
            <a:avLst/>
          </a:prstGeom>
        </p:spPr>
      </p:pic>
      <p:pic>
        <p:nvPicPr>
          <p:cNvPr id="6" name="Picture 5" descr="Shape, rectangle&#10;&#10;Description automatically generated">
            <a:extLst>
              <a:ext uri="{FF2B5EF4-FFF2-40B4-BE49-F238E27FC236}">
                <a16:creationId xmlns:a16="http://schemas.microsoft.com/office/drawing/2014/main" xmlns="" id="{84A3592D-38EE-DE47-95C5-05A3B34EF8C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274618" y="4253376"/>
            <a:ext cx="913003" cy="899001"/>
          </a:xfrm>
          <a:prstGeom prst="rect">
            <a:avLst/>
          </a:prstGeom>
        </p:spPr>
      </p:pic>
      <p:pic>
        <p:nvPicPr>
          <p:cNvPr id="11" name="Picture 10" descr="A picture containing shape&#10;&#10;Description automatically generated">
            <a:extLst>
              <a:ext uri="{FF2B5EF4-FFF2-40B4-BE49-F238E27FC236}">
                <a16:creationId xmlns:a16="http://schemas.microsoft.com/office/drawing/2014/main" xmlns="" id="{0721F99B-F7F0-4A42-B0BA-902EDA74652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167570" y="4253376"/>
            <a:ext cx="1329885" cy="951379"/>
          </a:xfrm>
          <a:prstGeom prst="rect">
            <a:avLst/>
          </a:prstGeom>
        </p:spPr>
      </p:pic>
    </p:spTree>
    <p:extLst>
      <p:ext uri="{BB962C8B-B14F-4D97-AF65-F5344CB8AC3E}">
        <p14:creationId xmlns:p14="http://schemas.microsoft.com/office/powerpoint/2010/main" val="370816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05256" y="389994"/>
            <a:ext cx="8549640" cy="461665"/>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Show the subtraction on the number line below.  </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39</a:t>
            </a:r>
            <a:endParaRPr i="1" dirty="0">
              <a:latin typeface="Calibri"/>
              <a:ea typeface="Calibri"/>
              <a:cs typeface="Calibri"/>
              <a:sym typeface="Calibri"/>
            </a:endParaRPr>
          </a:p>
        </p:txBody>
      </p:sp>
      <p:pic>
        <p:nvPicPr>
          <p:cNvPr id="14" name="Picture 13" descr="A picture containing chart&#10;&#10;Description automatically generated">
            <a:extLst>
              <a:ext uri="{FF2B5EF4-FFF2-40B4-BE49-F238E27FC236}">
                <a16:creationId xmlns:a16="http://schemas.microsoft.com/office/drawing/2014/main" xmlns="" id="{5DA91D0B-4AB2-B349-B2FA-E90D59966747}"/>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31037" b="46357"/>
          <a:stretch/>
        </p:blipFill>
        <p:spPr bwMode="auto">
          <a:xfrm>
            <a:off x="1706308" y="1676255"/>
            <a:ext cx="6947535" cy="69215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xmlns="" id="{1CE48886-72BA-C342-B155-1743C4F7C1B5}"/>
                  </a:ext>
                </a:extLst>
              </p:cNvPr>
              <p:cNvSpPr/>
              <p:nvPr/>
            </p:nvSpPr>
            <p:spPr>
              <a:xfrm>
                <a:off x="1706308" y="3193001"/>
                <a:ext cx="7990915" cy="46166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difference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−9−(−30)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_______.</a:t>
                </a:r>
              </a:p>
            </p:txBody>
          </p:sp>
        </mc:Choice>
        <mc:Fallback xmlns="">
          <p:sp>
            <p:nvSpPr>
              <p:cNvPr id="15" name="Rectangle 14">
                <a:extLst>
                  <a:ext uri="{FF2B5EF4-FFF2-40B4-BE49-F238E27FC236}">
                    <a16:creationId xmlns:a16="http://schemas.microsoft.com/office/drawing/2014/main" id="{1CE48886-72BA-C342-B155-1743C4F7C1B5}"/>
                  </a:ext>
                </a:extLst>
              </p:cNvPr>
              <p:cNvSpPr>
                <a:spLocks noRot="1" noChangeAspect="1" noMove="1" noResize="1" noEditPoints="1" noAdjustHandles="1" noChangeArrowheads="1" noChangeShapeType="1" noTextEdit="1"/>
              </p:cNvSpPr>
              <p:nvPr/>
            </p:nvSpPr>
            <p:spPr>
              <a:xfrm>
                <a:off x="1706308" y="3193001"/>
                <a:ext cx="7990915" cy="461665"/>
              </a:xfrm>
              <a:prstGeom prst="rect">
                <a:avLst/>
              </a:prstGeom>
              <a:blipFill>
                <a:blip r:embed="rId5"/>
                <a:stretch>
                  <a:fillRect l="-1270" t="-10811" b="-29730"/>
                </a:stretch>
              </a:blipFill>
            </p:spPr>
            <p:txBody>
              <a:bodyPr/>
              <a:lstStyle/>
              <a:p>
                <a:r>
                  <a:rPr lang="en-US">
                    <a:noFill/>
                  </a:rPr>
                  <a:t> </a:t>
                </a:r>
              </a:p>
            </p:txBody>
          </p:sp>
        </mc:Fallback>
      </mc:AlternateContent>
    </p:spTree>
    <p:extLst>
      <p:ext uri="{BB962C8B-B14F-4D97-AF65-F5344CB8AC3E}">
        <p14:creationId xmlns:p14="http://schemas.microsoft.com/office/powerpoint/2010/main" val="170272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400" b="1" dirty="0">
                <a:solidFill>
                  <a:srgbClr val="52BDA6"/>
                </a:solidFill>
                <a:latin typeface="Verdana"/>
                <a:ea typeface="Verdana"/>
                <a:cs typeface="Verdana"/>
                <a:sym typeface="Verdana"/>
              </a:rPr>
              <a:t>Collaboration</a:t>
            </a:r>
            <a:endParaRPr sz="40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xmlns="" id="{04201096-008D-9E40-8962-B6CD490C930F}"/>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40</a:t>
            </a:r>
            <a:endParaRPr i="1" dirty="0">
              <a:latin typeface="Calibri"/>
              <a:ea typeface="Calibri"/>
              <a:cs typeface="Calibri"/>
              <a:sym typeface="Calibri"/>
            </a:endParaRPr>
          </a:p>
        </p:txBody>
      </p:sp>
      <p:pic>
        <p:nvPicPr>
          <p:cNvPr id="7" name="image5.png">
            <a:extLst>
              <a:ext uri="{FF2B5EF4-FFF2-40B4-BE49-F238E27FC236}">
                <a16:creationId xmlns:a16="http://schemas.microsoft.com/office/drawing/2014/main" xmlns="" id="{60100B06-3A93-D54C-A964-96E4C2C2EEA7}"/>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28534" cy="112853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06423" y="0"/>
            <a:ext cx="10185031"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7.8.3 Collaboration: Relating Integer Addition and Subtraction</a:t>
            </a:r>
          </a:p>
        </p:txBody>
      </p:sp>
      <p:sp>
        <p:nvSpPr>
          <p:cNvPr id="2" name="Rectangle 1">
            <a:extLst>
              <a:ext uri="{FF2B5EF4-FFF2-40B4-BE49-F238E27FC236}">
                <a16:creationId xmlns:a16="http://schemas.microsoft.com/office/drawing/2014/main" xmlns="" id="{A66A031F-2EC8-DF4C-B3F5-E7AC5B8F3239}"/>
              </a:ext>
            </a:extLst>
          </p:cNvPr>
          <p:cNvSpPr/>
          <p:nvPr/>
        </p:nvSpPr>
        <p:spPr>
          <a:xfrm>
            <a:off x="1866900" y="1268138"/>
            <a:ext cx="8526780" cy="646331"/>
          </a:xfrm>
          <a:prstGeom prst="rect">
            <a:avLst/>
          </a:prstGeom>
        </p:spPr>
        <p:txBody>
          <a:bodyPr wrap="square">
            <a:spAutoFit/>
          </a:bodyPr>
          <a:lstStyle/>
          <a:p>
            <a:pPr marL="11113">
              <a:buSzPts val="1800"/>
            </a:pPr>
            <a:r>
              <a:rPr lang="en-US" sz="1800" dirty="0">
                <a:latin typeface="Verdana" panose="020B0604030504040204" pitchFamily="34" charset="0"/>
                <a:ea typeface="Verdana" panose="020B0604030504040204" pitchFamily="34" charset="0"/>
                <a:cs typeface="Verdana" panose="020B0604030504040204" pitchFamily="34" charset="0"/>
              </a:rPr>
              <a:t>Three contexts are given below. Choose one context to work on with your partner. Circle your choice.</a:t>
            </a:r>
          </a:p>
        </p:txBody>
      </p:sp>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40</a:t>
            </a:r>
            <a:endParaRPr i="1" dirty="0">
              <a:latin typeface="Calibri"/>
              <a:ea typeface="Calibri"/>
              <a:cs typeface="Calibri"/>
              <a:sym typeface="Calibri"/>
            </a:endParaRPr>
          </a:p>
        </p:txBody>
      </p:sp>
      <p:pic>
        <p:nvPicPr>
          <p:cNvPr id="12" name="image5.png">
            <a:extLst>
              <a:ext uri="{FF2B5EF4-FFF2-40B4-BE49-F238E27FC236}">
                <a16:creationId xmlns:a16="http://schemas.microsoft.com/office/drawing/2014/main" xmlns="" id="{04C19B76-A060-3243-AE2C-88D93DB1A19F}"/>
              </a:ext>
            </a:extLst>
          </p:cNvPr>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44C932AD-AEB0-BD4C-91B6-65D7C4D42BDF}"/>
                  </a:ext>
                </a:extLst>
              </p:cNvPr>
              <p:cNvGraphicFramePr>
                <a:graphicFrameLocks noGrp="1"/>
              </p:cNvGraphicFramePr>
              <p:nvPr>
                <p:extLst>
                  <p:ext uri="{D42A27DB-BD31-4B8C-83A1-F6EECF244321}">
                    <p14:modId xmlns:p14="http://schemas.microsoft.com/office/powerpoint/2010/main" val="4232089209"/>
                  </p:ext>
                </p:extLst>
              </p:nvPr>
            </p:nvGraphicFramePr>
            <p:xfrm>
              <a:off x="2902997" y="2147806"/>
              <a:ext cx="6454587" cy="4069497"/>
            </p:xfrm>
            <a:graphic>
              <a:graphicData uri="http://schemas.openxmlformats.org/drawingml/2006/table">
                <a:tbl>
                  <a:tblPr firstRow="1" firstCol="1" bandRow="1">
                    <a:tableStyleId>{A91F0D33-8C57-4600-99A7-42BC86742BE1}</a:tableStyleId>
                  </a:tblPr>
                  <a:tblGrid>
                    <a:gridCol w="1196299">
                      <a:extLst>
                        <a:ext uri="{9D8B030D-6E8A-4147-A177-3AD203B41FA5}">
                          <a16:colId xmlns:a16="http://schemas.microsoft.com/office/drawing/2014/main" xmlns="" val="2408705116"/>
                        </a:ext>
                      </a:extLst>
                    </a:gridCol>
                    <a:gridCol w="5258288">
                      <a:extLst>
                        <a:ext uri="{9D8B030D-6E8A-4147-A177-3AD203B41FA5}">
                          <a16:colId xmlns:a16="http://schemas.microsoft.com/office/drawing/2014/main" xmlns="" val="319638866"/>
                        </a:ext>
                      </a:extLst>
                    </a:gridCol>
                  </a:tblGrid>
                  <a:tr h="1220849">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Context A</a:t>
                          </a:r>
                          <a:endParaRPr lang="x-none" sz="1300" b="1" i="1" dirty="0">
                            <a:effectLst/>
                            <a:latin typeface="Verdana" panose="020B0604030504040204" pitchFamily="34" charset="0"/>
                            <a:ea typeface="Verdana" panose="020B0604030504040204" pitchFamily="34" charset="0"/>
                            <a:cs typeface="Verdana" panose="020B0604030504040204" pitchFamily="34" charset="0"/>
                          </a:endParaRPr>
                        </a:p>
                      </a:txBody>
                      <a:tcPr marL="54392" marR="543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Tamara didn’t realize she had a balance of </a:t>
                          </a:r>
                          <a14:m>
                            <m:oMath xmlns:m="http://schemas.openxmlformats.org/officeDocument/2006/math">
                              <m:r>
                                <a:rPr lang="en-US" sz="1400">
                                  <a:effectLst/>
                                  <a:latin typeface="Cambria Math" panose="02040503050406030204" pitchFamily="18" charset="0"/>
                                </a:rPr>
                                <m:t>$19</m:t>
                              </m:r>
                            </m:oMath>
                          </a14:m>
                          <a:r>
                            <a:rPr lang="en-US" sz="1400">
                              <a:effectLst/>
                              <a:latin typeface="Verdana" panose="020B0604030504040204" pitchFamily="34" charset="0"/>
                              <a:ea typeface="Verdana" panose="020B0604030504040204" pitchFamily="34" charset="0"/>
                              <a:cs typeface="Verdana" panose="020B0604030504040204" pitchFamily="34" charset="0"/>
                            </a:rPr>
                            <a:t> in her bank account when she used her bank card to purchase a </a:t>
                          </a:r>
                          <a14:m>
                            <m:oMath xmlns:m="http://schemas.openxmlformats.org/officeDocument/2006/math">
                              <m:r>
                                <a:rPr lang="en-US" sz="1400">
                                  <a:effectLst/>
                                  <a:latin typeface="Cambria Math" panose="02040503050406030204" pitchFamily="18" charset="0"/>
                                </a:rPr>
                                <m:t>$50</m:t>
                              </m:r>
                            </m:oMath>
                          </a14:m>
                          <a:r>
                            <a:rPr lang="en-US" sz="1400">
                              <a:effectLst/>
                              <a:latin typeface="Verdana" panose="020B0604030504040204" pitchFamily="34" charset="0"/>
                              <a:ea typeface="Verdana" panose="020B0604030504040204" pitchFamily="34" charset="0"/>
                              <a:cs typeface="Verdana" panose="020B0604030504040204" pitchFamily="34" charset="0"/>
                            </a:rPr>
                            <a:t> purse. When the purchase is processed by the bank, what will be her new account balance?</a:t>
                          </a:r>
                          <a:endParaRPr lang="x-none" sz="1300" i="1">
                            <a:effectLst/>
                            <a:latin typeface="Verdana" panose="020B0604030504040204" pitchFamily="34" charset="0"/>
                            <a:ea typeface="Verdana" panose="020B0604030504040204" pitchFamily="34" charset="0"/>
                            <a:cs typeface="Verdana" panose="020B0604030504040204" pitchFamily="34" charset="0"/>
                          </a:endParaRPr>
                        </a:p>
                      </a:txBody>
                      <a:tcPr marL="54392" marR="543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1016797"/>
                      </a:ext>
                    </a:extLst>
                  </a:tr>
                  <a:tr h="1424324">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Context B</a:t>
                          </a:r>
                          <a:endParaRPr lang="x-none" sz="1300" b="1" i="1" dirty="0">
                            <a:effectLst/>
                            <a:latin typeface="Verdana" panose="020B0604030504040204" pitchFamily="34" charset="0"/>
                            <a:ea typeface="Verdana" panose="020B0604030504040204" pitchFamily="34" charset="0"/>
                            <a:cs typeface="Verdana" panose="020B0604030504040204" pitchFamily="34" charset="0"/>
                          </a:endParaRPr>
                        </a:p>
                      </a:txBody>
                      <a:tcPr marL="54392" marR="543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The elevation of the top floor of a parking garage in Death Valley, California, is </a:t>
                          </a:r>
                          <a14:m>
                            <m:oMath xmlns:m="http://schemas.openxmlformats.org/officeDocument/2006/math">
                              <m:r>
                                <a:rPr lang="en-US" sz="1400">
                                  <a:effectLst/>
                                  <a:latin typeface="Cambria Math" panose="02040503050406030204" pitchFamily="18" charset="0"/>
                                </a:rPr>
                                <m:t>282</m:t>
                              </m:r>
                            </m:oMath>
                          </a14:m>
                          <a:r>
                            <a:rPr lang="en-US" sz="1400">
                              <a:effectLst/>
                              <a:latin typeface="Verdana" panose="020B0604030504040204" pitchFamily="34" charset="0"/>
                              <a:ea typeface="Verdana" panose="020B0604030504040204" pitchFamily="34" charset="0"/>
                              <a:cs typeface="Verdana" panose="020B0604030504040204" pitchFamily="34" charset="0"/>
                            </a:rPr>
                            <a:t> feet (ft) below sea level. A car that leaves the parking garage from the top floor loses 72 ft in elevation before reaching the street. What is the elevation of the street?</a:t>
                          </a:r>
                          <a:endParaRPr lang="x-none" sz="1300" i="1">
                            <a:effectLst/>
                            <a:latin typeface="Verdana" panose="020B0604030504040204" pitchFamily="34" charset="0"/>
                            <a:ea typeface="Verdana" panose="020B0604030504040204" pitchFamily="34" charset="0"/>
                            <a:cs typeface="Verdana" panose="020B0604030504040204" pitchFamily="34" charset="0"/>
                          </a:endParaRPr>
                        </a:p>
                      </a:txBody>
                      <a:tcPr marL="54392" marR="543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34045967"/>
                      </a:ext>
                    </a:extLst>
                  </a:tr>
                  <a:tr h="1424324">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Context C</a:t>
                          </a:r>
                          <a:endParaRPr lang="x-none" sz="1300" b="1" i="1" dirty="0">
                            <a:effectLst/>
                            <a:latin typeface="Verdana" panose="020B0604030504040204" pitchFamily="34" charset="0"/>
                            <a:ea typeface="Verdana" panose="020B0604030504040204" pitchFamily="34" charset="0"/>
                            <a:cs typeface="Verdana" panose="020B0604030504040204" pitchFamily="34" charset="0"/>
                          </a:endParaRPr>
                        </a:p>
                      </a:txBody>
                      <a:tcPr marL="54392" marR="543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Ginny mows lawns for her summer job.  Before she started mowing, she spent </a:t>
                          </a:r>
                          <a14:m>
                            <m:oMath xmlns:m="http://schemas.openxmlformats.org/officeDocument/2006/math">
                              <m:r>
                                <a:rPr lang="en-US" sz="1400">
                                  <a:effectLst/>
                                  <a:latin typeface="Cambria Math" panose="02040503050406030204" pitchFamily="18" charset="0"/>
                                </a:rPr>
                                <m:t>$32</m:t>
                              </m:r>
                            </m:oMath>
                          </a14:m>
                          <a:r>
                            <a:rPr lang="en-US" sz="1400" dirty="0">
                              <a:effectLst/>
                              <a:latin typeface="Verdana" panose="020B0604030504040204" pitchFamily="34" charset="0"/>
                              <a:ea typeface="Verdana" panose="020B0604030504040204" pitchFamily="34" charset="0"/>
                              <a:cs typeface="Verdana" panose="020B0604030504040204" pitchFamily="34" charset="0"/>
                            </a:rPr>
                            <a:t> on gas for the lawn mower. Then, she spent another </a:t>
                          </a:r>
                          <a14:m>
                            <m:oMath xmlns:m="http://schemas.openxmlformats.org/officeDocument/2006/math">
                              <m:r>
                                <a:rPr lang="en-US" sz="1400">
                                  <a:effectLst/>
                                  <a:latin typeface="Cambria Math" panose="02040503050406030204" pitchFamily="18" charset="0"/>
                                </a:rPr>
                                <m:t>$17</m:t>
                              </m:r>
                            </m:oMath>
                          </a14:m>
                          <a:r>
                            <a:rPr lang="en-US" sz="1400" dirty="0">
                              <a:effectLst/>
                              <a:latin typeface="Verdana" panose="020B0604030504040204" pitchFamily="34" charset="0"/>
                              <a:ea typeface="Verdana" panose="020B0604030504040204" pitchFamily="34" charset="0"/>
                              <a:cs typeface="Verdana" panose="020B0604030504040204" pitchFamily="34" charset="0"/>
                            </a:rPr>
                            <a:t> on other supplies she bought at the hardware store. What were Ginny’s total expenses? </a:t>
                          </a:r>
                          <a:endParaRPr lang="x-none" sz="1300" i="1" dirty="0">
                            <a:effectLst/>
                            <a:latin typeface="Verdana" panose="020B0604030504040204" pitchFamily="34" charset="0"/>
                            <a:ea typeface="Verdana" panose="020B0604030504040204" pitchFamily="34" charset="0"/>
                            <a:cs typeface="Verdana" panose="020B0604030504040204" pitchFamily="34" charset="0"/>
                          </a:endParaRPr>
                        </a:p>
                      </a:txBody>
                      <a:tcPr marL="54392" marR="543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27529555"/>
                      </a:ext>
                    </a:extLst>
                  </a:tr>
                </a:tbl>
              </a:graphicData>
            </a:graphic>
          </p:graphicFrame>
        </mc:Choice>
        <mc:Fallback xmlns="">
          <p:graphicFrame>
            <p:nvGraphicFramePr>
              <p:cNvPr id="4" name="Table 3">
                <a:extLst>
                  <a:ext uri="{FF2B5EF4-FFF2-40B4-BE49-F238E27FC236}">
                    <a16:creationId xmlns:a16="http://schemas.microsoft.com/office/drawing/2014/main" id="{44C932AD-AEB0-BD4C-91B6-65D7C4D42BDF}"/>
                  </a:ext>
                </a:extLst>
              </p:cNvPr>
              <p:cNvGraphicFramePr>
                <a:graphicFrameLocks noGrp="1"/>
              </p:cNvGraphicFramePr>
              <p:nvPr>
                <p:extLst>
                  <p:ext uri="{D42A27DB-BD31-4B8C-83A1-F6EECF244321}">
                    <p14:modId xmlns:p14="http://schemas.microsoft.com/office/powerpoint/2010/main" val="4232089209"/>
                  </p:ext>
                </p:extLst>
              </p:nvPr>
            </p:nvGraphicFramePr>
            <p:xfrm>
              <a:off x="2902997" y="2147806"/>
              <a:ext cx="6454587" cy="4069497"/>
            </p:xfrm>
            <a:graphic>
              <a:graphicData uri="http://schemas.openxmlformats.org/drawingml/2006/table">
                <a:tbl>
                  <a:tblPr firstRow="1" firstCol="1" bandRow="1">
                    <a:tableStyleId>{A91F0D33-8C57-4600-99A7-42BC86742BE1}</a:tableStyleId>
                  </a:tblPr>
                  <a:tblGrid>
                    <a:gridCol w="1196299">
                      <a:extLst>
                        <a:ext uri="{9D8B030D-6E8A-4147-A177-3AD203B41FA5}">
                          <a16:colId xmlns:a16="http://schemas.microsoft.com/office/drawing/2014/main" val="2408705116"/>
                        </a:ext>
                      </a:extLst>
                    </a:gridCol>
                    <a:gridCol w="5258288">
                      <a:extLst>
                        <a:ext uri="{9D8B030D-6E8A-4147-A177-3AD203B41FA5}">
                          <a16:colId xmlns:a16="http://schemas.microsoft.com/office/drawing/2014/main" val="319638866"/>
                        </a:ext>
                      </a:extLst>
                    </a:gridCol>
                  </a:tblGrid>
                  <a:tr h="1220849">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Context A</a:t>
                          </a:r>
                          <a:endParaRPr lang="en-CO" sz="1300" b="1" i="1" dirty="0">
                            <a:effectLst/>
                            <a:latin typeface="Verdana" panose="020B0604030504040204" pitchFamily="34" charset="0"/>
                            <a:ea typeface="Verdana" panose="020B0604030504040204" pitchFamily="34" charset="0"/>
                            <a:cs typeface="Verdana" panose="020B0604030504040204" pitchFamily="34" charset="0"/>
                          </a:endParaRPr>
                        </a:p>
                      </a:txBody>
                      <a:tcPr marL="54392" marR="543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54392" marR="543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2651" t="-1042" r="-482" b="-235417"/>
                          </a:stretch>
                        </a:blipFill>
                      </a:tcPr>
                    </a:tc>
                    <a:extLst>
                      <a:ext uri="{0D108BD9-81ED-4DB2-BD59-A6C34878D82A}">
                        <a16:rowId xmlns:a16="http://schemas.microsoft.com/office/drawing/2014/main" val="231016797"/>
                      </a:ext>
                    </a:extLst>
                  </a:tr>
                  <a:tr h="1424324">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Context B</a:t>
                          </a:r>
                          <a:endParaRPr lang="en-CO" sz="1300" b="1" i="1" dirty="0">
                            <a:effectLst/>
                            <a:latin typeface="Verdana" panose="020B0604030504040204" pitchFamily="34" charset="0"/>
                            <a:ea typeface="Verdana" panose="020B0604030504040204" pitchFamily="34" charset="0"/>
                            <a:cs typeface="Verdana" panose="020B0604030504040204" pitchFamily="34" charset="0"/>
                          </a:endParaRPr>
                        </a:p>
                      </a:txBody>
                      <a:tcPr marL="54392" marR="543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54392" marR="543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2651" t="-85841" r="-482" b="-100000"/>
                          </a:stretch>
                        </a:blipFill>
                      </a:tcPr>
                    </a:tc>
                    <a:extLst>
                      <a:ext uri="{0D108BD9-81ED-4DB2-BD59-A6C34878D82A}">
                        <a16:rowId xmlns:a16="http://schemas.microsoft.com/office/drawing/2014/main" val="2534045967"/>
                      </a:ext>
                    </a:extLst>
                  </a:tr>
                  <a:tr h="1424324">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Context C</a:t>
                          </a:r>
                          <a:endParaRPr lang="en-CO" sz="1300" b="1" i="1" dirty="0">
                            <a:effectLst/>
                            <a:latin typeface="Verdana" panose="020B0604030504040204" pitchFamily="34" charset="0"/>
                            <a:ea typeface="Verdana" panose="020B0604030504040204" pitchFamily="34" charset="0"/>
                            <a:cs typeface="Verdana" panose="020B0604030504040204" pitchFamily="34" charset="0"/>
                          </a:endParaRPr>
                        </a:p>
                      </a:txBody>
                      <a:tcPr marL="54392" marR="543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54392" marR="543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2651" t="-187500" r="-482" b="-893"/>
                          </a:stretch>
                        </a:blipFill>
                      </a:tcPr>
                    </a:tc>
                    <a:extLst>
                      <a:ext uri="{0D108BD9-81ED-4DB2-BD59-A6C34878D82A}">
                        <a16:rowId xmlns:a16="http://schemas.microsoft.com/office/drawing/2014/main" val="3527529555"/>
                      </a:ext>
                    </a:extLst>
                  </a:tr>
                </a:tbl>
              </a:graphicData>
            </a:graphic>
          </p:graphicFrame>
        </mc:Fallback>
      </mc:AlternateContent>
    </p:spTree>
    <p:extLst>
      <p:ext uri="{BB962C8B-B14F-4D97-AF65-F5344CB8AC3E}">
        <p14:creationId xmlns:p14="http://schemas.microsoft.com/office/powerpoint/2010/main" val="3101299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D9AF1552-9966-3643-BA84-BB4BC68EDBB5}"/>
              </a:ext>
            </a:extLst>
          </p:cNvPr>
          <p:cNvSpPr/>
          <p:nvPr/>
        </p:nvSpPr>
        <p:spPr>
          <a:xfrm>
            <a:off x="905255" y="291455"/>
            <a:ext cx="10303071" cy="4524315"/>
          </a:xfrm>
          <a:prstGeom prst="rect">
            <a:avLst/>
          </a:prstGeom>
        </p:spPr>
        <p:txBody>
          <a:bodyPr wrap="square">
            <a:spAutoFit/>
          </a:bodyPr>
          <a:lstStyle/>
          <a:p>
            <a:pPr lvl="0">
              <a:buSzPts val="1800"/>
            </a:pPr>
            <a:r>
              <a:rPr lang="en-US" sz="2400" dirty="0">
                <a:latin typeface="Verdana" panose="020B0604030504040204" pitchFamily="34" charset="0"/>
                <a:ea typeface="Times New Roman" panose="02020603050405020304" pitchFamily="18" charset="0"/>
                <a:cs typeface="Times New Roman" panose="02020603050405020304" pitchFamily="18" charset="0"/>
              </a:rPr>
              <a:t>For the context selected, represent the mathematics in the context in each of the following ways.</a:t>
            </a:r>
          </a:p>
          <a:p>
            <a:pPr lvl="0">
              <a:buSzPts val="1800"/>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Draw a number line to represent the given context.</a:t>
            </a:r>
          </a:p>
          <a:p>
            <a:pPr marL="457200" indent="-457200">
              <a:buSzPct val="1000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Write two equations that can be used to find the solution to the question in the context. One equation should use subtraction and the other should use addition.</a:t>
            </a:r>
          </a:p>
          <a:p>
            <a:pPr lvl="0">
              <a:buSzPct val="100000"/>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40</a:t>
            </a:r>
            <a:endParaRPr i="1" dirty="0">
              <a:latin typeface="Calibri"/>
              <a:ea typeface="Calibri"/>
              <a:cs typeface="Calibri"/>
              <a:sym typeface="Calibri"/>
            </a:endParaRPr>
          </a:p>
        </p:txBody>
      </p:sp>
    </p:spTree>
    <p:extLst>
      <p:ext uri="{BB962C8B-B14F-4D97-AF65-F5344CB8AC3E}">
        <p14:creationId xmlns:p14="http://schemas.microsoft.com/office/powerpoint/2010/main" val="252435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D9AF1552-9966-3643-BA84-BB4BC68EDBB5}"/>
              </a:ext>
            </a:extLst>
          </p:cNvPr>
          <p:cNvSpPr/>
          <p:nvPr/>
        </p:nvSpPr>
        <p:spPr>
          <a:xfrm>
            <a:off x="905256" y="385584"/>
            <a:ext cx="10829544" cy="1631216"/>
          </a:xfrm>
          <a:prstGeom prst="rect">
            <a:avLst/>
          </a:prstGeom>
        </p:spPr>
        <p:txBody>
          <a:bodyPr wrap="square">
            <a:spAutoFit/>
          </a:bodyPr>
          <a:lstStyle/>
          <a:p>
            <a:pPr marL="457200" indent="-457200">
              <a:buSzPct val="1000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Create a group of four by joining with another pair of students. Verify your work by exchanging with the other pair of students.</a:t>
            </a:r>
          </a:p>
          <a:p>
            <a:pPr marL="457200" indent="-457200">
              <a:buSzPct val="1000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Continue working with the group of four to complete the table.</a:t>
            </a:r>
          </a:p>
        </p:txBody>
      </p:sp>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DE8B340C-2836-474F-85A1-C20F88C3AF00}"/>
                  </a:ext>
                </a:extLst>
              </p:cNvPr>
              <p:cNvGraphicFramePr>
                <a:graphicFrameLocks noGrp="1"/>
              </p:cNvGraphicFramePr>
              <p:nvPr>
                <p:extLst>
                  <p:ext uri="{D42A27DB-BD31-4B8C-83A1-F6EECF244321}">
                    <p14:modId xmlns:p14="http://schemas.microsoft.com/office/powerpoint/2010/main" val="3992318029"/>
                  </p:ext>
                </p:extLst>
              </p:nvPr>
            </p:nvGraphicFramePr>
            <p:xfrm>
              <a:off x="2680447" y="2272555"/>
              <a:ext cx="7059706" cy="3961692"/>
            </p:xfrm>
            <a:graphic>
              <a:graphicData uri="http://schemas.openxmlformats.org/drawingml/2006/table">
                <a:tbl>
                  <a:tblPr firstRow="1" firstCol="1" bandRow="1">
                    <a:tableStyleId>{A91F0D33-8C57-4600-99A7-42BC86742BE1}</a:tableStyleId>
                  </a:tblPr>
                  <a:tblGrid>
                    <a:gridCol w="1700466">
                      <a:extLst>
                        <a:ext uri="{9D8B030D-6E8A-4147-A177-3AD203B41FA5}">
                          <a16:colId xmlns:a16="http://schemas.microsoft.com/office/drawing/2014/main" xmlns="" val="431539173"/>
                        </a:ext>
                      </a:extLst>
                    </a:gridCol>
                    <a:gridCol w="1644980">
                      <a:extLst>
                        <a:ext uri="{9D8B030D-6E8A-4147-A177-3AD203B41FA5}">
                          <a16:colId xmlns:a16="http://schemas.microsoft.com/office/drawing/2014/main" xmlns="" val="3539538245"/>
                        </a:ext>
                      </a:extLst>
                    </a:gridCol>
                    <a:gridCol w="3714260">
                      <a:extLst>
                        <a:ext uri="{9D8B030D-6E8A-4147-A177-3AD203B41FA5}">
                          <a16:colId xmlns:a16="http://schemas.microsoft.com/office/drawing/2014/main" xmlns="" val="216456237"/>
                        </a:ext>
                      </a:extLst>
                    </a:gridCol>
                  </a:tblGrid>
                  <a:tr h="842926">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Example Subtraction Problem</a:t>
                          </a:r>
                          <a:endParaRPr lang="x-none" sz="1400" b="1" i="1" dirty="0">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Example Rewritten as an Addition Problem</a:t>
                          </a:r>
                          <a:endParaRPr lang="x-none" sz="1400" b="1" i="1" dirty="0">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Number Lines:</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Show the subtraction on the top number line and the addition on the bottom number line.</a:t>
                          </a:r>
                          <a:endParaRPr lang="x-none" sz="1400" b="1" i="1" dirty="0">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353258333"/>
                      </a:ext>
                    </a:extLst>
                  </a:tr>
                  <a:tr h="153360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10−7=3</m:t>
                                </m:r>
                              </m:oMath>
                            </m:oMathPara>
                          </a14:m>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10+(</m:t>
                                </m:r>
                                <m:sPre>
                                  <m:sPrePr>
                                    <m:ctrlPr>
                                      <a:rPr lang="x-none" sz="1400" i="1">
                                        <a:effectLst/>
                                        <a:latin typeface="Cambria Math"/>
                                      </a:rPr>
                                    </m:ctrlPr>
                                  </m:sPrePr>
                                  <m:sub/>
                                  <m:sup>
                                    <m:r>
                                      <a:rPr lang="en-US" sz="1400">
                                        <a:effectLst/>
                                        <a:latin typeface="Cambria Math" panose="02040503050406030204" pitchFamily="18" charset="0"/>
                                      </a:rPr>
                                      <m:t>−</m:t>
                                    </m:r>
                                  </m:sup>
                                  <m:e>
                                    <m:r>
                                      <a:rPr lang="en-US" sz="1400">
                                        <a:effectLst/>
                                        <a:latin typeface="Cambria Math" panose="02040503050406030204" pitchFamily="18" charset="0"/>
                                      </a:rPr>
                                      <m:t>7</m:t>
                                    </m:r>
                                  </m:e>
                                </m:sPre>
                                <m:r>
                                  <a:rPr lang="en-US" sz="1400">
                                    <a:effectLst/>
                                    <a:latin typeface="Cambria Math" panose="02040503050406030204" pitchFamily="18" charset="0"/>
                                  </a:rPr>
                                  <m:t>)=3</m:t>
                                </m:r>
                              </m:oMath>
                            </m:oMathPara>
                          </a14:m>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27451261"/>
                      </a:ext>
                    </a:extLst>
                  </a:tr>
                  <a:tr h="1514953">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7−10=</m:t>
                                </m:r>
                                <m:sPre>
                                  <m:sPrePr>
                                    <m:ctrlPr>
                                      <a:rPr lang="x-none" sz="1400" i="1">
                                        <a:effectLst/>
                                        <a:latin typeface="Cambria Math"/>
                                      </a:rPr>
                                    </m:ctrlPr>
                                  </m:sPrePr>
                                  <m:sub/>
                                  <m:sup>
                                    <m:r>
                                      <a:rPr lang="en-US" sz="1400">
                                        <a:effectLst/>
                                        <a:latin typeface="Cambria Math" panose="02040503050406030204" pitchFamily="18" charset="0"/>
                                      </a:rPr>
                                      <m:t>−</m:t>
                                    </m:r>
                                  </m:sup>
                                  <m:e>
                                    <m:r>
                                      <a:rPr lang="en-US" sz="1400">
                                        <a:effectLst/>
                                        <a:latin typeface="Cambria Math" panose="02040503050406030204" pitchFamily="18" charset="0"/>
                                      </a:rPr>
                                      <m:t>3</m:t>
                                    </m:r>
                                  </m:e>
                                </m:sPre>
                              </m:oMath>
                            </m:oMathPara>
                          </a14:m>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400" i="1" dirty="0">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27742306"/>
                      </a:ext>
                    </a:extLst>
                  </a:tr>
                </a:tbl>
              </a:graphicData>
            </a:graphic>
          </p:graphicFrame>
        </mc:Choice>
        <mc:Fallback xmlns="">
          <p:graphicFrame>
            <p:nvGraphicFramePr>
              <p:cNvPr id="3" name="Table 2">
                <a:extLst>
                  <a:ext uri="{FF2B5EF4-FFF2-40B4-BE49-F238E27FC236}">
                    <a16:creationId xmlns:a16="http://schemas.microsoft.com/office/drawing/2014/main" id="{DE8B340C-2836-474F-85A1-C20F88C3AF00}"/>
                  </a:ext>
                </a:extLst>
              </p:cNvPr>
              <p:cNvGraphicFramePr>
                <a:graphicFrameLocks noGrp="1"/>
              </p:cNvGraphicFramePr>
              <p:nvPr>
                <p:extLst>
                  <p:ext uri="{D42A27DB-BD31-4B8C-83A1-F6EECF244321}">
                    <p14:modId xmlns:p14="http://schemas.microsoft.com/office/powerpoint/2010/main" val="3992318029"/>
                  </p:ext>
                </p:extLst>
              </p:nvPr>
            </p:nvGraphicFramePr>
            <p:xfrm>
              <a:off x="2680447" y="2272555"/>
              <a:ext cx="7059706" cy="3941563"/>
            </p:xfrm>
            <a:graphic>
              <a:graphicData uri="http://schemas.openxmlformats.org/drawingml/2006/table">
                <a:tbl>
                  <a:tblPr firstRow="1" firstCol="1" bandRow="1">
                    <a:tableStyleId>{A91F0D33-8C57-4600-99A7-42BC86742BE1}</a:tableStyleId>
                  </a:tblPr>
                  <a:tblGrid>
                    <a:gridCol w="1700466">
                      <a:extLst>
                        <a:ext uri="{9D8B030D-6E8A-4147-A177-3AD203B41FA5}">
                          <a16:colId xmlns:a16="http://schemas.microsoft.com/office/drawing/2014/main" val="431539173"/>
                        </a:ext>
                      </a:extLst>
                    </a:gridCol>
                    <a:gridCol w="1644980">
                      <a:extLst>
                        <a:ext uri="{9D8B030D-6E8A-4147-A177-3AD203B41FA5}">
                          <a16:colId xmlns:a16="http://schemas.microsoft.com/office/drawing/2014/main" val="3539538245"/>
                        </a:ext>
                      </a:extLst>
                    </a:gridCol>
                    <a:gridCol w="3714260">
                      <a:extLst>
                        <a:ext uri="{9D8B030D-6E8A-4147-A177-3AD203B41FA5}">
                          <a16:colId xmlns:a16="http://schemas.microsoft.com/office/drawing/2014/main" val="216456237"/>
                        </a:ext>
                      </a:extLst>
                    </a:gridCol>
                  </a:tblGrid>
                  <a:tr h="893001">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Example Subtraction Problem</a:t>
                          </a:r>
                          <a:endParaRPr lang="en-CO" sz="1400" b="1" i="1" dirty="0">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Example Rewritten as an Addition Problem</a:t>
                          </a:r>
                          <a:endParaRPr lang="en-CO" sz="1400" b="1" i="1" dirty="0">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Number Lines:</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Show the subtraction on the top number line and the addition on the bottom number line.</a:t>
                          </a:r>
                          <a:endParaRPr lang="en-CO" sz="1400" b="1" i="1" dirty="0">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53258333"/>
                      </a:ext>
                    </a:extLst>
                  </a:tr>
                  <a:tr h="1533609">
                    <a:tc>
                      <a:txBody>
                        <a:bodyPr/>
                        <a:lstStyle/>
                        <a:p>
                          <a:endParaRPr lang="en-US"/>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6" t="-62810" r="-315672" b="-100000"/>
                          </a:stretch>
                        </a:blipFill>
                      </a:tcPr>
                    </a:tc>
                    <a:tc>
                      <a:txBody>
                        <a:bodyPr/>
                        <a:lstStyle/>
                        <a:p>
                          <a:endParaRPr lang="en-US"/>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651" t="-62810" r="-227907" b="-100000"/>
                          </a:stretch>
                        </a:blipFill>
                      </a:tcPr>
                    </a:tc>
                    <a:tc>
                      <a:txBody>
                        <a:bodyPr/>
                        <a:lstStyle/>
                        <a:p>
                          <a:pPr marL="0" marR="0" algn="ctr">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400" i="1">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7451261"/>
                      </a:ext>
                    </a:extLst>
                  </a:tr>
                  <a:tr h="1514953">
                    <a:tc>
                      <a:txBody>
                        <a:bodyPr/>
                        <a:lstStyle/>
                        <a:p>
                          <a:endParaRPr lang="en-US"/>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6" t="-164167" r="-315672" b="-833"/>
                          </a:stretch>
                        </a:blipFill>
                      </a:tcPr>
                    </a:tc>
                    <a:tc>
                      <a:txBody>
                        <a:bodyPr/>
                        <a:lstStyle/>
                        <a:p>
                          <a:pPr marL="0" marR="0" algn="ctr">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400" i="1">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400" i="1" dirty="0">
                            <a:effectLst/>
                            <a:latin typeface="Verdana" panose="020B0604030504040204" pitchFamily="34" charset="0"/>
                            <a:ea typeface="Verdana" panose="020B0604030504040204" pitchFamily="34" charset="0"/>
                            <a:cs typeface="Verdana" panose="020B0604030504040204" pitchFamily="34" charset="0"/>
                          </a:endParaRPr>
                        </a:p>
                      </a:txBody>
                      <a:tcPr marL="50068" marR="50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7742306"/>
                      </a:ext>
                    </a:extLst>
                  </a:tr>
                </a:tbl>
              </a:graphicData>
            </a:graphic>
          </p:graphicFrame>
        </mc:Fallback>
      </mc:AlternateContent>
      <p:pic>
        <p:nvPicPr>
          <p:cNvPr id="10" name="Picture 9">
            <a:extLst>
              <a:ext uri="{FF2B5EF4-FFF2-40B4-BE49-F238E27FC236}">
                <a16:creationId xmlns:a16="http://schemas.microsoft.com/office/drawing/2014/main" xmlns="" id="{3E35D5D4-2394-8049-BBFD-E67E4E5229F7}"/>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27331" b="38854"/>
          <a:stretch/>
        </p:blipFill>
        <p:spPr bwMode="auto">
          <a:xfrm>
            <a:off x="6096000" y="3226636"/>
            <a:ext cx="3525520" cy="673735"/>
          </a:xfrm>
          <a:prstGeom prst="rect">
            <a:avLst/>
          </a:prstGeom>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xmlns="" id="{C561A7E8-86DE-B145-BAD8-18B3471DD879}"/>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27331" b="38854"/>
          <a:stretch/>
        </p:blipFill>
        <p:spPr bwMode="auto">
          <a:xfrm>
            <a:off x="6096000" y="3912436"/>
            <a:ext cx="3525520" cy="673735"/>
          </a:xfrm>
          <a:prstGeom prst="rect">
            <a:avLst/>
          </a:prstGeom>
          <a:ln>
            <a:noFill/>
          </a:ln>
          <a:extLst>
            <a:ext uri="{53640926-AAD7-44D8-BBD7-CCE9431645EC}">
              <a14:shadowObscured xmlns:a14="http://schemas.microsoft.com/office/drawing/2010/main"/>
            </a:ext>
          </a:extLst>
        </p:spPr>
      </p:pic>
      <p:pic>
        <p:nvPicPr>
          <p:cNvPr id="12" name="Picture 11">
            <a:extLst>
              <a:ext uri="{FF2B5EF4-FFF2-40B4-BE49-F238E27FC236}">
                <a16:creationId xmlns:a16="http://schemas.microsoft.com/office/drawing/2014/main" xmlns="" id="{09B17B4A-B97B-4343-9983-B0DF07941A2B}"/>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27331" b="38854"/>
          <a:stretch/>
        </p:blipFill>
        <p:spPr bwMode="auto">
          <a:xfrm>
            <a:off x="6096000" y="4840283"/>
            <a:ext cx="3525520" cy="673735"/>
          </a:xfrm>
          <a:prstGeom prst="rect">
            <a:avLst/>
          </a:prstGeom>
          <a:ln>
            <a:noFill/>
          </a:ln>
          <a:extLst>
            <a:ext uri="{53640926-AAD7-44D8-BBD7-CCE9431645EC}">
              <a14:shadowObscured xmlns:a14="http://schemas.microsoft.com/office/drawing/2010/main"/>
            </a:ext>
          </a:extLst>
        </p:spPr>
      </p:pic>
      <p:pic>
        <p:nvPicPr>
          <p:cNvPr id="13" name="Picture 12">
            <a:extLst>
              <a:ext uri="{FF2B5EF4-FFF2-40B4-BE49-F238E27FC236}">
                <a16:creationId xmlns:a16="http://schemas.microsoft.com/office/drawing/2014/main" xmlns="" id="{934A02DF-A6D4-A341-BCB6-493D56E02D1C}"/>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27331" b="38854"/>
          <a:stretch/>
        </p:blipFill>
        <p:spPr bwMode="auto">
          <a:xfrm>
            <a:off x="6096000" y="5526083"/>
            <a:ext cx="3525520" cy="6737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76669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1" name="Picture 10">
            <a:extLst>
              <a:ext uri="{FF2B5EF4-FFF2-40B4-BE49-F238E27FC236}">
                <a16:creationId xmlns:a16="http://schemas.microsoft.com/office/drawing/2014/main" xmlns="" id="{7E92C7C0-5528-6144-95A3-7BEA103467C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7331" b="38854"/>
          <a:stretch/>
        </p:blipFill>
        <p:spPr bwMode="auto">
          <a:xfrm>
            <a:off x="6375996" y="2088828"/>
            <a:ext cx="3283474" cy="627479"/>
          </a:xfrm>
          <a:prstGeom prst="rect">
            <a:avLst/>
          </a:prstGeom>
          <a:ln>
            <a:noFill/>
          </a:ln>
          <a:extLst>
            <a:ext uri="{53640926-AAD7-44D8-BBD7-CCE9431645EC}">
              <a14:shadowObscured xmlns:a14="http://schemas.microsoft.com/office/drawing/2010/main"/>
            </a:ext>
          </a:extLst>
        </p:spPr>
      </p:pic>
      <p:pic>
        <p:nvPicPr>
          <p:cNvPr id="12" name="Picture 11">
            <a:extLst>
              <a:ext uri="{FF2B5EF4-FFF2-40B4-BE49-F238E27FC236}">
                <a16:creationId xmlns:a16="http://schemas.microsoft.com/office/drawing/2014/main" xmlns="" id="{D5D9F928-7495-0943-BAFA-05A9E0A5835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7331" b="38854"/>
          <a:stretch/>
        </p:blipFill>
        <p:spPr bwMode="auto">
          <a:xfrm>
            <a:off x="6375996" y="2774628"/>
            <a:ext cx="3283474" cy="627479"/>
          </a:xfrm>
          <a:prstGeom prst="rect">
            <a:avLst/>
          </a:prstGeom>
          <a:ln>
            <a:noFill/>
          </a:ln>
          <a:extLst>
            <a:ext uri="{53640926-AAD7-44D8-BBD7-CCE9431645EC}">
              <a14:shadowObscured xmlns:a14="http://schemas.microsoft.com/office/drawing/2010/main"/>
            </a:ext>
          </a:extLst>
        </p:spPr>
      </p:pic>
      <p:pic>
        <p:nvPicPr>
          <p:cNvPr id="13" name="Picture 12">
            <a:extLst>
              <a:ext uri="{FF2B5EF4-FFF2-40B4-BE49-F238E27FC236}">
                <a16:creationId xmlns:a16="http://schemas.microsoft.com/office/drawing/2014/main" xmlns="" id="{2B9B6B38-5200-E84C-93DB-D0C24D57F6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7331" b="38854"/>
          <a:stretch/>
        </p:blipFill>
        <p:spPr bwMode="auto">
          <a:xfrm>
            <a:off x="6375996" y="3329106"/>
            <a:ext cx="3283474" cy="627479"/>
          </a:xfrm>
          <a:prstGeom prst="rect">
            <a:avLst/>
          </a:prstGeom>
          <a:ln>
            <a:noFill/>
          </a:ln>
          <a:extLst>
            <a:ext uri="{53640926-AAD7-44D8-BBD7-CCE9431645EC}">
              <a14:shadowObscured xmlns:a14="http://schemas.microsoft.com/office/drawing/2010/main"/>
            </a:ext>
          </a:extLst>
        </p:spPr>
      </p:pic>
      <p:pic>
        <p:nvPicPr>
          <p:cNvPr id="14" name="Picture 13">
            <a:extLst>
              <a:ext uri="{FF2B5EF4-FFF2-40B4-BE49-F238E27FC236}">
                <a16:creationId xmlns:a16="http://schemas.microsoft.com/office/drawing/2014/main" xmlns="" id="{7A927D27-A40F-4443-B9B6-B5871175141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7331" b="38854"/>
          <a:stretch/>
        </p:blipFill>
        <p:spPr bwMode="auto">
          <a:xfrm>
            <a:off x="6375996" y="4014906"/>
            <a:ext cx="3283474" cy="627479"/>
          </a:xfrm>
          <a:prstGeom prst="rect">
            <a:avLst/>
          </a:prstGeom>
          <a:ln>
            <a:noFill/>
          </a:ln>
          <a:extLst>
            <a:ext uri="{53640926-AAD7-44D8-BBD7-CCE9431645EC}">
              <a14:shadowObscured xmlns:a14="http://schemas.microsoft.com/office/drawing/2010/main"/>
            </a:ext>
          </a:extLst>
        </p:spPr>
      </p:pic>
      <p:pic>
        <p:nvPicPr>
          <p:cNvPr id="15" name="Picture 14">
            <a:extLst>
              <a:ext uri="{FF2B5EF4-FFF2-40B4-BE49-F238E27FC236}">
                <a16:creationId xmlns:a16="http://schemas.microsoft.com/office/drawing/2014/main" xmlns="" id="{FE250553-B0B5-C645-8B2B-2F22495FB4C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7331" b="38854"/>
          <a:stretch/>
        </p:blipFill>
        <p:spPr bwMode="auto">
          <a:xfrm>
            <a:off x="6335655" y="4732133"/>
            <a:ext cx="3283474" cy="627479"/>
          </a:xfrm>
          <a:prstGeom prst="rect">
            <a:avLst/>
          </a:prstGeom>
          <a:ln>
            <a:noFill/>
          </a:ln>
          <a:extLst>
            <a:ext uri="{53640926-AAD7-44D8-BBD7-CCE9431645EC}">
              <a14:shadowObscured xmlns:a14="http://schemas.microsoft.com/office/drawing/2010/main"/>
            </a:ext>
          </a:extLst>
        </p:spPr>
      </p:pic>
      <p:pic>
        <p:nvPicPr>
          <p:cNvPr id="16" name="Picture 15">
            <a:extLst>
              <a:ext uri="{FF2B5EF4-FFF2-40B4-BE49-F238E27FC236}">
                <a16:creationId xmlns:a16="http://schemas.microsoft.com/office/drawing/2014/main" xmlns="" id="{2F606094-DB79-7743-A530-7F137B47D20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7331" b="38854"/>
          <a:stretch/>
        </p:blipFill>
        <p:spPr bwMode="auto">
          <a:xfrm>
            <a:off x="6335655" y="5417933"/>
            <a:ext cx="3283474" cy="627479"/>
          </a:xfrm>
          <a:prstGeom prst="rect">
            <a:avLst/>
          </a:prstGeom>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xmlns="" id="{57EC42A8-EEED-3A44-9010-630566A26F5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7331" b="38854"/>
          <a:stretch/>
        </p:blipFill>
        <p:spPr bwMode="auto">
          <a:xfrm>
            <a:off x="6335655" y="920318"/>
            <a:ext cx="3283474" cy="627479"/>
          </a:xfrm>
          <a:prstGeom prst="rect">
            <a:avLst/>
          </a:prstGeom>
          <a:ln>
            <a:no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xmlns="" id="{16BD2793-2BAE-2848-A2B0-28DCC067207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7331" b="38854"/>
          <a:stretch/>
        </p:blipFill>
        <p:spPr bwMode="auto">
          <a:xfrm>
            <a:off x="6335655" y="1606118"/>
            <a:ext cx="3283474" cy="627479"/>
          </a:xfrm>
          <a:prstGeom prst="rect">
            <a:avLst/>
          </a:prstGeom>
          <a:ln>
            <a:noFill/>
          </a:ln>
          <a:extLst>
            <a:ext uri="{53640926-AAD7-44D8-BBD7-CCE9431645EC}">
              <a14:shadowObscured xmlns:a14="http://schemas.microsoft.com/office/drawing/2010/main"/>
            </a:ext>
          </a:extLst>
        </p:spPr>
      </p:pic>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D41B7F8B-A3E3-1340-9B2D-E3D05B03D8BB}"/>
                  </a:ext>
                </a:extLst>
              </p:cNvPr>
              <p:cNvGraphicFramePr>
                <a:graphicFrameLocks noGrp="1"/>
              </p:cNvGraphicFramePr>
              <p:nvPr>
                <p:extLst>
                  <p:ext uri="{D42A27DB-BD31-4B8C-83A1-F6EECF244321}">
                    <p14:modId xmlns:p14="http://schemas.microsoft.com/office/powerpoint/2010/main" val="1347074427"/>
                  </p:ext>
                </p:extLst>
              </p:nvPr>
            </p:nvGraphicFramePr>
            <p:xfrm>
              <a:off x="2387890" y="874061"/>
              <a:ext cx="7416220" cy="5056092"/>
            </p:xfrm>
            <a:graphic>
              <a:graphicData uri="http://schemas.openxmlformats.org/drawingml/2006/table">
                <a:tbl>
                  <a:tblPr firstRow="1" firstCol="1" bandRow="1">
                    <a:tableStyleId>{A91F0D33-8C57-4600-99A7-42BC86742BE1}</a:tableStyleId>
                  </a:tblPr>
                  <a:tblGrid>
                    <a:gridCol w="1786339">
                      <a:extLst>
                        <a:ext uri="{9D8B030D-6E8A-4147-A177-3AD203B41FA5}">
                          <a16:colId xmlns:a16="http://schemas.microsoft.com/office/drawing/2014/main" xmlns="" val="2675756588"/>
                        </a:ext>
                      </a:extLst>
                    </a:gridCol>
                    <a:gridCol w="1728051">
                      <a:extLst>
                        <a:ext uri="{9D8B030D-6E8A-4147-A177-3AD203B41FA5}">
                          <a16:colId xmlns:a16="http://schemas.microsoft.com/office/drawing/2014/main" xmlns="" val="3388952747"/>
                        </a:ext>
                      </a:extLst>
                    </a:gridCol>
                    <a:gridCol w="3901830">
                      <a:extLst>
                        <a:ext uri="{9D8B030D-6E8A-4147-A177-3AD203B41FA5}">
                          <a16:colId xmlns:a16="http://schemas.microsoft.com/office/drawing/2014/main" xmlns="" val="3333633071"/>
                        </a:ext>
                      </a:extLst>
                    </a:gridCol>
                  </a:tblGrid>
                  <a:tr h="1177106">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8−</m:t>
                                </m:r>
                                <m:sPre>
                                  <m:sPrePr>
                                    <m:ctrlPr>
                                      <a:rPr lang="x-none" sz="1600" i="1">
                                        <a:effectLst/>
                                        <a:latin typeface="Cambria Math"/>
                                      </a:rPr>
                                    </m:ctrlPr>
                                  </m:sPrePr>
                                  <m:sub/>
                                  <m:sup>
                                    <m:r>
                                      <a:rPr lang="en-US" sz="1600">
                                        <a:effectLst/>
                                        <a:latin typeface="Cambria Math" panose="02040503050406030204" pitchFamily="18" charset="0"/>
                                      </a:rPr>
                                      <m:t>−</m:t>
                                    </m:r>
                                  </m:sup>
                                  <m:e>
                                    <m:r>
                                      <a:rPr lang="en-US" sz="1600">
                                        <a:effectLst/>
                                        <a:latin typeface="Cambria Math" panose="02040503050406030204" pitchFamily="18" charset="0"/>
                                      </a:rPr>
                                      <m:t>3</m:t>
                                    </m:r>
                                  </m:e>
                                </m:sPre>
                                <m:r>
                                  <a:rPr lang="en-US" sz="1600">
                                    <a:effectLst/>
                                    <a:latin typeface="Cambria Math" panose="02040503050406030204" pitchFamily="18" charset="0"/>
                                  </a:rPr>
                                  <m:t>=11</m:t>
                                </m:r>
                              </m:oMath>
                            </m:oMathPara>
                          </a14:m>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400" i="1" dirty="0">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56659494"/>
                      </a:ext>
                    </a:extLst>
                  </a:tr>
                  <a:tr h="118038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Pre>
                                  <m:sPrePr>
                                    <m:ctrlPr>
                                      <a:rPr lang="x-none" sz="1600" i="1">
                                        <a:effectLst/>
                                        <a:latin typeface="Cambria Math"/>
                                      </a:rPr>
                                    </m:ctrlPr>
                                  </m:sPrePr>
                                  <m:sub/>
                                  <m:sup>
                                    <m:r>
                                      <a:rPr lang="en-US" sz="1600">
                                        <a:effectLst/>
                                        <a:latin typeface="Cambria Math" panose="02040503050406030204" pitchFamily="18" charset="0"/>
                                      </a:rPr>
                                      <m:t>−</m:t>
                                    </m:r>
                                  </m:sup>
                                  <m:e>
                                    <m:r>
                                      <a:rPr lang="en-US" sz="1600">
                                        <a:effectLst/>
                                        <a:latin typeface="Cambria Math" panose="02040503050406030204" pitchFamily="18" charset="0"/>
                                      </a:rPr>
                                      <m:t>5</m:t>
                                    </m:r>
                                  </m:e>
                                </m:sPre>
                                <m:r>
                                  <a:rPr lang="en-US" sz="1600">
                                    <a:effectLst/>
                                    <a:latin typeface="Cambria Math" panose="02040503050406030204" pitchFamily="18" charset="0"/>
                                  </a:rPr>
                                  <m:t>−3= </m:t>
                                </m:r>
                                <m:sPre>
                                  <m:sPrePr>
                                    <m:ctrlPr>
                                      <a:rPr lang="x-none" sz="1600" i="1">
                                        <a:effectLst/>
                                        <a:latin typeface="Cambria Math"/>
                                      </a:rPr>
                                    </m:ctrlPr>
                                  </m:sPrePr>
                                  <m:sub/>
                                  <m:sup>
                                    <m:r>
                                      <a:rPr lang="en-US" sz="1600">
                                        <a:effectLst/>
                                        <a:latin typeface="Cambria Math" panose="02040503050406030204" pitchFamily="18" charset="0"/>
                                      </a:rPr>
                                      <m:t>−</m:t>
                                    </m:r>
                                  </m:sup>
                                  <m:e>
                                    <m:r>
                                      <a:rPr lang="en-US" sz="1600">
                                        <a:effectLst/>
                                        <a:latin typeface="Cambria Math" panose="02040503050406030204" pitchFamily="18" charset="0"/>
                                      </a:rPr>
                                      <m:t>8</m:t>
                                    </m:r>
                                  </m:e>
                                </m:sPre>
                              </m:oMath>
                            </m:oMathPara>
                          </a14:m>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400" i="1" dirty="0">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07472944"/>
                      </a:ext>
                    </a:extLst>
                  </a:tr>
                  <a:tr h="132798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Pre>
                                  <m:sPrePr>
                                    <m:ctrlPr>
                                      <a:rPr lang="x-none" sz="1600" i="1">
                                        <a:effectLst/>
                                        <a:latin typeface="Cambria Math"/>
                                      </a:rPr>
                                    </m:ctrlPr>
                                  </m:sPrePr>
                                  <m:sub/>
                                  <m:sup>
                                    <m:r>
                                      <a:rPr lang="en-US" sz="1600">
                                        <a:effectLst/>
                                        <a:latin typeface="Cambria Math" panose="02040503050406030204" pitchFamily="18" charset="0"/>
                                      </a:rPr>
                                      <m:t>−</m:t>
                                    </m:r>
                                  </m:sup>
                                  <m:e>
                                    <m:r>
                                      <a:rPr lang="en-US" sz="1600">
                                        <a:effectLst/>
                                        <a:latin typeface="Cambria Math" panose="02040503050406030204" pitchFamily="18" charset="0"/>
                                      </a:rPr>
                                      <m:t>7</m:t>
                                    </m:r>
                                  </m:e>
                                </m:sPre>
                                <m:r>
                                  <a:rPr lang="en-US" sz="1600">
                                    <a:effectLst/>
                                    <a:latin typeface="Cambria Math" panose="02040503050406030204" pitchFamily="18" charset="0"/>
                                  </a:rPr>
                                  <m:t>−</m:t>
                                </m:r>
                                <m:sPre>
                                  <m:sPrePr>
                                    <m:ctrlPr>
                                      <a:rPr lang="x-none" sz="1600" i="1">
                                        <a:effectLst/>
                                        <a:latin typeface="Cambria Math"/>
                                      </a:rPr>
                                    </m:ctrlPr>
                                  </m:sPrePr>
                                  <m:sub/>
                                  <m:sup>
                                    <m:r>
                                      <a:rPr lang="en-US" sz="1600">
                                        <a:effectLst/>
                                        <a:latin typeface="Cambria Math" panose="02040503050406030204" pitchFamily="18" charset="0"/>
                                      </a:rPr>
                                      <m:t>−</m:t>
                                    </m:r>
                                  </m:sup>
                                  <m:e>
                                    <m:r>
                                      <a:rPr lang="en-US" sz="1600">
                                        <a:effectLst/>
                                        <a:latin typeface="Cambria Math" panose="02040503050406030204" pitchFamily="18" charset="0"/>
                                      </a:rPr>
                                      <m:t>15</m:t>
                                    </m:r>
                                  </m:e>
                                </m:sPre>
                                <m:r>
                                  <a:rPr lang="en-US" sz="1600">
                                    <a:effectLst/>
                                    <a:latin typeface="Cambria Math" panose="02040503050406030204" pitchFamily="18" charset="0"/>
                                  </a:rPr>
                                  <m:t>= 8</m:t>
                                </m:r>
                              </m:oMath>
                            </m:oMathPara>
                          </a14:m>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11219349"/>
                      </a:ext>
                    </a:extLst>
                  </a:tr>
                  <a:tr h="137061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Pre>
                                  <m:sPrePr>
                                    <m:ctrlPr>
                                      <a:rPr lang="x-none" sz="1600" i="1">
                                        <a:effectLst/>
                                        <a:latin typeface="Cambria Math"/>
                                      </a:rPr>
                                    </m:ctrlPr>
                                  </m:sPrePr>
                                  <m:sub/>
                                  <m:sup>
                                    <m:r>
                                      <a:rPr lang="en-US" sz="1600">
                                        <a:effectLst/>
                                        <a:latin typeface="Cambria Math" panose="02040503050406030204" pitchFamily="18" charset="0"/>
                                      </a:rPr>
                                      <m:t>−</m:t>
                                    </m:r>
                                  </m:sup>
                                  <m:e>
                                    <m:r>
                                      <a:rPr lang="en-US" sz="1600">
                                        <a:effectLst/>
                                        <a:latin typeface="Cambria Math" panose="02040503050406030204" pitchFamily="18" charset="0"/>
                                      </a:rPr>
                                      <m:t>9</m:t>
                                    </m:r>
                                  </m:e>
                                </m:sPre>
                                <m:r>
                                  <a:rPr lang="en-US" sz="1600">
                                    <a:effectLst/>
                                    <a:latin typeface="Cambria Math" panose="02040503050406030204" pitchFamily="18" charset="0"/>
                                  </a:rPr>
                                  <m:t>−</m:t>
                                </m:r>
                                <m:sPre>
                                  <m:sPrePr>
                                    <m:ctrlPr>
                                      <a:rPr lang="x-none" sz="1600" i="1">
                                        <a:effectLst/>
                                        <a:latin typeface="Cambria Math"/>
                                      </a:rPr>
                                    </m:ctrlPr>
                                  </m:sPrePr>
                                  <m:sub/>
                                  <m:sup>
                                    <m:r>
                                      <a:rPr lang="en-US" sz="1600">
                                        <a:effectLst/>
                                        <a:latin typeface="Cambria Math" panose="02040503050406030204" pitchFamily="18" charset="0"/>
                                      </a:rPr>
                                      <m:t>−</m:t>
                                    </m:r>
                                  </m:sup>
                                  <m:e>
                                    <m:r>
                                      <a:rPr lang="en-US" sz="1600">
                                        <a:effectLst/>
                                        <a:latin typeface="Cambria Math" panose="02040503050406030204" pitchFamily="18" charset="0"/>
                                      </a:rPr>
                                      <m:t>7</m:t>
                                    </m:r>
                                  </m:e>
                                </m:sPre>
                                <m:r>
                                  <a:rPr lang="en-US" sz="1600">
                                    <a:effectLst/>
                                    <a:latin typeface="Cambria Math" panose="02040503050406030204" pitchFamily="18" charset="0"/>
                                  </a:rPr>
                                  <m:t>= </m:t>
                                </m:r>
                                <m:sPre>
                                  <m:sPrePr>
                                    <m:ctrlPr>
                                      <a:rPr lang="x-none" sz="1600" i="1">
                                        <a:effectLst/>
                                        <a:latin typeface="Cambria Math"/>
                                      </a:rPr>
                                    </m:ctrlPr>
                                  </m:sPrePr>
                                  <m:sub/>
                                  <m:sup>
                                    <m:r>
                                      <a:rPr lang="en-US" sz="1600">
                                        <a:effectLst/>
                                        <a:latin typeface="Cambria Math" panose="02040503050406030204" pitchFamily="18" charset="0"/>
                                      </a:rPr>
                                      <m:t>−</m:t>
                                    </m:r>
                                  </m:sup>
                                  <m:e>
                                    <m:r>
                                      <a:rPr lang="en-US" sz="1600">
                                        <a:effectLst/>
                                        <a:latin typeface="Cambria Math" panose="02040503050406030204" pitchFamily="18" charset="0"/>
                                      </a:rPr>
                                      <m:t>2</m:t>
                                    </m:r>
                                  </m:e>
                                </m:sPre>
                              </m:oMath>
                            </m:oMathPara>
                          </a14:m>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400" i="1" dirty="0">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73681393"/>
                      </a:ext>
                    </a:extLst>
                  </a:tr>
                </a:tbl>
              </a:graphicData>
            </a:graphic>
          </p:graphicFrame>
        </mc:Choice>
        <mc:Fallback xmlns="">
          <p:graphicFrame>
            <p:nvGraphicFramePr>
              <p:cNvPr id="4" name="Table 3">
                <a:extLst>
                  <a:ext uri="{FF2B5EF4-FFF2-40B4-BE49-F238E27FC236}">
                    <a16:creationId xmlns:a16="http://schemas.microsoft.com/office/drawing/2014/main" id="{D41B7F8B-A3E3-1340-9B2D-E3D05B03D8BB}"/>
                  </a:ext>
                </a:extLst>
              </p:cNvPr>
              <p:cNvGraphicFramePr>
                <a:graphicFrameLocks noGrp="1"/>
              </p:cNvGraphicFramePr>
              <p:nvPr>
                <p:extLst>
                  <p:ext uri="{D42A27DB-BD31-4B8C-83A1-F6EECF244321}">
                    <p14:modId xmlns:p14="http://schemas.microsoft.com/office/powerpoint/2010/main" val="1347074427"/>
                  </p:ext>
                </p:extLst>
              </p:nvPr>
            </p:nvGraphicFramePr>
            <p:xfrm>
              <a:off x="2387890" y="874061"/>
              <a:ext cx="7416220" cy="5056092"/>
            </p:xfrm>
            <a:graphic>
              <a:graphicData uri="http://schemas.openxmlformats.org/drawingml/2006/table">
                <a:tbl>
                  <a:tblPr firstRow="1" firstCol="1" bandRow="1">
                    <a:tableStyleId>{A91F0D33-8C57-4600-99A7-42BC86742BE1}</a:tableStyleId>
                  </a:tblPr>
                  <a:tblGrid>
                    <a:gridCol w="1786339">
                      <a:extLst>
                        <a:ext uri="{9D8B030D-6E8A-4147-A177-3AD203B41FA5}">
                          <a16:colId xmlns:a16="http://schemas.microsoft.com/office/drawing/2014/main" val="2675756588"/>
                        </a:ext>
                      </a:extLst>
                    </a:gridCol>
                    <a:gridCol w="1728051">
                      <a:extLst>
                        <a:ext uri="{9D8B030D-6E8A-4147-A177-3AD203B41FA5}">
                          <a16:colId xmlns:a16="http://schemas.microsoft.com/office/drawing/2014/main" val="3388952747"/>
                        </a:ext>
                      </a:extLst>
                    </a:gridCol>
                    <a:gridCol w="3901830">
                      <a:extLst>
                        <a:ext uri="{9D8B030D-6E8A-4147-A177-3AD203B41FA5}">
                          <a16:colId xmlns:a16="http://schemas.microsoft.com/office/drawing/2014/main" val="3333633071"/>
                        </a:ext>
                      </a:extLst>
                    </a:gridCol>
                  </a:tblGrid>
                  <a:tr h="1177106">
                    <a:tc>
                      <a:txBody>
                        <a:bodyPr/>
                        <a:lstStyle/>
                        <a:p>
                          <a:endParaRPr lang="en-US"/>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09" r="-315603" b="-331183"/>
                          </a:stretch>
                        </a:blipFill>
                      </a:tcPr>
                    </a:tc>
                    <a:tc>
                      <a:txBody>
                        <a:bodyPr/>
                        <a:lstStyle/>
                        <a:p>
                          <a:pPr marL="0" marR="0" algn="l">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400" i="1" dirty="0">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6659494"/>
                      </a:ext>
                    </a:extLst>
                  </a:tr>
                  <a:tr h="1180387">
                    <a:tc>
                      <a:txBody>
                        <a:bodyPr/>
                        <a:lstStyle/>
                        <a:p>
                          <a:endParaRPr lang="en-US"/>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09" t="-100000" r="-315603" b="-231183"/>
                          </a:stretch>
                        </a:blipFill>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400" i="1" dirty="0">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7472944"/>
                      </a:ext>
                    </a:extLst>
                  </a:tr>
                  <a:tr h="1327980">
                    <a:tc>
                      <a:txBody>
                        <a:bodyPr/>
                        <a:lstStyle/>
                        <a:p>
                          <a:endParaRPr lang="en-US"/>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09" t="-177143" r="-315603" b="-104762"/>
                          </a:stretch>
                        </a:blipFill>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1219349"/>
                      </a:ext>
                    </a:extLst>
                  </a:tr>
                  <a:tr h="1370619">
                    <a:tc>
                      <a:txBody>
                        <a:bodyPr/>
                        <a:lstStyle/>
                        <a:p>
                          <a:endParaRPr lang="en-US"/>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09" t="-269444" r="-315603" b="-1852"/>
                          </a:stretch>
                        </a:blipFill>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400" i="1">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400" i="1" dirty="0">
                            <a:effectLst/>
                            <a:latin typeface="Verdana" panose="020B0604030504040204" pitchFamily="34" charset="0"/>
                            <a:ea typeface="Verdana" panose="020B0604030504040204" pitchFamily="34" charset="0"/>
                            <a:cs typeface="Verdana" panose="020B0604030504040204" pitchFamily="34" charset="0"/>
                          </a:endParaRPr>
                        </a:p>
                      </a:txBody>
                      <a:tcPr marL="33872" marR="338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3681393"/>
                      </a:ext>
                    </a:extLst>
                  </a:tr>
                </a:tbl>
              </a:graphicData>
            </a:graphic>
          </p:graphicFrame>
        </mc:Fallback>
      </mc:AlternateContent>
    </p:spTree>
    <p:extLst>
      <p:ext uri="{BB962C8B-B14F-4D97-AF65-F5344CB8AC3E}">
        <p14:creationId xmlns:p14="http://schemas.microsoft.com/office/powerpoint/2010/main" val="2137350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41</a:t>
            </a:r>
            <a:endParaRPr i="1" dirty="0">
              <a:latin typeface="Calibri"/>
              <a:ea typeface="Calibri"/>
              <a:cs typeface="Calibri"/>
              <a:sym typeface="Calibri"/>
            </a:endParaRPr>
          </a:p>
        </p:txBody>
      </p:sp>
      <p:sp>
        <p:nvSpPr>
          <p:cNvPr id="17" name="Rectangle 16">
            <a:extLst>
              <a:ext uri="{FF2B5EF4-FFF2-40B4-BE49-F238E27FC236}">
                <a16:creationId xmlns:a16="http://schemas.microsoft.com/office/drawing/2014/main" xmlns="" id="{F0A60880-FBC1-5B46-A79E-D5EBCEC5210F}"/>
              </a:ext>
            </a:extLst>
          </p:cNvPr>
          <p:cNvSpPr/>
          <p:nvPr/>
        </p:nvSpPr>
        <p:spPr>
          <a:xfrm>
            <a:off x="905255" y="815889"/>
            <a:ext cx="10510889" cy="2308324"/>
          </a:xfrm>
          <a:prstGeom prst="rect">
            <a:avLst/>
          </a:prstGeom>
        </p:spPr>
        <p:txBody>
          <a:bodyPr wrap="square">
            <a:spAutoFit/>
          </a:bodyPr>
          <a:lstStyle/>
          <a:p>
            <a:pPr lvl="0">
              <a:buSzPct val="100000"/>
            </a:pPr>
            <a:r>
              <a:rPr lang="en-US" sz="2400" dirty="0">
                <a:latin typeface="Verdana" panose="020B0604030504040204" pitchFamily="34" charset="0"/>
                <a:ea typeface="Times New Roman" panose="02020603050405020304" pitchFamily="18" charset="0"/>
                <a:cs typeface="Times New Roman" panose="02020603050405020304" pitchFamily="18" charset="0"/>
              </a:rPr>
              <a:t>When subtracting integers, problems can be rewritten as an addition problem using the additive inverse of the second integer.</a:t>
            </a:r>
          </a:p>
          <a:p>
            <a:pPr lvl="0">
              <a:buSzPct val="100000"/>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lvl="0">
              <a:buSzPct val="100000"/>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Describe one advantage of changing a subtraction problem to an addition problem.</a:t>
            </a:r>
          </a:p>
        </p:txBody>
      </p:sp>
    </p:spTree>
    <p:extLst>
      <p:ext uri="{BB962C8B-B14F-4D97-AF65-F5344CB8AC3E}">
        <p14:creationId xmlns:p14="http://schemas.microsoft.com/office/powerpoint/2010/main" val="87319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41</a:t>
            </a:r>
            <a:endParaRPr i="1" dirty="0">
              <a:latin typeface="Calibri"/>
              <a:ea typeface="Calibri"/>
              <a:cs typeface="Calibri"/>
              <a:sym typeface="Calibri"/>
            </a:endParaRPr>
          </a:p>
        </p:txBody>
      </p:sp>
      <p:sp>
        <p:nvSpPr>
          <p:cNvPr id="17" name="Rectangle 16">
            <a:extLst>
              <a:ext uri="{FF2B5EF4-FFF2-40B4-BE49-F238E27FC236}">
                <a16:creationId xmlns:a16="http://schemas.microsoft.com/office/drawing/2014/main" xmlns="" id="{F0A60880-FBC1-5B46-A79E-D5EBCEC5210F}"/>
              </a:ext>
            </a:extLst>
          </p:cNvPr>
          <p:cNvSpPr/>
          <p:nvPr/>
        </p:nvSpPr>
        <p:spPr>
          <a:xfrm>
            <a:off x="905255" y="318347"/>
            <a:ext cx="11120489" cy="1200329"/>
          </a:xfrm>
          <a:prstGeom prst="rect">
            <a:avLst/>
          </a:prstGeom>
        </p:spPr>
        <p:txBody>
          <a:bodyPr wrap="square">
            <a:spAutoFit/>
          </a:bodyPr>
          <a:lstStyle/>
          <a:p>
            <a:pPr marL="457200" indent="-457200">
              <a:buSzPct val="100000"/>
              <a:buFont typeface="+mj-lt"/>
              <a:buAutoNum type="arabicPeriod" startAt="6"/>
            </a:pPr>
            <a:r>
              <a:rPr lang="en-US" sz="1800" dirty="0">
                <a:latin typeface="Verdana" panose="020B0604030504040204" pitchFamily="34" charset="0"/>
                <a:ea typeface="Times New Roman" panose="02020603050405020304" pitchFamily="18" charset="0"/>
                <a:cs typeface="Times New Roman" panose="02020603050405020304" pitchFamily="18" charset="0"/>
              </a:rPr>
              <a:t>Complete the table by rewriting the second integer in the subtraction model as its additive inverse and indicating the sign of the value of either expression. The first row has been completed. Once your group is done, split back into pairs and check your table with a different pair of students. </a:t>
            </a:r>
          </a:p>
        </p:txBody>
      </p:sp>
      <p:pic>
        <p:nvPicPr>
          <p:cNvPr id="3" name="Picture 2" descr="Chart, bubble chart&#10;&#10;Description automatically generated with medium confidence">
            <a:extLst>
              <a:ext uri="{FF2B5EF4-FFF2-40B4-BE49-F238E27FC236}">
                <a16:creationId xmlns:a16="http://schemas.microsoft.com/office/drawing/2014/main" xmlns="" id="{07381BC2-BA27-4845-B650-A028E2F0B40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014160" y="1857289"/>
            <a:ext cx="4163681" cy="4682364"/>
          </a:xfrm>
          <a:prstGeom prst="rect">
            <a:avLst/>
          </a:prstGeom>
        </p:spPr>
      </p:pic>
    </p:spTree>
    <p:extLst>
      <p:ext uri="{BB962C8B-B14F-4D97-AF65-F5344CB8AC3E}">
        <p14:creationId xmlns:p14="http://schemas.microsoft.com/office/powerpoint/2010/main" val="1665915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E24E5F"/>
                </a:solidFill>
                <a:latin typeface="Verdana"/>
                <a:ea typeface="Verdana"/>
                <a:cs typeface="Verdana"/>
                <a:sym typeface="Verdana"/>
              </a:rPr>
              <a:t>Your Turn</a:t>
            </a:r>
            <a:endParaRPr sz="4000" b="1" dirty="0">
              <a:solidFill>
                <a:srgbClr val="E24E5F"/>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xmlns="" id="{2C8C0BED-1AF4-B944-96AA-2CF26F1ABF6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228" cy="11562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764"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642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E24E5F"/>
                </a:solidFill>
                <a:latin typeface="Verdana"/>
                <a:ea typeface="Verdana"/>
                <a:cs typeface="Verdana"/>
                <a:sym typeface="Verdana"/>
              </a:rPr>
              <a:t>7.8.4 Your Turn!</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B05AB5A2-AF35-B14C-AE54-D2A0628C823C}"/>
                  </a:ext>
                </a:extLst>
              </p:cNvPr>
              <p:cNvSpPr/>
              <p:nvPr/>
            </p:nvSpPr>
            <p:spPr>
              <a:xfrm>
                <a:off x="1969000" y="1340983"/>
                <a:ext cx="8254001" cy="1323439"/>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Represent each subtraction statement on a number line and find the value of the expression.</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−19−11 = _____</m:t>
                    </m:r>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B05AB5A2-AF35-B14C-AE54-D2A0628C823C}"/>
                  </a:ext>
                </a:extLst>
              </p:cNvPr>
              <p:cNvSpPr>
                <a:spLocks noRot="1" noChangeAspect="1" noMove="1" noResize="1" noEditPoints="1" noAdjustHandles="1" noChangeArrowheads="1" noChangeShapeType="1" noTextEdit="1"/>
              </p:cNvSpPr>
              <p:nvPr/>
            </p:nvSpPr>
            <p:spPr>
              <a:xfrm>
                <a:off x="1969000" y="1340983"/>
                <a:ext cx="8254001" cy="1323439"/>
              </a:xfrm>
              <a:prstGeom prst="rect">
                <a:avLst/>
              </a:prstGeom>
              <a:blipFill>
                <a:blip r:embed="rId4"/>
                <a:stretch>
                  <a:fillRect l="-923" t="-2857" b="-7619"/>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xmlns="" id="{85268C17-F7CB-D243-B65D-166A4DD9987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xmlns="" id="{00D9959C-BC81-7642-9A75-F49D3552473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2254" cy="752254"/>
          </a:xfrm>
          <a:prstGeom prst="rect">
            <a:avLst/>
          </a:prstGeom>
        </p:spPr>
      </p:pic>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xmlns="" id="{84604299-6361-D047-8883-BC57FBC04996}"/>
                  </a:ext>
                </a:extLst>
              </p:cNvPr>
              <p:cNvSpPr/>
              <p:nvPr/>
            </p:nvSpPr>
            <p:spPr>
              <a:xfrm>
                <a:off x="1969000" y="3667323"/>
                <a:ext cx="8254001" cy="400110"/>
              </a:xfrm>
              <a:prstGeom prst="rect">
                <a:avLst/>
              </a:prstGeom>
            </p:spPr>
            <p:txBody>
              <a:bodyPr wrap="square">
                <a:spAutoFit/>
              </a:bodyPr>
              <a:lstStyle/>
              <a:p>
                <a:pPr marL="4572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12−(−28) = _____</m:t>
                    </m:r>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12" name="Rectangle 11">
                <a:extLst>
                  <a:ext uri="{FF2B5EF4-FFF2-40B4-BE49-F238E27FC236}">
                    <a16:creationId xmlns:a16="http://schemas.microsoft.com/office/drawing/2014/main" id="{84604299-6361-D047-8883-BC57FBC04996}"/>
                  </a:ext>
                </a:extLst>
              </p:cNvPr>
              <p:cNvSpPr>
                <a:spLocks noRot="1" noChangeAspect="1" noMove="1" noResize="1" noEditPoints="1" noAdjustHandles="1" noChangeArrowheads="1" noChangeShapeType="1" noTextEdit="1"/>
              </p:cNvSpPr>
              <p:nvPr/>
            </p:nvSpPr>
            <p:spPr>
              <a:xfrm>
                <a:off x="1969000" y="3667323"/>
                <a:ext cx="8254001" cy="400110"/>
              </a:xfrm>
              <a:prstGeom prst="rect">
                <a:avLst/>
              </a:prstGeom>
              <a:blipFill>
                <a:blip r:embed="rId7"/>
                <a:stretch>
                  <a:fillRect l="-923" t="-6061" b="-242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xmlns="" id="{EB4AD20E-D5D9-A44E-83EF-6364A4B5C10E}"/>
                  </a:ext>
                </a:extLst>
              </p:cNvPr>
              <p:cNvSpPr/>
              <p:nvPr/>
            </p:nvSpPr>
            <p:spPr>
              <a:xfrm>
                <a:off x="1969000" y="5106158"/>
                <a:ext cx="8254001" cy="400110"/>
              </a:xfrm>
              <a:prstGeom prst="rect">
                <a:avLst/>
              </a:prstGeom>
            </p:spPr>
            <p:txBody>
              <a:bodyPr wrap="square">
                <a:spAutoFit/>
              </a:bodyPr>
              <a:lstStyle/>
              <a:p>
                <a:pPr marL="457200" indent="-4572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(−14)−(−15) = _____</m:t>
                    </m:r>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14" name="Rectangle 13">
                <a:extLst>
                  <a:ext uri="{FF2B5EF4-FFF2-40B4-BE49-F238E27FC236}">
                    <a16:creationId xmlns:a16="http://schemas.microsoft.com/office/drawing/2014/main" id="{EB4AD20E-D5D9-A44E-83EF-6364A4B5C10E}"/>
                  </a:ext>
                </a:extLst>
              </p:cNvPr>
              <p:cNvSpPr>
                <a:spLocks noRot="1" noChangeAspect="1" noMove="1" noResize="1" noEditPoints="1" noAdjustHandles="1" noChangeArrowheads="1" noChangeShapeType="1" noTextEdit="1"/>
              </p:cNvSpPr>
              <p:nvPr/>
            </p:nvSpPr>
            <p:spPr>
              <a:xfrm>
                <a:off x="1969000" y="5106158"/>
                <a:ext cx="8254001" cy="400110"/>
              </a:xfrm>
              <a:prstGeom prst="rect">
                <a:avLst/>
              </a:prstGeom>
              <a:blipFill>
                <a:blip r:embed="rId8"/>
                <a:stretch>
                  <a:fillRect l="-923" t="-9375" b="-28125"/>
                </a:stretch>
              </a:blipFill>
            </p:spPr>
            <p:txBody>
              <a:bodyPr/>
              <a:lstStyle/>
              <a:p>
                <a:r>
                  <a:rPr lang="en-US">
                    <a:noFill/>
                  </a:rPr>
                  <a:t> </a:t>
                </a:r>
              </a:p>
            </p:txBody>
          </p:sp>
        </mc:Fallback>
      </mc:AlternateContent>
      <p:pic>
        <p:nvPicPr>
          <p:cNvPr id="13" name="Picture 12"/>
          <p:cNvPicPr/>
          <p:nvPr/>
        </p:nvPicPr>
        <p:blipFill>
          <a:blip r:embed="rId9"/>
          <a:stretch>
            <a:fillRect/>
          </a:stretch>
        </p:blipFill>
        <p:spPr>
          <a:xfrm>
            <a:off x="2574013" y="2664422"/>
            <a:ext cx="6949440" cy="604520"/>
          </a:xfrm>
          <a:prstGeom prst="rect">
            <a:avLst/>
          </a:prstGeom>
        </p:spPr>
      </p:pic>
      <p:pic>
        <p:nvPicPr>
          <p:cNvPr id="15" name="Picture 14"/>
          <p:cNvPicPr/>
          <p:nvPr/>
        </p:nvPicPr>
        <p:blipFill>
          <a:blip r:embed="rId9"/>
          <a:stretch>
            <a:fillRect/>
          </a:stretch>
        </p:blipFill>
        <p:spPr>
          <a:xfrm>
            <a:off x="2574013" y="4067433"/>
            <a:ext cx="6949440" cy="604520"/>
          </a:xfrm>
          <a:prstGeom prst="rect">
            <a:avLst/>
          </a:prstGeom>
        </p:spPr>
      </p:pic>
      <p:pic>
        <p:nvPicPr>
          <p:cNvPr id="16" name="Picture 15"/>
          <p:cNvPicPr/>
          <p:nvPr/>
        </p:nvPicPr>
        <p:blipFill>
          <a:blip r:embed="rId9"/>
          <a:stretch>
            <a:fillRect/>
          </a:stretch>
        </p:blipFill>
        <p:spPr>
          <a:xfrm>
            <a:off x="2574013" y="5506268"/>
            <a:ext cx="6949440" cy="604520"/>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ABBAE5D4-A013-554B-AF18-FD3C50BA4B04}"/>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0642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7.8.5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50A85065-1747-6C4E-8BA4-9C1ED8A185A6}"/>
              </a:ext>
            </a:extLst>
          </p:cNvPr>
          <p:cNvSpPr/>
          <p:nvPr/>
        </p:nvSpPr>
        <p:spPr>
          <a:xfrm>
            <a:off x="905256" y="1140260"/>
            <a:ext cx="10732562" cy="1323439"/>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Draw an </a:t>
            </a:r>
            <a:r>
              <a:rPr lang="en-US" sz="2000" b="1" dirty="0">
                <a:latin typeface="Verdana" panose="020B0604030504040204" pitchFamily="34" charset="0"/>
                <a:ea typeface="Verdana" panose="020B0604030504040204" pitchFamily="34" charset="0"/>
                <a:cs typeface="Verdana" panose="020B0604030504040204" pitchFamily="34" charset="0"/>
              </a:rPr>
              <a:t>X</a:t>
            </a:r>
            <a:r>
              <a:rPr lang="en-US" sz="2000" dirty="0">
                <a:latin typeface="Verdana" panose="020B0604030504040204" pitchFamily="34" charset="0"/>
                <a:ea typeface="Verdana" panose="020B0604030504040204" pitchFamily="34" charset="0"/>
                <a:cs typeface="Verdana" panose="020B0604030504040204" pitchFamily="34" charset="0"/>
              </a:rPr>
              <a:t> on each line to indicate where your current learning is related to each target.</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 can subtract integers using a number line.</a:t>
            </a:r>
          </a:p>
        </p:txBody>
      </p:sp>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a:t>
            </a:r>
            <a:endParaRPr i="1" dirty="0">
              <a:latin typeface="Calibri"/>
              <a:ea typeface="Calibri"/>
              <a:cs typeface="Calibri"/>
              <a:sym typeface="Calibri"/>
            </a:endParaRPr>
          </a:p>
        </p:txBody>
      </p:sp>
      <p:graphicFrame>
        <p:nvGraphicFramePr>
          <p:cNvPr id="4" name="Table 3">
            <a:extLst>
              <a:ext uri="{FF2B5EF4-FFF2-40B4-BE49-F238E27FC236}">
                <a16:creationId xmlns:a16="http://schemas.microsoft.com/office/drawing/2014/main" xmlns="" id="{F554DA56-3816-944B-8DE7-3631915C179F}"/>
              </a:ext>
            </a:extLst>
          </p:cNvPr>
          <p:cNvGraphicFramePr>
            <a:graphicFrameLocks noGrp="1"/>
          </p:cNvGraphicFramePr>
          <p:nvPr>
            <p:extLst>
              <p:ext uri="{D42A27DB-BD31-4B8C-83A1-F6EECF244321}">
                <p14:modId xmlns:p14="http://schemas.microsoft.com/office/powerpoint/2010/main" val="1643547864"/>
              </p:ext>
            </p:extLst>
          </p:nvPr>
        </p:nvGraphicFramePr>
        <p:xfrm>
          <a:off x="1729936" y="2655491"/>
          <a:ext cx="6772275" cy="456565"/>
        </p:xfrm>
        <a:graphic>
          <a:graphicData uri="http://schemas.openxmlformats.org/drawingml/2006/table">
            <a:tbl>
              <a:tblPr firstRow="1" firstCol="1" bandRow="1">
                <a:tableStyleId>{A91F0D33-8C57-4600-99A7-42BC86742BE1}</a:tableStyleId>
              </a:tblPr>
              <a:tblGrid>
                <a:gridCol w="2257425">
                  <a:extLst>
                    <a:ext uri="{9D8B030D-6E8A-4147-A177-3AD203B41FA5}">
                      <a16:colId xmlns:a16="http://schemas.microsoft.com/office/drawing/2014/main" xmlns="" val="3170450013"/>
                    </a:ext>
                  </a:extLst>
                </a:gridCol>
                <a:gridCol w="2257425">
                  <a:extLst>
                    <a:ext uri="{9D8B030D-6E8A-4147-A177-3AD203B41FA5}">
                      <a16:colId xmlns:a16="http://schemas.microsoft.com/office/drawing/2014/main" xmlns="" val="2099977208"/>
                    </a:ext>
                  </a:extLst>
                </a:gridCol>
                <a:gridCol w="2257425">
                  <a:extLst>
                    <a:ext uri="{9D8B030D-6E8A-4147-A177-3AD203B41FA5}">
                      <a16:colId xmlns:a16="http://schemas.microsoft.com/office/drawing/2014/main" xmlns="" val="3714740730"/>
                    </a:ext>
                  </a:extLst>
                </a:gridCol>
              </a:tblGrid>
              <a:tr h="0">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help.</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can’t get started.</a:t>
                      </a:r>
                      <a:endParaRPr lang="x-none" sz="11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I’m getting there, but </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 need more practice.</a:t>
                      </a:r>
                      <a:endParaRPr lang="x-none" sz="11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r">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understand this,</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r">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x-none" sz="11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2694360918"/>
                  </a:ext>
                </a:extLst>
              </a:tr>
            </a:tbl>
          </a:graphicData>
        </a:graphic>
      </p:graphicFrame>
      <p:cxnSp>
        <p:nvCxnSpPr>
          <p:cNvPr id="10" name="Straight Arrow Connector 9">
            <a:extLst>
              <a:ext uri="{FF2B5EF4-FFF2-40B4-BE49-F238E27FC236}">
                <a16:creationId xmlns:a16="http://schemas.microsoft.com/office/drawing/2014/main" xmlns="" id="{E562D00C-11CA-4943-A556-199454E74F64}"/>
              </a:ext>
            </a:extLst>
          </p:cNvPr>
          <p:cNvCxnSpPr/>
          <p:nvPr/>
        </p:nvCxnSpPr>
        <p:spPr>
          <a:xfrm>
            <a:off x="1742317" y="3379505"/>
            <a:ext cx="6747510" cy="0"/>
          </a:xfrm>
          <a:prstGeom prst="straightConnector1">
            <a:avLst/>
          </a:prstGeom>
          <a:ln>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xmlns="" id="{5A930111-59D6-2648-A8F7-05742F31D61F}"/>
              </a:ext>
            </a:extLst>
          </p:cNvPr>
          <p:cNvSpPr/>
          <p:nvPr/>
        </p:nvSpPr>
        <p:spPr>
          <a:xfrm>
            <a:off x="905256" y="3883460"/>
            <a:ext cx="8422610" cy="1015663"/>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I can use number lines to understand how the rules for adding integers are related to the rules for subtracting integers.</a:t>
            </a:r>
          </a:p>
        </p:txBody>
      </p:sp>
      <p:graphicFrame>
        <p:nvGraphicFramePr>
          <p:cNvPr id="13" name="Table 12">
            <a:extLst>
              <a:ext uri="{FF2B5EF4-FFF2-40B4-BE49-F238E27FC236}">
                <a16:creationId xmlns:a16="http://schemas.microsoft.com/office/drawing/2014/main" xmlns="" id="{9B5BF004-5E0F-C041-8BB5-D30601B25178}"/>
              </a:ext>
            </a:extLst>
          </p:cNvPr>
          <p:cNvGraphicFramePr>
            <a:graphicFrameLocks noGrp="1"/>
          </p:cNvGraphicFramePr>
          <p:nvPr>
            <p:extLst>
              <p:ext uri="{D42A27DB-BD31-4B8C-83A1-F6EECF244321}">
                <p14:modId xmlns:p14="http://schemas.microsoft.com/office/powerpoint/2010/main" val="126537661"/>
              </p:ext>
            </p:extLst>
          </p:nvPr>
        </p:nvGraphicFramePr>
        <p:xfrm>
          <a:off x="1615353" y="5184859"/>
          <a:ext cx="6772275" cy="456565"/>
        </p:xfrm>
        <a:graphic>
          <a:graphicData uri="http://schemas.openxmlformats.org/drawingml/2006/table">
            <a:tbl>
              <a:tblPr firstRow="1" firstCol="1" bandRow="1">
                <a:tableStyleId>{A91F0D33-8C57-4600-99A7-42BC86742BE1}</a:tableStyleId>
              </a:tblPr>
              <a:tblGrid>
                <a:gridCol w="2257425">
                  <a:extLst>
                    <a:ext uri="{9D8B030D-6E8A-4147-A177-3AD203B41FA5}">
                      <a16:colId xmlns:a16="http://schemas.microsoft.com/office/drawing/2014/main" xmlns="" val="3170450013"/>
                    </a:ext>
                  </a:extLst>
                </a:gridCol>
                <a:gridCol w="2257425">
                  <a:extLst>
                    <a:ext uri="{9D8B030D-6E8A-4147-A177-3AD203B41FA5}">
                      <a16:colId xmlns:a16="http://schemas.microsoft.com/office/drawing/2014/main" xmlns="" val="2099977208"/>
                    </a:ext>
                  </a:extLst>
                </a:gridCol>
                <a:gridCol w="2257425">
                  <a:extLst>
                    <a:ext uri="{9D8B030D-6E8A-4147-A177-3AD203B41FA5}">
                      <a16:colId xmlns:a16="http://schemas.microsoft.com/office/drawing/2014/main" xmlns="" val="3714740730"/>
                    </a:ext>
                  </a:extLst>
                </a:gridCol>
              </a:tblGrid>
              <a:tr h="0">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help.</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can’t get started.</a:t>
                      </a:r>
                      <a:endParaRPr lang="x-none" sz="11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I’m getting there, but </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 need more practice.</a:t>
                      </a:r>
                      <a:endParaRPr lang="x-none" sz="11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r">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understand this,</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r">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x-none" sz="11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2694360918"/>
                  </a:ext>
                </a:extLst>
              </a:tr>
            </a:tbl>
          </a:graphicData>
        </a:graphic>
      </p:graphicFrame>
      <p:cxnSp>
        <p:nvCxnSpPr>
          <p:cNvPr id="14" name="Straight Arrow Connector 13">
            <a:extLst>
              <a:ext uri="{FF2B5EF4-FFF2-40B4-BE49-F238E27FC236}">
                <a16:creationId xmlns:a16="http://schemas.microsoft.com/office/drawing/2014/main" xmlns="" id="{6050643A-01C7-B345-A573-F494C81C5CE9}"/>
              </a:ext>
            </a:extLst>
          </p:cNvPr>
          <p:cNvCxnSpPr/>
          <p:nvPr/>
        </p:nvCxnSpPr>
        <p:spPr>
          <a:xfrm>
            <a:off x="1627734" y="5908873"/>
            <a:ext cx="6747510" cy="0"/>
          </a:xfrm>
          <a:prstGeom prst="straightConnector1">
            <a:avLst/>
          </a:prstGeom>
          <a:ln>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1B14E9E-9EB7-46EC-825E-35203A41665C}">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F26684CD-BF96-444B-ADB2-A548E7442B5A}">
  <ds:schemaRefs>
    <ds:schemaRef ds:uri="http://schemas.microsoft.com/sharepoint/v3/contenttype/forms"/>
  </ds:schemaRefs>
</ds:datastoreItem>
</file>

<file path=customXml/itemProps3.xml><?xml version="1.0" encoding="utf-8"?>
<ds:datastoreItem xmlns:ds="http://schemas.openxmlformats.org/officeDocument/2006/customXml" ds:itemID="{0879A9AE-E347-40A2-B689-A903A487D6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1464</TotalTime>
  <Words>1025</Words>
  <Application>Microsoft Office PowerPoint</Application>
  <PresentationFormat>Custom</PresentationFormat>
  <Paragraphs>176</Paragraphs>
  <Slides>22</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Wingdings</vt:lpstr>
      <vt:lpstr>Cambria Math</vt:lpstr>
      <vt:lpstr>Cambria</vt:lpstr>
      <vt:lpstr>Arial Black</vt:lpstr>
      <vt:lpstr>Verdana</vt:lpstr>
      <vt:lpstr>Calibri</vt:lpstr>
      <vt:lpstr>Times New Roman</vt:lpstr>
      <vt:lpstr>Century Gothic</vt:lpstr>
      <vt:lpstr>1_Office Theme</vt:lpstr>
      <vt:lpstr>6th Grade Math  Unit 7, Lesson 8  Subtracting Integers Using Number Lines  Volume 2, pg. 38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27</cp:revision>
  <dcterms:created xsi:type="dcterms:W3CDTF">2015-03-17T18:51:18Z</dcterms:created>
  <dcterms:modified xsi:type="dcterms:W3CDTF">2023-07-06T08:49:37Z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