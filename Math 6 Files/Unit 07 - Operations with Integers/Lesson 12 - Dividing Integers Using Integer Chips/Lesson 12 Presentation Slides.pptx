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342" r:id="rId8"/>
    <p:sldId id="343" r:id="rId9"/>
    <p:sldId id="344" r:id="rId10"/>
    <p:sldId id="352" r:id="rId11"/>
    <p:sldId id="353" r:id="rId12"/>
    <p:sldId id="354" r:id="rId13"/>
    <p:sldId id="302" r:id="rId14"/>
    <p:sldId id="303" r:id="rId15"/>
    <p:sldId id="340" r:id="rId16"/>
    <p:sldId id="345" r:id="rId17"/>
    <p:sldId id="346" r:id="rId18"/>
    <p:sldId id="347" r:id="rId19"/>
    <p:sldId id="358" r:id="rId20"/>
    <p:sldId id="359" r:id="rId21"/>
    <p:sldId id="360" r:id="rId22"/>
    <p:sldId id="361" r:id="rId23"/>
    <p:sldId id="363" r:id="rId24"/>
    <p:sldId id="364" r:id="rId25"/>
    <p:sldId id="365" r:id="rId26"/>
    <p:sldId id="311" r:id="rId27"/>
    <p:sldId id="312" r:id="rId28"/>
    <p:sldId id="306" r:id="rId29"/>
    <p:sldId id="307" r:id="rId30"/>
  </p:sldIdLst>
  <p:sldSz cx="12192000" cy="6858000"/>
  <p:notesSz cx="6858000" cy="9144000"/>
  <p:embeddedFontLst>
    <p:embeddedFont>
      <p:font typeface="Verdana" pitchFamily="34" charset="0"/>
      <p:regular r:id="rId32"/>
      <p:bold r:id="rId33"/>
      <p:italic r:id="rId34"/>
      <p:boldItalic r:id="rId35"/>
    </p:embeddedFont>
    <p:embeddedFont>
      <p:font typeface="Calibri" pitchFamily="34" charset="0"/>
      <p:regular r:id="rId36"/>
      <p:bold r:id="rId37"/>
      <p:italic r:id="rId38"/>
      <p:boldItalic r:id="rId39"/>
    </p:embeddedFont>
    <p:embeddedFont>
      <p:font typeface="Century Gothic" pitchFamily="34" charset="0"/>
      <p:regular r:id="rId40"/>
      <p:bold r:id="rId41"/>
      <p:italic r:id="rId42"/>
      <p:boldItalic r:id="rId43"/>
    </p:embeddedFont>
    <p:embeddedFont>
      <p:font typeface="Cambria Math" pitchFamily="18" charset="0"/>
      <p:regular r:id="rId44"/>
    </p:embeddedFont>
    <p:embeddedFont>
      <p:font typeface="Cambria" pitchFamily="18" charset="0"/>
      <p:regular r:id="rId45"/>
      <p:bold r:id="rId46"/>
      <p:italic r:id="rId47"/>
      <p:boldItalic r:id="rId48"/>
    </p:embeddedFont>
    <p:embeddedFont>
      <p:font typeface="Arial Black" pitchFamily="34" charset="0"/>
      <p:bold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8"/>
    <p:restoredTop sz="94722"/>
  </p:normalViewPr>
  <p:slideViewPr>
    <p:cSldViewPr snapToGrid="0">
      <p:cViewPr varScale="1">
        <p:scale>
          <a:sx n="80" d="100"/>
          <a:sy n="80" d="100"/>
        </p:scale>
        <p:origin x="-53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47108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18814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4330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14745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270094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87531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58913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523423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830138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49081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283780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472993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0281737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814625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04637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50.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7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2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40.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12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Dividing Integers Using Integer Chips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55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444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905256" y="1600200"/>
            <a:ext cx="995500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multiply and divide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6424" y="129667"/>
            <a:ext cx="107289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05256" y="1596390"/>
            <a:ext cx="998313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xmlns=""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55</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6424" y="274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05256" y="1547093"/>
            <a:ext cx="10081612"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integer chips and patterns to discover rules for dividing integers.</a:t>
            </a:r>
          </a:p>
        </p:txBody>
      </p:sp>
      <p:sp>
        <p:nvSpPr>
          <p:cNvPr id="8" name="Google Shape;282;g104476d1465_1_17">
            <a:extLst>
              <a:ext uri="{FF2B5EF4-FFF2-40B4-BE49-F238E27FC236}">
                <a16:creationId xmlns:a16="http://schemas.microsoft.com/office/drawing/2014/main" xmlns=""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55</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15384"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60325"/>
            <a:ext cx="95104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7.12.1 Warm-Up: Notice and Wonder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905256" y="2414948"/>
            <a:ext cx="8322575" cy="3785652"/>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Write down one thing you notice about the picture.</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Write down one thing you wonder about the picture.</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Isaac described the image as a math fail. Why do you think he described it that way?</a:t>
            </a:r>
          </a:p>
        </p:txBody>
      </p:sp>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55</a:t>
            </a:r>
            <a:endParaRPr i="1" dirty="0">
              <a:latin typeface="Calibri"/>
              <a:ea typeface="Calibri"/>
              <a:cs typeface="Calibri"/>
              <a:sym typeface="Calibri"/>
            </a:endParaRPr>
          </a:p>
        </p:txBody>
      </p:sp>
      <p:pic>
        <p:nvPicPr>
          <p:cNvPr id="4" name="Picture 3" descr="Shape&#10;&#10;Description automatically generated">
            <a:extLst>
              <a:ext uri="{FF2B5EF4-FFF2-40B4-BE49-F238E27FC236}">
                <a16:creationId xmlns:a16="http://schemas.microsoft.com/office/drawing/2014/main" xmlns="" id="{E2BE1D75-E1EB-2140-BB6C-0AEE8D2CC03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041606" y="1162685"/>
            <a:ext cx="2654166" cy="1038046"/>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xmlns=""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4" y="-27923"/>
            <a:ext cx="107289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7.12.2 Guided Instruction: Using Integer Chips to Represent Division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905256" y="1331161"/>
                <a:ext cx="8581650" cy="3785652"/>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Recall that division is repeated subtraction.</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For example,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24÷8</m:t>
                    </m:r>
                  </m:oMath>
                </a14:m>
                <a:r>
                  <a:rPr lang="en-US" sz="2000" dirty="0">
                    <a:latin typeface="Verdana" panose="020B0604030504040204" pitchFamily="34" charset="0"/>
                    <a:ea typeface="Verdana" panose="020B0604030504040204" pitchFamily="34" charset="0"/>
                    <a:cs typeface="Verdana" panose="020B0604030504040204" pitchFamily="34" charset="0"/>
                  </a:rPr>
                  <a:t> can be expressed as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24−8−8−8</m:t>
                    </m:r>
                  </m:oMath>
                </a14:m>
                <a:r>
                  <a:rPr lang="en-US" sz="2000" dirty="0">
                    <a:latin typeface="Verdana" panose="020B0604030504040204" pitchFamily="34" charset="0"/>
                    <a:ea typeface="Verdana" panose="020B0604030504040204" pitchFamily="34" charset="0"/>
                    <a:cs typeface="Verdana" panose="020B0604030504040204" pitchFamily="34" charset="0"/>
                  </a:rPr>
                  <a:t> because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groups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can be subtracted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This shows that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 is made up of ____ groups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24÷8</m:t>
                    </m:r>
                  </m:oMath>
                </a14:m>
                <a:r>
                  <a:rPr lang="en-US" sz="2000" dirty="0">
                    <a:latin typeface="Verdana" panose="020B0604030504040204" pitchFamily="34" charset="0"/>
                    <a:ea typeface="Verdana" panose="020B0604030504040204" pitchFamily="34" charset="0"/>
                    <a:cs typeface="Verdana" panose="020B0604030504040204" pitchFamily="34" charset="0"/>
                  </a:rPr>
                  <a:t> can also be interpreted as dividing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 into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equal-sized groups. In the representation shown,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 positive integer chips are divided into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equal-sized groups.</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05256" y="1331161"/>
                <a:ext cx="8581650" cy="3785652"/>
              </a:xfrm>
              <a:prstGeom prst="rect">
                <a:avLst/>
              </a:prstGeom>
              <a:blipFill>
                <a:blip r:embed="rId4"/>
                <a:stretch>
                  <a:fillRect l="-740" t="-669" b="-2007"/>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xmlns="" id="{C6C9C2DF-E989-BB45-9CB6-957F279300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pic>
        <p:nvPicPr>
          <p:cNvPr id="4" name="Picture 3" descr="A picture containing text, clipart&#10;&#10;Description automatically generated">
            <a:extLst>
              <a:ext uri="{FF2B5EF4-FFF2-40B4-BE49-F238E27FC236}">
                <a16:creationId xmlns:a16="http://schemas.microsoft.com/office/drawing/2014/main" xmlns="" id="{5A541EBB-8BD1-5141-BD18-B5B1C279D33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800899" y="5339736"/>
            <a:ext cx="4790364" cy="772039"/>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05256" y="389993"/>
                <a:ext cx="8549640" cy="286232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quotient is the result of the division, or the value of the integer chips in each group.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24÷8= ___</m:t>
                      </m:r>
                    </m:oMath>
                  </m:oMathPara>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describe the division, then draw the visual model using integer chips, and determine the quotient.</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389993"/>
                <a:ext cx="8549640" cy="2862322"/>
              </a:xfrm>
              <a:prstGeom prst="rect">
                <a:avLst/>
              </a:prstGeom>
              <a:blipFill>
                <a:blip r:embed="rId4"/>
                <a:stretch>
                  <a:fillRect l="-742" t="-1322" r="-297"/>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5CA6EE77-E21F-C142-AA4F-174830DDB15B}"/>
                  </a:ext>
                </a:extLst>
              </p:cNvPr>
              <p:cNvGraphicFramePr>
                <a:graphicFrameLocks noGrp="1"/>
              </p:cNvGraphicFramePr>
              <p:nvPr>
                <p:extLst>
                  <p:ext uri="{D42A27DB-BD31-4B8C-83A1-F6EECF244321}">
                    <p14:modId xmlns:p14="http://schemas.microsoft.com/office/powerpoint/2010/main" val="4083507513"/>
                  </p:ext>
                </p:extLst>
              </p:nvPr>
            </p:nvGraphicFramePr>
            <p:xfrm>
              <a:off x="1221015" y="3252315"/>
              <a:ext cx="7410735" cy="3099663"/>
            </p:xfrm>
            <a:graphic>
              <a:graphicData uri="http://schemas.openxmlformats.org/drawingml/2006/table">
                <a:tbl>
                  <a:tblPr firstRow="1" firstCol="1" bandRow="1">
                    <a:tableStyleId>{A91F0D33-8C57-4600-99A7-42BC86742BE1}</a:tableStyleId>
                  </a:tblPr>
                  <a:tblGrid>
                    <a:gridCol w="1432419">
                      <a:extLst>
                        <a:ext uri="{9D8B030D-6E8A-4147-A177-3AD203B41FA5}">
                          <a16:colId xmlns:a16="http://schemas.microsoft.com/office/drawing/2014/main" xmlns="" val="1306776310"/>
                        </a:ext>
                      </a:extLst>
                    </a:gridCol>
                    <a:gridCol w="1549225">
                      <a:extLst>
                        <a:ext uri="{9D8B030D-6E8A-4147-A177-3AD203B41FA5}">
                          <a16:colId xmlns:a16="http://schemas.microsoft.com/office/drawing/2014/main" xmlns="" val="2777818212"/>
                        </a:ext>
                      </a:extLst>
                    </a:gridCol>
                    <a:gridCol w="3170175">
                      <a:extLst>
                        <a:ext uri="{9D8B030D-6E8A-4147-A177-3AD203B41FA5}">
                          <a16:colId xmlns:a16="http://schemas.microsoft.com/office/drawing/2014/main" xmlns="" val="1374330529"/>
                        </a:ext>
                      </a:extLst>
                    </a:gridCol>
                    <a:gridCol w="1258916">
                      <a:extLst>
                        <a:ext uri="{9D8B030D-6E8A-4147-A177-3AD203B41FA5}">
                          <a16:colId xmlns:a16="http://schemas.microsoft.com/office/drawing/2014/main" xmlns="" val="4160121763"/>
                        </a:ext>
                      </a:extLst>
                    </a:gridCol>
                  </a:tblGrid>
                  <a:tr h="538583">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Division Expression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Visual Model of Division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Quotient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224884930"/>
                      </a:ext>
                    </a:extLst>
                  </a:tr>
                  <a:tr h="12805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800" i="1">
                                        <a:effectLst/>
                                        <a:latin typeface="Cambria Math"/>
                                      </a:rPr>
                                    </m:ctrlPr>
                                  </m:fPr>
                                  <m:num>
                                    <m:r>
                                      <a:rPr lang="en-US" sz="1800">
                                        <a:effectLst/>
                                        <a:latin typeface="Cambria Math" panose="02040503050406030204" pitchFamily="18" charset="0"/>
                                      </a:rPr>
                                      <m:t>15</m:t>
                                    </m:r>
                                  </m:num>
                                  <m:den>
                                    <m:r>
                                      <a:rPr lang="en-US" sz="1800">
                                        <a:effectLst/>
                                        <a:latin typeface="Cambria Math" panose="02040503050406030204" pitchFamily="18" charset="0"/>
                                      </a:rPr>
                                      <m:t>5</m:t>
                                    </m:r>
                                  </m:den>
                                </m:f>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x-none" sz="1400"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19983289"/>
                      </a:ext>
                    </a:extLst>
                  </a:tr>
                  <a:tr h="12805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−6÷2</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x-none" sz="1400"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05901935"/>
                      </a:ext>
                    </a:extLst>
                  </a:tr>
                </a:tbl>
              </a:graphicData>
            </a:graphic>
          </p:graphicFrame>
        </mc:Choice>
        <mc:Fallback xmlns="">
          <p:graphicFrame>
            <p:nvGraphicFramePr>
              <p:cNvPr id="4" name="Table 3">
                <a:extLst>
                  <a:ext uri="{FF2B5EF4-FFF2-40B4-BE49-F238E27FC236}">
                    <a16:creationId xmlns:a16="http://schemas.microsoft.com/office/drawing/2014/main" id="{5CA6EE77-E21F-C142-AA4F-174830DDB15B}"/>
                  </a:ext>
                </a:extLst>
              </p:cNvPr>
              <p:cNvGraphicFramePr>
                <a:graphicFrameLocks noGrp="1"/>
              </p:cNvGraphicFramePr>
              <p:nvPr>
                <p:extLst>
                  <p:ext uri="{D42A27DB-BD31-4B8C-83A1-F6EECF244321}">
                    <p14:modId xmlns:p14="http://schemas.microsoft.com/office/powerpoint/2010/main" val="4083507513"/>
                  </p:ext>
                </p:extLst>
              </p:nvPr>
            </p:nvGraphicFramePr>
            <p:xfrm>
              <a:off x="1221015" y="3252315"/>
              <a:ext cx="7410735" cy="3099663"/>
            </p:xfrm>
            <a:graphic>
              <a:graphicData uri="http://schemas.openxmlformats.org/drawingml/2006/table">
                <a:tbl>
                  <a:tblPr firstRow="1" firstCol="1" bandRow="1">
                    <a:tableStyleId>{A91F0D33-8C57-4600-99A7-42BC86742BE1}</a:tableStyleId>
                  </a:tblPr>
                  <a:tblGrid>
                    <a:gridCol w="1432419">
                      <a:extLst>
                        <a:ext uri="{9D8B030D-6E8A-4147-A177-3AD203B41FA5}">
                          <a16:colId xmlns:a16="http://schemas.microsoft.com/office/drawing/2014/main" val="1306776310"/>
                        </a:ext>
                      </a:extLst>
                    </a:gridCol>
                    <a:gridCol w="1549225">
                      <a:extLst>
                        <a:ext uri="{9D8B030D-6E8A-4147-A177-3AD203B41FA5}">
                          <a16:colId xmlns:a16="http://schemas.microsoft.com/office/drawing/2014/main" val="2777818212"/>
                        </a:ext>
                      </a:extLst>
                    </a:gridCol>
                    <a:gridCol w="3170175">
                      <a:extLst>
                        <a:ext uri="{9D8B030D-6E8A-4147-A177-3AD203B41FA5}">
                          <a16:colId xmlns:a16="http://schemas.microsoft.com/office/drawing/2014/main" val="1374330529"/>
                        </a:ext>
                      </a:extLst>
                    </a:gridCol>
                    <a:gridCol w="1258916">
                      <a:extLst>
                        <a:ext uri="{9D8B030D-6E8A-4147-A177-3AD203B41FA5}">
                          <a16:colId xmlns:a16="http://schemas.microsoft.com/office/drawing/2014/main" val="4160121763"/>
                        </a:ext>
                      </a:extLst>
                    </a:gridCol>
                  </a:tblGrid>
                  <a:tr h="538583">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Division Expression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Visual Model of Division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Quotient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224884930"/>
                      </a:ext>
                    </a:extLst>
                  </a:tr>
                  <a:tr h="1280540">
                    <a:tc>
                      <a:txBody>
                        <a:bodyPr/>
                        <a:lstStyle/>
                        <a:p>
                          <a:endParaRPr lang="en-US"/>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5" t="-47525" r="-418584" b="-100990"/>
                          </a:stretch>
                        </a:blipFill>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en-CO" sz="1400"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9983289"/>
                      </a:ext>
                    </a:extLst>
                  </a:tr>
                  <a:tr h="1280540">
                    <a:tc>
                      <a:txBody>
                        <a:bodyPr/>
                        <a:lstStyle/>
                        <a:p>
                          <a:endParaRPr lang="en-US"/>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5" t="-147525" r="-418584" b="-990"/>
                          </a:stretch>
                        </a:blipFill>
                      </a:tcP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en-CO" sz="1400"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7411" marR="674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901935"/>
                      </a:ext>
                    </a:extLst>
                  </a:tr>
                </a:tbl>
              </a:graphicData>
            </a:graphic>
          </p:graphicFrame>
        </mc:Fallback>
      </mc:AlternateContent>
    </p:spTree>
    <p:extLst>
      <p:ext uri="{BB962C8B-B14F-4D97-AF65-F5344CB8AC3E}">
        <p14:creationId xmlns:p14="http://schemas.microsoft.com/office/powerpoint/2010/main" val="2153346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05255" y="389994"/>
                <a:ext cx="10742793" cy="261430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When modeling division with integer chips, the divisor must be positive, as this indicates the number of groups needed. When the divisor is negative, the expression can be rewritten using opposites.</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For example,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8</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as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−8</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because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8</m:t>
                        </m:r>
                      </m:num>
                      <m:den>
                        <m:r>
                          <a:rPr lang="es-ES" sz="2400" i="1" dirty="0">
                            <a:latin typeface="Cambria Math" panose="02040503050406030204" pitchFamily="18" charset="0"/>
                            <a:cs typeface="Times New Roman" panose="02020603050405020304" pitchFamily="18" charset="0"/>
                          </a:rPr>
                          <m:t>−2</m:t>
                        </m:r>
                      </m:den>
                    </m:f>
                    <m:r>
                      <a:rPr lang="es-ES" sz="2400" i="1" dirty="0">
                        <a:latin typeface="Cambria Math" panose="02040503050406030204" pitchFamily="18" charset="0"/>
                        <a:cs typeface="Times New Roman" panose="02020603050405020304" pitchFamily="18" charset="0"/>
                      </a:rPr>
                      <m:t> </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−8</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5" y="389994"/>
                <a:ext cx="10742793" cy="2614305"/>
              </a:xfrm>
              <a:prstGeom prst="rect">
                <a:avLst/>
              </a:prstGeom>
              <a:blipFill>
                <a:blip r:embed="rId4"/>
                <a:stretch>
                  <a:fillRect l="-945" t="-1932" r="-118" b="-1449"/>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56</a:t>
            </a:r>
            <a:endParaRPr i="1" dirty="0">
              <a:latin typeface="Calibri"/>
              <a:ea typeface="Calibri"/>
              <a:cs typeface="Calibri"/>
              <a:sym typeface="Calibri"/>
            </a:endParaRPr>
          </a:p>
        </p:txBody>
      </p:sp>
    </p:spTree>
    <p:extLst>
      <p:ext uri="{BB962C8B-B14F-4D97-AF65-F5344CB8AC3E}">
        <p14:creationId xmlns:p14="http://schemas.microsoft.com/office/powerpoint/2010/main" val="370816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57</a:t>
            </a:r>
            <a:endParaRPr i="1" dirty="0">
              <a:latin typeface="Calibri"/>
              <a:ea typeface="Calibri"/>
              <a:cs typeface="Calibri"/>
              <a:sym typeface="Calibri"/>
            </a:endParaRPr>
          </a:p>
        </p:txBody>
      </p:sp>
      <p:sp>
        <p:nvSpPr>
          <p:cNvPr id="13" name="Rectangle 12">
            <a:extLst>
              <a:ext uri="{FF2B5EF4-FFF2-40B4-BE49-F238E27FC236}">
                <a16:creationId xmlns:a16="http://schemas.microsoft.com/office/drawing/2014/main" xmlns="" id="{604EDD47-67B5-C643-B0F3-081242E7B3B9}"/>
              </a:ext>
            </a:extLst>
          </p:cNvPr>
          <p:cNvSpPr/>
          <p:nvPr/>
        </p:nvSpPr>
        <p:spPr>
          <a:xfrm>
            <a:off x="905256" y="528855"/>
            <a:ext cx="8549640" cy="461665"/>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C79E7BF7-9BD4-9148-B667-14800C98066A}"/>
                  </a:ext>
                </a:extLst>
              </p:cNvPr>
              <p:cNvGraphicFramePr>
                <a:graphicFrameLocks noGrp="1"/>
              </p:cNvGraphicFramePr>
              <p:nvPr>
                <p:extLst>
                  <p:ext uri="{D42A27DB-BD31-4B8C-83A1-F6EECF244321}">
                    <p14:modId xmlns:p14="http://schemas.microsoft.com/office/powerpoint/2010/main" val="3464897388"/>
                  </p:ext>
                </p:extLst>
              </p:nvPr>
            </p:nvGraphicFramePr>
            <p:xfrm>
              <a:off x="1967304" y="1548428"/>
              <a:ext cx="7383439" cy="4351339"/>
            </p:xfrm>
            <a:graphic>
              <a:graphicData uri="http://schemas.openxmlformats.org/drawingml/2006/table">
                <a:tbl>
                  <a:tblPr firstRow="1" firstCol="1" bandRow="1">
                    <a:tableStyleId>{A91F0D33-8C57-4600-99A7-42BC86742BE1}</a:tableStyleId>
                  </a:tblPr>
                  <a:tblGrid>
                    <a:gridCol w="1313000">
                      <a:extLst>
                        <a:ext uri="{9D8B030D-6E8A-4147-A177-3AD203B41FA5}">
                          <a16:colId xmlns:a16="http://schemas.microsoft.com/office/drawing/2014/main" xmlns="" val="415050244"/>
                        </a:ext>
                      </a:extLst>
                    </a:gridCol>
                    <a:gridCol w="1313000">
                      <a:extLst>
                        <a:ext uri="{9D8B030D-6E8A-4147-A177-3AD203B41FA5}">
                          <a16:colId xmlns:a16="http://schemas.microsoft.com/office/drawing/2014/main" xmlns="" val="2370794010"/>
                        </a:ext>
                      </a:extLst>
                    </a:gridCol>
                    <a:gridCol w="1472490">
                      <a:extLst>
                        <a:ext uri="{9D8B030D-6E8A-4147-A177-3AD203B41FA5}">
                          <a16:colId xmlns:a16="http://schemas.microsoft.com/office/drawing/2014/main" xmlns="" val="2537515335"/>
                        </a:ext>
                      </a:extLst>
                    </a:gridCol>
                    <a:gridCol w="2211884">
                      <a:extLst>
                        <a:ext uri="{9D8B030D-6E8A-4147-A177-3AD203B41FA5}">
                          <a16:colId xmlns:a16="http://schemas.microsoft.com/office/drawing/2014/main" xmlns="" val="1508901267"/>
                        </a:ext>
                      </a:extLst>
                    </a:gridCol>
                    <a:gridCol w="1073065">
                      <a:extLst>
                        <a:ext uri="{9D8B030D-6E8A-4147-A177-3AD203B41FA5}">
                          <a16:colId xmlns:a16="http://schemas.microsoft.com/office/drawing/2014/main" xmlns="" val="225270243"/>
                        </a:ext>
                      </a:extLst>
                    </a:gridCol>
                  </a:tblGrid>
                  <a:tr h="860951">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Division Expression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Equivalent Division Expression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Visual Model of Division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Quotient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51206154"/>
                      </a:ext>
                    </a:extLst>
                  </a:tr>
                  <a:tr h="174519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700" i="1">
                                        <a:effectLst/>
                                        <a:latin typeface="Cambria Math"/>
                                      </a:rPr>
                                    </m:ctrlPr>
                                  </m:fPr>
                                  <m:num>
                                    <m:r>
                                      <a:rPr lang="en-US" sz="1700">
                                        <a:effectLst/>
                                        <a:latin typeface="Cambria Math" panose="02040503050406030204" pitchFamily="18" charset="0"/>
                                      </a:rPr>
                                      <m:t>9</m:t>
                                    </m:r>
                                  </m:num>
                                  <m:den>
                                    <m:r>
                                      <a:rPr lang="en-US" sz="1700">
                                        <a:effectLst/>
                                        <a:latin typeface="Cambria Math" panose="02040503050406030204" pitchFamily="18" charset="0"/>
                                      </a:rPr>
                                      <m:t>−3</m:t>
                                    </m:r>
                                  </m:den>
                                </m:f>
                              </m:oMath>
                            </m:oMathPara>
                          </a14:m>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08590811"/>
                      </a:ext>
                    </a:extLst>
                  </a:tr>
                  <a:tr h="174519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−12÷−2</m:t>
                                </m:r>
                              </m:oMath>
                            </m:oMathPara>
                          </a14:m>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x-none"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40173050"/>
                      </a:ext>
                    </a:extLst>
                  </a:tr>
                </a:tbl>
              </a:graphicData>
            </a:graphic>
          </p:graphicFrame>
        </mc:Choice>
        <mc:Fallback xmlns="">
          <p:graphicFrame>
            <p:nvGraphicFramePr>
              <p:cNvPr id="3" name="Table 2">
                <a:extLst>
                  <a:ext uri="{FF2B5EF4-FFF2-40B4-BE49-F238E27FC236}">
                    <a16:creationId xmlns:a16="http://schemas.microsoft.com/office/drawing/2014/main" id="{C79E7BF7-9BD4-9148-B667-14800C98066A}"/>
                  </a:ext>
                </a:extLst>
              </p:cNvPr>
              <p:cNvGraphicFramePr>
                <a:graphicFrameLocks noGrp="1"/>
              </p:cNvGraphicFramePr>
              <p:nvPr>
                <p:extLst>
                  <p:ext uri="{D42A27DB-BD31-4B8C-83A1-F6EECF244321}">
                    <p14:modId xmlns:p14="http://schemas.microsoft.com/office/powerpoint/2010/main" val="3464897388"/>
                  </p:ext>
                </p:extLst>
              </p:nvPr>
            </p:nvGraphicFramePr>
            <p:xfrm>
              <a:off x="1967304" y="1548428"/>
              <a:ext cx="7383439" cy="4351339"/>
            </p:xfrm>
            <a:graphic>
              <a:graphicData uri="http://schemas.openxmlformats.org/drawingml/2006/table">
                <a:tbl>
                  <a:tblPr firstRow="1" firstCol="1" bandRow="1">
                    <a:tableStyleId>{A91F0D33-8C57-4600-99A7-42BC86742BE1}</a:tableStyleId>
                  </a:tblPr>
                  <a:tblGrid>
                    <a:gridCol w="1313000">
                      <a:extLst>
                        <a:ext uri="{9D8B030D-6E8A-4147-A177-3AD203B41FA5}">
                          <a16:colId xmlns:a16="http://schemas.microsoft.com/office/drawing/2014/main" val="415050244"/>
                        </a:ext>
                      </a:extLst>
                    </a:gridCol>
                    <a:gridCol w="1313000">
                      <a:extLst>
                        <a:ext uri="{9D8B030D-6E8A-4147-A177-3AD203B41FA5}">
                          <a16:colId xmlns:a16="http://schemas.microsoft.com/office/drawing/2014/main" val="2370794010"/>
                        </a:ext>
                      </a:extLst>
                    </a:gridCol>
                    <a:gridCol w="1472490">
                      <a:extLst>
                        <a:ext uri="{9D8B030D-6E8A-4147-A177-3AD203B41FA5}">
                          <a16:colId xmlns:a16="http://schemas.microsoft.com/office/drawing/2014/main" val="2537515335"/>
                        </a:ext>
                      </a:extLst>
                    </a:gridCol>
                    <a:gridCol w="2211884">
                      <a:extLst>
                        <a:ext uri="{9D8B030D-6E8A-4147-A177-3AD203B41FA5}">
                          <a16:colId xmlns:a16="http://schemas.microsoft.com/office/drawing/2014/main" val="1508901267"/>
                        </a:ext>
                      </a:extLst>
                    </a:gridCol>
                    <a:gridCol w="1073065">
                      <a:extLst>
                        <a:ext uri="{9D8B030D-6E8A-4147-A177-3AD203B41FA5}">
                          <a16:colId xmlns:a16="http://schemas.microsoft.com/office/drawing/2014/main" val="225270243"/>
                        </a:ext>
                      </a:extLst>
                    </a:gridCol>
                  </a:tblGrid>
                  <a:tr h="860951">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Division Expression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Equivalent Division Expression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Visual Model of Division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Quotient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51206154"/>
                      </a:ext>
                    </a:extLst>
                  </a:tr>
                  <a:tr h="1745194">
                    <a:tc>
                      <a:txBody>
                        <a:bodyPr/>
                        <a:lstStyle/>
                        <a:p>
                          <a:endParaRPr lang="en-US"/>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50000" r="-461538" b="-100725"/>
                          </a:stretch>
                        </a:blipFill>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en-CO"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en-CO"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en-CO"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en-CO"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8590811"/>
                      </a:ext>
                    </a:extLst>
                  </a:tr>
                  <a:tr h="1745194">
                    <a:tc>
                      <a:txBody>
                        <a:bodyPr/>
                        <a:lstStyle/>
                        <a:p>
                          <a:endParaRPr lang="en-US"/>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50000" r="-461538" b="-725"/>
                          </a:stretch>
                        </a:blipFill>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en-CO"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Divide ___ into ___ equal-sized groups</a:t>
                          </a:r>
                          <a:endParaRPr lang="en-CO"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en-CO" sz="1500" i="1">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en-CO" sz="1500" i="1" dirty="0">
                            <a:effectLst/>
                            <a:latin typeface="Verdana" panose="020B0604030504040204" pitchFamily="34" charset="0"/>
                            <a:ea typeface="Verdana" panose="020B0604030504040204" pitchFamily="34" charset="0"/>
                            <a:cs typeface="Verdana" panose="020B0604030504040204" pitchFamily="34" charset="0"/>
                          </a:endParaRPr>
                        </a:p>
                      </a:txBody>
                      <a:tcPr marL="65513" marR="6551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0173050"/>
                      </a:ext>
                    </a:extLst>
                  </a:tr>
                </a:tbl>
              </a:graphicData>
            </a:graphic>
          </p:graphicFrame>
        </mc:Fallback>
      </mc:AlternateContent>
    </p:spTree>
    <p:extLst>
      <p:ext uri="{BB962C8B-B14F-4D97-AF65-F5344CB8AC3E}">
        <p14:creationId xmlns:p14="http://schemas.microsoft.com/office/powerpoint/2010/main" val="170272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05255" y="389994"/>
            <a:ext cx="10306695" cy="830997"/>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pattern of the division in the tables to complete the rules by drawing the sign of the quotient as an integer chip.</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57</a:t>
            </a:r>
            <a:endParaRPr i="1" dirty="0">
              <a:latin typeface="Calibri"/>
              <a:ea typeface="Calibri"/>
              <a:cs typeface="Calibri"/>
              <a:sym typeface="Calibri"/>
            </a:endParaRPr>
          </a:p>
        </p:txBody>
      </p:sp>
      <p:pic>
        <p:nvPicPr>
          <p:cNvPr id="5" name="Picture 4" descr="Table&#10;&#10;Description automatically generated">
            <a:extLst>
              <a:ext uri="{FF2B5EF4-FFF2-40B4-BE49-F238E27FC236}">
                <a16:creationId xmlns:a16="http://schemas.microsoft.com/office/drawing/2014/main" xmlns="" id="{434F4CE4-8AE3-F643-B576-9653844A88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01790" y="1858014"/>
            <a:ext cx="6388421" cy="4331971"/>
          </a:xfrm>
          <a:prstGeom prst="rect">
            <a:avLst/>
          </a:prstGeom>
        </p:spPr>
      </p:pic>
    </p:spTree>
    <p:extLst>
      <p:ext uri="{BB962C8B-B14F-4D97-AF65-F5344CB8AC3E}">
        <p14:creationId xmlns:p14="http://schemas.microsoft.com/office/powerpoint/2010/main" val="922001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57</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xmlns=""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6424" y="60325"/>
            <a:ext cx="1072896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7.12.3 Collaboration: How Are Integer Multiplication and Division Related?</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905256" y="1375713"/>
                <a:ext cx="10930128" cy="4524315"/>
              </a:xfrm>
              <a:prstGeom prst="rect">
                <a:avLst/>
              </a:prstGeom>
            </p:spPr>
            <p:txBody>
              <a:bodyPr wrap="square">
                <a:spAutoFit/>
              </a:bodyPr>
              <a:lstStyle/>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Jeannie and </a:t>
                </a:r>
                <a:r>
                  <a:rPr lang="en-US" sz="1800" dirty="0" err="1">
                    <a:latin typeface="Verdana" panose="020B0604030504040204" pitchFamily="34" charset="0"/>
                    <a:ea typeface="Verdana" panose="020B0604030504040204" pitchFamily="34" charset="0"/>
                    <a:cs typeface="Verdana" panose="020B0604030504040204" pitchFamily="34" charset="0"/>
                  </a:rPr>
                  <a:t>Solimar</a:t>
                </a:r>
                <a:r>
                  <a:rPr lang="en-US" sz="1800" dirty="0">
                    <a:latin typeface="Verdana" panose="020B0604030504040204" pitchFamily="34" charset="0"/>
                    <a:ea typeface="Verdana" panose="020B0604030504040204" pitchFamily="34" charset="0"/>
                    <a:cs typeface="Verdana" panose="020B0604030504040204" pitchFamily="34" charset="0"/>
                  </a:rPr>
                  <a:t> were discussing the relationship between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5×−2=−10</m:t>
                    </m:r>
                  </m:oMath>
                </a14:m>
                <a:r>
                  <a:rPr lang="en-US" sz="18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(−10)÷(−2)=5</m:t>
                    </m:r>
                  </m:oMath>
                </a14:m>
                <a:r>
                  <a:rPr lang="en-US" sz="1800" dirty="0">
                    <a:latin typeface="Verdana" panose="020B0604030504040204" pitchFamily="34" charset="0"/>
                    <a:ea typeface="Verdana" panose="020B0604030504040204" pitchFamily="34" charset="0"/>
                    <a:cs typeface="Verdana" panose="020B0604030504040204" pitchFamily="34" charset="0"/>
                  </a:rPr>
                  <a:t>.</a:t>
                </a: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1800" dirty="0" err="1">
                    <a:latin typeface="Verdana" panose="020B0604030504040204" pitchFamily="34" charset="0"/>
                    <a:ea typeface="Verdana" panose="020B0604030504040204" pitchFamily="34" charset="0"/>
                    <a:cs typeface="Verdana" panose="020B0604030504040204" pitchFamily="34" charset="0"/>
                  </a:rPr>
                  <a:t>Solimar</a:t>
                </a:r>
                <a:r>
                  <a:rPr lang="en-US" sz="1800" dirty="0">
                    <a:latin typeface="Verdana" panose="020B0604030504040204" pitchFamily="34" charset="0"/>
                    <a:ea typeface="Verdana" panose="020B0604030504040204" pitchFamily="34" charset="0"/>
                    <a:cs typeface="Verdana" panose="020B0604030504040204" pitchFamily="34" charset="0"/>
                  </a:rPr>
                  <a:t> said, “The multiplication equation can be interpreted as 5 groups of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and the division equation can be interpreted as how many groups of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are in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−10</m:t>
                    </m:r>
                  </m:oMath>
                </a14:m>
                <a:r>
                  <a:rPr lang="en-US" sz="1800" dirty="0">
                    <a:latin typeface="Verdana" panose="020B0604030504040204" pitchFamily="34" charset="0"/>
                    <a:ea typeface="Verdana" panose="020B0604030504040204" pitchFamily="34" charset="0"/>
                    <a:cs typeface="Verdana" panose="020B0604030504040204" pitchFamily="34" charset="0"/>
                  </a:rPr>
                  <a:t>. Isn’t that basically the same thing?”</a:t>
                </a: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Jeannie replied, “I agree. I also think it is interesting to see how the rules seem to be related. In the multiplication equation, we are multiplying a positive by a negative and the answer is a negative. In the division equation, we do the reverse of the multiplication problem and find that a negative divided by a negative is a positive.”  </a:t>
                </a: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1800" dirty="0" err="1">
                    <a:latin typeface="Verdana" panose="020B0604030504040204" pitchFamily="34" charset="0"/>
                    <a:ea typeface="Verdana" panose="020B0604030504040204" pitchFamily="34" charset="0"/>
                    <a:cs typeface="Verdana" panose="020B0604030504040204" pitchFamily="34" charset="0"/>
                  </a:rPr>
                  <a:t>Solimar</a:t>
                </a:r>
                <a:r>
                  <a:rPr lang="en-US" sz="1800" dirty="0">
                    <a:latin typeface="Verdana" panose="020B0604030504040204" pitchFamily="34" charset="0"/>
                    <a:ea typeface="Verdana" panose="020B0604030504040204" pitchFamily="34" charset="0"/>
                    <a:cs typeface="Verdana" panose="020B0604030504040204" pitchFamily="34" charset="0"/>
                  </a:rPr>
                  <a:t> said, “Yeah, that’s a cool connection. Do you think the rules are the same for multiplication and division?”</a:t>
                </a: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Jeannie said, “I think they might be related to each other.” </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905256" y="1375713"/>
                <a:ext cx="10930128" cy="4524315"/>
              </a:xfrm>
              <a:prstGeom prst="rect">
                <a:avLst/>
              </a:prstGeom>
              <a:blipFill>
                <a:blip r:embed="rId4"/>
                <a:stretch>
                  <a:fillRect l="-348" t="-560" b="-1120"/>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57</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xmlns="" id="{04C19B76-A060-3243-AE2C-88D93DB1A19F}"/>
              </a:ext>
            </a:extLst>
          </p:cNvPr>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spTree>
    <p:extLst>
      <p:ext uri="{BB962C8B-B14F-4D97-AF65-F5344CB8AC3E}">
        <p14:creationId xmlns:p14="http://schemas.microsoft.com/office/powerpoint/2010/main" val="3101299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905256" y="569829"/>
            <a:ext cx="8772786" cy="2308324"/>
          </a:xfrm>
          <a:prstGeom prst="rect">
            <a:avLst/>
          </a:prstGeom>
        </p:spPr>
        <p:txBody>
          <a:bodyPr wrap="square">
            <a:spAutoFit/>
          </a:bodyPr>
          <a:lstStyle/>
          <a:p>
            <a:pPr marL="457200" indent="-457200">
              <a:buSzPct val="1000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a:t>
            </a:r>
            <a:r>
              <a:rPr lang="en-US" sz="2400" dirty="0" err="1">
                <a:latin typeface="Verdana" panose="020B0604030504040204" pitchFamily="34" charset="0"/>
                <a:ea typeface="Times New Roman" panose="02020603050405020304" pitchFamily="18" charset="0"/>
                <a:cs typeface="Times New Roman" panose="02020603050405020304" pitchFamily="18" charset="0"/>
              </a:rPr>
              <a:t>Solimar</a:t>
            </a:r>
            <a:r>
              <a:rPr lang="en-US" sz="2400" dirty="0">
                <a:latin typeface="Verdana" panose="020B0604030504040204" pitchFamily="34" charset="0"/>
                <a:ea typeface="Times New Roman" panose="02020603050405020304" pitchFamily="18" charset="0"/>
                <a:cs typeface="Times New Roman" panose="02020603050405020304" pitchFamily="18" charset="0"/>
              </a:rPr>
              <a:t> and Jeannie’s conversation with your partner.</a:t>
            </a:r>
          </a:p>
          <a:p>
            <a:pPr marL="457200" indent="-457200">
              <a:buSzPct val="1000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Create two integer division equations that can be rewritten with the related multiplication equation.</a:t>
            </a: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57</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EC6BFD70-CF98-2343-853A-B0D035C5CB42}"/>
              </a:ext>
            </a:extLst>
          </p:cNvPr>
          <p:cNvGraphicFramePr>
            <a:graphicFrameLocks noGrp="1"/>
          </p:cNvGraphicFramePr>
          <p:nvPr>
            <p:extLst>
              <p:ext uri="{D42A27DB-BD31-4B8C-83A1-F6EECF244321}">
                <p14:modId xmlns:p14="http://schemas.microsoft.com/office/powerpoint/2010/main" val="2150244892"/>
              </p:ext>
            </p:extLst>
          </p:nvPr>
        </p:nvGraphicFramePr>
        <p:xfrm>
          <a:off x="1737663" y="3473002"/>
          <a:ext cx="6800850" cy="2389823"/>
        </p:xfrm>
        <a:graphic>
          <a:graphicData uri="http://schemas.openxmlformats.org/drawingml/2006/table">
            <a:tbl>
              <a:tblPr firstRow="1" firstCol="1" bandRow="1">
                <a:tableStyleId>{A91F0D33-8C57-4600-99A7-42BC86742BE1}</a:tableStyleId>
              </a:tblPr>
              <a:tblGrid>
                <a:gridCol w="3371850">
                  <a:extLst>
                    <a:ext uri="{9D8B030D-6E8A-4147-A177-3AD203B41FA5}">
                      <a16:colId xmlns:a16="http://schemas.microsoft.com/office/drawing/2014/main" xmlns="" val="173702310"/>
                    </a:ext>
                  </a:extLst>
                </a:gridCol>
                <a:gridCol w="3429000">
                  <a:extLst>
                    <a:ext uri="{9D8B030D-6E8A-4147-A177-3AD203B41FA5}">
                      <a16:colId xmlns:a16="http://schemas.microsoft.com/office/drawing/2014/main" xmlns="" val="4246392621"/>
                    </a:ext>
                  </a:extLst>
                </a:gridCol>
              </a:tblGrid>
              <a:tr h="36576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Division Equation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Related Multiplication Equation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403340169"/>
                  </a:ext>
                </a:extLst>
              </a:tr>
              <a:tr h="9144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44344478"/>
                  </a:ext>
                </a:extLst>
              </a:tr>
              <a:tr h="91440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5178135"/>
                  </a:ext>
                </a:extLst>
              </a:tr>
            </a:tbl>
          </a:graphicData>
        </a:graphic>
      </p:graphicFrame>
    </p:spTree>
    <p:extLst>
      <p:ext uri="{BB962C8B-B14F-4D97-AF65-F5344CB8AC3E}">
        <p14:creationId xmlns:p14="http://schemas.microsoft.com/office/powerpoint/2010/main" val="252435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58</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xmlns="" id="{8999FB10-16AE-3F48-834B-7F6A8D890C6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6049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4" y="-68867"/>
            <a:ext cx="107289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7.12.4 Bring It Together: How Are Integer Multiplication and Division Related?</a:t>
            </a:r>
          </a:p>
        </p:txBody>
      </p:sp>
      <p:sp>
        <p:nvSpPr>
          <p:cNvPr id="2" name="Rectangle 1">
            <a:extLst>
              <a:ext uri="{FF2B5EF4-FFF2-40B4-BE49-F238E27FC236}">
                <a16:creationId xmlns:a16="http://schemas.microsoft.com/office/drawing/2014/main" xmlns="" id="{B2BE9AFC-D858-8947-AE27-3738478587E3}"/>
              </a:ext>
            </a:extLst>
          </p:cNvPr>
          <p:cNvSpPr/>
          <p:nvPr/>
        </p:nvSpPr>
        <p:spPr>
          <a:xfrm>
            <a:off x="905256" y="1167386"/>
            <a:ext cx="8581650"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the missing factor in each given equation. Then, write the related division or multiplication equation.</a:t>
            </a: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58</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Picture 8" descr="Icon&#10;&#10;Description automatically generated">
            <a:extLst>
              <a:ext uri="{FF2B5EF4-FFF2-40B4-BE49-F238E27FC236}">
                <a16:creationId xmlns:a16="http://schemas.microsoft.com/office/drawing/2014/main" xmlns="" id="{D974B6D7-37C6-8C47-9D54-FC9FAE60630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1171" cy="751171"/>
          </a:xfrm>
          <a:prstGeom prst="rect">
            <a:avLst/>
          </a:prstGeom>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60239EB8-2E9C-4340-83EA-B586A227D50A}"/>
                  </a:ext>
                </a:extLst>
              </p:cNvPr>
              <p:cNvGraphicFramePr>
                <a:graphicFrameLocks noGrp="1"/>
              </p:cNvGraphicFramePr>
              <p:nvPr>
                <p:extLst>
                  <p:ext uri="{D42A27DB-BD31-4B8C-83A1-F6EECF244321}">
                    <p14:modId xmlns:p14="http://schemas.microsoft.com/office/powerpoint/2010/main" val="2366175117"/>
                  </p:ext>
                </p:extLst>
              </p:nvPr>
            </p:nvGraphicFramePr>
            <p:xfrm>
              <a:off x="2834466" y="2100204"/>
              <a:ext cx="6827718" cy="4351338"/>
            </p:xfrm>
            <a:graphic>
              <a:graphicData uri="http://schemas.openxmlformats.org/drawingml/2006/table">
                <a:tbl>
                  <a:tblPr firstRow="1" firstCol="1" bandRow="1">
                    <a:tableStyleId>{A91F0D33-8C57-4600-99A7-42BC86742BE1}</a:tableStyleId>
                  </a:tblPr>
                  <a:tblGrid>
                    <a:gridCol w="2010401">
                      <a:extLst>
                        <a:ext uri="{9D8B030D-6E8A-4147-A177-3AD203B41FA5}">
                          <a16:colId xmlns:a16="http://schemas.microsoft.com/office/drawing/2014/main" xmlns="" val="1372770105"/>
                        </a:ext>
                      </a:extLst>
                    </a:gridCol>
                    <a:gridCol w="2752753">
                      <a:extLst>
                        <a:ext uri="{9D8B030D-6E8A-4147-A177-3AD203B41FA5}">
                          <a16:colId xmlns:a16="http://schemas.microsoft.com/office/drawing/2014/main" xmlns="" val="3535599611"/>
                        </a:ext>
                      </a:extLst>
                    </a:gridCol>
                    <a:gridCol w="2064564">
                      <a:extLst>
                        <a:ext uri="{9D8B030D-6E8A-4147-A177-3AD203B41FA5}">
                          <a16:colId xmlns:a16="http://schemas.microsoft.com/office/drawing/2014/main" xmlns="" val="735178469"/>
                        </a:ext>
                      </a:extLst>
                    </a:gridCol>
                  </a:tblGrid>
                  <a:tr h="483673">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Given Equation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Can be Thought of as…</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Related Equation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778580173"/>
                      </a:ext>
                    </a:extLst>
                  </a:tr>
                  <a:tr h="77353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3×____ = 21</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21÷3=_____</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76854350"/>
                      </a:ext>
                    </a:extLst>
                  </a:tr>
                  <a:tr h="77353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600" i="1">
                                        <a:effectLst/>
                                        <a:latin typeface="Cambria Math"/>
                                      </a:rPr>
                                    </m:ctrlPr>
                                  </m:fPr>
                                  <m:num>
                                    <m:r>
                                      <a:rPr lang="en-US" sz="1600">
                                        <a:effectLst/>
                                        <a:latin typeface="Cambria Math" panose="02040503050406030204" pitchFamily="18" charset="0"/>
                                      </a:rPr>
                                      <m:t>−48</m:t>
                                    </m:r>
                                  </m:num>
                                  <m:den>
                                    <m:r>
                                      <a:rPr lang="en-US" sz="1600">
                                        <a:effectLst/>
                                        <a:latin typeface="Cambria Math" panose="02040503050406030204" pitchFamily="18" charset="0"/>
                                      </a:rPr>
                                      <m:t>4</m:t>
                                    </m:r>
                                  </m:den>
                                </m:f>
                                <m:r>
                                  <a:rPr lang="en-US" sz="1600">
                                    <a:effectLst/>
                                    <a:latin typeface="Cambria Math" panose="02040503050406030204" pitchFamily="18" charset="0"/>
                                  </a:rPr>
                                  <m:t>=______</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(_____)(4) = −48</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37687383"/>
                      </a:ext>
                    </a:extLst>
                  </a:tr>
                  <a:tr h="77353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−8 ×____ = 56</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56÷(−8)=_____</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3059522"/>
                      </a:ext>
                    </a:extLst>
                  </a:tr>
                  <a:tr h="77353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20÷______=−5</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(−5)(_____) = 20</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94311375"/>
                      </a:ext>
                    </a:extLst>
                  </a:tr>
                  <a:tr h="77353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m:t>
                                </m:r>
                                <m:d>
                                  <m:dPr>
                                    <m:ctrlPr>
                                      <a:rPr lang="x-none" sz="1600" i="1">
                                        <a:effectLst/>
                                        <a:latin typeface="Cambria Math"/>
                                      </a:rPr>
                                    </m:ctrlPr>
                                  </m:dPr>
                                  <m:e>
                                    <m:f>
                                      <m:fPr>
                                        <m:ctrlPr>
                                          <a:rPr lang="x-none" sz="1600" i="1">
                                            <a:effectLst/>
                                            <a:latin typeface="Cambria Math"/>
                                          </a:rPr>
                                        </m:ctrlPr>
                                      </m:fPr>
                                      <m:num>
                                        <m:r>
                                          <a:rPr lang="en-US" sz="1600">
                                            <a:effectLst/>
                                            <a:latin typeface="Cambria Math" panose="02040503050406030204" pitchFamily="18" charset="0"/>
                                          </a:rPr>
                                          <m:t>36</m:t>
                                        </m:r>
                                      </m:num>
                                      <m:den>
                                        <m:r>
                                          <a:rPr lang="en-US" sz="1600">
                                            <a:effectLst/>
                                            <a:latin typeface="Cambria Math" panose="02040503050406030204" pitchFamily="18" charset="0"/>
                                          </a:rPr>
                                          <m:t>4</m:t>
                                        </m:r>
                                      </m:den>
                                    </m:f>
                                  </m:e>
                                </m:d>
                                <m:r>
                                  <a:rPr lang="en-US" sz="1600">
                                    <a:effectLst/>
                                    <a:latin typeface="Cambria Math" panose="02040503050406030204" pitchFamily="18" charset="0"/>
                                  </a:rPr>
                                  <m:t>=______</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____× 4 = −36</m:t>
                                </m:r>
                              </m:oMath>
                            </m:oMathPara>
                          </a14:m>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20943239"/>
                      </a:ext>
                    </a:extLst>
                  </a:tr>
                </a:tbl>
              </a:graphicData>
            </a:graphic>
          </p:graphicFrame>
        </mc:Choice>
        <mc:Fallback xmlns="">
          <p:graphicFrame>
            <p:nvGraphicFramePr>
              <p:cNvPr id="3" name="Table 2">
                <a:extLst>
                  <a:ext uri="{FF2B5EF4-FFF2-40B4-BE49-F238E27FC236}">
                    <a16:creationId xmlns:a16="http://schemas.microsoft.com/office/drawing/2014/main" id="{60239EB8-2E9C-4340-83EA-B586A227D50A}"/>
                  </a:ext>
                </a:extLst>
              </p:cNvPr>
              <p:cNvGraphicFramePr>
                <a:graphicFrameLocks noGrp="1"/>
              </p:cNvGraphicFramePr>
              <p:nvPr>
                <p:extLst>
                  <p:ext uri="{D42A27DB-BD31-4B8C-83A1-F6EECF244321}">
                    <p14:modId xmlns:p14="http://schemas.microsoft.com/office/powerpoint/2010/main" val="2366175117"/>
                  </p:ext>
                </p:extLst>
              </p:nvPr>
            </p:nvGraphicFramePr>
            <p:xfrm>
              <a:off x="2834466" y="2100204"/>
              <a:ext cx="6827718" cy="4351338"/>
            </p:xfrm>
            <a:graphic>
              <a:graphicData uri="http://schemas.openxmlformats.org/drawingml/2006/table">
                <a:tbl>
                  <a:tblPr firstRow="1" firstCol="1" bandRow="1">
                    <a:tableStyleId>{A91F0D33-8C57-4600-99A7-42BC86742BE1}</a:tableStyleId>
                  </a:tblPr>
                  <a:tblGrid>
                    <a:gridCol w="2010401">
                      <a:extLst>
                        <a:ext uri="{9D8B030D-6E8A-4147-A177-3AD203B41FA5}">
                          <a16:colId xmlns:a16="http://schemas.microsoft.com/office/drawing/2014/main" val="1372770105"/>
                        </a:ext>
                      </a:extLst>
                    </a:gridCol>
                    <a:gridCol w="2752753">
                      <a:extLst>
                        <a:ext uri="{9D8B030D-6E8A-4147-A177-3AD203B41FA5}">
                          <a16:colId xmlns:a16="http://schemas.microsoft.com/office/drawing/2014/main" val="3535599611"/>
                        </a:ext>
                      </a:extLst>
                    </a:gridCol>
                    <a:gridCol w="2064564">
                      <a:extLst>
                        <a:ext uri="{9D8B030D-6E8A-4147-A177-3AD203B41FA5}">
                          <a16:colId xmlns:a16="http://schemas.microsoft.com/office/drawing/2014/main" val="735178469"/>
                        </a:ext>
                      </a:extLst>
                    </a:gridCol>
                  </a:tblGrid>
                  <a:tr h="483673">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Given Equation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Can be Thought of as…</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Related Equation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778580173"/>
                      </a:ext>
                    </a:extLst>
                  </a:tr>
                  <a:tr h="773533">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33" t="-63934" r="-241772" b="-403279"/>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675" t="-63934" r="-1227" b="-403279"/>
                          </a:stretch>
                        </a:blipFill>
                      </a:tcPr>
                    </a:tc>
                    <a:extLst>
                      <a:ext uri="{0D108BD9-81ED-4DB2-BD59-A6C34878D82A}">
                        <a16:rowId xmlns:a16="http://schemas.microsoft.com/office/drawing/2014/main" val="3776854350"/>
                      </a:ext>
                    </a:extLst>
                  </a:tr>
                  <a:tr h="773533">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33" t="-163934" r="-241772" b="-303279"/>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675" t="-163934" r="-1227" b="-303279"/>
                          </a:stretch>
                        </a:blipFill>
                      </a:tcPr>
                    </a:tc>
                    <a:extLst>
                      <a:ext uri="{0D108BD9-81ED-4DB2-BD59-A6C34878D82A}">
                        <a16:rowId xmlns:a16="http://schemas.microsoft.com/office/drawing/2014/main" val="937687383"/>
                      </a:ext>
                    </a:extLst>
                  </a:tr>
                  <a:tr h="773533">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33" t="-263934" r="-241772" b="-203279"/>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675" t="-263934" r="-1227" b="-203279"/>
                          </a:stretch>
                        </a:blipFill>
                      </a:tcPr>
                    </a:tc>
                    <a:extLst>
                      <a:ext uri="{0D108BD9-81ED-4DB2-BD59-A6C34878D82A}">
                        <a16:rowId xmlns:a16="http://schemas.microsoft.com/office/drawing/2014/main" val="383059522"/>
                      </a:ext>
                    </a:extLst>
                  </a:tr>
                  <a:tr h="773533">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33" t="-363934" r="-241772" b="-103279"/>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675" t="-363934" r="-1227" b="-103279"/>
                          </a:stretch>
                        </a:blipFill>
                      </a:tcPr>
                    </a:tc>
                    <a:extLst>
                      <a:ext uri="{0D108BD9-81ED-4DB2-BD59-A6C34878D82A}">
                        <a16:rowId xmlns:a16="http://schemas.microsoft.com/office/drawing/2014/main" val="1094311375"/>
                      </a:ext>
                    </a:extLst>
                  </a:tr>
                  <a:tr h="773533">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33" t="-463934" r="-241772" b="-3279"/>
                          </a:stretch>
                        </a:blipFill>
                      </a:tcPr>
                    </a:tc>
                    <a:tc>
                      <a:txBody>
                        <a:bodyPr/>
                        <a:lstStyle/>
                        <a:p>
                          <a:pPr marL="0" marR="0" algn="ctr">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58015" marR="5801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675" t="-463934" r="-1227" b="-3279"/>
                          </a:stretch>
                        </a:blipFill>
                      </a:tcPr>
                    </a:tc>
                    <a:extLst>
                      <a:ext uri="{0D108BD9-81ED-4DB2-BD59-A6C34878D82A}">
                        <a16:rowId xmlns:a16="http://schemas.microsoft.com/office/drawing/2014/main" val="1720943239"/>
                      </a:ext>
                    </a:extLst>
                  </a:tr>
                </a:tbl>
              </a:graphicData>
            </a:graphic>
          </p:graphicFrame>
        </mc:Fallback>
      </mc:AlternateContent>
      <p:pic>
        <p:nvPicPr>
          <p:cNvPr id="12" name="Picture 11">
            <a:extLst>
              <a:ext uri="{FF2B5EF4-FFF2-40B4-BE49-F238E27FC236}">
                <a16:creationId xmlns:a16="http://schemas.microsoft.com/office/drawing/2014/main" xmlns="" id="{F6F7BE25-95AC-9645-ABFE-30E7B5CA422A}"/>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054525" y="2810225"/>
            <a:ext cx="2387600" cy="381000"/>
          </a:xfrm>
          <a:prstGeom prst="rect">
            <a:avLst/>
          </a:prstGeom>
        </p:spPr>
      </p:pic>
      <p:pic>
        <p:nvPicPr>
          <p:cNvPr id="13" name="Picture 12">
            <a:extLst>
              <a:ext uri="{FF2B5EF4-FFF2-40B4-BE49-F238E27FC236}">
                <a16:creationId xmlns:a16="http://schemas.microsoft.com/office/drawing/2014/main" xmlns="" id="{596318E1-3222-F84E-B602-BA78EFEF2E46}"/>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054525" y="3588147"/>
            <a:ext cx="2387600" cy="381000"/>
          </a:xfrm>
          <a:prstGeom prst="rect">
            <a:avLst/>
          </a:prstGeom>
        </p:spPr>
      </p:pic>
      <p:pic>
        <p:nvPicPr>
          <p:cNvPr id="15" name="Picture 14">
            <a:extLst>
              <a:ext uri="{FF2B5EF4-FFF2-40B4-BE49-F238E27FC236}">
                <a16:creationId xmlns:a16="http://schemas.microsoft.com/office/drawing/2014/main" xmlns="" id="{F6EB001E-9654-EF4C-84A3-92003CAD11DF}"/>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054525" y="4352422"/>
            <a:ext cx="2387600" cy="381000"/>
          </a:xfrm>
          <a:prstGeom prst="rect">
            <a:avLst/>
          </a:prstGeom>
        </p:spPr>
      </p:pic>
      <p:pic>
        <p:nvPicPr>
          <p:cNvPr id="16" name="Picture 15">
            <a:extLst>
              <a:ext uri="{FF2B5EF4-FFF2-40B4-BE49-F238E27FC236}">
                <a16:creationId xmlns:a16="http://schemas.microsoft.com/office/drawing/2014/main" xmlns="" id="{A033F505-155B-2D4C-8DB7-0BAD3E8F2FE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054525" y="5143992"/>
            <a:ext cx="2387600" cy="381000"/>
          </a:xfrm>
          <a:prstGeom prst="rect">
            <a:avLst/>
          </a:prstGeom>
        </p:spPr>
      </p:pic>
      <p:pic>
        <p:nvPicPr>
          <p:cNvPr id="17" name="Picture 16">
            <a:extLst>
              <a:ext uri="{FF2B5EF4-FFF2-40B4-BE49-F238E27FC236}">
                <a16:creationId xmlns:a16="http://schemas.microsoft.com/office/drawing/2014/main" xmlns="" id="{7F9D9832-6878-A347-84D5-04E37335CCD6}"/>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054525" y="5908267"/>
            <a:ext cx="2387600" cy="381000"/>
          </a:xfrm>
          <a:prstGeom prst="rect">
            <a:avLst/>
          </a:prstGeom>
        </p:spPr>
      </p:pic>
    </p:spTree>
    <p:extLst>
      <p:ext uri="{BB962C8B-B14F-4D97-AF65-F5344CB8AC3E}">
        <p14:creationId xmlns:p14="http://schemas.microsoft.com/office/powerpoint/2010/main" val="592729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05256" y="1392779"/>
            <a:ext cx="8549640"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How are rules for multiplication of integers related to the rules for division of integers? </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58</a:t>
            </a:r>
            <a:endParaRPr i="1" dirty="0">
              <a:latin typeface="Calibri"/>
              <a:ea typeface="Calibri"/>
              <a:cs typeface="Calibri"/>
              <a:sym typeface="Calibri"/>
            </a:endParaRPr>
          </a:p>
        </p:txBody>
      </p:sp>
    </p:spTree>
    <p:extLst>
      <p:ext uri="{BB962C8B-B14F-4D97-AF65-F5344CB8AC3E}">
        <p14:creationId xmlns:p14="http://schemas.microsoft.com/office/powerpoint/2010/main" val="3891239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58</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xmlns=""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62072"/>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9558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6423" y="73152"/>
            <a:ext cx="10555693"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7.12.5 Collaboration: Which One Doesn’t Belong?</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905256" y="1375714"/>
                <a:ext cx="9321956" cy="3915046"/>
              </a:xfrm>
              <a:prstGeom prst="rect">
                <a:avLst/>
              </a:prstGeom>
            </p:spPr>
            <p:txBody>
              <a:bodyPr wrap="square">
                <a:spAutoFit/>
              </a:bodyPr>
              <a:lstStyle/>
              <a:p>
                <a:pPr marL="407988" indent="-396875">
                  <a:buSzPct val="1000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the expression that does not belong with the other three.</a:t>
                </a:r>
              </a:p>
              <a:p>
                <a:pPr marL="11113">
                  <a:buSzPts val="1800"/>
                </a:pPr>
                <a:r>
                  <a:rPr lang="en-US" sz="20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2000" dirty="0">
                    <a:ea typeface="Verdana" panose="020B0604030504040204" pitchFamily="34" charset="0"/>
                    <a:cs typeface="Verdana" panose="020B0604030504040204" pitchFamily="34" charset="0"/>
                  </a:rPr>
                  <a:t>	</a:t>
                </a:r>
                <a14:m>
                  <m:oMath xmlns:m="http://schemas.openxmlformats.org/officeDocument/2006/math">
                    <m:f>
                      <m:fPr>
                        <m:ctrlPr>
                          <a:rPr lang="en-US" sz="2000" i="1" dirty="0">
                            <a:latin typeface="Cambria Math"/>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10</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ea typeface="Verdana" panose="020B0604030504040204" pitchFamily="34" charset="0"/>
                    <a:cs typeface="Verdana" panose="020B0604030504040204" pitchFamily="34" charset="0"/>
                  </a:rPr>
                  <a:t> </a:t>
                </a:r>
                <a14:m>
                  <m:oMath xmlns:m="http://schemas.openxmlformats.org/officeDocument/2006/math">
                    <m:f>
                      <m:fPr>
                        <m:ctrlPr>
                          <a:rPr lang="en-US" sz="2000" i="1" dirty="0">
                            <a:latin typeface="Cambria Math"/>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−10</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r>
                      <a:rPr lang="es-ES" sz="2000" i="1" dirty="0">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ea typeface="Verdana" panose="020B0604030504040204" pitchFamily="34" charset="0"/>
                    <a:cs typeface="Verdana" panose="020B0604030504040204" pitchFamily="34" charset="0"/>
                  </a:rPr>
                  <a:t> </a:t>
                </a:r>
                <a14:m>
                  <m:oMath xmlns:m="http://schemas.openxmlformats.org/officeDocument/2006/math">
                    <m:f>
                      <m:fPr>
                        <m:ctrlPr>
                          <a:rPr lang="en-US" sz="2000" i="1" dirty="0">
                            <a:latin typeface="Cambria Math"/>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−10</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r>
                      <a:rPr lang="es-ES" sz="2000" i="1" dirty="0">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ea typeface="Verdana" panose="020B0604030504040204" pitchFamily="34" charset="0"/>
                    <a:cs typeface="Verdana" panose="020B0604030504040204" pitchFamily="34" charset="0"/>
                  </a:rPr>
                  <a:t> </a:t>
                </a:r>
                <a14:m>
                  <m:oMath xmlns:m="http://schemas.openxmlformats.org/officeDocument/2006/math">
                    <m:r>
                      <a:rPr lang="es-ES" sz="2000"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10</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r>
                      <a:rPr lang="es-ES" sz="2000" i="1" dirty="0">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2000" dirty="0">
                    <a:latin typeface="Verdana" panose="020B0604030504040204" pitchFamily="34" charset="0"/>
                    <a:ea typeface="Verdana" panose="020B0604030504040204" pitchFamily="34" charset="0"/>
                    <a:cs typeface="Verdana" panose="020B0604030504040204" pitchFamily="34" charset="0"/>
                  </a:rPr>
                  <a:t> </a:t>
                </a:r>
              </a:p>
              <a:p>
                <a:pPr marL="468313" indent="-457200">
                  <a:buSzPct val="1000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why the expression does not belong.</a:t>
                </a:r>
              </a:p>
              <a:p>
                <a:pPr marL="468313" indent="-457200">
                  <a:buSzPct val="1000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ct val="1000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07988" indent="-396875">
                  <a:buSzPct val="1000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Verify your answers with your partner and, if necessary, resolve any differences.</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905256" y="1375714"/>
                <a:ext cx="9321956" cy="3915046"/>
              </a:xfrm>
              <a:prstGeom prst="rect">
                <a:avLst/>
              </a:prstGeom>
              <a:blipFill>
                <a:blip r:embed="rId4"/>
                <a:stretch>
                  <a:fillRect l="-544" t="-971" b="-1942"/>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58</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xmlns="" id="{04C19B76-A060-3243-AE2C-88D93DB1A19F}"/>
              </a:ext>
            </a:extLst>
          </p:cNvPr>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spTree>
    <p:extLst>
      <p:ext uri="{BB962C8B-B14F-4D97-AF65-F5344CB8AC3E}">
        <p14:creationId xmlns:p14="http://schemas.microsoft.com/office/powerpoint/2010/main" val="2510153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905255" y="842784"/>
                <a:ext cx="10391101" cy="3630738"/>
              </a:xfrm>
              <a:prstGeom prst="rect">
                <a:avLst/>
              </a:prstGeom>
            </p:spPr>
            <p:txBody>
              <a:bodyPr wrap="square">
                <a:spAutoFit/>
              </a:bodyPr>
              <a:lstStyle/>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Quotients can have negative signs in different places. </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The values </a:t>
                </a:r>
                <a14:m>
                  <m:oMath xmlns:m="http://schemas.openxmlformats.org/officeDocument/2006/math">
                    <m:f>
                      <m:fPr>
                        <m:ctrlPr>
                          <a:rPr lang="en-US" sz="2000" i="1" dirty="0">
                            <a:latin typeface="Cambria Math"/>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12</m:t>
                        </m:r>
                      </m:num>
                      <m:den>
                        <m:r>
                          <a:rPr lang="es-ES" sz="2000" i="1" dirty="0">
                            <a:latin typeface="Cambria Math" panose="02040503050406030204" pitchFamily="18" charset="0"/>
                            <a:cs typeface="Times New Roman" panose="02020603050405020304" pitchFamily="18" charset="0"/>
                          </a:rPr>
                          <m:t>−2</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000" i="1" dirty="0">
                            <a:latin typeface="Cambria Math"/>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−12</m:t>
                        </m:r>
                      </m:num>
                      <m:den>
                        <m:r>
                          <a:rPr lang="es-ES" sz="2000" i="1" dirty="0">
                            <a:latin typeface="Cambria Math" panose="02040503050406030204" pitchFamily="18" charset="0"/>
                            <a:cs typeface="Times New Roman" panose="02020603050405020304" pitchFamily="18" charset="0"/>
                          </a:rPr>
                          <m:t>2</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s-ES" sz="2000" dirty="0">
                        <a:latin typeface="Cambria Math" panose="02040503050406030204" pitchFamily="18" charset="0"/>
                        <a:cs typeface="Times New Roman" panose="02020603050405020304" pitchFamily="18" charset="0"/>
                      </a:rPr>
                      <m:t>−</m:t>
                    </m:r>
                    <m:d>
                      <m:dPr>
                        <m:ctrlPr>
                          <a:rPr lang="en-US" sz="2000" i="1" dirty="0">
                            <a:latin typeface="Cambria Math"/>
                            <a:cs typeface="Times New Roman" panose="02020603050405020304" pitchFamily="18" charset="0"/>
                          </a:rPr>
                        </m:ctrlPr>
                      </m:dPr>
                      <m:e>
                        <m:f>
                          <m:fPr>
                            <m:ctrlPr>
                              <a:rPr lang="en-US" sz="2000" i="1" dirty="0">
                                <a:latin typeface="Cambria Math"/>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12</m:t>
                            </m:r>
                          </m:num>
                          <m:den>
                            <m:r>
                              <a:rPr lang="es-ES" sz="2000" i="1" dirty="0">
                                <a:latin typeface="Cambria Math" panose="02040503050406030204" pitchFamily="18" charset="0"/>
                                <a:cs typeface="Times New Roman" panose="02020603050405020304" pitchFamily="18" charset="0"/>
                              </a:rPr>
                              <m:t>2</m:t>
                            </m:r>
                          </m:den>
                        </m:f>
                      </m:e>
                    </m:d>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are equivalent. Explain why they are equivalent using your understanding of dividing integers.</a:t>
                </a:r>
              </a:p>
              <a:p>
                <a:pPr marL="457200" indent="-457200">
                  <a:buSzPct val="1000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your explanation with your partner. If necessary, edit your explanation based on your discussion.</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5" y="842784"/>
                <a:ext cx="10391101" cy="3630738"/>
              </a:xfrm>
              <a:prstGeom prst="rect">
                <a:avLst/>
              </a:prstGeom>
              <a:blipFill>
                <a:blip r:embed="rId4"/>
                <a:stretch>
                  <a:fillRect l="-611" t="-1045" b="-2091"/>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58</a:t>
            </a:r>
            <a:endParaRPr i="1" dirty="0">
              <a:latin typeface="Calibri"/>
              <a:ea typeface="Calibri"/>
              <a:cs typeface="Calibri"/>
              <a:sym typeface="Calibri"/>
            </a:endParaRPr>
          </a:p>
        </p:txBody>
      </p:sp>
    </p:spTree>
    <p:extLst>
      <p:ext uri="{BB962C8B-B14F-4D97-AF65-F5344CB8AC3E}">
        <p14:creationId xmlns:p14="http://schemas.microsoft.com/office/powerpoint/2010/main" val="129511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905256" y="617596"/>
                <a:ext cx="10067544" cy="3334054"/>
              </a:xfrm>
              <a:prstGeom prst="rect">
                <a:avLst/>
              </a:prstGeom>
            </p:spPr>
            <p:txBody>
              <a:bodyPr wrap="square">
                <a:spAutoFit/>
              </a:bodyPr>
              <a:lstStyle/>
              <a:p>
                <a:pPr marL="457200" indent="-457200">
                  <a:buSzPct val="1000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Create two equivalent expressions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21÷(−7)</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000" i="1" dirty="0">
                            <a:latin typeface="Cambria Math"/>
                            <a:cs typeface="Times New Roman" panose="02020603050405020304" pitchFamily="18" charset="0"/>
                          </a:rPr>
                        </m:ctrlPr>
                      </m:dPr>
                      <m:e>
                        <m:f>
                          <m:fPr>
                            <m:ctrlPr>
                              <a:rPr lang="en-US" sz="2000" i="1" dirty="0">
                                <a:latin typeface="Cambria Math"/>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−40</m:t>
                            </m:r>
                          </m:num>
                          <m:den>
                            <m:r>
                              <a:rPr lang="es-ES" sz="2000" i="1" dirty="0">
                                <a:latin typeface="Cambria Math" panose="02040503050406030204" pitchFamily="18" charset="0"/>
                                <a:cs typeface="Times New Roman" panose="02020603050405020304" pitchFamily="18" charset="0"/>
                              </a:rPr>
                              <m:t>−8</m:t>
                            </m:r>
                          </m:den>
                        </m:f>
                      </m:e>
                    </m:d>
                  </m:oMath>
                </a14:m>
                <a:r>
                  <a:rPr lang="en-US" sz="2000" dirty="0">
                    <a:latin typeface="Verdana" panose="020B0604030504040204" pitchFamily="34" charset="0"/>
                    <a:ea typeface="Verdana" panose="020B0604030504040204" pitchFamily="34" charset="0"/>
                    <a:cs typeface="Verdana" panose="020B0604030504040204" pitchFamily="34" charset="0"/>
                  </a:rPr>
                  <a:t> is not equivalent to </a:t>
                </a:r>
                <a14:m>
                  <m:oMath xmlns:m="http://schemas.openxmlformats.org/officeDocument/2006/math">
                    <m:r>
                      <a:rPr lang="es-ES" sz="2000" dirty="0">
                        <a:latin typeface="Cambria Math" panose="02040503050406030204" pitchFamily="18" charset="0"/>
                        <a:cs typeface="Times New Roman" panose="02020603050405020304" pitchFamily="18" charset="0"/>
                      </a:rPr>
                      <m:t>−</m:t>
                    </m:r>
                    <m:d>
                      <m:dPr>
                        <m:ctrlPr>
                          <a:rPr lang="en-US" sz="2000" i="1" dirty="0">
                            <a:latin typeface="Cambria Math"/>
                            <a:cs typeface="Times New Roman" panose="02020603050405020304" pitchFamily="18" charset="0"/>
                          </a:rPr>
                        </m:ctrlPr>
                      </m:dPr>
                      <m:e>
                        <m:f>
                          <m:fPr>
                            <m:ctrlPr>
                              <a:rPr lang="en-US" sz="2000" i="1" dirty="0">
                                <a:latin typeface="Cambria Math"/>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40</m:t>
                            </m:r>
                          </m:num>
                          <m:den>
                            <m:r>
                              <a:rPr lang="es-ES" sz="2000" i="1" dirty="0">
                                <a:latin typeface="Cambria Math" panose="02040503050406030204" pitchFamily="18" charset="0"/>
                                <a:cs typeface="Times New Roman" panose="02020603050405020304" pitchFamily="18" charset="0"/>
                              </a:rPr>
                              <m:t>8</m:t>
                            </m:r>
                          </m:den>
                        </m:f>
                      </m:e>
                    </m:d>
                  </m:oMath>
                </a14:m>
                <a:r>
                  <a:rPr lang="en-US" sz="2000" dirty="0">
                    <a:latin typeface="Verdana" panose="020B0604030504040204" pitchFamily="34" charset="0"/>
                    <a:ea typeface="Verdana" panose="020B0604030504040204" pitchFamily="34" charset="0"/>
                    <a:cs typeface="Verdana" panose="020B0604030504040204" pitchFamily="34" charset="0"/>
                  </a:rPr>
                  <a:t>. Explain why not.</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6" y="617596"/>
                <a:ext cx="10067544" cy="3334054"/>
              </a:xfrm>
              <a:prstGeom prst="rect">
                <a:avLst/>
              </a:prstGeom>
              <a:blipFill>
                <a:blip r:embed="rId4"/>
                <a:stretch>
                  <a:fillRect l="-630" t="-758"/>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58</a:t>
            </a:r>
            <a:endParaRPr i="1" dirty="0">
              <a:latin typeface="Calibri"/>
              <a:ea typeface="Calibri"/>
              <a:cs typeface="Calibri"/>
              <a:sym typeface="Calibri"/>
            </a:endParaRPr>
          </a:p>
        </p:txBody>
      </p:sp>
    </p:spTree>
    <p:extLst>
      <p:ext uri="{BB962C8B-B14F-4D97-AF65-F5344CB8AC3E}">
        <p14:creationId xmlns:p14="http://schemas.microsoft.com/office/powerpoint/2010/main" val="2841319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xmlns="" id="{AEA4B4EA-62E9-1C44-B6F0-74A8572D4D1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3064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3" y="-54864"/>
            <a:ext cx="1045721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7.12.6 Guided Practice: Dividing Integers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905256" y="1331161"/>
                <a:ext cx="8581650" cy="469013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each quotient.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12÷−4=	 ____</m:t>
                    </m:r>
                  </m:oMath>
                </a14:m>
                <a:r>
                  <a:rPr lang="en-US" sz="2400" dirty="0">
                    <a:latin typeface="Verdana" panose="020B0604030504040204" pitchFamily="34" charset="0"/>
                    <a:ea typeface="Verdana" panose="020B0604030504040204" pitchFamily="34" charset="0"/>
                    <a:cs typeface="Verdana" panose="020B0604030504040204" pitchFamily="34" charset="0"/>
                  </a:rPr>
                  <a:t>			b. </a:t>
                </a:r>
                <a14:m>
                  <m:oMath xmlns:m="http://schemas.openxmlformats.org/officeDocument/2006/math">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−63</m:t>
                        </m:r>
                      </m:num>
                      <m:den>
                        <m:r>
                          <a:rPr lang="es-ES" sz="2400" i="1" dirty="0">
                            <a:latin typeface="Cambria Math" panose="02040503050406030204" pitchFamily="18" charset="0"/>
                            <a:ea typeface="Verdana" panose="020B0604030504040204" pitchFamily="34" charset="0"/>
                            <a:cs typeface="Verdana" panose="020B0604030504040204" pitchFamily="34" charset="0"/>
                          </a:rPr>
                          <m:t>−9</m:t>
                        </m:r>
                      </m:den>
                    </m:f>
                    <m:r>
                      <a:rPr lang="en-US" sz="2400" i="1" dirty="0">
                        <a:latin typeface="Cambria Math" panose="02040503050406030204" pitchFamily="18" charset="0"/>
                        <a:ea typeface="Verdana" panose="020B0604030504040204" pitchFamily="34" charset="0"/>
                        <a:cs typeface="Verdana" panose="020B0604030504040204" pitchFamily="34" charset="0"/>
                      </a:rPr>
                      <m:t>= 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d>
                      <m:dPr>
                        <m:ctrlPr>
                          <a:rPr lang="en-US" sz="2400" i="1" dirty="0">
                            <a:latin typeface="Cambria Math"/>
                            <a:ea typeface="Verdana" panose="020B0604030504040204" pitchFamily="34" charset="0"/>
                            <a:cs typeface="Verdana" panose="020B0604030504040204" pitchFamily="34" charset="0"/>
                          </a:rPr>
                        </m:ctrlPr>
                      </m:dPr>
                      <m:e>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28</m:t>
                            </m:r>
                          </m:num>
                          <m:den>
                            <m:r>
                              <a:rPr lang="es-ES" sz="2400" i="1" dirty="0">
                                <a:latin typeface="Cambria Math" panose="02040503050406030204" pitchFamily="18" charset="0"/>
                                <a:ea typeface="Verdana" panose="020B0604030504040204" pitchFamily="34" charset="0"/>
                                <a:cs typeface="Verdana" panose="020B0604030504040204" pitchFamily="34" charset="0"/>
                              </a:rPr>
                              <m:t>4</m:t>
                            </m:r>
                          </m:den>
                        </m:f>
                      </m:e>
                    </m:d>
                    <m:r>
                      <a:rPr lang="en-US" sz="2400" i="1" dirty="0">
                        <a:latin typeface="Cambria Math" panose="02040503050406030204" pitchFamily="18" charset="0"/>
                        <a:ea typeface="Verdana" panose="020B0604030504040204" pitchFamily="34" charset="0"/>
                        <a:cs typeface="Verdana" panose="020B0604030504040204" pitchFamily="34" charset="0"/>
                      </a:rPr>
                      <m:t>= ____</m:t>
                    </m:r>
                  </m:oMath>
                </a14:m>
                <a:r>
                  <a:rPr lang="en-US" sz="2400" dirty="0">
                    <a:latin typeface="Verdana" panose="020B0604030504040204" pitchFamily="34" charset="0"/>
                    <a:ea typeface="Verdana" panose="020B0604030504040204" pitchFamily="34" charset="0"/>
                    <a:cs typeface="Verdana" panose="020B0604030504040204" pitchFamily="34" charset="0"/>
                  </a:rPr>
                  <a:t>			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60÷5= 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d>
                      <m:dPr>
                        <m:ctrlPr>
                          <a:rPr lang="en-US" sz="2400" i="1" dirty="0">
                            <a:latin typeface="Cambria Math"/>
                            <a:ea typeface="Verdana" panose="020B0604030504040204" pitchFamily="34" charset="0"/>
                            <a:cs typeface="Verdana" panose="020B0604030504040204" pitchFamily="34" charset="0"/>
                          </a:rPr>
                        </m:ctrlPr>
                      </m:dPr>
                      <m:e>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−30</m:t>
                            </m:r>
                          </m:num>
                          <m:den>
                            <m:r>
                              <a:rPr lang="es-ES" sz="2400" i="1" dirty="0">
                                <a:latin typeface="Cambria Math" panose="02040503050406030204" pitchFamily="18" charset="0"/>
                                <a:ea typeface="Verdana" panose="020B0604030504040204" pitchFamily="34" charset="0"/>
                                <a:cs typeface="Verdana" panose="020B0604030504040204" pitchFamily="34" charset="0"/>
                              </a:rPr>
                              <m:t>−5</m:t>
                            </m:r>
                          </m:den>
                        </m:f>
                      </m:e>
                    </m:d>
                    <m:r>
                      <a:rPr lang="en-US" sz="2400" i="1" dirty="0">
                        <a:latin typeface="Cambria Math" panose="02040503050406030204" pitchFamily="18" charset="0"/>
                        <a:ea typeface="Verdana" panose="020B0604030504040204" pitchFamily="34" charset="0"/>
                        <a:cs typeface="Verdana" panose="020B0604030504040204" pitchFamily="34" charset="0"/>
                      </a:rPr>
                      <m:t>= 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05256" y="1331161"/>
                <a:ext cx="8581650" cy="4690130"/>
              </a:xfrm>
              <a:prstGeom prst="rect">
                <a:avLst/>
              </a:prstGeom>
              <a:blipFill>
                <a:blip r:embed="rId4"/>
                <a:stretch>
                  <a:fillRect l="-1183" t="-1078"/>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Picture 13" descr="Icon&#10;&#10;Description automatically generated">
            <a:extLst>
              <a:ext uri="{FF2B5EF4-FFF2-40B4-BE49-F238E27FC236}">
                <a16:creationId xmlns:a16="http://schemas.microsoft.com/office/drawing/2014/main" xmlns="" id="{A11C236F-F6F0-6C44-9CE3-50FB461FC6B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Tree>
    <p:extLst>
      <p:ext uri="{BB962C8B-B14F-4D97-AF65-F5344CB8AC3E}">
        <p14:creationId xmlns:p14="http://schemas.microsoft.com/office/powerpoint/2010/main" val="642568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05256" y="956051"/>
                <a:ext cx="8549640" cy="3299493"/>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Create two expressions equivalent to </a:t>
                </a:r>
                <a14:m>
                  <m:oMath xmlns:m="http://schemas.openxmlformats.org/officeDocument/2006/math">
                    <m:f>
                      <m:fPr>
                        <m:ctrlPr>
                          <a:rPr lang="en-US" sz="2000" i="1" dirty="0">
                            <a:latin typeface="Cambria Math"/>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−20</m:t>
                        </m:r>
                      </m:num>
                      <m:den>
                        <m:r>
                          <a:rPr lang="es-ES" sz="2000" i="1" dirty="0">
                            <a:latin typeface="Cambria Math" panose="02040503050406030204" pitchFamily="18" charset="0"/>
                            <a:cs typeface="Times New Roman" panose="02020603050405020304" pitchFamily="18" charset="0"/>
                          </a:rPr>
                          <m:t>10</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value of the expressions above?</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956051"/>
                <a:ext cx="8549640" cy="3299493"/>
              </a:xfrm>
              <a:prstGeom prst="rect">
                <a:avLst/>
              </a:prstGeom>
              <a:blipFill>
                <a:blip r:embed="rId4"/>
                <a:stretch>
                  <a:fillRect l="-742" b="-2299"/>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spTree>
    <p:extLst>
      <p:ext uri="{BB962C8B-B14F-4D97-AF65-F5344CB8AC3E}">
        <p14:creationId xmlns:p14="http://schemas.microsoft.com/office/powerpoint/2010/main" val="2523624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xmlns=""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7.12.7 Your Turn!</a:t>
            </a:r>
          </a:p>
        </p:txBody>
      </p:sp>
      <p:sp>
        <p:nvSpPr>
          <p:cNvPr id="2" name="Rectangle 1">
            <a:extLst>
              <a:ext uri="{FF2B5EF4-FFF2-40B4-BE49-F238E27FC236}">
                <a16:creationId xmlns:a16="http://schemas.microsoft.com/office/drawing/2014/main" xmlns="" id="{B05AB5A2-AF35-B14C-AE54-D2A0628C823C}"/>
              </a:ext>
            </a:extLst>
          </p:cNvPr>
          <p:cNvSpPr/>
          <p:nvPr/>
        </p:nvSpPr>
        <p:spPr>
          <a:xfrm>
            <a:off x="905256" y="1340982"/>
            <a:ext cx="8254001"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In each column below, create three different division expressions that would result in the given quotient.</a:t>
            </a:r>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59</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xmlns="" id="{00D9959C-BC81-7642-9A75-F49D355247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8EB07CDC-0C75-6846-9EDC-D2DF06CB2D3F}"/>
                  </a:ext>
                </a:extLst>
              </p:cNvPr>
              <p:cNvGraphicFramePr>
                <a:graphicFrameLocks noGrp="1"/>
              </p:cNvGraphicFramePr>
              <p:nvPr>
                <p:extLst>
                  <p:ext uri="{D42A27DB-BD31-4B8C-83A1-F6EECF244321}">
                    <p14:modId xmlns:p14="http://schemas.microsoft.com/office/powerpoint/2010/main" val="1157630858"/>
                  </p:ext>
                </p:extLst>
              </p:nvPr>
            </p:nvGraphicFramePr>
            <p:xfrm>
              <a:off x="1943973" y="2312043"/>
              <a:ext cx="6881473" cy="3882456"/>
            </p:xfrm>
            <a:graphic>
              <a:graphicData uri="http://schemas.openxmlformats.org/drawingml/2006/table">
                <a:tbl>
                  <a:tblPr firstRow="1" firstCol="1" bandRow="1">
                    <a:tableStyleId>{A91F0D33-8C57-4600-99A7-42BC86742BE1}</a:tableStyleId>
                  </a:tblPr>
                  <a:tblGrid>
                    <a:gridCol w="2257445">
                      <a:extLst>
                        <a:ext uri="{9D8B030D-6E8A-4147-A177-3AD203B41FA5}">
                          <a16:colId xmlns:a16="http://schemas.microsoft.com/office/drawing/2014/main" xmlns="" val="1139110142"/>
                        </a:ext>
                      </a:extLst>
                    </a:gridCol>
                    <a:gridCol w="2311695">
                      <a:extLst>
                        <a:ext uri="{9D8B030D-6E8A-4147-A177-3AD203B41FA5}">
                          <a16:colId xmlns:a16="http://schemas.microsoft.com/office/drawing/2014/main" xmlns="" val="2404114243"/>
                        </a:ext>
                      </a:extLst>
                    </a:gridCol>
                    <a:gridCol w="2312333">
                      <a:extLst>
                        <a:ext uri="{9D8B030D-6E8A-4147-A177-3AD203B41FA5}">
                          <a16:colId xmlns:a16="http://schemas.microsoft.com/office/drawing/2014/main" xmlns="" val="151578039"/>
                        </a:ext>
                      </a:extLst>
                    </a:gridCol>
                  </a:tblGrid>
                  <a:tr h="24339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m:t>
                                </m:r>
                                <m:r>
                                  <a:rPr lang="en-US" sz="1400">
                                    <a:effectLst/>
                                    <a:latin typeface="Cambria Math" panose="02040503050406030204" pitchFamily="18" charset="0"/>
                                  </a:rPr>
                                  <m:t>𝟒</m:t>
                                </m:r>
                              </m:oMath>
                            </m:oMathPara>
                          </a14:m>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𝟏𝟎</m:t>
                                </m:r>
                              </m:oMath>
                            </m:oMathPara>
                          </a14:m>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m:t>
                                </m:r>
                                <m:r>
                                  <a:rPr lang="en-US" sz="1400">
                                    <a:effectLst/>
                                    <a:latin typeface="Cambria Math" panose="02040503050406030204" pitchFamily="18" charset="0"/>
                                  </a:rPr>
                                  <m:t>𝟕</m:t>
                                </m:r>
                              </m:oMath>
                            </m:oMathPara>
                          </a14:m>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058485031"/>
                      </a:ext>
                    </a:extLst>
                  </a:tr>
                  <a:tr h="3639060">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1.</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2.</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3.</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r>
                          <a:br>
                            <a:rPr lang="en-US" sz="1400">
                              <a:effectLst/>
                              <a:latin typeface="Verdana" panose="020B0604030504040204" pitchFamily="34" charset="0"/>
                              <a:ea typeface="Verdana" panose="020B0604030504040204" pitchFamily="34" charset="0"/>
                              <a:cs typeface="Verdana" panose="020B0604030504040204" pitchFamily="34" charset="0"/>
                            </a:rPr>
                          </a:br>
                          <a:r>
                            <a:rPr lang="en-US" sz="1400">
                              <a:effectLst/>
                              <a:latin typeface="Verdana" panose="020B0604030504040204" pitchFamily="34" charset="0"/>
                              <a:ea typeface="Verdana" panose="020B0604030504040204" pitchFamily="34" charset="0"/>
                              <a:cs typeface="Verdana" panose="020B0604030504040204" pitchFamily="34" charset="0"/>
                            </a:rPr>
                            <a:t>1.</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2.</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3.</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r>
                          <a:br>
                            <a:rPr lang="en-US" sz="1400" dirty="0">
                              <a:effectLst/>
                              <a:latin typeface="Verdana" panose="020B0604030504040204" pitchFamily="34" charset="0"/>
                              <a:ea typeface="Verdana" panose="020B0604030504040204" pitchFamily="34" charset="0"/>
                              <a:cs typeface="Verdana" panose="020B0604030504040204" pitchFamily="34" charset="0"/>
                            </a:rPr>
                          </a:br>
                          <a:r>
                            <a:rPr lang="en-US" sz="1400" dirty="0">
                              <a:effectLst/>
                              <a:latin typeface="Verdana" panose="020B0604030504040204" pitchFamily="34" charset="0"/>
                              <a:ea typeface="Verdana" panose="020B0604030504040204" pitchFamily="34" charset="0"/>
                              <a:cs typeface="Verdana" panose="020B0604030504040204" pitchFamily="34" charset="0"/>
                            </a:rPr>
                            <a:t>1.</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2.</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3.</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76046987"/>
                      </a:ext>
                    </a:extLst>
                  </a:tr>
                </a:tbl>
              </a:graphicData>
            </a:graphic>
          </p:graphicFrame>
        </mc:Choice>
        <mc:Fallback xmlns="">
          <p:graphicFrame>
            <p:nvGraphicFramePr>
              <p:cNvPr id="3" name="Table 2">
                <a:extLst>
                  <a:ext uri="{FF2B5EF4-FFF2-40B4-BE49-F238E27FC236}">
                    <a16:creationId xmlns:a16="http://schemas.microsoft.com/office/drawing/2014/main" id="{8EB07CDC-0C75-6846-9EDC-D2DF06CB2D3F}"/>
                  </a:ext>
                </a:extLst>
              </p:cNvPr>
              <p:cNvGraphicFramePr>
                <a:graphicFrameLocks noGrp="1"/>
              </p:cNvGraphicFramePr>
              <p:nvPr>
                <p:extLst>
                  <p:ext uri="{D42A27DB-BD31-4B8C-83A1-F6EECF244321}">
                    <p14:modId xmlns:p14="http://schemas.microsoft.com/office/powerpoint/2010/main" val="1157630858"/>
                  </p:ext>
                </p:extLst>
              </p:nvPr>
            </p:nvGraphicFramePr>
            <p:xfrm>
              <a:off x="1943973" y="2312043"/>
              <a:ext cx="6881473" cy="3882456"/>
            </p:xfrm>
            <a:graphic>
              <a:graphicData uri="http://schemas.openxmlformats.org/drawingml/2006/table">
                <a:tbl>
                  <a:tblPr firstRow="1" firstCol="1" bandRow="1">
                    <a:tableStyleId>{A91F0D33-8C57-4600-99A7-42BC86742BE1}</a:tableStyleId>
                  </a:tblPr>
                  <a:tblGrid>
                    <a:gridCol w="2257445">
                      <a:extLst>
                        <a:ext uri="{9D8B030D-6E8A-4147-A177-3AD203B41FA5}">
                          <a16:colId xmlns:a16="http://schemas.microsoft.com/office/drawing/2014/main" val="1139110142"/>
                        </a:ext>
                      </a:extLst>
                    </a:gridCol>
                    <a:gridCol w="2311695">
                      <a:extLst>
                        <a:ext uri="{9D8B030D-6E8A-4147-A177-3AD203B41FA5}">
                          <a16:colId xmlns:a16="http://schemas.microsoft.com/office/drawing/2014/main" val="2404114243"/>
                        </a:ext>
                      </a:extLst>
                    </a:gridCol>
                    <a:gridCol w="2312333">
                      <a:extLst>
                        <a:ext uri="{9D8B030D-6E8A-4147-A177-3AD203B41FA5}">
                          <a16:colId xmlns:a16="http://schemas.microsoft.com/office/drawing/2014/main" val="151578039"/>
                        </a:ext>
                      </a:extLst>
                    </a:gridCol>
                  </a:tblGrid>
                  <a:tr h="243396">
                    <a:tc>
                      <a:txBody>
                        <a:bodyPr/>
                        <a:lstStyle/>
                        <a:p>
                          <a:endParaRPr lang="en-US"/>
                        </a:p>
                      </a:txBody>
                      <a:tcPr marL="62945" marR="629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62" t="-5263" r="-205056" b="-1521053"/>
                          </a:stretch>
                        </a:blipFill>
                      </a:tcPr>
                    </a:tc>
                    <a:tc>
                      <a:txBody>
                        <a:bodyPr/>
                        <a:lstStyle/>
                        <a:p>
                          <a:endParaRPr lang="en-US"/>
                        </a:p>
                      </a:txBody>
                      <a:tcPr marL="62945" marR="629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352" t="-5263" r="-100549" b="-1521053"/>
                          </a:stretch>
                        </a:blipFill>
                      </a:tcPr>
                    </a:tc>
                    <a:tc>
                      <a:txBody>
                        <a:bodyPr/>
                        <a:lstStyle/>
                        <a:p>
                          <a:endParaRPr lang="en-US"/>
                        </a:p>
                      </a:txBody>
                      <a:tcPr marL="62945" marR="6294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8352" t="-5263" r="-549" b="-1521053"/>
                          </a:stretch>
                        </a:blipFill>
                      </a:tcPr>
                    </a:tc>
                    <a:extLst>
                      <a:ext uri="{0D108BD9-81ED-4DB2-BD59-A6C34878D82A}">
                        <a16:rowId xmlns:a16="http://schemas.microsoft.com/office/drawing/2014/main" val="2058485031"/>
                      </a:ext>
                    </a:extLst>
                  </a:tr>
                  <a:tr h="3639060">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1.</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2.</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3.</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br>
                            <a:rPr lang="en-US" sz="1400">
                              <a:effectLst/>
                              <a:latin typeface="Verdana" panose="020B0604030504040204" pitchFamily="34" charset="0"/>
                              <a:ea typeface="Verdana" panose="020B0604030504040204" pitchFamily="34" charset="0"/>
                              <a:cs typeface="Verdana" panose="020B0604030504040204" pitchFamily="34" charset="0"/>
                            </a:rPr>
                          </a:br>
                          <a:r>
                            <a:rPr lang="en-US" sz="1400">
                              <a:effectLst/>
                              <a:latin typeface="Verdana" panose="020B0604030504040204" pitchFamily="34" charset="0"/>
                              <a:ea typeface="Verdana" panose="020B0604030504040204" pitchFamily="34" charset="0"/>
                              <a:cs typeface="Verdana" panose="020B0604030504040204" pitchFamily="34" charset="0"/>
                            </a:rPr>
                            <a:t>1.</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2.</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3.</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br>
                            <a:rPr lang="en-US" sz="1400" dirty="0">
                              <a:effectLst/>
                              <a:latin typeface="Verdana" panose="020B0604030504040204" pitchFamily="34" charset="0"/>
                              <a:ea typeface="Verdana" panose="020B0604030504040204" pitchFamily="34" charset="0"/>
                              <a:cs typeface="Verdana" panose="020B0604030504040204" pitchFamily="34" charset="0"/>
                            </a:rPr>
                          </a:br>
                          <a:r>
                            <a:rPr lang="en-US" sz="1400" dirty="0">
                              <a:effectLst/>
                              <a:latin typeface="Verdana" panose="020B0604030504040204" pitchFamily="34" charset="0"/>
                              <a:ea typeface="Verdana" panose="020B0604030504040204" pitchFamily="34" charset="0"/>
                              <a:cs typeface="Verdana" panose="020B0604030504040204" pitchFamily="34" charset="0"/>
                            </a:rPr>
                            <a:t>1.</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2.</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3.</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i="1" dirty="0">
                            <a:effectLst/>
                            <a:latin typeface="Verdana" panose="020B0604030504040204" pitchFamily="34" charset="0"/>
                            <a:ea typeface="Verdana" panose="020B0604030504040204" pitchFamily="34" charset="0"/>
                            <a:cs typeface="Verdana" panose="020B0604030504040204" pitchFamily="34" charset="0"/>
                          </a:endParaRPr>
                        </a:p>
                      </a:txBody>
                      <a:tcPr marL="62945" marR="629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6046987"/>
                      </a:ext>
                    </a:extLst>
                  </a:tr>
                </a:tbl>
              </a:graphicData>
            </a:graphic>
          </p:graphicFrame>
        </mc:Fallback>
      </mc:AlternateContent>
    </p:spTree>
    <p:extLst>
      <p:ext uri="{BB962C8B-B14F-4D97-AF65-F5344CB8AC3E}">
        <p14:creationId xmlns:p14="http://schemas.microsoft.com/office/powerpoint/2010/main" val="2235248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9776"/>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6424" y="-1854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7.12.8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905256" y="1140260"/>
            <a:ext cx="10067544"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emoji scale to indicate your level of confidence with understanding and using the rules for multiplying and dividing integers.</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60</a:t>
            </a:r>
            <a:endParaRPr i="1" dirty="0">
              <a:latin typeface="Calibri"/>
              <a:ea typeface="Calibri"/>
              <a:cs typeface="Calibri"/>
              <a:sym typeface="Calibri"/>
            </a:endParaRPr>
          </a:p>
        </p:txBody>
      </p:sp>
      <p:pic>
        <p:nvPicPr>
          <p:cNvPr id="10" name="image4.png" descr="Chart&#10;&#10;Description automatically generated">
            <a:extLst>
              <a:ext uri="{FF2B5EF4-FFF2-40B4-BE49-F238E27FC236}">
                <a16:creationId xmlns:a16="http://schemas.microsoft.com/office/drawing/2014/main" xmlns="" id="{F0B0196F-537E-6C42-8FBE-BD30C518143E}"/>
              </a:ext>
            </a:extLst>
          </p:cNvPr>
          <p:cNvPicPr/>
          <p:nvPr/>
        </p:nvPicPr>
        <p:blipFill>
          <a:blip r:embed="rId5" cstate="screen">
            <a:extLst>
              <a:ext uri="{28A0092B-C50C-407E-A947-70E740481C1C}">
                <a14:useLocalDpi xmlns:a14="http://schemas.microsoft.com/office/drawing/2010/main"/>
              </a:ext>
            </a:extLst>
          </a:blip>
          <a:srcRect t="46060" b="42611"/>
          <a:stretch>
            <a:fillRect/>
          </a:stretch>
        </p:blipFill>
        <p:spPr>
          <a:xfrm>
            <a:off x="2551822" y="4093110"/>
            <a:ext cx="6835140" cy="506730"/>
          </a:xfrm>
          <a:prstGeom prst="rect">
            <a:avLst/>
          </a:prstGeom>
          <a:ln/>
        </p:spPr>
      </p:pic>
      <p:pic>
        <p:nvPicPr>
          <p:cNvPr id="5" name="Picture 4" descr="A group of yellow smiley faces&#10;&#10;Description automatically generated with low confidence">
            <a:extLst>
              <a:ext uri="{FF2B5EF4-FFF2-40B4-BE49-F238E27FC236}">
                <a16:creationId xmlns:a16="http://schemas.microsoft.com/office/drawing/2014/main" xmlns="" id="{5565AB43-E486-6C41-8C94-5E459DFDA7C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05219" y="2685797"/>
            <a:ext cx="6728346" cy="1020183"/>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1444</TotalTime>
  <Words>881</Words>
  <Application>Microsoft Office PowerPoint</Application>
  <PresentationFormat>Custom</PresentationFormat>
  <Paragraphs>275</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Verdana</vt:lpstr>
      <vt:lpstr>Calibri</vt:lpstr>
      <vt:lpstr>Times New Roman</vt:lpstr>
      <vt:lpstr>Century Gothic</vt:lpstr>
      <vt:lpstr>Wingdings</vt:lpstr>
      <vt:lpstr>Cambria Math</vt:lpstr>
      <vt:lpstr>Cambria</vt:lpstr>
      <vt:lpstr>Arial Black</vt:lpstr>
      <vt:lpstr>1_Office Theme</vt:lpstr>
      <vt:lpstr>6th Grade Math  Unit 7, Lesson 12  Dividing Integers Using Integer Chips  Volume 2, pg. 55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Bring It Together</vt:lpstr>
      <vt:lpstr>PowerPoint Presentation</vt:lpstr>
      <vt:lpstr>PowerPoint Presentation</vt:lpstr>
      <vt:lpstr>Collaboration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26</cp:revision>
  <dcterms:created xsi:type="dcterms:W3CDTF">2015-03-17T18:51:18Z</dcterms:created>
  <dcterms:modified xsi:type="dcterms:W3CDTF">2022-06-05T07:30:41Z</dcterms:modified>
</cp:coreProperties>
</file>