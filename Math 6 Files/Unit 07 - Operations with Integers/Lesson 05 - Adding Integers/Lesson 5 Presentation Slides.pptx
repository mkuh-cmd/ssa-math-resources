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85" r:id="rId4"/>
    <p:sldId id="286" r:id="rId5"/>
    <p:sldId id="261" r:id="rId6"/>
    <p:sldId id="287" r:id="rId7"/>
    <p:sldId id="302" r:id="rId8"/>
    <p:sldId id="303" r:id="rId9"/>
    <p:sldId id="340" r:id="rId10"/>
    <p:sldId id="356" r:id="rId11"/>
    <p:sldId id="357" r:id="rId12"/>
    <p:sldId id="342" r:id="rId13"/>
    <p:sldId id="343" r:id="rId14"/>
    <p:sldId id="344" r:id="rId15"/>
    <p:sldId id="352" r:id="rId16"/>
    <p:sldId id="353" r:id="rId17"/>
    <p:sldId id="354" r:id="rId18"/>
    <p:sldId id="348" r:id="rId19"/>
    <p:sldId id="349" r:id="rId20"/>
    <p:sldId id="358" r:id="rId21"/>
    <p:sldId id="359" r:id="rId22"/>
    <p:sldId id="360" r:id="rId23"/>
    <p:sldId id="311" r:id="rId24"/>
    <p:sldId id="312" r:id="rId25"/>
    <p:sldId id="333" r:id="rId26"/>
    <p:sldId id="306" r:id="rId27"/>
    <p:sldId id="307" r:id="rId28"/>
  </p:sldIdLst>
  <p:sldSz cx="12192000" cy="6858000"/>
  <p:notesSz cx="6858000" cy="9144000"/>
  <p:embeddedFontLst>
    <p:embeddedFont>
      <p:font typeface="Arial Black" panose="020B0A04020102020204" pitchFamily="34" charset="0"/>
      <p:bold r:id="rId30"/>
    </p:embeddedFon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Cambria" panose="02040503050406030204" pitchFamily="18" charset="0"/>
      <p:regular r:id="rId35"/>
      <p:bold r:id="rId36"/>
      <p:italic r:id="rId37"/>
      <p:boldItalic r:id="rId38"/>
    </p:embeddedFont>
    <p:embeddedFont>
      <p:font typeface="Cambria Math" panose="02040503050406030204" pitchFamily="18" charset="0"/>
      <p:regular r:id="rId39"/>
    </p:embeddedFont>
    <p:embeddedFont>
      <p:font typeface="Century Gothic" panose="020B0502020202020204" pitchFamily="34" charset="0"/>
      <p:regular r:id="rId40"/>
      <p:bold r:id="rId41"/>
      <p:italic r:id="rId42"/>
      <p:boldItalic r:id="rId43"/>
    </p:embeddedFont>
    <p:embeddedFont>
      <p:font typeface="Verdana" panose="020B0604030504040204" pitchFamily="34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BAAA"/>
    <a:srgbClr val="26B7D4"/>
    <a:srgbClr val="E24E5F"/>
    <a:srgbClr val="52BDA6"/>
    <a:srgbClr val="276C46"/>
    <a:srgbClr val="C9DF6F"/>
    <a:srgbClr val="417DBF"/>
    <a:srgbClr val="3F2A67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201"/>
    <p:restoredTop sz="94722"/>
  </p:normalViewPr>
  <p:slideViewPr>
    <p:cSldViewPr snapToGrid="0">
      <p:cViewPr varScale="1">
        <p:scale>
          <a:sx n="77" d="100"/>
          <a:sy n="77" d="100"/>
        </p:scale>
        <p:origin x="77" y="1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font" Target="fonts/font18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font" Target="fonts/font16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font" Target="fonts/font17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9996608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02826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26847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926217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8141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27584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68421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33010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47452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700940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27459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41515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169889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16709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81929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19672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0.png"/><Relationship Id="rId7" Type="http://schemas.openxmlformats.org/officeDocument/2006/relationships/image" Target="../media/image18.tif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8.tiff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.png"/><Relationship Id="rId4" Type="http://schemas.openxmlformats.org/officeDocument/2006/relationships/image" Target="../media/image28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5.png"/><Relationship Id="rId4" Type="http://schemas.openxmlformats.org/officeDocument/2006/relationships/image" Target="../media/image4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7, Lesson 5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Adding Integers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24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527048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solidFill>
                <a:srgbClr val="26B7D4"/>
              </a:solidFill>
            </a:endParaRPr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33900" y="-91440"/>
            <a:ext cx="822959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00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728550" y="1326150"/>
            <a:ext cx="9557657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MA.6.NSO.4.1</a:t>
            </a:r>
          </a:p>
          <a:p>
            <a:pPr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and extend previous understandings of operations with whole numbers to add and subtract integers with procedural fluency.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7631" y="-8225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03916" y="0"/>
            <a:ext cx="97824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730266" y="1581732"/>
            <a:ext cx="978242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AC0AE969-0A27-9545-AB11-BBE5491801C1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34440" y="-9144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727788" y="1547093"/>
            <a:ext cx="9673875" cy="4498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 can add integers with procedural fluency.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AE0319DD-E1E2-064E-A3C0-1ADADEA7DC73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52928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06624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06503EB0-E904-7143-BA20-369F935837E3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37332" y="60325"/>
            <a:ext cx="930181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7.5.1 Warm-Up: Representing Addition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79F083F-A67E-0047-8E64-5125815AF3D8}"/>
              </a:ext>
            </a:extLst>
          </p:cNvPr>
          <p:cNvSpPr/>
          <p:nvPr/>
        </p:nvSpPr>
        <p:spPr>
          <a:xfrm>
            <a:off x="1151158" y="1280819"/>
            <a:ext cx="1001538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the addition expression represented by the model. Then, find the sum.</a:t>
            </a:r>
          </a:p>
        </p:txBody>
      </p:sp>
      <p:sp>
        <p:nvSpPr>
          <p:cNvPr id="18" name="Google Shape;282;g104476d1465_1_17">
            <a:extLst>
              <a:ext uri="{FF2B5EF4-FFF2-40B4-BE49-F238E27FC236}">
                <a16:creationId xmlns:a16="http://schemas.microsoft.com/office/drawing/2014/main" id="{570FC961-D801-0C4E-8D4A-AEC23A74C9C3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Chart&#10;&#10;Description automatically generated with medium confidence">
            <a:extLst>
              <a:ext uri="{FF2B5EF4-FFF2-40B4-BE49-F238E27FC236}">
                <a16:creationId xmlns:a16="http://schemas.microsoft.com/office/drawing/2014/main" id="{048297D1-1079-D944-9761-FDFA169019F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26330" y="2425959"/>
            <a:ext cx="6871262" cy="3383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508015" y="276197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lt1"/>
              </a:buClr>
              <a:buSzPts val="4800"/>
            </a:pPr>
            <a:r>
              <a:rPr lang="en-US" sz="44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40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04201096-008D-9E40-8962-B6CD490C930F}"/>
              </a:ext>
            </a:extLst>
          </p:cNvPr>
          <p:cNvSpPr txBox="1"/>
          <p:nvPr/>
        </p:nvSpPr>
        <p:spPr>
          <a:xfrm>
            <a:off x="8988765" y="651653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58337A1D-B3C9-504F-8661-C6B51A553BB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852928"/>
            <a:ext cx="1131023" cy="113102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06424" y="0"/>
            <a:ext cx="8019300" cy="1014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7.5.2 Exploration: Additive Inverses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66A031F-2EC8-DF4C-B3F5-E7AC5B8F3239}"/>
                  </a:ext>
                </a:extLst>
              </p:cNvPr>
              <p:cNvSpPr/>
              <p:nvPr/>
            </p:nvSpPr>
            <p:spPr>
              <a:xfrm>
                <a:off x="902605" y="1233394"/>
                <a:ext cx="9516602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07988" indent="-396875">
                  <a:buSzPts val="1800"/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number line to show the sum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−4+4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Then, complete the equation.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66A031F-2EC8-DF4C-B3F5-E7AC5B8F32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605" y="1233394"/>
                <a:ext cx="9516602" cy="707886"/>
              </a:xfrm>
              <a:prstGeom prst="rect">
                <a:avLst/>
              </a:prstGeom>
              <a:blipFill>
                <a:blip r:embed="rId4"/>
                <a:stretch>
                  <a:fillRect l="-400" t="-3509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8A626CB-082C-DB4E-B059-328DCC8AD138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71D0238-04AA-AD44-9E65-831FFFF61ED9}"/>
                  </a:ext>
                </a:extLst>
              </p:cNvPr>
              <p:cNvSpPr/>
              <p:nvPr/>
            </p:nvSpPr>
            <p:spPr>
              <a:xfrm>
                <a:off x="902605" y="4197468"/>
                <a:ext cx="852678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68313" indent="-457200">
                  <a:buSzPts val="1800"/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Represent the sum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−4+4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using integer chips.</a:t>
                </a: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71D0238-04AA-AD44-9E65-831FFFF61E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605" y="4197468"/>
                <a:ext cx="8526780" cy="400110"/>
              </a:xfrm>
              <a:prstGeom prst="rect">
                <a:avLst/>
              </a:prstGeom>
              <a:blipFill>
                <a:blip r:embed="rId5"/>
                <a:stretch>
                  <a:fillRect l="-446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16130503-6258-B441-97F0-C3BF9DD6997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50144" cy="750144"/>
          </a:xfrm>
          <a:prstGeom prst="rect">
            <a:avLst/>
          </a:prstGeom>
        </p:spPr>
      </p:pic>
      <p:pic>
        <p:nvPicPr>
          <p:cNvPr id="11" name="Picture 10" descr="A picture containing shape&#10;&#10;Description automatically generated">
            <a:extLst>
              <a:ext uri="{FF2B5EF4-FFF2-40B4-BE49-F238E27FC236}">
                <a16:creationId xmlns:a16="http://schemas.microsoft.com/office/drawing/2014/main" id="{D5C19685-870B-DE4A-A2DD-2D29B679F5BA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0711" b="52617"/>
          <a:stretch/>
        </p:blipFill>
        <p:spPr bwMode="auto">
          <a:xfrm>
            <a:off x="2187138" y="2085533"/>
            <a:ext cx="6947535" cy="9874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CD32607-842D-CA4C-BD57-0CC18168E7FB}"/>
                  </a:ext>
                </a:extLst>
              </p:cNvPr>
              <p:cNvSpPr txBox="1"/>
              <p:nvPr/>
            </p:nvSpPr>
            <p:spPr>
              <a:xfrm>
                <a:off x="3339736" y="3290636"/>
                <a:ext cx="464233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x-none" sz="2000">
                          <a:latin typeface="Cambria Math" panose="02040503050406030204" pitchFamily="18" charset="0"/>
                        </a:rPr>
                        <m:t>−4+4=</m:t>
                      </m:r>
                      <m:r>
                        <m:rPr>
                          <m:lit/>
                        </m:rPr>
                        <a:rPr lang="x-none" sz="2000">
                          <a:latin typeface="Cambria Math" panose="02040503050406030204" pitchFamily="18" charset="0"/>
                        </a:rPr>
                        <m:t>_________</m:t>
                      </m:r>
                    </m:oMath>
                  </m:oMathPara>
                </a14:m>
                <a:endParaRPr lang="x-none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CD32607-842D-CA4C-BD57-0CC18168E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736" y="3290636"/>
                <a:ext cx="464233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9AF1552-9966-3643-BA84-BB4BC68EDBB5}"/>
                  </a:ext>
                </a:extLst>
              </p:cNvPr>
              <p:cNvSpPr/>
              <p:nvPr/>
            </p:nvSpPr>
            <p:spPr>
              <a:xfrm>
                <a:off x="905256" y="561430"/>
                <a:ext cx="9497153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SzPts val="1800"/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Use the number line to show the sum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7+(−7)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Then, complete the equation.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9AF1552-9966-3643-BA84-BB4BC68EDB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6" y="561430"/>
                <a:ext cx="9497153" cy="707886"/>
              </a:xfrm>
              <a:prstGeom prst="rect">
                <a:avLst/>
              </a:prstGeom>
              <a:blipFill>
                <a:blip r:embed="rId4"/>
                <a:stretch>
                  <a:fillRect l="-535" t="-5357" b="-16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FCAEDDBD-15FD-B945-9FDE-50793A71AA1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 descr="A picture containing shape&#10;&#10;Description automatically generated">
            <a:extLst>
              <a:ext uri="{FF2B5EF4-FFF2-40B4-BE49-F238E27FC236}">
                <a16:creationId xmlns:a16="http://schemas.microsoft.com/office/drawing/2014/main" id="{BE726B1E-8CE2-7849-A531-8477ADE7416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0711" b="52617"/>
          <a:stretch/>
        </p:blipFill>
        <p:spPr bwMode="auto">
          <a:xfrm>
            <a:off x="2180064" y="1580901"/>
            <a:ext cx="6947535" cy="9874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1B3DC38-EE1F-134A-9022-2ACA4D55C906}"/>
                  </a:ext>
                </a:extLst>
              </p:cNvPr>
              <p:cNvSpPr txBox="1"/>
              <p:nvPr/>
            </p:nvSpPr>
            <p:spPr>
              <a:xfrm>
                <a:off x="3332662" y="2879911"/>
                <a:ext cx="464233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x-none" sz="2000">
                          <a:latin typeface="Cambria Math" panose="02040503050406030204" pitchFamily="18" charset="0"/>
                        </a:rPr>
                        <m:t>7+</m:t>
                      </m:r>
                      <m:d>
                        <m:dPr>
                          <m:ctrlPr>
                            <a:rPr lang="x-non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x-none" sz="2000">
                              <a:latin typeface="Cambria Math" panose="02040503050406030204" pitchFamily="18" charset="0"/>
                            </a:rPr>
                            <m:t>−7</m:t>
                          </m:r>
                        </m:e>
                      </m:d>
                      <m:r>
                        <a:rPr lang="x-none" sz="2000">
                          <a:latin typeface="Cambria Math" panose="02040503050406030204" pitchFamily="18" charset="0"/>
                        </a:rPr>
                        <m:t> =</m:t>
                      </m:r>
                      <m:r>
                        <m:rPr>
                          <m:lit/>
                        </m:rPr>
                        <a:rPr lang="x-none" sz="2000">
                          <a:latin typeface="Cambria Math" panose="02040503050406030204" pitchFamily="18" charset="0"/>
                        </a:rPr>
                        <m:t>_________</m:t>
                      </m:r>
                    </m:oMath>
                  </m:oMathPara>
                </a14:m>
                <a:endParaRPr lang="x-none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1B3DC38-EE1F-134A-9022-2ACA4D55C9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2662" y="2879911"/>
                <a:ext cx="4642338" cy="400110"/>
              </a:xfrm>
              <a:prstGeom prst="rect">
                <a:avLst/>
              </a:prstGeom>
              <a:blipFill>
                <a:blip r:embed="rId6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9272D2E-368B-2447-8F3F-5A8824D1479D}"/>
                  </a:ext>
                </a:extLst>
              </p:cNvPr>
              <p:cNvSpPr/>
              <p:nvPr/>
            </p:nvSpPr>
            <p:spPr>
              <a:xfrm>
                <a:off x="905256" y="3867338"/>
                <a:ext cx="8772786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SzPts val="1800"/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Represent the sum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7+(−7)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using integer chips.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9272D2E-368B-2447-8F3F-5A8824D147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6" y="3867338"/>
                <a:ext cx="8772786" cy="400110"/>
              </a:xfrm>
              <a:prstGeom prst="rect">
                <a:avLst/>
              </a:prstGeom>
              <a:blipFill>
                <a:blip r:embed="rId7"/>
                <a:stretch>
                  <a:fillRect l="-578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435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9AF1552-9966-3643-BA84-BB4BC68EDBB5}"/>
                  </a:ext>
                </a:extLst>
              </p:cNvPr>
              <p:cNvSpPr/>
              <p:nvPr/>
            </p:nvSpPr>
            <p:spPr>
              <a:xfrm>
                <a:off x="905256" y="2242519"/>
                <a:ext cx="10375641" cy="25545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buSzPts val="1800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Additive inverses are another way to represent the concept of a zero pair. </a:t>
                </a:r>
              </a:p>
              <a:p>
                <a:pPr lvl="0">
                  <a:buSzPts val="1800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SzPts val="1800"/>
                  <a:buFont typeface="+mj-lt"/>
                  <a:buAutoNum type="arabicPeriod" startAt="5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number is the additive inverse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−15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  <a:p>
                <a:pPr marL="457200" indent="-457200">
                  <a:buSzPts val="1800"/>
                  <a:buFont typeface="+mj-lt"/>
                  <a:buAutoNum type="arabicPeriod" startAt="5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SzPts val="1800"/>
                  <a:buFont typeface="+mj-lt"/>
                  <a:buAutoNum type="arabicPeriod" startAt="5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SzPts val="1800"/>
                  <a:buFont typeface="+mj-lt"/>
                  <a:buAutoNum type="arabicPeriod" startAt="5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SzPts val="1800"/>
                  <a:buFont typeface="+mj-lt"/>
                  <a:buAutoNum type="arabicPeriod" startAt="5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SzPts val="1800"/>
                  <a:buFont typeface="+mj-lt"/>
                  <a:buAutoNum type="arabicPeriod" startAt="5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number is the additive inverse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27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9AF1552-9966-3643-BA84-BB4BC68EDB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6" y="2242519"/>
                <a:ext cx="10375641" cy="2554545"/>
              </a:xfrm>
              <a:prstGeom prst="rect">
                <a:avLst/>
              </a:prstGeom>
              <a:blipFill>
                <a:blip r:embed="rId4"/>
                <a:stretch>
                  <a:fillRect l="-611" t="-1485" b="-3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FCAEDDBD-15FD-B945-9FDE-50793A71AA1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591BFE6-BA3E-8545-9A44-2B0C5DC66CFB}"/>
              </a:ext>
            </a:extLst>
          </p:cNvPr>
          <p:cNvGrpSpPr/>
          <p:nvPr/>
        </p:nvGrpSpPr>
        <p:grpSpPr>
          <a:xfrm>
            <a:off x="2512275" y="513226"/>
            <a:ext cx="7167450" cy="1301749"/>
            <a:chOff x="1762275" y="3252875"/>
            <a:chExt cx="7167450" cy="130232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82FCE93-FE47-634B-AEBE-144A417ACF3C}"/>
                </a:ext>
              </a:extLst>
            </p:cNvPr>
            <p:cNvGrpSpPr/>
            <p:nvPr/>
          </p:nvGrpSpPr>
          <p:grpSpPr>
            <a:xfrm>
              <a:off x="1762275" y="3252875"/>
              <a:ext cx="7167450" cy="1302326"/>
              <a:chOff x="1762275" y="3262288"/>
              <a:chExt cx="7167450" cy="1279076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5DF2C77-B9D1-3046-9F2E-5F26D312074C}"/>
                  </a:ext>
                </a:extLst>
              </p:cNvPr>
              <p:cNvSpPr/>
              <p:nvPr/>
            </p:nvSpPr>
            <p:spPr>
              <a:xfrm>
                <a:off x="2031300" y="3262288"/>
                <a:ext cx="6629400" cy="103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600" i="1"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x-none" sz="1600" i="1"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D42F1143-6CA2-1A49-B5BB-B66B5DBFE0E0}"/>
                  </a:ext>
                </a:extLst>
              </p:cNvPr>
              <p:cNvGrpSpPr/>
              <p:nvPr/>
            </p:nvGrpSpPr>
            <p:grpSpPr>
              <a:xfrm>
                <a:off x="1762275" y="3262288"/>
                <a:ext cx="7167450" cy="1279076"/>
                <a:chOff x="1762275" y="3373600"/>
                <a:chExt cx="7167450" cy="1279076"/>
              </a:xfrm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227ECCC6-C131-7644-B408-F0D29011422F}"/>
                    </a:ext>
                  </a:extLst>
                </p:cNvPr>
                <p:cNvSpPr/>
                <p:nvPr/>
              </p:nvSpPr>
              <p:spPr>
                <a:xfrm>
                  <a:off x="2031300" y="3373600"/>
                  <a:ext cx="6629400" cy="1035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600" i="1">
                      <a:latin typeface="Cambria Math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  <a:endParaRPr lang="x-none" sz="1600" i="1"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32EB4682-C99D-5A48-AF7C-48D9FD35B200}"/>
                    </a:ext>
                  </a:extLst>
                </p:cNvPr>
                <p:cNvGrpSpPr/>
                <p:nvPr/>
              </p:nvGrpSpPr>
              <p:grpSpPr>
                <a:xfrm>
                  <a:off x="1762275" y="3373600"/>
                  <a:ext cx="7167450" cy="1279076"/>
                  <a:chOff x="1762275" y="3373600"/>
                  <a:chExt cx="7167450" cy="1279076"/>
                </a:xfrm>
              </p:grpSpPr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3A51D562-2B58-844D-9CEA-8E237CCFC6E9}"/>
                      </a:ext>
                    </a:extLst>
                  </p:cNvPr>
                  <p:cNvSpPr/>
                  <p:nvPr/>
                </p:nvSpPr>
                <p:spPr>
                  <a:xfrm>
                    <a:off x="2031300" y="3373600"/>
                    <a:ext cx="6629400" cy="812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:r>
                      <a:rPr lang="en-US" sz="16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 </a:t>
                    </a:r>
                    <a:endParaRPr lang="x-none" sz="1600" i="1">
                      <a:latin typeface="Cambria Math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16" name="Group 15">
                    <a:extLst>
                      <a:ext uri="{FF2B5EF4-FFF2-40B4-BE49-F238E27FC236}">
                        <a16:creationId xmlns:a16="http://schemas.microsoft.com/office/drawing/2014/main" id="{F063843A-5725-9748-A201-E41AC4B53B70}"/>
                      </a:ext>
                    </a:extLst>
                  </p:cNvPr>
                  <p:cNvGrpSpPr/>
                  <p:nvPr/>
                </p:nvGrpSpPr>
                <p:grpSpPr>
                  <a:xfrm>
                    <a:off x="1762275" y="3373600"/>
                    <a:ext cx="7167450" cy="1279076"/>
                    <a:chOff x="-269025" y="0"/>
                    <a:chExt cx="7167450" cy="1279076"/>
                  </a:xfrm>
                </p:grpSpPr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AB20AB3F-25B3-2446-8EAA-92C9AFABC7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0"/>
                      <a:ext cx="6629400" cy="812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16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8" name="Rounded Rectangle 17">
                          <a:extLst>
                            <a:ext uri="{FF2B5EF4-FFF2-40B4-BE49-F238E27FC236}">
                              <a16:creationId xmlns:a16="http://schemas.microsoft.com/office/drawing/2014/main" id="{9F600B99-683D-A24C-8719-317CED634D8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-269025" y="0"/>
                          <a:ext cx="7167450" cy="1279076"/>
                        </a:xfrm>
                        <a:prstGeom prst="roundRect">
                          <a:avLst>
                            <a:gd name="adj" fmla="val 16667"/>
                          </a:avLst>
                        </a:prstGeom>
                        <a:solidFill>
                          <a:srgbClr val="E2EED5"/>
                        </a:solidFill>
                        <a:ln>
                          <a:noFill/>
                        </a:ln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txBody>
                        <a:bodyPr spcFirstLastPara="1" wrap="square" lIns="91425" tIns="45700" rIns="91425" bIns="45700" anchor="ctr" anchorCtr="0">
                          <a:noAutofit/>
                        </a:bodyPr>
                        <a:lstStyle/>
                        <a:p>
                          <a:pPr marL="68580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b="1" i="1" dirty="0">
                              <a:solidFill>
                                <a:srgbClr val="6C993D"/>
                              </a:solidFill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Existence of Additive Inverses</a:t>
                          </a:r>
                          <a:endParaRPr lang="x-none" sz="1600" i="1" dirty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68580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dirty="0">
                              <a:solidFill>
                                <a:srgbClr val="6C993D"/>
                              </a:solidFill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For every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oMath>
                          </a14:m>
                          <a:r>
                            <a:rPr lang="en-US" sz="1800" dirty="0">
                              <a:solidFill>
                                <a:srgbClr val="6C993D"/>
                              </a:solidFill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there exists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(−</m:t>
                              </m:r>
                              <m:r>
                                <a:rPr lang="en-US" sz="18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  <m:r>
                                <a:rPr lang="en-US" sz="18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1800" dirty="0">
                              <a:solidFill>
                                <a:srgbClr val="6C993D"/>
                              </a:solidFill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so that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sz="18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  <m:r>
                                <a:rPr lang="en-US" sz="18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x-none" sz="18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18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en-US" sz="18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en-US" sz="1800" dirty="0">
                              <a:solidFill>
                                <a:srgbClr val="6C993D"/>
                              </a:solidFill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x-none" sz="18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18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en-US" sz="18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sz="18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  <m:r>
                                <a:rPr lang="en-US" sz="18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en-US" sz="1800" dirty="0">
                              <a:solidFill>
                                <a:srgbClr val="6C993D"/>
                              </a:solidFill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r>
                            <a:rPr lang="en-US" sz="1600" i="1" dirty="0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1600" i="1" dirty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18" name="Rounded Rectangle 17">
                          <a:extLst>
                            <a:ext uri="{FF2B5EF4-FFF2-40B4-BE49-F238E27FC236}">
                              <a16:creationId xmlns:a16="http://schemas.microsoft.com/office/drawing/2014/main" id="{9F600B99-683D-A24C-8719-317CED634D85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-269025" y="0"/>
                          <a:ext cx="7167450" cy="1279076"/>
                        </a:xfrm>
                        <a:prstGeom prst="roundRect">
                          <a:avLst>
                            <a:gd name="adj" fmla="val 16667"/>
                          </a:avLst>
                        </a:prstGeom>
                        <a:blipFill>
                          <a:blip r:embed="rId5"/>
                          <a:stretch>
                            <a:fillRect/>
                          </a:stretch>
                        </a:blipFill>
                        <a:ln>
                          <a:noFill/>
                        </a:ln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txBody>
                        <a:bodyPr/>
                        <a:lstStyle/>
                        <a:p>
                          <a:r>
                            <a:rPr lang="en-CO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pic>
                  <p:nvPicPr>
                    <p:cNvPr id="19" name="Shape 11" descr="Icon&#10;&#10;Description automatically generated">
                      <a:extLst>
                        <a:ext uri="{FF2B5EF4-FFF2-40B4-BE49-F238E27FC236}">
                          <a16:creationId xmlns:a16="http://schemas.microsoft.com/office/drawing/2014/main" id="{BF526A93-3B98-664D-A369-D028DC50D34D}"/>
                        </a:ext>
                      </a:extLst>
                    </p:cNvPr>
                    <p:cNvPicPr preferRelativeResize="0"/>
                    <p:nvPr/>
                  </p:nvPicPr>
                  <p:blipFill rotWithShape="1">
                    <a:blip r:embed="rId6" cstate="screen">
                      <a:alphaModFix/>
                      <a:extLst>
                        <a:ext uri="{28A0092B-C50C-407E-A947-70E740481C1C}">
                          <a14:useLocalDpi xmlns:a14="http://schemas.microsoft.com/office/drawing/2010/main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-128741" y="136525"/>
                      <a:ext cx="539750" cy="5397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</p:pic>
              </p:grpSp>
            </p:grpSp>
          </p:grpSp>
        </p:grpSp>
      </p:grpSp>
    </p:spTree>
    <p:extLst>
      <p:ext uri="{BB962C8B-B14F-4D97-AF65-F5344CB8AC3E}">
        <p14:creationId xmlns:p14="http://schemas.microsoft.com/office/powerpoint/2010/main" val="2676669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9AF1552-9966-3643-BA84-BB4BC68EDBB5}"/>
                  </a:ext>
                </a:extLst>
              </p:cNvPr>
              <p:cNvSpPr/>
              <p:nvPr/>
            </p:nvSpPr>
            <p:spPr>
              <a:xfrm>
                <a:off x="905256" y="945422"/>
                <a:ext cx="9974238" cy="44012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SzPts val="1800"/>
                  <a:buFont typeface="+mj-lt"/>
                  <a:buAutoNum type="arabicPeriod" startAt="7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Choose any positive integer and write it in the blank: ____. </a:t>
                </a:r>
              </a:p>
              <a:p>
                <a:pPr lvl="0">
                  <a:buSzPts val="1800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lvl="0">
                  <a:buSzPts val="1800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Use your number to fill in the blanks in the statement.</a:t>
                </a:r>
              </a:p>
              <a:p>
                <a:pPr lvl="0">
                  <a:buSzPts val="1800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>
                  <a:buSzPts val="1800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 the value _______, there exists 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______) so that</a:t>
                </a:r>
              </a:p>
              <a:p>
                <a:pPr lvl="0">
                  <a:buSzPts val="1800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______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______)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=0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and 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_______)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________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0">
                  <a:buSzPts val="1800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>
                  <a:buSzPts val="1800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SzPts val="1800"/>
                  <a:buFont typeface="+mj-lt"/>
                  <a:buAutoNum type="arabicPeriod" startAt="8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Write your partner’s positive integer: _____.</a:t>
                </a:r>
              </a:p>
              <a:p>
                <a:pPr lvl="0">
                  <a:buSzPts val="1800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lvl="0">
                  <a:buSzPts val="1800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Use your partner’s number to fill in the blanks in the statement.</a:t>
                </a:r>
              </a:p>
              <a:p>
                <a:pPr lvl="0">
                  <a:buSzPts val="1800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lvl="0">
                  <a:buSzPts val="1800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 the value _______, there exists 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______) so that</a:t>
                </a:r>
              </a:p>
              <a:p>
                <a:pPr lvl="0">
                  <a:buSzPts val="1800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______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______)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=0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and 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_______)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________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9AF1552-9966-3643-BA84-BB4BC68EDB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6" y="945422"/>
                <a:ext cx="9974238" cy="4401205"/>
              </a:xfrm>
              <a:prstGeom prst="rect">
                <a:avLst/>
              </a:prstGeom>
              <a:blipFill>
                <a:blip r:embed="rId4"/>
                <a:stretch>
                  <a:fillRect l="-636" t="-576" b="-17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FCAEDDBD-15FD-B945-9FDE-50793A71AA1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37350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0829" y="2793689"/>
            <a:ext cx="675631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AE80E75D-78AE-A94E-86B4-91D469B7BFAD}"/>
              </a:ext>
            </a:extLst>
          </p:cNvPr>
          <p:cNvSpPr txBox="1"/>
          <p:nvPr/>
        </p:nvSpPr>
        <p:spPr>
          <a:xfrm>
            <a:off x="9083916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C031FE84-D423-CC4C-831E-2D526CB911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852928"/>
            <a:ext cx="1156733" cy="115673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9353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37332" y="-27923"/>
            <a:ext cx="930181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7.5.3 Guided Instruction: Adding Integers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BE9AFC-D858-8947-AE27-3738478587E3}"/>
              </a:ext>
            </a:extLst>
          </p:cNvPr>
          <p:cNvSpPr/>
          <p:nvPr/>
        </p:nvSpPr>
        <p:spPr>
          <a:xfrm>
            <a:off x="905256" y="1331161"/>
            <a:ext cx="930181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Understanding the existence of additive inverses can be helpful when adding integers with larger absolute values.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each statement based on your understanding of adding integers so far.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When adding two positive integers, the sum is </a:t>
            </a: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When adding two negative integers, the sum is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A0B3F56A-90D4-0546-BD18-061853EE942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FB836D-7BF8-B941-8F1E-1C998C7EDD5F}"/>
              </a:ext>
            </a:extLst>
          </p:cNvPr>
          <p:cNvSpPr/>
          <p:nvPr/>
        </p:nvSpPr>
        <p:spPr>
          <a:xfrm>
            <a:off x="2146200" y="2419359"/>
            <a:ext cx="8333128" cy="101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x-none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C6C9C2DF-E989-BB45-9CB6-957F2793000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</p:spPr>
      </p:pic>
      <p:pic>
        <p:nvPicPr>
          <p:cNvPr id="4" name="Picture 3" descr="A picture containing shape&#10;&#10;Description automatically generated">
            <a:extLst>
              <a:ext uri="{FF2B5EF4-FFF2-40B4-BE49-F238E27FC236}">
                <a16:creationId xmlns:a16="http://schemas.microsoft.com/office/drawing/2014/main" id="{DCCF1D34-891A-5240-B5BE-2301E2EB90A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71064" y="3030126"/>
            <a:ext cx="1474702" cy="784878"/>
          </a:xfrm>
          <a:prstGeom prst="rect">
            <a:avLst/>
          </a:prstGeom>
        </p:spPr>
      </p:pic>
      <p:pic>
        <p:nvPicPr>
          <p:cNvPr id="13" name="Picture 12" descr="A picture containing shape&#10;&#10;Description automatically generated">
            <a:extLst>
              <a:ext uri="{FF2B5EF4-FFF2-40B4-BE49-F238E27FC236}">
                <a16:creationId xmlns:a16="http://schemas.microsoft.com/office/drawing/2014/main" id="{8BC6738F-EFA9-604E-8DC1-EC40E81E444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71064" y="4134395"/>
            <a:ext cx="1474702" cy="784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801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/>
              <p:nvPr/>
            </p:nvSpPr>
            <p:spPr>
              <a:xfrm>
                <a:off x="905256" y="389993"/>
                <a:ext cx="8549640" cy="40934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When adding a positive and a negative integer, the sum will be either positive or negative, depending on which value has the larger absolute value.</a:t>
                </a: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Consider the expression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40+(−165)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will be the sign of the sum?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Explain your reasoning. </a:t>
                </a: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6" y="389993"/>
                <a:ext cx="8549640" cy="4093428"/>
              </a:xfrm>
              <a:prstGeom prst="rect">
                <a:avLst/>
              </a:prstGeom>
              <a:blipFill>
                <a:blip r:embed="rId4"/>
                <a:stretch>
                  <a:fillRect l="-742" t="-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00881218-B66A-864E-9C8C-BFF0BA43B32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 descr="A picture containing shape&#10;&#10;Description automatically generated">
            <a:extLst>
              <a:ext uri="{FF2B5EF4-FFF2-40B4-BE49-F238E27FC236}">
                <a16:creationId xmlns:a16="http://schemas.microsoft.com/office/drawing/2014/main" id="{AF59C9C1-14A6-F146-8B16-DF2D65018ED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2619326"/>
            <a:ext cx="1530617" cy="80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346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/>
              <p:nvPr/>
            </p:nvSpPr>
            <p:spPr>
              <a:xfrm>
                <a:off x="905256" y="389994"/>
                <a:ext cx="10440768" cy="52629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When adding these integers, zero pairs are created.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Use additive inverses to explain how many zero pairs are created.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lphaLcPeriod" startAt="4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remains after combining the additive inverses?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lphaLcPeriod" startAt="5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Complete the equation.</a:t>
                </a: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40+(−165) = ________</m:t>
                      </m:r>
                    </m:oMath>
                  </m:oMathPara>
                </a14:m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6" y="389994"/>
                <a:ext cx="10440768" cy="5262979"/>
              </a:xfrm>
              <a:prstGeom prst="rect">
                <a:avLst/>
              </a:prstGeom>
              <a:blipFill>
                <a:blip r:embed="rId4"/>
                <a:stretch>
                  <a:fillRect l="-972" t="-964" b="-1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00881218-B66A-864E-9C8C-BFF0BA43B32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816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/>
              <p:nvPr/>
            </p:nvSpPr>
            <p:spPr>
              <a:xfrm>
                <a:off x="905255" y="389993"/>
                <a:ext cx="10776671" cy="563231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Complete the statements to describe how to find the sum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−1,029+(−38)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indent="-3429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When adding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−1,029+(−38)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                       are created because</a:t>
                </a: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signs of the addends are			The sum can be found </a:t>
                </a: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by adding the absolute values of the addends. Since both </a:t>
                </a: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addends are	                 the ray for the second addend of the</a:t>
                </a: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sum will go farther to the                   of zero on a number line. </a:t>
                </a: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5" y="389993"/>
                <a:ext cx="10776671" cy="5632311"/>
              </a:xfrm>
              <a:prstGeom prst="rect">
                <a:avLst/>
              </a:prstGeom>
              <a:blipFill>
                <a:blip r:embed="rId4"/>
                <a:stretch>
                  <a:fillRect l="-589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00881218-B66A-864E-9C8C-BFF0BA43B32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A picture containing shape&#10;&#10;Description automatically generated">
            <a:extLst>
              <a:ext uri="{FF2B5EF4-FFF2-40B4-BE49-F238E27FC236}">
                <a16:creationId xmlns:a16="http://schemas.microsoft.com/office/drawing/2014/main" id="{611F36A2-776F-DA4F-B61D-F33D9941A00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9119" y="937038"/>
            <a:ext cx="1871001" cy="749895"/>
          </a:xfrm>
          <a:prstGeom prst="rect">
            <a:avLst/>
          </a:prstGeom>
        </p:spPr>
      </p:pic>
      <p:pic>
        <p:nvPicPr>
          <p:cNvPr id="14" name="Picture 13" descr="A picture containing shape&#10;&#10;Description automatically generated">
            <a:extLst>
              <a:ext uri="{FF2B5EF4-FFF2-40B4-BE49-F238E27FC236}">
                <a16:creationId xmlns:a16="http://schemas.microsoft.com/office/drawing/2014/main" id="{679F77B0-D207-F441-A1BD-573D04FD509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5903" y="1809335"/>
            <a:ext cx="1596402" cy="749895"/>
          </a:xfrm>
          <a:prstGeom prst="rect">
            <a:avLst/>
          </a:prstGeom>
        </p:spPr>
      </p:pic>
      <p:pic>
        <p:nvPicPr>
          <p:cNvPr id="16" name="Picture 15" descr="A picture containing shape&#10;&#10;Description automatically generated">
            <a:extLst>
              <a:ext uri="{FF2B5EF4-FFF2-40B4-BE49-F238E27FC236}">
                <a16:creationId xmlns:a16="http://schemas.microsoft.com/office/drawing/2014/main" id="{00E76E16-051A-2548-92FE-80E283644770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3955" y="3625962"/>
            <a:ext cx="1432668" cy="726920"/>
          </a:xfrm>
          <a:prstGeom prst="rect">
            <a:avLst/>
          </a:prstGeom>
        </p:spPr>
      </p:pic>
      <p:pic>
        <p:nvPicPr>
          <p:cNvPr id="18" name="Picture 17" descr="A picture containing shape&#10;&#10;Description automatically generated">
            <a:extLst>
              <a:ext uri="{FF2B5EF4-FFF2-40B4-BE49-F238E27FC236}">
                <a16:creationId xmlns:a16="http://schemas.microsoft.com/office/drawing/2014/main" id="{C8A3B803-638E-AE4B-BD47-92B92E1E3D9B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3129" y="4468480"/>
            <a:ext cx="1457950" cy="766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72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/>
              <p:nvPr/>
            </p:nvSpPr>
            <p:spPr>
              <a:xfrm>
                <a:off x="905256" y="2044184"/>
                <a:ext cx="8549640" cy="4698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sum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−1,029+(</m:t>
                    </m:r>
                    <m:sPre>
                      <m:sPrePr>
                        <m:ctrlPr>
                          <a:rPr lang="en-US" sz="2400" i="1" dirty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PrePr>
                      <m:sub/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</m:sup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38</m:t>
                        </m:r>
                      </m:e>
                    </m:sPre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               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6" y="2044184"/>
                <a:ext cx="8549640" cy="469809"/>
              </a:xfrm>
              <a:prstGeom prst="rect">
                <a:avLst/>
              </a:prstGeom>
              <a:blipFill>
                <a:blip r:embed="rId4"/>
                <a:stretch>
                  <a:fillRect l="-1187" t="-10526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00881218-B66A-864E-9C8C-BFF0BA43B32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97D9AA7A-9337-3947-A20B-9ED3ACFA35D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47638" y="1596076"/>
            <a:ext cx="1767112" cy="183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0019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510494" y="276615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04201096-008D-9E40-8962-B6CD490C930F}"/>
              </a:ext>
            </a:extLst>
          </p:cNvPr>
          <p:cNvSpPr txBox="1"/>
          <p:nvPr/>
        </p:nvSpPr>
        <p:spPr>
          <a:xfrm>
            <a:off x="8994150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2.png">
            <a:extLst>
              <a:ext uri="{FF2B5EF4-FFF2-40B4-BE49-F238E27FC236}">
                <a16:creationId xmlns:a16="http://schemas.microsoft.com/office/drawing/2014/main" id="{952E9ABF-4A5A-6047-B98A-B57B5AF0224E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852928"/>
            <a:ext cx="1133502" cy="1133502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675328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06424" y="0"/>
            <a:ext cx="8019300" cy="1014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7.5.4 Try It: Adding Integers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66A031F-2EC8-DF4C-B3F5-E7AC5B8F3239}"/>
                  </a:ext>
                </a:extLst>
              </p:cNvPr>
              <p:cNvSpPr/>
              <p:nvPr/>
            </p:nvSpPr>
            <p:spPr>
              <a:xfrm>
                <a:off x="905256" y="1375714"/>
                <a:ext cx="9516602" cy="34778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07988" indent="-396875">
                  <a:buSzPts val="1800"/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each sum.</a:t>
                </a:r>
              </a:p>
              <a:p>
                <a:pPr marL="11113">
                  <a:buSzPts val="1800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07988" indent="-396875">
                  <a:buSzPts val="1800"/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−119+99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	 		b.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254+(−610)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1113">
                  <a:buSzPts val="1800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1113">
                  <a:buSzPts val="1800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1113">
                  <a:buSzPts val="1800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1113">
                  <a:buSzPts val="1800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1113">
                  <a:buSzPts val="1800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1113">
                  <a:buSzPts val="1800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1113">
                  <a:buSzPts val="1800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1113">
                  <a:buSzPts val="1800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c.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−853+(−505)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	 	d.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−117+110 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66A031F-2EC8-DF4C-B3F5-E7AC5B8F32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6" y="1375714"/>
                <a:ext cx="9516602" cy="3477875"/>
              </a:xfrm>
              <a:prstGeom prst="rect">
                <a:avLst/>
              </a:prstGeom>
              <a:blipFill>
                <a:blip r:embed="rId4"/>
                <a:stretch>
                  <a:fillRect l="-533" t="-1091" b="-2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8A626CB-082C-DB4E-B059-328DCC8AD138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image2.png">
            <a:extLst>
              <a:ext uri="{FF2B5EF4-FFF2-40B4-BE49-F238E27FC236}">
                <a16:creationId xmlns:a16="http://schemas.microsoft.com/office/drawing/2014/main" id="{CEE695F5-1A7B-4A4D-A390-9746DB691379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50144" cy="750144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0799258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510499" y="276615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lt1"/>
              </a:buClr>
              <a:buSzPts val="4800"/>
            </a:pPr>
            <a:r>
              <a:rPr lang="en-US" sz="44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40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04201096-008D-9E40-8962-B6CD490C930F}"/>
              </a:ext>
            </a:extLst>
          </p:cNvPr>
          <p:cNvSpPr txBox="1"/>
          <p:nvPr/>
        </p:nvSpPr>
        <p:spPr>
          <a:xfrm>
            <a:off x="8991249" y="651678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image5.png">
            <a:extLst>
              <a:ext uri="{FF2B5EF4-FFF2-40B4-BE49-F238E27FC236}">
                <a16:creationId xmlns:a16="http://schemas.microsoft.com/office/drawing/2014/main" id="{F4C05672-4C1B-F948-8988-C71629C8CA0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852928"/>
            <a:ext cx="1133507" cy="1133507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827929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240176" y="88461"/>
            <a:ext cx="9298974" cy="1014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7.5.5 Collaboration: Reasoning with Integers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6A031F-2EC8-DF4C-B3F5-E7AC5B8F3239}"/>
              </a:ext>
            </a:extLst>
          </p:cNvPr>
          <p:cNvSpPr/>
          <p:nvPr/>
        </p:nvSpPr>
        <p:spPr>
          <a:xfrm>
            <a:off x="905256" y="1375714"/>
            <a:ext cx="88447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7988" indent="-396875">
              <a:buSzPts val="1800"/>
              <a:buFont typeface="+mj-lt"/>
              <a:buAutoNum type="arabicPeriod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fill in the blanks with an integer to make each equation true. </a:t>
            </a:r>
          </a:p>
        </p:txBody>
      </p:sp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8A626CB-082C-DB4E-B059-328DCC8AD138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Shape&#10;&#10;Description automatically generated with medium confidence">
            <a:extLst>
              <a:ext uri="{FF2B5EF4-FFF2-40B4-BE49-F238E27FC236}">
                <a16:creationId xmlns:a16="http://schemas.microsoft.com/office/drawing/2014/main" id="{E0C11BDF-9CA6-F542-AE05-E1B8CE42D52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68064" y="2471456"/>
            <a:ext cx="4719182" cy="3729144"/>
          </a:xfrm>
          <a:prstGeom prst="rect">
            <a:avLst/>
          </a:prstGeom>
        </p:spPr>
      </p:pic>
      <p:pic>
        <p:nvPicPr>
          <p:cNvPr id="10" name="image5.png">
            <a:extLst>
              <a:ext uri="{FF2B5EF4-FFF2-40B4-BE49-F238E27FC236}">
                <a16:creationId xmlns:a16="http://schemas.microsoft.com/office/drawing/2014/main" id="{6DBD5D38-A843-6247-AE1B-8F48D10E8540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50144" cy="750144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6697053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66A031F-2EC8-DF4C-B3F5-E7AC5B8F3239}"/>
              </a:ext>
            </a:extLst>
          </p:cNvPr>
          <p:cNvSpPr/>
          <p:nvPr/>
        </p:nvSpPr>
        <p:spPr>
          <a:xfrm>
            <a:off x="905256" y="1474188"/>
            <a:ext cx="1036612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7988" indent="-396875">
              <a:buSzPts val="1800"/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Choose one equation and explain your thinking in determining the missing value.</a:t>
            </a:r>
          </a:p>
        </p:txBody>
      </p:sp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8A626CB-082C-DB4E-B059-328DCC8AD138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397842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06624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40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2C8C0BED-1AF4-B944-96AA-2CF26F1ABF6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852928"/>
            <a:ext cx="1156228" cy="11562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06424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7.5.6 Your Turn!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05AB5A2-AF35-B14C-AE54-D2A0628C823C}"/>
                  </a:ext>
                </a:extLst>
              </p:cNvPr>
              <p:cNvSpPr/>
              <p:nvPr/>
            </p:nvSpPr>
            <p:spPr>
              <a:xfrm>
                <a:off x="905256" y="1564944"/>
                <a:ext cx="9043494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Find each sum.</a:t>
                </a: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a.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34+(−21)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	b.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−67+40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05AB5A2-AF35-B14C-AE54-D2A0628C82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6" y="1564944"/>
                <a:ext cx="9043494" cy="1938992"/>
              </a:xfrm>
              <a:prstGeom prst="rect">
                <a:avLst/>
              </a:prstGeom>
              <a:blipFill>
                <a:blip r:embed="rId4"/>
                <a:stretch>
                  <a:fillRect l="-1122" t="-2614" b="-65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85268C17-F7CB-D243-B65D-166A4DD9987F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00D9959C-BC81-7642-9A75-F49D3552473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52254" cy="75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3DC8F22-04D2-D04F-BA67-53D9B7F3B29F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A71DEF1-087D-214F-86DF-C80090F990CE}"/>
                  </a:ext>
                </a:extLst>
              </p:cNvPr>
              <p:cNvSpPr/>
              <p:nvPr/>
            </p:nvSpPr>
            <p:spPr>
              <a:xfrm>
                <a:off x="905256" y="1075813"/>
                <a:ext cx="8254001" cy="37856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lphaLcPeriod" startAt="3"/>
                </a:pP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−333+(−509)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		       d. 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700+(−814) 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e.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−391+393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	f.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−671+(−405)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A71DEF1-087D-214F-86DF-C80090F990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6" y="1075813"/>
                <a:ext cx="8254001" cy="3785652"/>
              </a:xfrm>
              <a:prstGeom prst="rect">
                <a:avLst/>
              </a:prstGeom>
              <a:blipFill>
                <a:blip r:embed="rId4"/>
                <a:stretch>
                  <a:fillRect l="-1229" t="-1338" b="-30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2515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8063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935224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ABBAE5D4-A013-554B-AF18-FD3C50BA4B0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06424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7.5.7 Wrap-Up: Growth Mindset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0A85065-1747-6C4E-8BA4-9C1ED8A185A6}"/>
              </a:ext>
            </a:extLst>
          </p:cNvPr>
          <p:cNvSpPr/>
          <p:nvPr/>
        </p:nvSpPr>
        <p:spPr>
          <a:xfrm>
            <a:off x="905256" y="1590425"/>
            <a:ext cx="968227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Today, I am still unsure about ____________________ </a:t>
            </a: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____________________________________________.</a:t>
            </a:r>
          </a:p>
          <a:p>
            <a:pPr lvl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lvl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fill in this gap, I intend to _____________________</a:t>
            </a:r>
          </a:p>
          <a:p>
            <a:pPr lvl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lvl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____________________________________________.</a:t>
            </a: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D20425D2-BFDA-974E-9037-009E6465CCF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1474</TotalTime>
  <Words>940</Words>
  <Application>Microsoft Office PowerPoint</Application>
  <PresentationFormat>Widescreen</PresentationFormat>
  <Paragraphs>199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Verdana</vt:lpstr>
      <vt:lpstr>Century Gothic</vt:lpstr>
      <vt:lpstr>Arial</vt:lpstr>
      <vt:lpstr>Cambria Math</vt:lpstr>
      <vt:lpstr>Wingdings</vt:lpstr>
      <vt:lpstr>Calibri</vt:lpstr>
      <vt:lpstr>Cambria</vt:lpstr>
      <vt:lpstr>Arial Black</vt:lpstr>
      <vt:lpstr>1_Office Theme</vt:lpstr>
      <vt:lpstr>6th Grade Math  Unit 7, Lesson 5  Adding Integers  Volume 2, pg. 24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Try It</vt:lpstr>
      <vt:lpstr>PowerPoint Presentation</vt:lpstr>
      <vt:lpstr>Collaboration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27</cp:revision>
  <dcterms:created xsi:type="dcterms:W3CDTF">2015-03-17T18:51:18Z</dcterms:created>
  <dcterms:modified xsi:type="dcterms:W3CDTF">2022-07-09T06:11:15Z</dcterms:modified>
</cp:coreProperties>
</file>